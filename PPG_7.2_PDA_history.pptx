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8"/>
  </p:notesMasterIdLst>
  <p:sldIdLst>
    <p:sldId id="372" r:id="rId2"/>
    <p:sldId id="458" r:id="rId3"/>
    <p:sldId id="259" r:id="rId4"/>
    <p:sldId id="260" r:id="rId5"/>
    <p:sldId id="368" r:id="rId6"/>
    <p:sldId id="369" r:id="rId7"/>
    <p:sldId id="349" r:id="rId8"/>
    <p:sldId id="380" r:id="rId9"/>
    <p:sldId id="399" r:id="rId10"/>
    <p:sldId id="401" r:id="rId11"/>
    <p:sldId id="402" r:id="rId12"/>
    <p:sldId id="377" r:id="rId13"/>
    <p:sldId id="378" r:id="rId14"/>
    <p:sldId id="397" r:id="rId15"/>
    <p:sldId id="347" r:id="rId16"/>
    <p:sldId id="352" r:id="rId17"/>
    <p:sldId id="379" r:id="rId18"/>
    <p:sldId id="351" r:id="rId19"/>
    <p:sldId id="328" r:id="rId20"/>
    <p:sldId id="432" r:id="rId21"/>
    <p:sldId id="306" r:id="rId22"/>
    <p:sldId id="472" r:id="rId23"/>
    <p:sldId id="354" r:id="rId24"/>
    <p:sldId id="422" r:id="rId25"/>
    <p:sldId id="307" r:id="rId26"/>
    <p:sldId id="382" r:id="rId27"/>
    <p:sldId id="384" r:id="rId28"/>
    <p:sldId id="339" r:id="rId29"/>
    <p:sldId id="425" r:id="rId30"/>
    <p:sldId id="424" r:id="rId31"/>
    <p:sldId id="355" r:id="rId32"/>
    <p:sldId id="311" r:id="rId33"/>
    <p:sldId id="272" r:id="rId34"/>
    <p:sldId id="383" r:id="rId35"/>
    <p:sldId id="473" r:id="rId36"/>
    <p:sldId id="403" r:id="rId37"/>
    <p:sldId id="356" r:id="rId38"/>
    <p:sldId id="427" r:id="rId39"/>
    <p:sldId id="428" r:id="rId40"/>
    <p:sldId id="320" r:id="rId41"/>
    <p:sldId id="410" r:id="rId42"/>
    <p:sldId id="409" r:id="rId43"/>
    <p:sldId id="299" r:id="rId44"/>
    <p:sldId id="362" r:id="rId45"/>
    <p:sldId id="474" r:id="rId46"/>
    <p:sldId id="275" r:id="rId47"/>
    <p:sldId id="321" r:id="rId48"/>
    <p:sldId id="310" r:id="rId49"/>
    <p:sldId id="385" r:id="rId50"/>
    <p:sldId id="433" r:id="rId51"/>
    <p:sldId id="364" r:id="rId52"/>
    <p:sldId id="274" r:id="rId53"/>
    <p:sldId id="330" r:id="rId54"/>
    <p:sldId id="386" r:id="rId55"/>
    <p:sldId id="331" r:id="rId56"/>
    <p:sldId id="388" r:id="rId57"/>
    <p:sldId id="398" r:id="rId58"/>
    <p:sldId id="360" r:id="rId59"/>
    <p:sldId id="390" r:id="rId60"/>
    <p:sldId id="391" r:id="rId61"/>
    <p:sldId id="459" r:id="rId62"/>
    <p:sldId id="470" r:id="rId63"/>
    <p:sldId id="414" r:id="rId64"/>
    <p:sldId id="475" r:id="rId65"/>
    <p:sldId id="429" r:id="rId66"/>
    <p:sldId id="476" r:id="rId67"/>
    <p:sldId id="343" r:id="rId68"/>
    <p:sldId id="289" r:id="rId69"/>
    <p:sldId id="333" r:id="rId70"/>
    <p:sldId id="411" r:id="rId71"/>
    <p:sldId id="460" r:id="rId72"/>
    <p:sldId id="461" r:id="rId73"/>
    <p:sldId id="462" r:id="rId74"/>
    <p:sldId id="442" r:id="rId75"/>
    <p:sldId id="477" r:id="rId104"/>
    <p:sldId id="478" r:id="rId105"/>
    <p:sldId id="479" r:id="rId106"/>
    <p:sldId id="463" r:id="rId76"/>
    <p:sldId id="464" r:id="rId77"/>
    <p:sldId id="444" r:id="rId78"/>
    <p:sldId id="465" r:id="rId79"/>
    <p:sldId id="443" r:id="rId80"/>
    <p:sldId id="466" r:id="rId81"/>
    <p:sldId id="467" r:id="rId82"/>
    <p:sldId id="468" r:id="rId83"/>
    <p:sldId id="445" r:id="rId84"/>
    <p:sldId id="446" r:id="rId85"/>
    <p:sldId id="447" r:id="rId86"/>
    <p:sldId id="448" r:id="rId87"/>
    <p:sldId id="449" r:id="rId88"/>
    <p:sldId id="450" r:id="rId89"/>
    <p:sldId id="451" r:id="rId90"/>
    <p:sldId id="452" r:id="rId91"/>
    <p:sldId id="453" r:id="rId92"/>
    <p:sldId id="454" r:id="rId93"/>
    <p:sldId id="296" r:id="rId94"/>
    <p:sldId id="366" r:id="rId95"/>
    <p:sldId id="456" r:id="rId96"/>
    <p:sldId id="457" r:id="rId97"/>
    <p:sldId id="480" r:id="rId10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guide id="3" orient="horz" pos="2432" userDrawn="1">
          <p15:clr>
            <a:srgbClr val="A4A3A4"/>
          </p15:clr>
        </p15:guide>
        <p15:guide id="4" orient="horz" pos="1434" userDrawn="1">
          <p15:clr>
            <a:srgbClr val="A4A3A4"/>
          </p15:clr>
        </p15:guide>
        <p15:guide id="5" pos="5405" userDrawn="1">
          <p15:clr>
            <a:srgbClr val="A4A3A4"/>
          </p15:clr>
        </p15:guide>
        <p15:guide id="6" orient="horz" pos="107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A1AC31E-A074-BE30-983B-E3E82504D4B4}" name="金子　翔平" initials="金子　翔平" userId="S::aa84312551@ms.nagasaki-u.ac.jp::1ca4e0e6-6999-4e3c-bd1a-befb3b49a97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A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中間スタイル 3 - アクセント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45"/>
    <p:restoredTop sz="75000"/>
  </p:normalViewPr>
  <p:slideViewPr>
    <p:cSldViewPr snapToGrid="0">
      <p:cViewPr varScale="1">
        <p:scale>
          <a:sx n="88" d="100"/>
          <a:sy n="88" d="100"/>
        </p:scale>
        <p:origin x="1856" y="184"/>
      </p:cViewPr>
      <p:guideLst>
        <p:guide orient="horz" pos="2183"/>
        <p:guide pos="3840"/>
        <p:guide orient="horz" pos="2432"/>
        <p:guide orient="horz" pos="1434"/>
        <p:guide pos="5405"/>
        <p:guide orient="horz" pos="107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8.xml"/><Relationship Id="rId77" Type="http://schemas.openxmlformats.org/officeDocument/2006/relationships/slide" Target="slides/slide79.xml"/><Relationship Id="rId78" Type="http://schemas.openxmlformats.org/officeDocument/2006/relationships/slide" Target="slides/slide80.xml"/><Relationship Id="rId79" Type="http://schemas.openxmlformats.org/officeDocument/2006/relationships/slide" Target="slides/slide81.xml"/><Relationship Id="rId80" Type="http://schemas.openxmlformats.org/officeDocument/2006/relationships/slide" Target="slides/slide82.xml"/><Relationship Id="rId81" Type="http://schemas.openxmlformats.org/officeDocument/2006/relationships/slide" Target="slides/slide83.xml"/><Relationship Id="rId82" Type="http://schemas.openxmlformats.org/officeDocument/2006/relationships/slide" Target="slides/slide84.xml"/><Relationship Id="rId83" Type="http://schemas.openxmlformats.org/officeDocument/2006/relationships/slide" Target="slides/slide85.xml"/><Relationship Id="rId84" Type="http://schemas.openxmlformats.org/officeDocument/2006/relationships/slide" Target="slides/slide86.xml"/><Relationship Id="rId85" Type="http://schemas.openxmlformats.org/officeDocument/2006/relationships/slide" Target="slides/slide87.xml"/><Relationship Id="rId86" Type="http://schemas.openxmlformats.org/officeDocument/2006/relationships/slide" Target="slides/slide88.xml"/><Relationship Id="rId87" Type="http://schemas.openxmlformats.org/officeDocument/2006/relationships/slide" Target="slides/slide89.xml"/><Relationship Id="rId88" Type="http://schemas.openxmlformats.org/officeDocument/2006/relationships/slide" Target="slides/slide90.xml"/><Relationship Id="rId89" Type="http://schemas.openxmlformats.org/officeDocument/2006/relationships/slide" Target="slides/slide91.xml"/><Relationship Id="rId90" Type="http://schemas.openxmlformats.org/officeDocument/2006/relationships/slide" Target="slides/slide92.xml"/><Relationship Id="rId91" Type="http://schemas.openxmlformats.org/officeDocument/2006/relationships/slide" Target="slides/slide93.xml"/><Relationship Id="rId92" Type="http://schemas.openxmlformats.org/officeDocument/2006/relationships/slide" Target="slides/slide94.xml"/><Relationship Id="rId93" Type="http://schemas.openxmlformats.org/officeDocument/2006/relationships/slide" Target="slides/slide95.xml"/><Relationship Id="rId94" Type="http://schemas.openxmlformats.org/officeDocument/2006/relationships/slide" Target="slides/slide96.xml"/><Relationship Id="rId95" Type="http://schemas.openxmlformats.org/officeDocument/2006/relationships/slide" Target="slides/slide97.xml"/><Relationship Id="rId96" Type="http://schemas.openxmlformats.org/officeDocument/2006/relationships/slide" Target="slides/slide98.xml"/><Relationship Id="rId97" Type="http://schemas.openxmlformats.org/officeDocument/2006/relationships/slide" Target="slides/slide99.xml"/><Relationship Id="rId98" Type="http://schemas.openxmlformats.org/officeDocument/2006/relationships/notesMaster" Target="notesMasters/notesMaster1.xml"/><Relationship Id="rId99" Type="http://schemas.openxmlformats.org/officeDocument/2006/relationships/presProps" Target="presProps.xml"/><Relationship Id="rId100" Type="http://schemas.openxmlformats.org/officeDocument/2006/relationships/viewProps" Target="viewProps.xml"/><Relationship Id="rId101" Type="http://schemas.openxmlformats.org/officeDocument/2006/relationships/theme" Target="theme/theme1.xml"/><Relationship Id="rId102" Type="http://schemas.openxmlformats.org/officeDocument/2006/relationships/tableStyles" Target="tableStyles.xml"/><Relationship Id="rId103" Type="http://schemas.microsoft.com/office/2018/10/relationships/authors" Target="authors.xml"/><Relationship Id="rId104" Type="http://schemas.openxmlformats.org/officeDocument/2006/relationships/slide" Target="slides/slide75.xml"/><Relationship Id="rId105" Type="http://schemas.openxmlformats.org/officeDocument/2006/relationships/slide" Target="slides/slide76.xml"/><Relationship Id="rId106" Type="http://schemas.openxmlformats.org/officeDocument/2006/relationships/slide" Target="slides/slide77.xml"/><Relationship Id="rId107"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37B2AB-5E9D-2D47-A616-04DAF5F03FCC}" type="datetimeFigureOut">
              <a:rPr kumimoji="1" lang="ja-JP" altLang="en-US" smtClean="0"/>
              <a:t>2026/8/15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68CECF-0771-D84F-8D42-085DB944B0B8}" type="slidenum">
              <a:rPr kumimoji="1" lang="ja-JP" altLang="en-US" smtClean="0"/>
              <a:t>‹#›</a:t>
            </a:fld>
            <a:endParaRPr kumimoji="1" lang="ja-JP" altLang="en-US"/>
          </a:p>
        </p:txBody>
      </p:sp>
    </p:spTree>
    <p:extLst>
      <p:ext uri="{BB962C8B-B14F-4D97-AF65-F5344CB8AC3E}">
        <p14:creationId xmlns:p14="http://schemas.microsoft.com/office/powerpoint/2010/main" val="364573549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B5BA2-770E-EEC6-A15C-F39D877242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E29A264-1017-70EB-90F4-1820F4DCFD9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40A2C0A-08A6-42A0-68AC-CAC3E0EED470}"/>
              </a:ext>
            </a:extLst>
          </p:cNvPr>
          <p:cNvSpPr>
            <a:spLocks noGrp="1"/>
          </p:cNvSpPr>
          <p:nvPr>
            <p:ph type="body" idx="1"/>
          </p:nvPr>
        </p:nvSpPr>
        <p:spPr/>
        <p:txBody>
          <a:bodyPr/>
          <a:lstStyle/>
          <a:p>
            <a:r>
              <a:rPr kumimoji="1" lang="en-US" altLang="ja-JP" dirty="0"/>
              <a:t> Murray1996</a:t>
            </a:r>
            <a:r>
              <a:rPr kumimoji="1" lang="ja-JP" altLang="en-US"/>
              <a:t> 麻酔導入→手術開始→麻酔調整</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A18A37F1-9485-5C23-7A06-55F6D19E30AF}"/>
              </a:ext>
            </a:extLst>
          </p:cNvPr>
          <p:cNvSpPr>
            <a:spLocks noGrp="1"/>
          </p:cNvSpPr>
          <p:nvPr>
            <p:ph type="sldNum" sz="quarter" idx="5"/>
          </p:nvPr>
        </p:nvSpPr>
        <p:spPr/>
        <p:txBody>
          <a:bodyPr/>
          <a:lstStyle/>
          <a:p>
            <a:fld id="{4368CECF-0771-D84F-8D42-085DB944B0B8}" type="slidenum">
              <a:rPr kumimoji="1" lang="ja-JP" altLang="en-US" smtClean="0"/>
              <a:t>1</a:t>
            </a:fld>
            <a:endParaRPr kumimoji="1" lang="ja-JP" altLang="en-US"/>
          </a:p>
        </p:txBody>
      </p:sp>
    </p:spTree>
    <p:extLst>
      <p:ext uri="{BB962C8B-B14F-4D97-AF65-F5344CB8AC3E}">
        <p14:creationId xmlns:p14="http://schemas.microsoft.com/office/powerpoint/2010/main" val="1959370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66E3C-1DBF-8C4A-3D29-5A5C5E3BE4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C5DC0-0D69-4688-C832-650F9A1AE33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252D467-E893-716F-3194-3C309934C9BE}"/>
              </a:ext>
            </a:extLst>
          </p:cNvPr>
          <p:cNvSpPr>
            <a:spLocks noGrp="1"/>
          </p:cNvSpPr>
          <p:nvPr>
            <p:ph type="body" sz="quarter" idx="3"/>
          </p:nvPr>
        </p:nvSpPr>
        <p:spPr/>
        <p:txBody>
          <a:bodyPr/>
          <a:lstStyle/>
          <a:p>
            <a:r>
              <a:t>PPG：皮膚にLEDなどの光を当て、血液量の変化による　　　　光の透過・反射量の変化を検出して、脈波を測定する　　　　非侵襲的な光学的測定法。</a:t>
            </a:r>
          </a:p>
          <a:p>
            <a:endParaRPr/>
          </a:p>
          <a:p>
            <a:r>
              <a:t>得られた脈波をPPG波形や容積脈波などと称する。</a:t>
            </a:r>
          </a:p>
          <a:p>
            <a:endParaRPr/>
          </a:p>
          <a:p>
            <a:r>
              <a:t>パルスオキシメトリーは、光電容積脈波(PPG)信号を利用してSpO₂(経皮的動脈血酸素飽和度)を非侵襲的に推定する測定原理。</a:t>
            </a:r>
          </a:p>
          <a:p>
            <a:endParaRPr/>
          </a:p>
          <a:p>
            <a:endParaRPr/>
          </a:p>
          <a:p>
            <a:r>
              <a:t>用語の整理（図解版）</a:t>
            </a:r>
          </a:p>
          <a:p>
            <a:endParaRPr/>
          </a:p>
          <a:p>
            <a:r>
              <a:t>・PPG（photoplethysmography, 光電式容積脈波記録法）＝ 皮膚に LED などの光を当て、</a:t>
            </a:r>
          </a:p>
          <a:p>
            <a:r>
              <a:t>　血液量の変化による光の透過・反射量の変化を検出して脈波を測定する非侵襲的な光学的測定法。</a:t>
            </a:r>
          </a:p>
          <a:p>
            <a:r>
              <a:t>・得られた脈波を PPG 波形、容積脈波（digital volume pulse, DVP）などと称する。</a:t>
            </a:r>
          </a:p>
          <a:p>
            <a:r>
              <a:t>・パルスオキシメトリーは、この PPG 信号を利用して SpO₂（経皮的動脈血酸素飽和度）を</a:t>
            </a:r>
          </a:p>
          <a:p>
            <a:r>
              <a:t>　非侵襲的に推定する測定原理。</a:t>
            </a:r>
          </a:p>
          <a:p>
            <a:r>
              <a:t>・つまりモニタは SpO₂ という数値を出すためにすでに PPG を取り込んでいる。</a:t>
            </a:r>
          </a:p>
          <a:p>
            <a:r>
              <a:t>　本セッションはその副産物である「波形」をもう一度読み直す作業にあたる。</a:t>
            </a:r>
          </a:p>
          <a:p>
            <a:r>
              <a:t>出典：1. Allen 2007 ／ 2. Aoyagi 2003 ／ 3. Chan 2013</a:t>
            </a:r>
          </a:p>
        </p:txBody>
      </p:sp>
      <p:sp>
        <p:nvSpPr>
          <p:cNvPr id="4" name="Slide Number Placeholder 3">
            <a:extLst>
              <a:ext uri="{FF2B5EF4-FFF2-40B4-BE49-F238E27FC236}">
                <a16:creationId xmlns:a16="http://schemas.microsoft.com/office/drawing/2014/main" id="{873034C7-4055-E666-A435-A0B0FFFD8252}"/>
              </a:ext>
            </a:extLst>
          </p:cNvPr>
          <p:cNvSpPr>
            <a:spLocks noGrp="1"/>
          </p:cNvSpPr>
          <p:nvPr>
            <p:ph type="sldNum" sz="quarter" idx="5"/>
          </p:nvPr>
        </p:nvSpPr>
        <p:spPr/>
      </p:sp>
    </p:spTree>
    <p:extLst>
      <p:ext uri="{BB962C8B-B14F-4D97-AF65-F5344CB8AC3E}">
        <p14:creationId xmlns:p14="http://schemas.microsoft.com/office/powerpoint/2010/main" val="14744092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BDF55-38F1-CE92-ED24-856A73525A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D33A95-8D8E-0BF7-86B4-08C23970BA5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F5825CF-951F-C340-FFD4-FA0211F1303F}"/>
              </a:ext>
            </a:extLst>
          </p:cNvPr>
          <p:cNvSpPr>
            <a:spLocks noGrp="1"/>
          </p:cNvSpPr>
          <p:nvPr>
            <p:ph type="body" sz="quarter" idx="3"/>
          </p:nvPr>
        </p:nvSpPr>
        <p:spPr/>
        <p:txBody>
          <a:bodyPr/>
          <a:lstStyle/>
          <a:p>
            <a:endParaRPr/>
          </a:p>
          <a:p>
            <a:r>
              <a:t>European Journal of Haematologyの論文が明確に整理しており、SO₂は「酸化ヘモグロビン(O₂Hb)と、O₂Hb+脱酸素化ヘモグロビン(RHb)の和との比」として100%×O₂Hb/(O₂Hb+RHb)と定義される</a:t>
            </a: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DDE28704-2341-5E6B-1733-FB7FE3DD04AC}"/>
              </a:ext>
            </a:extLst>
          </p:cNvPr>
          <p:cNvSpPr>
            <a:spLocks noGrp="1"/>
          </p:cNvSpPr>
          <p:nvPr>
            <p:ph type="sldNum" sz="quarter" idx="5"/>
          </p:nvPr>
        </p:nvSpPr>
        <p:spPr/>
      </p:sp>
    </p:spTree>
    <p:extLst>
      <p:ext uri="{BB962C8B-B14F-4D97-AF65-F5344CB8AC3E}">
        <p14:creationId xmlns:p14="http://schemas.microsoft.com/office/powerpoint/2010/main" val="4055428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F24CB-7E89-1F57-8033-B7CF9465B1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139D2D-6215-471A-3C05-7CD96F036F2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F705D2D-4D55-43A4-83F2-B74FFD5AE6D5}"/>
              </a:ext>
            </a:extLst>
          </p:cNvPr>
          <p:cNvSpPr>
            <a:spLocks noGrp="1"/>
          </p:cNvSpPr>
          <p:nvPr>
            <p:ph type="body" sz="quarter" idx="3"/>
          </p:nvPr>
        </p:nvSpPr>
        <p:spPr/>
        <p:txBody>
          <a:bodyPr/>
          <a:lstStyle/>
          <a:p>
            <a:r>
              <a:t>知りたいのは動脈血中に存在する酸素と結合しているオキシヘモグロビンの割合。</a:t>
            </a:r>
          </a:p>
          <a:p>
            <a:r>
              <a:t>オキシヘモグロビンと酸素を放出したデオキシヘモグロビンの吸光度が違うことに注目した。</a:t>
            </a:r>
          </a:p>
          <a:p>
            <a:r>
              <a:t>でオキシヘモグロビンは660nmの赤色光をよく吸収する。オキシヘモグロビンは940nmの赤外光をよく吸収するという性質がある。</a:t>
            </a: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84BDD548-5997-AB8D-103F-C0B99B10AB99}"/>
              </a:ext>
            </a:extLst>
          </p:cNvPr>
          <p:cNvSpPr>
            <a:spLocks noGrp="1"/>
          </p:cNvSpPr>
          <p:nvPr>
            <p:ph type="sldNum" sz="quarter" idx="5"/>
          </p:nvPr>
        </p:nvSpPr>
        <p:spPr/>
      </p:sp>
    </p:spTree>
    <p:extLst>
      <p:ext uri="{BB962C8B-B14F-4D97-AF65-F5344CB8AC3E}">
        <p14:creationId xmlns:p14="http://schemas.microsoft.com/office/powerpoint/2010/main" val="2059380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436EA-BECE-5B89-C144-DA70949B4A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819174-777F-842C-ADBF-33BABD2EC29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C27B217-71DD-6C0C-30DE-462278EB74BA}"/>
              </a:ext>
            </a:extLst>
          </p:cNvPr>
          <p:cNvSpPr>
            <a:spLocks noGrp="1"/>
          </p:cNvSpPr>
          <p:nvPr>
            <p:ph type="body" sz="quarter" idx="3"/>
          </p:nvPr>
        </p:nvSpPr>
        <p:spPr/>
        <p:txBody>
          <a:bodyPr/>
          <a:lstStyle/>
          <a:p>
            <a:r>
              <a:rPr lang="en-US" dirty="0"/>
              <a:t>そこで、発光部から660nmの赤色光と940nmの赤外光を測定部位に照射する。</a:t>
            </a:r>
          </a:p>
          <a:p>
            <a:r>
              <a:rPr lang="ja-JP" altLang="en-US"/>
              <a:t>測定部位</a:t>
            </a:r>
            <a:r>
              <a:rPr dirty="0" err="1"/>
              <a:t>を透過（または反射）した光の量を受光素子で拾い</a:t>
            </a:r>
            <a:r>
              <a:rPr dirty="0"/>
              <a:t>、</a:t>
            </a:r>
            <a:r>
              <a:rPr lang="ja-JP" altLang="en-US"/>
              <a:t>血液で吸収され減衰した光を信号にしている。</a:t>
            </a:r>
            <a:endParaRPr lang="en-US" altLang="ja-JP" dirty="0"/>
          </a:p>
          <a:p>
            <a:endParaRPr lang="en-US" dirty="0"/>
          </a:p>
          <a:p>
            <a:r>
              <a:rPr lang="en-US" dirty="0" err="1"/>
              <a:t>そうすると、測定部位には拍動する動脈と、拍動しない</a:t>
            </a:r>
            <a:r>
              <a:rPr lang="ja-JP" altLang="en-US"/>
              <a:t>皮膚・骨・筋・静脈血があるので、右のような波形が得られる。</a:t>
            </a:r>
            <a:endParaRPr lang="en-US" dirty="0"/>
          </a:p>
          <a:p>
            <a:endParaRPr lang="en-US" dirty="0"/>
          </a:p>
          <a:p>
            <a:endParaRPr dirty="0"/>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A7170B71-4F12-92B1-F33E-A60D2CF6BEDA}"/>
              </a:ext>
            </a:extLst>
          </p:cNvPr>
          <p:cNvSpPr>
            <a:spLocks noGrp="1"/>
          </p:cNvSpPr>
          <p:nvPr>
            <p:ph type="sldNum" sz="quarter" idx="5"/>
          </p:nvPr>
        </p:nvSpPr>
        <p:spPr/>
      </p:sp>
    </p:spTree>
    <p:extLst>
      <p:ext uri="{BB962C8B-B14F-4D97-AF65-F5344CB8AC3E}">
        <p14:creationId xmlns:p14="http://schemas.microsoft.com/office/powerpoint/2010/main" val="2501840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97B27-8D6A-ACA9-E579-50AFE46394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F227E-33EB-3747-A6CB-9533981A47D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67F8F25-3CE4-0424-9210-A10D10130312}"/>
              </a:ext>
            </a:extLst>
          </p:cNvPr>
          <p:cNvSpPr>
            <a:spLocks noGrp="1"/>
          </p:cNvSpPr>
          <p:nvPr>
            <p:ph type="body" sz="quarter" idx="3"/>
          </p:nvPr>
        </p:nvSpPr>
        <p:spPr/>
        <p:txBody>
          <a:bodyPr/>
          <a:lstStyle/>
          <a:p>
            <a:r>
              <a:rPr lang="en-US" dirty="0" err="1"/>
              <a:t>拍動成分部分をAC、非拍動成分部分をDCという</a:t>
            </a:r>
            <a:endParaRPr lang="en-US" dirty="0"/>
          </a:p>
          <a:p>
            <a:endParaRPr lang="en-US" dirty="0"/>
          </a:p>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F74C6D83-AF11-9AD2-6735-89EC5A4032F8}"/>
              </a:ext>
            </a:extLst>
          </p:cNvPr>
          <p:cNvSpPr>
            <a:spLocks noGrp="1"/>
          </p:cNvSpPr>
          <p:nvPr>
            <p:ph type="sldNum" sz="quarter" idx="5"/>
          </p:nvPr>
        </p:nvSpPr>
        <p:spPr/>
      </p:sp>
    </p:spTree>
    <p:extLst>
      <p:ext uri="{BB962C8B-B14F-4D97-AF65-F5344CB8AC3E}">
        <p14:creationId xmlns:p14="http://schemas.microsoft.com/office/powerpoint/2010/main" val="1856731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A416C-778B-0061-5200-5F975B778D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A4FE94-CAFD-FE75-20F6-FF37BA6219A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FFEB787-C0C6-6166-C38E-EA7DA5CF7998}"/>
              </a:ext>
            </a:extLst>
          </p:cNvPr>
          <p:cNvSpPr>
            <a:spLocks noGrp="1"/>
          </p:cNvSpPr>
          <p:nvPr>
            <p:ph type="body" sz="quarter" idx="3"/>
          </p:nvPr>
        </p:nvSpPr>
        <p:spPr/>
        <p:txBody>
          <a:bodyPr/>
          <a:lstStyle/>
          <a:p>
            <a:pPr algn="l">
              <a:lnSpc>
                <a:spcPct val="150000"/>
              </a:lnSpc>
              <a:spcBef>
                <a:spcPts val="0"/>
              </a:spcBef>
              <a:spcAft>
                <a:spcPts val="0"/>
              </a:spcAft>
            </a:pPr>
            <a:r>
              <a:rPr lang="ja-JP" altLang="en-US" sz="1200" b="1">
                <a:solidFill>
                  <a:srgbClr val="262626"/>
                </a:solidFill>
                <a:latin typeface="Meiryo"/>
                <a:ea typeface="Meiryo"/>
                <a:cs typeface="Meiryo"/>
              </a:rPr>
              <a:t>知りたいのは</a:t>
            </a:r>
            <a:r>
              <a:rPr lang="ja-JP" altLang="en-US" sz="1200" b="1">
                <a:solidFill>
                  <a:srgbClr val="D55E00"/>
                </a:solidFill>
                <a:latin typeface="Meiryo"/>
                <a:ea typeface="Meiryo"/>
                <a:cs typeface="Meiryo"/>
              </a:rPr>
              <a:t> </a:t>
            </a:r>
            <a:r>
              <a:rPr lang="ja-JP" altLang="en-US" sz="1200" b="1">
                <a:solidFill>
                  <a:schemeClr val="tx1"/>
                </a:solidFill>
                <a:latin typeface="Meiryo"/>
                <a:ea typeface="Meiryo"/>
                <a:cs typeface="Meiryo"/>
              </a:rPr>
              <a:t>動脈血の </a:t>
            </a:r>
            <a:r>
              <a:rPr lang="en-US" altLang="ja-JP" sz="1200" b="1" dirty="0">
                <a:solidFill>
                  <a:srgbClr val="D55E00"/>
                </a:solidFill>
                <a:latin typeface="Meiryo"/>
                <a:ea typeface="Meiryo"/>
                <a:cs typeface="Meiryo"/>
              </a:rPr>
              <a:t>O₂ Hb </a:t>
            </a:r>
            <a:r>
              <a:rPr lang="ja-JP" altLang="en-US" sz="1200" b="1">
                <a:solidFill>
                  <a:srgbClr val="262626"/>
                </a:solidFill>
                <a:latin typeface="Meiryo"/>
                <a:ea typeface="Meiryo"/>
                <a:cs typeface="Meiryo"/>
              </a:rPr>
              <a:t>の割合　なので　</a:t>
            </a:r>
            <a:r>
              <a:rPr lang="en-US" altLang="ja-JP" sz="1200" b="1" dirty="0">
                <a:solidFill>
                  <a:srgbClr val="262626"/>
                </a:solidFill>
                <a:latin typeface="Meiryo"/>
                <a:ea typeface="Meiryo"/>
                <a:cs typeface="Meiryo"/>
              </a:rPr>
              <a:t>AC / DC </a:t>
            </a:r>
            <a:r>
              <a:rPr lang="ja-JP" altLang="en-US" sz="1200" b="1">
                <a:solidFill>
                  <a:srgbClr val="262626"/>
                </a:solidFill>
                <a:latin typeface="Meiryo"/>
                <a:ea typeface="Meiryo"/>
                <a:cs typeface="Meiryo"/>
              </a:rPr>
              <a:t>で非拍動成分を除く</a:t>
            </a:r>
            <a:endParaRPr lang="en-US" altLang="ja-JP" sz="1200" b="1" dirty="0">
              <a:solidFill>
                <a:srgbClr val="262626"/>
              </a:solidFill>
              <a:latin typeface="Meiryo"/>
              <a:ea typeface="Meiryo"/>
              <a:cs typeface="Meiryo"/>
            </a:endParaRPr>
          </a:p>
          <a:p>
            <a:pPr algn="l">
              <a:lnSpc>
                <a:spcPct val="150000"/>
              </a:lnSpc>
              <a:spcBef>
                <a:spcPts val="0"/>
              </a:spcBef>
              <a:spcAft>
                <a:spcPts val="0"/>
              </a:spcAft>
            </a:pPr>
            <a:endParaRPr lang="en-US" dirty="0"/>
          </a:p>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81E38478-C98A-F6F2-6F55-2E15B7D639B3}"/>
              </a:ext>
            </a:extLst>
          </p:cNvPr>
          <p:cNvSpPr>
            <a:spLocks noGrp="1"/>
          </p:cNvSpPr>
          <p:nvPr>
            <p:ph type="sldNum" sz="quarter" idx="5"/>
          </p:nvPr>
        </p:nvSpPr>
        <p:spPr/>
      </p:sp>
    </p:spTree>
    <p:extLst>
      <p:ext uri="{BB962C8B-B14F-4D97-AF65-F5344CB8AC3E}">
        <p14:creationId xmlns:p14="http://schemas.microsoft.com/office/powerpoint/2010/main" val="39822120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9123A-7C2B-07E9-E92B-3A26EEB541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C55F46-C3D9-A400-A2F4-C17B53725B1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62E55E6-D9A2-9EB7-1C25-8A83C06E909C}"/>
              </a:ext>
            </a:extLst>
          </p:cNvPr>
          <p:cNvSpPr>
            <a:spLocks noGrp="1"/>
          </p:cNvSpPr>
          <p:nvPr>
            <p:ph type="body" sz="quarter" idx="3"/>
          </p:nvPr>
        </p:nvSpPr>
        <p:spPr/>
        <p:txBody>
          <a:bodyPr/>
          <a:lstStyle/>
          <a:p>
            <a:endParaRP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D5A5737E-2283-01E1-DEE3-EFD915E640D4}"/>
              </a:ext>
            </a:extLst>
          </p:cNvPr>
          <p:cNvSpPr>
            <a:spLocks noGrp="1"/>
          </p:cNvSpPr>
          <p:nvPr>
            <p:ph type="sldNum" sz="quarter" idx="5"/>
          </p:nvPr>
        </p:nvSpPr>
        <p:spPr/>
      </p:sp>
    </p:spTree>
    <p:extLst>
      <p:ext uri="{BB962C8B-B14F-4D97-AF65-F5344CB8AC3E}">
        <p14:creationId xmlns:p14="http://schemas.microsoft.com/office/powerpoint/2010/main" val="4153427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DCAF9-3DD6-F31A-8C63-13D6D293A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E1583D-24E6-9898-5658-59F68125FF7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EE2194D-12E2-953B-A6C5-F452F4A21B8F}"/>
              </a:ext>
            </a:extLst>
          </p:cNvPr>
          <p:cNvSpPr>
            <a:spLocks noGrp="1"/>
          </p:cNvSpPr>
          <p:nvPr>
            <p:ph type="body" sz="quarter" idx="3"/>
          </p:nvPr>
        </p:nvSpPr>
        <p:spPr/>
        <p:txBody>
          <a:bodyPr/>
          <a:lstStyle/>
          <a:p>
            <a:r>
              <a:t>AC / DC で動脈血成分にした</a:t>
            </a:r>
          </a:p>
          <a:p>
            <a:r>
              <a:t>赤外光はO₂Hbの指標、赤色光HHbの指標。</a:t>
            </a:r>
          </a:p>
          <a:p>
            <a:r>
              <a:t>分母は動脈血のO 2Hbの指標で、分子は動脈血のHHbの指標</a:t>
            </a:r>
          </a:p>
          <a:p>
            <a:r>
              <a:t>これによって動脈血中のO 2Hbの割合を出そうとしている。 </a:t>
            </a:r>
          </a:p>
          <a:p>
            <a:endParaRP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4C3F9C05-7BE8-B858-145F-C6CF39B77F02}"/>
              </a:ext>
            </a:extLst>
          </p:cNvPr>
          <p:cNvSpPr>
            <a:spLocks noGrp="1"/>
          </p:cNvSpPr>
          <p:nvPr>
            <p:ph type="sldNum" sz="quarter" idx="5"/>
          </p:nvPr>
        </p:nvSpPr>
        <p:spPr/>
      </p:sp>
    </p:spTree>
    <p:extLst>
      <p:ext uri="{BB962C8B-B14F-4D97-AF65-F5344CB8AC3E}">
        <p14:creationId xmlns:p14="http://schemas.microsoft.com/office/powerpoint/2010/main" val="2730883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F32FC-3DC5-0E43-3619-E7DC01AA9B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7820B2-C40E-8EE6-A4ED-6388F5232F7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0B3D65F-48A9-EB60-0C53-9596176E7DB9}"/>
              </a:ext>
            </a:extLst>
          </p:cNvPr>
          <p:cNvSpPr>
            <a:spLocks noGrp="1"/>
          </p:cNvSpPr>
          <p:nvPr>
            <p:ph type="body" sz="quarter" idx="3"/>
          </p:nvPr>
        </p:nvSpPr>
        <p:spPr/>
        <p:txBody>
          <a:bodyPr/>
          <a:lstStyle/>
          <a:p>
            <a:r>
              <a:t>健常人に低酸素負荷をしてRと対応するSaO2を得る。健常人なのでSaO２70％が限度。以下は推定。</a:t>
            </a:r>
          </a:p>
          <a:p>
            <a:r>
              <a:t>これを対照とする。</a:t>
            </a:r>
          </a:p>
          <a:p>
            <a:endParaRPr/>
          </a:p>
          <a:p>
            <a:r>
              <a:t>先ほど得られた赤色光赤外光変調比から、</a:t>
            </a: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C544DC85-B427-41E7-F71E-F22650057390}"/>
              </a:ext>
            </a:extLst>
          </p:cNvPr>
          <p:cNvSpPr>
            <a:spLocks noGrp="1"/>
          </p:cNvSpPr>
          <p:nvPr>
            <p:ph type="sldNum" sz="quarter" idx="5"/>
          </p:nvPr>
        </p:nvSpPr>
        <p:spPr/>
      </p:sp>
    </p:spTree>
    <p:extLst>
      <p:ext uri="{BB962C8B-B14F-4D97-AF65-F5344CB8AC3E}">
        <p14:creationId xmlns:p14="http://schemas.microsoft.com/office/powerpoint/2010/main" val="1718225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C1B47-2B33-059E-E0DA-FB1781B3C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514FB-B1F2-4F0A-9CBF-769AA9BCF4D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89D9478-2EA6-D081-E9CD-04FDAB94A84A}"/>
              </a:ext>
            </a:extLst>
          </p:cNvPr>
          <p:cNvSpPr>
            <a:spLocks noGrp="1"/>
          </p:cNvSpPr>
          <p:nvPr>
            <p:ph type="body" sz="quarter" idx="3"/>
          </p:nvPr>
        </p:nvSpPr>
        <p:spPr/>
        <p:txBody>
          <a:bodyPr/>
          <a:lstStyle/>
          <a:p>
            <a:r>
              <a:t>測定対象からRを得ることにより、経皮的にSaO2を推定することができるようになった。</a:t>
            </a:r>
          </a:p>
          <a:p>
            <a:r>
              <a:t>これをSpO₂とする。</a:t>
            </a:r>
          </a:p>
          <a:p>
            <a:endParaRPr/>
          </a:p>
          <a:p>
            <a:r>
              <a:t>パルスオキシメータのSpO₂ルックアップテーブル(較正曲線)は、健常な成人ボランティアを対象とした「意図的低酸素負荷試験(controlled/induced desaturation study)」により、動脈血ガス(SaO₂)を基準として作成される</a:t>
            </a:r>
          </a:p>
          <a:p>
            <a:r>
              <a:t>試験の基本手順(ISO 80601-2-61:2017 / FDA 2013 guidanceに準拠)</a:t>
            </a:r>
          </a:p>
          <a:p>
            <a:r>
              <a:t>対象: 健常な若年成人ボランティア(疾患・喫煙歴なし)。近年はFDAの改訂方針を受け、多様な肌色(Fitzpatrick分類やMonk Skin Tone、個人皮膚色角度ITAなど)を含む被験者構成が求められるようになっている。 [4-5]</a:t>
            </a:r>
          </a:p>
          <a:p>
            <a:r>
              <a:t>低酸素の誘発方法: 安静仰臥位で、吸入酸素・窒素(場合により二酸化炭素)の分圧を部分再呼吸回路(partial rebreathing circuit)や吸入ガス混合装置で段階的に調整し、SaO₂を70%から100%の範囲で複数のプラトー(定常状態)に安定させる。 [3][6]</a:t>
            </a:r>
          </a:p>
          <a:p>
            <a:r>
              <a:t>サンプリングと基準値取得: 橈骨動脈ラインを留置し、各SaO₂プラトーで動脈血を採取、血液ガス分析装置(co-oximeter、例:ABL-90FLEX)でSaO₂を直接測定する。同時に被験機器のSpO₂値を記録し、両者をペアデータとして対応させる。 [3][6]</a:t>
            </a:r>
          </a:p>
          <a:p>
            <a:r>
              <a:t>評価するSaO₂範囲: 通常70〜100%の範囲で複数プラトーを設定するのがISO/FDA標準プロトコルである。70%未満の重度低酸素領域は健常者に対する倫理的制約から通常の市販機器の較正には含まれず、この領域での精度は保証されていない(実際、55〜70%SaO₂域では市販機器がいずれも基準と一致しなかったとする報告もある)。 [1][3]</a:t>
            </a:r>
          </a:p>
          <a:p>
            <a:r>
              <a:t>精度評価指標: 各SpO₂-SaO₂ペアから誤差(bias = SpO₂-SaO₂)を算出し、二乗平均平方根誤差(A_RMS, root mean square error)やBland-Altman法(バイアスと95%一致限界)で評価する。FDA基準ではA_RMSが指先プローブで3%以内、耳朶プローブで3.5%以内であることが求められる。 [4][7]</a:t>
            </a:r>
          </a:p>
          <a:p>
            <a:r>
              <a:t>ルックアップテーブルの作成: 得られたSpO₂-SaO₂ペアデータから回帰式(較正曲線)を導出し、機器内部でRの値(赤色/近赤外の正規化吸光比、ratio of ratios)に対応するSaO₂推定値としてルックアップテーブル化・アルゴリズムに実装する。 </a:t>
            </a:r>
          </a:p>
          <a:p>
            <a:endParaRP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851A6DD8-9D05-D826-43C6-8AEF19F5F795}"/>
              </a:ext>
            </a:extLst>
          </p:cNvPr>
          <p:cNvSpPr>
            <a:spLocks noGrp="1"/>
          </p:cNvSpPr>
          <p:nvPr>
            <p:ph type="sldNum" sz="quarter" idx="5"/>
          </p:nvPr>
        </p:nvSpPr>
        <p:spPr/>
      </p:sp>
    </p:spTree>
    <p:extLst>
      <p:ext uri="{BB962C8B-B14F-4D97-AF65-F5344CB8AC3E}">
        <p14:creationId xmlns:p14="http://schemas.microsoft.com/office/powerpoint/2010/main" val="8784395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【改善案】元スライド（タイトルだけで本文が空）の完成案。ノートの内容をそのまま3段に整理した。</a:t>
            </a:r>
          </a:p>
          <a:p>
            <a:endParaRPr/>
          </a:p>
          <a:p>
            <a:r>
              <a:t>拡張期でも動脈内の血液はゼロにならず、残存動脈血が DC 成分に含まれる。DC ＝ 静脈血＋組織＋拡張期の動脈血 であり、純粋に動脈成分を除いた値ではない。</a:t>
            </a:r>
          </a:p>
          <a:p>
            <a:r>
              <a:t>理論解析では、R と SaO₂ の関係は「動脈区画が拍動で膨張する部分の吸収変化」と「その膨張領域の実効光路長（mean partial optical path length）」で決まり、DC に残る動脈血を含めた較正が必要とされる。</a:t>
            </a:r>
          </a:p>
          <a:p>
            <a:r>
              <a:t>実運用では、この効果は個々の患者で定量化されているわけではなく、メーカーの経験的較正（健常者の低酸素負荷試験によるルックアップテーブル）に間接的に織り込まれており、通常の臨床精度（誤差 約3〜4%）の範囲に収まると考えられている。</a:t>
            </a:r>
          </a:p>
          <a:p>
            <a:r>
              <a:t>ただし較正は健常成人ボランティアでの経験モデルなので、末梢循環不全・色素性皮膚・異常ヘモグロビン血症では前提から外れて誤差が拡大しうる。肌の色素沈着による hidden/occult hypoxemia はその臨床的発現の一例。</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8382F-7415-AD35-8419-C163B5C550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3E27C-7B80-F4BD-9ACB-08E1BD8ABD8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D4FB8A9-DDB0-BD78-5DF3-7A88014FCB4E}"/>
              </a:ext>
            </a:extLst>
          </p:cNvPr>
          <p:cNvSpPr>
            <a:spLocks noGrp="1"/>
          </p:cNvSpPr>
          <p:nvPr>
            <p:ph type="body" sz="quarter" idx="3"/>
          </p:nvPr>
        </p:nvSpPr>
        <p:spPr/>
        <p:txBody>
          <a:bodyPr/>
          <a:lstStyle/>
          <a:p>
            <a:r>
              <a:rPr lang="en-US" dirty="0"/>
              <a:t>発光部から２種類の波長の光を出し、これを受講部で測定する。</a:t>
            </a:r>
          </a:p>
          <a:p>
            <a:r>
              <a:rPr lang="en-US" dirty="0"/>
              <a:t>拍動時、動脈は、左室からの圧脈波が到着した部分だけ、局所的に受動的に拡張し一時的に容積が増大する。拡張分だけHbが増えた結果、吸光量が増大してPPG信号の変化を起こす。</a:t>
            </a:r>
          </a:p>
          <a:p>
            <a:r>
              <a:rPr lang="en-US" dirty="0" err="1"/>
              <a:t>つまり、PPGは測っているのは拍動する動脈血の容積変化ということになる</a:t>
            </a:r>
            <a:r>
              <a:rPr lang="en-US" dirty="0"/>
              <a:t>。</a:t>
            </a:r>
          </a:p>
          <a:p>
            <a:endParaRPr lang="en-US" dirty="0"/>
          </a:p>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E6D0383E-312B-25EC-7918-6FE5DBCD0578}"/>
              </a:ext>
            </a:extLst>
          </p:cNvPr>
          <p:cNvSpPr>
            <a:spLocks noGrp="1"/>
          </p:cNvSpPr>
          <p:nvPr>
            <p:ph type="sldNum" sz="quarter" idx="5"/>
          </p:nvPr>
        </p:nvSpPr>
        <p:spPr/>
      </p:sp>
    </p:spTree>
    <p:extLst>
      <p:ext uri="{BB962C8B-B14F-4D97-AF65-F5344CB8AC3E}">
        <p14:creationId xmlns:p14="http://schemas.microsoft.com/office/powerpoint/2010/main" val="4519754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B2837-D9A8-1F4D-6232-5E5674072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E4CF1-C4D8-8996-8670-9650E2F5E1B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1DBE721-C606-9A7B-BC3C-311DAEF28020}"/>
              </a:ext>
            </a:extLst>
          </p:cNvPr>
          <p:cNvSpPr>
            <a:spLocks noGrp="1"/>
          </p:cNvSpPr>
          <p:nvPr>
            <p:ph type="body" sz="quarter" idx="3"/>
          </p:nvPr>
        </p:nvSpPr>
        <p:spPr/>
        <p:txBody>
          <a:bodyPr/>
          <a:lstStyle/>
          <a:p>
            <a:r>
              <a:rPr lang="en-US" dirty="0"/>
              <a:t>この前進波について、左室からの圧脈波の到着による局所拡張としたが、実際に左室が送り出す血液はこの壁を伝導する厚脈波に比べ10倍以上も遅い。</a:t>
            </a:r>
          </a:p>
          <a:p>
            <a:r>
              <a:rPr lang="en-US" dirty="0" err="1"/>
              <a:t>左室の血液は一心拍の間に指尖部まで届かない</a:t>
            </a:r>
            <a:r>
              <a:rPr lang="en-US" dirty="0"/>
              <a:t>。</a:t>
            </a:r>
          </a:p>
          <a:p>
            <a:endParaRPr lang="en-US" dirty="0"/>
          </a:p>
          <a:p>
            <a:r>
              <a:rPr dirty="0"/>
              <a:t>PPG 波形の第1の成分は前進波（forward wave）。</a:t>
            </a:r>
            <a:r>
              <a:rPr dirty="0" err="1"/>
              <a:t>ここで最も強調したいのは</a:t>
            </a:r>
            <a:r>
              <a:rPr dirty="0"/>
              <a:t>、</a:t>
            </a:r>
          </a:p>
          <a:p>
            <a:r>
              <a:rPr dirty="0" err="1"/>
              <a:t>指先に伝わってくるのは「血液そのもの（血流</a:t>
            </a:r>
            <a:r>
              <a:rPr dirty="0"/>
              <a:t>）」</a:t>
            </a:r>
            <a:r>
              <a:rPr dirty="0" err="1"/>
              <a:t>ではなく「圧の波（圧波・脈波</a:t>
            </a:r>
            <a:r>
              <a:rPr dirty="0"/>
              <a:t>）」</a:t>
            </a:r>
            <a:r>
              <a:rPr dirty="0" err="1"/>
              <a:t>だという点</a:t>
            </a:r>
            <a:r>
              <a:rPr dirty="0"/>
              <a:t>。</a:t>
            </a:r>
          </a:p>
          <a:p>
            <a:endParaRPr dirty="0"/>
          </a:p>
          <a:p>
            <a:r>
              <a:rPr dirty="0" err="1"/>
              <a:t>左室が駆出すると大動脈起始部で圧が立ち上がり、その圧の変化が血管壁を伝わる波として</a:t>
            </a:r>
            <a:endParaRPr dirty="0"/>
          </a:p>
          <a:p>
            <a:r>
              <a:rPr dirty="0"/>
              <a:t>末梢へ進む。指尖ではこれが収縮期前半の急峻な立ち上がりと第1ピーク（P1）になる。</a:t>
            </a:r>
          </a:p>
          <a:p>
            <a:endParaRPr dirty="0"/>
          </a:p>
          <a:p>
            <a:r>
              <a:rPr dirty="0"/>
              <a:t>・</a:t>
            </a:r>
            <a:r>
              <a:rPr dirty="0" err="1"/>
              <a:t>圧波の伝播速度（PWV</a:t>
            </a:r>
            <a:r>
              <a:rPr dirty="0"/>
              <a:t>）… </a:t>
            </a:r>
            <a:r>
              <a:rPr dirty="0" err="1"/>
              <a:t>大動脈で概ね</a:t>
            </a:r>
            <a:r>
              <a:rPr dirty="0"/>
              <a:t> 5〜10 m/</a:t>
            </a:r>
            <a:r>
              <a:rPr dirty="0" err="1"/>
              <a:t>s。若年で</a:t>
            </a:r>
            <a:r>
              <a:rPr dirty="0"/>
              <a:t> 5〜6 m/</a:t>
            </a:r>
            <a:r>
              <a:rPr dirty="0" err="1"/>
              <a:t>s、加齢・動脈硬化で上昇し</a:t>
            </a:r>
            <a:r>
              <a:rPr dirty="0"/>
              <a:t>、</a:t>
            </a:r>
          </a:p>
          <a:p>
            <a:r>
              <a:rPr dirty="0"/>
              <a:t>　</a:t>
            </a:r>
            <a:r>
              <a:rPr dirty="0" err="1"/>
              <a:t>cf</a:t>
            </a:r>
            <a:r>
              <a:rPr dirty="0"/>
              <a:t>-PWV 10 m/s </a:t>
            </a:r>
            <a:r>
              <a:rPr dirty="0" err="1"/>
              <a:t>超は臓器障害の指標とされる。壁が硬いほど速い（Moens-Korteweg</a:t>
            </a:r>
            <a:r>
              <a:rPr dirty="0"/>
              <a:t>）。</a:t>
            </a:r>
          </a:p>
          <a:p>
            <a:r>
              <a:rPr dirty="0"/>
              <a:t>・</a:t>
            </a:r>
            <a:r>
              <a:rPr dirty="0" err="1"/>
              <a:t>血流そのものの速度</a:t>
            </a:r>
            <a:r>
              <a:rPr dirty="0"/>
              <a:t> … </a:t>
            </a:r>
            <a:r>
              <a:rPr dirty="0" err="1"/>
              <a:t>大動脈でも平均で数十</a:t>
            </a:r>
            <a:r>
              <a:rPr dirty="0"/>
              <a:t> cm/s </a:t>
            </a:r>
            <a:r>
              <a:rPr dirty="0" err="1"/>
              <a:t>のオーダ</a:t>
            </a:r>
            <a:r>
              <a:rPr dirty="0"/>
              <a:t>ー。</a:t>
            </a:r>
            <a:r>
              <a:rPr dirty="0" err="1"/>
              <a:t>圧波は血流より</a:t>
            </a:r>
            <a:r>
              <a:rPr dirty="0"/>
              <a:t> 10 </a:t>
            </a:r>
            <a:r>
              <a:rPr dirty="0" err="1"/>
              <a:t>倍以上速い</a:t>
            </a:r>
            <a:r>
              <a:rPr dirty="0"/>
              <a:t>。</a:t>
            </a:r>
          </a:p>
          <a:p>
            <a:r>
              <a:rPr dirty="0"/>
              <a:t>　＝ </a:t>
            </a:r>
            <a:r>
              <a:rPr dirty="0" err="1"/>
              <a:t>駆出した血液が指に着く前に、圧波はとっくに指に着いている</a:t>
            </a:r>
            <a:r>
              <a:rPr dirty="0"/>
              <a:t>。</a:t>
            </a:r>
          </a:p>
          <a:p>
            <a:r>
              <a:rPr dirty="0"/>
              <a:t>・</a:t>
            </a:r>
            <a:r>
              <a:rPr dirty="0" err="1"/>
              <a:t>前進波の大きさは一回拍出量と駆出速度に、立ち上がりの傾きは左室の収縮性に依存する</a:t>
            </a:r>
            <a:r>
              <a:rPr dirty="0"/>
              <a:t>。</a:t>
            </a:r>
          </a:p>
          <a:p>
            <a:endParaRPr dirty="0"/>
          </a:p>
          <a:p>
            <a:r>
              <a:rPr dirty="0" err="1"/>
              <a:t>前進波だけなら波形は単峰性のなだらかな山になる。実際の</a:t>
            </a:r>
            <a:r>
              <a:rPr dirty="0"/>
              <a:t> PPG </a:t>
            </a:r>
            <a:r>
              <a:rPr dirty="0" err="1"/>
              <a:t>が二峰性に見えるのは</a:t>
            </a:r>
            <a:r>
              <a:rPr dirty="0"/>
              <a:t>、</a:t>
            </a:r>
          </a:p>
          <a:p>
            <a:r>
              <a:rPr dirty="0" err="1"/>
              <a:t>次のスライドの反射波が重なるため</a:t>
            </a:r>
            <a:r>
              <a:rPr dirty="0"/>
              <a:t>。(Politi 2016, </a:t>
            </a:r>
            <a:r>
              <a:rPr dirty="0" err="1"/>
              <a:t>Stergiopulos</a:t>
            </a:r>
            <a:r>
              <a:rPr dirty="0"/>
              <a:t> 1999)</a:t>
            </a:r>
          </a:p>
          <a:p>
            <a:r>
              <a:rPr dirty="0"/>
              <a:t>（</a:t>
            </a:r>
            <a:r>
              <a:rPr dirty="0" err="1"/>
              <a:t>補足：古典的な解釈での前進波の成り立ち</a:t>
            </a:r>
            <a:r>
              <a:rPr dirty="0"/>
              <a:t>）</a:t>
            </a:r>
          </a:p>
          <a:p>
            <a:r>
              <a:rPr dirty="0"/>
              <a:t>PPG </a:t>
            </a:r>
            <a:r>
              <a:rPr dirty="0" err="1"/>
              <a:t>が拾っているのは圧ではなく容積（血液量）なので、圧波が測定部位に到達すると</a:t>
            </a:r>
            <a:r>
              <a:rPr dirty="0"/>
              <a:t>、</a:t>
            </a:r>
          </a:p>
          <a:p>
            <a:r>
              <a:rPr dirty="0" err="1"/>
              <a:t>その部分の細動脈〜小動脈が経壁圧の上昇に応じて拡張し、光路上の拍動性血液量が増える</a:t>
            </a:r>
            <a:r>
              <a:rPr dirty="0"/>
              <a:t>。</a:t>
            </a:r>
          </a:p>
          <a:p>
            <a:r>
              <a:rPr dirty="0"/>
              <a:t>これが立ち上がりと第1ピーク（前進波）になる ＝ volumetric </a:t>
            </a:r>
            <a:r>
              <a:rPr dirty="0" err="1"/>
              <a:t>model（標準的な説明</a:t>
            </a:r>
            <a:r>
              <a:rPr dirty="0"/>
              <a:t>）。</a:t>
            </a:r>
          </a:p>
          <a:p>
            <a:r>
              <a:rPr dirty="0" err="1"/>
              <a:t>図の下段は、圧波が来ている場所だけ血管が太くなっている様子を示す</a:t>
            </a:r>
            <a:endParaRPr dirty="0"/>
          </a:p>
          <a:p>
            <a:r>
              <a:rPr dirty="0"/>
              <a:t>（</a:t>
            </a:r>
            <a:r>
              <a:rPr dirty="0" err="1"/>
              <a:t>灰色の破線＝安静時の口径、金の矢印＝拡張した分</a:t>
            </a:r>
            <a:r>
              <a:rPr dirty="0"/>
              <a:t>）。</a:t>
            </a:r>
          </a:p>
          <a:p>
            <a:r>
              <a:rPr dirty="0" err="1"/>
              <a:t>血液そのものが流れ込んで溜まるのではなく、圧が到達して壁が広がることが容積増加の主因</a:t>
            </a:r>
            <a:r>
              <a:rPr dirty="0"/>
              <a:t>。</a:t>
            </a:r>
          </a:p>
          <a:p>
            <a:endParaRPr dirty="0"/>
          </a:p>
          <a:p>
            <a:r>
              <a:rPr dirty="0" err="1"/>
              <a:t>正確を期すための但し書き（口頭で足すとよい</a:t>
            </a:r>
            <a:r>
              <a:rPr dirty="0"/>
              <a:t>）</a:t>
            </a:r>
          </a:p>
          <a:p>
            <a:r>
              <a:rPr dirty="0"/>
              <a:t>・</a:t>
            </a:r>
            <a:r>
              <a:rPr dirty="0" err="1"/>
              <a:t>拍動しているのは細動脈以上の血管で、毛細血管は心拍で拍動しない（真皮の拍動性細動脈が主な信号源</a:t>
            </a:r>
            <a:r>
              <a:rPr dirty="0"/>
              <a:t>）。</a:t>
            </a:r>
          </a:p>
          <a:p>
            <a:r>
              <a:rPr dirty="0"/>
              <a:t>・</a:t>
            </a:r>
            <a:r>
              <a:rPr dirty="0" err="1"/>
              <a:t>圧−容積関係は非線形かつ粘弾性なので、容積波形は圧波形の「瞬時のコピ</a:t>
            </a:r>
            <a:r>
              <a:rPr dirty="0"/>
              <a:t>ー」</a:t>
            </a:r>
            <a:r>
              <a:rPr dirty="0" err="1"/>
              <a:t>ではなく位相差・歪みがある</a:t>
            </a:r>
            <a:r>
              <a:rPr dirty="0"/>
              <a:t>。</a:t>
            </a:r>
          </a:p>
          <a:p>
            <a:r>
              <a:rPr dirty="0"/>
              <a:t>　</a:t>
            </a:r>
            <a:r>
              <a:rPr dirty="0" err="1"/>
              <a:t>したがって波の高さは、その部位の血管が「その圧でどれだけ膨らめるか</a:t>
            </a:r>
            <a:r>
              <a:rPr dirty="0"/>
              <a:t>」＝</a:t>
            </a:r>
            <a:r>
              <a:rPr dirty="0" err="1"/>
              <a:t>局所コンプライアンス</a:t>
            </a:r>
            <a:endParaRPr dirty="0"/>
          </a:p>
          <a:p>
            <a:r>
              <a:rPr dirty="0"/>
              <a:t>　（</a:t>
            </a:r>
            <a:r>
              <a:rPr dirty="0" err="1"/>
              <a:t>血管トーヌス）にも依存する。指の高さ・皮膚温・交感神経性の血管収縮で振幅が変わるのはこのため</a:t>
            </a:r>
            <a:r>
              <a:rPr dirty="0"/>
              <a:t>。</a:t>
            </a:r>
          </a:p>
          <a:p>
            <a:r>
              <a:rPr dirty="0"/>
              <a:t>・AC </a:t>
            </a:r>
            <a:r>
              <a:rPr dirty="0" err="1"/>
              <a:t>成分には末梢静脈の拍動が混じることがある（重症</a:t>
            </a:r>
            <a:r>
              <a:rPr dirty="0"/>
              <a:t> </a:t>
            </a:r>
            <a:r>
              <a:rPr dirty="0" err="1"/>
              <a:t>TR・頭低位など</a:t>
            </a:r>
            <a:r>
              <a:rPr dirty="0"/>
              <a:t>）。</a:t>
            </a:r>
          </a:p>
          <a:p>
            <a:r>
              <a:rPr dirty="0"/>
              <a:t>・</a:t>
            </a:r>
            <a:r>
              <a:rPr dirty="0" err="1"/>
              <a:t>緑色光の反射型</a:t>
            </a:r>
            <a:r>
              <a:rPr dirty="0"/>
              <a:t> </a:t>
            </a:r>
            <a:r>
              <a:rPr dirty="0" err="1"/>
              <a:t>PPG（スマートウォッチ等）は成因モデルが別で議論があり、ここでの説明は</a:t>
            </a:r>
            <a:endParaRPr dirty="0"/>
          </a:p>
          <a:p>
            <a:r>
              <a:rPr dirty="0"/>
              <a:t>　</a:t>
            </a:r>
            <a:r>
              <a:rPr dirty="0" err="1"/>
              <a:t>指尖の赤色／近赤外の透過型</a:t>
            </a:r>
            <a:r>
              <a:rPr dirty="0"/>
              <a:t> PPG </a:t>
            </a:r>
            <a:r>
              <a:rPr dirty="0" err="1"/>
              <a:t>の話</a:t>
            </a:r>
            <a:r>
              <a:rPr dirty="0"/>
              <a:t>。</a:t>
            </a:r>
          </a:p>
          <a:p>
            <a:r>
              <a:rPr dirty="0"/>
              <a:t>(Kyriacou &amp; Allen, Photoplethysmography 2022 / Fine 2021 Biosensors)</a:t>
            </a:r>
          </a:p>
        </p:txBody>
      </p:sp>
      <p:sp>
        <p:nvSpPr>
          <p:cNvPr id="4" name="Slide Number Placeholder 3">
            <a:extLst>
              <a:ext uri="{FF2B5EF4-FFF2-40B4-BE49-F238E27FC236}">
                <a16:creationId xmlns:a16="http://schemas.microsoft.com/office/drawing/2014/main" id="{C134FB67-A945-C33D-A434-D7420851D740}"/>
              </a:ext>
            </a:extLst>
          </p:cNvPr>
          <p:cNvSpPr>
            <a:spLocks noGrp="1"/>
          </p:cNvSpPr>
          <p:nvPr>
            <p:ph type="sldNum" sz="quarter" idx="5"/>
          </p:nvPr>
        </p:nvSpPr>
        <p:spPr/>
      </p:sp>
    </p:spTree>
    <p:extLst>
      <p:ext uri="{BB962C8B-B14F-4D97-AF65-F5344CB8AC3E}">
        <p14:creationId xmlns:p14="http://schemas.microsoft.com/office/powerpoint/2010/main" val="3521527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1FBEE-44E9-7A85-5E96-1C8CE3AF0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ECB69C-5607-8D8F-1067-1AEDD045B84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2C57481-F5FC-5440-DC92-6B3D555EF7E4}"/>
              </a:ext>
            </a:extLst>
          </p:cNvPr>
          <p:cNvSpPr>
            <a:spLocks noGrp="1"/>
          </p:cNvSpPr>
          <p:nvPr>
            <p:ph type="body" sz="quarter" idx="3"/>
          </p:nvPr>
        </p:nvSpPr>
        <p:spPr/>
        <p:txBody>
          <a:bodyPr/>
          <a:lstStyle/>
          <a:p>
            <a:r>
              <a:rPr lang="ja-JP" altLang="en-US"/>
              <a:t>つまり繰り返しになるが</a:t>
            </a:r>
            <a:r>
              <a:rPr dirty="0"/>
              <a:t>PPG</a:t>
            </a:r>
            <a:r>
              <a:rPr lang="ja-JP" altLang="en-US"/>
              <a:t>の測定対象は心臓から拍出された血液量ではなく、圧脈波の到着によって受動的に伸展した血管の容積変化である。</a:t>
            </a:r>
            <a:endParaRPr lang="en-US" altLang="ja-JP" dirty="0"/>
          </a:p>
          <a:p>
            <a:endParaRPr lang="en-US" dirty="0"/>
          </a:p>
          <a:p>
            <a:r>
              <a:rPr dirty="0"/>
              <a:t> 波形の第1の成分は前進波（forward wave）。</a:t>
            </a:r>
            <a:r>
              <a:rPr dirty="0" err="1"/>
              <a:t>ここで最も強調したいのは</a:t>
            </a:r>
            <a:r>
              <a:rPr dirty="0"/>
              <a:t>、</a:t>
            </a:r>
          </a:p>
          <a:p>
            <a:r>
              <a:rPr dirty="0" err="1"/>
              <a:t>指先に伝わってくるのは「血液そのもの（血流</a:t>
            </a:r>
            <a:r>
              <a:rPr dirty="0"/>
              <a:t>）」</a:t>
            </a:r>
            <a:r>
              <a:rPr dirty="0" err="1"/>
              <a:t>ではなく「圧の波（圧波・脈波</a:t>
            </a:r>
            <a:r>
              <a:rPr dirty="0"/>
              <a:t>）」</a:t>
            </a:r>
            <a:r>
              <a:rPr dirty="0" err="1"/>
              <a:t>だという点</a:t>
            </a:r>
            <a:r>
              <a:rPr dirty="0"/>
              <a:t>。</a:t>
            </a:r>
          </a:p>
          <a:p>
            <a:endParaRPr dirty="0"/>
          </a:p>
          <a:p>
            <a:r>
              <a:rPr dirty="0" err="1"/>
              <a:t>左室が駆出すると大動脈起始部で圧が立ち上がり、その圧の変化が血管壁を伝わる波として</a:t>
            </a:r>
            <a:endParaRPr dirty="0"/>
          </a:p>
          <a:p>
            <a:r>
              <a:rPr dirty="0"/>
              <a:t>末梢へ進む。指尖ではこれが収縮期前半の急峻な立ち上がりと第1ピーク（P1）になる。</a:t>
            </a:r>
          </a:p>
          <a:p>
            <a:endParaRPr dirty="0"/>
          </a:p>
          <a:p>
            <a:r>
              <a:rPr dirty="0"/>
              <a:t>・</a:t>
            </a:r>
            <a:r>
              <a:rPr dirty="0" err="1"/>
              <a:t>圧波の伝播速度（PWV</a:t>
            </a:r>
            <a:r>
              <a:rPr dirty="0"/>
              <a:t>）… </a:t>
            </a:r>
            <a:r>
              <a:rPr dirty="0" err="1"/>
              <a:t>大動脈で概ね</a:t>
            </a:r>
            <a:r>
              <a:rPr dirty="0"/>
              <a:t> 5〜10 m/</a:t>
            </a:r>
            <a:r>
              <a:rPr dirty="0" err="1"/>
              <a:t>s。若年で</a:t>
            </a:r>
            <a:r>
              <a:rPr dirty="0"/>
              <a:t> 5〜6 m/</a:t>
            </a:r>
            <a:r>
              <a:rPr dirty="0" err="1"/>
              <a:t>s、加齢・動脈硬化で上昇し</a:t>
            </a:r>
            <a:r>
              <a:rPr dirty="0"/>
              <a:t>、</a:t>
            </a:r>
          </a:p>
          <a:p>
            <a:r>
              <a:rPr dirty="0"/>
              <a:t>　</a:t>
            </a:r>
            <a:r>
              <a:rPr dirty="0" err="1"/>
              <a:t>cf</a:t>
            </a:r>
            <a:r>
              <a:rPr dirty="0"/>
              <a:t>-PWV 10 m/s </a:t>
            </a:r>
            <a:r>
              <a:rPr dirty="0" err="1"/>
              <a:t>超は臓器障害の指標とされる。壁が硬いほど速い（Moens-Korteweg</a:t>
            </a:r>
            <a:r>
              <a:rPr dirty="0"/>
              <a:t>）。</a:t>
            </a:r>
          </a:p>
          <a:p>
            <a:r>
              <a:rPr dirty="0"/>
              <a:t>・</a:t>
            </a:r>
            <a:r>
              <a:rPr dirty="0" err="1"/>
              <a:t>血流そのものの速度</a:t>
            </a:r>
            <a:r>
              <a:rPr dirty="0"/>
              <a:t> … </a:t>
            </a:r>
            <a:r>
              <a:rPr dirty="0" err="1"/>
              <a:t>大動脈でも平均で数十</a:t>
            </a:r>
            <a:r>
              <a:rPr dirty="0"/>
              <a:t> cm/s </a:t>
            </a:r>
            <a:r>
              <a:rPr dirty="0" err="1"/>
              <a:t>のオーダ</a:t>
            </a:r>
            <a:r>
              <a:rPr dirty="0"/>
              <a:t>ー。</a:t>
            </a:r>
            <a:r>
              <a:rPr dirty="0" err="1"/>
              <a:t>圧波は血流より</a:t>
            </a:r>
            <a:r>
              <a:rPr dirty="0"/>
              <a:t> 10 </a:t>
            </a:r>
            <a:r>
              <a:rPr dirty="0" err="1"/>
              <a:t>倍以上速い</a:t>
            </a:r>
            <a:r>
              <a:rPr dirty="0"/>
              <a:t>。</a:t>
            </a:r>
          </a:p>
          <a:p>
            <a:r>
              <a:rPr dirty="0"/>
              <a:t>　＝ </a:t>
            </a:r>
            <a:r>
              <a:rPr dirty="0" err="1"/>
              <a:t>駆出した血液が指に着く前に、圧波はとっくに指に着いている</a:t>
            </a:r>
            <a:r>
              <a:rPr dirty="0"/>
              <a:t>。</a:t>
            </a:r>
          </a:p>
          <a:p>
            <a:r>
              <a:rPr dirty="0"/>
              <a:t>・</a:t>
            </a:r>
            <a:r>
              <a:rPr dirty="0" err="1"/>
              <a:t>前進波の大きさは一回拍出量と駆出速度に、立ち上がりの傾きは左室の収縮性に依存する</a:t>
            </a:r>
            <a:r>
              <a:rPr dirty="0"/>
              <a:t>。</a:t>
            </a:r>
          </a:p>
          <a:p>
            <a:endParaRPr dirty="0"/>
          </a:p>
          <a:p>
            <a:r>
              <a:rPr dirty="0" err="1"/>
              <a:t>前進波だけなら波形は単峰性のなだらかな山になる。実際の</a:t>
            </a:r>
            <a:r>
              <a:rPr dirty="0"/>
              <a:t> PPG </a:t>
            </a:r>
            <a:r>
              <a:rPr dirty="0" err="1"/>
              <a:t>が二峰性に見えるのは</a:t>
            </a:r>
            <a:r>
              <a:rPr dirty="0"/>
              <a:t>、</a:t>
            </a:r>
          </a:p>
          <a:p>
            <a:r>
              <a:rPr dirty="0" err="1"/>
              <a:t>次のスライドの反射波が重なるため</a:t>
            </a:r>
            <a:r>
              <a:rPr dirty="0"/>
              <a:t>。(Politi 2016, </a:t>
            </a:r>
            <a:r>
              <a:rPr dirty="0" err="1"/>
              <a:t>Stergiopulos</a:t>
            </a:r>
            <a:r>
              <a:rPr dirty="0"/>
              <a:t> 1999)</a:t>
            </a:r>
          </a:p>
          <a:p>
            <a:r>
              <a:rPr dirty="0"/>
              <a:t>（</a:t>
            </a:r>
            <a:r>
              <a:rPr dirty="0" err="1"/>
              <a:t>補足：古典的な解釈での前進波の成り立ち</a:t>
            </a:r>
            <a:r>
              <a:rPr dirty="0"/>
              <a:t>）</a:t>
            </a:r>
          </a:p>
          <a:p>
            <a:r>
              <a:rPr dirty="0"/>
              <a:t>PPG </a:t>
            </a:r>
            <a:r>
              <a:rPr dirty="0" err="1"/>
              <a:t>が拾っているのは圧ではなく容積（血液量）なので、圧波が測定部位に到達すると</a:t>
            </a:r>
            <a:r>
              <a:rPr dirty="0"/>
              <a:t>、</a:t>
            </a:r>
          </a:p>
          <a:p>
            <a:r>
              <a:rPr dirty="0" err="1"/>
              <a:t>その部分の細動脈〜小動脈が経壁圧の上昇に応じて拡張し、光路上の拍動性血液量が増える</a:t>
            </a:r>
            <a:r>
              <a:rPr dirty="0"/>
              <a:t>。</a:t>
            </a:r>
          </a:p>
          <a:p>
            <a:r>
              <a:rPr dirty="0"/>
              <a:t>これが立ち上がりと第1ピーク（前進波）になる ＝ volumetric </a:t>
            </a:r>
            <a:r>
              <a:rPr dirty="0" err="1"/>
              <a:t>model（標準的な説明</a:t>
            </a:r>
            <a:r>
              <a:rPr dirty="0"/>
              <a:t>）。</a:t>
            </a:r>
          </a:p>
          <a:p>
            <a:r>
              <a:rPr dirty="0" err="1"/>
              <a:t>図の下段は、圧波が来ている場所だけ血管が太くなっている様子を示す</a:t>
            </a:r>
            <a:endParaRPr dirty="0"/>
          </a:p>
          <a:p>
            <a:r>
              <a:rPr dirty="0"/>
              <a:t>（</a:t>
            </a:r>
            <a:r>
              <a:rPr dirty="0" err="1"/>
              <a:t>灰色の破線＝安静時の口径、金の矢印＝拡張した分</a:t>
            </a:r>
            <a:r>
              <a:rPr dirty="0"/>
              <a:t>）。</a:t>
            </a:r>
          </a:p>
          <a:p>
            <a:r>
              <a:rPr dirty="0" err="1"/>
              <a:t>血液そのものが流れ込んで溜まるのではなく、圧が到達して壁が広がることが容積増加の主因</a:t>
            </a:r>
            <a:r>
              <a:rPr dirty="0"/>
              <a:t>。</a:t>
            </a:r>
          </a:p>
          <a:p>
            <a:endParaRPr dirty="0"/>
          </a:p>
          <a:p>
            <a:r>
              <a:rPr dirty="0" err="1"/>
              <a:t>正確を期すための但し書き（口頭で足すとよい</a:t>
            </a:r>
            <a:r>
              <a:rPr dirty="0"/>
              <a:t>）</a:t>
            </a:r>
          </a:p>
          <a:p>
            <a:r>
              <a:rPr dirty="0"/>
              <a:t>・</a:t>
            </a:r>
            <a:r>
              <a:rPr dirty="0" err="1"/>
              <a:t>拍動しているのは細動脈以上の血管で、毛細血管は心拍で拍動しない（真皮の拍動性細動脈が主な信号源</a:t>
            </a:r>
            <a:r>
              <a:rPr dirty="0"/>
              <a:t>）。</a:t>
            </a:r>
          </a:p>
          <a:p>
            <a:r>
              <a:rPr dirty="0"/>
              <a:t>・</a:t>
            </a:r>
            <a:r>
              <a:rPr dirty="0" err="1"/>
              <a:t>圧−容積関係は非線形かつ粘弾性なので、容積波形は圧波形の「瞬時のコピ</a:t>
            </a:r>
            <a:r>
              <a:rPr dirty="0"/>
              <a:t>ー」</a:t>
            </a:r>
            <a:r>
              <a:rPr dirty="0" err="1"/>
              <a:t>ではなく位相差・歪みがある</a:t>
            </a:r>
            <a:r>
              <a:rPr dirty="0"/>
              <a:t>。</a:t>
            </a:r>
          </a:p>
          <a:p>
            <a:r>
              <a:rPr dirty="0"/>
              <a:t>　</a:t>
            </a:r>
            <a:r>
              <a:rPr dirty="0" err="1"/>
              <a:t>したがって波の高さは、その部位の血管が「その圧でどれだけ膨らめるか</a:t>
            </a:r>
            <a:r>
              <a:rPr dirty="0"/>
              <a:t>」＝</a:t>
            </a:r>
            <a:r>
              <a:rPr dirty="0" err="1"/>
              <a:t>局所コンプライアンス</a:t>
            </a:r>
            <a:endParaRPr dirty="0"/>
          </a:p>
          <a:p>
            <a:r>
              <a:rPr dirty="0"/>
              <a:t>　（</a:t>
            </a:r>
            <a:r>
              <a:rPr dirty="0" err="1"/>
              <a:t>血管トーヌス）にも依存する。指の高さ・皮膚温・交感神経性の血管収縮で振幅が変わるのはこのため</a:t>
            </a:r>
            <a:r>
              <a:rPr dirty="0"/>
              <a:t>。</a:t>
            </a:r>
          </a:p>
          <a:p>
            <a:r>
              <a:rPr dirty="0"/>
              <a:t>・AC </a:t>
            </a:r>
            <a:r>
              <a:rPr dirty="0" err="1"/>
              <a:t>成分には末梢静脈の拍動が混じることがある（重症</a:t>
            </a:r>
            <a:r>
              <a:rPr dirty="0"/>
              <a:t> </a:t>
            </a:r>
            <a:r>
              <a:rPr dirty="0" err="1"/>
              <a:t>TR・頭低位など</a:t>
            </a:r>
            <a:r>
              <a:rPr dirty="0"/>
              <a:t>）。</a:t>
            </a:r>
          </a:p>
          <a:p>
            <a:r>
              <a:rPr dirty="0"/>
              <a:t>・</a:t>
            </a:r>
            <a:r>
              <a:rPr dirty="0" err="1"/>
              <a:t>緑色光の反射型</a:t>
            </a:r>
            <a:r>
              <a:rPr dirty="0"/>
              <a:t> </a:t>
            </a:r>
            <a:r>
              <a:rPr dirty="0" err="1"/>
              <a:t>PPG（スマートウォッチ等）は成因モデルが別で議論があり、ここでの説明は</a:t>
            </a:r>
            <a:endParaRPr dirty="0"/>
          </a:p>
          <a:p>
            <a:r>
              <a:rPr dirty="0"/>
              <a:t>　</a:t>
            </a:r>
            <a:r>
              <a:rPr dirty="0" err="1"/>
              <a:t>指尖の赤色／近赤外の透過型</a:t>
            </a:r>
            <a:r>
              <a:rPr dirty="0"/>
              <a:t> PPG </a:t>
            </a:r>
            <a:r>
              <a:rPr dirty="0" err="1"/>
              <a:t>の話</a:t>
            </a:r>
            <a:r>
              <a:rPr dirty="0"/>
              <a:t>。</a:t>
            </a:r>
          </a:p>
          <a:p>
            <a:r>
              <a:rPr dirty="0"/>
              <a:t>(Kyriacou &amp; Allen, Photoplethysmography 2022 / Fine 2021 Biosensors)</a:t>
            </a:r>
          </a:p>
        </p:txBody>
      </p:sp>
      <p:sp>
        <p:nvSpPr>
          <p:cNvPr id="4" name="Slide Number Placeholder 3">
            <a:extLst>
              <a:ext uri="{FF2B5EF4-FFF2-40B4-BE49-F238E27FC236}">
                <a16:creationId xmlns:a16="http://schemas.microsoft.com/office/drawing/2014/main" id="{307251F9-2746-F1B6-EBC7-31160B45B1CD}"/>
              </a:ext>
            </a:extLst>
          </p:cNvPr>
          <p:cNvSpPr>
            <a:spLocks noGrp="1"/>
          </p:cNvSpPr>
          <p:nvPr>
            <p:ph type="sldNum" sz="quarter" idx="5"/>
          </p:nvPr>
        </p:nvSpPr>
        <p:spPr/>
      </p:sp>
    </p:spTree>
    <p:extLst>
      <p:ext uri="{BB962C8B-B14F-4D97-AF65-F5344CB8AC3E}">
        <p14:creationId xmlns:p14="http://schemas.microsoft.com/office/powerpoint/2010/main" val="38112743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142EB-8BAF-D335-F64C-9C4B599051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437CAE-E88C-7FE7-DDCE-9B26A8D226B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65D6FD6-B092-D932-5671-8F01A003A495}"/>
              </a:ext>
            </a:extLst>
          </p:cNvPr>
          <p:cNvSpPr>
            <a:spLocks noGrp="1"/>
          </p:cNvSpPr>
          <p:nvPr>
            <p:ph type="body" sz="quarter" idx="3"/>
          </p:nvPr>
        </p:nvSpPr>
        <p:spPr/>
        <p:txBody>
          <a:bodyPr/>
          <a:lstStyle/>
          <a:p>
            <a:r>
              <a:rPr lang="en-US" dirty="0" err="1"/>
              <a:t>左室からの圧の伝導を容積変化という形でまず検出する。最初の波を前進波という</a:t>
            </a:r>
            <a:r>
              <a:rPr lang="en-US" dirty="0"/>
              <a:t>。</a:t>
            </a:r>
          </a:p>
          <a:p>
            <a:endParaRPr lang="en-US" dirty="0"/>
          </a:p>
          <a:p>
            <a:r>
              <a:rPr dirty="0"/>
              <a:t>PPG 波形の第1の成分は前進波（forward wave）。</a:t>
            </a:r>
            <a:r>
              <a:rPr dirty="0" err="1"/>
              <a:t>ここで最も強調したいのは</a:t>
            </a:r>
            <a:r>
              <a:rPr dirty="0"/>
              <a:t>、</a:t>
            </a:r>
          </a:p>
          <a:p>
            <a:r>
              <a:rPr dirty="0" err="1"/>
              <a:t>指先に伝わってくるのは「血液そのもの（血流</a:t>
            </a:r>
            <a:r>
              <a:rPr dirty="0"/>
              <a:t>）」</a:t>
            </a:r>
            <a:r>
              <a:rPr dirty="0" err="1"/>
              <a:t>ではなく「圧の波（圧波・脈波</a:t>
            </a:r>
            <a:r>
              <a:rPr dirty="0"/>
              <a:t>）」</a:t>
            </a:r>
            <a:r>
              <a:rPr dirty="0" err="1"/>
              <a:t>だという点</a:t>
            </a:r>
            <a:r>
              <a:rPr dirty="0"/>
              <a:t>。</a:t>
            </a:r>
          </a:p>
          <a:p>
            <a:endParaRPr dirty="0"/>
          </a:p>
          <a:p>
            <a:r>
              <a:rPr dirty="0" err="1"/>
              <a:t>左室が駆出すると大動脈起始部で圧が立ち上がり、その圧の変化が血管壁を伝わる波として</a:t>
            </a:r>
            <a:endParaRPr dirty="0"/>
          </a:p>
          <a:p>
            <a:r>
              <a:rPr dirty="0"/>
              <a:t>末梢へ進む。指尖ではこれが収縮期前半の急峻な立ち上がりと第1ピーク（P1）になる。</a:t>
            </a:r>
          </a:p>
          <a:p>
            <a:endParaRPr dirty="0"/>
          </a:p>
          <a:p>
            <a:r>
              <a:rPr dirty="0"/>
              <a:t>・</a:t>
            </a:r>
            <a:r>
              <a:rPr dirty="0" err="1"/>
              <a:t>圧波の伝播速度（PWV</a:t>
            </a:r>
            <a:r>
              <a:rPr dirty="0"/>
              <a:t>）… </a:t>
            </a:r>
            <a:r>
              <a:rPr dirty="0" err="1"/>
              <a:t>大動脈で概ね</a:t>
            </a:r>
            <a:r>
              <a:rPr dirty="0"/>
              <a:t> 5〜10 m/</a:t>
            </a:r>
            <a:r>
              <a:rPr dirty="0" err="1"/>
              <a:t>s。若年で</a:t>
            </a:r>
            <a:r>
              <a:rPr dirty="0"/>
              <a:t> 5〜6 m/</a:t>
            </a:r>
            <a:r>
              <a:rPr dirty="0" err="1"/>
              <a:t>s、加齢・動脈硬化で上昇し</a:t>
            </a:r>
            <a:r>
              <a:rPr dirty="0"/>
              <a:t>、</a:t>
            </a:r>
          </a:p>
          <a:p>
            <a:r>
              <a:rPr dirty="0"/>
              <a:t>　</a:t>
            </a:r>
            <a:r>
              <a:rPr dirty="0" err="1"/>
              <a:t>cf</a:t>
            </a:r>
            <a:r>
              <a:rPr dirty="0"/>
              <a:t>-PWV 10 m/s </a:t>
            </a:r>
            <a:r>
              <a:rPr dirty="0" err="1"/>
              <a:t>超は臓器障害の指標とされる。壁が硬いほど速い（Moens-Korteweg</a:t>
            </a:r>
            <a:r>
              <a:rPr dirty="0"/>
              <a:t>）。</a:t>
            </a:r>
          </a:p>
          <a:p>
            <a:r>
              <a:rPr dirty="0"/>
              <a:t>・</a:t>
            </a:r>
            <a:r>
              <a:rPr dirty="0" err="1"/>
              <a:t>血流そのものの速度</a:t>
            </a:r>
            <a:r>
              <a:rPr dirty="0"/>
              <a:t> … </a:t>
            </a:r>
            <a:r>
              <a:rPr dirty="0" err="1"/>
              <a:t>大動脈でも平均で数十</a:t>
            </a:r>
            <a:r>
              <a:rPr dirty="0"/>
              <a:t> cm/s </a:t>
            </a:r>
            <a:r>
              <a:rPr dirty="0" err="1"/>
              <a:t>のオーダ</a:t>
            </a:r>
            <a:r>
              <a:rPr dirty="0"/>
              <a:t>ー。</a:t>
            </a:r>
            <a:r>
              <a:rPr dirty="0" err="1"/>
              <a:t>圧波は血流より</a:t>
            </a:r>
            <a:r>
              <a:rPr dirty="0"/>
              <a:t> 10 </a:t>
            </a:r>
            <a:r>
              <a:rPr dirty="0" err="1"/>
              <a:t>倍以上速い</a:t>
            </a:r>
            <a:r>
              <a:rPr dirty="0"/>
              <a:t>。</a:t>
            </a:r>
          </a:p>
          <a:p>
            <a:r>
              <a:rPr dirty="0"/>
              <a:t>　＝ </a:t>
            </a:r>
            <a:r>
              <a:rPr dirty="0" err="1"/>
              <a:t>駆出した血液が指に着く前に、圧波はとっくに指に着いている</a:t>
            </a:r>
            <a:r>
              <a:rPr dirty="0"/>
              <a:t>。</a:t>
            </a:r>
          </a:p>
          <a:p>
            <a:r>
              <a:rPr dirty="0"/>
              <a:t>・</a:t>
            </a:r>
            <a:r>
              <a:rPr dirty="0" err="1"/>
              <a:t>前進波の大きさは一回拍出量と駆出速度に、立ち上がりの傾きは左室の収縮性に依存する</a:t>
            </a:r>
            <a:r>
              <a:rPr dirty="0"/>
              <a:t>。</a:t>
            </a:r>
          </a:p>
          <a:p>
            <a:endParaRPr dirty="0"/>
          </a:p>
          <a:p>
            <a:r>
              <a:rPr dirty="0" err="1"/>
              <a:t>前進波だけなら波形は単峰性のなだらかな山になる。実際の</a:t>
            </a:r>
            <a:r>
              <a:rPr dirty="0"/>
              <a:t> PPG </a:t>
            </a:r>
            <a:r>
              <a:rPr dirty="0" err="1"/>
              <a:t>が二峰性に見えるのは</a:t>
            </a:r>
            <a:r>
              <a:rPr dirty="0"/>
              <a:t>、</a:t>
            </a:r>
          </a:p>
          <a:p>
            <a:r>
              <a:rPr dirty="0" err="1"/>
              <a:t>次のスライドの反射波が重なるため</a:t>
            </a:r>
            <a:r>
              <a:rPr dirty="0"/>
              <a:t>。(Politi 2016, </a:t>
            </a:r>
            <a:r>
              <a:rPr dirty="0" err="1"/>
              <a:t>Stergiopulos</a:t>
            </a:r>
            <a:r>
              <a:rPr dirty="0"/>
              <a:t> 1999)</a:t>
            </a:r>
          </a:p>
          <a:p>
            <a:r>
              <a:rPr dirty="0"/>
              <a:t>（</a:t>
            </a:r>
            <a:r>
              <a:rPr dirty="0" err="1"/>
              <a:t>補足：古典的な解釈での前進波の成り立ち</a:t>
            </a:r>
            <a:r>
              <a:rPr dirty="0"/>
              <a:t>）</a:t>
            </a:r>
          </a:p>
          <a:p>
            <a:r>
              <a:rPr dirty="0"/>
              <a:t>PPG </a:t>
            </a:r>
            <a:r>
              <a:rPr dirty="0" err="1"/>
              <a:t>が拾っているのは圧ではなく容積（血液量）なので、圧波が測定部位に到達すると</a:t>
            </a:r>
            <a:r>
              <a:rPr dirty="0"/>
              <a:t>、</a:t>
            </a:r>
          </a:p>
          <a:p>
            <a:r>
              <a:rPr dirty="0" err="1"/>
              <a:t>その部分の細動脈〜小動脈が経壁圧の上昇に応じて拡張し、光路上の拍動性血液量が増える</a:t>
            </a:r>
            <a:r>
              <a:rPr dirty="0"/>
              <a:t>。</a:t>
            </a:r>
          </a:p>
          <a:p>
            <a:r>
              <a:rPr dirty="0"/>
              <a:t>これが立ち上がりと第1ピーク（前進波）になる ＝ volumetric </a:t>
            </a:r>
            <a:r>
              <a:rPr dirty="0" err="1"/>
              <a:t>model（標準的な説明</a:t>
            </a:r>
            <a:r>
              <a:rPr dirty="0"/>
              <a:t>）。</a:t>
            </a:r>
          </a:p>
          <a:p>
            <a:r>
              <a:rPr dirty="0" err="1"/>
              <a:t>図の下段は、圧波が来ている場所だけ血管が太くなっている様子を示す</a:t>
            </a:r>
            <a:endParaRPr dirty="0"/>
          </a:p>
          <a:p>
            <a:r>
              <a:rPr dirty="0"/>
              <a:t>（</a:t>
            </a:r>
            <a:r>
              <a:rPr dirty="0" err="1"/>
              <a:t>灰色の破線＝安静時の口径、金の矢印＝拡張した分</a:t>
            </a:r>
            <a:r>
              <a:rPr dirty="0"/>
              <a:t>）。</a:t>
            </a:r>
          </a:p>
          <a:p>
            <a:r>
              <a:rPr dirty="0" err="1"/>
              <a:t>血液そのものが流れ込んで溜まるのではなく、圧が到達して壁が広がることが容積増加の主因</a:t>
            </a:r>
            <a:r>
              <a:rPr dirty="0"/>
              <a:t>。</a:t>
            </a:r>
          </a:p>
          <a:p>
            <a:endParaRPr dirty="0"/>
          </a:p>
          <a:p>
            <a:r>
              <a:rPr dirty="0" err="1"/>
              <a:t>正確を期すための但し書き（口頭で足すとよい</a:t>
            </a:r>
            <a:r>
              <a:rPr dirty="0"/>
              <a:t>）</a:t>
            </a:r>
          </a:p>
          <a:p>
            <a:r>
              <a:rPr dirty="0"/>
              <a:t>・</a:t>
            </a:r>
            <a:r>
              <a:rPr dirty="0" err="1"/>
              <a:t>拍動しているのは細動脈以上の血管で、毛細血管は心拍で拍動しない（真皮の拍動性細動脈が主な信号源</a:t>
            </a:r>
            <a:r>
              <a:rPr dirty="0"/>
              <a:t>）。</a:t>
            </a:r>
          </a:p>
          <a:p>
            <a:r>
              <a:rPr dirty="0"/>
              <a:t>・</a:t>
            </a:r>
            <a:r>
              <a:rPr dirty="0" err="1"/>
              <a:t>圧−容積関係は非線形かつ粘弾性なので、容積波形は圧波形の「瞬時のコピ</a:t>
            </a:r>
            <a:r>
              <a:rPr dirty="0"/>
              <a:t>ー」</a:t>
            </a:r>
            <a:r>
              <a:rPr dirty="0" err="1"/>
              <a:t>ではなく位相差・歪みがある</a:t>
            </a:r>
            <a:r>
              <a:rPr dirty="0"/>
              <a:t>。</a:t>
            </a:r>
          </a:p>
          <a:p>
            <a:r>
              <a:rPr dirty="0"/>
              <a:t>　</a:t>
            </a:r>
            <a:r>
              <a:rPr dirty="0" err="1"/>
              <a:t>したがって波の高さは、その部位の血管が「その圧でどれだけ膨らめるか</a:t>
            </a:r>
            <a:r>
              <a:rPr dirty="0"/>
              <a:t>」＝</a:t>
            </a:r>
            <a:r>
              <a:rPr dirty="0" err="1"/>
              <a:t>局所コンプライアンス</a:t>
            </a:r>
            <a:endParaRPr dirty="0"/>
          </a:p>
          <a:p>
            <a:r>
              <a:rPr dirty="0"/>
              <a:t>　（</a:t>
            </a:r>
            <a:r>
              <a:rPr dirty="0" err="1"/>
              <a:t>血管トーヌス）にも依存する。指の高さ・皮膚温・交感神経性の血管収縮で振幅が変わるのはこのため</a:t>
            </a:r>
            <a:r>
              <a:rPr dirty="0"/>
              <a:t>。</a:t>
            </a:r>
          </a:p>
          <a:p>
            <a:r>
              <a:rPr dirty="0"/>
              <a:t>・AC </a:t>
            </a:r>
            <a:r>
              <a:rPr dirty="0" err="1"/>
              <a:t>成分には末梢静脈の拍動が混じることがある（重症</a:t>
            </a:r>
            <a:r>
              <a:rPr dirty="0"/>
              <a:t> </a:t>
            </a:r>
            <a:r>
              <a:rPr dirty="0" err="1"/>
              <a:t>TR・頭低位など</a:t>
            </a:r>
            <a:r>
              <a:rPr dirty="0"/>
              <a:t>）。</a:t>
            </a:r>
          </a:p>
          <a:p>
            <a:r>
              <a:rPr dirty="0"/>
              <a:t>・</a:t>
            </a:r>
            <a:r>
              <a:rPr dirty="0" err="1"/>
              <a:t>緑色光の反射型</a:t>
            </a:r>
            <a:r>
              <a:rPr dirty="0"/>
              <a:t> </a:t>
            </a:r>
            <a:r>
              <a:rPr dirty="0" err="1"/>
              <a:t>PPG（スマートウォッチ等）は成因モデルが別で議論があり、ここでの説明は</a:t>
            </a:r>
            <a:endParaRPr dirty="0"/>
          </a:p>
          <a:p>
            <a:r>
              <a:rPr dirty="0"/>
              <a:t>　</a:t>
            </a:r>
            <a:r>
              <a:rPr dirty="0" err="1"/>
              <a:t>指尖の赤色／近赤外の透過型</a:t>
            </a:r>
            <a:r>
              <a:rPr dirty="0"/>
              <a:t> PPG </a:t>
            </a:r>
            <a:r>
              <a:rPr dirty="0" err="1"/>
              <a:t>の話</a:t>
            </a:r>
            <a:r>
              <a:rPr dirty="0"/>
              <a:t>。</a:t>
            </a:r>
          </a:p>
          <a:p>
            <a:r>
              <a:rPr dirty="0"/>
              <a:t>(Kyriacou &amp; Allen, Photoplethysmography 2022 / Fine 2021 Biosensors)</a:t>
            </a:r>
          </a:p>
        </p:txBody>
      </p:sp>
      <p:sp>
        <p:nvSpPr>
          <p:cNvPr id="4" name="Slide Number Placeholder 3">
            <a:extLst>
              <a:ext uri="{FF2B5EF4-FFF2-40B4-BE49-F238E27FC236}">
                <a16:creationId xmlns:a16="http://schemas.microsoft.com/office/drawing/2014/main" id="{5F9F9A8E-9E63-B840-2DE8-1B250982A89F}"/>
              </a:ext>
            </a:extLst>
          </p:cNvPr>
          <p:cNvSpPr>
            <a:spLocks noGrp="1"/>
          </p:cNvSpPr>
          <p:nvPr>
            <p:ph type="sldNum" sz="quarter" idx="5"/>
          </p:nvPr>
        </p:nvSpPr>
        <p:spPr/>
      </p:sp>
    </p:spTree>
    <p:extLst>
      <p:ext uri="{BB962C8B-B14F-4D97-AF65-F5344CB8AC3E}">
        <p14:creationId xmlns:p14="http://schemas.microsoft.com/office/powerpoint/2010/main" val="13477729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上肢や体幹、下肢等のインピーダンス不整合部位で圧脈波が反射し、再度測定部位で信号を検出する</a:t>
            </a:r>
            <a:r>
              <a:rPr lang="en-US" dirty="0"/>
              <a:t>。</a:t>
            </a:r>
          </a:p>
          <a:p>
            <a:r>
              <a:rPr lang="en-US" dirty="0" err="1"/>
              <a:t>反射によって得られた前進波に続く波を反射波という</a:t>
            </a:r>
            <a:r>
              <a:rPr lang="en-US" dirty="0"/>
              <a:t>。</a:t>
            </a:r>
          </a:p>
          <a:p>
            <a:r>
              <a:rPr lang="en-US" dirty="0" err="1"/>
              <a:t>この前進波と反射波の合成により、PPG波形が成り立つ</a:t>
            </a:r>
            <a:r>
              <a:rPr lang="en-US" dirty="0"/>
              <a:t>。</a:t>
            </a:r>
          </a:p>
          <a:p>
            <a:r>
              <a:rPr lang="en-US" dirty="0" err="1"/>
              <a:t>現在この反射は血管内の様々な場所で起こっており、どこで反射するといった場所の特定はできないという意見が主流</a:t>
            </a:r>
            <a:r>
              <a:rPr lang="en-US" dirty="0"/>
              <a:t>。</a:t>
            </a:r>
          </a:p>
          <a:p>
            <a:endParaRPr lang="en-US" dirty="0"/>
          </a:p>
          <a:p>
            <a:r>
              <a:rPr dirty="0"/>
              <a:t>第2の成分は反射波（reflected wave）。</a:t>
            </a:r>
            <a:r>
              <a:rPr dirty="0" err="1"/>
              <a:t>ここで誤解されやすいのは反射の「場所</a:t>
            </a:r>
            <a:r>
              <a:rPr dirty="0"/>
              <a:t>」。</a:t>
            </a:r>
          </a:p>
          <a:p>
            <a:r>
              <a:rPr dirty="0" err="1"/>
              <a:t>反射は指先で起きているのではない</a:t>
            </a:r>
            <a:r>
              <a:rPr dirty="0"/>
              <a:t>。</a:t>
            </a:r>
          </a:p>
          <a:p>
            <a:endParaRPr dirty="0"/>
          </a:p>
          <a:p>
            <a:r>
              <a:rPr dirty="0" err="1"/>
              <a:t>主な反射部位は下半身側</a:t>
            </a:r>
            <a:r>
              <a:rPr dirty="0"/>
              <a:t> — </a:t>
            </a:r>
            <a:r>
              <a:rPr dirty="0" err="1"/>
              <a:t>腹部大動脈の腸骨分岐部と、下肢の抵抗血管（細動脈）である</a:t>
            </a:r>
            <a:r>
              <a:rPr dirty="0"/>
              <a:t>。</a:t>
            </a:r>
          </a:p>
          <a:p>
            <a:r>
              <a:rPr dirty="0"/>
              <a:t>経路は次の3段階：</a:t>
            </a:r>
          </a:p>
          <a:p>
            <a:r>
              <a:rPr dirty="0"/>
              <a:t>① </a:t>
            </a:r>
            <a:r>
              <a:rPr dirty="0" err="1"/>
              <a:t>左室が出した圧波（前進波）が下行大動脈を下る</a:t>
            </a:r>
            <a:endParaRPr dirty="0"/>
          </a:p>
          <a:p>
            <a:r>
              <a:rPr dirty="0"/>
              <a:t>② </a:t>
            </a:r>
            <a:r>
              <a:rPr dirty="0" err="1"/>
              <a:t>腸骨分岐部・下肢でインピーダンスが不連続になり反射する</a:t>
            </a:r>
            <a:endParaRPr dirty="0"/>
          </a:p>
          <a:p>
            <a:r>
              <a:rPr dirty="0"/>
              <a:t>③ </a:t>
            </a:r>
            <a:r>
              <a:rPr dirty="0" err="1"/>
              <a:t>反射波が大動脈を上り、そこから上肢を経て指先に「遅れて」届く</a:t>
            </a:r>
            <a:endParaRPr dirty="0"/>
          </a:p>
          <a:p>
            <a:r>
              <a:rPr dirty="0" err="1"/>
              <a:t>指尖</a:t>
            </a:r>
            <a:r>
              <a:rPr dirty="0"/>
              <a:t> PPG </a:t>
            </a:r>
            <a:r>
              <a:rPr dirty="0" err="1"/>
              <a:t>はこの前進波と反射波の合成波であり、両者の谷が重複切痕（dicrotic</a:t>
            </a:r>
            <a:r>
              <a:rPr dirty="0"/>
              <a:t> notch）、</a:t>
            </a:r>
          </a:p>
          <a:p>
            <a:r>
              <a:rPr dirty="0"/>
              <a:t>反射波の山が拡張期波（第2ピーク P2）として観察される。</a:t>
            </a:r>
          </a:p>
          <a:p>
            <a:endParaRPr dirty="0"/>
          </a:p>
          <a:p>
            <a:r>
              <a:rPr dirty="0" err="1"/>
              <a:t>だから</a:t>
            </a:r>
            <a:r>
              <a:rPr dirty="0"/>
              <a:t> ΔT（P1→P2 </a:t>
            </a:r>
            <a:r>
              <a:rPr dirty="0" err="1"/>
              <a:t>の時間差）は「大動脈を下って反射し戻る往復時間」を反映する</a:t>
            </a:r>
            <a:r>
              <a:rPr dirty="0"/>
              <a:t>。</a:t>
            </a:r>
          </a:p>
          <a:p>
            <a:r>
              <a:rPr dirty="0" err="1"/>
              <a:t>上肢は前進波・反射波の共通の通り道なので、ΔT</a:t>
            </a:r>
            <a:r>
              <a:rPr dirty="0"/>
              <a:t> </a:t>
            </a:r>
            <a:r>
              <a:rPr dirty="0" err="1"/>
              <a:t>にはほとんど影響しない（Millasseau</a:t>
            </a:r>
            <a:r>
              <a:rPr dirty="0"/>
              <a:t> 2002 Fig.1）。</a:t>
            </a:r>
          </a:p>
          <a:p>
            <a:r>
              <a:rPr dirty="0" err="1"/>
              <a:t>この往復の経路長は直接は測れないため、身長に比例すると仮定して身長で代用する</a:t>
            </a:r>
            <a:r>
              <a:rPr dirty="0"/>
              <a:t>。</a:t>
            </a:r>
          </a:p>
          <a:p>
            <a:r>
              <a:rPr dirty="0" err="1"/>
              <a:t>これが</a:t>
            </a:r>
            <a:r>
              <a:rPr dirty="0"/>
              <a:t> 5.1 </a:t>
            </a:r>
            <a:r>
              <a:rPr dirty="0" err="1"/>
              <a:t>の</a:t>
            </a:r>
            <a:r>
              <a:rPr dirty="0"/>
              <a:t> SI ＝ </a:t>
            </a:r>
            <a:r>
              <a:rPr dirty="0" err="1"/>
              <a:t>身長</a:t>
            </a:r>
            <a:r>
              <a:rPr dirty="0"/>
              <a:t> ÷ ΔT </a:t>
            </a:r>
            <a:r>
              <a:rPr dirty="0" err="1"/>
              <a:t>の根拠</a:t>
            </a:r>
            <a:r>
              <a:rPr dirty="0"/>
              <a:t>。「</a:t>
            </a:r>
            <a:r>
              <a:rPr dirty="0" err="1"/>
              <a:t>往復距離＝身長」という意味ではない</a:t>
            </a:r>
            <a:r>
              <a:rPr dirty="0"/>
              <a:t>。</a:t>
            </a:r>
          </a:p>
          <a:p>
            <a:endParaRPr dirty="0"/>
          </a:p>
          <a:p>
            <a:r>
              <a:rPr dirty="0"/>
              <a:t>反射波の2つのパラメータは別々の生理を反映する：</a:t>
            </a:r>
          </a:p>
          <a:p>
            <a:r>
              <a:rPr dirty="0"/>
              <a:t>・</a:t>
            </a:r>
            <a:r>
              <a:rPr dirty="0" err="1"/>
              <a:t>戻る「時相</a:t>
            </a:r>
            <a:r>
              <a:rPr dirty="0"/>
              <a:t>」＝</a:t>
            </a:r>
            <a:r>
              <a:rPr dirty="0" err="1"/>
              <a:t>大動脈の硬さ（PWV</a:t>
            </a:r>
            <a:r>
              <a:rPr dirty="0"/>
              <a:t>）。</a:t>
            </a:r>
            <a:r>
              <a:rPr dirty="0" err="1"/>
              <a:t>硬いほど早く戻り、収縮期に融合して一峰性化する</a:t>
            </a:r>
            <a:r>
              <a:rPr dirty="0"/>
              <a:t>。</a:t>
            </a:r>
          </a:p>
          <a:p>
            <a:r>
              <a:rPr dirty="0"/>
              <a:t>・</a:t>
            </a:r>
            <a:r>
              <a:rPr dirty="0" err="1"/>
              <a:t>反射波の「高さ</a:t>
            </a:r>
            <a:r>
              <a:rPr dirty="0"/>
              <a:t>」＝</a:t>
            </a:r>
            <a:r>
              <a:rPr dirty="0" err="1"/>
              <a:t>末梢血管トーヌス（反射係数</a:t>
            </a:r>
            <a:r>
              <a:rPr dirty="0"/>
              <a:t>）。</a:t>
            </a:r>
            <a:r>
              <a:rPr dirty="0" err="1"/>
              <a:t>血管収縮で高く、拡張で低くなる</a:t>
            </a:r>
            <a:r>
              <a:rPr dirty="0"/>
              <a:t>。</a:t>
            </a:r>
          </a:p>
          <a:p>
            <a:r>
              <a:rPr dirty="0"/>
              <a:t>これが以降の「時相＝硬さ／高さ＝トーヌス」という2軸の読み方の土台。(</a:t>
            </a:r>
            <a:r>
              <a:rPr dirty="0" err="1"/>
              <a:t>Millasseau</a:t>
            </a:r>
            <a:r>
              <a:rPr dirty="0"/>
              <a:t> 2002)</a:t>
            </a:r>
          </a:p>
          <a:p>
            <a:endParaRPr dirty="0"/>
          </a:p>
          <a:p>
            <a:r>
              <a:rPr dirty="0"/>
              <a:t>【文献確認（2026-08）：</a:t>
            </a:r>
            <a:r>
              <a:rPr dirty="0" err="1"/>
              <a:t>この図はどこまで正しいか</a:t>
            </a:r>
            <a:r>
              <a:rPr dirty="0"/>
              <a:t>】</a:t>
            </a:r>
          </a:p>
          <a:p>
            <a:r>
              <a:rPr dirty="0"/>
              <a:t>・「</a:t>
            </a:r>
            <a:r>
              <a:rPr dirty="0" err="1"/>
              <a:t>指尖</a:t>
            </a:r>
            <a:r>
              <a:rPr dirty="0"/>
              <a:t> PPG の拡張期成分（第2ピーク）は下半身で反射した波」という説明は、この分野の原著</a:t>
            </a:r>
          </a:p>
          <a:p>
            <a:r>
              <a:rPr dirty="0"/>
              <a:t>　（</a:t>
            </a:r>
            <a:r>
              <a:rPr dirty="0" err="1"/>
              <a:t>Millasseau</a:t>
            </a:r>
            <a:r>
              <a:rPr dirty="0"/>
              <a:t> 2002 Clin Sci 図1 </a:t>
            </a:r>
            <a:r>
              <a:rPr dirty="0" err="1"/>
              <a:t>凡例、Chowienczyk</a:t>
            </a:r>
            <a:r>
              <a:rPr dirty="0"/>
              <a:t> 1999 </a:t>
            </a:r>
            <a:r>
              <a:rPr dirty="0" err="1"/>
              <a:t>JACC）にほぼ同文で書かれている</a:t>
            </a:r>
            <a:r>
              <a:rPr dirty="0"/>
              <a:t>。</a:t>
            </a:r>
          </a:p>
          <a:p>
            <a:r>
              <a:rPr dirty="0"/>
              <a:t>　上腕動脈内に血管拡張薬を入れて前腕血流を3倍にしても反射指標は動かず、全身投与では</a:t>
            </a:r>
          </a:p>
          <a:p>
            <a:r>
              <a:rPr dirty="0"/>
              <a:t>　</a:t>
            </a:r>
            <a:r>
              <a:rPr dirty="0" err="1"/>
              <a:t>用量依存性に動く</a:t>
            </a:r>
            <a:r>
              <a:rPr dirty="0"/>
              <a:t>＝「指先の血管をいくら拡げても波形の第2成分の位置は変わらない」ことが実験的に示されている。</a:t>
            </a:r>
          </a:p>
          <a:p>
            <a:r>
              <a:rPr dirty="0"/>
              <a:t>　→ 「</a:t>
            </a:r>
            <a:r>
              <a:rPr dirty="0" err="1"/>
              <a:t>反射しているのは指先ではなく体幹側」というメッセージ自体は支持されている</a:t>
            </a:r>
            <a:r>
              <a:rPr dirty="0"/>
              <a:t>。</a:t>
            </a:r>
          </a:p>
          <a:p>
            <a:r>
              <a:rPr dirty="0"/>
              <a:t>・</a:t>
            </a:r>
            <a:r>
              <a:rPr dirty="0" err="1"/>
              <a:t>ただし現代の波動反射の文献では、反射部位は</a:t>
            </a:r>
            <a:r>
              <a:rPr dirty="0"/>
              <a:t> 1 </a:t>
            </a:r>
            <a:r>
              <a:rPr dirty="0" err="1"/>
              <a:t>か所ではなく動脈系全体に分布しているとされる</a:t>
            </a:r>
            <a:r>
              <a:rPr dirty="0"/>
              <a:t>。</a:t>
            </a:r>
          </a:p>
          <a:p>
            <a:r>
              <a:rPr dirty="0"/>
              <a:t>　2016年のワークショップ合意声明は "There is no single or limited number of discrete reflection sites</a:t>
            </a:r>
          </a:p>
          <a:p>
            <a:r>
              <a:rPr dirty="0"/>
              <a:t>　in the arterial tree" </a:t>
            </a:r>
            <a:r>
              <a:rPr dirty="0" err="1"/>
              <a:t>と明記。ヒト大動脈内の実測でも「遠位大動脈近傍に単一の優位な反射部位はない</a:t>
            </a:r>
            <a:r>
              <a:rPr dirty="0"/>
              <a:t>」</a:t>
            </a:r>
          </a:p>
          <a:p>
            <a:r>
              <a:rPr dirty="0"/>
              <a:t>　（Davies 2012 </a:t>
            </a:r>
            <a:r>
              <a:rPr dirty="0" err="1"/>
              <a:t>Hypertension、horizon</a:t>
            </a:r>
            <a:r>
              <a:rPr dirty="0"/>
              <a:t> effect）。</a:t>
            </a:r>
          </a:p>
          <a:p>
            <a:r>
              <a:rPr dirty="0"/>
              <a:t>　→ この図の「腸骨分岐部・下肢」は解剖学的な一点ではなく、分布した反射を1点に集約した</a:t>
            </a:r>
          </a:p>
          <a:p>
            <a:r>
              <a:rPr dirty="0"/>
              <a:t>　　　“</a:t>
            </a:r>
            <a:r>
              <a:rPr dirty="0" err="1"/>
              <a:t>実効（見かけの）反射部位</a:t>
            </a:r>
            <a:r>
              <a:rPr dirty="0"/>
              <a:t>”。</a:t>
            </a:r>
            <a:r>
              <a:rPr dirty="0" err="1"/>
              <a:t>口頭で一言そう断ると安全</a:t>
            </a:r>
            <a:r>
              <a:rPr dirty="0"/>
              <a:t>。</a:t>
            </a:r>
          </a:p>
          <a:p>
            <a:r>
              <a:rPr dirty="0"/>
              <a:t>・1D モデル研究では、指尖波形の第2ピークに効くのは胸部大動脈〜腎動脈レベルという報告</a:t>
            </a:r>
          </a:p>
          <a:p>
            <a:r>
              <a:rPr dirty="0"/>
              <a:t>　（Epstein 2015、Chowienczyk </a:t>
            </a:r>
            <a:r>
              <a:rPr dirty="0" err="1"/>
              <a:t>共著）や、上肢加温と下肢加温で中枢反射波の減り方に差がないという</a:t>
            </a:r>
            <a:endParaRPr dirty="0"/>
          </a:p>
          <a:p>
            <a:r>
              <a:rPr dirty="0"/>
              <a:t>　</a:t>
            </a:r>
            <a:r>
              <a:rPr dirty="0" err="1"/>
              <a:t>ヒト試験（Athaide</a:t>
            </a:r>
            <a:r>
              <a:rPr dirty="0"/>
              <a:t> 2023）もあり、「</a:t>
            </a:r>
            <a:r>
              <a:rPr dirty="0" err="1"/>
              <a:t>下半身が主役」は決着した話ではない</a:t>
            </a:r>
            <a:r>
              <a:rPr dirty="0"/>
              <a:t>。</a:t>
            </a:r>
          </a:p>
          <a:p>
            <a:r>
              <a:rPr dirty="0"/>
              <a:t>・</a:t>
            </a:r>
            <a:r>
              <a:rPr dirty="0" err="1"/>
              <a:t>上肢・手でも反射は起きる（橈骨動脈は後退波エネルギーが最大</a:t>
            </a:r>
            <a:r>
              <a:rPr dirty="0"/>
              <a:t>）。</a:t>
            </a:r>
            <a:r>
              <a:rPr dirty="0" err="1"/>
              <a:t>ただし上肢は前進波・反射波の</a:t>
            </a:r>
            <a:endParaRPr dirty="0"/>
          </a:p>
          <a:p>
            <a:r>
              <a:rPr dirty="0"/>
              <a:t>　</a:t>
            </a:r>
            <a:r>
              <a:rPr dirty="0" err="1"/>
              <a:t>共通経路なので「ΔT（相対タイミング</a:t>
            </a:r>
            <a:r>
              <a:rPr dirty="0"/>
              <a:t>）」</a:t>
            </a:r>
            <a:r>
              <a:rPr dirty="0" err="1"/>
              <a:t>には効きにくい、というのが原著の論理</a:t>
            </a:r>
            <a:r>
              <a:rPr dirty="0"/>
              <a:t>。</a:t>
            </a:r>
          </a:p>
          <a:p>
            <a:r>
              <a:rPr dirty="0"/>
              <a:t>　</a:t>
            </a:r>
            <a:r>
              <a:rPr dirty="0" err="1"/>
              <a:t>振幅・波形の高さには効く</a:t>
            </a:r>
            <a:r>
              <a:rPr dirty="0"/>
              <a:t>（＝3.1 </a:t>
            </a:r>
            <a:r>
              <a:rPr dirty="0" err="1"/>
              <a:t>の</a:t>
            </a:r>
            <a:r>
              <a:rPr dirty="0"/>
              <a:t> ΔPOP・PI </a:t>
            </a:r>
            <a:r>
              <a:rPr dirty="0" err="1"/>
              <a:t>の話と混同しない</a:t>
            </a:r>
            <a:r>
              <a:rPr dirty="0"/>
              <a:t>）。</a:t>
            </a:r>
          </a:p>
          <a:p>
            <a:r>
              <a:rPr dirty="0"/>
              <a:t>・</a:t>
            </a:r>
            <a:r>
              <a:rPr dirty="0" err="1"/>
              <a:t>重複切痕（dicrotic</a:t>
            </a:r>
            <a:r>
              <a:rPr dirty="0"/>
              <a:t> notch）と拡張期ピーク（第2ピーク）は本来別の現象。切痕は中枢では大動脈弁閉鎖に</a:t>
            </a:r>
          </a:p>
          <a:p>
            <a:r>
              <a:rPr dirty="0"/>
              <a:t>　</a:t>
            </a:r>
            <a:r>
              <a:rPr dirty="0" err="1"/>
              <a:t>伴う現象が主因とされ（Gamrah</a:t>
            </a:r>
            <a:r>
              <a:rPr dirty="0"/>
              <a:t> 2020 </a:t>
            </a:r>
            <a:r>
              <a:rPr dirty="0" err="1"/>
              <a:t>の</a:t>
            </a:r>
            <a:r>
              <a:rPr dirty="0"/>
              <a:t> acceleration </a:t>
            </a:r>
            <a:r>
              <a:rPr dirty="0" err="1"/>
              <a:t>hypothesis、Politi</a:t>
            </a:r>
            <a:r>
              <a:rPr dirty="0"/>
              <a:t> 2016 </a:t>
            </a:r>
            <a:r>
              <a:rPr dirty="0" err="1"/>
              <a:t>は反射を「原因の一つ」と限定</a:t>
            </a:r>
            <a:r>
              <a:rPr dirty="0"/>
              <a:t>）、</a:t>
            </a:r>
          </a:p>
          <a:p>
            <a:r>
              <a:rPr dirty="0"/>
              <a:t>　</a:t>
            </a:r>
            <a:r>
              <a:rPr dirty="0" err="1"/>
              <a:t>末梢では反射の影響も受ける。PPG</a:t>
            </a:r>
            <a:r>
              <a:rPr dirty="0"/>
              <a:t> </a:t>
            </a:r>
            <a:r>
              <a:rPr dirty="0" err="1"/>
              <a:t>の標準教科書（Kyriacou</a:t>
            </a:r>
            <a:r>
              <a:rPr dirty="0"/>
              <a:t> &amp; Allen 2022）は末梢 PPG </a:t>
            </a:r>
            <a:r>
              <a:rPr dirty="0" err="1"/>
              <a:t>の切痕・拡張期ピークを</a:t>
            </a:r>
            <a:endParaRPr dirty="0"/>
          </a:p>
          <a:p>
            <a:r>
              <a:rPr dirty="0"/>
              <a:t>　</a:t>
            </a:r>
            <a:r>
              <a:rPr dirty="0" err="1"/>
              <a:t>まとめて「反射による」と記述しており、文献間で用語の指す対象がずれている点に注意</a:t>
            </a:r>
            <a:r>
              <a:rPr dirty="0"/>
              <a:t>。</a:t>
            </a:r>
          </a:p>
          <a:p>
            <a:r>
              <a:rPr dirty="0"/>
              <a:t>　</a:t>
            </a:r>
            <a:r>
              <a:rPr dirty="0" err="1"/>
              <a:t>図の金の点を「重複切痕」と呼ぶのは末梢</a:t>
            </a:r>
            <a:r>
              <a:rPr dirty="0"/>
              <a:t> PPG </a:t>
            </a:r>
            <a:r>
              <a:rPr dirty="0" err="1"/>
              <a:t>の慣用に沿っており、講義としては問題ない</a:t>
            </a:r>
            <a:r>
              <a:rPr dirty="0"/>
              <a:t>。</a:t>
            </a:r>
          </a:p>
          <a:p>
            <a:r>
              <a:rPr dirty="0"/>
              <a:t>(</a:t>
            </a:r>
            <a:r>
              <a:rPr dirty="0" err="1"/>
              <a:t>Millasseau</a:t>
            </a:r>
            <a:r>
              <a:rPr dirty="0"/>
              <a:t> 2002 Clin Sci 103:371 / </a:t>
            </a:r>
            <a:r>
              <a:rPr dirty="0" err="1"/>
              <a:t>Chowienczyk</a:t>
            </a:r>
            <a:r>
              <a:rPr dirty="0"/>
              <a:t> 1999 JACC 34:2007 / Segers 2017 Artery Res 18:75 /</a:t>
            </a:r>
          </a:p>
          <a:p>
            <a:r>
              <a:rPr dirty="0"/>
              <a:t> Davies 2012 Hypertension 60:778 / Epstein 2015 AJP Heart 309:H222 / Athaide 2023 J Appl </a:t>
            </a:r>
            <a:r>
              <a:rPr dirty="0" err="1"/>
              <a:t>Physiol</a:t>
            </a:r>
            <a:r>
              <a:rPr dirty="0"/>
              <a:t> 134:1232)</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PPG 基礎まとめ（図解版）</a:t>
            </a:r>
          </a:p>
          <a:p>
            <a:endParaRPr/>
          </a:p>
          <a:p>
            <a:r>
              <a:t>① SpO₂ は赤色光と赤外光の（AC/DC）比 R を、健常人の低酸素負荷試験で作った較正表に</a:t>
            </a:r>
          </a:p>
          <a:p>
            <a:r>
              <a:t>　 当てはめて SaO₂ を推定した値である。較正データは SaO₂ 70〜100% の範囲でしか取得できず、</a:t>
            </a:r>
          </a:p>
          <a:p>
            <a:r>
              <a:t>　 70% 未満は外挿である。</a:t>
            </a:r>
          </a:p>
          <a:p>
            <a:r>
              <a:t>② PPG 波形は圧ではなく、測定部位の動脈血液量（容積）の拍動性変化を見ている。</a:t>
            </a:r>
          </a:p>
          <a:p>
            <a:r>
              <a:t>　 したがって振幅は中心大動脈圧の絶対値ではなく、局所の血管コンプライアンス・灌流・</a:t>
            </a:r>
          </a:p>
          <a:p>
            <a:r>
              <a:t>　 局所脈圧に依存する。</a:t>
            </a:r>
          </a:p>
          <a:p>
            <a:r>
              <a:t>③ PPG 波形は前進波と反射波の合成によって形成されるが、反射点の解剖学的な場所を</a:t>
            </a:r>
          </a:p>
          <a:p>
            <a:r>
              <a:t>　 同定することは原理的にできない（成立するのは「経路」としての解釈だけ）。</a:t>
            </a:r>
          </a:p>
          <a:p>
            <a:endParaRPr/>
          </a:p>
          <a:p>
            <a:r>
              <a:t>→ 次章以降で、この波形がどのような因子に影響を受けるかを見ていく。</a:t>
            </a:r>
          </a:p>
          <a:p>
            <a:r>
              <a:t>出典：1. Allen 2007 ／ 5. Politi 2016 ／ 2. Aoyagi 2003 ／ 3. Chan 2013</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a:t>2章、3章でPPG波形に影響を与える因子について見ていく。</a:t>
            </a:r>
          </a:p>
          <a:p>
            <a:r>
              <a:rPr lang="en-US" dirty="0"/>
              <a:t>2章は慢性的な変化によるPPG波形への影響を、3章は主に急性に変化する因子によるPPG波形への影響を検討する。</a:t>
            </a:r>
          </a:p>
          <a:p>
            <a:endParaRPr lang="en-US" dirty="0"/>
          </a:p>
          <a:p>
            <a:r>
              <a:rPr lang="en-US" dirty="0" err="1"/>
              <a:t>まずは加齢によるPPG波形変化の研究を見る</a:t>
            </a:r>
            <a:r>
              <a:rPr lang="en-US" dirty="0"/>
              <a:t>。</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21</a:t>
            </a:fld>
            <a:endParaRPr kumimoji="1" lang="ja-JP" altLang="en-US"/>
          </a:p>
        </p:txBody>
      </p:sp>
    </p:spTree>
    <p:extLst>
      <p:ext uri="{BB962C8B-B14F-4D97-AF65-F5344CB8AC3E}">
        <p14:creationId xmlns:p14="http://schemas.microsoft.com/office/powerpoint/2010/main" val="35307576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799AD-DBCA-A3EA-27A4-5BCD5608E42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9416CE5-8C59-0755-91B2-71589CBA877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037C2A-489A-E348-FC31-2CBE877D8109}"/>
              </a:ext>
            </a:extLst>
          </p:cNvPr>
          <p:cNvSpPr>
            <a:spLocks noGrp="1"/>
          </p:cNvSpPr>
          <p:nvPr>
            <p:ph type="body" idx="1"/>
          </p:nvPr>
        </p:nvSpPr>
        <p:spPr/>
        <p:txBody>
          <a:bodyPr/>
          <a:lstStyle/>
          <a:p>
            <a:r>
              <a:rPr lang="en-US" dirty="0"/>
              <a:t>2章、3章でPPG波形に影響を与える因子について見ていく。</a:t>
            </a:r>
          </a:p>
          <a:p>
            <a:r>
              <a:rPr lang="en-US" dirty="0"/>
              <a:t>2章は慢性的な変化によるPPG波形への影響を、3章は主に急性に変化する因子によるPPG波形への影響を検討する。</a:t>
            </a:r>
          </a:p>
          <a:p>
            <a:endParaRPr lang="en-US" dirty="0"/>
          </a:p>
          <a:p>
            <a:r>
              <a:rPr lang="en-US" dirty="0" err="1"/>
              <a:t>まずは加齢によるPPG波形変化の研究を見る</a:t>
            </a:r>
            <a:r>
              <a:rPr lang="en-US" dirty="0"/>
              <a:t>。</a:t>
            </a:r>
          </a:p>
        </p:txBody>
      </p:sp>
      <p:sp>
        <p:nvSpPr>
          <p:cNvPr id="4" name="スライド番号プレースホルダー 3">
            <a:extLst>
              <a:ext uri="{FF2B5EF4-FFF2-40B4-BE49-F238E27FC236}">
                <a16:creationId xmlns:a16="http://schemas.microsoft.com/office/drawing/2014/main" id="{7ACF3EF7-24D1-482F-1D6A-3E95D92F0D82}"/>
              </a:ext>
            </a:extLst>
          </p:cNvPr>
          <p:cNvSpPr>
            <a:spLocks noGrp="1"/>
          </p:cNvSpPr>
          <p:nvPr>
            <p:ph type="sldNum" sz="quarter" idx="5"/>
          </p:nvPr>
        </p:nvSpPr>
        <p:spPr/>
        <p:txBody>
          <a:bodyPr/>
          <a:lstStyle/>
          <a:p>
            <a:fld id="{4368CECF-0771-D84F-8D42-085DB944B0B8}" type="slidenum">
              <a:rPr kumimoji="1" lang="ja-JP" altLang="en-US" smtClean="0"/>
              <a:t>22</a:t>
            </a:fld>
            <a:endParaRPr kumimoji="1" lang="ja-JP" altLang="en-US"/>
          </a:p>
        </p:txBody>
      </p:sp>
    </p:spTree>
    <p:extLst>
      <p:ext uri="{BB962C8B-B14F-4D97-AF65-F5344CB8AC3E}">
        <p14:creationId xmlns:p14="http://schemas.microsoft.com/office/powerpoint/2010/main" val="24607446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5D002-2458-FB35-B390-8207966994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C218C4-9CD2-0B2E-F732-E05B02F4A5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4DC4E8-D9A6-547B-3414-00E9AAA0B0A4}"/>
              </a:ext>
            </a:extLst>
          </p:cNvPr>
          <p:cNvSpPr>
            <a:spLocks noGrp="1"/>
          </p:cNvSpPr>
          <p:nvPr>
            <p:ph type="body" idx="1"/>
          </p:nvPr>
        </p:nvSpPr>
        <p:spPr/>
        <p:txBody>
          <a:bodyPr/>
          <a:lstStyle/>
          <a:p>
            <a:r>
              <a:rPr lang="en-US" dirty="0" err="1"/>
              <a:t>一つ目はフラミンガム研究。米国フラミンガムでのコホート研究</a:t>
            </a:r>
            <a:r>
              <a:rPr lang="en-US" dirty="0"/>
              <a:t>。</a:t>
            </a:r>
          </a:p>
          <a:p>
            <a:r>
              <a:rPr lang="en-US" dirty="0"/>
              <a:t>1948年に米国国立心臓研究所主導で行われ、登録時に心血管疾患がない３０−６２歳が登録された。</a:t>
            </a:r>
          </a:p>
          <a:p>
            <a:r>
              <a:rPr lang="en-US" dirty="0"/>
              <a:t>2年ごとの追跡を行い、疾患発症前からの経過を終えるようにした有名なコホート</a:t>
            </a:r>
          </a:p>
          <a:p>
            <a:endParaRPr lang="en-US" dirty="0"/>
          </a:p>
          <a:p>
            <a:r>
              <a:rPr lang="en-US" dirty="0" err="1"/>
              <a:t>心疾患発症を予測するフラミンガムスコアやうっ血性心不全のフラミンガム基準を産んでいる</a:t>
            </a:r>
            <a:endParaRPr lang="en-US" dirty="0"/>
          </a:p>
          <a:p>
            <a:endParaRPr lang="en-US" dirty="0"/>
          </a:p>
          <a:p>
            <a:r>
              <a:rPr dirty="0" err="1"/>
              <a:t>フラミンガム心臓研究（Framingham</a:t>
            </a:r>
            <a:r>
              <a:rPr dirty="0"/>
              <a:t> Heart Study, </a:t>
            </a:r>
            <a:r>
              <a:rPr dirty="0" err="1"/>
              <a:t>FHS）とは</a:t>
            </a:r>
            <a:r>
              <a:rPr dirty="0"/>
              <a:t>。</a:t>
            </a:r>
          </a:p>
          <a:p>
            <a:endParaRPr dirty="0"/>
          </a:p>
          <a:p>
            <a:r>
              <a:rPr dirty="0"/>
              <a:t>・1948年、米国マサチューセッツ州フラミンガムで、国立心臓研究所（National Heart Institute、</a:t>
            </a:r>
          </a:p>
          <a:p>
            <a:r>
              <a:rPr dirty="0"/>
              <a:t>　</a:t>
            </a:r>
            <a:r>
              <a:rPr dirty="0" err="1"/>
              <a:t>現</a:t>
            </a:r>
            <a:r>
              <a:rPr dirty="0"/>
              <a:t> </a:t>
            </a:r>
            <a:r>
              <a:rPr dirty="0" err="1"/>
              <a:t>NHLBI）により開始された地域住民ベースの前向きコホート研究</a:t>
            </a:r>
            <a:r>
              <a:rPr dirty="0"/>
              <a:t>。</a:t>
            </a:r>
          </a:p>
          <a:p>
            <a:r>
              <a:rPr dirty="0"/>
              <a:t>・</a:t>
            </a:r>
            <a:r>
              <a:rPr dirty="0" err="1"/>
              <a:t>原コホートは</a:t>
            </a:r>
            <a:r>
              <a:rPr dirty="0"/>
              <a:t> 5,209人（男女）、</a:t>
            </a:r>
            <a:r>
              <a:rPr dirty="0" err="1"/>
              <a:t>登録時</a:t>
            </a:r>
            <a:r>
              <a:rPr dirty="0"/>
              <a:t> 30〜62歳、登録時点で心血管疾患を発症していない住民。</a:t>
            </a:r>
          </a:p>
          <a:p>
            <a:r>
              <a:rPr dirty="0"/>
              <a:t>・以後、原則2年ごとに問診・診察・検査を繰り返して追跡する設計。</a:t>
            </a:r>
          </a:p>
          <a:p>
            <a:r>
              <a:rPr dirty="0"/>
              <a:t>・「</a:t>
            </a:r>
            <a:r>
              <a:rPr dirty="0" err="1"/>
              <a:t>危険因子（risk</a:t>
            </a:r>
            <a:r>
              <a:rPr dirty="0"/>
              <a:t> factor）」</a:t>
            </a:r>
            <a:r>
              <a:rPr dirty="0" err="1"/>
              <a:t>という言葉・考え方はこの研究から広まった</a:t>
            </a:r>
            <a:r>
              <a:rPr dirty="0"/>
              <a:t>。</a:t>
            </a:r>
          </a:p>
          <a:p>
            <a:r>
              <a:rPr dirty="0"/>
              <a:t>・</a:t>
            </a:r>
            <a:r>
              <a:rPr dirty="0" err="1"/>
              <a:t>その後、Offspring</a:t>
            </a:r>
            <a:r>
              <a:rPr dirty="0"/>
              <a:t> コホート（1971年）、Third Generation コホート（2002年）へ拡張されている。</a:t>
            </a:r>
          </a:p>
          <a:p>
            <a:endParaRPr dirty="0"/>
          </a:p>
          <a:p>
            <a:r>
              <a:rPr dirty="0" err="1"/>
              <a:t>本デックでの位置づけ</a:t>
            </a:r>
            <a:endParaRPr dirty="0"/>
          </a:p>
          <a:p>
            <a:r>
              <a:rPr dirty="0"/>
              <a:t>・Dawber TR, Thomas HE, McNamara PM. Characteristics of the dicrotic notch of the arterial</a:t>
            </a:r>
          </a:p>
          <a:p>
            <a:r>
              <a:rPr dirty="0"/>
              <a:t>　pulse wave in coronary heart disease. Angiology 1973;24:244–55.</a:t>
            </a:r>
          </a:p>
          <a:p>
            <a:r>
              <a:rPr dirty="0"/>
              <a:t>　</a:t>
            </a:r>
            <a:r>
              <a:rPr dirty="0" err="1"/>
              <a:t>このフラミンガム集団を対象に、指尖脈波の重複切痕（dicrotic</a:t>
            </a:r>
            <a:r>
              <a:rPr dirty="0"/>
              <a:t> </a:t>
            </a:r>
            <a:r>
              <a:rPr dirty="0" err="1"/>
              <a:t>notch）の見え方を目視で</a:t>
            </a:r>
            <a:endParaRPr dirty="0"/>
          </a:p>
          <a:p>
            <a:r>
              <a:rPr dirty="0"/>
              <a:t>　4クラスに分類し、年齢・冠動脈疾患との関連を検討した（次スライド以降）。</a:t>
            </a:r>
          </a:p>
          <a:p>
            <a:r>
              <a:rPr dirty="0"/>
              <a:t>・</a:t>
            </a:r>
            <a:r>
              <a:rPr dirty="0" err="1"/>
              <a:t>つまり「安静時の血管特性」を見た研究であり、麻酔中の急性変化を見たものではない</a:t>
            </a:r>
            <a:r>
              <a:rPr dirty="0"/>
              <a:t>。</a:t>
            </a:r>
          </a:p>
          <a:p>
            <a:endParaRPr dirty="0"/>
          </a:p>
          <a:p>
            <a:r>
              <a:rPr dirty="0" err="1"/>
              <a:t>注意（数値の出どころ</a:t>
            </a:r>
            <a:r>
              <a:rPr dirty="0"/>
              <a:t>）</a:t>
            </a:r>
          </a:p>
          <a:p>
            <a:r>
              <a:rPr dirty="0"/>
              <a:t>・</a:t>
            </a:r>
            <a:r>
              <a:rPr dirty="0" err="1"/>
              <a:t>開始年・人数・年齢範囲は</a:t>
            </a:r>
            <a:r>
              <a:rPr dirty="0"/>
              <a:t> Framingham Heart </a:t>
            </a:r>
            <a:r>
              <a:rPr dirty="0" err="1"/>
              <a:t>Study／NHLBI</a:t>
            </a:r>
            <a:r>
              <a:rPr dirty="0"/>
              <a:t> </a:t>
            </a:r>
            <a:r>
              <a:rPr dirty="0" err="1"/>
              <a:t>の公表情報に基づく</a:t>
            </a:r>
            <a:endParaRPr dirty="0"/>
          </a:p>
          <a:p>
            <a:r>
              <a:rPr dirty="0"/>
              <a:t>　（1948年開始・5,209人・30〜62歳）。</a:t>
            </a:r>
            <a:r>
              <a:rPr dirty="0" err="1"/>
              <a:t>資料によっては年齢範囲を</a:t>
            </a:r>
            <a:r>
              <a:rPr dirty="0"/>
              <a:t> 28〜62歳と記載するものもある。</a:t>
            </a:r>
          </a:p>
          <a:p>
            <a:r>
              <a:rPr dirty="0"/>
              <a:t>・以前のメモにあった「1949年・30〜59歳」は上記と食い違うため、公表値に合わせて修正した。</a:t>
            </a:r>
          </a:p>
          <a:p>
            <a:r>
              <a:rPr dirty="0"/>
              <a:t>・Dawber 1973 </a:t>
            </a:r>
            <a:r>
              <a:rPr dirty="0" err="1"/>
              <a:t>本体は</a:t>
            </a:r>
            <a:r>
              <a:rPr dirty="0"/>
              <a:t> PubMed </a:t>
            </a:r>
            <a:r>
              <a:rPr dirty="0" err="1"/>
              <a:t>に抄録が無く、対象者数などの詳細は本文でしか確認できない</a:t>
            </a:r>
            <a:r>
              <a:rPr dirty="0"/>
              <a:t>。</a:t>
            </a:r>
          </a:p>
          <a:p>
            <a:endParaRPr dirty="0"/>
          </a:p>
        </p:txBody>
      </p:sp>
      <p:sp>
        <p:nvSpPr>
          <p:cNvPr id="4" name="スライド番号プレースホルダー 3">
            <a:extLst>
              <a:ext uri="{FF2B5EF4-FFF2-40B4-BE49-F238E27FC236}">
                <a16:creationId xmlns:a16="http://schemas.microsoft.com/office/drawing/2014/main" id="{1D7720C9-5CB3-4057-8F64-A16F05A9DD35}"/>
              </a:ext>
            </a:extLst>
          </p:cNvPr>
          <p:cNvSpPr>
            <a:spLocks noGrp="1"/>
          </p:cNvSpPr>
          <p:nvPr>
            <p:ph type="sldNum" sz="quarter" idx="5"/>
          </p:nvPr>
        </p:nvSpPr>
        <p:spPr/>
        <p:txBody>
          <a:bodyPr/>
          <a:lstStyle/>
          <a:p>
            <a:fld id="{4368CECF-0771-D84F-8D42-085DB944B0B8}" type="slidenum">
              <a:rPr kumimoji="1" lang="ja-JP" altLang="en-US" smtClean="0"/>
              <a:t>23</a:t>
            </a:fld>
            <a:endParaRPr kumimoji="1" lang="ja-JP" altLang="en-US"/>
          </a:p>
        </p:txBody>
      </p:sp>
    </p:spTree>
    <p:extLst>
      <p:ext uri="{BB962C8B-B14F-4D97-AF65-F5344CB8AC3E}">
        <p14:creationId xmlns:p14="http://schemas.microsoft.com/office/powerpoint/2010/main" val="36539230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FAF0D-23DC-8860-33E8-D28DB8E2CDB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F47F1E1-B4EA-1EE7-1935-4C27A92D420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C62F80-AAD3-743A-C4E5-D2328476145C}"/>
              </a:ext>
            </a:extLst>
          </p:cNvPr>
          <p:cNvSpPr>
            <a:spLocks noGrp="1"/>
          </p:cNvSpPr>
          <p:nvPr>
            <p:ph type="body" idx="1"/>
          </p:nvPr>
        </p:nvSpPr>
        <p:spPr/>
        <p:txBody>
          <a:bodyPr/>
          <a:lstStyle/>
          <a:p>
            <a:r>
              <a:rPr lang="en-US" dirty="0" err="1"/>
              <a:t>一つ目はフラミンガム研究。米国フラミンガムでのコホート研究</a:t>
            </a:r>
            <a:r>
              <a:rPr lang="en-US" dirty="0"/>
              <a:t>。</a:t>
            </a:r>
          </a:p>
          <a:p>
            <a:r>
              <a:rPr lang="en-US" dirty="0"/>
              <a:t>1948年に米国国立心臓研究所主導で行われ、登録時に心血管疾患がない３０−６２歳が登録された。</a:t>
            </a:r>
          </a:p>
          <a:p>
            <a:r>
              <a:rPr lang="en-US" dirty="0"/>
              <a:t>2年ごとの追跡を行い、疾患発症前からの経過を終えるようにした有名なコホート</a:t>
            </a:r>
          </a:p>
          <a:p>
            <a:endParaRPr lang="en-US" dirty="0"/>
          </a:p>
          <a:p>
            <a:r>
              <a:rPr lang="en-US" dirty="0" err="1"/>
              <a:t>心疾患発症を予測するフラミンガムスコアやうっ血性心不全のフラミンガム基準を産んでいる</a:t>
            </a:r>
            <a:endParaRPr lang="en-US" dirty="0"/>
          </a:p>
          <a:p>
            <a:endParaRPr lang="en-US" dirty="0"/>
          </a:p>
          <a:p>
            <a:r>
              <a:rPr dirty="0" err="1"/>
              <a:t>フラミンガム心臓研究（Framingham</a:t>
            </a:r>
            <a:r>
              <a:rPr dirty="0"/>
              <a:t> Heart Study, </a:t>
            </a:r>
            <a:r>
              <a:rPr dirty="0" err="1"/>
              <a:t>FHS）とは</a:t>
            </a:r>
            <a:r>
              <a:rPr dirty="0"/>
              <a:t>。</a:t>
            </a:r>
          </a:p>
          <a:p>
            <a:endParaRPr dirty="0"/>
          </a:p>
          <a:p>
            <a:r>
              <a:rPr dirty="0"/>
              <a:t>・1948年、米国マサチューセッツ州フラミンガムで、国立心臓研究所（National Heart Institute、</a:t>
            </a:r>
          </a:p>
          <a:p>
            <a:r>
              <a:rPr dirty="0"/>
              <a:t>　</a:t>
            </a:r>
            <a:r>
              <a:rPr dirty="0" err="1"/>
              <a:t>現</a:t>
            </a:r>
            <a:r>
              <a:rPr dirty="0"/>
              <a:t> </a:t>
            </a:r>
            <a:r>
              <a:rPr dirty="0" err="1"/>
              <a:t>NHLBI）により開始された地域住民ベースの前向きコホート研究</a:t>
            </a:r>
            <a:r>
              <a:rPr dirty="0"/>
              <a:t>。</a:t>
            </a:r>
          </a:p>
          <a:p>
            <a:r>
              <a:rPr dirty="0"/>
              <a:t>・</a:t>
            </a:r>
            <a:r>
              <a:rPr dirty="0" err="1"/>
              <a:t>原コホートは</a:t>
            </a:r>
            <a:r>
              <a:rPr dirty="0"/>
              <a:t> 5,209人（男女）、</a:t>
            </a:r>
            <a:r>
              <a:rPr dirty="0" err="1"/>
              <a:t>登録時</a:t>
            </a:r>
            <a:r>
              <a:rPr dirty="0"/>
              <a:t> 30〜62歳、登録時点で心血管疾患を発症していない住民。</a:t>
            </a:r>
          </a:p>
          <a:p>
            <a:r>
              <a:rPr dirty="0"/>
              <a:t>・以後、原則2年ごとに問診・診察・検査を繰り返して追跡する設計。</a:t>
            </a:r>
          </a:p>
          <a:p>
            <a:r>
              <a:rPr dirty="0"/>
              <a:t>・「</a:t>
            </a:r>
            <a:r>
              <a:rPr dirty="0" err="1"/>
              <a:t>危険因子（risk</a:t>
            </a:r>
            <a:r>
              <a:rPr dirty="0"/>
              <a:t> factor）」</a:t>
            </a:r>
            <a:r>
              <a:rPr dirty="0" err="1"/>
              <a:t>という言葉・考え方はこの研究から広まった</a:t>
            </a:r>
            <a:r>
              <a:rPr dirty="0"/>
              <a:t>。</a:t>
            </a:r>
          </a:p>
          <a:p>
            <a:r>
              <a:rPr dirty="0"/>
              <a:t>・</a:t>
            </a:r>
            <a:r>
              <a:rPr dirty="0" err="1"/>
              <a:t>その後、Offspring</a:t>
            </a:r>
            <a:r>
              <a:rPr dirty="0"/>
              <a:t> コホート（1971年）、Third Generation コホート（2002年）へ拡張されている。</a:t>
            </a:r>
          </a:p>
          <a:p>
            <a:endParaRPr dirty="0"/>
          </a:p>
          <a:p>
            <a:r>
              <a:rPr dirty="0" err="1"/>
              <a:t>本デックでの位置づけ</a:t>
            </a:r>
            <a:endParaRPr dirty="0"/>
          </a:p>
          <a:p>
            <a:r>
              <a:rPr dirty="0"/>
              <a:t>・Dawber TR, Thomas HE, McNamara PM. Characteristics of the dicrotic notch of the arterial</a:t>
            </a:r>
          </a:p>
          <a:p>
            <a:r>
              <a:rPr dirty="0"/>
              <a:t>　pulse wave in coronary heart disease. Angiology 1973;24:244–55.</a:t>
            </a:r>
          </a:p>
          <a:p>
            <a:r>
              <a:rPr dirty="0"/>
              <a:t>　</a:t>
            </a:r>
            <a:r>
              <a:rPr dirty="0" err="1"/>
              <a:t>このフラミンガム集団を対象に、指尖脈波の重複切痕（dicrotic</a:t>
            </a:r>
            <a:r>
              <a:rPr dirty="0"/>
              <a:t> </a:t>
            </a:r>
            <a:r>
              <a:rPr dirty="0" err="1"/>
              <a:t>notch）の見え方を目視で</a:t>
            </a:r>
            <a:endParaRPr dirty="0"/>
          </a:p>
          <a:p>
            <a:r>
              <a:rPr dirty="0"/>
              <a:t>　4クラスに分類し、年齢・冠動脈疾患との関連を検討した（次スライド以降）。</a:t>
            </a:r>
          </a:p>
          <a:p>
            <a:r>
              <a:rPr dirty="0"/>
              <a:t>・</a:t>
            </a:r>
            <a:r>
              <a:rPr dirty="0" err="1"/>
              <a:t>つまり「安静時の血管特性」を見た研究であり、麻酔中の急性変化を見たものではない</a:t>
            </a:r>
            <a:r>
              <a:rPr dirty="0"/>
              <a:t>。</a:t>
            </a:r>
          </a:p>
          <a:p>
            <a:endParaRPr dirty="0"/>
          </a:p>
          <a:p>
            <a:r>
              <a:rPr dirty="0" err="1"/>
              <a:t>注意（数値の出どころ</a:t>
            </a:r>
            <a:r>
              <a:rPr dirty="0"/>
              <a:t>）</a:t>
            </a:r>
          </a:p>
          <a:p>
            <a:r>
              <a:rPr dirty="0"/>
              <a:t>・</a:t>
            </a:r>
            <a:r>
              <a:rPr dirty="0" err="1"/>
              <a:t>開始年・人数・年齢範囲は</a:t>
            </a:r>
            <a:r>
              <a:rPr dirty="0"/>
              <a:t> Framingham Heart </a:t>
            </a:r>
            <a:r>
              <a:rPr dirty="0" err="1"/>
              <a:t>Study／NHLBI</a:t>
            </a:r>
            <a:r>
              <a:rPr dirty="0"/>
              <a:t> </a:t>
            </a:r>
            <a:r>
              <a:rPr dirty="0" err="1"/>
              <a:t>の公表情報に基づく</a:t>
            </a:r>
            <a:endParaRPr dirty="0"/>
          </a:p>
          <a:p>
            <a:r>
              <a:rPr dirty="0"/>
              <a:t>　（1948年開始・5,209人・30〜62歳）。</a:t>
            </a:r>
            <a:r>
              <a:rPr dirty="0" err="1"/>
              <a:t>資料によっては年齢範囲を</a:t>
            </a:r>
            <a:r>
              <a:rPr dirty="0"/>
              <a:t> 28〜62歳と記載するものもある。</a:t>
            </a:r>
          </a:p>
          <a:p>
            <a:r>
              <a:rPr dirty="0"/>
              <a:t>・以前のメモにあった「1949年・30〜59歳」は上記と食い違うため、公表値に合わせて修正した。</a:t>
            </a:r>
          </a:p>
          <a:p>
            <a:r>
              <a:rPr dirty="0"/>
              <a:t>・Dawber 1973 </a:t>
            </a:r>
            <a:r>
              <a:rPr dirty="0" err="1"/>
              <a:t>本体は</a:t>
            </a:r>
            <a:r>
              <a:rPr dirty="0"/>
              <a:t> PubMed </a:t>
            </a:r>
            <a:r>
              <a:rPr dirty="0" err="1"/>
              <a:t>に抄録が無く、対象者数などの詳細は本文でしか確認できない</a:t>
            </a:r>
            <a:r>
              <a:rPr dirty="0"/>
              <a:t>。</a:t>
            </a:r>
          </a:p>
          <a:p>
            <a:endParaRPr dirty="0"/>
          </a:p>
        </p:txBody>
      </p:sp>
      <p:sp>
        <p:nvSpPr>
          <p:cNvPr id="4" name="スライド番号プレースホルダー 3">
            <a:extLst>
              <a:ext uri="{FF2B5EF4-FFF2-40B4-BE49-F238E27FC236}">
                <a16:creationId xmlns:a16="http://schemas.microsoft.com/office/drawing/2014/main" id="{E602AB1B-CDD9-7006-B20C-AC224A17F371}"/>
              </a:ext>
            </a:extLst>
          </p:cNvPr>
          <p:cNvSpPr>
            <a:spLocks noGrp="1"/>
          </p:cNvSpPr>
          <p:nvPr>
            <p:ph type="sldNum" sz="quarter" idx="5"/>
          </p:nvPr>
        </p:nvSpPr>
        <p:spPr/>
        <p:txBody>
          <a:bodyPr/>
          <a:lstStyle/>
          <a:p>
            <a:fld id="{4368CECF-0771-D84F-8D42-085DB944B0B8}" type="slidenum">
              <a:rPr kumimoji="1" lang="ja-JP" altLang="en-US" smtClean="0"/>
              <a:t>24</a:t>
            </a:fld>
            <a:endParaRPr kumimoji="1" lang="ja-JP" altLang="en-US"/>
          </a:p>
        </p:txBody>
      </p:sp>
    </p:spTree>
    <p:extLst>
      <p:ext uri="{BB962C8B-B14F-4D97-AF65-F5344CB8AC3E}">
        <p14:creationId xmlns:p14="http://schemas.microsoft.com/office/powerpoint/2010/main" val="17548070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8C8BB-FC18-CC2A-92DE-D789FF460A6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653364-141F-7D20-A238-30577D8EAAC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E369720-CD6D-E2B4-BD4A-3FCA38A80E5B}"/>
              </a:ext>
            </a:extLst>
          </p:cNvPr>
          <p:cNvSpPr>
            <a:spLocks noGrp="1"/>
          </p:cNvSpPr>
          <p:nvPr>
            <p:ph type="body" idx="1"/>
          </p:nvPr>
        </p:nvSpPr>
        <p:spPr/>
        <p:txBody>
          <a:bodyPr/>
          <a:lstStyle/>
          <a:p>
            <a:r>
              <a:rPr lang="en-US" altLang="ja-JP" dirty="0"/>
              <a:t>1973</a:t>
            </a:r>
            <a:r>
              <a:rPr lang="ja-JP" altLang="en-US"/>
              <a:t>年にドーバーが指尖脈波の波形を切痕の位置で</a:t>
            </a:r>
            <a:r>
              <a:rPr lang="en-US" altLang="ja-JP" dirty="0"/>
              <a:t>4</a:t>
            </a:r>
            <a:r>
              <a:rPr lang="ja-JP" altLang="en-US"/>
              <a:t>つに分類し、指尖脈波波形と年齢や冠動脈疾患との関連を調べた</a:t>
            </a:r>
            <a:endParaRPr lang="en-US" altLang="ja-JP" dirty="0"/>
          </a:p>
          <a:p>
            <a:endParaRPr lang="en-US" dirty="0"/>
          </a:p>
          <a:p>
            <a:r>
              <a:rPr dirty="0"/>
              <a:t>フラミンガム研究の対象集団5000人をベースにしたコホート研究、血管特性（麻酔変化ではない、安静時）の評価</a:t>
            </a:r>
            <a:endParaRPr lang="en-US" dirty="0"/>
          </a:p>
          <a:p>
            <a:r>
              <a:rPr lang="en-US" altLang="ja-JP" dirty="0"/>
              <a:t>1949</a:t>
            </a:r>
            <a:r>
              <a:rPr lang="ja-JP" altLang="en-US"/>
              <a:t>年マサチューセッツ州フラミンガムで国立心臓研究所により設立。</a:t>
            </a:r>
            <a:r>
              <a:rPr lang="en-US" altLang="ja-JP" dirty="0"/>
              <a:t>30-59</a:t>
            </a:r>
            <a:r>
              <a:rPr lang="ja-JP" altLang="en-US"/>
              <a:t>歳の研究時に疾患がない人口を追った。</a:t>
            </a:r>
            <a:endParaRPr lang="en-US" altLang="ja-JP" dirty="0"/>
          </a:p>
          <a:p>
            <a:endParaRPr lang="en-US" dirty="0"/>
          </a:p>
          <a:p>
            <a:r>
              <a:rPr lang="en-US" dirty="0"/>
              <a:t>重複切痕の位置でクラスを4つに分けた。目視。</a:t>
            </a:r>
          </a:p>
          <a:p>
            <a:r>
              <a:rPr lang="en-US" dirty="0" err="1"/>
              <a:t>クラスが上昇するにつれ高齢者がふえた</a:t>
            </a:r>
            <a:r>
              <a:rPr lang="en-US" dirty="0"/>
              <a:t>。</a:t>
            </a:r>
            <a:r>
              <a:rPr lang="ja-JP" altLang="en-US"/>
              <a:t>　また冠動脈疾患も増えた。</a:t>
            </a:r>
            <a:endParaRPr lang="en-US" dirty="0"/>
          </a:p>
          <a:p>
            <a:endParaRPr dirty="0"/>
          </a:p>
          <a:p>
            <a:r>
              <a:rPr dirty="0" err="1"/>
              <a:t>指尖脈波という特殊な測定のDN消失具合を分類</a:t>
            </a:r>
            <a:endParaRPr dirty="0"/>
          </a:p>
          <a:p>
            <a:r>
              <a:rPr dirty="0" err="1"/>
              <a:t>加齢で切痕が消え、血圧や喫煙と独立し、心血管イベントと関連していた</a:t>
            </a:r>
            <a:r>
              <a:rPr dirty="0"/>
              <a:t>。</a:t>
            </a:r>
          </a:p>
          <a:p>
            <a:endParaRPr dirty="0"/>
          </a:p>
          <a:p>
            <a:r>
              <a:rPr dirty="0"/>
              <a:t>Dawber </a:t>
            </a:r>
            <a:r>
              <a:rPr dirty="0" err="1"/>
              <a:t>の</a:t>
            </a:r>
            <a:r>
              <a:rPr dirty="0"/>
              <a:t> 4 </a:t>
            </a:r>
            <a:r>
              <a:rPr dirty="0" err="1"/>
              <a:t>分類（下降脚＝dicrotic</a:t>
            </a:r>
            <a:r>
              <a:rPr dirty="0"/>
              <a:t> notch </a:t>
            </a:r>
            <a:r>
              <a:rPr dirty="0" err="1"/>
              <a:t>の消え方</a:t>
            </a:r>
            <a:r>
              <a:rPr dirty="0"/>
              <a:t>）</a:t>
            </a:r>
          </a:p>
          <a:p>
            <a:r>
              <a:rPr dirty="0"/>
              <a:t>　Class 1：明瞭な切痕がある</a:t>
            </a:r>
          </a:p>
          <a:p>
            <a:r>
              <a:rPr dirty="0"/>
              <a:t>　Class 2：切痕は消えるが、下降脚に水平な部分（プラトー）</a:t>
            </a:r>
            <a:r>
              <a:rPr dirty="0" err="1"/>
              <a:t>が残る</a:t>
            </a:r>
            <a:endParaRPr dirty="0"/>
          </a:p>
          <a:p>
            <a:r>
              <a:rPr dirty="0"/>
              <a:t>　Class 3：下降脚の角度が変わるだけ</a:t>
            </a:r>
          </a:p>
          <a:p>
            <a:r>
              <a:rPr dirty="0"/>
              <a:t>　Class 4：切痕の痕跡がない（なめらかな下降脚）</a:t>
            </a:r>
          </a:p>
          <a:p>
            <a:r>
              <a:rPr dirty="0" err="1"/>
              <a:t>加齢・スティフネス上昇で</a:t>
            </a:r>
            <a:r>
              <a:rPr dirty="0"/>
              <a:t> 1 → 4 </a:t>
            </a:r>
            <a:r>
              <a:rPr dirty="0" err="1"/>
              <a:t>へ移行する</a:t>
            </a:r>
            <a:r>
              <a:rPr dirty="0"/>
              <a:t>。</a:t>
            </a:r>
          </a:p>
          <a:p>
            <a:r>
              <a:rPr dirty="0" err="1"/>
              <a:t>原著の表現は</a:t>
            </a:r>
            <a:r>
              <a:rPr dirty="0"/>
              <a:t> Class2 </a:t>
            </a:r>
            <a:r>
              <a:rPr dirty="0" err="1"/>
              <a:t>が</a:t>
            </a:r>
            <a:r>
              <a:rPr dirty="0"/>
              <a:t> "a horizontal on the line of descent"、Class3 </a:t>
            </a:r>
            <a:r>
              <a:rPr dirty="0" err="1"/>
              <a:t>が下降脚の角度変化のみ</a:t>
            </a:r>
            <a:r>
              <a:rPr dirty="0"/>
              <a:t>、</a:t>
            </a:r>
          </a:p>
          <a:p>
            <a:r>
              <a:rPr dirty="0"/>
              <a:t>Class4 </a:t>
            </a:r>
            <a:r>
              <a:rPr dirty="0" err="1"/>
              <a:t>が</a:t>
            </a:r>
            <a:r>
              <a:rPr dirty="0"/>
              <a:t> "no evidence of a notch"。この4分類の定義は </a:t>
            </a:r>
            <a:r>
              <a:rPr dirty="0" err="1"/>
              <a:t>VascAgeNet</a:t>
            </a:r>
            <a:r>
              <a:rPr dirty="0"/>
              <a:t> </a:t>
            </a:r>
            <a:r>
              <a:rPr dirty="0" err="1"/>
              <a:t>レビュ</a:t>
            </a:r>
            <a:r>
              <a:rPr dirty="0"/>
              <a:t>ー（Charlton 2022, Fig.4 </a:t>
            </a:r>
            <a:r>
              <a:rPr dirty="0" err="1"/>
              <a:t>凡例）と</a:t>
            </a:r>
            <a:endParaRPr dirty="0"/>
          </a:p>
          <a:p>
            <a:r>
              <a:rPr dirty="0" err="1"/>
              <a:t>pyPPG（Goda</a:t>
            </a:r>
            <a:r>
              <a:rPr dirty="0"/>
              <a:t> 2024）でも同じ定義で引用されており、図はこの定義に合わせて描き直した。</a:t>
            </a:r>
          </a:p>
          <a:p>
            <a:r>
              <a:rPr dirty="0" err="1"/>
              <a:t>注意：この分類は「切痕の見え方」だけを見ており、実際の脈波形はもっと多様（Front</a:t>
            </a:r>
            <a:r>
              <a:rPr dirty="0"/>
              <a:t> </a:t>
            </a:r>
            <a:r>
              <a:rPr dirty="0" err="1"/>
              <a:t>Physiol</a:t>
            </a:r>
            <a:r>
              <a:rPr dirty="0"/>
              <a:t> 2023 </a:t>
            </a:r>
            <a:r>
              <a:rPr dirty="0" err="1"/>
              <a:t>の</a:t>
            </a:r>
            <a:endParaRPr dirty="0"/>
          </a:p>
          <a:p>
            <a:r>
              <a:rPr dirty="0" err="1"/>
              <a:t>クラスタリングでは最適クラスタ数は</a:t>
            </a:r>
            <a:r>
              <a:rPr dirty="0"/>
              <a:t> 7）。「4分類で脈波形のすべてが説明できる」とは言わないこと。</a:t>
            </a:r>
          </a:p>
        </p:txBody>
      </p:sp>
      <p:sp>
        <p:nvSpPr>
          <p:cNvPr id="4" name="スライド番号プレースホルダー 3">
            <a:extLst>
              <a:ext uri="{FF2B5EF4-FFF2-40B4-BE49-F238E27FC236}">
                <a16:creationId xmlns:a16="http://schemas.microsoft.com/office/drawing/2014/main" id="{7CB7F5BF-D92B-090D-5C26-C699156ACB58}"/>
              </a:ext>
            </a:extLst>
          </p:cNvPr>
          <p:cNvSpPr>
            <a:spLocks noGrp="1"/>
          </p:cNvSpPr>
          <p:nvPr>
            <p:ph type="sldNum" sz="quarter" idx="5"/>
          </p:nvPr>
        </p:nvSpPr>
        <p:spPr/>
        <p:txBody>
          <a:bodyPr/>
          <a:lstStyle/>
          <a:p>
            <a:fld id="{4368CECF-0771-D84F-8D42-085DB944B0B8}" type="slidenum">
              <a:rPr kumimoji="1" lang="ja-JP" altLang="en-US" smtClean="0"/>
              <a:t>25</a:t>
            </a:fld>
            <a:endParaRPr kumimoji="1" lang="ja-JP" altLang="en-US"/>
          </a:p>
        </p:txBody>
      </p:sp>
    </p:spTree>
    <p:extLst>
      <p:ext uri="{BB962C8B-B14F-4D97-AF65-F5344CB8AC3E}">
        <p14:creationId xmlns:p14="http://schemas.microsoft.com/office/powerpoint/2010/main" val="38246109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CE460-A9F9-E1D2-F31D-7BB1C727B7A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B0E9035-75D6-CF0A-A2E4-D20F5B4268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EA92F19-E555-9F8D-F887-B89AD6DA8CB9}"/>
              </a:ext>
            </a:extLst>
          </p:cNvPr>
          <p:cNvSpPr>
            <a:spLocks noGrp="1"/>
          </p:cNvSpPr>
          <p:nvPr>
            <p:ph type="body" idx="1"/>
          </p:nvPr>
        </p:nvSpPr>
        <p:spPr/>
        <p:txBody>
          <a:bodyPr/>
          <a:lstStyle/>
          <a:p>
            <a:r>
              <a:rPr kumimoji="1" lang="ja-JP" altLang="ja-JP" sz="1200" b="0" i="0" kern="1200">
                <a:solidFill>
                  <a:schemeClr val="tx1"/>
                </a:solidFill>
                <a:effectLst/>
                <a:latin typeface="+mn-lt"/>
                <a:ea typeface="+mn-ea"/>
                <a:cs typeface="+mn-cs"/>
              </a:rPr>
              <a:t>測定器は Henry Lax が開発した Vasculograph（Princeton Machine and Development Company 製、Lax からの借用機）で、指に巻いた幅 2.5 cm の空気カフの内圧変動を紙送り 2 cm/秒で記録したもの</a:t>
            </a:r>
            <a:endParaRPr lang="en-US" dirty="0"/>
          </a:p>
          <a:p>
            <a:r>
              <a:rPr lang="en-US" dirty="0" err="1"/>
              <a:t>カフの内圧変動を見ており、厳密にはPPGではない</a:t>
            </a:r>
            <a:r>
              <a:rPr lang="en-US" dirty="0"/>
              <a:t>。</a:t>
            </a:r>
            <a:r>
              <a:rPr kumimoji="1" lang="ja-JP" altLang="ja-JP" sz="1200" b="0" i="0" kern="1200">
                <a:solidFill>
                  <a:schemeClr val="tx1"/>
                </a:solidFill>
                <a:effectLst/>
                <a:latin typeface="+mn-lt"/>
                <a:ea typeface="+mn-ea"/>
                <a:cs typeface="+mn-cs"/>
              </a:rPr>
              <a:t>Vasculograph</a:t>
            </a:r>
            <a:r>
              <a:rPr kumimoji="1" lang="ja-JP" altLang="en-US" sz="1200" b="0" i="0" kern="1200">
                <a:solidFill>
                  <a:schemeClr val="tx1"/>
                </a:solidFill>
                <a:effectLst/>
                <a:latin typeface="+mn-lt"/>
                <a:ea typeface="+mn-ea"/>
                <a:cs typeface="+mn-cs"/>
              </a:rPr>
              <a:t>による研究で、切痕の消失が血管疾患との関連を示唆するものであった。</a:t>
            </a:r>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この波形を先ほどの</a:t>
            </a:r>
            <a:r>
              <a:rPr kumimoji="1" lang="en-US" altLang="ja-JP" sz="1200" b="0" i="0" kern="1200" dirty="0">
                <a:solidFill>
                  <a:schemeClr val="tx1"/>
                </a:solidFill>
                <a:effectLst/>
                <a:latin typeface="+mn-lt"/>
                <a:ea typeface="+mn-ea"/>
                <a:cs typeface="+mn-cs"/>
              </a:rPr>
              <a:t>4</a:t>
            </a:r>
            <a:r>
              <a:rPr kumimoji="1" lang="ja-JP" altLang="en-US" sz="1200" b="0" i="0" kern="1200">
                <a:solidFill>
                  <a:schemeClr val="tx1"/>
                </a:solidFill>
                <a:effectLst/>
                <a:latin typeface="+mn-lt"/>
                <a:ea typeface="+mn-ea"/>
                <a:cs typeface="+mn-cs"/>
              </a:rPr>
              <a:t>つに目視で分類。</a:t>
            </a:r>
            <a:r>
              <a:rPr kumimoji="1" lang="en-US" altLang="ja-JP" sz="1200" b="0" i="0" kern="1200" dirty="0">
                <a:solidFill>
                  <a:schemeClr val="tx1"/>
                </a:solidFill>
                <a:effectLst/>
                <a:latin typeface="+mn-lt"/>
                <a:ea typeface="+mn-ea"/>
                <a:cs typeface="+mn-cs"/>
              </a:rPr>
              <a:t>1778</a:t>
            </a:r>
            <a:r>
              <a:rPr kumimoji="1" lang="ja-JP" altLang="en-US" sz="1200" b="0" i="0" kern="1200">
                <a:solidFill>
                  <a:schemeClr val="tx1"/>
                </a:solidFill>
                <a:effectLst/>
                <a:latin typeface="+mn-lt"/>
                <a:ea typeface="+mn-ea"/>
                <a:cs typeface="+mn-cs"/>
              </a:rPr>
              <a:t>人に測定を行った。</a:t>
            </a:r>
            <a:endParaRPr lang="en-US" dirty="0"/>
          </a:p>
          <a:p>
            <a:endParaRPr lang="en-US" dirty="0"/>
          </a:p>
          <a:p>
            <a:r>
              <a:rPr dirty="0"/>
              <a:t>フラミンガム研究の対象集団5000人をベースにしたコホート研究、血管特性（麻酔変化ではない、安静時）の評価</a:t>
            </a:r>
            <a:endParaRPr lang="en-US" dirty="0"/>
          </a:p>
          <a:p>
            <a:r>
              <a:rPr lang="en-US" altLang="ja-JP" dirty="0"/>
              <a:t>1949</a:t>
            </a:r>
            <a:r>
              <a:rPr lang="ja-JP" altLang="en-US"/>
              <a:t>年マサチューセッツ州フラミンガムで国立心臓研究所により設立。</a:t>
            </a:r>
            <a:r>
              <a:rPr lang="en-US" altLang="ja-JP" dirty="0"/>
              <a:t>30-59</a:t>
            </a:r>
            <a:r>
              <a:rPr lang="ja-JP" altLang="en-US"/>
              <a:t>歳の研究時に疾患がない人口を追った。</a:t>
            </a:r>
            <a:endParaRPr lang="en-US" altLang="ja-JP" dirty="0"/>
          </a:p>
          <a:p>
            <a:endParaRPr lang="en-US" dirty="0"/>
          </a:p>
          <a:p>
            <a:r>
              <a:rPr lang="en-US" dirty="0"/>
              <a:t>重複切痕の位置でクラスを4つに分けた。目視。</a:t>
            </a:r>
          </a:p>
          <a:p>
            <a:r>
              <a:rPr lang="en-US" dirty="0" err="1"/>
              <a:t>クラスが上昇するにつれ高齢者がふえた</a:t>
            </a:r>
            <a:r>
              <a:rPr lang="en-US" dirty="0"/>
              <a:t>。</a:t>
            </a:r>
            <a:r>
              <a:rPr lang="ja-JP" altLang="en-US"/>
              <a:t>　また冠動脈疾患も増えた。</a:t>
            </a:r>
            <a:endParaRPr lang="en-US" dirty="0"/>
          </a:p>
          <a:p>
            <a:endParaRPr dirty="0"/>
          </a:p>
          <a:p>
            <a:r>
              <a:rPr dirty="0" err="1"/>
              <a:t>指尖脈波という特殊な測定のDN消失具合を分類</a:t>
            </a:r>
            <a:endParaRPr dirty="0"/>
          </a:p>
          <a:p>
            <a:r>
              <a:rPr dirty="0" err="1"/>
              <a:t>加齢で切痕が消え、血圧や喫煙と独立し、心血管イベントと関連していた</a:t>
            </a:r>
            <a:r>
              <a:rPr dirty="0"/>
              <a:t>。</a:t>
            </a:r>
          </a:p>
          <a:p>
            <a:endParaRPr dirty="0"/>
          </a:p>
          <a:p>
            <a:r>
              <a:rPr dirty="0"/>
              <a:t>Dawber </a:t>
            </a:r>
            <a:r>
              <a:rPr dirty="0" err="1"/>
              <a:t>の</a:t>
            </a:r>
            <a:r>
              <a:rPr dirty="0"/>
              <a:t> 4 </a:t>
            </a:r>
            <a:r>
              <a:rPr dirty="0" err="1"/>
              <a:t>分類（下降脚＝dicrotic</a:t>
            </a:r>
            <a:r>
              <a:rPr dirty="0"/>
              <a:t> notch </a:t>
            </a:r>
            <a:r>
              <a:rPr dirty="0" err="1"/>
              <a:t>の消え方</a:t>
            </a:r>
            <a:r>
              <a:rPr dirty="0"/>
              <a:t>）</a:t>
            </a:r>
          </a:p>
          <a:p>
            <a:r>
              <a:rPr dirty="0"/>
              <a:t>　Class 1：明瞭な切痕がある</a:t>
            </a:r>
          </a:p>
          <a:p>
            <a:r>
              <a:rPr dirty="0"/>
              <a:t>　Class 2：切痕は消えるが、下降脚に水平な部分（プラトー）</a:t>
            </a:r>
            <a:r>
              <a:rPr dirty="0" err="1"/>
              <a:t>が残る</a:t>
            </a:r>
            <a:endParaRPr dirty="0"/>
          </a:p>
          <a:p>
            <a:r>
              <a:rPr dirty="0"/>
              <a:t>　Class 3：下降脚の角度が変わるだけ</a:t>
            </a:r>
          </a:p>
          <a:p>
            <a:r>
              <a:rPr dirty="0"/>
              <a:t>　Class 4：切痕の痕跡がない（なめらかな下降脚）</a:t>
            </a:r>
          </a:p>
          <a:p>
            <a:r>
              <a:rPr dirty="0" err="1"/>
              <a:t>加齢・スティフネス上昇で</a:t>
            </a:r>
            <a:r>
              <a:rPr dirty="0"/>
              <a:t> 1 → 4 </a:t>
            </a:r>
            <a:r>
              <a:rPr dirty="0" err="1"/>
              <a:t>へ移行する</a:t>
            </a:r>
            <a:r>
              <a:rPr dirty="0"/>
              <a:t>。</a:t>
            </a:r>
          </a:p>
          <a:p>
            <a:r>
              <a:rPr dirty="0" err="1"/>
              <a:t>原著の表現は</a:t>
            </a:r>
            <a:r>
              <a:rPr dirty="0"/>
              <a:t> Class2 </a:t>
            </a:r>
            <a:r>
              <a:rPr dirty="0" err="1"/>
              <a:t>が</a:t>
            </a:r>
            <a:r>
              <a:rPr dirty="0"/>
              <a:t> "a horizontal on the line of descent"、Class3 </a:t>
            </a:r>
            <a:r>
              <a:rPr dirty="0" err="1"/>
              <a:t>が下降脚の角度変化のみ</a:t>
            </a:r>
            <a:r>
              <a:rPr dirty="0"/>
              <a:t>、</a:t>
            </a:r>
          </a:p>
          <a:p>
            <a:r>
              <a:rPr dirty="0"/>
              <a:t>Class4 </a:t>
            </a:r>
            <a:r>
              <a:rPr dirty="0" err="1"/>
              <a:t>が</a:t>
            </a:r>
            <a:r>
              <a:rPr dirty="0"/>
              <a:t> "no evidence of a notch"。この4分類の定義は </a:t>
            </a:r>
            <a:r>
              <a:rPr dirty="0" err="1"/>
              <a:t>VascAgeNet</a:t>
            </a:r>
            <a:r>
              <a:rPr dirty="0"/>
              <a:t> </a:t>
            </a:r>
            <a:r>
              <a:rPr dirty="0" err="1"/>
              <a:t>レビュ</a:t>
            </a:r>
            <a:r>
              <a:rPr dirty="0"/>
              <a:t>ー（Charlton 2022, Fig.4 </a:t>
            </a:r>
            <a:r>
              <a:rPr dirty="0" err="1"/>
              <a:t>凡例）と</a:t>
            </a:r>
            <a:endParaRPr dirty="0"/>
          </a:p>
          <a:p>
            <a:r>
              <a:rPr dirty="0" err="1"/>
              <a:t>pyPPG（Goda</a:t>
            </a:r>
            <a:r>
              <a:rPr dirty="0"/>
              <a:t> 2024）でも同じ定義で引用されており、図はこの定義に合わせて描き直した。</a:t>
            </a:r>
          </a:p>
          <a:p>
            <a:r>
              <a:rPr dirty="0" err="1"/>
              <a:t>注意：この分類は「切痕の見え方」だけを見ており、実際の脈波形はもっと多様（Front</a:t>
            </a:r>
            <a:r>
              <a:rPr dirty="0"/>
              <a:t> </a:t>
            </a:r>
            <a:r>
              <a:rPr dirty="0" err="1"/>
              <a:t>Physiol</a:t>
            </a:r>
            <a:r>
              <a:rPr dirty="0"/>
              <a:t> 2023 </a:t>
            </a:r>
            <a:r>
              <a:rPr dirty="0" err="1"/>
              <a:t>の</a:t>
            </a:r>
            <a:endParaRPr dirty="0"/>
          </a:p>
          <a:p>
            <a:r>
              <a:rPr dirty="0" err="1"/>
              <a:t>クラスタリングでは最適クラスタ数は</a:t>
            </a:r>
            <a:r>
              <a:rPr dirty="0"/>
              <a:t> 7）。「4分類で脈波形のすべてが説明できる」とは言わないこと。</a:t>
            </a:r>
          </a:p>
        </p:txBody>
      </p:sp>
      <p:sp>
        <p:nvSpPr>
          <p:cNvPr id="4" name="スライド番号プレースホルダー 3">
            <a:extLst>
              <a:ext uri="{FF2B5EF4-FFF2-40B4-BE49-F238E27FC236}">
                <a16:creationId xmlns:a16="http://schemas.microsoft.com/office/drawing/2014/main" id="{1AE6F828-5606-645B-B5FF-FA9E507FC8E9}"/>
              </a:ext>
            </a:extLst>
          </p:cNvPr>
          <p:cNvSpPr>
            <a:spLocks noGrp="1"/>
          </p:cNvSpPr>
          <p:nvPr>
            <p:ph type="sldNum" sz="quarter" idx="5"/>
          </p:nvPr>
        </p:nvSpPr>
        <p:spPr/>
        <p:txBody>
          <a:bodyPr/>
          <a:lstStyle/>
          <a:p>
            <a:fld id="{4368CECF-0771-D84F-8D42-085DB944B0B8}" type="slidenum">
              <a:rPr kumimoji="1" lang="ja-JP" altLang="en-US" smtClean="0"/>
              <a:t>26</a:t>
            </a:fld>
            <a:endParaRPr kumimoji="1" lang="ja-JP" altLang="en-US"/>
          </a:p>
        </p:txBody>
      </p:sp>
    </p:spTree>
    <p:extLst>
      <p:ext uri="{BB962C8B-B14F-4D97-AF65-F5344CB8AC3E}">
        <p14:creationId xmlns:p14="http://schemas.microsoft.com/office/powerpoint/2010/main" val="13240957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F395C-6F6F-4DF4-8227-DB16E3DA34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C17431B-382B-CFDB-F755-755A940A30C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2AF9EDF-C8FA-60D1-02BB-1EC3D007967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男女ともに</a:t>
            </a:r>
            <a:r>
              <a:rPr lang="en-US" altLang="ja-JP" dirty="0" err="1"/>
              <a:t>高齢</a:t>
            </a:r>
            <a:r>
              <a:rPr lang="ja-JP" altLang="en-US"/>
              <a:t>である方が、</a:t>
            </a:r>
            <a:r>
              <a:rPr lang="en-US" altLang="ja-JP" dirty="0"/>
              <a:t>class3,4</a:t>
            </a:r>
            <a:r>
              <a:rPr lang="ja-JP" altLang="en-US"/>
              <a:t>の割合が高い</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Class</a:t>
            </a:r>
            <a:r>
              <a:rPr lang="ja-JP" altLang="en-US"/>
              <a:t>が高い方が、冠動脈疾患を持つ割合が増えた。</a:t>
            </a:r>
            <a:endParaRPr lang="en-US" altLang="ja-JP" dirty="0"/>
          </a:p>
        </p:txBody>
      </p:sp>
      <p:sp>
        <p:nvSpPr>
          <p:cNvPr id="4" name="スライド番号プレースホルダー 3">
            <a:extLst>
              <a:ext uri="{FF2B5EF4-FFF2-40B4-BE49-F238E27FC236}">
                <a16:creationId xmlns:a16="http://schemas.microsoft.com/office/drawing/2014/main" id="{F8413E1D-3C36-00CF-D5E6-5EF8A683A21B}"/>
              </a:ext>
            </a:extLst>
          </p:cNvPr>
          <p:cNvSpPr>
            <a:spLocks noGrp="1"/>
          </p:cNvSpPr>
          <p:nvPr>
            <p:ph type="sldNum" sz="quarter" idx="5"/>
          </p:nvPr>
        </p:nvSpPr>
        <p:spPr/>
        <p:txBody>
          <a:bodyPr/>
          <a:lstStyle/>
          <a:p>
            <a:fld id="{4368CECF-0771-D84F-8D42-085DB944B0B8}" type="slidenum">
              <a:rPr kumimoji="1" lang="ja-JP" altLang="en-US" smtClean="0"/>
              <a:t>27</a:t>
            </a:fld>
            <a:endParaRPr kumimoji="1" lang="ja-JP" altLang="en-US"/>
          </a:p>
        </p:txBody>
      </p:sp>
    </p:spTree>
    <p:extLst>
      <p:ext uri="{BB962C8B-B14F-4D97-AF65-F5344CB8AC3E}">
        <p14:creationId xmlns:p14="http://schemas.microsoft.com/office/powerpoint/2010/main" val="33116991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a:p>
            <a:r>
              <a:rPr kumimoji="1" lang="ja-JP" altLang="en-US"/>
              <a:t>高齢者の方が切痕が平滑で、切痕が平滑である方が冠動脈疾患を持つ人の割合が増える。</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28</a:t>
            </a:fld>
            <a:endParaRPr kumimoji="1" lang="ja-JP" altLang="en-US"/>
          </a:p>
        </p:txBody>
      </p:sp>
    </p:spTree>
    <p:extLst>
      <p:ext uri="{BB962C8B-B14F-4D97-AF65-F5344CB8AC3E}">
        <p14:creationId xmlns:p14="http://schemas.microsoft.com/office/powerpoint/2010/main" val="39768668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0B676-1850-AE0A-C551-08885A212F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3663D56-CFCE-B27F-21BB-E14881C6CB8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7E2D45C-6C0E-905D-E6AD-2B4900AA0F10}"/>
              </a:ext>
            </a:extLst>
          </p:cNvPr>
          <p:cNvSpPr>
            <a:spLocks noGrp="1"/>
          </p:cNvSpPr>
          <p:nvPr>
            <p:ph type="body" idx="1"/>
          </p:nvPr>
        </p:nvSpPr>
        <p:spPr/>
        <p:txBody>
          <a:bodyPr/>
          <a:lstStyle/>
          <a:p>
            <a:r>
              <a:rPr dirty="0"/>
              <a:t>UK Biobank </a:t>
            </a:r>
            <a:r>
              <a:rPr dirty="0" err="1"/>
              <a:t>と</a:t>
            </a:r>
            <a:r>
              <a:rPr lang="ja-JP" altLang="en-US"/>
              <a:t>いうコホートからの研究。</a:t>
            </a:r>
            <a:endParaRPr lang="en-US" altLang="ja-JP" dirty="0"/>
          </a:p>
          <a:p>
            <a:r>
              <a:rPr lang="ja-JP" altLang="en-US"/>
              <a:t>英国のバイオバンク型コホートで、</a:t>
            </a:r>
            <a:r>
              <a:rPr lang="en-US" altLang="ja-JP" dirty="0"/>
              <a:t>2006</a:t>
            </a:r>
            <a:r>
              <a:rPr lang="ja-JP" altLang="en-US"/>
              <a:t>年−</a:t>
            </a:r>
            <a:r>
              <a:rPr lang="en-US" altLang="ja-JP" dirty="0"/>
              <a:t>2010</a:t>
            </a:r>
            <a:r>
              <a:rPr lang="ja-JP" altLang="en-US"/>
              <a:t>年の登録期間で</a:t>
            </a:r>
            <a:r>
              <a:rPr lang="en-US" altLang="ja-JP" dirty="0"/>
              <a:t>50</a:t>
            </a:r>
            <a:r>
              <a:rPr lang="ja-JP" altLang="en-US"/>
              <a:t>万人が登録されてます。</a:t>
            </a:r>
            <a:endParaRPr lang="en-US" altLang="ja-JP" dirty="0"/>
          </a:p>
          <a:p>
            <a:r>
              <a:rPr lang="ja-JP" altLang="en-US"/>
              <a:t>評価施設４０キロ圏内の</a:t>
            </a:r>
            <a:r>
              <a:rPr lang="en-US" altLang="ja-JP" dirty="0"/>
              <a:t>920</a:t>
            </a:r>
            <a:r>
              <a:rPr lang="ja-JP" altLang="en-US"/>
              <a:t>万人を招待し、５％程度が応じています。</a:t>
            </a:r>
            <a:endParaRPr lang="en-US" altLang="ja-JP" dirty="0"/>
          </a:p>
          <a:p>
            <a:r>
              <a:rPr lang="ja-JP" altLang="en-US"/>
              <a:t>対象は４０−</a:t>
            </a:r>
            <a:r>
              <a:rPr lang="en-US" altLang="ja-JP" dirty="0"/>
              <a:t>69</a:t>
            </a:r>
            <a:r>
              <a:rPr lang="ja-JP" altLang="en-US"/>
              <a:t>歳で、非対称者と比較し高齢、女性、社会的に恵まれた地域に住んでいることが多い。また自己申告の疾患も少ない。</a:t>
            </a:r>
            <a:endParaRPr lang="en-US" altLang="ja-JP" dirty="0"/>
          </a:p>
          <a:p>
            <a:r>
              <a:rPr lang="ja-JP" altLang="en-US"/>
              <a:t>４０−</a:t>
            </a:r>
            <a:r>
              <a:rPr lang="en-US" altLang="ja-JP" dirty="0"/>
              <a:t>69</a:t>
            </a:r>
            <a:r>
              <a:rPr lang="ja-JP" altLang="en-US"/>
              <a:t>歳までで、今回は</a:t>
            </a:r>
            <a:r>
              <a:rPr lang="en-US" altLang="ja-JP" dirty="0"/>
              <a:t>PPG</a:t>
            </a:r>
            <a:r>
              <a:rPr lang="ja-JP" altLang="en-US"/>
              <a:t>がある</a:t>
            </a:r>
            <a:r>
              <a:rPr lang="en-US" altLang="ja-JP" dirty="0"/>
              <a:t>17</a:t>
            </a:r>
            <a:r>
              <a:rPr lang="ja-JP" altLang="en-US"/>
              <a:t>万人を対象にしている。</a:t>
            </a:r>
            <a:endParaRPr lang="en-US" altLang="ja-JP" dirty="0"/>
          </a:p>
          <a:p>
            <a:r>
              <a:rPr lang="ja-JP" altLang="en-US"/>
              <a:t>バイオバンク型というのは、登録時にさまざまなデータを集めておいて、あとはイベントがあった時に、受診時のデータを追加するというタイプ。何年ごとに集める、ではない。手軽。</a:t>
            </a:r>
            <a:endParaRPr lang="en-US" altLang="ja-JP" dirty="0"/>
          </a:p>
          <a:p>
            <a:endParaRPr lang="en-US" dirty="0"/>
          </a:p>
          <a:p>
            <a:r>
              <a:rPr kumimoji="1" lang="ja-JP" altLang="en-US" sz="1200" b="0" i="0" kern="1200">
                <a:solidFill>
                  <a:schemeClr val="tx1"/>
                </a:solidFill>
                <a:effectLst/>
                <a:latin typeface="+mn-lt"/>
                <a:ea typeface="+mn-ea"/>
                <a:cs typeface="+mn-cs"/>
              </a:rPr>
              <a:t>イングランド、ウェールズ、スコットランドの</a:t>
            </a:r>
            <a:r>
              <a:rPr kumimoji="1" lang="en-US" altLang="ja-JP" sz="1200" b="0" i="0" kern="1200" dirty="0">
                <a:solidFill>
                  <a:schemeClr val="tx1"/>
                </a:solidFill>
                <a:effectLst/>
                <a:latin typeface="+mn-lt"/>
                <a:ea typeface="+mn-ea"/>
                <a:cs typeface="+mn-cs"/>
              </a:rPr>
              <a:t>22</a:t>
            </a:r>
            <a:r>
              <a:rPr kumimoji="1" lang="ja-JP" altLang="en-US" sz="1200" b="0" i="0" kern="1200">
                <a:solidFill>
                  <a:schemeClr val="tx1"/>
                </a:solidFill>
                <a:effectLst/>
                <a:latin typeface="+mn-lt"/>
                <a:ea typeface="+mn-ea"/>
                <a:cs typeface="+mn-cs"/>
              </a:rPr>
              <a:t>カ所の評価センターから半径</a:t>
            </a:r>
            <a:r>
              <a:rPr kumimoji="1" lang="en-US" altLang="ja-JP" sz="1200" b="0" i="0" kern="1200" dirty="0">
                <a:solidFill>
                  <a:schemeClr val="tx1"/>
                </a:solidFill>
                <a:effectLst/>
                <a:latin typeface="+mn-lt"/>
                <a:ea typeface="+mn-ea"/>
                <a:cs typeface="+mn-cs"/>
              </a:rPr>
              <a:t>25</a:t>
            </a:r>
            <a:r>
              <a:rPr kumimoji="1" lang="ja-JP" altLang="en-US" sz="1200" b="0" i="0" kern="1200">
                <a:solidFill>
                  <a:schemeClr val="tx1"/>
                </a:solidFill>
                <a:effectLst/>
                <a:latin typeface="+mn-lt"/>
                <a:ea typeface="+mn-ea"/>
                <a:cs typeface="+mn-cs"/>
              </a:rPr>
              <a:t>マイル</a:t>
            </a:r>
            <a:r>
              <a:rPr kumimoji="1" lang="en-US" altLang="ja-JP" sz="1200" b="0" i="0" kern="1200" dirty="0">
                <a:solidFill>
                  <a:schemeClr val="tx1"/>
                </a:solidFill>
                <a:effectLst/>
                <a:latin typeface="+mn-lt"/>
                <a:ea typeface="+mn-ea"/>
                <a:cs typeface="+mn-cs"/>
              </a:rPr>
              <a:t>(40</a:t>
            </a:r>
            <a:r>
              <a:rPr kumimoji="1" lang="en" altLang="ja-JP" sz="1200" b="0" i="0" kern="1200" dirty="0">
                <a:solidFill>
                  <a:schemeClr val="tx1"/>
                </a:solidFill>
                <a:effectLst/>
                <a:latin typeface="+mn-lt"/>
                <a:ea typeface="+mn-ea"/>
                <a:cs typeface="+mn-cs"/>
              </a:rPr>
              <a:t>km)</a:t>
            </a:r>
            <a:r>
              <a:rPr kumimoji="1" lang="ja-JP" altLang="en-US" sz="1200" b="0" i="0" kern="1200">
                <a:solidFill>
                  <a:schemeClr val="tx1"/>
                </a:solidFill>
                <a:effectLst/>
                <a:latin typeface="+mn-lt"/>
                <a:ea typeface="+mn-ea"/>
                <a:cs typeface="+mn-cs"/>
              </a:rPr>
              <a:t>以内に居住する</a:t>
            </a:r>
            <a:r>
              <a:rPr kumimoji="1" lang="en-US" altLang="ja-JP" sz="1200" b="0" i="0" kern="1200" dirty="0">
                <a:solidFill>
                  <a:schemeClr val="tx1"/>
                </a:solidFill>
                <a:effectLst/>
                <a:latin typeface="+mn-lt"/>
                <a:ea typeface="+mn-ea"/>
                <a:cs typeface="+mn-cs"/>
              </a:rPr>
              <a:t>40〜69</a:t>
            </a:r>
            <a:r>
              <a:rPr kumimoji="1" lang="ja-JP" altLang="en-US" sz="1200" b="0" i="0" kern="1200">
                <a:solidFill>
                  <a:schemeClr val="tx1"/>
                </a:solidFill>
                <a:effectLst/>
                <a:latin typeface="+mn-lt"/>
                <a:ea typeface="+mn-ea"/>
                <a:cs typeface="+mn-cs"/>
              </a:rPr>
              <a:t>歳の約</a:t>
            </a:r>
            <a:r>
              <a:rPr kumimoji="1" lang="en-US" altLang="ja-JP" sz="1200" b="0" i="0" kern="1200" dirty="0">
                <a:solidFill>
                  <a:schemeClr val="tx1"/>
                </a:solidFill>
                <a:effectLst/>
                <a:latin typeface="+mn-lt"/>
                <a:ea typeface="+mn-ea"/>
                <a:cs typeface="+mn-cs"/>
              </a:rPr>
              <a:t>920</a:t>
            </a:r>
            <a:r>
              <a:rPr kumimoji="1" lang="ja-JP" altLang="en-US" sz="1200" b="0" i="0" kern="1200">
                <a:solidFill>
                  <a:schemeClr val="tx1"/>
                </a:solidFill>
                <a:effectLst/>
                <a:latin typeface="+mn-lt"/>
                <a:ea typeface="+mn-ea"/>
                <a:cs typeface="+mn-cs"/>
              </a:rPr>
              <a:t>万人が招待され、実際に参加</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ベースライン評価に応じた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したのはそのうち</a:t>
            </a:r>
            <a:r>
              <a:rPr kumimoji="1" lang="en-US" altLang="ja-JP" sz="1200" b="0" i="0" kern="1200" dirty="0">
                <a:solidFill>
                  <a:schemeClr val="tx1"/>
                </a:solidFill>
                <a:effectLst/>
                <a:latin typeface="+mn-lt"/>
                <a:ea typeface="+mn-ea"/>
                <a:cs typeface="+mn-cs"/>
              </a:rPr>
              <a:t>5.5%</a:t>
            </a:r>
            <a:r>
              <a:rPr kumimoji="1" lang="ja-JP" altLang="en-US" sz="1200" b="0" i="0" kern="1200">
                <a:solidFill>
                  <a:schemeClr val="tx1"/>
                </a:solidFill>
                <a:effectLst/>
                <a:latin typeface="+mn-lt"/>
                <a:ea typeface="+mn-ea"/>
                <a:cs typeface="+mn-cs"/>
              </a:rPr>
              <a:t>だった。都市部・地方部を含む社会経済的・民族的にある程度多様な集団だが、あくまで自発的なボランティアである。 </a:t>
            </a:r>
            <a:r>
              <a:rPr kumimoji="1" lang="en-US" altLang="ja-JP" sz="1200" b="0" i="0" kern="1200" dirty="0">
                <a:solidFill>
                  <a:schemeClr val="tx1"/>
                </a:solidFill>
                <a:effectLst/>
                <a:latin typeface="+mn-lt"/>
                <a:ea typeface="+mn-ea"/>
                <a:cs typeface="+mn-cs"/>
              </a:rPr>
              <a:t>[1][3-4]</a:t>
            </a:r>
          </a:p>
          <a:p>
            <a:r>
              <a:rPr kumimoji="1" lang="ja-JP" altLang="en-US" sz="1200" b="1" i="0" kern="1200">
                <a:solidFill>
                  <a:schemeClr val="tx1"/>
                </a:solidFill>
                <a:effectLst/>
                <a:latin typeface="+mn-lt"/>
                <a:ea typeface="+mn-ea"/>
                <a:cs typeface="+mn-cs"/>
              </a:rPr>
              <a:t>参加者の特徴</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選択バイアス</a:t>
            </a:r>
            <a:r>
              <a:rPr kumimoji="1" lang="en-US" altLang="ja-JP" sz="1200" b="1" i="0" kern="1200" dirty="0">
                <a:solidFill>
                  <a:schemeClr val="tx1"/>
                </a:solidFill>
                <a:effectLst/>
                <a:latin typeface="+mn-lt"/>
                <a:ea typeface="+mn-ea"/>
                <a:cs typeface="+mn-cs"/>
              </a:rPr>
              <a:t>)</a:t>
            </a:r>
            <a:endParaRPr kumimoji="1" lang="ja-JP" altLang="en-US" sz="1200" b="0" i="0" kern="1200">
              <a:solidFill>
                <a:schemeClr val="tx1"/>
              </a:solidFill>
              <a:effectLst/>
              <a:latin typeface="+mn-lt"/>
              <a:ea typeface="+mn-ea"/>
              <a:cs typeface="+mn-cs"/>
            </a:endParaRPr>
          </a:p>
          <a:p>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参加者は非参加者と比較して、</a:t>
            </a:r>
            <a:r>
              <a:rPr kumimoji="1" lang="ja-JP" altLang="en-US" sz="1200" b="1" i="0" kern="1200">
                <a:solidFill>
                  <a:schemeClr val="tx1"/>
                </a:solidFill>
                <a:effectLst/>
                <a:latin typeface="+mn-lt"/>
                <a:ea typeface="+mn-ea"/>
                <a:cs typeface="+mn-cs"/>
              </a:rPr>
              <a:t>高齢</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女性</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社会経済的に恵まれた地域</a:t>
            </a:r>
            <a:r>
              <a:rPr kumimoji="1" lang="ja-JP" altLang="en-US" sz="1200" b="0" i="0" kern="1200">
                <a:solidFill>
                  <a:schemeClr val="tx1"/>
                </a:solidFill>
                <a:effectLst/>
                <a:latin typeface="+mn-lt"/>
                <a:ea typeface="+mn-ea"/>
                <a:cs typeface="+mn-cs"/>
              </a:rPr>
              <a:t>に居住していることが多い。一般集団と比べても肥満、喫煙、毎日の飲酒が少なく、自己申告の健康問題も少ない傾向があり、</a:t>
            </a:r>
            <a:r>
              <a:rPr kumimoji="1" lang="en-US" altLang="ja-JP" sz="1200" b="0" i="0" kern="1200" dirty="0">
                <a:solidFill>
                  <a:schemeClr val="tx1"/>
                </a:solidFill>
                <a:effectLst/>
                <a:latin typeface="+mn-lt"/>
                <a:ea typeface="+mn-ea"/>
                <a:cs typeface="+mn-cs"/>
              </a:rPr>
              <a:t>70〜74</a:t>
            </a:r>
            <a:r>
              <a:rPr kumimoji="1" lang="ja-JP" altLang="en-US" sz="1200" b="0" i="0" kern="1200">
                <a:solidFill>
                  <a:schemeClr val="tx1"/>
                </a:solidFill>
                <a:effectLst/>
                <a:latin typeface="+mn-lt"/>
                <a:ea typeface="+mn-ea"/>
                <a:cs typeface="+mn-cs"/>
              </a:rPr>
              <a:t>歳時点での全死因死亡率は男性で</a:t>
            </a:r>
            <a:r>
              <a:rPr kumimoji="1" lang="en-US" altLang="ja-JP" sz="1200" b="0" i="0" kern="1200" dirty="0">
                <a:solidFill>
                  <a:schemeClr val="tx1"/>
                </a:solidFill>
                <a:effectLst/>
                <a:latin typeface="+mn-lt"/>
                <a:ea typeface="+mn-ea"/>
                <a:cs typeface="+mn-cs"/>
              </a:rPr>
              <a:t>46.2%</a:t>
            </a:r>
            <a:r>
              <a:rPr kumimoji="1" lang="ja-JP" altLang="en-US" sz="1200" b="0" i="0" kern="1200">
                <a:solidFill>
                  <a:schemeClr val="tx1"/>
                </a:solidFill>
                <a:effectLst/>
                <a:latin typeface="+mn-lt"/>
                <a:ea typeface="+mn-ea"/>
                <a:cs typeface="+mn-cs"/>
              </a:rPr>
              <a:t>、女性で</a:t>
            </a:r>
            <a:r>
              <a:rPr kumimoji="1" lang="en-US" altLang="ja-JP" sz="1200" b="0" i="0" kern="1200" dirty="0">
                <a:solidFill>
                  <a:schemeClr val="tx1"/>
                </a:solidFill>
                <a:effectLst/>
                <a:latin typeface="+mn-lt"/>
                <a:ea typeface="+mn-ea"/>
                <a:cs typeface="+mn-cs"/>
              </a:rPr>
              <a:t>55.5%</a:t>
            </a:r>
            <a:r>
              <a:rPr kumimoji="1" lang="ja-JP" altLang="en-US" sz="1200" b="0" i="0" kern="1200">
                <a:solidFill>
                  <a:schemeClr val="tx1"/>
                </a:solidFill>
                <a:effectLst/>
                <a:latin typeface="+mn-lt"/>
                <a:ea typeface="+mn-ea"/>
                <a:cs typeface="+mn-cs"/>
              </a:rPr>
              <a:t>低く、総がん罹患率もそれぞれ</a:t>
            </a:r>
            <a:r>
              <a:rPr kumimoji="1" lang="en-US" altLang="ja-JP" sz="1200" b="0" i="0" kern="1200" dirty="0">
                <a:solidFill>
                  <a:schemeClr val="tx1"/>
                </a:solidFill>
                <a:effectLst/>
                <a:latin typeface="+mn-lt"/>
                <a:ea typeface="+mn-ea"/>
                <a:cs typeface="+mn-cs"/>
              </a:rPr>
              <a:t>11.8%</a:t>
            </a:r>
            <a:r>
              <a:rPr kumimoji="1" lang="ja-JP" altLang="en-US" sz="1200" b="0" i="0" kern="1200">
                <a:solidFill>
                  <a:schemeClr val="tx1"/>
                </a:solidFill>
                <a:effectLst/>
                <a:latin typeface="+mn-lt"/>
                <a:ea typeface="+mn-ea"/>
                <a:cs typeface="+mn-cs"/>
              </a:rPr>
              <a:t>、</a:t>
            </a:r>
            <a:r>
              <a:rPr kumimoji="1" lang="en-US" altLang="ja-JP" sz="1200" b="0" i="0" kern="1200" dirty="0">
                <a:solidFill>
                  <a:schemeClr val="tx1"/>
                </a:solidFill>
                <a:effectLst/>
                <a:latin typeface="+mn-lt"/>
                <a:ea typeface="+mn-ea"/>
                <a:cs typeface="+mn-cs"/>
              </a:rPr>
              <a:t>18.1%</a:t>
            </a:r>
            <a:r>
              <a:rPr kumimoji="1" lang="ja-JP" altLang="en-US" sz="1200" b="0" i="0" kern="1200">
                <a:solidFill>
                  <a:schemeClr val="tx1"/>
                </a:solidFill>
                <a:effectLst/>
                <a:latin typeface="+mn-lt"/>
                <a:ea typeface="+mn-ea"/>
                <a:cs typeface="+mn-cs"/>
              </a:rPr>
              <a:t>低いことが報告されている。これは「健康ボランティアバイアス</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healthy volunteer selection bias)</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と呼ばれ、</a:t>
            </a:r>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は英国の一般集団を代表するものではない点に注意が必要である</a:t>
            </a:r>
          </a:p>
          <a:p>
            <a:endParaRPr dirty="0"/>
          </a:p>
          <a:p>
            <a:endParaRPr dirty="0"/>
          </a:p>
          <a:p>
            <a:r>
              <a:rPr dirty="0"/>
              <a:t>・英国の大規模バイオバンク型前向きコホート。2006〜2010年に、40〜69歳の約50万人を</a:t>
            </a:r>
          </a:p>
          <a:p>
            <a:r>
              <a:rPr dirty="0"/>
              <a:t>　イングランド・スコットランド・ウェールズの22の評価センターで登録した。</a:t>
            </a:r>
          </a:p>
          <a:p>
            <a:r>
              <a:rPr dirty="0"/>
              <a:t>・</a:t>
            </a:r>
            <a:r>
              <a:rPr dirty="0" err="1"/>
              <a:t>登録時に質問票・身体計測・採血（血液・尿・唾液）を行い、以後は国民保健サービス（NHS）の</a:t>
            </a:r>
            <a:endParaRPr dirty="0"/>
          </a:p>
          <a:p>
            <a:r>
              <a:rPr dirty="0"/>
              <a:t>　</a:t>
            </a:r>
            <a:r>
              <a:rPr dirty="0" err="1"/>
              <a:t>医療記録とのリンクによって疾患発症・死亡を追跡する設計。ゲノム解析データも整備されている</a:t>
            </a:r>
            <a:r>
              <a:rPr dirty="0"/>
              <a:t>。</a:t>
            </a:r>
          </a:p>
          <a:p>
            <a:r>
              <a:rPr dirty="0"/>
              <a:t>・</a:t>
            </a:r>
            <a:r>
              <a:rPr dirty="0" err="1"/>
              <a:t>ベースライン評価の中に指尖光電容積脈波（PPG）による動脈スティフネス測定が含まれており</a:t>
            </a:r>
            <a:r>
              <a:rPr dirty="0"/>
              <a:t>、</a:t>
            </a:r>
          </a:p>
          <a:p>
            <a:r>
              <a:rPr dirty="0"/>
              <a:t>　</a:t>
            </a:r>
            <a:r>
              <a:rPr dirty="0" err="1"/>
              <a:t>これが本デックで扱う波形データの出どころ</a:t>
            </a:r>
            <a:r>
              <a:rPr dirty="0"/>
              <a:t>。</a:t>
            </a:r>
          </a:p>
          <a:p>
            <a:endParaRPr dirty="0"/>
          </a:p>
          <a:p>
            <a:r>
              <a:rPr dirty="0" err="1"/>
              <a:t>本デックでの位置づけ</a:t>
            </a:r>
            <a:r>
              <a:rPr dirty="0"/>
              <a:t> — Cunningham JW, et al. Circ </a:t>
            </a:r>
            <a:r>
              <a:rPr dirty="0" err="1"/>
              <a:t>Genom</a:t>
            </a:r>
            <a:r>
              <a:rPr dirty="0"/>
              <a:t> Precis Med 2023;16:e003676</a:t>
            </a:r>
          </a:p>
          <a:p>
            <a:r>
              <a:rPr dirty="0"/>
              <a:t>・</a:t>
            </a:r>
            <a:r>
              <a:rPr dirty="0" err="1"/>
              <a:t>対象：指尖PPGデータを持つ</a:t>
            </a:r>
            <a:r>
              <a:rPr dirty="0"/>
              <a:t> UK Biobank </a:t>
            </a:r>
            <a:r>
              <a:rPr dirty="0" err="1"/>
              <a:t>参加者</a:t>
            </a:r>
            <a:r>
              <a:rPr dirty="0"/>
              <a:t> 169,787名。</a:t>
            </a:r>
          </a:p>
          <a:p>
            <a:r>
              <a:rPr dirty="0"/>
              <a:t>・</a:t>
            </a:r>
            <a:r>
              <a:rPr dirty="0" err="1"/>
              <a:t>従来は「重複切痕が消えているか／いないか」の二値でしか扱えなかったものを、機械学習で</a:t>
            </a:r>
            <a:endParaRPr dirty="0"/>
          </a:p>
          <a:p>
            <a:r>
              <a:rPr dirty="0"/>
              <a:t>　「</a:t>
            </a:r>
            <a:r>
              <a:rPr dirty="0" err="1"/>
              <a:t>切痕の平滑さ（notch</a:t>
            </a:r>
            <a:r>
              <a:rPr dirty="0"/>
              <a:t> smoothness）」</a:t>
            </a:r>
            <a:r>
              <a:rPr dirty="0" err="1"/>
              <a:t>という連続形質に置き換えた</a:t>
            </a:r>
            <a:r>
              <a:rPr dirty="0"/>
              <a:t>。</a:t>
            </a:r>
          </a:p>
          <a:p>
            <a:r>
              <a:rPr dirty="0"/>
              <a:t>・</a:t>
            </a:r>
            <a:r>
              <a:rPr dirty="0" err="1"/>
              <a:t>遺伝率は連続形質</a:t>
            </a:r>
            <a:r>
              <a:rPr dirty="0"/>
              <a:t> 7.5% ＞ </a:t>
            </a:r>
            <a:r>
              <a:rPr dirty="0" err="1"/>
              <a:t>二値形質</a:t>
            </a:r>
            <a:r>
              <a:rPr dirty="0"/>
              <a:t> 5.6%。GWAS で有意15座位（二値では6座位）を同定し、</a:t>
            </a:r>
          </a:p>
          <a:p>
            <a:r>
              <a:rPr dirty="0"/>
              <a:t>　NT5C2（P=1.2×10⁻²⁶）、IGFBP3（P=4.8×10⁻¹⁸）、PHACTR1（P=1.4×10⁻¹³）などが示唆された。</a:t>
            </a:r>
          </a:p>
          <a:p>
            <a:r>
              <a:rPr dirty="0"/>
              <a:t>・</a:t>
            </a:r>
            <a:r>
              <a:rPr dirty="0" err="1"/>
              <a:t>切痕の平滑さは、心筋梗塞／冠動脈疾患・脳卒中・心不全・大動脈弁狭窄症の新規発症リスクを</a:t>
            </a:r>
            <a:endParaRPr dirty="0"/>
          </a:p>
          <a:p>
            <a:r>
              <a:rPr dirty="0"/>
              <a:t>　</a:t>
            </a:r>
            <a:r>
              <a:rPr dirty="0" err="1"/>
              <a:t>層別化した。多遺伝子リスクスコアは</a:t>
            </a:r>
            <a:r>
              <a:rPr dirty="0"/>
              <a:t> PPG </a:t>
            </a:r>
            <a:r>
              <a:rPr dirty="0" err="1"/>
              <a:t>を持たない参加者でも心血管疾患発症と全死亡に関連</a:t>
            </a:r>
            <a:r>
              <a:rPr dirty="0"/>
              <a:t>。</a:t>
            </a:r>
          </a:p>
          <a:p>
            <a:r>
              <a:rPr dirty="0"/>
              <a:t>・</a:t>
            </a:r>
            <a:r>
              <a:rPr dirty="0" err="1"/>
              <a:t>結論：切痕の平滑さは遺伝率をもつ形質で、血管スティフネス関連遺伝子と結びつき</a:t>
            </a:r>
            <a:r>
              <a:rPr dirty="0"/>
              <a:t>、</a:t>
            </a:r>
          </a:p>
          <a:p>
            <a:r>
              <a:rPr dirty="0"/>
              <a:t>　</a:t>
            </a:r>
            <a:r>
              <a:rPr dirty="0" err="1"/>
              <a:t>平滑なほど心血管疾患の発症リスクが高い</a:t>
            </a:r>
            <a:r>
              <a:rPr dirty="0"/>
              <a:t>。</a:t>
            </a:r>
          </a:p>
          <a:p>
            <a:endParaRPr dirty="0"/>
          </a:p>
          <a:p>
            <a:r>
              <a:rPr dirty="0" err="1"/>
              <a:t>口頭で足す但し書き</a:t>
            </a:r>
            <a:endParaRPr dirty="0"/>
          </a:p>
          <a:p>
            <a:r>
              <a:rPr dirty="0"/>
              <a:t>・「目視4分類（Dawber）」→「</a:t>
            </a:r>
            <a:r>
              <a:rPr dirty="0" err="1"/>
              <a:t>機械学習による連続量（Cunningham</a:t>
            </a:r>
            <a:r>
              <a:rPr dirty="0"/>
              <a:t>）」</a:t>
            </a:r>
            <a:r>
              <a:rPr dirty="0" err="1"/>
              <a:t>という進み方であり</a:t>
            </a:r>
            <a:r>
              <a:rPr dirty="0"/>
              <a:t>、</a:t>
            </a:r>
          </a:p>
          <a:p>
            <a:r>
              <a:rPr dirty="0"/>
              <a:t>　</a:t>
            </a:r>
            <a:r>
              <a:rPr dirty="0" err="1"/>
              <a:t>連続量化したほうが遺伝率も予後層別化も良くなった、という点が要点</a:t>
            </a:r>
            <a:r>
              <a:rPr dirty="0"/>
              <a:t>。</a:t>
            </a:r>
          </a:p>
          <a:p>
            <a:endParaRPr lang="en-US" dirty="0"/>
          </a:p>
          <a:p>
            <a:r>
              <a:rPr kumimoji="1" lang="ja-JP" altLang="ja-JP" sz="1200" b="0" i="0" kern="1200">
                <a:solidFill>
                  <a:schemeClr val="tx1"/>
                </a:solidFill>
                <a:effectLst/>
                <a:latin typeface="+mn-lt"/>
                <a:ea typeface="+mn-ea"/>
                <a:cs typeface="+mn-cs"/>
              </a:rPr>
              <a:t>バイオバンク型の本質は「凍結保存」と「仮説を先に決めない」ことです。DNA・血清・尿を保存しておけば、10年後に新しい仮説が出たとき、その時点の最新技術で測り直せる。しかも全員を測る必要はなく、発症した人＋対照だけ解凍して測る（コホート内症例対照研究）とコストが激減します。ゲノム解析が前提なので GWAS や多遺伝子リスクスコアが回せる ── Cunningham 2023 が切痕の平滑さで15座位を同定できたのは、この設計だからです。</a:t>
            </a:r>
            <a:endParaRPr dirty="0"/>
          </a:p>
        </p:txBody>
      </p:sp>
      <p:sp>
        <p:nvSpPr>
          <p:cNvPr id="4" name="スライド番号プレースホルダー 3">
            <a:extLst>
              <a:ext uri="{FF2B5EF4-FFF2-40B4-BE49-F238E27FC236}">
                <a16:creationId xmlns:a16="http://schemas.microsoft.com/office/drawing/2014/main" id="{8F29C62D-A119-2EA2-3371-9E500074317A}"/>
              </a:ext>
            </a:extLst>
          </p:cNvPr>
          <p:cNvSpPr>
            <a:spLocks noGrp="1"/>
          </p:cNvSpPr>
          <p:nvPr>
            <p:ph type="sldNum" sz="quarter" idx="5"/>
          </p:nvPr>
        </p:nvSpPr>
        <p:spPr/>
        <p:txBody>
          <a:bodyPr/>
          <a:lstStyle/>
          <a:p>
            <a:fld id="{4368CECF-0771-D84F-8D42-085DB944B0B8}" type="slidenum">
              <a:rPr kumimoji="1" lang="ja-JP" altLang="en-US" smtClean="0"/>
              <a:t>29</a:t>
            </a:fld>
            <a:endParaRPr kumimoji="1" lang="ja-JP" altLang="en-US"/>
          </a:p>
        </p:txBody>
      </p:sp>
    </p:spTree>
    <p:extLst>
      <p:ext uri="{BB962C8B-B14F-4D97-AF65-F5344CB8AC3E}">
        <p14:creationId xmlns:p14="http://schemas.microsoft.com/office/powerpoint/2010/main" val="4798235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DB55C-629D-89EC-D883-6C935AB562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A19F23C-C293-130F-51C8-531067D915F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4EFA6ED-F9D5-3C4A-2539-35007E3DC57F}"/>
              </a:ext>
            </a:extLst>
          </p:cNvPr>
          <p:cNvSpPr>
            <a:spLocks noGrp="1"/>
          </p:cNvSpPr>
          <p:nvPr>
            <p:ph type="body" idx="1"/>
          </p:nvPr>
        </p:nvSpPr>
        <p:spPr/>
        <p:txBody>
          <a:bodyPr/>
          <a:lstStyle/>
          <a:p>
            <a:r>
              <a:rPr dirty="0"/>
              <a:t>UK Biobank </a:t>
            </a:r>
            <a:r>
              <a:rPr dirty="0" err="1"/>
              <a:t>と</a:t>
            </a:r>
            <a:r>
              <a:rPr lang="ja-JP" altLang="en-US"/>
              <a:t>いうコホートからの研究。</a:t>
            </a:r>
            <a:endParaRPr lang="en-US" altLang="ja-JP" dirty="0"/>
          </a:p>
          <a:p>
            <a:r>
              <a:rPr lang="ja-JP" altLang="en-US"/>
              <a:t>英国のバイオバンク型コホートで、</a:t>
            </a:r>
            <a:r>
              <a:rPr lang="en-US" altLang="ja-JP" dirty="0"/>
              <a:t>2006</a:t>
            </a:r>
            <a:r>
              <a:rPr lang="ja-JP" altLang="en-US"/>
              <a:t>年−</a:t>
            </a:r>
            <a:r>
              <a:rPr lang="en-US" altLang="ja-JP" dirty="0"/>
              <a:t>2010</a:t>
            </a:r>
            <a:r>
              <a:rPr lang="ja-JP" altLang="en-US"/>
              <a:t>年の登録期間で</a:t>
            </a:r>
            <a:r>
              <a:rPr lang="en-US" altLang="ja-JP" dirty="0"/>
              <a:t>50</a:t>
            </a:r>
            <a:r>
              <a:rPr lang="ja-JP" altLang="en-US"/>
              <a:t>万人が登録されてます。</a:t>
            </a:r>
            <a:endParaRPr lang="en-US" altLang="ja-JP" dirty="0"/>
          </a:p>
          <a:p>
            <a:r>
              <a:rPr lang="ja-JP" altLang="en-US"/>
              <a:t>評価施設４０キロ圏内の</a:t>
            </a:r>
            <a:r>
              <a:rPr lang="en-US" altLang="ja-JP" dirty="0"/>
              <a:t>920</a:t>
            </a:r>
            <a:r>
              <a:rPr lang="ja-JP" altLang="en-US"/>
              <a:t>万人を招待し、５％程度が応じています。</a:t>
            </a:r>
            <a:endParaRPr lang="en-US" altLang="ja-JP" dirty="0"/>
          </a:p>
          <a:p>
            <a:r>
              <a:rPr lang="ja-JP" altLang="en-US"/>
              <a:t>対象は４０−</a:t>
            </a:r>
            <a:r>
              <a:rPr lang="en-US" altLang="ja-JP" dirty="0"/>
              <a:t>69</a:t>
            </a:r>
            <a:r>
              <a:rPr lang="ja-JP" altLang="en-US"/>
              <a:t>歳で、非対称者と比較し高齢、女性、社会的に恵まれた地域に住んでいることが多い。また自己申告の疾患も少ない。</a:t>
            </a:r>
            <a:endParaRPr lang="en-US" altLang="ja-JP" dirty="0"/>
          </a:p>
          <a:p>
            <a:r>
              <a:rPr lang="ja-JP" altLang="en-US"/>
              <a:t>４０−</a:t>
            </a:r>
            <a:r>
              <a:rPr lang="en-US" altLang="ja-JP" dirty="0"/>
              <a:t>69</a:t>
            </a:r>
            <a:r>
              <a:rPr lang="ja-JP" altLang="en-US"/>
              <a:t>歳までで、今回は</a:t>
            </a:r>
            <a:r>
              <a:rPr lang="en-US" altLang="ja-JP" dirty="0"/>
              <a:t>PPG</a:t>
            </a:r>
            <a:r>
              <a:rPr lang="ja-JP" altLang="en-US"/>
              <a:t>がある</a:t>
            </a:r>
            <a:r>
              <a:rPr lang="en-US" altLang="ja-JP" dirty="0"/>
              <a:t>17</a:t>
            </a:r>
            <a:r>
              <a:rPr lang="ja-JP" altLang="en-US"/>
              <a:t>万人を対象にしている。</a:t>
            </a:r>
            <a:endParaRPr lang="en-US" altLang="ja-JP" dirty="0"/>
          </a:p>
          <a:p>
            <a:r>
              <a:rPr lang="ja-JP" altLang="en-US"/>
              <a:t>バイオバンク型というのは、登録時にさまざまなデータを集めておいて、あとはイベントがあった時に、受診時のデータを追加するというタイプ。何年ごとに集める、ではない。手軽。</a:t>
            </a:r>
            <a:endParaRPr lang="en-US" altLang="ja-JP" dirty="0"/>
          </a:p>
          <a:p>
            <a:endParaRPr lang="en-US" dirty="0"/>
          </a:p>
          <a:p>
            <a:r>
              <a:rPr kumimoji="1" lang="ja-JP" altLang="en-US" sz="1200" b="0" i="0" kern="1200">
                <a:solidFill>
                  <a:schemeClr val="tx1"/>
                </a:solidFill>
                <a:effectLst/>
                <a:latin typeface="+mn-lt"/>
                <a:ea typeface="+mn-ea"/>
                <a:cs typeface="+mn-cs"/>
              </a:rPr>
              <a:t>イングランド、ウェールズ、スコットランドの</a:t>
            </a:r>
            <a:r>
              <a:rPr kumimoji="1" lang="en-US" altLang="ja-JP" sz="1200" b="0" i="0" kern="1200" dirty="0">
                <a:solidFill>
                  <a:schemeClr val="tx1"/>
                </a:solidFill>
                <a:effectLst/>
                <a:latin typeface="+mn-lt"/>
                <a:ea typeface="+mn-ea"/>
                <a:cs typeface="+mn-cs"/>
              </a:rPr>
              <a:t>22</a:t>
            </a:r>
            <a:r>
              <a:rPr kumimoji="1" lang="ja-JP" altLang="en-US" sz="1200" b="0" i="0" kern="1200">
                <a:solidFill>
                  <a:schemeClr val="tx1"/>
                </a:solidFill>
                <a:effectLst/>
                <a:latin typeface="+mn-lt"/>
                <a:ea typeface="+mn-ea"/>
                <a:cs typeface="+mn-cs"/>
              </a:rPr>
              <a:t>カ所の評価センターから半径</a:t>
            </a:r>
            <a:r>
              <a:rPr kumimoji="1" lang="en-US" altLang="ja-JP" sz="1200" b="0" i="0" kern="1200" dirty="0">
                <a:solidFill>
                  <a:schemeClr val="tx1"/>
                </a:solidFill>
                <a:effectLst/>
                <a:latin typeface="+mn-lt"/>
                <a:ea typeface="+mn-ea"/>
                <a:cs typeface="+mn-cs"/>
              </a:rPr>
              <a:t>25</a:t>
            </a:r>
            <a:r>
              <a:rPr kumimoji="1" lang="ja-JP" altLang="en-US" sz="1200" b="0" i="0" kern="1200">
                <a:solidFill>
                  <a:schemeClr val="tx1"/>
                </a:solidFill>
                <a:effectLst/>
                <a:latin typeface="+mn-lt"/>
                <a:ea typeface="+mn-ea"/>
                <a:cs typeface="+mn-cs"/>
              </a:rPr>
              <a:t>マイル</a:t>
            </a:r>
            <a:r>
              <a:rPr kumimoji="1" lang="en-US" altLang="ja-JP" sz="1200" b="0" i="0" kern="1200" dirty="0">
                <a:solidFill>
                  <a:schemeClr val="tx1"/>
                </a:solidFill>
                <a:effectLst/>
                <a:latin typeface="+mn-lt"/>
                <a:ea typeface="+mn-ea"/>
                <a:cs typeface="+mn-cs"/>
              </a:rPr>
              <a:t>(40</a:t>
            </a:r>
            <a:r>
              <a:rPr kumimoji="1" lang="en" altLang="ja-JP" sz="1200" b="0" i="0" kern="1200" dirty="0">
                <a:solidFill>
                  <a:schemeClr val="tx1"/>
                </a:solidFill>
                <a:effectLst/>
                <a:latin typeface="+mn-lt"/>
                <a:ea typeface="+mn-ea"/>
                <a:cs typeface="+mn-cs"/>
              </a:rPr>
              <a:t>km)</a:t>
            </a:r>
            <a:r>
              <a:rPr kumimoji="1" lang="ja-JP" altLang="en-US" sz="1200" b="0" i="0" kern="1200">
                <a:solidFill>
                  <a:schemeClr val="tx1"/>
                </a:solidFill>
                <a:effectLst/>
                <a:latin typeface="+mn-lt"/>
                <a:ea typeface="+mn-ea"/>
                <a:cs typeface="+mn-cs"/>
              </a:rPr>
              <a:t>以内に居住する</a:t>
            </a:r>
            <a:r>
              <a:rPr kumimoji="1" lang="en-US" altLang="ja-JP" sz="1200" b="0" i="0" kern="1200" dirty="0">
                <a:solidFill>
                  <a:schemeClr val="tx1"/>
                </a:solidFill>
                <a:effectLst/>
                <a:latin typeface="+mn-lt"/>
                <a:ea typeface="+mn-ea"/>
                <a:cs typeface="+mn-cs"/>
              </a:rPr>
              <a:t>40〜69</a:t>
            </a:r>
            <a:r>
              <a:rPr kumimoji="1" lang="ja-JP" altLang="en-US" sz="1200" b="0" i="0" kern="1200">
                <a:solidFill>
                  <a:schemeClr val="tx1"/>
                </a:solidFill>
                <a:effectLst/>
                <a:latin typeface="+mn-lt"/>
                <a:ea typeface="+mn-ea"/>
                <a:cs typeface="+mn-cs"/>
              </a:rPr>
              <a:t>歳の約</a:t>
            </a:r>
            <a:r>
              <a:rPr kumimoji="1" lang="en-US" altLang="ja-JP" sz="1200" b="0" i="0" kern="1200" dirty="0">
                <a:solidFill>
                  <a:schemeClr val="tx1"/>
                </a:solidFill>
                <a:effectLst/>
                <a:latin typeface="+mn-lt"/>
                <a:ea typeface="+mn-ea"/>
                <a:cs typeface="+mn-cs"/>
              </a:rPr>
              <a:t>920</a:t>
            </a:r>
            <a:r>
              <a:rPr kumimoji="1" lang="ja-JP" altLang="en-US" sz="1200" b="0" i="0" kern="1200">
                <a:solidFill>
                  <a:schemeClr val="tx1"/>
                </a:solidFill>
                <a:effectLst/>
                <a:latin typeface="+mn-lt"/>
                <a:ea typeface="+mn-ea"/>
                <a:cs typeface="+mn-cs"/>
              </a:rPr>
              <a:t>万人が招待され、実際に参加</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ベースライン評価に応じた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したのはそのうち</a:t>
            </a:r>
            <a:r>
              <a:rPr kumimoji="1" lang="en-US" altLang="ja-JP" sz="1200" b="0" i="0" kern="1200" dirty="0">
                <a:solidFill>
                  <a:schemeClr val="tx1"/>
                </a:solidFill>
                <a:effectLst/>
                <a:latin typeface="+mn-lt"/>
                <a:ea typeface="+mn-ea"/>
                <a:cs typeface="+mn-cs"/>
              </a:rPr>
              <a:t>5.5%</a:t>
            </a:r>
            <a:r>
              <a:rPr kumimoji="1" lang="ja-JP" altLang="en-US" sz="1200" b="0" i="0" kern="1200">
                <a:solidFill>
                  <a:schemeClr val="tx1"/>
                </a:solidFill>
                <a:effectLst/>
                <a:latin typeface="+mn-lt"/>
                <a:ea typeface="+mn-ea"/>
                <a:cs typeface="+mn-cs"/>
              </a:rPr>
              <a:t>だった。都市部・地方部を含む社会経済的・民族的にある程度多様な集団だが、あくまで自発的なボランティアである。 </a:t>
            </a:r>
            <a:r>
              <a:rPr kumimoji="1" lang="en-US" altLang="ja-JP" sz="1200" b="0" i="0" kern="1200" dirty="0">
                <a:solidFill>
                  <a:schemeClr val="tx1"/>
                </a:solidFill>
                <a:effectLst/>
                <a:latin typeface="+mn-lt"/>
                <a:ea typeface="+mn-ea"/>
                <a:cs typeface="+mn-cs"/>
              </a:rPr>
              <a:t>[1][3-4]</a:t>
            </a:r>
          </a:p>
          <a:p>
            <a:r>
              <a:rPr kumimoji="1" lang="ja-JP" altLang="en-US" sz="1200" b="1" i="0" kern="1200">
                <a:solidFill>
                  <a:schemeClr val="tx1"/>
                </a:solidFill>
                <a:effectLst/>
                <a:latin typeface="+mn-lt"/>
                <a:ea typeface="+mn-ea"/>
                <a:cs typeface="+mn-cs"/>
              </a:rPr>
              <a:t>参加者の特徴</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選択バイアス</a:t>
            </a:r>
            <a:r>
              <a:rPr kumimoji="1" lang="en-US" altLang="ja-JP" sz="1200" b="1" i="0" kern="1200" dirty="0">
                <a:solidFill>
                  <a:schemeClr val="tx1"/>
                </a:solidFill>
                <a:effectLst/>
                <a:latin typeface="+mn-lt"/>
                <a:ea typeface="+mn-ea"/>
                <a:cs typeface="+mn-cs"/>
              </a:rPr>
              <a:t>)</a:t>
            </a:r>
            <a:endParaRPr kumimoji="1" lang="ja-JP" altLang="en-US" sz="1200" b="0" i="0" kern="1200">
              <a:solidFill>
                <a:schemeClr val="tx1"/>
              </a:solidFill>
              <a:effectLst/>
              <a:latin typeface="+mn-lt"/>
              <a:ea typeface="+mn-ea"/>
              <a:cs typeface="+mn-cs"/>
            </a:endParaRPr>
          </a:p>
          <a:p>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参加者は非参加者と比較して、</a:t>
            </a:r>
            <a:r>
              <a:rPr kumimoji="1" lang="ja-JP" altLang="en-US" sz="1200" b="1" i="0" kern="1200">
                <a:solidFill>
                  <a:schemeClr val="tx1"/>
                </a:solidFill>
                <a:effectLst/>
                <a:latin typeface="+mn-lt"/>
                <a:ea typeface="+mn-ea"/>
                <a:cs typeface="+mn-cs"/>
              </a:rPr>
              <a:t>高齢</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女性</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社会経済的に恵まれた地域</a:t>
            </a:r>
            <a:r>
              <a:rPr kumimoji="1" lang="ja-JP" altLang="en-US" sz="1200" b="0" i="0" kern="1200">
                <a:solidFill>
                  <a:schemeClr val="tx1"/>
                </a:solidFill>
                <a:effectLst/>
                <a:latin typeface="+mn-lt"/>
                <a:ea typeface="+mn-ea"/>
                <a:cs typeface="+mn-cs"/>
              </a:rPr>
              <a:t>に居住していることが多い。一般集団と比べても肥満、喫煙、毎日の飲酒が少なく、自己申告の健康問題も少ない傾向があり、</a:t>
            </a:r>
            <a:r>
              <a:rPr kumimoji="1" lang="en-US" altLang="ja-JP" sz="1200" b="0" i="0" kern="1200" dirty="0">
                <a:solidFill>
                  <a:schemeClr val="tx1"/>
                </a:solidFill>
                <a:effectLst/>
                <a:latin typeface="+mn-lt"/>
                <a:ea typeface="+mn-ea"/>
                <a:cs typeface="+mn-cs"/>
              </a:rPr>
              <a:t>70〜74</a:t>
            </a:r>
            <a:r>
              <a:rPr kumimoji="1" lang="ja-JP" altLang="en-US" sz="1200" b="0" i="0" kern="1200">
                <a:solidFill>
                  <a:schemeClr val="tx1"/>
                </a:solidFill>
                <a:effectLst/>
                <a:latin typeface="+mn-lt"/>
                <a:ea typeface="+mn-ea"/>
                <a:cs typeface="+mn-cs"/>
              </a:rPr>
              <a:t>歳時点での全死因死亡率は男性で</a:t>
            </a:r>
            <a:r>
              <a:rPr kumimoji="1" lang="en-US" altLang="ja-JP" sz="1200" b="0" i="0" kern="1200" dirty="0">
                <a:solidFill>
                  <a:schemeClr val="tx1"/>
                </a:solidFill>
                <a:effectLst/>
                <a:latin typeface="+mn-lt"/>
                <a:ea typeface="+mn-ea"/>
                <a:cs typeface="+mn-cs"/>
              </a:rPr>
              <a:t>46.2%</a:t>
            </a:r>
            <a:r>
              <a:rPr kumimoji="1" lang="ja-JP" altLang="en-US" sz="1200" b="0" i="0" kern="1200">
                <a:solidFill>
                  <a:schemeClr val="tx1"/>
                </a:solidFill>
                <a:effectLst/>
                <a:latin typeface="+mn-lt"/>
                <a:ea typeface="+mn-ea"/>
                <a:cs typeface="+mn-cs"/>
              </a:rPr>
              <a:t>、女性で</a:t>
            </a:r>
            <a:r>
              <a:rPr kumimoji="1" lang="en-US" altLang="ja-JP" sz="1200" b="0" i="0" kern="1200" dirty="0">
                <a:solidFill>
                  <a:schemeClr val="tx1"/>
                </a:solidFill>
                <a:effectLst/>
                <a:latin typeface="+mn-lt"/>
                <a:ea typeface="+mn-ea"/>
                <a:cs typeface="+mn-cs"/>
              </a:rPr>
              <a:t>55.5%</a:t>
            </a:r>
            <a:r>
              <a:rPr kumimoji="1" lang="ja-JP" altLang="en-US" sz="1200" b="0" i="0" kern="1200">
                <a:solidFill>
                  <a:schemeClr val="tx1"/>
                </a:solidFill>
                <a:effectLst/>
                <a:latin typeface="+mn-lt"/>
                <a:ea typeface="+mn-ea"/>
                <a:cs typeface="+mn-cs"/>
              </a:rPr>
              <a:t>低く、総がん罹患率もそれぞれ</a:t>
            </a:r>
            <a:r>
              <a:rPr kumimoji="1" lang="en-US" altLang="ja-JP" sz="1200" b="0" i="0" kern="1200" dirty="0">
                <a:solidFill>
                  <a:schemeClr val="tx1"/>
                </a:solidFill>
                <a:effectLst/>
                <a:latin typeface="+mn-lt"/>
                <a:ea typeface="+mn-ea"/>
                <a:cs typeface="+mn-cs"/>
              </a:rPr>
              <a:t>11.8%</a:t>
            </a:r>
            <a:r>
              <a:rPr kumimoji="1" lang="ja-JP" altLang="en-US" sz="1200" b="0" i="0" kern="1200">
                <a:solidFill>
                  <a:schemeClr val="tx1"/>
                </a:solidFill>
                <a:effectLst/>
                <a:latin typeface="+mn-lt"/>
                <a:ea typeface="+mn-ea"/>
                <a:cs typeface="+mn-cs"/>
              </a:rPr>
              <a:t>、</a:t>
            </a:r>
            <a:r>
              <a:rPr kumimoji="1" lang="en-US" altLang="ja-JP" sz="1200" b="0" i="0" kern="1200" dirty="0">
                <a:solidFill>
                  <a:schemeClr val="tx1"/>
                </a:solidFill>
                <a:effectLst/>
                <a:latin typeface="+mn-lt"/>
                <a:ea typeface="+mn-ea"/>
                <a:cs typeface="+mn-cs"/>
              </a:rPr>
              <a:t>18.1%</a:t>
            </a:r>
            <a:r>
              <a:rPr kumimoji="1" lang="ja-JP" altLang="en-US" sz="1200" b="0" i="0" kern="1200">
                <a:solidFill>
                  <a:schemeClr val="tx1"/>
                </a:solidFill>
                <a:effectLst/>
                <a:latin typeface="+mn-lt"/>
                <a:ea typeface="+mn-ea"/>
                <a:cs typeface="+mn-cs"/>
              </a:rPr>
              <a:t>低いことが報告されている。これは「健康ボランティアバイアス</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healthy volunteer selection bias)</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と呼ばれ、</a:t>
            </a:r>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は英国の一般集団を代表するものではない点に注意が必要である</a:t>
            </a:r>
          </a:p>
          <a:p>
            <a:endParaRPr dirty="0"/>
          </a:p>
          <a:p>
            <a:endParaRPr dirty="0"/>
          </a:p>
          <a:p>
            <a:r>
              <a:rPr dirty="0"/>
              <a:t>・英国の大規模バイオバンク型前向きコホート。2006〜2010年に、40〜69歳の約50万人を</a:t>
            </a:r>
          </a:p>
          <a:p>
            <a:r>
              <a:rPr dirty="0"/>
              <a:t>　イングランド・スコットランド・ウェールズの22の評価センターで登録した。</a:t>
            </a:r>
          </a:p>
          <a:p>
            <a:r>
              <a:rPr dirty="0"/>
              <a:t>・</a:t>
            </a:r>
            <a:r>
              <a:rPr dirty="0" err="1"/>
              <a:t>登録時に質問票・身体計測・採血（血液・尿・唾液）を行い、以後は国民保健サービス（NHS）の</a:t>
            </a:r>
            <a:endParaRPr dirty="0"/>
          </a:p>
          <a:p>
            <a:r>
              <a:rPr dirty="0"/>
              <a:t>　</a:t>
            </a:r>
            <a:r>
              <a:rPr dirty="0" err="1"/>
              <a:t>医療記録とのリンクによって疾患発症・死亡を追跡する設計。ゲノム解析データも整備されている</a:t>
            </a:r>
            <a:r>
              <a:rPr dirty="0"/>
              <a:t>。</a:t>
            </a:r>
          </a:p>
          <a:p>
            <a:r>
              <a:rPr dirty="0"/>
              <a:t>・</a:t>
            </a:r>
            <a:r>
              <a:rPr dirty="0" err="1"/>
              <a:t>ベースライン評価の中に指尖光電容積脈波（PPG）による動脈スティフネス測定が含まれており</a:t>
            </a:r>
            <a:r>
              <a:rPr dirty="0"/>
              <a:t>、</a:t>
            </a:r>
          </a:p>
          <a:p>
            <a:r>
              <a:rPr dirty="0"/>
              <a:t>　</a:t>
            </a:r>
            <a:r>
              <a:rPr dirty="0" err="1"/>
              <a:t>これが本デックで扱う波形データの出どころ</a:t>
            </a:r>
            <a:r>
              <a:rPr dirty="0"/>
              <a:t>。</a:t>
            </a:r>
          </a:p>
          <a:p>
            <a:endParaRPr dirty="0"/>
          </a:p>
          <a:p>
            <a:r>
              <a:rPr dirty="0" err="1"/>
              <a:t>本デックでの位置づけ</a:t>
            </a:r>
            <a:r>
              <a:rPr dirty="0"/>
              <a:t> — Cunningham JW, et al. Circ </a:t>
            </a:r>
            <a:r>
              <a:rPr dirty="0" err="1"/>
              <a:t>Genom</a:t>
            </a:r>
            <a:r>
              <a:rPr dirty="0"/>
              <a:t> Precis Med 2023;16:e003676</a:t>
            </a:r>
          </a:p>
          <a:p>
            <a:r>
              <a:rPr dirty="0"/>
              <a:t>・</a:t>
            </a:r>
            <a:r>
              <a:rPr dirty="0" err="1"/>
              <a:t>対象：指尖PPGデータを持つ</a:t>
            </a:r>
            <a:r>
              <a:rPr dirty="0"/>
              <a:t> UK Biobank </a:t>
            </a:r>
            <a:r>
              <a:rPr dirty="0" err="1"/>
              <a:t>参加者</a:t>
            </a:r>
            <a:r>
              <a:rPr dirty="0"/>
              <a:t> 169,787名。</a:t>
            </a:r>
          </a:p>
          <a:p>
            <a:r>
              <a:rPr dirty="0"/>
              <a:t>・</a:t>
            </a:r>
            <a:r>
              <a:rPr dirty="0" err="1"/>
              <a:t>従来は「重複切痕が消えているか／いないか」の二値でしか扱えなかったものを、機械学習で</a:t>
            </a:r>
            <a:endParaRPr dirty="0"/>
          </a:p>
          <a:p>
            <a:r>
              <a:rPr dirty="0"/>
              <a:t>　「</a:t>
            </a:r>
            <a:r>
              <a:rPr dirty="0" err="1"/>
              <a:t>切痕の平滑さ（notch</a:t>
            </a:r>
            <a:r>
              <a:rPr dirty="0"/>
              <a:t> smoothness）」</a:t>
            </a:r>
            <a:r>
              <a:rPr dirty="0" err="1"/>
              <a:t>という連続形質に置き換えた</a:t>
            </a:r>
            <a:r>
              <a:rPr dirty="0"/>
              <a:t>。</a:t>
            </a:r>
          </a:p>
          <a:p>
            <a:r>
              <a:rPr dirty="0"/>
              <a:t>・</a:t>
            </a:r>
            <a:r>
              <a:rPr dirty="0" err="1"/>
              <a:t>遺伝率は連続形質</a:t>
            </a:r>
            <a:r>
              <a:rPr dirty="0"/>
              <a:t> 7.5% ＞ </a:t>
            </a:r>
            <a:r>
              <a:rPr dirty="0" err="1"/>
              <a:t>二値形質</a:t>
            </a:r>
            <a:r>
              <a:rPr dirty="0"/>
              <a:t> 5.6%。GWAS で有意15座位（二値では6座位）を同定し、</a:t>
            </a:r>
          </a:p>
          <a:p>
            <a:r>
              <a:rPr dirty="0"/>
              <a:t>　NT5C2（P=1.2×10⁻²⁶）、IGFBP3（P=4.8×10⁻¹⁸）、PHACTR1（P=1.4×10⁻¹³）などが示唆された。</a:t>
            </a:r>
          </a:p>
          <a:p>
            <a:r>
              <a:rPr dirty="0"/>
              <a:t>・</a:t>
            </a:r>
            <a:r>
              <a:rPr dirty="0" err="1"/>
              <a:t>切痕の平滑さは、心筋梗塞／冠動脈疾患・脳卒中・心不全・大動脈弁狭窄症の新規発症リスクを</a:t>
            </a:r>
            <a:endParaRPr dirty="0"/>
          </a:p>
          <a:p>
            <a:r>
              <a:rPr dirty="0"/>
              <a:t>　</a:t>
            </a:r>
            <a:r>
              <a:rPr dirty="0" err="1"/>
              <a:t>層別化した。多遺伝子リスクスコアは</a:t>
            </a:r>
            <a:r>
              <a:rPr dirty="0"/>
              <a:t> PPG </a:t>
            </a:r>
            <a:r>
              <a:rPr dirty="0" err="1"/>
              <a:t>を持たない参加者でも心血管疾患発症と全死亡に関連</a:t>
            </a:r>
            <a:r>
              <a:rPr dirty="0"/>
              <a:t>。</a:t>
            </a:r>
          </a:p>
          <a:p>
            <a:r>
              <a:rPr dirty="0"/>
              <a:t>・</a:t>
            </a:r>
            <a:r>
              <a:rPr dirty="0" err="1"/>
              <a:t>結論：切痕の平滑さは遺伝率をもつ形質で、血管スティフネス関連遺伝子と結びつき</a:t>
            </a:r>
            <a:r>
              <a:rPr dirty="0"/>
              <a:t>、</a:t>
            </a:r>
          </a:p>
          <a:p>
            <a:r>
              <a:rPr dirty="0"/>
              <a:t>　</a:t>
            </a:r>
            <a:r>
              <a:rPr dirty="0" err="1"/>
              <a:t>平滑なほど心血管疾患の発症リスクが高い</a:t>
            </a:r>
            <a:r>
              <a:rPr dirty="0"/>
              <a:t>。</a:t>
            </a:r>
          </a:p>
          <a:p>
            <a:endParaRPr dirty="0"/>
          </a:p>
          <a:p>
            <a:r>
              <a:rPr dirty="0" err="1"/>
              <a:t>口頭で足す但し書き</a:t>
            </a:r>
            <a:endParaRPr dirty="0"/>
          </a:p>
          <a:p>
            <a:r>
              <a:rPr dirty="0"/>
              <a:t>・「目視4分類（Dawber）」→「</a:t>
            </a:r>
            <a:r>
              <a:rPr dirty="0" err="1"/>
              <a:t>機械学習による連続量（Cunningham</a:t>
            </a:r>
            <a:r>
              <a:rPr dirty="0"/>
              <a:t>）」</a:t>
            </a:r>
            <a:r>
              <a:rPr dirty="0" err="1"/>
              <a:t>という進み方であり</a:t>
            </a:r>
            <a:r>
              <a:rPr dirty="0"/>
              <a:t>、</a:t>
            </a:r>
          </a:p>
          <a:p>
            <a:r>
              <a:rPr dirty="0"/>
              <a:t>　</a:t>
            </a:r>
            <a:r>
              <a:rPr dirty="0" err="1"/>
              <a:t>連続量化したほうが遺伝率も予後層別化も良くなった、という点が要点</a:t>
            </a:r>
            <a:r>
              <a:rPr dirty="0"/>
              <a:t>。</a:t>
            </a:r>
          </a:p>
          <a:p>
            <a:endParaRPr lang="en-US" dirty="0"/>
          </a:p>
          <a:p>
            <a:r>
              <a:rPr kumimoji="1" lang="ja-JP" altLang="ja-JP" sz="1200" b="0" i="0" kern="1200">
                <a:solidFill>
                  <a:schemeClr val="tx1"/>
                </a:solidFill>
                <a:effectLst/>
                <a:latin typeface="+mn-lt"/>
                <a:ea typeface="+mn-ea"/>
                <a:cs typeface="+mn-cs"/>
              </a:rPr>
              <a:t>バイオバンク型の本質は「凍結保存」と「仮説を先に決めない」ことです。DNA・血清・尿を保存しておけば、10年後に新しい仮説が出たとき、その時点の最新技術で測り直せる。しかも全員を測る必要はなく、発症した人＋対照だけ解凍して測る（コホート内症例対照研究）とコストが激減します。ゲノム解析が前提なので GWAS や多遺伝子リスクスコアが回せる ── Cunningham 2023 が切痕の平滑さで15座位を同定できたのは、この設計だからです。</a:t>
            </a:r>
            <a:endParaRPr dirty="0"/>
          </a:p>
        </p:txBody>
      </p:sp>
      <p:sp>
        <p:nvSpPr>
          <p:cNvPr id="4" name="スライド番号プレースホルダー 3">
            <a:extLst>
              <a:ext uri="{FF2B5EF4-FFF2-40B4-BE49-F238E27FC236}">
                <a16:creationId xmlns:a16="http://schemas.microsoft.com/office/drawing/2014/main" id="{55D0610D-C30B-7AEB-CEBA-096D8D7F8C95}"/>
              </a:ext>
            </a:extLst>
          </p:cNvPr>
          <p:cNvSpPr>
            <a:spLocks noGrp="1"/>
          </p:cNvSpPr>
          <p:nvPr>
            <p:ph type="sldNum" sz="quarter" idx="5"/>
          </p:nvPr>
        </p:nvSpPr>
        <p:spPr/>
        <p:txBody>
          <a:bodyPr/>
          <a:lstStyle/>
          <a:p>
            <a:fld id="{4368CECF-0771-D84F-8D42-085DB944B0B8}" type="slidenum">
              <a:rPr kumimoji="1" lang="ja-JP" altLang="en-US" smtClean="0"/>
              <a:t>30</a:t>
            </a:fld>
            <a:endParaRPr kumimoji="1" lang="ja-JP" altLang="en-US"/>
          </a:p>
        </p:txBody>
      </p:sp>
    </p:spTree>
    <p:extLst>
      <p:ext uri="{BB962C8B-B14F-4D97-AF65-F5344CB8AC3E}">
        <p14:creationId xmlns:p14="http://schemas.microsoft.com/office/powerpoint/2010/main" val="9029176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78CDA-C244-5D90-E99A-63DA49DD19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4E1933C-2A6D-FE16-CE33-D229B7053DA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99F231-DED6-7604-DC14-47A58CC260D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切痕の消失具合を機械学習で分類し、従来の４分類というところから切痕の平滑具合を連続量として扱えるようになった。</a:t>
            </a:r>
            <a:endParaRPr kumimoji="1" lang="en-US" altLang="ja-JP" dirty="0"/>
          </a:p>
          <a:p>
            <a:endParaRPr lang="en-US" altLang="ja-JP" dirty="0"/>
          </a:p>
          <a:p>
            <a:r>
              <a:rPr lang="ja-JP" altLang="en-US"/>
              <a:t>切痕の平滑であるほど、高血圧、心筋梗塞／冠動脈疾患・心不全・死亡のリスク（脳卒中や</a:t>
            </a:r>
            <a:r>
              <a:rPr lang="en-US" altLang="ja-JP" dirty="0"/>
              <a:t>AS</a:t>
            </a:r>
            <a:r>
              <a:rPr lang="ja-JP" altLang="en-US"/>
              <a:t>新規発症も）が高かった。</a:t>
            </a:r>
            <a:endParaRPr lang="en-US" altLang="ja-JP" dirty="0"/>
          </a:p>
          <a:p>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遺伝子解析も行なっており、</a:t>
            </a:r>
            <a:r>
              <a:rPr kumimoji="1" lang="ja-JP" altLang="en-US"/>
              <a:t>切痕を平滑化させる</a:t>
            </a:r>
            <a:r>
              <a:rPr kumimoji="1" lang="en-US" altLang="ja-JP" dirty="0"/>
              <a:t>15</a:t>
            </a:r>
            <a:r>
              <a:rPr kumimoji="1" lang="ja-JP" altLang="en-US"/>
              <a:t>の遺伝子座をゲノムワイド解析で特定</a:t>
            </a:r>
            <a:endParaRPr kumimoji="1" lang="en-US" altLang="ja-JP" dirty="0"/>
          </a:p>
          <a:p>
            <a:endParaRPr lang="en-US" altLang="ja-JP" dirty="0"/>
          </a:p>
          <a:p>
            <a:r>
              <a:rPr lang="ja-JP" altLang="en-US"/>
              <a:t>これによる多遺伝子リスクスコアは </a:t>
            </a:r>
            <a:r>
              <a:rPr lang="en" altLang="ja-JP" dirty="0"/>
              <a:t>PPG </a:t>
            </a:r>
            <a:r>
              <a:rPr lang="ja-JP" altLang="en-US"/>
              <a:t>を持たない参加者でも心血管疾患発症と全死亡に関連。</a:t>
            </a:r>
          </a:p>
        </p:txBody>
      </p:sp>
      <p:sp>
        <p:nvSpPr>
          <p:cNvPr id="4" name="スライド番号プレースホルダー 3">
            <a:extLst>
              <a:ext uri="{FF2B5EF4-FFF2-40B4-BE49-F238E27FC236}">
                <a16:creationId xmlns:a16="http://schemas.microsoft.com/office/drawing/2014/main" id="{54E914DD-09BE-E20B-0E61-4FCE6657E439}"/>
              </a:ext>
            </a:extLst>
          </p:cNvPr>
          <p:cNvSpPr>
            <a:spLocks noGrp="1"/>
          </p:cNvSpPr>
          <p:nvPr>
            <p:ph type="sldNum" sz="quarter" idx="5"/>
          </p:nvPr>
        </p:nvSpPr>
        <p:spPr/>
        <p:txBody>
          <a:bodyPr/>
          <a:lstStyle/>
          <a:p>
            <a:fld id="{4368CECF-0771-D84F-8D42-085DB944B0B8}" type="slidenum">
              <a:rPr kumimoji="1" lang="ja-JP" altLang="en-US" smtClean="0"/>
              <a:t>31</a:t>
            </a:fld>
            <a:endParaRPr kumimoji="1" lang="ja-JP" altLang="en-US"/>
          </a:p>
        </p:txBody>
      </p:sp>
    </p:spTree>
    <p:extLst>
      <p:ext uri="{BB962C8B-B14F-4D97-AF65-F5344CB8AC3E}">
        <p14:creationId xmlns:p14="http://schemas.microsoft.com/office/powerpoint/2010/main" val="2254617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3609D-7C41-BF8A-E3A2-5F38525F4D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D6D1903-B218-C00D-11E3-365FA98CFA1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46209AF-A3BC-BED7-0E13-8B95EF25EE1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登録時に遺伝子解析も行なっており、</a:t>
            </a:r>
            <a:r>
              <a:rPr kumimoji="1" lang="ja-JP" altLang="en-US"/>
              <a:t>切痕を平滑化させる</a:t>
            </a:r>
            <a:r>
              <a:rPr kumimoji="1" lang="en-US" altLang="ja-JP" dirty="0"/>
              <a:t>15</a:t>
            </a:r>
            <a:r>
              <a:rPr kumimoji="1" lang="ja-JP" altLang="en-US"/>
              <a:t>の遺伝子座をゲノムワイド解析で特定</a:t>
            </a:r>
            <a:endParaRPr kumimoji="1" lang="en-US" altLang="ja-JP" dirty="0"/>
          </a:p>
          <a:p>
            <a:endParaRPr lang="en-US" altLang="ja-JP" dirty="0"/>
          </a:p>
          <a:p>
            <a:r>
              <a:rPr lang="ja-JP" altLang="en-US"/>
              <a:t>これによる多遺伝子リスクスコアは </a:t>
            </a:r>
            <a:r>
              <a:rPr lang="en" altLang="ja-JP" dirty="0"/>
              <a:t>PPG </a:t>
            </a:r>
            <a:r>
              <a:rPr lang="ja-JP" altLang="en-US"/>
              <a:t>を持たない参加者でも心血管疾患発症と全死亡に関連</a:t>
            </a:r>
            <a:endParaRPr kumimoji="1" lang="ja-JP" altLang="en-US"/>
          </a:p>
        </p:txBody>
      </p:sp>
      <p:sp>
        <p:nvSpPr>
          <p:cNvPr id="4" name="スライド番号プレースホルダー 3">
            <a:extLst>
              <a:ext uri="{FF2B5EF4-FFF2-40B4-BE49-F238E27FC236}">
                <a16:creationId xmlns:a16="http://schemas.microsoft.com/office/drawing/2014/main" id="{7A4B5DA4-C1B5-68C3-7150-76A418B52C44}"/>
              </a:ext>
            </a:extLst>
          </p:cNvPr>
          <p:cNvSpPr>
            <a:spLocks noGrp="1"/>
          </p:cNvSpPr>
          <p:nvPr>
            <p:ph type="sldNum" sz="quarter" idx="5"/>
          </p:nvPr>
        </p:nvSpPr>
        <p:spPr/>
        <p:txBody>
          <a:bodyPr/>
          <a:lstStyle/>
          <a:p>
            <a:fld id="{4368CECF-0771-D84F-8D42-085DB944B0B8}" type="slidenum">
              <a:rPr kumimoji="1" lang="ja-JP" altLang="en-US" smtClean="0"/>
              <a:t>32</a:t>
            </a:fld>
            <a:endParaRPr kumimoji="1" lang="ja-JP" altLang="en-US"/>
          </a:p>
        </p:txBody>
      </p:sp>
    </p:spTree>
    <p:extLst>
      <p:ext uri="{BB962C8B-B14F-4D97-AF65-F5344CB8AC3E}">
        <p14:creationId xmlns:p14="http://schemas.microsoft.com/office/powerpoint/2010/main" val="10817296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加齢などによる影響で、大血管スティッフネスは上昇する。それに伴い反射波の速度が上昇するため、反射波が早く戻ることになり、収縮機へ融合していくことになる。</a:t>
            </a:r>
            <a:endParaRPr kumimoji="1" lang="en-US" altLang="ja-JP" sz="1200" b="1" i="0" kern="1200" dirty="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動脈硬化が強いほど、速度も早く、結果として切痕が消えて見える。</a:t>
            </a:r>
            <a:endParaRPr kumimoji="1" lang="en-US" altLang="ja-JP" sz="1200" b="1" i="0" kern="1200" dirty="0">
              <a:solidFill>
                <a:schemeClr val="tx1"/>
              </a:solidFill>
              <a:effectLst/>
              <a:latin typeface="+mn-lt"/>
              <a:ea typeface="+mn-ea"/>
              <a:cs typeface="+mn-cs"/>
            </a:endParaRPr>
          </a:p>
          <a:p>
            <a:endParaRPr kumimoji="1" lang="en-US" altLang="ja-JP" sz="1200" b="1" i="0" kern="1200" dirty="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前進波も早く伝播するが、長い距離を進む反射波の方が大血管スティッフネス上昇による伝播速度上昇の影響を大きく受ける。</a:t>
            </a:r>
            <a:endParaRPr kumimoji="1" lang="en-US" altLang="ja-JP" sz="1200" b="1" i="0" kern="1200" dirty="0">
              <a:solidFill>
                <a:schemeClr val="tx1"/>
              </a:solidFill>
              <a:effectLst/>
              <a:latin typeface="+mn-lt"/>
              <a:ea typeface="+mn-ea"/>
              <a:cs typeface="+mn-cs"/>
            </a:endParaRPr>
          </a:p>
          <a:p>
            <a:endParaRPr kumimoji="1" lang="en-US" altLang="ja-JP" sz="1200" b="1" i="0" kern="1200" dirty="0">
              <a:solidFill>
                <a:schemeClr val="tx1"/>
              </a:solidFill>
              <a:effectLst/>
              <a:latin typeface="+mn-lt"/>
              <a:ea typeface="+mn-ea"/>
              <a:cs typeface="+mn-cs"/>
            </a:endParaRPr>
          </a:p>
          <a:p>
            <a:r>
              <a:rPr kumimoji="1" lang="ja-JP" altLang="ja-JP" sz="1200" b="1" i="0" kern="1200">
                <a:solidFill>
                  <a:schemeClr val="tx1"/>
                </a:solidFill>
                <a:effectLst/>
                <a:latin typeface="+mn-lt"/>
                <a:ea typeface="+mn-ea"/>
                <a:cs typeface="+mn-cs"/>
              </a:rPr>
              <a:t>前進波(forward wave)自体もPWV上昇に伴い速く伝播するため、心臓から末梢反射点までの到達時間は短縮する</a:t>
            </a:r>
            <a:r>
              <a:rPr kumimoji="1" lang="ja-JP" altLang="ja-JP" sz="1200" b="0" i="0" kern="1200">
                <a:solidFill>
                  <a:schemeClr val="tx1"/>
                </a:solidFill>
                <a:effectLst/>
                <a:latin typeface="+mn-lt"/>
                <a:ea typeface="+mn-ea"/>
                <a:cs typeface="+mn-cs"/>
              </a:rPr>
              <a:t>。しかし、それでもなお反射波が収縮期後半〜収縮期中に「間に合って」戻ってきてしまう理由は、往復距離(心臓→反射点→心臓)の合計伝播時間が、前進波の心臓からの立ち上がり(駆出時間)そのものよりもはるかに大きく短縮するため</a:t>
            </a:r>
            <a:endParaRPr lang="en-US" dirty="0"/>
          </a:p>
          <a:p>
            <a:endParaRPr lang="en-US" dirty="0"/>
          </a:p>
          <a:p>
            <a:r>
              <a:rPr dirty="0"/>
              <a:t>【2章のまとめ】慢性的な波形変化は「大血管のスティフネス上昇」で説明できる、が締めくくり。</a:t>
            </a:r>
          </a:p>
          <a:p>
            <a:endParaRPr dirty="0"/>
          </a:p>
          <a:p>
            <a:r>
              <a:rPr dirty="0"/>
              <a:t>連鎖（オンスライドの2行）</a:t>
            </a:r>
          </a:p>
          <a:p>
            <a:r>
              <a:rPr dirty="0"/>
              <a:t>　</a:t>
            </a:r>
            <a:r>
              <a:rPr dirty="0" err="1"/>
              <a:t>加齢・動脈硬化</a:t>
            </a:r>
            <a:r>
              <a:rPr dirty="0"/>
              <a:t> → </a:t>
            </a:r>
            <a:r>
              <a:rPr dirty="0" err="1"/>
              <a:t>大血管スティフネス</a:t>
            </a:r>
            <a:r>
              <a:rPr dirty="0"/>
              <a:t>↑ → </a:t>
            </a:r>
            <a:r>
              <a:rPr dirty="0" err="1"/>
              <a:t>脈波伝播速度（PWV</a:t>
            </a:r>
            <a:r>
              <a:rPr dirty="0"/>
              <a:t>）↑</a:t>
            </a:r>
          </a:p>
          <a:p>
            <a:r>
              <a:rPr dirty="0"/>
              <a:t>　→ </a:t>
            </a:r>
            <a:r>
              <a:rPr dirty="0" err="1"/>
              <a:t>反射波が早く戻る</a:t>
            </a:r>
            <a:r>
              <a:rPr dirty="0"/>
              <a:t> → </a:t>
            </a:r>
            <a:r>
              <a:rPr dirty="0" err="1"/>
              <a:t>収縮期ピークへ融合</a:t>
            </a:r>
            <a:r>
              <a:rPr dirty="0"/>
              <a:t> → </a:t>
            </a:r>
            <a:r>
              <a:rPr dirty="0" err="1"/>
              <a:t>重複切痕が消える</a:t>
            </a:r>
            <a:endParaRPr dirty="0"/>
          </a:p>
          <a:p>
            <a:endParaRPr dirty="0"/>
          </a:p>
          <a:p>
            <a:r>
              <a:rPr dirty="0"/>
              <a:t>文献での裏取り（2026-08）</a:t>
            </a:r>
          </a:p>
          <a:p>
            <a:r>
              <a:rPr dirty="0"/>
              <a:t>・</a:t>
            </a:r>
            <a:r>
              <a:rPr dirty="0" err="1"/>
              <a:t>加齢・高血圧で中心弾性動脈が硬くなり、PWV</a:t>
            </a:r>
            <a:r>
              <a:rPr dirty="0"/>
              <a:t> </a:t>
            </a:r>
            <a:r>
              <a:rPr dirty="0" err="1"/>
              <a:t>上昇と反射波の早期帰還により中心収縮期圧・脈圧が増大する</a:t>
            </a:r>
            <a:endParaRPr dirty="0"/>
          </a:p>
          <a:p>
            <a:r>
              <a:rPr dirty="0"/>
              <a:t>　（Nichols WW. Clinical measurement of arterial stiffness obtained from noninvasive pressure waveforms.</a:t>
            </a:r>
          </a:p>
          <a:p>
            <a:r>
              <a:rPr dirty="0"/>
              <a:t>　 Am J </a:t>
            </a:r>
            <a:r>
              <a:rPr dirty="0" err="1"/>
              <a:t>Hypertens</a:t>
            </a:r>
            <a:r>
              <a:rPr dirty="0"/>
              <a:t> 2005;18:3S–10S）。「PWV↑ → </a:t>
            </a:r>
            <a:r>
              <a:rPr dirty="0" err="1"/>
              <a:t>反射波が早く戻る」は総説レベルで確立した記述</a:t>
            </a:r>
            <a:r>
              <a:rPr dirty="0"/>
              <a:t>。</a:t>
            </a:r>
          </a:p>
          <a:p>
            <a:r>
              <a:rPr dirty="0"/>
              <a:t>・</a:t>
            </a:r>
            <a:r>
              <a:rPr dirty="0" err="1"/>
              <a:t>指尖</a:t>
            </a:r>
            <a:r>
              <a:rPr dirty="0"/>
              <a:t> PPG </a:t>
            </a:r>
            <a:r>
              <a:rPr dirty="0" err="1"/>
              <a:t>では、波の伝播速度が反射波の到達時刻を決め、それが重複切痕・拡張期ピークの見え方を左右する</a:t>
            </a:r>
            <a:r>
              <a:rPr dirty="0"/>
              <a:t>。</a:t>
            </a:r>
          </a:p>
          <a:p>
            <a:r>
              <a:rPr dirty="0"/>
              <a:t>　</a:t>
            </a:r>
            <a:r>
              <a:rPr dirty="0" err="1"/>
              <a:t>VascAgeNet</a:t>
            </a:r>
            <a:r>
              <a:rPr dirty="0"/>
              <a:t> </a:t>
            </a:r>
            <a:r>
              <a:rPr dirty="0" err="1"/>
              <a:t>総説は</a:t>
            </a:r>
            <a:r>
              <a:rPr dirty="0"/>
              <a:t> "The speed of pulse wave propagation influences the timing of these waves, and</a:t>
            </a:r>
          </a:p>
          <a:p>
            <a:r>
              <a:rPr dirty="0"/>
              <a:t>　therefore contributes to the dicrotic notch and diastolic peak characteristics." </a:t>
            </a:r>
            <a:r>
              <a:rPr dirty="0" err="1"/>
              <a:t>と明記し</a:t>
            </a:r>
            <a:r>
              <a:rPr dirty="0"/>
              <a:t>、</a:t>
            </a:r>
          </a:p>
          <a:p>
            <a:r>
              <a:rPr dirty="0"/>
              <a:t>　</a:t>
            </a:r>
            <a:r>
              <a:rPr dirty="0" err="1"/>
              <a:t>若年に多い</a:t>
            </a:r>
            <a:r>
              <a:rPr dirty="0"/>
              <a:t> class 1（明瞭な切痕）が加齢とともに減り、高齢では見えなくなる（class 4）と述べる</a:t>
            </a:r>
          </a:p>
          <a:p>
            <a:r>
              <a:rPr dirty="0"/>
              <a:t>　（Charlton PH, et al. Am J </a:t>
            </a:r>
            <a:r>
              <a:rPr dirty="0" err="1"/>
              <a:t>Physiol</a:t>
            </a:r>
            <a:r>
              <a:rPr dirty="0"/>
              <a:t> Heart Circ </a:t>
            </a:r>
            <a:r>
              <a:rPr dirty="0" err="1"/>
              <a:t>Physiol</a:t>
            </a:r>
            <a:r>
              <a:rPr dirty="0"/>
              <a:t> 2022;322:H493–H522）。</a:t>
            </a:r>
          </a:p>
          <a:p>
            <a:r>
              <a:rPr dirty="0"/>
              <a:t>・</a:t>
            </a:r>
            <a:r>
              <a:rPr dirty="0" err="1"/>
              <a:t>指尖</a:t>
            </a:r>
            <a:r>
              <a:rPr dirty="0"/>
              <a:t> DVP </a:t>
            </a:r>
            <a:r>
              <a:rPr dirty="0" err="1"/>
              <a:t>の実測でも、加齢に伴い</a:t>
            </a:r>
            <a:r>
              <a:rPr dirty="0"/>
              <a:t> ΔT（P1→P2）が短縮し SI </a:t>
            </a:r>
            <a:r>
              <a:rPr dirty="0" err="1"/>
              <a:t>が上昇する＝反射波の帰還が早まる</a:t>
            </a:r>
            <a:endParaRPr dirty="0"/>
          </a:p>
          <a:p>
            <a:r>
              <a:rPr dirty="0"/>
              <a:t>　（</a:t>
            </a:r>
            <a:r>
              <a:rPr dirty="0" err="1"/>
              <a:t>Millasseau</a:t>
            </a:r>
            <a:r>
              <a:rPr dirty="0"/>
              <a:t> 2002 Clin Sci 103:371、本デック 5.1）。</a:t>
            </a:r>
          </a:p>
          <a:p>
            <a:r>
              <a:rPr dirty="0"/>
              <a:t>・</a:t>
            </a:r>
            <a:r>
              <a:rPr dirty="0" err="1"/>
              <a:t>切痕の消失そのものが加齢・心血管疾患と結びつくことは</a:t>
            </a:r>
            <a:r>
              <a:rPr dirty="0"/>
              <a:t> Dawber 1973（4分類）と</a:t>
            </a:r>
          </a:p>
          <a:p>
            <a:r>
              <a:rPr dirty="0"/>
              <a:t>　Cunningham 2023（UK Biobank 17万例・機械学習）で示されている。</a:t>
            </a:r>
          </a:p>
          <a:p>
            <a:endParaRPr dirty="0"/>
          </a:p>
          <a:p>
            <a:r>
              <a:rPr dirty="0" err="1"/>
              <a:t>口頭で足す但し書き</a:t>
            </a:r>
            <a:endParaRPr dirty="0"/>
          </a:p>
          <a:p>
            <a:r>
              <a:rPr dirty="0"/>
              <a:t>・</a:t>
            </a:r>
            <a:r>
              <a:rPr dirty="0" err="1"/>
              <a:t>中枢動脈の</a:t>
            </a:r>
            <a:r>
              <a:rPr dirty="0"/>
              <a:t> </a:t>
            </a:r>
            <a:r>
              <a:rPr dirty="0" err="1"/>
              <a:t>incisura（大動脈弁閉鎖に伴う切痕）と、末梢</a:t>
            </a:r>
            <a:r>
              <a:rPr dirty="0"/>
              <a:t> PPG </a:t>
            </a:r>
            <a:r>
              <a:rPr dirty="0" err="1"/>
              <a:t>の拡張期ピーク／切痕は本来別の現象</a:t>
            </a:r>
            <a:r>
              <a:rPr dirty="0"/>
              <a:t>。</a:t>
            </a:r>
          </a:p>
          <a:p>
            <a:r>
              <a:rPr dirty="0"/>
              <a:t>　</a:t>
            </a:r>
            <a:r>
              <a:rPr dirty="0" err="1"/>
              <a:t>ここで言う「切痕が消える」は末梢</a:t>
            </a:r>
            <a:r>
              <a:rPr dirty="0"/>
              <a:t> PPG の話（1.4 </a:t>
            </a:r>
            <a:r>
              <a:rPr dirty="0" err="1"/>
              <a:t>のノート参照</a:t>
            </a:r>
            <a:r>
              <a:rPr dirty="0"/>
              <a:t>）。</a:t>
            </a:r>
          </a:p>
          <a:p>
            <a:r>
              <a:rPr dirty="0"/>
              <a:t>・反射部位は1点ではなく動脈系に分布しており、「実効的な反射」を1点に集約した説明であること。</a:t>
            </a:r>
          </a:p>
          <a:p>
            <a:r>
              <a:rPr dirty="0"/>
              <a:t>・この章は安静時・慢性（構造）の変化。急性の変化（血管トーヌス）は3章・4章で扱う。</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33</a:t>
            </a:fld>
            <a:endParaRPr kumimoji="1" lang="ja-JP" altLang="en-US"/>
          </a:p>
        </p:txBody>
      </p:sp>
    </p:spTree>
    <p:extLst>
      <p:ext uri="{BB962C8B-B14F-4D97-AF65-F5344CB8AC3E}">
        <p14:creationId xmlns:p14="http://schemas.microsoft.com/office/powerpoint/2010/main" val="34649596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98FFD-F708-620D-4613-1FFE5538269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2BA34D-5B89-5DD1-1074-526118FD8DE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AB97420-6DE7-10D6-846C-162B37C6DA1F}"/>
              </a:ext>
            </a:extLst>
          </p:cNvPr>
          <p:cNvSpPr>
            <a:spLocks noGrp="1"/>
          </p:cNvSpPr>
          <p:nvPr>
            <p:ph type="body" idx="1"/>
          </p:nvPr>
        </p:nvSpPr>
        <p:spPr/>
        <p:txBody>
          <a:bodyPr/>
          <a:lstStyle/>
          <a:p>
            <a:r>
              <a:rPr dirty="0"/>
              <a:t>【2章のまとめ】慢性的な波形変化は「大血管のスティフネス上昇」で説明できる、が締めくくり。</a:t>
            </a:r>
          </a:p>
          <a:p>
            <a:endParaRPr dirty="0"/>
          </a:p>
          <a:p>
            <a:r>
              <a:rPr dirty="0"/>
              <a:t>連鎖（オンスライドの2行）</a:t>
            </a:r>
          </a:p>
          <a:p>
            <a:r>
              <a:rPr dirty="0"/>
              <a:t>　</a:t>
            </a:r>
            <a:r>
              <a:rPr dirty="0" err="1"/>
              <a:t>加齢・動脈硬化</a:t>
            </a:r>
            <a:r>
              <a:rPr dirty="0"/>
              <a:t> → </a:t>
            </a:r>
            <a:r>
              <a:rPr dirty="0" err="1"/>
              <a:t>大血管スティフネス</a:t>
            </a:r>
            <a:r>
              <a:rPr dirty="0"/>
              <a:t>↑ → </a:t>
            </a:r>
            <a:r>
              <a:rPr dirty="0" err="1"/>
              <a:t>脈波伝播速度（PWV</a:t>
            </a:r>
            <a:r>
              <a:rPr dirty="0"/>
              <a:t>）↑</a:t>
            </a:r>
          </a:p>
          <a:p>
            <a:r>
              <a:rPr dirty="0"/>
              <a:t>　→ </a:t>
            </a:r>
            <a:r>
              <a:rPr dirty="0" err="1"/>
              <a:t>反射波が早く戻る</a:t>
            </a:r>
            <a:r>
              <a:rPr dirty="0"/>
              <a:t> → </a:t>
            </a:r>
            <a:r>
              <a:rPr dirty="0" err="1"/>
              <a:t>収縮期ピークへ融合</a:t>
            </a:r>
            <a:r>
              <a:rPr dirty="0"/>
              <a:t> → </a:t>
            </a:r>
            <a:r>
              <a:rPr dirty="0" err="1"/>
              <a:t>重複切痕が消える</a:t>
            </a:r>
            <a:endParaRPr dirty="0"/>
          </a:p>
          <a:p>
            <a:endParaRPr dirty="0"/>
          </a:p>
          <a:p>
            <a:r>
              <a:rPr dirty="0"/>
              <a:t>文献での裏取り（2026-08）</a:t>
            </a:r>
          </a:p>
          <a:p>
            <a:r>
              <a:rPr dirty="0"/>
              <a:t>・</a:t>
            </a:r>
            <a:r>
              <a:rPr dirty="0" err="1"/>
              <a:t>加齢・高血圧で中心弾性動脈が硬くなり、PWV</a:t>
            </a:r>
            <a:r>
              <a:rPr dirty="0"/>
              <a:t> </a:t>
            </a:r>
            <a:r>
              <a:rPr dirty="0" err="1"/>
              <a:t>上昇と反射波の早期帰還により中心収縮期圧・脈圧が増大する</a:t>
            </a:r>
            <a:endParaRPr dirty="0"/>
          </a:p>
          <a:p>
            <a:r>
              <a:rPr dirty="0"/>
              <a:t>　（Nichols WW. Clinical measurement of arterial stiffness obtained from noninvasive pressure waveforms.</a:t>
            </a:r>
          </a:p>
          <a:p>
            <a:r>
              <a:rPr dirty="0"/>
              <a:t>　 Am J </a:t>
            </a:r>
            <a:r>
              <a:rPr dirty="0" err="1"/>
              <a:t>Hypertens</a:t>
            </a:r>
            <a:r>
              <a:rPr dirty="0"/>
              <a:t> 2005;18:3S–10S）。「PWV↑ → </a:t>
            </a:r>
            <a:r>
              <a:rPr dirty="0" err="1"/>
              <a:t>反射波が早く戻る」は総説レベルで確立した記述</a:t>
            </a:r>
            <a:r>
              <a:rPr dirty="0"/>
              <a:t>。</a:t>
            </a:r>
          </a:p>
          <a:p>
            <a:r>
              <a:rPr dirty="0"/>
              <a:t>・</a:t>
            </a:r>
            <a:r>
              <a:rPr dirty="0" err="1"/>
              <a:t>指尖</a:t>
            </a:r>
            <a:r>
              <a:rPr dirty="0"/>
              <a:t> PPG </a:t>
            </a:r>
            <a:r>
              <a:rPr dirty="0" err="1"/>
              <a:t>では、波の伝播速度が反射波の到達時刻を決め、それが重複切痕・拡張期ピークの見え方を左右する</a:t>
            </a:r>
            <a:r>
              <a:rPr dirty="0"/>
              <a:t>。</a:t>
            </a:r>
          </a:p>
          <a:p>
            <a:r>
              <a:rPr dirty="0"/>
              <a:t>　</a:t>
            </a:r>
            <a:r>
              <a:rPr dirty="0" err="1"/>
              <a:t>VascAgeNet</a:t>
            </a:r>
            <a:r>
              <a:rPr dirty="0"/>
              <a:t> </a:t>
            </a:r>
            <a:r>
              <a:rPr dirty="0" err="1"/>
              <a:t>総説は</a:t>
            </a:r>
            <a:r>
              <a:rPr dirty="0"/>
              <a:t> "The speed of pulse wave propagation influences the timing of these waves, and</a:t>
            </a:r>
          </a:p>
          <a:p>
            <a:r>
              <a:rPr dirty="0"/>
              <a:t>　therefore contributes to the dicrotic notch and diastolic peak characteristics." </a:t>
            </a:r>
            <a:r>
              <a:rPr dirty="0" err="1"/>
              <a:t>と明記し</a:t>
            </a:r>
            <a:r>
              <a:rPr dirty="0"/>
              <a:t>、</a:t>
            </a:r>
          </a:p>
          <a:p>
            <a:r>
              <a:rPr dirty="0"/>
              <a:t>　</a:t>
            </a:r>
            <a:r>
              <a:rPr dirty="0" err="1"/>
              <a:t>若年に多い</a:t>
            </a:r>
            <a:r>
              <a:rPr dirty="0"/>
              <a:t> class 1（明瞭な切痕）が加齢とともに減り、高齢では見えなくなる（class 4）と述べる</a:t>
            </a:r>
          </a:p>
          <a:p>
            <a:r>
              <a:rPr dirty="0"/>
              <a:t>　（Charlton PH, et al. Am J </a:t>
            </a:r>
            <a:r>
              <a:rPr dirty="0" err="1"/>
              <a:t>Physiol</a:t>
            </a:r>
            <a:r>
              <a:rPr dirty="0"/>
              <a:t> Heart Circ </a:t>
            </a:r>
            <a:r>
              <a:rPr dirty="0" err="1"/>
              <a:t>Physiol</a:t>
            </a:r>
            <a:r>
              <a:rPr dirty="0"/>
              <a:t> 2022;322:H493–H522）。</a:t>
            </a:r>
          </a:p>
          <a:p>
            <a:r>
              <a:rPr dirty="0"/>
              <a:t>・</a:t>
            </a:r>
            <a:r>
              <a:rPr dirty="0" err="1"/>
              <a:t>指尖</a:t>
            </a:r>
            <a:r>
              <a:rPr dirty="0"/>
              <a:t> DVP </a:t>
            </a:r>
            <a:r>
              <a:rPr dirty="0" err="1"/>
              <a:t>の実測でも、加齢に伴い</a:t>
            </a:r>
            <a:r>
              <a:rPr dirty="0"/>
              <a:t> ΔT（P1→P2）が短縮し SI </a:t>
            </a:r>
            <a:r>
              <a:rPr dirty="0" err="1"/>
              <a:t>が上昇する＝反射波の帰還が早まる</a:t>
            </a:r>
            <a:endParaRPr dirty="0"/>
          </a:p>
          <a:p>
            <a:r>
              <a:rPr dirty="0"/>
              <a:t>　（</a:t>
            </a:r>
            <a:r>
              <a:rPr dirty="0" err="1"/>
              <a:t>Millasseau</a:t>
            </a:r>
            <a:r>
              <a:rPr dirty="0"/>
              <a:t> 2002 Clin Sci 103:371、本デック 5.1）。</a:t>
            </a:r>
          </a:p>
          <a:p>
            <a:r>
              <a:rPr dirty="0"/>
              <a:t>・</a:t>
            </a:r>
            <a:r>
              <a:rPr dirty="0" err="1"/>
              <a:t>切痕の消失そのものが加齢・心血管疾患と結びつくことは</a:t>
            </a:r>
            <a:r>
              <a:rPr dirty="0"/>
              <a:t> Dawber 1973（4分類）と</a:t>
            </a:r>
          </a:p>
          <a:p>
            <a:r>
              <a:rPr dirty="0"/>
              <a:t>　Cunningham 2023（UK Biobank 17万例・機械学習）で示されている。</a:t>
            </a:r>
          </a:p>
          <a:p>
            <a:endParaRPr dirty="0"/>
          </a:p>
          <a:p>
            <a:r>
              <a:rPr dirty="0" err="1"/>
              <a:t>口頭で足す但し書き</a:t>
            </a:r>
            <a:endParaRPr dirty="0"/>
          </a:p>
          <a:p>
            <a:r>
              <a:rPr dirty="0"/>
              <a:t>・</a:t>
            </a:r>
            <a:r>
              <a:rPr dirty="0" err="1"/>
              <a:t>中枢動脈の</a:t>
            </a:r>
            <a:r>
              <a:rPr dirty="0"/>
              <a:t> </a:t>
            </a:r>
            <a:r>
              <a:rPr dirty="0" err="1"/>
              <a:t>incisura（大動脈弁閉鎖に伴う切痕）と、末梢</a:t>
            </a:r>
            <a:r>
              <a:rPr dirty="0"/>
              <a:t> PPG </a:t>
            </a:r>
            <a:r>
              <a:rPr dirty="0" err="1"/>
              <a:t>の拡張期ピーク／切痕は本来別の現象</a:t>
            </a:r>
            <a:r>
              <a:rPr dirty="0"/>
              <a:t>。</a:t>
            </a:r>
          </a:p>
          <a:p>
            <a:r>
              <a:rPr dirty="0"/>
              <a:t>　</a:t>
            </a:r>
            <a:r>
              <a:rPr dirty="0" err="1"/>
              <a:t>ここで言う「切痕が消える」は末梢</a:t>
            </a:r>
            <a:r>
              <a:rPr dirty="0"/>
              <a:t> PPG の話（1.4 </a:t>
            </a:r>
            <a:r>
              <a:rPr dirty="0" err="1"/>
              <a:t>のノート参照</a:t>
            </a:r>
            <a:r>
              <a:rPr dirty="0"/>
              <a:t>）。</a:t>
            </a:r>
          </a:p>
          <a:p>
            <a:r>
              <a:rPr dirty="0"/>
              <a:t>・反射部位は1点ではなく動脈系に分布しており、「実効的な反射」を1点に集約した説明であること。</a:t>
            </a:r>
          </a:p>
          <a:p>
            <a:r>
              <a:rPr dirty="0"/>
              <a:t>・この章は安静時・慢性（構造）の変化。急性の変化（血管トーヌス）は3章・4章で扱う。</a:t>
            </a:r>
          </a:p>
        </p:txBody>
      </p:sp>
      <p:sp>
        <p:nvSpPr>
          <p:cNvPr id="4" name="スライド番号プレースホルダー 3">
            <a:extLst>
              <a:ext uri="{FF2B5EF4-FFF2-40B4-BE49-F238E27FC236}">
                <a16:creationId xmlns:a16="http://schemas.microsoft.com/office/drawing/2014/main" id="{4CBC0082-A5B3-654F-FC40-DD924233A42B}"/>
              </a:ext>
            </a:extLst>
          </p:cNvPr>
          <p:cNvSpPr>
            <a:spLocks noGrp="1"/>
          </p:cNvSpPr>
          <p:nvPr>
            <p:ph type="sldNum" sz="quarter" idx="5"/>
          </p:nvPr>
        </p:nvSpPr>
        <p:spPr/>
        <p:txBody>
          <a:bodyPr/>
          <a:lstStyle/>
          <a:p>
            <a:fld id="{4368CECF-0771-D84F-8D42-085DB944B0B8}" type="slidenum">
              <a:rPr kumimoji="1" lang="ja-JP" altLang="en-US" smtClean="0"/>
              <a:t>34</a:t>
            </a:fld>
            <a:endParaRPr kumimoji="1" lang="ja-JP" altLang="en-US"/>
          </a:p>
        </p:txBody>
      </p:sp>
    </p:spTree>
    <p:extLst>
      <p:ext uri="{BB962C8B-B14F-4D97-AF65-F5344CB8AC3E}">
        <p14:creationId xmlns:p14="http://schemas.microsoft.com/office/powerpoint/2010/main" val="4558293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6BC4B-DC9F-A085-F30C-25A3CFE993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89D6EAB-2FE2-810A-A5CB-A93E95B845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F2526D0-6E90-7DB1-AB72-BE81DBBF9E4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自発呼吸下の健常ボランティア十一人　下半身陰圧</a:t>
            </a:r>
            <a:r>
              <a:rPr kumimoji="1" lang="en-US" altLang="ja-JP" dirty="0"/>
              <a:t>Lower body negative pressure</a:t>
            </a:r>
            <a:r>
              <a:rPr kumimoji="1" lang="ja-JP" altLang="en-US"/>
              <a:t>で循環血液量減少を再現し</a:t>
            </a:r>
            <a:r>
              <a:rPr kumimoji="1" lang="en-US" altLang="ja-JP" dirty="0"/>
              <a:t>PPG</a:t>
            </a:r>
            <a:r>
              <a:rPr kumimoji="1" lang="ja-JP" altLang="en-US"/>
              <a:t>パラメータの変化を検討する目的</a:t>
            </a:r>
            <a:endParaRPr kumimoji="1" lang="en-US" altLang="ja-JP" dirty="0"/>
          </a:p>
          <a:p>
            <a:r>
              <a:rPr kumimoji="1" lang="ja-JP" altLang="en-US" sz="1200" kern="1200">
                <a:solidFill>
                  <a:schemeClr val="tx1"/>
                </a:solidFill>
                <a:effectLst/>
                <a:latin typeface="+mn-lt"/>
                <a:ea typeface="+mn-ea"/>
                <a:cs typeface="+mn-cs"/>
              </a:rPr>
              <a:t>ネオプレン製のスカートによって腸骨稜（</a:t>
            </a:r>
            <a:r>
              <a:rPr kumimoji="1" lang="en" altLang="ja-JP" sz="1200" kern="1200" dirty="0">
                <a:solidFill>
                  <a:schemeClr val="tx1"/>
                </a:solidFill>
                <a:effectLst/>
                <a:latin typeface="+mn-lt"/>
                <a:ea typeface="+mn-ea"/>
                <a:cs typeface="+mn-cs"/>
              </a:rPr>
              <a:t>iliac crest</a:t>
            </a:r>
            <a:r>
              <a:rPr kumimoji="1" lang="ja-JP" altLang="en" sz="1200" kern="1200">
                <a:solidFill>
                  <a:schemeClr val="tx1"/>
                </a:solidFill>
                <a:effectLst/>
                <a:latin typeface="+mn-lt"/>
                <a:ea typeface="+mn-ea"/>
                <a:cs typeface="+mn-cs"/>
              </a:rPr>
              <a:t>）</a:t>
            </a:r>
            <a:r>
              <a:rPr kumimoji="1" lang="ja-JP" altLang="en-US" sz="1200" kern="1200">
                <a:solidFill>
                  <a:schemeClr val="tx1"/>
                </a:solidFill>
                <a:effectLst/>
                <a:latin typeface="+mn-lt"/>
                <a:ea typeface="+mn-ea"/>
                <a:cs typeface="+mn-cs"/>
              </a:rPr>
              <a:t>の高さで密閉された気密チャンバー内に仰臥位で配置</a:t>
            </a:r>
            <a:endParaRPr kumimoji="1" lang="en-US" altLang="ja-JP" dirty="0"/>
          </a:p>
          <a:p>
            <a:r>
              <a:rPr kumimoji="1" lang="ja-JP" altLang="en-US" sz="1200" kern="1200">
                <a:solidFill>
                  <a:schemeClr val="tx1"/>
                </a:solidFill>
                <a:effectLst/>
                <a:latin typeface="+mn-lt"/>
                <a:ea typeface="+mn-ea"/>
                <a:cs typeface="+mn-cs"/>
              </a:rPr>
              <a:t>ベースライン、</a:t>
            </a:r>
            <a:r>
              <a:rPr kumimoji="1" lang="en-US" altLang="ja-JP" sz="1200" kern="1200" dirty="0">
                <a:solidFill>
                  <a:schemeClr val="tx1"/>
                </a:solidFill>
                <a:effectLst/>
                <a:latin typeface="+mn-lt"/>
                <a:ea typeface="+mn-ea"/>
                <a:cs typeface="+mn-cs"/>
              </a:rPr>
              <a:t>30</a:t>
            </a:r>
            <a:r>
              <a:rPr kumimoji="1" lang="ja-JP" altLang="en-US" sz="1200" kern="1200">
                <a:solidFill>
                  <a:schemeClr val="tx1"/>
                </a:solidFill>
                <a:effectLst/>
                <a:latin typeface="+mn-lt"/>
                <a:ea typeface="+mn-ea"/>
                <a:cs typeface="+mn-cs"/>
              </a:rPr>
              <a:t>、</a:t>
            </a:r>
            <a:r>
              <a:rPr kumimoji="1" lang="en-US" altLang="ja-JP" sz="1200" kern="1200" dirty="0">
                <a:solidFill>
                  <a:schemeClr val="tx1"/>
                </a:solidFill>
                <a:effectLst/>
                <a:latin typeface="+mn-lt"/>
                <a:ea typeface="+mn-ea"/>
                <a:cs typeface="+mn-cs"/>
              </a:rPr>
              <a:t>75</a:t>
            </a:r>
            <a:r>
              <a:rPr kumimoji="1" lang="ja-JP" altLang="en-US" sz="1200" kern="1200">
                <a:solidFill>
                  <a:schemeClr val="tx1"/>
                </a:solidFill>
                <a:effectLst/>
                <a:latin typeface="+mn-lt"/>
                <a:ea typeface="+mn-ea"/>
                <a:cs typeface="+mn-cs"/>
              </a:rPr>
              <a:t>、</a:t>
            </a:r>
            <a:r>
              <a:rPr kumimoji="1" lang="en-US" altLang="ja-JP" sz="1200" kern="1200" dirty="0">
                <a:solidFill>
                  <a:schemeClr val="tx1"/>
                </a:solidFill>
                <a:effectLst/>
                <a:latin typeface="+mn-lt"/>
                <a:ea typeface="+mn-ea"/>
                <a:cs typeface="+mn-cs"/>
              </a:rPr>
              <a:t>90 </a:t>
            </a:r>
            <a:r>
              <a:rPr kumimoji="1" lang="en" altLang="ja-JP" sz="1200" kern="1200" dirty="0">
                <a:solidFill>
                  <a:schemeClr val="tx1"/>
                </a:solidFill>
                <a:effectLst/>
                <a:latin typeface="+mn-lt"/>
                <a:ea typeface="+mn-ea"/>
                <a:cs typeface="+mn-cs"/>
              </a:rPr>
              <a:t>mmHg</a:t>
            </a:r>
            <a:r>
              <a:rPr kumimoji="1" lang="ja-JP" altLang="en" sz="1200" kern="1200">
                <a:solidFill>
                  <a:schemeClr val="tx1"/>
                </a:solidFill>
                <a:effectLst/>
                <a:latin typeface="+mn-lt"/>
                <a:ea typeface="+mn-ea"/>
                <a:cs typeface="+mn-cs"/>
              </a:rPr>
              <a:t>（</a:t>
            </a:r>
            <a:r>
              <a:rPr kumimoji="1" lang="ja-JP" altLang="en-US" sz="1200" kern="1200">
                <a:solidFill>
                  <a:schemeClr val="tx1"/>
                </a:solidFill>
                <a:effectLst/>
                <a:latin typeface="+mn-lt"/>
                <a:ea typeface="+mn-ea"/>
                <a:cs typeface="+mn-cs"/>
              </a:rPr>
              <a:t>あるいは被験者が症状を呈するまで）の</a:t>
            </a:r>
            <a:r>
              <a:rPr kumimoji="1" lang="en" altLang="ja-JP" sz="1200" kern="1200" dirty="0">
                <a:solidFill>
                  <a:schemeClr val="tx1"/>
                </a:solidFill>
                <a:effectLst/>
                <a:latin typeface="+mn-lt"/>
                <a:ea typeface="+mn-ea"/>
                <a:cs typeface="+mn-cs"/>
              </a:rPr>
              <a:t>LBNP</a:t>
            </a:r>
            <a:r>
              <a:rPr kumimoji="1" lang="ja-JP" altLang="en-US" sz="1200" kern="1200">
                <a:solidFill>
                  <a:schemeClr val="tx1"/>
                </a:solidFill>
                <a:effectLst/>
                <a:latin typeface="+mn-lt"/>
                <a:ea typeface="+mn-ea"/>
                <a:cs typeface="+mn-cs"/>
              </a:rPr>
              <a:t>プロトコルを実施し、</a:t>
            </a:r>
            <a:r>
              <a:rPr kumimoji="1" lang="en-US" altLang="ja-JP" sz="1200" kern="1200" dirty="0">
                <a:solidFill>
                  <a:schemeClr val="tx1"/>
                </a:solidFill>
                <a:effectLst/>
                <a:latin typeface="+mn-lt"/>
                <a:ea typeface="+mn-ea"/>
                <a:cs typeface="+mn-cs"/>
              </a:rPr>
              <a:t>PPG</a:t>
            </a:r>
            <a:r>
              <a:rPr kumimoji="1" lang="ja-JP" altLang="en-US" sz="1200" kern="1200">
                <a:solidFill>
                  <a:schemeClr val="tx1"/>
                </a:solidFill>
                <a:effectLst/>
                <a:latin typeface="+mn-lt"/>
                <a:ea typeface="+mn-ea"/>
                <a:cs typeface="+mn-cs"/>
              </a:rPr>
              <a:t>波形の</a:t>
            </a:r>
            <a:r>
              <a:rPr lang="ja-JP" altLang="en-US" sz="1200"/>
              <a:t>ピーク、高さ、幅、傾斜、面積の項目を検討した。</a:t>
            </a:r>
            <a:endParaRPr kumimoji="1" lang="ja-JP" alt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a:p>
            <a:endParaRPr kumimoji="1" lang="en-US" altLang="ja-JP" dirty="0"/>
          </a:p>
          <a:p>
            <a:endParaRPr kumimoji="1" lang="en-US" altLang="ja-JP" dirty="0"/>
          </a:p>
          <a:p>
            <a:r>
              <a:rPr kumimoji="1" lang="en-US" altLang="ja-JP" dirty="0" err="1"/>
              <a:t>cannesson</a:t>
            </a:r>
            <a:r>
              <a:rPr kumimoji="1" lang="en-US" altLang="ja-JP" dirty="0"/>
              <a:t> 2005</a:t>
            </a:r>
            <a:r>
              <a:rPr kumimoji="1" lang="ja-JP" altLang="en-US"/>
              <a:t>の</a:t>
            </a:r>
            <a:r>
              <a:rPr kumimoji="1" lang="en-US" altLang="ja-JP" dirty="0"/>
              <a:t>ΔPOP</a:t>
            </a:r>
            <a:r>
              <a:rPr kumimoji="1" lang="ja-JP" altLang="en-US"/>
              <a:t>も評価していいのか</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72A279B0-5167-1C6E-DCCB-AEE8E8CB8326}"/>
              </a:ext>
            </a:extLst>
          </p:cNvPr>
          <p:cNvSpPr>
            <a:spLocks noGrp="1"/>
          </p:cNvSpPr>
          <p:nvPr>
            <p:ph type="sldNum" sz="quarter" idx="5"/>
          </p:nvPr>
        </p:nvSpPr>
        <p:spPr/>
        <p:txBody>
          <a:bodyPr/>
          <a:lstStyle/>
          <a:p>
            <a:fld id="{4368CECF-0771-D84F-8D42-085DB944B0B8}" type="slidenum">
              <a:rPr kumimoji="1" lang="ja-JP" altLang="en-US" smtClean="0"/>
              <a:t>36</a:t>
            </a:fld>
            <a:endParaRPr kumimoji="1" lang="ja-JP" altLang="en-US"/>
          </a:p>
        </p:txBody>
      </p:sp>
    </p:spTree>
    <p:extLst>
      <p:ext uri="{BB962C8B-B14F-4D97-AF65-F5344CB8AC3E}">
        <p14:creationId xmlns:p14="http://schemas.microsoft.com/office/powerpoint/2010/main" val="21658910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073E1-4312-9B21-BA1D-996C5C4F715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7E9EDCF-117E-0918-9304-CCB70B50F36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BBE0123-27DA-D6F5-38B5-3556EF72B8B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結果として下半身の陰圧が強いほど、</a:t>
            </a:r>
            <a:r>
              <a:rPr lang="ja-JP" altLang="en-US" sz="1200"/>
              <a:t>高さ、幅、傾斜が低下した。</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波形上は右のように振幅が低下し潰れたような波形になる。そして陰圧を解除すると元に戻る。</a:t>
            </a:r>
            <a:endParaRPr kumimoji="1" lang="ja-JP" altLang="en-US"/>
          </a:p>
          <a:p>
            <a:endParaRPr kumimoji="1" lang="en-US" altLang="ja-JP" dirty="0"/>
          </a:p>
        </p:txBody>
      </p:sp>
      <p:sp>
        <p:nvSpPr>
          <p:cNvPr id="4" name="スライド番号プレースホルダー 3">
            <a:extLst>
              <a:ext uri="{FF2B5EF4-FFF2-40B4-BE49-F238E27FC236}">
                <a16:creationId xmlns:a16="http://schemas.microsoft.com/office/drawing/2014/main" id="{D88FE6EA-E664-BA4E-4E28-B897D67A1F6E}"/>
              </a:ext>
            </a:extLst>
          </p:cNvPr>
          <p:cNvSpPr>
            <a:spLocks noGrp="1"/>
          </p:cNvSpPr>
          <p:nvPr>
            <p:ph type="sldNum" sz="quarter" idx="5"/>
          </p:nvPr>
        </p:nvSpPr>
        <p:spPr/>
        <p:txBody>
          <a:bodyPr/>
          <a:lstStyle/>
          <a:p>
            <a:fld id="{4368CECF-0771-D84F-8D42-085DB944B0B8}" type="slidenum">
              <a:rPr kumimoji="1" lang="ja-JP" altLang="en-US" smtClean="0"/>
              <a:t>37</a:t>
            </a:fld>
            <a:endParaRPr kumimoji="1" lang="ja-JP" altLang="en-US"/>
          </a:p>
        </p:txBody>
      </p:sp>
    </p:spTree>
    <p:extLst>
      <p:ext uri="{BB962C8B-B14F-4D97-AF65-F5344CB8AC3E}">
        <p14:creationId xmlns:p14="http://schemas.microsoft.com/office/powerpoint/2010/main" val="8244533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EDB65-9ADD-5BDA-BEB2-E0443EC52D4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1002C2C-3E13-C69B-4B7D-95A8A560E16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3994529-8A50-B8B4-55E0-93AF5B28646D}"/>
              </a:ext>
            </a:extLst>
          </p:cNvPr>
          <p:cNvSpPr>
            <a:spLocks noGrp="1"/>
          </p:cNvSpPr>
          <p:nvPr>
            <p:ph type="body" idx="1"/>
          </p:nvPr>
        </p:nvSpPr>
        <p:spPr/>
        <p:txBody>
          <a:bodyPr/>
          <a:lstStyle/>
          <a:p>
            <a:r>
              <a:rPr lang="en-US" dirty="0" err="1"/>
              <a:t>続いて末梢血管トーヌスの影響について</a:t>
            </a:r>
            <a:r>
              <a:rPr lang="en-US" dirty="0"/>
              <a:t>。</a:t>
            </a:r>
          </a:p>
          <a:p>
            <a:r>
              <a:rPr lang="en-US" dirty="0" err="1"/>
              <a:t>健常成人ボランティアに血管拡張薬と収縮薬を投与して、PPG波形変化を見た研究</a:t>
            </a:r>
            <a:r>
              <a:rPr lang="en-US" dirty="0"/>
              <a:t>。</a:t>
            </a:r>
          </a:p>
          <a:p>
            <a:r>
              <a:rPr lang="en-US" dirty="0" err="1"/>
              <a:t>拡張薬では反射波の高さが減り、収縮薬では反射波の高さが増えた</a:t>
            </a:r>
            <a:r>
              <a:rPr lang="en-US" dirty="0"/>
              <a:t>。</a:t>
            </a:r>
          </a:p>
          <a:p>
            <a:r>
              <a:rPr dirty="0" err="1"/>
              <a:t>末梢血管トーヌスの変化</a:t>
            </a:r>
            <a:r>
              <a:rPr dirty="0"/>
              <a:t> → </a:t>
            </a:r>
            <a:r>
              <a:rPr dirty="0" err="1"/>
              <a:t>反射波（拡張期波）の「高さ</a:t>
            </a:r>
            <a:r>
              <a:rPr dirty="0"/>
              <a:t>」</a:t>
            </a:r>
            <a:r>
              <a:rPr lang="ja-JP" altLang="en-US"/>
              <a:t>に影響する。</a:t>
            </a:r>
            <a:endParaRPr dirty="0"/>
          </a:p>
          <a:p>
            <a:endParaRPr dirty="0"/>
          </a:p>
          <a:p>
            <a:r>
              <a:rPr dirty="0" err="1"/>
              <a:t>裏づけ（用量依存性のある実測</a:t>
            </a:r>
            <a:r>
              <a:rPr dirty="0"/>
              <a:t>）</a:t>
            </a:r>
          </a:p>
          <a:p>
            <a:r>
              <a:rPr dirty="0"/>
              <a:t>・</a:t>
            </a:r>
            <a:r>
              <a:rPr dirty="0" err="1"/>
              <a:t>Chowienczyk</a:t>
            </a:r>
            <a:r>
              <a:rPr dirty="0"/>
              <a:t> 1999（JACC 34:2007）：</a:t>
            </a:r>
            <a:r>
              <a:rPr dirty="0" err="1"/>
              <a:t>吸入</a:t>
            </a:r>
            <a:r>
              <a:rPr dirty="0"/>
              <a:t>β₂</a:t>
            </a:r>
            <a:r>
              <a:rPr dirty="0" err="1"/>
              <a:t>刺激薬で</a:t>
            </a:r>
            <a:r>
              <a:rPr dirty="0"/>
              <a:t> RI −11.8%、</a:t>
            </a:r>
            <a:r>
              <a:rPr dirty="0" err="1"/>
              <a:t>ニトログリセリンで</a:t>
            </a:r>
            <a:r>
              <a:rPr dirty="0"/>
              <a:t> RI −18.3%。</a:t>
            </a:r>
          </a:p>
          <a:p>
            <a:r>
              <a:rPr dirty="0"/>
              <a:t>・</a:t>
            </a:r>
            <a:r>
              <a:rPr dirty="0" err="1"/>
              <a:t>Millasseau</a:t>
            </a:r>
            <a:r>
              <a:rPr dirty="0"/>
              <a:t> 2003（Am J </a:t>
            </a:r>
            <a:r>
              <a:rPr dirty="0" err="1"/>
              <a:t>Hypertens</a:t>
            </a:r>
            <a:r>
              <a:rPr dirty="0"/>
              <a:t> 16:467）：</a:t>
            </a:r>
            <a:r>
              <a:rPr dirty="0" err="1"/>
              <a:t>健常男性で、RI_DVP</a:t>
            </a:r>
            <a:r>
              <a:rPr dirty="0"/>
              <a:t> </a:t>
            </a:r>
            <a:r>
              <a:rPr dirty="0" err="1"/>
              <a:t>はアンジオテンシンII</a:t>
            </a:r>
            <a:r>
              <a:rPr dirty="0"/>
              <a:t> </a:t>
            </a:r>
            <a:r>
              <a:rPr dirty="0" err="1"/>
              <a:t>で用量依存性に上昇</a:t>
            </a:r>
            <a:r>
              <a:rPr dirty="0"/>
              <a:t>、</a:t>
            </a:r>
          </a:p>
          <a:p>
            <a:r>
              <a:rPr dirty="0"/>
              <a:t>　GTN </a:t>
            </a:r>
            <a:r>
              <a:rPr dirty="0" err="1"/>
              <a:t>で用量依存性に低下した。一方</a:t>
            </a:r>
            <a:r>
              <a:rPr dirty="0"/>
              <a:t> SI_DVP </a:t>
            </a:r>
            <a:r>
              <a:rPr dirty="0" err="1"/>
              <a:t>は</a:t>
            </a:r>
            <a:r>
              <a:rPr dirty="0"/>
              <a:t> AII・GTN </a:t>
            </a:r>
            <a:r>
              <a:rPr dirty="0" err="1"/>
              <a:t>でほとんど動かず、年齢と強く相関（R</a:t>
            </a:r>
            <a:r>
              <a:rPr dirty="0"/>
              <a:t>=0.63）。</a:t>
            </a:r>
          </a:p>
          <a:p>
            <a:r>
              <a:rPr dirty="0"/>
              <a:t>　＝「RI＝急性の血管トーヌス／SI＝慢性の硬さ」という2軸の分離を直接示した論文（→ 3.3・6.1 </a:t>
            </a:r>
            <a:r>
              <a:rPr dirty="0" err="1"/>
              <a:t>の土台</a:t>
            </a:r>
            <a:r>
              <a:rPr dirty="0"/>
              <a:t>）。</a:t>
            </a:r>
          </a:p>
          <a:p>
            <a:r>
              <a:rPr dirty="0"/>
              <a:t>　</a:t>
            </a:r>
            <a:r>
              <a:rPr dirty="0" err="1"/>
              <a:t>なお</a:t>
            </a:r>
            <a:r>
              <a:rPr dirty="0"/>
              <a:t> SDPPG </a:t>
            </a:r>
            <a:r>
              <a:rPr dirty="0" err="1"/>
              <a:t>の</a:t>
            </a:r>
            <a:r>
              <a:rPr dirty="0"/>
              <a:t> d/a </a:t>
            </a:r>
            <a:r>
              <a:rPr dirty="0" err="1"/>
              <a:t>も年齢と強く相関（R</a:t>
            </a:r>
            <a:r>
              <a:rPr dirty="0"/>
              <a:t>=−0.66）するが、GTN </a:t>
            </a:r>
            <a:r>
              <a:rPr dirty="0" err="1"/>
              <a:t>では用量依存性を示さず</a:t>
            </a:r>
            <a:r>
              <a:rPr dirty="0"/>
              <a:t>、</a:t>
            </a:r>
          </a:p>
          <a:p>
            <a:r>
              <a:rPr dirty="0"/>
              <a:t>　</a:t>
            </a:r>
            <a:r>
              <a:rPr dirty="0" err="1"/>
              <a:t>血管作動薬の効果を見る指標としては</a:t>
            </a:r>
            <a:r>
              <a:rPr dirty="0"/>
              <a:t> RI </a:t>
            </a:r>
            <a:r>
              <a:rPr dirty="0" err="1"/>
              <a:t>のほうが信頼できると結論している</a:t>
            </a:r>
            <a:r>
              <a:rPr dirty="0"/>
              <a:t>。</a:t>
            </a:r>
          </a:p>
          <a:p>
            <a:r>
              <a:rPr dirty="0"/>
              <a:t>・</a:t>
            </a:r>
            <a:r>
              <a:rPr dirty="0" err="1"/>
              <a:t>Takazawa</a:t>
            </a:r>
            <a:r>
              <a:rPr dirty="0"/>
              <a:t> 1998（Hypertension 32:365）：</a:t>
            </a:r>
            <a:r>
              <a:rPr dirty="0" err="1"/>
              <a:t>アンジオテンシンII</a:t>
            </a:r>
            <a:r>
              <a:rPr dirty="0"/>
              <a:t> </a:t>
            </a:r>
            <a:r>
              <a:rPr dirty="0" err="1"/>
              <a:t>で</a:t>
            </a:r>
            <a:r>
              <a:rPr dirty="0"/>
              <a:t> d/a↑・AGI↑（</a:t>
            </a:r>
            <a:r>
              <a:rPr dirty="0" err="1"/>
              <a:t>トーヌス上昇側</a:t>
            </a:r>
            <a:r>
              <a:rPr dirty="0"/>
              <a:t>）。</a:t>
            </a:r>
          </a:p>
          <a:p>
            <a:endParaRPr dirty="0"/>
          </a:p>
          <a:p>
            <a:r>
              <a:rPr dirty="0" err="1"/>
              <a:t>引用から外した理由（ユーザー判断・口頭では触れてよい</a:t>
            </a:r>
            <a:r>
              <a:rPr dirty="0"/>
              <a:t>）</a:t>
            </a:r>
          </a:p>
          <a:p>
            <a:r>
              <a:rPr dirty="0"/>
              <a:t>・Awad 2007：CABG 14例で指・耳の PPG </a:t>
            </a:r>
            <a:r>
              <a:rPr dirty="0" err="1"/>
              <a:t>と</a:t>
            </a:r>
            <a:r>
              <a:rPr dirty="0"/>
              <a:t> SVR </a:t>
            </a:r>
            <a:r>
              <a:rPr dirty="0" err="1"/>
              <a:t>を検討。SVR</a:t>
            </a:r>
            <a:r>
              <a:rPr dirty="0"/>
              <a:t> </a:t>
            </a:r>
            <a:r>
              <a:rPr dirty="0" err="1"/>
              <a:t>と相関したのは「耳」かつ「パルス幅」であり</a:t>
            </a:r>
            <a:r>
              <a:rPr dirty="0"/>
              <a:t>、</a:t>
            </a:r>
          </a:p>
          <a:p>
            <a:r>
              <a:rPr dirty="0"/>
              <a:t>　</a:t>
            </a:r>
            <a:r>
              <a:rPr dirty="0" err="1"/>
              <a:t>反射波そのものを見た研究ではないため、このスライドの主張（反射波の高さ）の根拠にはならない</a:t>
            </a:r>
            <a:r>
              <a:rPr dirty="0"/>
              <a:t>。</a:t>
            </a:r>
          </a:p>
          <a:p>
            <a:r>
              <a:rPr dirty="0"/>
              <a:t>・</a:t>
            </a:r>
            <a:r>
              <a:rPr dirty="0" err="1"/>
              <a:t>Tusman</a:t>
            </a:r>
            <a:r>
              <a:rPr dirty="0"/>
              <a:t> 2019：切痕位置の分類（CABG症例）で、4.2 </a:t>
            </a:r>
            <a:r>
              <a:rPr dirty="0" err="1"/>
              <a:t>で正面から扱うためここでは重複</a:t>
            </a:r>
            <a:r>
              <a:rPr dirty="0"/>
              <a:t>。</a:t>
            </a:r>
          </a:p>
        </p:txBody>
      </p:sp>
      <p:sp>
        <p:nvSpPr>
          <p:cNvPr id="4" name="スライド番号プレースホルダー 3">
            <a:extLst>
              <a:ext uri="{FF2B5EF4-FFF2-40B4-BE49-F238E27FC236}">
                <a16:creationId xmlns:a16="http://schemas.microsoft.com/office/drawing/2014/main" id="{09205F14-0FA0-A2FE-B48E-1669C21337F0}"/>
              </a:ext>
            </a:extLst>
          </p:cNvPr>
          <p:cNvSpPr>
            <a:spLocks noGrp="1"/>
          </p:cNvSpPr>
          <p:nvPr>
            <p:ph type="sldNum" sz="quarter" idx="5"/>
          </p:nvPr>
        </p:nvSpPr>
        <p:spPr/>
        <p:txBody>
          <a:bodyPr/>
          <a:lstStyle/>
          <a:p>
            <a:fld id="{4368CECF-0771-D84F-8D42-085DB944B0B8}" type="slidenum">
              <a:rPr kumimoji="1" lang="ja-JP" altLang="en-US" smtClean="0"/>
              <a:t>38</a:t>
            </a:fld>
            <a:endParaRPr kumimoji="1" lang="ja-JP" altLang="en-US"/>
          </a:p>
        </p:txBody>
      </p:sp>
    </p:spTree>
    <p:extLst>
      <p:ext uri="{BB962C8B-B14F-4D97-AF65-F5344CB8AC3E}">
        <p14:creationId xmlns:p14="http://schemas.microsoft.com/office/powerpoint/2010/main" val="1966935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7C435-93F5-4E8C-C090-91E8563BF24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E8537D-C0DB-930B-739C-4978376E46B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6A6372D-ACD0-D9F8-A0EC-3BD2E65AC58D}"/>
              </a:ext>
            </a:extLst>
          </p:cNvPr>
          <p:cNvSpPr>
            <a:spLocks noGrp="1"/>
          </p:cNvSpPr>
          <p:nvPr>
            <p:ph type="body" idx="1"/>
          </p:nvPr>
        </p:nvSpPr>
        <p:spPr/>
        <p:txBody>
          <a:bodyPr/>
          <a:lstStyle/>
          <a:p>
            <a:r>
              <a:rPr lang="en-US" dirty="0" err="1"/>
              <a:t>続いて末梢血管トーヌスの影響について</a:t>
            </a:r>
            <a:r>
              <a:rPr lang="en-US" dirty="0"/>
              <a:t>。</a:t>
            </a:r>
          </a:p>
          <a:p>
            <a:r>
              <a:rPr lang="en-US" dirty="0" err="1"/>
              <a:t>健常成人ボランティアに血管拡張薬と収縮薬を投与して、PPG波形変化を見た研究</a:t>
            </a:r>
            <a:r>
              <a:rPr lang="en-US" dirty="0"/>
              <a:t>。</a:t>
            </a:r>
          </a:p>
          <a:p>
            <a:r>
              <a:rPr lang="en-US" dirty="0" err="1"/>
              <a:t>拡張薬では反射波の高さが減り、収縮薬では反射波の高さが増えた</a:t>
            </a:r>
            <a:r>
              <a:rPr lang="en-US" dirty="0"/>
              <a:t>。</a:t>
            </a:r>
          </a:p>
          <a:p>
            <a:r>
              <a:rPr dirty="0" err="1"/>
              <a:t>末梢血管トーヌスの変化</a:t>
            </a:r>
            <a:r>
              <a:rPr dirty="0"/>
              <a:t> → </a:t>
            </a:r>
            <a:r>
              <a:rPr dirty="0" err="1"/>
              <a:t>反射波（拡張期波）の「高さ</a:t>
            </a:r>
            <a:r>
              <a:rPr dirty="0"/>
              <a:t>」</a:t>
            </a:r>
            <a:r>
              <a:rPr lang="ja-JP" altLang="en-US"/>
              <a:t>に影響する。</a:t>
            </a:r>
            <a:endParaRPr dirty="0"/>
          </a:p>
          <a:p>
            <a:endParaRPr dirty="0"/>
          </a:p>
          <a:p>
            <a:r>
              <a:rPr dirty="0" err="1"/>
              <a:t>裏づけ（用量依存性のある実測</a:t>
            </a:r>
            <a:r>
              <a:rPr dirty="0"/>
              <a:t>）</a:t>
            </a:r>
          </a:p>
          <a:p>
            <a:r>
              <a:rPr dirty="0"/>
              <a:t>・</a:t>
            </a:r>
            <a:r>
              <a:rPr dirty="0" err="1"/>
              <a:t>Chowienczyk</a:t>
            </a:r>
            <a:r>
              <a:rPr dirty="0"/>
              <a:t> 1999（JACC 34:2007）：</a:t>
            </a:r>
            <a:r>
              <a:rPr dirty="0" err="1"/>
              <a:t>吸入</a:t>
            </a:r>
            <a:r>
              <a:rPr dirty="0"/>
              <a:t>β₂</a:t>
            </a:r>
            <a:r>
              <a:rPr dirty="0" err="1"/>
              <a:t>刺激薬で</a:t>
            </a:r>
            <a:r>
              <a:rPr dirty="0"/>
              <a:t> RI −11.8%、</a:t>
            </a:r>
            <a:r>
              <a:rPr dirty="0" err="1"/>
              <a:t>ニトログリセリンで</a:t>
            </a:r>
            <a:r>
              <a:rPr dirty="0"/>
              <a:t> RI −18.3%。</a:t>
            </a:r>
          </a:p>
          <a:p>
            <a:r>
              <a:rPr dirty="0"/>
              <a:t>・</a:t>
            </a:r>
            <a:r>
              <a:rPr dirty="0" err="1"/>
              <a:t>Millasseau</a:t>
            </a:r>
            <a:r>
              <a:rPr dirty="0"/>
              <a:t> 2003（Am J </a:t>
            </a:r>
            <a:r>
              <a:rPr dirty="0" err="1"/>
              <a:t>Hypertens</a:t>
            </a:r>
            <a:r>
              <a:rPr dirty="0"/>
              <a:t> 16:467）：</a:t>
            </a:r>
            <a:r>
              <a:rPr dirty="0" err="1"/>
              <a:t>健常男性で、RI_DVP</a:t>
            </a:r>
            <a:r>
              <a:rPr dirty="0"/>
              <a:t> </a:t>
            </a:r>
            <a:r>
              <a:rPr dirty="0" err="1"/>
              <a:t>はアンジオテンシンII</a:t>
            </a:r>
            <a:r>
              <a:rPr dirty="0"/>
              <a:t> </a:t>
            </a:r>
            <a:r>
              <a:rPr dirty="0" err="1"/>
              <a:t>で用量依存性に上昇</a:t>
            </a:r>
            <a:r>
              <a:rPr dirty="0"/>
              <a:t>、</a:t>
            </a:r>
          </a:p>
          <a:p>
            <a:r>
              <a:rPr dirty="0"/>
              <a:t>　GTN </a:t>
            </a:r>
            <a:r>
              <a:rPr dirty="0" err="1"/>
              <a:t>で用量依存性に低下した。一方</a:t>
            </a:r>
            <a:r>
              <a:rPr dirty="0"/>
              <a:t> SI_DVP </a:t>
            </a:r>
            <a:r>
              <a:rPr dirty="0" err="1"/>
              <a:t>は</a:t>
            </a:r>
            <a:r>
              <a:rPr dirty="0"/>
              <a:t> AII・GTN </a:t>
            </a:r>
            <a:r>
              <a:rPr dirty="0" err="1"/>
              <a:t>でほとんど動かず、年齢と強く相関（R</a:t>
            </a:r>
            <a:r>
              <a:rPr dirty="0"/>
              <a:t>=0.63）。</a:t>
            </a:r>
          </a:p>
          <a:p>
            <a:r>
              <a:rPr dirty="0"/>
              <a:t>　＝「RI＝急性の血管トーヌス／SI＝慢性の硬さ」という2軸の分離を直接示した論文（→ 3.3・6.1 </a:t>
            </a:r>
            <a:r>
              <a:rPr dirty="0" err="1"/>
              <a:t>の土台</a:t>
            </a:r>
            <a:r>
              <a:rPr dirty="0"/>
              <a:t>）。</a:t>
            </a:r>
          </a:p>
          <a:p>
            <a:r>
              <a:rPr dirty="0"/>
              <a:t>　</a:t>
            </a:r>
            <a:r>
              <a:rPr dirty="0" err="1"/>
              <a:t>なお</a:t>
            </a:r>
            <a:r>
              <a:rPr dirty="0"/>
              <a:t> SDPPG </a:t>
            </a:r>
            <a:r>
              <a:rPr dirty="0" err="1"/>
              <a:t>の</a:t>
            </a:r>
            <a:r>
              <a:rPr dirty="0"/>
              <a:t> d/a </a:t>
            </a:r>
            <a:r>
              <a:rPr dirty="0" err="1"/>
              <a:t>も年齢と強く相関（R</a:t>
            </a:r>
            <a:r>
              <a:rPr dirty="0"/>
              <a:t>=−0.66）するが、GTN </a:t>
            </a:r>
            <a:r>
              <a:rPr dirty="0" err="1"/>
              <a:t>では用量依存性を示さず</a:t>
            </a:r>
            <a:r>
              <a:rPr dirty="0"/>
              <a:t>、</a:t>
            </a:r>
          </a:p>
          <a:p>
            <a:r>
              <a:rPr dirty="0"/>
              <a:t>　</a:t>
            </a:r>
            <a:r>
              <a:rPr dirty="0" err="1"/>
              <a:t>血管作動薬の効果を見る指標としては</a:t>
            </a:r>
            <a:r>
              <a:rPr dirty="0"/>
              <a:t> RI </a:t>
            </a:r>
            <a:r>
              <a:rPr dirty="0" err="1"/>
              <a:t>のほうが信頼できると結論している</a:t>
            </a:r>
            <a:r>
              <a:rPr dirty="0"/>
              <a:t>。</a:t>
            </a:r>
          </a:p>
          <a:p>
            <a:r>
              <a:rPr dirty="0"/>
              <a:t>・</a:t>
            </a:r>
            <a:r>
              <a:rPr dirty="0" err="1"/>
              <a:t>Takazawa</a:t>
            </a:r>
            <a:r>
              <a:rPr dirty="0"/>
              <a:t> 1998（Hypertension 32:365）：</a:t>
            </a:r>
            <a:r>
              <a:rPr dirty="0" err="1"/>
              <a:t>アンジオテンシンII</a:t>
            </a:r>
            <a:r>
              <a:rPr dirty="0"/>
              <a:t> </a:t>
            </a:r>
            <a:r>
              <a:rPr dirty="0" err="1"/>
              <a:t>で</a:t>
            </a:r>
            <a:r>
              <a:rPr dirty="0"/>
              <a:t> d/a↑・AGI↑（</a:t>
            </a:r>
            <a:r>
              <a:rPr dirty="0" err="1"/>
              <a:t>トーヌス上昇側</a:t>
            </a:r>
            <a:r>
              <a:rPr dirty="0"/>
              <a:t>）。</a:t>
            </a:r>
          </a:p>
          <a:p>
            <a:endParaRPr dirty="0"/>
          </a:p>
          <a:p>
            <a:r>
              <a:rPr dirty="0" err="1"/>
              <a:t>引用から外した理由（ユーザー判断・口頭では触れてよい</a:t>
            </a:r>
            <a:r>
              <a:rPr dirty="0"/>
              <a:t>）</a:t>
            </a:r>
          </a:p>
          <a:p>
            <a:r>
              <a:rPr dirty="0"/>
              <a:t>・Awad 2007：CABG 14例で指・耳の PPG </a:t>
            </a:r>
            <a:r>
              <a:rPr dirty="0" err="1"/>
              <a:t>と</a:t>
            </a:r>
            <a:r>
              <a:rPr dirty="0"/>
              <a:t> SVR </a:t>
            </a:r>
            <a:r>
              <a:rPr dirty="0" err="1"/>
              <a:t>を検討。SVR</a:t>
            </a:r>
            <a:r>
              <a:rPr dirty="0"/>
              <a:t> </a:t>
            </a:r>
            <a:r>
              <a:rPr dirty="0" err="1"/>
              <a:t>と相関したのは「耳」かつ「パルス幅」であり</a:t>
            </a:r>
            <a:r>
              <a:rPr dirty="0"/>
              <a:t>、</a:t>
            </a:r>
          </a:p>
          <a:p>
            <a:r>
              <a:rPr dirty="0"/>
              <a:t>　</a:t>
            </a:r>
            <a:r>
              <a:rPr dirty="0" err="1"/>
              <a:t>反射波そのものを見た研究ではないため、このスライドの主張（反射波の高さ）の根拠にはならない</a:t>
            </a:r>
            <a:r>
              <a:rPr dirty="0"/>
              <a:t>。</a:t>
            </a:r>
          </a:p>
          <a:p>
            <a:r>
              <a:rPr dirty="0"/>
              <a:t>・</a:t>
            </a:r>
            <a:r>
              <a:rPr dirty="0" err="1"/>
              <a:t>Tusman</a:t>
            </a:r>
            <a:r>
              <a:rPr dirty="0"/>
              <a:t> 2019：切痕位置の分類（CABG症例）で、4.2 </a:t>
            </a:r>
            <a:r>
              <a:rPr dirty="0" err="1"/>
              <a:t>で正面から扱うためここでは重複</a:t>
            </a:r>
            <a:r>
              <a:rPr dirty="0"/>
              <a:t>。</a:t>
            </a:r>
          </a:p>
        </p:txBody>
      </p:sp>
      <p:sp>
        <p:nvSpPr>
          <p:cNvPr id="4" name="スライド番号プレースホルダー 3">
            <a:extLst>
              <a:ext uri="{FF2B5EF4-FFF2-40B4-BE49-F238E27FC236}">
                <a16:creationId xmlns:a16="http://schemas.microsoft.com/office/drawing/2014/main" id="{F9A59906-86C8-734C-B782-4ED35815C7E3}"/>
              </a:ext>
            </a:extLst>
          </p:cNvPr>
          <p:cNvSpPr>
            <a:spLocks noGrp="1"/>
          </p:cNvSpPr>
          <p:nvPr>
            <p:ph type="sldNum" sz="quarter" idx="5"/>
          </p:nvPr>
        </p:nvSpPr>
        <p:spPr/>
        <p:txBody>
          <a:bodyPr/>
          <a:lstStyle/>
          <a:p>
            <a:fld id="{4368CECF-0771-D84F-8D42-085DB944B0B8}" type="slidenum">
              <a:rPr kumimoji="1" lang="ja-JP" altLang="en-US" smtClean="0"/>
              <a:t>39</a:t>
            </a:fld>
            <a:endParaRPr kumimoji="1" lang="ja-JP" altLang="en-US"/>
          </a:p>
        </p:txBody>
      </p:sp>
    </p:spTree>
    <p:extLst>
      <p:ext uri="{BB962C8B-B14F-4D97-AF65-F5344CB8AC3E}">
        <p14:creationId xmlns:p14="http://schemas.microsoft.com/office/powerpoint/2010/main" val="24111550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8F35B-AC06-D0E5-2069-705E0E4FFA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651186-2C79-8F62-0939-B8EF84F20B5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070DBA-B8CB-E8F7-C405-16A294B01497}"/>
              </a:ext>
            </a:extLst>
          </p:cNvPr>
          <p:cNvSpPr>
            <a:spLocks noGrp="1"/>
          </p:cNvSpPr>
          <p:nvPr>
            <p:ph type="body" idx="1"/>
          </p:nvPr>
        </p:nvSpPr>
        <p:spPr/>
        <p:txBody>
          <a:bodyPr/>
          <a:lstStyle/>
          <a:p>
            <a:r>
              <a:rPr lang="ja-JP" altLang="en-US"/>
              <a:t>循環の後負荷とされるもののうち、末梢血管トーヌスと大血管スティッフネスが</a:t>
            </a:r>
            <a:r>
              <a:rPr lang="en-US" altLang="ja-JP" dirty="0"/>
              <a:t>PPG</a:t>
            </a:r>
            <a:r>
              <a:rPr lang="ja-JP" altLang="en-US"/>
              <a:t>波形に与える影響の違いをまとめる。</a:t>
            </a:r>
            <a:endParaRPr lang="en-US" altLang="ja-JP" dirty="0"/>
          </a:p>
          <a:p>
            <a:r>
              <a:rPr lang="en-US" dirty="0" err="1"/>
              <a:t>先ほど見たように末梢血管トーヌスは反射波の振幅に影響を与え、大血管スティッフネスは反射波の時相に影響を与える</a:t>
            </a:r>
            <a:endParaRPr lang="en-US" dirty="0"/>
          </a:p>
          <a:p>
            <a:endParaRPr lang="en-US" dirty="0"/>
          </a:p>
          <a:p>
            <a:r>
              <a:rPr dirty="0" err="1"/>
              <a:t>後負荷を「末梢（SVR・血管トーヌス</a:t>
            </a:r>
            <a:r>
              <a:rPr dirty="0"/>
              <a:t>）」</a:t>
            </a:r>
            <a:r>
              <a:rPr dirty="0" err="1"/>
              <a:t>と「大血管（エラスタンス</a:t>
            </a:r>
            <a:r>
              <a:rPr dirty="0"/>
              <a:t>）」</a:t>
            </a:r>
            <a:r>
              <a:rPr dirty="0" err="1"/>
              <a:t>に分け、波形での出方が違うことを示す</a:t>
            </a:r>
            <a:r>
              <a:rPr dirty="0"/>
              <a:t>。</a:t>
            </a:r>
          </a:p>
          <a:p>
            <a:endParaRPr dirty="0"/>
          </a:p>
          <a:p>
            <a:r>
              <a:rPr dirty="0"/>
              <a:t>① </a:t>
            </a:r>
            <a:r>
              <a:rPr dirty="0" err="1"/>
              <a:t>SVR・血管トーヌス</a:t>
            </a:r>
            <a:r>
              <a:rPr dirty="0"/>
              <a:t>↑ → </a:t>
            </a:r>
            <a:r>
              <a:rPr dirty="0" err="1"/>
              <a:t>反射波・切痕が「高く」なる</a:t>
            </a:r>
            <a:r>
              <a:rPr dirty="0"/>
              <a:t>（＝</a:t>
            </a:r>
            <a:r>
              <a:rPr dirty="0" err="1"/>
              <a:t>振幅の軸</a:t>
            </a:r>
            <a:r>
              <a:rPr dirty="0"/>
              <a:t>）</a:t>
            </a:r>
          </a:p>
          <a:p>
            <a:r>
              <a:rPr dirty="0"/>
              <a:t>② </a:t>
            </a:r>
            <a:r>
              <a:rPr dirty="0" err="1"/>
              <a:t>大血管エラスタンス</a:t>
            </a:r>
            <a:r>
              <a:rPr dirty="0"/>
              <a:t>↑ → </a:t>
            </a:r>
            <a:r>
              <a:rPr dirty="0" err="1"/>
              <a:t>反射波が「早く」帰る</a:t>
            </a:r>
            <a:r>
              <a:rPr dirty="0"/>
              <a:t> → </a:t>
            </a:r>
            <a:r>
              <a:rPr dirty="0" err="1"/>
              <a:t>下降脚に変曲点</a:t>
            </a:r>
            <a:r>
              <a:rPr dirty="0"/>
              <a:t>（＝</a:t>
            </a:r>
            <a:r>
              <a:rPr dirty="0" err="1"/>
              <a:t>時相の軸</a:t>
            </a:r>
            <a:r>
              <a:rPr dirty="0"/>
              <a:t>）</a:t>
            </a:r>
          </a:p>
          <a:p>
            <a:endParaRPr dirty="0"/>
          </a:p>
          <a:p>
            <a:r>
              <a:rPr dirty="0" err="1"/>
              <a:t>裏づけ</a:t>
            </a:r>
            <a:endParaRPr dirty="0"/>
          </a:p>
          <a:p>
            <a:r>
              <a:rPr dirty="0"/>
              <a:t>・</a:t>
            </a:r>
            <a:r>
              <a:rPr dirty="0" err="1"/>
              <a:t>Millasseau</a:t>
            </a:r>
            <a:r>
              <a:rPr dirty="0"/>
              <a:t> 2003（Am J </a:t>
            </a:r>
            <a:r>
              <a:rPr dirty="0" err="1"/>
              <a:t>Hypertens</a:t>
            </a:r>
            <a:r>
              <a:rPr dirty="0"/>
              <a:t> 16:467）：</a:t>
            </a:r>
            <a:r>
              <a:rPr dirty="0" err="1"/>
              <a:t>同一被験者で、RI</a:t>
            </a:r>
            <a:r>
              <a:rPr dirty="0"/>
              <a:t> </a:t>
            </a:r>
            <a:r>
              <a:rPr dirty="0" err="1"/>
              <a:t>は</a:t>
            </a:r>
            <a:r>
              <a:rPr dirty="0"/>
              <a:t> AII/GTN </a:t>
            </a:r>
            <a:r>
              <a:rPr dirty="0" err="1"/>
              <a:t>に用量依存性に反応するが</a:t>
            </a:r>
            <a:endParaRPr dirty="0"/>
          </a:p>
          <a:p>
            <a:r>
              <a:rPr dirty="0"/>
              <a:t>　SI </a:t>
            </a:r>
            <a:r>
              <a:rPr dirty="0" err="1"/>
              <a:t>はほとんど動かない。逆に</a:t>
            </a:r>
            <a:r>
              <a:rPr dirty="0"/>
              <a:t> SI </a:t>
            </a:r>
            <a:r>
              <a:rPr dirty="0" err="1"/>
              <a:t>は年齢と強く相関（R</a:t>
            </a:r>
            <a:r>
              <a:rPr dirty="0"/>
              <a:t>=0.63）。＝2つの軸が実測で分離できることの直接証拠。</a:t>
            </a:r>
          </a:p>
          <a:p>
            <a:r>
              <a:rPr dirty="0"/>
              <a:t>・</a:t>
            </a:r>
            <a:r>
              <a:rPr dirty="0" err="1"/>
              <a:t>Millasseau</a:t>
            </a:r>
            <a:r>
              <a:rPr dirty="0"/>
              <a:t> 2002（Clin Sci 103:371）：SI_DVP </a:t>
            </a:r>
            <a:r>
              <a:rPr dirty="0" err="1"/>
              <a:t>が大動脈</a:t>
            </a:r>
            <a:r>
              <a:rPr dirty="0"/>
              <a:t> PWV </a:t>
            </a:r>
            <a:r>
              <a:rPr dirty="0" err="1"/>
              <a:t>と相関し、加齢で</a:t>
            </a:r>
            <a:r>
              <a:rPr dirty="0"/>
              <a:t> ΔT </a:t>
            </a:r>
            <a:r>
              <a:rPr dirty="0" err="1"/>
              <a:t>が短縮（時相の軸</a:t>
            </a:r>
            <a:r>
              <a:rPr dirty="0"/>
              <a:t>）。</a:t>
            </a:r>
          </a:p>
          <a:p>
            <a:r>
              <a:rPr dirty="0"/>
              <a:t>・Dawber 1973（Angiology 24:244）：フラミンガム集団で、切痕の消え方（4分類）が加齢・冠動脈疾患と関連。</a:t>
            </a:r>
          </a:p>
          <a:p>
            <a:r>
              <a:rPr dirty="0"/>
              <a:t>・Cunningham 2023（Circ </a:t>
            </a:r>
            <a:r>
              <a:rPr dirty="0" err="1"/>
              <a:t>Genom</a:t>
            </a:r>
            <a:r>
              <a:rPr dirty="0"/>
              <a:t> Precis Med 16:e003676）：UK Biobank 17万例。切痕の平滑化が</a:t>
            </a:r>
          </a:p>
          <a:p>
            <a:r>
              <a:rPr dirty="0"/>
              <a:t>　</a:t>
            </a:r>
            <a:r>
              <a:rPr dirty="0" err="1"/>
              <a:t>高血圧・心筋梗塞</a:t>
            </a:r>
            <a:r>
              <a:rPr dirty="0"/>
              <a:t>/</a:t>
            </a:r>
            <a:r>
              <a:rPr dirty="0" err="1"/>
              <a:t>CAD・心不全・死亡と関連</a:t>
            </a:r>
            <a:r>
              <a:rPr dirty="0"/>
              <a:t>。②</a:t>
            </a:r>
            <a:r>
              <a:rPr dirty="0" err="1"/>
              <a:t>の軸が長期予後と結びつくことを大規模に示した</a:t>
            </a:r>
            <a:r>
              <a:rPr dirty="0"/>
              <a:t>。</a:t>
            </a:r>
          </a:p>
          <a:p>
            <a:r>
              <a:rPr dirty="0"/>
              <a:t>　→ ①②のうち「時相の軸」は2章（加齢・コホート）で扱った内容と地続きであることを、ここで明示する。</a:t>
            </a:r>
          </a:p>
          <a:p>
            <a:endParaRPr dirty="0"/>
          </a:p>
          <a:p>
            <a:r>
              <a:rPr dirty="0"/>
              <a:t>（Awad 2007 </a:t>
            </a:r>
            <a:r>
              <a:rPr dirty="0" err="1"/>
              <a:t>は引用から外した：SVR</a:t>
            </a:r>
            <a:r>
              <a:rPr dirty="0"/>
              <a:t> </a:t>
            </a:r>
            <a:r>
              <a:rPr dirty="0" err="1"/>
              <a:t>と相関したのは耳のパルス幅であり、反射波の高さ・時相の根拠ではない</a:t>
            </a:r>
            <a:r>
              <a:rPr dirty="0"/>
              <a:t>）</a:t>
            </a:r>
          </a:p>
        </p:txBody>
      </p:sp>
      <p:sp>
        <p:nvSpPr>
          <p:cNvPr id="4" name="スライド番号プレースホルダー 3">
            <a:extLst>
              <a:ext uri="{FF2B5EF4-FFF2-40B4-BE49-F238E27FC236}">
                <a16:creationId xmlns:a16="http://schemas.microsoft.com/office/drawing/2014/main" id="{0047E68D-42E0-3D83-3A48-E688B324C394}"/>
              </a:ext>
            </a:extLst>
          </p:cNvPr>
          <p:cNvSpPr>
            <a:spLocks noGrp="1"/>
          </p:cNvSpPr>
          <p:nvPr>
            <p:ph type="sldNum" sz="quarter" idx="5"/>
          </p:nvPr>
        </p:nvSpPr>
        <p:spPr/>
        <p:txBody>
          <a:bodyPr/>
          <a:lstStyle/>
          <a:p>
            <a:fld id="{4368CECF-0771-D84F-8D42-085DB944B0B8}" type="slidenum">
              <a:rPr kumimoji="1" lang="ja-JP" altLang="en-US" smtClean="0"/>
              <a:t>40</a:t>
            </a:fld>
            <a:endParaRPr kumimoji="1" lang="ja-JP" altLang="en-US"/>
          </a:p>
        </p:txBody>
      </p:sp>
    </p:spTree>
    <p:extLst>
      <p:ext uri="{BB962C8B-B14F-4D97-AF65-F5344CB8AC3E}">
        <p14:creationId xmlns:p14="http://schemas.microsoft.com/office/powerpoint/2010/main" val="12462839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8A6E8-6B94-169A-E75A-9D3F5066DF5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90D407-CD80-6773-C9E0-01CE3E3AF1F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E9CE6B6-B69F-FBF1-561A-10471DD8A78E}"/>
              </a:ext>
            </a:extLst>
          </p:cNvPr>
          <p:cNvSpPr>
            <a:spLocks noGrp="1"/>
          </p:cNvSpPr>
          <p:nvPr>
            <p:ph type="body" idx="1"/>
          </p:nvPr>
        </p:nvSpPr>
        <p:spPr/>
        <p:txBody>
          <a:bodyPr/>
          <a:lstStyle/>
          <a:p>
            <a:r>
              <a:rPr kumimoji="1" lang="ja-JP" altLang="en-US"/>
              <a:t>続いて心収縮力について。</a:t>
            </a:r>
            <a:endParaRPr kumimoji="1" lang="en-US" altLang="ja-JP" dirty="0"/>
          </a:p>
          <a:p>
            <a:r>
              <a:rPr kumimoji="1" lang="ja-JP" altLang="en-US"/>
              <a:t>残念ながら</a:t>
            </a:r>
            <a:r>
              <a:rPr kumimoji="1" lang="en-US" altLang="ja-JP" dirty="0"/>
              <a:t>PPG</a:t>
            </a:r>
            <a:r>
              <a:rPr kumimoji="1" lang="ja-JP" altLang="en-US"/>
              <a:t>波形関連の文献において、単独で心収縮力を調整することにより</a:t>
            </a:r>
            <a:r>
              <a:rPr kumimoji="1" lang="en-US" altLang="ja-JP" dirty="0"/>
              <a:t>PPG</a:t>
            </a:r>
            <a:r>
              <a:rPr kumimoji="1" lang="ja-JP" altLang="en-US"/>
              <a:t>波形への影響を見た文献はない。</a:t>
            </a:r>
            <a:endParaRPr kumimoji="1" lang="en-US" altLang="ja-JP" dirty="0"/>
          </a:p>
          <a:p>
            <a:r>
              <a:rPr kumimoji="1" lang="ja-JP" altLang="en-US"/>
              <a:t>循環シミュレーションモデルで心収縮力（</a:t>
            </a:r>
            <a:r>
              <a:rPr kumimoji="1" lang="en-US" altLang="ja-JP" dirty="0"/>
              <a:t>Ees</a:t>
            </a:r>
            <a:r>
              <a:rPr kumimoji="1" lang="ja-JP" altLang="en-US"/>
              <a:t>）のみ変化させると、</a:t>
            </a:r>
            <a:r>
              <a:rPr kumimoji="1" lang="en-US" altLang="ja-JP" dirty="0"/>
              <a:t>PPG</a:t>
            </a:r>
            <a:r>
              <a:rPr kumimoji="1" lang="ja-JP" altLang="en-US"/>
              <a:t>波形は立ち上がり勾配が上昇し、前進波は早く先鋭化することがわかった。</a:t>
            </a:r>
            <a:endParaRPr kumimoji="1" lang="en-US" altLang="ja-JP" dirty="0"/>
          </a:p>
          <a:p>
            <a:endParaRPr kumimoji="1" lang="en-US" altLang="ja-JP" dirty="0"/>
          </a:p>
          <a:p>
            <a:r>
              <a:rPr kumimoji="1" lang="en-US" altLang="ja-JP" dirty="0"/>
              <a:t>PPG</a:t>
            </a:r>
            <a:r>
              <a:rPr kumimoji="1" lang="ja-JP" altLang="en-US"/>
              <a:t>スロープは末梢血管抵抗の影響も受ける：</a:t>
            </a:r>
            <a:r>
              <a:rPr kumimoji="1" lang="en-US" altLang="ja-JP" dirty="0"/>
              <a:t>lin2020</a:t>
            </a:r>
          </a:p>
          <a:p>
            <a:endParaRPr kumimoji="1" lang="en-US" altLang="ja-JP" dirty="0"/>
          </a:p>
          <a:p>
            <a:endParaRPr kumimoji="1" lang="en-US" altLang="ja-JP" dirty="0"/>
          </a:p>
          <a:p>
            <a:endParaRPr kumimoji="1" lang="en-US" altLang="ja-JP" dirty="0"/>
          </a:p>
          <a:p>
            <a:r>
              <a:rPr kumimoji="1" lang="ja-JP" altLang="en-US" sz="1200" b="0" i="0" kern="1200">
                <a:solidFill>
                  <a:schemeClr val="tx1"/>
                </a:solidFill>
                <a:effectLst/>
                <a:latin typeface="+mn-lt"/>
                <a:ea typeface="+mn-ea"/>
                <a:cs typeface="+mn-cs"/>
              </a:rPr>
              <a:t>パゴーラとぅ　波の反射は主に血管特性に依存するため、特に影響を受けません</a:t>
            </a:r>
            <a:endParaRPr kumimoji="1" lang="en-US" altLang="ja-JP" dirty="0"/>
          </a:p>
          <a:p>
            <a:endParaRPr kumimoji="1" lang="en-US" altLang="ja-JP" dirty="0"/>
          </a:p>
          <a:p>
            <a:r>
              <a:rPr kumimoji="1" lang="en-US" altLang="ja-JP" dirty="0"/>
              <a:t>PPG</a:t>
            </a:r>
            <a:r>
              <a:rPr kumimoji="1" lang="ja-JP" altLang="en-US"/>
              <a:t>で</a:t>
            </a:r>
            <a:r>
              <a:rPr kumimoji="1" lang="en-US" altLang="ja-JP" dirty="0"/>
              <a:t>LVET</a:t>
            </a:r>
            <a:r>
              <a:rPr kumimoji="1" lang="ja-JP" altLang="en-US"/>
              <a:t>がわかるかも（</a:t>
            </a:r>
            <a:r>
              <a:rPr kumimoji="1" lang="en-US" altLang="ja-JP" dirty="0"/>
              <a:t>chan2007</a:t>
            </a:r>
            <a:r>
              <a:rPr kumimoji="1" lang="ja-JP" altLang="en-US"/>
              <a:t>　</a:t>
            </a:r>
            <a:r>
              <a:rPr kumimoji="1" lang="en" altLang="ja-JP" dirty="0"/>
              <a:t>https://</a:t>
            </a:r>
            <a:r>
              <a:rPr kumimoji="1" lang="en" altLang="ja-JP" dirty="0" err="1"/>
              <a:t>iopscience.iop.org</a:t>
            </a:r>
            <a:r>
              <a:rPr kumimoji="1" lang="en" altLang="ja-JP" dirty="0"/>
              <a:t>/article/10.1088/0967-3334/28/4/009</a:t>
            </a:r>
            <a:r>
              <a:rPr kumimoji="1" lang="ja-JP" altLang="en-US"/>
              <a:t>　</a:t>
            </a:r>
            <a:r>
              <a:rPr kumimoji="1" lang="en-US" altLang="ja-JP" dirty="0"/>
              <a:t>, couseiro2012,2015</a:t>
            </a:r>
            <a:r>
              <a:rPr kumimoji="1" lang="ja-JP" altLang="en-US"/>
              <a:t>）</a:t>
            </a:r>
            <a:endParaRPr kumimoji="1" lang="en-US" altLang="ja-JP" dirty="0"/>
          </a:p>
          <a:p>
            <a:r>
              <a:rPr kumimoji="1" lang="ja-JP" altLang="en-US"/>
              <a:t>測定部位や</a:t>
            </a:r>
            <a:r>
              <a:rPr kumimoji="1" lang="en-US" altLang="ja-JP" dirty="0"/>
              <a:t>LVET</a:t>
            </a:r>
            <a:r>
              <a:rPr kumimoji="1" lang="ja-JP" altLang="en-US"/>
              <a:t>自体で末梢の方が</a:t>
            </a:r>
            <a:r>
              <a:rPr kumimoji="1" lang="en-US" altLang="ja-JP" dirty="0"/>
              <a:t>LVET</a:t>
            </a:r>
            <a:r>
              <a:rPr kumimoji="1" lang="ja-JP" altLang="en-US"/>
              <a:t>が延長する（</a:t>
            </a:r>
            <a:r>
              <a:rPr kumimoji="1" lang="en-US" altLang="ja-JP" dirty="0"/>
              <a:t>obata2017</a:t>
            </a:r>
            <a:r>
              <a:rPr kumimoji="1" lang="ja-JP" altLang="en-US"/>
              <a:t>）</a:t>
            </a:r>
            <a:endParaRPr kumimoji="1" lang="en-US" altLang="ja-JP" dirty="0"/>
          </a:p>
          <a:p>
            <a:r>
              <a:rPr kumimoji="1" lang="ja-JP" altLang="en-US"/>
              <a:t>インピーダンス</a:t>
            </a:r>
            <a:r>
              <a:rPr kumimoji="1" lang="en-US" altLang="ja-JP" dirty="0"/>
              <a:t>ECG</a:t>
            </a:r>
            <a:r>
              <a:rPr kumimoji="1" lang="ja-JP" altLang="en-US"/>
              <a:t>と</a:t>
            </a:r>
            <a:r>
              <a:rPr kumimoji="1" lang="en-US" altLang="ja-JP" dirty="0"/>
              <a:t>PPG LVET</a:t>
            </a:r>
            <a:r>
              <a:rPr kumimoji="1" lang="ja-JP" altLang="en-US"/>
              <a:t>を組み合わせる（</a:t>
            </a:r>
            <a:r>
              <a:rPr kumimoji="1" lang="en-US" altLang="ja-JP" dirty="0"/>
              <a:t>liu2018</a:t>
            </a:r>
            <a:r>
              <a:rPr kumimoji="1" lang="ja-JP" altLang="en-US"/>
              <a:t>　</a:t>
            </a:r>
            <a:r>
              <a:rPr kumimoji="1" lang="en" altLang="ja-JP" dirty="0"/>
              <a:t>https://</a:t>
            </a:r>
            <a:r>
              <a:rPr kumimoji="1" lang="en" altLang="ja-JP" dirty="0" err="1"/>
              <a:t>pubmed.ncbi.nlm.nih.gov</a:t>
            </a:r>
            <a:r>
              <a:rPr kumimoji="1" lang="en" altLang="ja-JP" dirty="0"/>
              <a:t>/30208616/</a:t>
            </a:r>
            <a:r>
              <a:rPr kumimoji="1" lang="ja-JP" altLang="en-US"/>
              <a:t>　）</a:t>
            </a:r>
          </a:p>
        </p:txBody>
      </p:sp>
      <p:sp>
        <p:nvSpPr>
          <p:cNvPr id="4" name="スライド番号プレースホルダー 3">
            <a:extLst>
              <a:ext uri="{FF2B5EF4-FFF2-40B4-BE49-F238E27FC236}">
                <a16:creationId xmlns:a16="http://schemas.microsoft.com/office/drawing/2014/main" id="{7CD2E1E1-E4F5-A0FD-2B4D-81E812B4CF89}"/>
              </a:ext>
            </a:extLst>
          </p:cNvPr>
          <p:cNvSpPr>
            <a:spLocks noGrp="1"/>
          </p:cNvSpPr>
          <p:nvPr>
            <p:ph type="sldNum" sz="quarter" idx="5"/>
          </p:nvPr>
        </p:nvSpPr>
        <p:spPr/>
        <p:txBody>
          <a:bodyPr/>
          <a:lstStyle/>
          <a:p>
            <a:fld id="{4368CECF-0771-D84F-8D42-085DB944B0B8}" type="slidenum">
              <a:rPr kumimoji="1" lang="ja-JP" altLang="en-US" smtClean="0"/>
              <a:t>41</a:t>
            </a:fld>
            <a:endParaRPr kumimoji="1" lang="ja-JP" altLang="en-US"/>
          </a:p>
        </p:txBody>
      </p:sp>
    </p:spTree>
    <p:extLst>
      <p:ext uri="{BB962C8B-B14F-4D97-AF65-F5344CB8AC3E}">
        <p14:creationId xmlns:p14="http://schemas.microsoft.com/office/powerpoint/2010/main" val="12250454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CA865-E7F5-FB09-DE00-530F60882CB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FC7B-8953-E42C-3D2A-C264EB49E69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2B1B5ED-A927-85CF-F76E-39D6306DFF2C}"/>
              </a:ext>
            </a:extLst>
          </p:cNvPr>
          <p:cNvSpPr>
            <a:spLocks noGrp="1"/>
          </p:cNvSpPr>
          <p:nvPr>
            <p:ph type="body" idx="1"/>
          </p:nvPr>
        </p:nvSpPr>
        <p:spPr/>
        <p:txBody>
          <a:bodyPr/>
          <a:lstStyle/>
          <a:p>
            <a:r>
              <a:rPr kumimoji="1" lang="ja-JP" altLang="en-US"/>
              <a:t>続いて心収縮力について。</a:t>
            </a:r>
            <a:endParaRPr kumimoji="1" lang="en-US" altLang="ja-JP" dirty="0"/>
          </a:p>
          <a:p>
            <a:r>
              <a:rPr kumimoji="1" lang="ja-JP" altLang="en-US"/>
              <a:t>残念ながら</a:t>
            </a:r>
            <a:r>
              <a:rPr kumimoji="1" lang="en-US" altLang="ja-JP" dirty="0"/>
              <a:t>PPG</a:t>
            </a:r>
            <a:r>
              <a:rPr kumimoji="1" lang="ja-JP" altLang="en-US"/>
              <a:t>波形関連の文献において、単独で心収縮力を調整することにより</a:t>
            </a:r>
            <a:r>
              <a:rPr kumimoji="1" lang="en-US" altLang="ja-JP" dirty="0"/>
              <a:t>PPG</a:t>
            </a:r>
            <a:r>
              <a:rPr kumimoji="1" lang="ja-JP" altLang="en-US"/>
              <a:t>波形への影響を見た文献はない。</a:t>
            </a:r>
            <a:endParaRPr kumimoji="1" lang="en-US" altLang="ja-JP" dirty="0"/>
          </a:p>
          <a:p>
            <a:r>
              <a:rPr kumimoji="1" lang="ja-JP" altLang="en-US"/>
              <a:t>循環シミュレーションモデルで心収縮力（</a:t>
            </a:r>
            <a:r>
              <a:rPr kumimoji="1" lang="en-US" altLang="ja-JP" dirty="0"/>
              <a:t>Ees</a:t>
            </a:r>
            <a:r>
              <a:rPr kumimoji="1" lang="ja-JP" altLang="en-US"/>
              <a:t>）のみ変化させると、</a:t>
            </a:r>
            <a:r>
              <a:rPr kumimoji="1" lang="en-US" altLang="ja-JP" dirty="0"/>
              <a:t>PPG</a:t>
            </a:r>
            <a:r>
              <a:rPr kumimoji="1" lang="ja-JP" altLang="en-US"/>
              <a:t>波形は立ち上がり勾配が上昇し、前進波は早く先鋭化することがわかった。</a:t>
            </a:r>
            <a:endParaRPr kumimoji="1" lang="en-US" altLang="ja-JP" dirty="0"/>
          </a:p>
          <a:p>
            <a:endParaRPr kumimoji="1" lang="en-US" altLang="ja-JP" dirty="0"/>
          </a:p>
          <a:p>
            <a:r>
              <a:rPr kumimoji="1" lang="en-US" altLang="ja-JP" dirty="0"/>
              <a:t>PPG</a:t>
            </a:r>
            <a:r>
              <a:rPr kumimoji="1" lang="ja-JP" altLang="en-US"/>
              <a:t>スロープは末梢血管抵抗の影響も受ける：</a:t>
            </a:r>
            <a:r>
              <a:rPr kumimoji="1" lang="en-US" altLang="ja-JP" dirty="0"/>
              <a:t>lin2020</a:t>
            </a:r>
          </a:p>
          <a:p>
            <a:endParaRPr kumimoji="1" lang="en-US" altLang="ja-JP" dirty="0"/>
          </a:p>
          <a:p>
            <a:endParaRPr kumimoji="1" lang="en-US" altLang="ja-JP" dirty="0"/>
          </a:p>
          <a:p>
            <a:endParaRPr kumimoji="1" lang="en-US" altLang="ja-JP" dirty="0"/>
          </a:p>
          <a:p>
            <a:r>
              <a:rPr kumimoji="1" lang="ja-JP" altLang="en-US" sz="1200" b="0" i="0" kern="1200">
                <a:solidFill>
                  <a:schemeClr val="tx1"/>
                </a:solidFill>
                <a:effectLst/>
                <a:latin typeface="+mn-lt"/>
                <a:ea typeface="+mn-ea"/>
                <a:cs typeface="+mn-cs"/>
              </a:rPr>
              <a:t>パゴーラとぅ　波の反射は主に血管特性に依存するため、特に影響を受けません</a:t>
            </a:r>
            <a:endParaRPr kumimoji="1" lang="en-US" altLang="ja-JP" dirty="0"/>
          </a:p>
          <a:p>
            <a:endParaRPr kumimoji="1" lang="en-US" altLang="ja-JP" dirty="0"/>
          </a:p>
          <a:p>
            <a:r>
              <a:rPr kumimoji="1" lang="en-US" altLang="ja-JP" dirty="0"/>
              <a:t>PPG</a:t>
            </a:r>
            <a:r>
              <a:rPr kumimoji="1" lang="ja-JP" altLang="en-US"/>
              <a:t>で</a:t>
            </a:r>
            <a:r>
              <a:rPr kumimoji="1" lang="en-US" altLang="ja-JP" dirty="0"/>
              <a:t>LVET</a:t>
            </a:r>
            <a:r>
              <a:rPr kumimoji="1" lang="ja-JP" altLang="en-US"/>
              <a:t>がわかるかも（</a:t>
            </a:r>
            <a:r>
              <a:rPr kumimoji="1" lang="en-US" altLang="ja-JP" dirty="0"/>
              <a:t>chan2007</a:t>
            </a:r>
            <a:r>
              <a:rPr kumimoji="1" lang="ja-JP" altLang="en-US"/>
              <a:t>　</a:t>
            </a:r>
            <a:r>
              <a:rPr kumimoji="1" lang="en" altLang="ja-JP" dirty="0"/>
              <a:t>https://</a:t>
            </a:r>
            <a:r>
              <a:rPr kumimoji="1" lang="en" altLang="ja-JP" dirty="0" err="1"/>
              <a:t>iopscience.iop.org</a:t>
            </a:r>
            <a:r>
              <a:rPr kumimoji="1" lang="en" altLang="ja-JP" dirty="0"/>
              <a:t>/article/10.1088/0967-3334/28/4/009</a:t>
            </a:r>
            <a:r>
              <a:rPr kumimoji="1" lang="ja-JP" altLang="en-US"/>
              <a:t>　</a:t>
            </a:r>
            <a:r>
              <a:rPr kumimoji="1" lang="en-US" altLang="ja-JP" dirty="0"/>
              <a:t>, couseiro2012,2015</a:t>
            </a:r>
            <a:r>
              <a:rPr kumimoji="1" lang="ja-JP" altLang="en-US"/>
              <a:t>）</a:t>
            </a:r>
            <a:endParaRPr kumimoji="1" lang="en-US" altLang="ja-JP" dirty="0"/>
          </a:p>
          <a:p>
            <a:r>
              <a:rPr kumimoji="1" lang="ja-JP" altLang="en-US"/>
              <a:t>測定部位や</a:t>
            </a:r>
            <a:r>
              <a:rPr kumimoji="1" lang="en-US" altLang="ja-JP" dirty="0"/>
              <a:t>LVET</a:t>
            </a:r>
            <a:r>
              <a:rPr kumimoji="1" lang="ja-JP" altLang="en-US"/>
              <a:t>自体で末梢の方が</a:t>
            </a:r>
            <a:r>
              <a:rPr kumimoji="1" lang="en-US" altLang="ja-JP" dirty="0"/>
              <a:t>LVET</a:t>
            </a:r>
            <a:r>
              <a:rPr kumimoji="1" lang="ja-JP" altLang="en-US"/>
              <a:t>が延長する（</a:t>
            </a:r>
            <a:r>
              <a:rPr kumimoji="1" lang="en-US" altLang="ja-JP" dirty="0"/>
              <a:t>obata2017</a:t>
            </a:r>
            <a:r>
              <a:rPr kumimoji="1" lang="ja-JP" altLang="en-US"/>
              <a:t>）</a:t>
            </a:r>
            <a:endParaRPr kumimoji="1" lang="en-US" altLang="ja-JP" dirty="0"/>
          </a:p>
          <a:p>
            <a:r>
              <a:rPr kumimoji="1" lang="ja-JP" altLang="en-US"/>
              <a:t>インピーダンス</a:t>
            </a:r>
            <a:r>
              <a:rPr kumimoji="1" lang="en-US" altLang="ja-JP" dirty="0"/>
              <a:t>ECG</a:t>
            </a:r>
            <a:r>
              <a:rPr kumimoji="1" lang="ja-JP" altLang="en-US"/>
              <a:t>と</a:t>
            </a:r>
            <a:r>
              <a:rPr kumimoji="1" lang="en-US" altLang="ja-JP" dirty="0"/>
              <a:t>PPG LVET</a:t>
            </a:r>
            <a:r>
              <a:rPr kumimoji="1" lang="ja-JP" altLang="en-US"/>
              <a:t>を組み合わせる（</a:t>
            </a:r>
            <a:r>
              <a:rPr kumimoji="1" lang="en-US" altLang="ja-JP" dirty="0"/>
              <a:t>liu2018</a:t>
            </a:r>
            <a:r>
              <a:rPr kumimoji="1" lang="ja-JP" altLang="en-US"/>
              <a:t>　</a:t>
            </a:r>
            <a:r>
              <a:rPr kumimoji="1" lang="en" altLang="ja-JP" dirty="0"/>
              <a:t>https://</a:t>
            </a:r>
            <a:r>
              <a:rPr kumimoji="1" lang="en" altLang="ja-JP" dirty="0" err="1"/>
              <a:t>pubmed.ncbi.nlm.nih.gov</a:t>
            </a:r>
            <a:r>
              <a:rPr kumimoji="1" lang="en" altLang="ja-JP" dirty="0"/>
              <a:t>/30208616/</a:t>
            </a:r>
            <a:r>
              <a:rPr kumimoji="1" lang="ja-JP" altLang="en-US"/>
              <a:t>　）</a:t>
            </a:r>
          </a:p>
        </p:txBody>
      </p:sp>
      <p:sp>
        <p:nvSpPr>
          <p:cNvPr id="4" name="スライド番号プレースホルダー 3">
            <a:extLst>
              <a:ext uri="{FF2B5EF4-FFF2-40B4-BE49-F238E27FC236}">
                <a16:creationId xmlns:a16="http://schemas.microsoft.com/office/drawing/2014/main" id="{3507DAF2-1A29-EDFF-EE79-A238B4E3E171}"/>
              </a:ext>
            </a:extLst>
          </p:cNvPr>
          <p:cNvSpPr>
            <a:spLocks noGrp="1"/>
          </p:cNvSpPr>
          <p:nvPr>
            <p:ph type="sldNum" sz="quarter" idx="5"/>
          </p:nvPr>
        </p:nvSpPr>
        <p:spPr/>
        <p:txBody>
          <a:bodyPr/>
          <a:lstStyle/>
          <a:p>
            <a:fld id="{4368CECF-0771-D84F-8D42-085DB944B0B8}" type="slidenum">
              <a:rPr kumimoji="1" lang="ja-JP" altLang="en-US" smtClean="0"/>
              <a:t>42</a:t>
            </a:fld>
            <a:endParaRPr kumimoji="1" lang="ja-JP" altLang="en-US"/>
          </a:p>
        </p:txBody>
      </p:sp>
    </p:spTree>
    <p:extLst>
      <p:ext uri="{BB962C8B-B14F-4D97-AF65-F5344CB8AC3E}">
        <p14:creationId xmlns:p14="http://schemas.microsoft.com/office/powerpoint/2010/main" val="23690541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a:t>心拍数が上昇すると左室収縮の時間が短くなるため、前進波の横幅が短くなる。一方血管スティッフネスは影響を受けないため、反射波への影響はない。</a:t>
            </a:r>
          </a:p>
          <a:p>
            <a:r>
              <a:rPr lang="en-US" dirty="0" err="1"/>
              <a:t>前進波との重なりが少なくなる分反射波の振幅が低下して見える</a:t>
            </a:r>
            <a:r>
              <a:rPr lang="en-US" dirty="0"/>
              <a:t>。</a:t>
            </a:r>
          </a:p>
          <a:p>
            <a:endParaRPr lang="en-US" dirty="0"/>
          </a:p>
          <a:p>
            <a:r>
              <a:rPr dirty="0" err="1"/>
              <a:t>図＝Charlton</a:t>
            </a:r>
            <a:r>
              <a:rPr dirty="0"/>
              <a:t> 2019（Am J </a:t>
            </a:r>
            <a:r>
              <a:rPr dirty="0" err="1"/>
              <a:t>Physiol</a:t>
            </a:r>
            <a:r>
              <a:rPr dirty="0"/>
              <a:t> Heart Circ </a:t>
            </a:r>
            <a:r>
              <a:rPr dirty="0" err="1"/>
              <a:t>Physiol</a:t>
            </a:r>
            <a:r>
              <a:rPr dirty="0"/>
              <a:t> 317:H1062）Fig.3B </a:t>
            </a:r>
            <a:r>
              <a:rPr dirty="0" err="1"/>
              <a:t>の橈骨動脈</a:t>
            </a:r>
            <a:r>
              <a:rPr dirty="0"/>
              <a:t> PPG、HR </a:t>
            </a:r>
            <a:r>
              <a:rPr dirty="0" err="1"/>
              <a:t>の行</a:t>
            </a:r>
            <a:r>
              <a:rPr dirty="0"/>
              <a:t>。</a:t>
            </a:r>
          </a:p>
          <a:p>
            <a:r>
              <a:rPr dirty="0" err="1"/>
              <a:t>in-silico（計算モデル）の</a:t>
            </a:r>
            <a:r>
              <a:rPr dirty="0"/>
              <a:t> 25歳仮想被験者で、各パラメータを単独で ±1SD </a:t>
            </a:r>
            <a:r>
              <a:rPr dirty="0" err="1"/>
              <a:t>動かしたときの波形</a:t>
            </a:r>
            <a:r>
              <a:rPr dirty="0"/>
              <a:t>。</a:t>
            </a:r>
          </a:p>
          <a:p>
            <a:r>
              <a:rPr dirty="0" err="1"/>
              <a:t>凡例：青</a:t>
            </a:r>
            <a:r>
              <a:rPr dirty="0"/>
              <a:t>＝+1SD（高心拍）／</a:t>
            </a:r>
            <a:r>
              <a:rPr dirty="0" err="1"/>
              <a:t>黒＝基準／赤</a:t>
            </a:r>
            <a:r>
              <a:rPr dirty="0"/>
              <a:t>＝−1SD（低心拍）。</a:t>
            </a:r>
            <a:r>
              <a:rPr dirty="0" err="1"/>
              <a:t>原著の図凡例に</a:t>
            </a:r>
            <a:endParaRPr dirty="0"/>
          </a:p>
          <a:p>
            <a:r>
              <a:rPr dirty="0"/>
              <a:t>"at baseline (black), and those obtained when increasing (blue) and decreasing (red) each parameter</a:t>
            </a:r>
          </a:p>
          <a:p>
            <a:r>
              <a:rPr dirty="0"/>
              <a:t>independently by 1 SD" </a:t>
            </a:r>
            <a:r>
              <a:rPr dirty="0" err="1"/>
              <a:t>と明記されている</a:t>
            </a:r>
            <a:r>
              <a:rPr dirty="0"/>
              <a:t>。</a:t>
            </a:r>
          </a:p>
          <a:p>
            <a:endParaRPr dirty="0"/>
          </a:p>
          <a:p>
            <a:r>
              <a:rPr dirty="0"/>
              <a:t>図から読めること（2026-08 </a:t>
            </a:r>
            <a:r>
              <a:rPr dirty="0" err="1"/>
              <a:t>に原図で確認・修正</a:t>
            </a:r>
            <a:r>
              <a:rPr dirty="0"/>
              <a:t>）</a:t>
            </a:r>
          </a:p>
          <a:p>
            <a:r>
              <a:rPr dirty="0"/>
              <a:t>・</a:t>
            </a:r>
            <a:r>
              <a:rPr dirty="0" err="1"/>
              <a:t>周期：青が最短</a:t>
            </a:r>
            <a:r>
              <a:rPr dirty="0"/>
              <a:t>（〜0.72 s）、黒〜0.82 </a:t>
            </a:r>
            <a:r>
              <a:rPr dirty="0" err="1"/>
              <a:t>s、赤が最長</a:t>
            </a:r>
            <a:r>
              <a:rPr dirty="0"/>
              <a:t>（〜0.95 s）。＝</a:t>
            </a:r>
            <a:r>
              <a:rPr dirty="0" err="1"/>
              <a:t>青が高心拍で正しい</a:t>
            </a:r>
            <a:r>
              <a:rPr dirty="0"/>
              <a:t>。</a:t>
            </a:r>
          </a:p>
          <a:p>
            <a:r>
              <a:rPr dirty="0"/>
              <a:t>・</a:t>
            </a:r>
            <a:r>
              <a:rPr dirty="0" err="1"/>
              <a:t>拡張期（反射）ピークの相対的な高さ：青＜黒＜赤</a:t>
            </a:r>
            <a:r>
              <a:rPr dirty="0"/>
              <a:t>。</a:t>
            </a:r>
          </a:p>
          <a:p>
            <a:r>
              <a:rPr dirty="0"/>
              <a:t>　＝ HR </a:t>
            </a:r>
            <a:r>
              <a:rPr dirty="0" err="1"/>
              <a:t>が上がるほど、収縮期ピークで正規化した反射波成分は小さくなる（RI・AIx</a:t>
            </a:r>
            <a:r>
              <a:rPr dirty="0"/>
              <a:t> </a:t>
            </a:r>
            <a:r>
              <a:rPr dirty="0" err="1"/>
              <a:t>が下がる向き</a:t>
            </a:r>
            <a:r>
              <a:rPr dirty="0"/>
              <a:t>）。</a:t>
            </a:r>
          </a:p>
          <a:p>
            <a:r>
              <a:rPr dirty="0"/>
              <a:t>・</a:t>
            </a:r>
            <a:r>
              <a:rPr dirty="0" err="1"/>
              <a:t>切痕（谷）の深さ：青がいちばん深く、赤ではほぼ肩（プラト</a:t>
            </a:r>
            <a:r>
              <a:rPr dirty="0"/>
              <a:t>ー）</a:t>
            </a:r>
            <a:r>
              <a:rPr dirty="0" err="1"/>
              <a:t>になる</a:t>
            </a:r>
            <a:r>
              <a:rPr dirty="0"/>
              <a:t>。</a:t>
            </a:r>
          </a:p>
          <a:p>
            <a:r>
              <a:rPr dirty="0"/>
              <a:t>　</a:t>
            </a:r>
            <a:r>
              <a:rPr dirty="0" err="1"/>
              <a:t>高心拍で</a:t>
            </a:r>
            <a:r>
              <a:rPr dirty="0"/>
              <a:t> LVET </a:t>
            </a:r>
            <a:r>
              <a:rPr dirty="0" err="1"/>
              <a:t>が短縮し収縮期波が早く減衰するため、反射波が来る前に波形が下がりきる</a:t>
            </a:r>
            <a:r>
              <a:rPr dirty="0"/>
              <a:t>。</a:t>
            </a:r>
          </a:p>
          <a:p>
            <a:r>
              <a:rPr dirty="0"/>
              <a:t>　→ </a:t>
            </a:r>
            <a:r>
              <a:rPr dirty="0" err="1"/>
              <a:t>以前のノートにあった「高心拍で切痕は浅くなる」は原図と逆だったので訂正した</a:t>
            </a:r>
            <a:r>
              <a:rPr dirty="0"/>
              <a:t>。</a:t>
            </a:r>
          </a:p>
          <a:p>
            <a:endParaRPr dirty="0"/>
          </a:p>
          <a:p>
            <a:r>
              <a:rPr dirty="0" err="1"/>
              <a:t>心拍数が指標に与える影響（実測側</a:t>
            </a:r>
            <a:r>
              <a:rPr dirty="0"/>
              <a:t>）</a:t>
            </a:r>
          </a:p>
          <a:p>
            <a:r>
              <a:rPr dirty="0"/>
              <a:t>・Wilkinson 2000（J </a:t>
            </a:r>
            <a:r>
              <a:rPr dirty="0" err="1"/>
              <a:t>Physiol</a:t>
            </a:r>
            <a:r>
              <a:rPr dirty="0"/>
              <a:t> 525:263）：</a:t>
            </a:r>
            <a:r>
              <a:rPr dirty="0" err="1"/>
              <a:t>ペーシングで</a:t>
            </a:r>
            <a:r>
              <a:rPr dirty="0"/>
              <a:t> HR </a:t>
            </a:r>
            <a:r>
              <a:rPr dirty="0" err="1"/>
              <a:t>を上げると</a:t>
            </a:r>
            <a:r>
              <a:rPr dirty="0"/>
              <a:t> </a:t>
            </a:r>
            <a:r>
              <a:rPr dirty="0" err="1"/>
              <a:t>AIx</a:t>
            </a:r>
            <a:r>
              <a:rPr dirty="0"/>
              <a:t> </a:t>
            </a:r>
            <a:r>
              <a:rPr dirty="0" err="1"/>
              <a:t>はほぼ直線的に低下し</a:t>
            </a:r>
            <a:r>
              <a:rPr dirty="0"/>
              <a:t>、</a:t>
            </a:r>
          </a:p>
          <a:p>
            <a:r>
              <a:rPr dirty="0"/>
              <a:t>　+10 bpm </a:t>
            </a:r>
            <a:r>
              <a:rPr dirty="0" err="1"/>
              <a:t>あたり約</a:t>
            </a:r>
            <a:r>
              <a:rPr dirty="0"/>
              <a:t> −4%。</a:t>
            </a:r>
            <a:r>
              <a:rPr dirty="0" err="1"/>
              <a:t>ただしこれは中心・末梢の「圧」波形での検討</a:t>
            </a:r>
            <a:r>
              <a:rPr dirty="0"/>
              <a:t>。</a:t>
            </a:r>
          </a:p>
          <a:p>
            <a:r>
              <a:rPr dirty="0"/>
              <a:t>・Md Lazim 2020（Int J Environ Res Public Health 17:2591）：</a:t>
            </a:r>
            <a:r>
              <a:rPr dirty="0" err="1"/>
              <a:t>系統的レビュ</a:t>
            </a:r>
            <a:r>
              <a:rPr dirty="0"/>
              <a:t>ー。</a:t>
            </a:r>
            <a:r>
              <a:rPr dirty="0" err="1"/>
              <a:t>SI・RI・SDPPG（b</a:t>
            </a:r>
            <a:r>
              <a:rPr dirty="0"/>
              <a:t>/a, d/a, AGI）</a:t>
            </a:r>
          </a:p>
          <a:p>
            <a:r>
              <a:rPr dirty="0"/>
              <a:t>　</a:t>
            </a:r>
            <a:r>
              <a:rPr dirty="0" err="1"/>
              <a:t>はいずれも</a:t>
            </a:r>
            <a:r>
              <a:rPr dirty="0"/>
              <a:t> HR </a:t>
            </a:r>
            <a:r>
              <a:rPr dirty="0" err="1"/>
              <a:t>と関連し、PPG</a:t>
            </a:r>
            <a:r>
              <a:rPr dirty="0"/>
              <a:t> </a:t>
            </a:r>
            <a:r>
              <a:rPr dirty="0" err="1"/>
              <a:t>指標には</a:t>
            </a:r>
            <a:r>
              <a:rPr dirty="0"/>
              <a:t> HR 補正が必要（AIx@75 </a:t>
            </a:r>
            <a:r>
              <a:rPr dirty="0" err="1"/>
              <a:t>のような扱い</a:t>
            </a:r>
            <a:r>
              <a:rPr dirty="0"/>
              <a:t>）。</a:t>
            </a:r>
          </a:p>
          <a:p>
            <a:r>
              <a:rPr dirty="0"/>
              <a:t>　</a:t>
            </a:r>
            <a:r>
              <a:rPr dirty="0" err="1"/>
              <a:t>ただし本論文は「指標</a:t>
            </a:r>
            <a:r>
              <a:rPr dirty="0"/>
              <a:t> vs </a:t>
            </a:r>
            <a:r>
              <a:rPr dirty="0" err="1"/>
              <a:t>HR」を見ているだけで、波形そのものの形の変化は見ていない</a:t>
            </a:r>
            <a:r>
              <a:rPr dirty="0"/>
              <a:t>。</a:t>
            </a:r>
          </a:p>
          <a:p>
            <a:r>
              <a:rPr dirty="0"/>
              <a:t>・Hashimoto 2002（J </a:t>
            </a:r>
            <a:r>
              <a:rPr dirty="0" err="1"/>
              <a:t>Hypertens</a:t>
            </a:r>
            <a:r>
              <a:rPr dirty="0"/>
              <a:t> 20:2415）：HR </a:t>
            </a:r>
            <a:r>
              <a:rPr dirty="0" err="1"/>
              <a:t>が</a:t>
            </a:r>
            <a:r>
              <a:rPr dirty="0"/>
              <a:t> PWV </a:t>
            </a:r>
            <a:r>
              <a:rPr dirty="0" err="1"/>
              <a:t>とは独立に</a:t>
            </a:r>
            <a:r>
              <a:rPr dirty="0"/>
              <a:t> SDPPG </a:t>
            </a:r>
            <a:r>
              <a:rPr dirty="0" err="1"/>
              <a:t>指標と関連することを示す</a:t>
            </a:r>
            <a:r>
              <a:rPr dirty="0"/>
              <a:t>。</a:t>
            </a:r>
          </a:p>
          <a:p>
            <a:endParaRPr dirty="0"/>
          </a:p>
          <a:p>
            <a:r>
              <a:rPr dirty="0" err="1"/>
              <a:t>注意して話すこと</a:t>
            </a:r>
            <a:endParaRPr dirty="0"/>
          </a:p>
          <a:p>
            <a:r>
              <a:rPr dirty="0"/>
              <a:t>・</a:t>
            </a:r>
            <a:r>
              <a:rPr dirty="0" err="1"/>
              <a:t>波形の直接的な根拠は</a:t>
            </a:r>
            <a:r>
              <a:rPr dirty="0"/>
              <a:t> in-silico モデル1本（Charlton 2019）であり、ヒト指尖 PPG </a:t>
            </a:r>
            <a:r>
              <a:rPr dirty="0" err="1"/>
              <a:t>の実測ではない</a:t>
            </a:r>
            <a:r>
              <a:rPr dirty="0"/>
              <a:t>。</a:t>
            </a:r>
          </a:p>
          <a:p>
            <a:r>
              <a:rPr dirty="0"/>
              <a:t>・</a:t>
            </a:r>
            <a:r>
              <a:rPr dirty="0" err="1"/>
              <a:t>このモデルでは</a:t>
            </a:r>
            <a:r>
              <a:rPr dirty="0"/>
              <a:t> HR </a:t>
            </a:r>
            <a:r>
              <a:rPr dirty="0" err="1"/>
              <a:t>を変えると</a:t>
            </a:r>
            <a:r>
              <a:rPr dirty="0"/>
              <a:t> LVET </a:t>
            </a:r>
            <a:r>
              <a:rPr dirty="0" err="1"/>
              <a:t>も経験式で連動して変わるため</a:t>
            </a:r>
            <a:r>
              <a:rPr dirty="0"/>
              <a:t>、「</a:t>
            </a:r>
            <a:r>
              <a:rPr dirty="0" err="1"/>
              <a:t>純粋な</a:t>
            </a:r>
            <a:r>
              <a:rPr dirty="0"/>
              <a:t> HR </a:t>
            </a:r>
            <a:r>
              <a:rPr dirty="0" err="1"/>
              <a:t>効果」ではない</a:t>
            </a:r>
            <a:r>
              <a:rPr dirty="0"/>
              <a:t>。</a:t>
            </a:r>
          </a:p>
          <a:p>
            <a:r>
              <a:rPr dirty="0"/>
              <a:t>　CO＝HR×SV </a:t>
            </a:r>
            <a:r>
              <a:rPr dirty="0" err="1"/>
              <a:t>の関係を通じた血圧・PWV</a:t>
            </a:r>
            <a:r>
              <a:rPr dirty="0"/>
              <a:t> </a:t>
            </a:r>
            <a:r>
              <a:rPr dirty="0" err="1"/>
              <a:t>の変化も混じりうる</a:t>
            </a:r>
            <a:r>
              <a:rPr dirty="0"/>
              <a:t>。</a:t>
            </a:r>
          </a:p>
          <a:p>
            <a:r>
              <a:rPr dirty="0"/>
              <a:t>・</a:t>
            </a:r>
            <a:r>
              <a:rPr dirty="0" err="1"/>
              <a:t>実務上の結論は変わらない：SI・RI</a:t>
            </a:r>
            <a:r>
              <a:rPr dirty="0"/>
              <a:t> </a:t>
            </a:r>
            <a:r>
              <a:rPr dirty="0" err="1"/>
              <a:t>を経時比較するときは</a:t>
            </a:r>
            <a:r>
              <a:rPr dirty="0"/>
              <a:t> HR </a:t>
            </a:r>
            <a:r>
              <a:rPr dirty="0" err="1"/>
              <a:t>をそろえるか補正する</a:t>
            </a:r>
            <a:r>
              <a:rPr dirty="0"/>
              <a:t>。</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43</a:t>
            </a:fld>
            <a:endParaRPr kumimoji="1" lang="ja-JP" altLang="en-US"/>
          </a:p>
        </p:txBody>
      </p:sp>
    </p:spTree>
    <p:extLst>
      <p:ext uri="{BB962C8B-B14F-4D97-AF65-F5344CB8AC3E}">
        <p14:creationId xmlns:p14="http://schemas.microsoft.com/office/powerpoint/2010/main" val="31899290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今までPPG波形に影響を与える因子とどのような影響があるかを見てきました</a:t>
            </a:r>
            <a:r>
              <a:rPr lang="en-US" dirty="0"/>
              <a:t>。</a:t>
            </a:r>
          </a:p>
          <a:p>
            <a:r>
              <a:rPr lang="en-US" dirty="0" err="1"/>
              <a:t>まとめですが、前負荷は振幅に影響します</a:t>
            </a:r>
            <a:r>
              <a:rPr lang="en-US" dirty="0"/>
              <a:t>。</a:t>
            </a:r>
          </a:p>
          <a:p>
            <a:r>
              <a:rPr lang="en-US" dirty="0" err="1"/>
              <a:t>大血管スティッフネスは反射波の時相に反射波の時相に影響します</a:t>
            </a:r>
            <a:r>
              <a:rPr lang="en-US" dirty="0"/>
              <a:t>。</a:t>
            </a:r>
          </a:p>
          <a:p>
            <a:r>
              <a:rPr lang="en-US" dirty="0" err="1"/>
              <a:t>末梢血管トーヌスは反射波の振幅に影響します</a:t>
            </a:r>
            <a:r>
              <a:rPr lang="en-US" dirty="0"/>
              <a:t>。</a:t>
            </a:r>
          </a:p>
          <a:p>
            <a:r>
              <a:rPr lang="en-US" dirty="0" err="1"/>
              <a:t>心収縮力は前進波の勾配に影響します</a:t>
            </a:r>
            <a:r>
              <a:rPr lang="en-US" dirty="0"/>
              <a:t>。</a:t>
            </a:r>
          </a:p>
          <a:p>
            <a:r>
              <a:rPr lang="en-US" dirty="0" err="1"/>
              <a:t>心拍数は前進波の横幅と反射波の振幅に影響します</a:t>
            </a:r>
            <a:r>
              <a:rPr lang="en-US" dirty="0"/>
              <a:t>。</a:t>
            </a:r>
          </a:p>
          <a:p>
            <a:endParaRPr lang="en-US" dirty="0"/>
          </a:p>
          <a:p>
            <a:r>
              <a:rPr lang="en-US" dirty="0" err="1"/>
              <a:t>特に後負荷に関する研究が進んでいる</a:t>
            </a:r>
            <a:r>
              <a:rPr lang="en-US" dirty="0"/>
              <a:t>。</a:t>
            </a:r>
          </a:p>
          <a:p>
            <a:endParaRPr lang="en-US" dirty="0"/>
          </a:p>
          <a:p>
            <a:endParaRPr lang="en-US" dirty="0"/>
          </a:p>
          <a:p>
            <a:endParaRPr lang="en-US" dirty="0"/>
          </a:p>
          <a:p>
            <a:r>
              <a:rPr dirty="0"/>
              <a:t>3章（循環因子）のまとめ。1枚で「どの因子が波形のどこを動かすか」を一覧する。</a:t>
            </a:r>
          </a:p>
          <a:p>
            <a:endParaRPr dirty="0"/>
          </a:p>
          <a:p>
            <a:r>
              <a:rPr dirty="0" err="1"/>
              <a:t>波形は模式図（ガウス成分の重ね合わせ）で、灰＝基準、青＝当該因子が上がったとき</a:t>
            </a:r>
            <a:r>
              <a:rPr dirty="0"/>
              <a:t>。</a:t>
            </a:r>
          </a:p>
          <a:p>
            <a:r>
              <a:rPr dirty="0" err="1"/>
              <a:t>振幅・時相の変化方向は各原著の記載と一致させてあるが、実測波形そのものではない</a:t>
            </a:r>
            <a:r>
              <a:rPr dirty="0"/>
              <a:t>。</a:t>
            </a:r>
          </a:p>
          <a:p>
            <a:endParaRPr dirty="0"/>
          </a:p>
          <a:p>
            <a:r>
              <a:rPr dirty="0" err="1"/>
              <a:t>各行の根拠</a:t>
            </a:r>
            <a:endParaRPr dirty="0"/>
          </a:p>
          <a:p>
            <a:r>
              <a:rPr dirty="0"/>
              <a:t>・</a:t>
            </a:r>
            <a:r>
              <a:rPr dirty="0" err="1"/>
              <a:t>前負荷</a:t>
            </a:r>
            <a:r>
              <a:rPr dirty="0"/>
              <a:t> ↑ → </a:t>
            </a:r>
            <a:r>
              <a:rPr dirty="0" err="1"/>
              <a:t>全体の振幅が増大</a:t>
            </a:r>
            <a:endParaRPr dirty="0"/>
          </a:p>
          <a:p>
            <a:r>
              <a:rPr dirty="0"/>
              <a:t>　Alian 2011（LBNP </a:t>
            </a:r>
            <a:r>
              <a:rPr dirty="0" err="1"/>
              <a:t>による中心血液量減少で指尖PPGの高さ・面積・傾きが低下</a:t>
            </a:r>
            <a:r>
              <a:rPr dirty="0"/>
              <a:t>）、</a:t>
            </a:r>
          </a:p>
          <a:p>
            <a:r>
              <a:rPr dirty="0"/>
              <a:t>　</a:t>
            </a:r>
            <a:r>
              <a:rPr dirty="0" err="1"/>
              <a:t>Cannesson</a:t>
            </a:r>
            <a:r>
              <a:rPr dirty="0"/>
              <a:t> 2005（呼吸性振幅変動と脈圧変動の対応）。＝</a:t>
            </a:r>
            <a:r>
              <a:rPr dirty="0" err="1"/>
              <a:t>実測</a:t>
            </a:r>
            <a:r>
              <a:rPr dirty="0"/>
              <a:t>。</a:t>
            </a:r>
          </a:p>
          <a:p>
            <a:r>
              <a:rPr dirty="0"/>
              <a:t>・</a:t>
            </a:r>
            <a:r>
              <a:rPr dirty="0" err="1"/>
              <a:t>大血管の硬さ</a:t>
            </a:r>
            <a:r>
              <a:rPr dirty="0"/>
              <a:t> ↑ → </a:t>
            </a:r>
            <a:r>
              <a:rPr dirty="0" err="1"/>
              <a:t>反射波が早く戻り、収縮期ピークへ融合して一峰性化</a:t>
            </a:r>
            <a:endParaRPr dirty="0"/>
          </a:p>
          <a:p>
            <a:r>
              <a:rPr dirty="0"/>
              <a:t>　</a:t>
            </a:r>
            <a:r>
              <a:rPr dirty="0" err="1"/>
              <a:t>Millasseau</a:t>
            </a:r>
            <a:r>
              <a:rPr dirty="0"/>
              <a:t> 2002（加齢で ΔT </a:t>
            </a:r>
            <a:r>
              <a:rPr dirty="0" err="1"/>
              <a:t>短縮・SI</a:t>
            </a:r>
            <a:r>
              <a:rPr dirty="0"/>
              <a:t> </a:t>
            </a:r>
            <a:r>
              <a:rPr dirty="0" err="1"/>
              <a:t>上昇</a:t>
            </a:r>
            <a:r>
              <a:rPr dirty="0"/>
              <a:t>）、Charlton 2019（in-silico）。＝</a:t>
            </a:r>
            <a:r>
              <a:rPr dirty="0" err="1"/>
              <a:t>実測＋モデル</a:t>
            </a:r>
            <a:r>
              <a:rPr dirty="0"/>
              <a:t>。</a:t>
            </a:r>
          </a:p>
          <a:p>
            <a:r>
              <a:rPr dirty="0"/>
              <a:t>・</a:t>
            </a:r>
            <a:r>
              <a:rPr dirty="0" err="1"/>
              <a:t>末梢トーヌス</a:t>
            </a:r>
            <a:r>
              <a:rPr dirty="0"/>
              <a:t> ↑ → </a:t>
            </a:r>
            <a:r>
              <a:rPr dirty="0" err="1"/>
              <a:t>反射波・切痕が高くなる（RI</a:t>
            </a:r>
            <a:r>
              <a:rPr dirty="0"/>
              <a:t> </a:t>
            </a:r>
            <a:r>
              <a:rPr dirty="0" err="1"/>
              <a:t>上昇</a:t>
            </a:r>
            <a:r>
              <a:rPr dirty="0"/>
              <a:t>）</a:t>
            </a:r>
          </a:p>
          <a:p>
            <a:r>
              <a:rPr dirty="0"/>
              <a:t>　</a:t>
            </a:r>
            <a:r>
              <a:rPr dirty="0" err="1"/>
              <a:t>Chowienczyk</a:t>
            </a:r>
            <a:r>
              <a:rPr dirty="0"/>
              <a:t> 1999（β2刺激薬で RI −11.8%、</a:t>
            </a:r>
            <a:r>
              <a:rPr dirty="0" err="1"/>
              <a:t>ニトログリセリンで</a:t>
            </a:r>
            <a:r>
              <a:rPr dirty="0"/>
              <a:t> −18.3%）、</a:t>
            </a:r>
            <a:r>
              <a:rPr dirty="0" err="1"/>
              <a:t>Takazawa</a:t>
            </a:r>
            <a:r>
              <a:rPr dirty="0"/>
              <a:t> 1998。＝</a:t>
            </a:r>
            <a:r>
              <a:rPr dirty="0" err="1"/>
              <a:t>実測</a:t>
            </a:r>
            <a:r>
              <a:rPr dirty="0"/>
              <a:t>。</a:t>
            </a:r>
          </a:p>
          <a:p>
            <a:r>
              <a:rPr dirty="0"/>
              <a:t>・</a:t>
            </a:r>
            <a:r>
              <a:rPr dirty="0" err="1"/>
              <a:t>心収縮力</a:t>
            </a:r>
            <a:r>
              <a:rPr dirty="0"/>
              <a:t> ↑ → </a:t>
            </a:r>
            <a:r>
              <a:rPr dirty="0" err="1"/>
              <a:t>立ち上がりが鋭く・速くなる（収縮期ピークが早く尖鋭化</a:t>
            </a:r>
            <a:r>
              <a:rPr dirty="0"/>
              <a:t>）</a:t>
            </a:r>
          </a:p>
          <a:p>
            <a:r>
              <a:rPr dirty="0"/>
              <a:t>　</a:t>
            </a:r>
            <a:r>
              <a:rPr dirty="0" err="1"/>
              <a:t>Pagoulatou</a:t>
            </a:r>
            <a:r>
              <a:rPr dirty="0"/>
              <a:t> 2021・Piccioli 2022 </a:t>
            </a:r>
            <a:r>
              <a:rPr dirty="0" err="1"/>
              <a:t>はいずれも動脈圧波形のモデル研究であり、指尖PPG</a:t>
            </a:r>
            <a:r>
              <a:rPr dirty="0"/>
              <a:t> </a:t>
            </a:r>
            <a:r>
              <a:rPr dirty="0" err="1"/>
              <a:t>の実測ではない</a:t>
            </a:r>
            <a:r>
              <a:rPr dirty="0"/>
              <a:t>。</a:t>
            </a:r>
          </a:p>
          <a:p>
            <a:r>
              <a:rPr dirty="0"/>
              <a:t>　＝</a:t>
            </a:r>
            <a:r>
              <a:rPr dirty="0" err="1"/>
              <a:t>外挿。断定しないこと</a:t>
            </a:r>
            <a:r>
              <a:rPr dirty="0"/>
              <a:t>。</a:t>
            </a:r>
          </a:p>
          <a:p>
            <a:r>
              <a:rPr dirty="0"/>
              <a:t>・</a:t>
            </a:r>
            <a:r>
              <a:rPr dirty="0" err="1"/>
              <a:t>心拍数</a:t>
            </a:r>
            <a:r>
              <a:rPr dirty="0"/>
              <a:t> ↑ → </a:t>
            </a:r>
            <a:r>
              <a:rPr dirty="0" err="1"/>
              <a:t>周期が短縮し、収縮期ピークで正規化した反射波成分が相対的に低下</a:t>
            </a:r>
            <a:endParaRPr dirty="0"/>
          </a:p>
          <a:p>
            <a:r>
              <a:rPr dirty="0"/>
              <a:t>　Charlton 2019 </a:t>
            </a:r>
            <a:r>
              <a:rPr dirty="0" err="1"/>
              <a:t>の</a:t>
            </a:r>
            <a:r>
              <a:rPr dirty="0"/>
              <a:t> in-silico 25歳仮想被験者で各パラメータを ±1SD </a:t>
            </a:r>
            <a:r>
              <a:rPr dirty="0" err="1"/>
              <a:t>動かした波形が根拠</a:t>
            </a:r>
            <a:r>
              <a:rPr dirty="0"/>
              <a:t>。＝</a:t>
            </a:r>
            <a:r>
              <a:rPr dirty="0" err="1"/>
              <a:t>モデル</a:t>
            </a:r>
            <a:r>
              <a:rPr dirty="0"/>
              <a:t>。</a:t>
            </a:r>
          </a:p>
          <a:p>
            <a:r>
              <a:rPr dirty="0"/>
              <a:t>　</a:t>
            </a:r>
            <a:r>
              <a:rPr dirty="0" err="1"/>
              <a:t>実測側にあるのは「指標</a:t>
            </a:r>
            <a:r>
              <a:rPr dirty="0"/>
              <a:t> vs </a:t>
            </a:r>
            <a:r>
              <a:rPr dirty="0" err="1"/>
              <a:t>心拍数」の関連（Wilkinson</a:t>
            </a:r>
            <a:r>
              <a:rPr dirty="0"/>
              <a:t> 2000 </a:t>
            </a:r>
            <a:r>
              <a:rPr dirty="0" err="1"/>
              <a:t>の</a:t>
            </a:r>
            <a:r>
              <a:rPr dirty="0"/>
              <a:t> </a:t>
            </a:r>
            <a:r>
              <a:rPr dirty="0" err="1"/>
              <a:t>AIx、Md</a:t>
            </a:r>
            <a:r>
              <a:rPr dirty="0"/>
              <a:t> Lazim 2020）であって、</a:t>
            </a:r>
          </a:p>
          <a:p>
            <a:r>
              <a:rPr dirty="0"/>
              <a:t>　</a:t>
            </a:r>
            <a:r>
              <a:rPr dirty="0" err="1"/>
              <a:t>波形の形そのものの実測ではない</a:t>
            </a:r>
            <a:r>
              <a:rPr dirty="0"/>
              <a:t>。</a:t>
            </a:r>
          </a:p>
          <a:p>
            <a:endParaRPr dirty="0"/>
          </a:p>
          <a:p>
            <a:r>
              <a:rPr dirty="0" err="1"/>
              <a:t>話し方</a:t>
            </a:r>
            <a:endParaRPr dirty="0"/>
          </a:p>
          <a:p>
            <a:r>
              <a:rPr dirty="0"/>
              <a:t>・3.6（文献強度）と対になるスライド。3.6 </a:t>
            </a:r>
            <a:r>
              <a:rPr dirty="0" err="1"/>
              <a:t>で「どこまで言えるか」を示し、ここで「何が起きるか」を</a:t>
            </a:r>
            <a:endParaRPr dirty="0"/>
          </a:p>
          <a:p>
            <a:r>
              <a:rPr dirty="0"/>
              <a:t>　</a:t>
            </a:r>
            <a:r>
              <a:rPr dirty="0" err="1"/>
              <a:t>一覧する。バッジの色は</a:t>
            </a:r>
            <a:r>
              <a:rPr dirty="0"/>
              <a:t> 3.6 </a:t>
            </a:r>
            <a:r>
              <a:rPr dirty="0" err="1"/>
              <a:t>と同じ意味（緑＝実測／金＝実測+モデル／橙＝モデル／赤＝外挿</a:t>
            </a:r>
            <a:r>
              <a:rPr dirty="0"/>
              <a:t>）。</a:t>
            </a:r>
          </a:p>
          <a:p>
            <a:r>
              <a:rPr dirty="0"/>
              <a:t>・</a:t>
            </a:r>
            <a:r>
              <a:rPr dirty="0" err="1"/>
              <a:t>因子は単独では動かない（前負荷が下がれば反射的に心拍数もトーヌスも動く）ので</a:t>
            </a:r>
            <a:r>
              <a:rPr dirty="0"/>
              <a:t>、</a:t>
            </a:r>
          </a:p>
          <a:p>
            <a:r>
              <a:rPr dirty="0"/>
              <a:t>　</a:t>
            </a:r>
            <a:r>
              <a:rPr dirty="0" err="1"/>
              <a:t>実際の波形は複数因子の合成であることを必ず添える</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麻酔薬</a:t>
            </a:r>
            <a:r>
              <a:rPr kumimoji="1" lang="en-US" altLang="ja-JP" dirty="0"/>
              <a:t>【</a:t>
            </a:r>
            <a:r>
              <a:rPr kumimoji="1" lang="ja-JP" altLang="en-US"/>
              <a:t>イソフルラン</a:t>
            </a:r>
            <a:r>
              <a:rPr kumimoji="1" lang="en-US" altLang="ja-JP" dirty="0"/>
              <a:t>】</a:t>
            </a:r>
            <a:r>
              <a:rPr kumimoji="1" lang="ja-JP" altLang="en-US"/>
              <a:t>による血管拡張</a:t>
            </a:r>
            <a:endParaRPr kumimoji="1" lang="en-US" altLang="ja-JP" dirty="0"/>
          </a:p>
          <a:p>
            <a:endParaRPr kumimoji="1" lang="en-US" altLang="ja-JP" dirty="0"/>
          </a:p>
          <a:p>
            <a:r>
              <a:rPr kumimoji="1" lang="ja-JP" altLang="en-US"/>
              <a:t>古い総説文献で、イソフルラン麻酔の際の麻酔中の</a:t>
            </a:r>
            <a:r>
              <a:rPr kumimoji="1" lang="en-US" altLang="ja-JP" dirty="0"/>
              <a:t>PPG</a:t>
            </a:r>
            <a:r>
              <a:rPr kumimoji="1" lang="ja-JP" altLang="en-US"/>
              <a:t>波形観察の結果をまとめています。</a:t>
            </a:r>
            <a:endParaRPr kumimoji="1" lang="en-US" altLang="ja-JP" dirty="0"/>
          </a:p>
          <a:p>
            <a:r>
              <a:rPr kumimoji="1" lang="ja-JP" altLang="en-US"/>
              <a:t>浅麻酔状態や心麻酔状態の変化を記述しており、数値的な検証ではなく、切痕を対象としていますが、実際にこのような波形変化をすることが多いと思います。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effectLst/>
                <a:latin typeface="+mn-lt"/>
                <a:ea typeface="+mn-ea"/>
                <a:cs typeface="+mn-cs"/>
              </a:rPr>
              <a:t>圧・脈トレースの下行部の切痕の位置は血管運動トーヌスの指標に使える。血管運動トーヌス低下は大半の全麻導入の特徴。血管拡張が進むと末梢静脈が拡張し脈信号が増し、切痕は拡張期圧ベースラインへ下降する。これは安定麻酔中のニトロプルシド・ニトログリセリン・神経節遮断薬の有効投与の有用な徴候でもある</a:t>
            </a:r>
            <a:r>
              <a:rPr kumimoji="1" lang="en-US" altLang="ja-JP" sz="1200" kern="1200" dirty="0">
                <a:solidFill>
                  <a:schemeClr val="tx1"/>
                </a:solidFill>
                <a:effectLst/>
                <a:latin typeface="+mn-lt"/>
                <a:ea typeface="+mn-ea"/>
                <a:cs typeface="+mn-cs"/>
              </a:rPr>
              <a:t>——</a:t>
            </a:r>
            <a:r>
              <a:rPr kumimoji="1" lang="ja-JP" altLang="ja-JP" sz="1200" kern="1200">
                <a:solidFill>
                  <a:schemeClr val="tx1"/>
                </a:solidFill>
                <a:effectLst/>
                <a:latin typeface="+mn-lt"/>
                <a:ea typeface="+mn-ea"/>
                <a:cs typeface="+mn-cs"/>
              </a:rPr>
              <a:t>切痕がベースライン上にあると、これら薬はそれ以上血圧を下げず回復を遅らせるだけ</a:t>
            </a:r>
            <a:r>
              <a:rPr lang="ja-JP" altLang="ja-JP">
                <a:effectLst/>
              </a:rPr>
              <a:t> </a:t>
            </a:r>
            <a:endParaRPr kumimoji="1" lang="ja-JP" altLang="en-US"/>
          </a:p>
          <a:p>
            <a:endParaRPr kumimoji="1" lang="ja-JP" altLang="en-US"/>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46</a:t>
            </a:fld>
            <a:endParaRPr kumimoji="1" lang="ja-JP" altLang="en-US"/>
          </a:p>
        </p:txBody>
      </p:sp>
    </p:spTree>
    <p:extLst>
      <p:ext uri="{BB962C8B-B14F-4D97-AF65-F5344CB8AC3E}">
        <p14:creationId xmlns:p14="http://schemas.microsoft.com/office/powerpoint/2010/main" val="42232436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D1CB0-CE00-1CA1-E7F7-7EEDB009DCB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A32D14D-20B6-BBF4-A9E2-BD253587BB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F7221BC-444F-B749-73D8-7FAB73FB3F5E}"/>
              </a:ext>
            </a:extLst>
          </p:cNvPr>
          <p:cNvSpPr>
            <a:spLocks noGrp="1"/>
          </p:cNvSpPr>
          <p:nvPr>
            <p:ph type="body" idx="1"/>
          </p:nvPr>
        </p:nvSpPr>
        <p:spPr/>
        <p:txBody>
          <a:bodyPr/>
          <a:lstStyle/>
          <a:p>
            <a:pPr>
              <a:lnSpc>
                <a:spcPct val="110000"/>
              </a:lnSpc>
            </a:pPr>
            <a:r>
              <a:rPr kumimoji="1" lang="ja-JP" altLang="en-US"/>
              <a:t>続いて</a:t>
            </a:r>
            <a:r>
              <a:rPr lang="en-US" altLang="ja-JP" sz="1200" b="1" dirty="0">
                <a:latin typeface="Meiryo"/>
                <a:ea typeface="Meiryo"/>
                <a:cs typeface="Meiryo"/>
              </a:rPr>
              <a:t>CABG15</a:t>
            </a:r>
            <a:r>
              <a:rPr lang="ja-JP" altLang="en-US" sz="1200" b="1">
                <a:latin typeface="Meiryo"/>
                <a:ea typeface="Meiryo"/>
                <a:cs typeface="Meiryo"/>
              </a:rPr>
              <a:t>症例で</a:t>
            </a:r>
            <a:r>
              <a:rPr lang="en-US" altLang="ja-JP" sz="1200" b="1" dirty="0">
                <a:latin typeface="Meiryo"/>
                <a:ea typeface="Meiryo"/>
                <a:cs typeface="Meiryo"/>
              </a:rPr>
              <a:t> PPG</a:t>
            </a:r>
            <a:r>
              <a:rPr lang="ja-JP" altLang="en-US" sz="1200" b="1">
                <a:latin typeface="Meiryo"/>
                <a:ea typeface="Meiryo"/>
                <a:cs typeface="Meiryo"/>
              </a:rPr>
              <a:t>波形</a:t>
            </a:r>
            <a:r>
              <a:rPr lang="en-US" altLang="ja-JP" sz="1200" b="1" dirty="0">
                <a:latin typeface="Meiryo"/>
                <a:ea typeface="Meiryo"/>
                <a:cs typeface="Meiryo"/>
              </a:rPr>
              <a:t> </a:t>
            </a:r>
            <a:r>
              <a:rPr lang="ja-JP" altLang="en-US" sz="1200" b="1">
                <a:latin typeface="Meiryo"/>
                <a:ea typeface="Meiryo"/>
                <a:cs typeface="Meiryo"/>
              </a:rPr>
              <a:t>を目視で</a:t>
            </a:r>
            <a:r>
              <a:rPr lang="en-US" altLang="ja-JP" sz="1200" b="1" dirty="0">
                <a:latin typeface="Meiryo"/>
                <a:ea typeface="Meiryo"/>
                <a:cs typeface="Meiryo"/>
              </a:rPr>
              <a:t> </a:t>
            </a:r>
            <a:r>
              <a:rPr lang="ja-JP" altLang="en-US" sz="1200" b="1">
                <a:latin typeface="Meiryo"/>
                <a:ea typeface="Meiryo"/>
                <a:cs typeface="Meiryo"/>
              </a:rPr>
              <a:t>切痕位置</a:t>
            </a:r>
            <a:r>
              <a:rPr lang="en-US" altLang="ja-JP" sz="1200" b="1" dirty="0">
                <a:latin typeface="Meiryo"/>
                <a:ea typeface="Meiryo"/>
                <a:cs typeface="Meiryo"/>
              </a:rPr>
              <a:t>× </a:t>
            </a:r>
            <a:r>
              <a:rPr lang="ja-JP" altLang="en-US" sz="1200" b="1">
                <a:latin typeface="Meiryo"/>
                <a:ea typeface="Meiryo"/>
                <a:cs typeface="Meiryo"/>
              </a:rPr>
              <a:t>振幅 で</a:t>
            </a:r>
            <a:r>
              <a:rPr lang="en-US" altLang="ja-JP" sz="1200" b="1" dirty="0">
                <a:latin typeface="Meiryo"/>
                <a:ea typeface="Meiryo"/>
                <a:cs typeface="Meiryo"/>
              </a:rPr>
              <a:t>6</a:t>
            </a:r>
            <a:r>
              <a:rPr lang="ja-JP" altLang="en-US" sz="1200" b="1">
                <a:latin typeface="Meiryo"/>
                <a:ea typeface="Meiryo"/>
                <a:cs typeface="Meiryo"/>
              </a:rPr>
              <a:t>つに分類。　</a:t>
            </a:r>
            <a:endParaRPr lang="en-US" altLang="ja-JP" sz="1200" b="1" dirty="0">
              <a:latin typeface="Meiryo"/>
              <a:ea typeface="Meiryo"/>
              <a:cs typeface="Meiryo"/>
            </a:endParaRPr>
          </a:p>
          <a:p>
            <a:pPr>
              <a:lnSpc>
                <a:spcPct val="110000"/>
              </a:lnSpc>
            </a:pPr>
            <a:r>
              <a:rPr lang="ja-JP" altLang="en-US" sz="1200" b="1">
                <a:latin typeface="Meiryo"/>
                <a:ea typeface="Meiryo"/>
                <a:cs typeface="Meiryo"/>
              </a:rPr>
              <a:t>この分類が血圧変化や循環パラメータと関連があるか調べた。</a:t>
            </a:r>
            <a:endParaRPr lang="en-US" altLang="ja-JP" sz="1200" b="1" dirty="0">
              <a:latin typeface="Meiryo"/>
              <a:ea typeface="Meiryo"/>
              <a:cs typeface="Meiryo"/>
            </a:endParaRPr>
          </a:p>
          <a:p>
            <a:pPr>
              <a:lnSpc>
                <a:spcPct val="110000"/>
              </a:lnSpc>
            </a:pPr>
            <a:endParaRPr kumimoji="1" lang="en-US" altLang="ja-JP" sz="1200" b="1" dirty="0">
              <a:latin typeface="Meiryo"/>
              <a:ea typeface="Meiryo"/>
            </a:endParaRPr>
          </a:p>
          <a:p>
            <a:pPr>
              <a:lnSpc>
                <a:spcPct val="110000"/>
              </a:lnSpc>
            </a:pPr>
            <a:endParaRPr kumimoji="1" lang="ja-JP" altLang="en-US" sz="1200" b="1"/>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PPG</a:t>
            </a:r>
            <a:r>
              <a:rPr kumimoji="1" lang="ja-JP" altLang="en-US"/>
              <a:t>を目視で</a:t>
            </a:r>
            <a:r>
              <a:rPr kumimoji="1" lang="en-US" altLang="ja-JP" dirty="0"/>
              <a:t>6</a:t>
            </a:r>
            <a:r>
              <a:rPr kumimoji="1" lang="ja-JP" altLang="en-US"/>
              <a:t>分類し、これらの分類が、</a:t>
            </a:r>
            <a:r>
              <a:rPr kumimoji="1" lang="en-US" altLang="ja-JP" dirty="0"/>
              <a:t>SVR,</a:t>
            </a:r>
            <a:r>
              <a:rPr kumimoji="1" lang="ja-JP" altLang="en-US"/>
              <a:t>高血圧圧、低血圧、コンプライアンスとよく関連した。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a:solidFill>
                  <a:srgbClr val="8C8C8C"/>
                </a:solidFill>
                <a:latin typeface="Meiryo"/>
                <a:ea typeface="Meiryo"/>
                <a:cs typeface="Meiryo"/>
              </a:rPr>
              <a:t>切痕位置（</a:t>
            </a:r>
            <a:r>
              <a:rPr lang="en" altLang="ja-JP" sz="1200" b="0" dirty="0">
                <a:solidFill>
                  <a:srgbClr val="8C8C8C"/>
                </a:solidFill>
                <a:latin typeface="Meiryo"/>
                <a:ea typeface="Meiryo"/>
                <a:cs typeface="Meiryo"/>
              </a:rPr>
              <a:t>I:</a:t>
            </a:r>
            <a:r>
              <a:rPr lang="ja-JP" altLang="en-US" sz="1200" b="0">
                <a:solidFill>
                  <a:srgbClr val="8C8C8C"/>
                </a:solidFill>
                <a:latin typeface="Meiryo"/>
                <a:ea typeface="Meiryo"/>
                <a:cs typeface="Meiryo"/>
              </a:rPr>
              <a:t>収縮期ピークに融合 → </a:t>
            </a:r>
            <a:r>
              <a:rPr lang="en" altLang="ja-JP" sz="1200" b="0" dirty="0">
                <a:solidFill>
                  <a:srgbClr val="8C8C8C"/>
                </a:solidFill>
                <a:latin typeface="Meiryo"/>
                <a:ea typeface="Meiryo"/>
                <a:cs typeface="Meiryo"/>
              </a:rPr>
              <a:t>VI:</a:t>
            </a:r>
            <a:r>
              <a:rPr lang="ja-JP" altLang="en-US" sz="1200" b="0">
                <a:solidFill>
                  <a:srgbClr val="8C8C8C"/>
                </a:solidFill>
                <a:latin typeface="Meiryo"/>
                <a:ea typeface="Meiryo"/>
                <a:cs typeface="Meiryo"/>
              </a:rPr>
              <a:t>陰性）</a:t>
            </a:r>
            <a:r>
              <a:rPr lang="en-US" altLang="ja-JP" sz="1200" b="0" dirty="0">
                <a:solidFill>
                  <a:srgbClr val="8C8C8C"/>
                </a:solidFill>
                <a:latin typeface="Meiryo"/>
                <a:ea typeface="Meiryo"/>
                <a:cs typeface="Meiryo"/>
              </a:rPr>
              <a:t>× </a:t>
            </a:r>
            <a:r>
              <a:rPr lang="ja-JP" altLang="en-US" sz="1200" b="0">
                <a:solidFill>
                  <a:srgbClr val="8C8C8C"/>
                </a:solidFill>
                <a:latin typeface="Meiryo"/>
                <a:ea typeface="Meiryo"/>
                <a:cs typeface="Meiryo"/>
              </a:rPr>
              <a:t>振幅 で</a:t>
            </a:r>
            <a:r>
              <a:rPr lang="en-US" altLang="ja-JP" sz="1200" b="0" dirty="0">
                <a:solidFill>
                  <a:srgbClr val="8C8C8C"/>
                </a:solidFill>
                <a:latin typeface="Meiryo"/>
                <a:ea typeface="Meiryo"/>
                <a:cs typeface="Meiryo"/>
              </a:rPr>
              <a:t>6</a:t>
            </a:r>
            <a:r>
              <a:rPr lang="ja-JP" altLang="en-US" sz="1200" b="0">
                <a:solidFill>
                  <a:srgbClr val="8C8C8C"/>
                </a:solidFill>
                <a:latin typeface="Meiryo"/>
                <a:ea typeface="Meiryo"/>
                <a:cs typeface="Meiryo"/>
              </a:rPr>
              <a:t>分類。</a:t>
            </a:r>
            <a:r>
              <a:rPr lang="en" altLang="ja-JP" sz="1200" b="0" dirty="0">
                <a:solidFill>
                  <a:srgbClr val="8C8C8C"/>
                </a:solidFill>
                <a:latin typeface="Meiryo"/>
                <a:ea typeface="Meiryo"/>
                <a:cs typeface="Meiryo"/>
              </a:rPr>
              <a:t>SBP</a:t>
            </a:r>
            <a:r>
              <a:rPr lang="ja-JP" altLang="en" sz="1200" b="0">
                <a:solidFill>
                  <a:srgbClr val="8C8C8C"/>
                </a:solidFill>
                <a:latin typeface="Meiryo"/>
                <a:ea typeface="Meiryo"/>
                <a:cs typeface="Meiryo"/>
              </a:rPr>
              <a:t>・</a:t>
            </a:r>
            <a:r>
              <a:rPr lang="en" altLang="ja-JP" sz="1200" b="0" dirty="0">
                <a:solidFill>
                  <a:srgbClr val="8C8C8C"/>
                </a:solidFill>
                <a:latin typeface="Meiryo"/>
                <a:ea typeface="Meiryo"/>
                <a:cs typeface="Meiryo"/>
              </a:rPr>
              <a:t>SVR</a:t>
            </a:r>
            <a:r>
              <a:rPr lang="ja-JP" altLang="en" sz="1200" b="0">
                <a:solidFill>
                  <a:srgbClr val="8C8C8C"/>
                </a:solidFill>
                <a:latin typeface="Meiryo"/>
                <a:ea typeface="Meiryo"/>
                <a:cs typeface="Meiryo"/>
              </a:rPr>
              <a:t>・</a:t>
            </a:r>
            <a:r>
              <a:rPr lang="ja-JP" altLang="en-US" sz="1200" b="0">
                <a:solidFill>
                  <a:srgbClr val="8C8C8C"/>
                </a:solidFill>
                <a:latin typeface="Meiryo"/>
                <a:ea typeface="Meiryo"/>
                <a:cs typeface="Meiryo"/>
              </a:rPr>
              <a:t>コンプライアンスと相関 </a:t>
            </a:r>
            <a:r>
              <a:rPr lang="en-US" altLang="ja-JP" sz="1200" b="0" dirty="0">
                <a:solidFill>
                  <a:srgbClr val="8C8C8C"/>
                </a:solidFill>
                <a:latin typeface="Meiryo"/>
                <a:ea typeface="Meiryo"/>
                <a:cs typeface="Meiryo"/>
              </a:rPr>
              <a:t>(</a:t>
            </a:r>
            <a:r>
              <a:rPr lang="en" altLang="ja-JP" sz="1200" b="0" dirty="0" err="1">
                <a:solidFill>
                  <a:srgbClr val="8C8C8C"/>
                </a:solidFill>
                <a:latin typeface="Meiryo"/>
                <a:ea typeface="Meiryo"/>
                <a:cs typeface="Meiryo"/>
              </a:rPr>
              <a:t>Tusman</a:t>
            </a:r>
            <a:r>
              <a:rPr lang="en" altLang="ja-JP" sz="1200" b="0" dirty="0">
                <a:solidFill>
                  <a:srgbClr val="8C8C8C"/>
                </a:solidFill>
                <a:latin typeface="Meiryo"/>
                <a:ea typeface="Meiryo"/>
                <a:cs typeface="Meiryo"/>
              </a:rPr>
              <a:t> 2019)</a:t>
            </a:r>
          </a:p>
          <a:p>
            <a:r>
              <a:rPr kumimoji="1" lang="en-US" altLang="ja-JP" dirty="0"/>
              <a:t>CABG</a:t>
            </a:r>
            <a:r>
              <a:rPr kumimoji="1" lang="ja-JP" altLang="en-US"/>
              <a:t>症例で胸骨切開前</a:t>
            </a:r>
            <a:r>
              <a:rPr kumimoji="1" lang="en-US" altLang="ja-JP" dirty="0"/>
              <a:t>45</a:t>
            </a:r>
            <a:r>
              <a:rPr kumimoji="1" lang="ja-JP" altLang="en-US"/>
              <a:t>分までと閉胸後</a:t>
            </a:r>
            <a:r>
              <a:rPr kumimoji="1" lang="en-US" altLang="ja-JP" dirty="0"/>
              <a:t>1</a:t>
            </a:r>
            <a:r>
              <a:rPr kumimoji="1" lang="ja-JP" altLang="en-US"/>
              <a:t>時間以内</a:t>
            </a:r>
            <a:endParaRPr kumimoji="1" lang="en-US" altLang="ja-JP" dirty="0"/>
          </a:p>
        </p:txBody>
      </p:sp>
      <p:sp>
        <p:nvSpPr>
          <p:cNvPr id="4" name="スライド番号プレースホルダー 3">
            <a:extLst>
              <a:ext uri="{FF2B5EF4-FFF2-40B4-BE49-F238E27FC236}">
                <a16:creationId xmlns:a16="http://schemas.microsoft.com/office/drawing/2014/main" id="{1E303018-0FDD-B4D9-C12E-E63C06E75F2E}"/>
              </a:ext>
            </a:extLst>
          </p:cNvPr>
          <p:cNvSpPr>
            <a:spLocks noGrp="1"/>
          </p:cNvSpPr>
          <p:nvPr>
            <p:ph type="sldNum" sz="quarter" idx="5"/>
          </p:nvPr>
        </p:nvSpPr>
        <p:spPr/>
        <p:txBody>
          <a:bodyPr/>
          <a:lstStyle/>
          <a:p>
            <a:fld id="{4368CECF-0771-D84F-8D42-085DB944B0B8}" type="slidenum">
              <a:rPr kumimoji="1" lang="ja-JP" altLang="en-US" smtClean="0"/>
              <a:t>47</a:t>
            </a:fld>
            <a:endParaRPr kumimoji="1" lang="ja-JP" altLang="en-US"/>
          </a:p>
        </p:txBody>
      </p:sp>
    </p:spTree>
    <p:extLst>
      <p:ext uri="{BB962C8B-B14F-4D97-AF65-F5344CB8AC3E}">
        <p14:creationId xmlns:p14="http://schemas.microsoft.com/office/powerpoint/2010/main" val="26581162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DBC6A-855F-ECC0-16A4-27C83F4855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2CA2A9-51E7-5D66-5655-CFBCD189124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94DA03C-6146-5E28-C8F1-6A40300213B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PPG</a:t>
            </a:r>
            <a:r>
              <a:rPr kumimoji="1" lang="ja-JP" altLang="en-US"/>
              <a:t>を目視で</a:t>
            </a:r>
            <a:r>
              <a:rPr kumimoji="1" lang="en-US" altLang="ja-JP" dirty="0"/>
              <a:t>6</a:t>
            </a:r>
            <a:r>
              <a:rPr kumimoji="1" lang="ja-JP" altLang="en-US"/>
              <a:t>分類し、これらの分類が、</a:t>
            </a:r>
            <a:r>
              <a:rPr kumimoji="1" lang="en-US" altLang="ja-JP" dirty="0"/>
              <a:t>SVR,</a:t>
            </a:r>
            <a:r>
              <a:rPr kumimoji="1" lang="ja-JP" altLang="en-US"/>
              <a:t>高血圧圧、低血圧、コンプライアンスとよく関連した。</a:t>
            </a:r>
            <a:endParaRPr kumimoji="1" lang="en-US" altLang="ja-JP" dirty="0"/>
          </a:p>
          <a:p>
            <a:endParaRPr kumimoji="1" lang="ja-JP" altLang="en-US"/>
          </a:p>
        </p:txBody>
      </p:sp>
      <p:sp>
        <p:nvSpPr>
          <p:cNvPr id="4" name="スライド番号プレースホルダー 3">
            <a:extLst>
              <a:ext uri="{FF2B5EF4-FFF2-40B4-BE49-F238E27FC236}">
                <a16:creationId xmlns:a16="http://schemas.microsoft.com/office/drawing/2014/main" id="{2E5A7203-CDF8-EF8E-5625-F74E3657F8EC}"/>
              </a:ext>
            </a:extLst>
          </p:cNvPr>
          <p:cNvSpPr>
            <a:spLocks noGrp="1"/>
          </p:cNvSpPr>
          <p:nvPr>
            <p:ph type="sldNum" sz="quarter" idx="5"/>
          </p:nvPr>
        </p:nvSpPr>
        <p:spPr/>
        <p:txBody>
          <a:bodyPr/>
          <a:lstStyle/>
          <a:p>
            <a:fld id="{4368CECF-0771-D84F-8D42-085DB944B0B8}" type="slidenum">
              <a:rPr kumimoji="1" lang="ja-JP" altLang="en-US" smtClean="0"/>
              <a:t>48</a:t>
            </a:fld>
            <a:endParaRPr kumimoji="1" lang="ja-JP" altLang="en-US"/>
          </a:p>
        </p:txBody>
      </p:sp>
    </p:spTree>
    <p:extLst>
      <p:ext uri="{BB962C8B-B14F-4D97-AF65-F5344CB8AC3E}">
        <p14:creationId xmlns:p14="http://schemas.microsoft.com/office/powerpoint/2010/main" val="12901608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EED5A-4EC5-8063-2B5A-8659F79F78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6B7E5-4E13-6700-B9C4-06DA1A4D70B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0030154-E22A-E745-F33E-42529B7E6204}"/>
              </a:ext>
            </a:extLst>
          </p:cNvPr>
          <p:cNvSpPr>
            <a:spLocks noGrp="1"/>
          </p:cNvSpPr>
          <p:nvPr>
            <p:ph type="body" sz="quarter" idx="3"/>
          </p:nvPr>
        </p:nvSpPr>
        <p:spPr/>
        <p:txBody>
          <a:bodyPr/>
          <a:lstStyle/>
          <a:p>
            <a:r>
              <a:rPr dirty="0"/>
              <a:t>4.2 の結果スライド。前ページの6分類が「実際に血行動態と対応していたのか」を示す。</a:t>
            </a:r>
            <a:endParaRPr lang="en-US" dirty="0"/>
          </a:p>
          <a:p>
            <a:r>
              <a:rPr lang="ja-JP" altLang="en-US"/>
              <a:t>高血圧は</a:t>
            </a:r>
            <a:r>
              <a:rPr lang="en-US" altLang="ja-JP" dirty="0"/>
              <a:t>S&gt;150</a:t>
            </a:r>
            <a:r>
              <a:rPr lang="ja-JP" altLang="en-US"/>
              <a:t>、低血圧は</a:t>
            </a:r>
            <a:r>
              <a:rPr lang="en-US" altLang="ja-JP" dirty="0"/>
              <a:t>s&lt;90</a:t>
            </a:r>
          </a:p>
          <a:p>
            <a:endParaRPr dirty="0"/>
          </a:p>
          <a:p>
            <a:endParaRPr dirty="0"/>
          </a:p>
          <a:p>
            <a:r>
              <a:rPr dirty="0" err="1"/>
              <a:t>Tusman</a:t>
            </a:r>
            <a:r>
              <a:rPr dirty="0"/>
              <a:t> G, et al. </a:t>
            </a:r>
            <a:r>
              <a:rPr dirty="0" err="1"/>
              <a:t>Photoplethysmographic</a:t>
            </a:r>
            <a:r>
              <a:rPr dirty="0"/>
              <a:t> characterization of vascular tone mediated changes in</a:t>
            </a:r>
          </a:p>
          <a:p>
            <a:r>
              <a:rPr dirty="0"/>
              <a:t>arterial pressure: an observational study. J Clin Monit </a:t>
            </a:r>
            <a:r>
              <a:rPr dirty="0" err="1"/>
              <a:t>Comput</a:t>
            </a:r>
            <a:r>
              <a:rPr dirty="0"/>
              <a:t> 2019;33:815–24.（PMID 30554338）</a:t>
            </a:r>
          </a:p>
          <a:p>
            <a:endParaRPr dirty="0"/>
          </a:p>
          <a:p>
            <a:r>
              <a:rPr dirty="0" err="1"/>
              <a:t>対象（P</a:t>
            </a:r>
            <a:r>
              <a:rPr dirty="0"/>
              <a:t>）</a:t>
            </a:r>
          </a:p>
          <a:p>
            <a:r>
              <a:rPr dirty="0"/>
              <a:t>・心臓手術患者15名、解析対象 190データセット。</a:t>
            </a:r>
          </a:p>
          <a:p>
            <a:r>
              <a:rPr dirty="0"/>
              <a:t>・</a:t>
            </a:r>
            <a:r>
              <a:rPr dirty="0" err="1"/>
              <a:t>高血圧</a:t>
            </a:r>
            <a:r>
              <a:rPr dirty="0"/>
              <a:t> 61エピソード（SAP 159〈151–170〉mmHg）、</a:t>
            </a:r>
            <a:r>
              <a:rPr dirty="0" err="1"/>
              <a:t>正常血圧</a:t>
            </a:r>
            <a:r>
              <a:rPr dirty="0"/>
              <a:t> 84（SAP 124〈113–131〉mmHg）、</a:t>
            </a:r>
          </a:p>
          <a:p>
            <a:r>
              <a:rPr dirty="0"/>
              <a:t>　</a:t>
            </a:r>
            <a:r>
              <a:rPr dirty="0" err="1"/>
              <a:t>低血圧</a:t>
            </a:r>
            <a:r>
              <a:rPr dirty="0"/>
              <a:t> 45（SAP 85〈80–87〉mmHg）。いずれも中央値〈第1–第3四分位〉。</a:t>
            </a:r>
          </a:p>
          <a:p>
            <a:endParaRPr dirty="0"/>
          </a:p>
          <a:p>
            <a:r>
              <a:rPr dirty="0" err="1"/>
              <a:t>分類（I</a:t>
            </a:r>
            <a:r>
              <a:rPr dirty="0"/>
              <a:t>）</a:t>
            </a:r>
          </a:p>
          <a:p>
            <a:r>
              <a:rPr dirty="0"/>
              <a:t>・PPG 波形の輪郭を目視で6クラスに分類（PPGc）。</a:t>
            </a:r>
            <a:r>
              <a:rPr dirty="0" err="1"/>
              <a:t>振幅（足→頂点）と切痕の位置で定義する</a:t>
            </a:r>
            <a:r>
              <a:rPr dirty="0"/>
              <a:t>。</a:t>
            </a:r>
          </a:p>
          <a:p>
            <a:r>
              <a:rPr dirty="0"/>
              <a:t>・</a:t>
            </a:r>
            <a:r>
              <a:rPr dirty="0" err="1"/>
              <a:t>切痕が</a:t>
            </a:r>
            <a:r>
              <a:rPr dirty="0"/>
              <a:t> PPG </a:t>
            </a:r>
            <a:r>
              <a:rPr dirty="0" err="1"/>
              <a:t>振幅の</a:t>
            </a:r>
            <a:r>
              <a:rPr dirty="0"/>
              <a:t> 20〜50% </a:t>
            </a:r>
            <a:r>
              <a:rPr dirty="0" err="1"/>
              <a:t>にある</a:t>
            </a:r>
            <a:r>
              <a:rPr dirty="0"/>
              <a:t> Class III ＝ </a:t>
            </a:r>
            <a:r>
              <a:rPr dirty="0" err="1"/>
              <a:t>正常血管トーヌス</a:t>
            </a:r>
            <a:r>
              <a:rPr dirty="0"/>
              <a:t>。</a:t>
            </a:r>
          </a:p>
          <a:p>
            <a:r>
              <a:rPr dirty="0"/>
              <a:t>・</a:t>
            </a:r>
            <a:r>
              <a:rPr dirty="0" err="1"/>
              <a:t>切痕が</a:t>
            </a:r>
            <a:r>
              <a:rPr dirty="0"/>
              <a:t> &gt;50% </a:t>
            </a:r>
            <a:r>
              <a:rPr dirty="0" err="1"/>
              <a:t>で振幅の小さい</a:t>
            </a:r>
            <a:r>
              <a:rPr dirty="0"/>
              <a:t> Class I〜II ＝ </a:t>
            </a:r>
            <a:r>
              <a:rPr dirty="0" err="1"/>
              <a:t>血管収縮</a:t>
            </a:r>
            <a:r>
              <a:rPr dirty="0"/>
              <a:t>。</a:t>
            </a:r>
          </a:p>
          <a:p>
            <a:r>
              <a:rPr dirty="0"/>
              <a:t>・</a:t>
            </a:r>
            <a:r>
              <a:rPr dirty="0" err="1"/>
              <a:t>切痕が</a:t>
            </a:r>
            <a:r>
              <a:rPr dirty="0"/>
              <a:t> &lt;20% </a:t>
            </a:r>
            <a:r>
              <a:rPr dirty="0" err="1"/>
              <a:t>で背の高い</a:t>
            </a:r>
            <a:r>
              <a:rPr dirty="0"/>
              <a:t> Class IV〜VI ＝ </a:t>
            </a:r>
            <a:r>
              <a:rPr dirty="0" err="1"/>
              <a:t>血管拡張</a:t>
            </a:r>
            <a:r>
              <a:rPr dirty="0"/>
              <a:t>。</a:t>
            </a:r>
          </a:p>
          <a:p>
            <a:endParaRPr dirty="0"/>
          </a:p>
          <a:p>
            <a:r>
              <a:rPr dirty="0" err="1"/>
              <a:t>比較（C</a:t>
            </a:r>
            <a:r>
              <a:rPr dirty="0"/>
              <a:t>）</a:t>
            </a:r>
          </a:p>
          <a:p>
            <a:r>
              <a:rPr dirty="0"/>
              <a:t>・</a:t>
            </a:r>
            <a:r>
              <a:rPr dirty="0" err="1"/>
              <a:t>収縮期動脈圧（SAP</a:t>
            </a:r>
            <a:r>
              <a:rPr dirty="0"/>
              <a:t>）、</a:t>
            </a:r>
            <a:r>
              <a:rPr dirty="0" err="1"/>
              <a:t>および血管トーヌスの代替指標である全身血管抵抗（SVR）と</a:t>
            </a:r>
            <a:endParaRPr dirty="0"/>
          </a:p>
          <a:p>
            <a:r>
              <a:rPr dirty="0"/>
              <a:t>　</a:t>
            </a:r>
            <a:r>
              <a:rPr dirty="0" err="1"/>
              <a:t>血管コンプライアンス（Cvasc</a:t>
            </a:r>
            <a:r>
              <a:rPr dirty="0"/>
              <a:t> ＝ </a:t>
            </a:r>
            <a:r>
              <a:rPr dirty="0" err="1"/>
              <a:t>一回拍出量／脈圧</a:t>
            </a:r>
            <a:r>
              <a:rPr dirty="0"/>
              <a:t>）。</a:t>
            </a:r>
          </a:p>
          <a:p>
            <a:endParaRPr dirty="0"/>
          </a:p>
          <a:p>
            <a:r>
              <a:rPr dirty="0" err="1"/>
              <a:t>結果（O</a:t>
            </a:r>
            <a:r>
              <a:rPr dirty="0"/>
              <a:t>）</a:t>
            </a:r>
          </a:p>
          <a:p>
            <a:r>
              <a:rPr dirty="0"/>
              <a:t>・SAP </a:t>
            </a:r>
            <a:r>
              <a:rPr dirty="0" err="1"/>
              <a:t>は</a:t>
            </a:r>
            <a:r>
              <a:rPr dirty="0"/>
              <a:t> SVR </a:t>
            </a:r>
            <a:r>
              <a:rPr dirty="0" err="1"/>
              <a:t>と</a:t>
            </a:r>
            <a:r>
              <a:rPr dirty="0"/>
              <a:t> r = 0.78（p&lt;0.0001）、</a:t>
            </a:r>
            <a:r>
              <a:rPr dirty="0" err="1"/>
              <a:t>Cvasc</a:t>
            </a:r>
            <a:r>
              <a:rPr dirty="0"/>
              <a:t> </a:t>
            </a:r>
            <a:r>
              <a:rPr dirty="0" err="1"/>
              <a:t>と</a:t>
            </a:r>
            <a:r>
              <a:rPr dirty="0"/>
              <a:t> r = 0.84（p&lt;0.0001）でよく相関した。</a:t>
            </a:r>
          </a:p>
          <a:p>
            <a:r>
              <a:rPr dirty="0"/>
              <a:t>・PPG </a:t>
            </a:r>
            <a:r>
              <a:rPr dirty="0" err="1"/>
              <a:t>分類（クラス番号</a:t>
            </a:r>
            <a:r>
              <a:rPr dirty="0"/>
              <a:t> </a:t>
            </a:r>
            <a:r>
              <a:rPr dirty="0" err="1"/>
              <a:t>I→VI）は</a:t>
            </a:r>
            <a:endParaRPr dirty="0"/>
          </a:p>
          <a:p>
            <a:r>
              <a:rPr dirty="0"/>
              <a:t>　　SAP </a:t>
            </a:r>
            <a:r>
              <a:rPr dirty="0" err="1"/>
              <a:t>と</a:t>
            </a:r>
            <a:r>
              <a:rPr dirty="0"/>
              <a:t> r = −0.90（p&lt;0.0001）</a:t>
            </a:r>
          </a:p>
          <a:p>
            <a:r>
              <a:rPr dirty="0"/>
              <a:t>　　SVR </a:t>
            </a:r>
            <a:r>
              <a:rPr dirty="0" err="1"/>
              <a:t>と</a:t>
            </a:r>
            <a:r>
              <a:rPr dirty="0"/>
              <a:t> r = −0.72（p&lt;0.0001）</a:t>
            </a:r>
          </a:p>
          <a:p>
            <a:r>
              <a:rPr dirty="0"/>
              <a:t>　　</a:t>
            </a:r>
            <a:r>
              <a:rPr dirty="0" err="1"/>
              <a:t>Cvasc</a:t>
            </a:r>
            <a:r>
              <a:rPr dirty="0"/>
              <a:t> </a:t>
            </a:r>
            <a:r>
              <a:rPr dirty="0" err="1"/>
              <a:t>と</a:t>
            </a:r>
            <a:r>
              <a:rPr dirty="0"/>
              <a:t> r = +0.82（p&lt;0.0001）</a:t>
            </a:r>
          </a:p>
          <a:p>
            <a:r>
              <a:rPr dirty="0"/>
              <a:t>　</a:t>
            </a:r>
            <a:r>
              <a:rPr dirty="0" err="1"/>
              <a:t>クラス番号が上がる＝血管拡張側ほど</a:t>
            </a:r>
            <a:r>
              <a:rPr dirty="0"/>
              <a:t> SAP・SVR </a:t>
            </a:r>
            <a:r>
              <a:rPr dirty="0" err="1"/>
              <a:t>が下がり、コンプライアンスが上がる、という向き</a:t>
            </a:r>
            <a:r>
              <a:rPr dirty="0"/>
              <a:t>。</a:t>
            </a:r>
          </a:p>
          <a:p>
            <a:r>
              <a:rPr dirty="0"/>
              <a:t>・190エピソード中7件を誤分類。低血圧検出は正確度 98.4%・</a:t>
            </a:r>
            <a:r>
              <a:rPr dirty="0" err="1"/>
              <a:t>感度</a:t>
            </a:r>
            <a:r>
              <a:rPr dirty="0"/>
              <a:t> 100%・</a:t>
            </a:r>
            <a:r>
              <a:rPr dirty="0" err="1"/>
              <a:t>特異度</a:t>
            </a:r>
            <a:r>
              <a:rPr dirty="0"/>
              <a:t> 97.9%、</a:t>
            </a:r>
          </a:p>
          <a:p>
            <a:r>
              <a:rPr dirty="0"/>
              <a:t>　</a:t>
            </a:r>
            <a:r>
              <a:rPr dirty="0" err="1"/>
              <a:t>高血圧検出は正確度</a:t>
            </a:r>
            <a:r>
              <a:rPr dirty="0"/>
              <a:t> 97.8%・</a:t>
            </a:r>
            <a:r>
              <a:rPr dirty="0" err="1"/>
              <a:t>感度</a:t>
            </a:r>
            <a:r>
              <a:rPr dirty="0"/>
              <a:t> 94.9%・</a:t>
            </a:r>
            <a:r>
              <a:rPr dirty="0" err="1"/>
              <a:t>特異度</a:t>
            </a:r>
            <a:r>
              <a:rPr dirty="0"/>
              <a:t> 99.2%。</a:t>
            </a:r>
          </a:p>
          <a:p>
            <a:endParaRPr dirty="0"/>
          </a:p>
          <a:p>
            <a:r>
              <a:rPr dirty="0" err="1"/>
              <a:t>読み方・限界</a:t>
            </a:r>
            <a:endParaRPr dirty="0"/>
          </a:p>
          <a:p>
            <a:r>
              <a:rPr dirty="0"/>
              <a:t>・「</a:t>
            </a:r>
            <a:r>
              <a:rPr dirty="0" err="1"/>
              <a:t>目視で波形の形を見るだけ」で血管トーヌスと血圧の方向が高い精度で判別できた、というのが要点</a:t>
            </a:r>
            <a:r>
              <a:rPr dirty="0"/>
              <a:t>。</a:t>
            </a:r>
          </a:p>
          <a:p>
            <a:r>
              <a:rPr dirty="0"/>
              <a:t>・ただし心臓手術15名という小規模・単施設の観察研究であり、SAP </a:t>
            </a:r>
            <a:r>
              <a:rPr dirty="0" err="1"/>
              <a:t>との相関が非常に高いのは</a:t>
            </a:r>
            <a:endParaRPr dirty="0"/>
          </a:p>
          <a:p>
            <a:r>
              <a:rPr dirty="0"/>
              <a:t>　</a:t>
            </a:r>
            <a:r>
              <a:rPr dirty="0" err="1"/>
              <a:t>分類の定義自体が血管トーヌス由来の形態変化を狙っているためでもある（循環論法に近い部分がある</a:t>
            </a:r>
            <a:r>
              <a:rPr dirty="0"/>
              <a:t>）。</a:t>
            </a:r>
          </a:p>
          <a:p>
            <a:r>
              <a:rPr dirty="0"/>
              <a:t>・SVR </a:t>
            </a:r>
            <a:r>
              <a:rPr dirty="0" err="1"/>
              <a:t>との相関</a:t>
            </a:r>
            <a:r>
              <a:rPr dirty="0"/>
              <a:t>（−0.72）は SAP（−0.90）ほどではない。PPG </a:t>
            </a:r>
            <a:r>
              <a:rPr dirty="0" err="1"/>
              <a:t>が見ているのは抵抗そのものではなく</a:t>
            </a:r>
            <a:endParaRPr dirty="0"/>
          </a:p>
          <a:p>
            <a:r>
              <a:rPr dirty="0"/>
              <a:t>　</a:t>
            </a:r>
            <a:r>
              <a:rPr dirty="0" err="1"/>
              <a:t>トーヌスに伴う波形変化であることに注意</a:t>
            </a:r>
            <a:r>
              <a:rPr dirty="0"/>
              <a:t>。</a:t>
            </a:r>
          </a:p>
          <a:p>
            <a:endParaRPr dirty="0"/>
          </a:p>
        </p:txBody>
      </p:sp>
      <p:sp>
        <p:nvSpPr>
          <p:cNvPr id="4" name="Slide Number Placeholder 3">
            <a:extLst>
              <a:ext uri="{FF2B5EF4-FFF2-40B4-BE49-F238E27FC236}">
                <a16:creationId xmlns:a16="http://schemas.microsoft.com/office/drawing/2014/main" id="{FBB99F96-C0F1-4D81-7781-53DF03D0ED2F}"/>
              </a:ext>
            </a:extLst>
          </p:cNvPr>
          <p:cNvSpPr>
            <a:spLocks noGrp="1"/>
          </p:cNvSpPr>
          <p:nvPr>
            <p:ph type="sldNum" sz="quarter" idx="5"/>
          </p:nvPr>
        </p:nvSpPr>
        <p:spPr/>
      </p:sp>
    </p:spTree>
    <p:extLst>
      <p:ext uri="{BB962C8B-B14F-4D97-AF65-F5344CB8AC3E}">
        <p14:creationId xmlns:p14="http://schemas.microsoft.com/office/powerpoint/2010/main" val="21421484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4.2 6分類と血行動態（要点版）</a:t>
            </a:r>
          </a:p>
          <a:p>
            <a:endParaRPr/>
          </a:p>
          <a:p>
            <a:r>
              <a:t>Tusman 2019：心臓手術（CABG）15 名・190 エピソード。</a:t>
            </a:r>
          </a:p>
          <a:p>
            <a:r>
              <a:t>PPG 波形を「切痕の位置 × 振幅」で 6 クラスに分類し、観血的血行動態と対比した。</a:t>
            </a:r>
          </a:p>
          <a:p>
            <a:endParaRPr/>
          </a:p>
          <a:p>
            <a:r>
              <a:t>・Class I・II ＝ 血管収縮（SAP・SVR 高）</a:t>
            </a:r>
          </a:p>
          <a:p>
            <a:r>
              <a:t>・Class III  ＝ 正常トーヌス（SAP・SVR 基準）</a:t>
            </a:r>
          </a:p>
          <a:p>
            <a:r>
              <a:t>・Class IV〜VI ＝ 血管拡張（SAP・SVR 低）</a:t>
            </a:r>
          </a:p>
          <a:p>
            <a:endParaRPr/>
          </a:p>
          <a:p>
            <a:r>
              <a:t>PPG 6 分類との相関（いずれも P&lt;0.0001）</a:t>
            </a:r>
          </a:p>
          <a:p>
            <a:r>
              <a:t>・収縮期血圧 SAP        r = −0.90</a:t>
            </a:r>
          </a:p>
          <a:p>
            <a:r>
              <a:t>・全身血管抵抗 SVR      r = −0.72</a:t>
            </a:r>
          </a:p>
          <a:p>
            <a:r>
              <a:t>・血管コンプライアンス   r = +0.82</a:t>
            </a:r>
          </a:p>
          <a:p>
            <a:endParaRPr/>
          </a:p>
          <a:p>
            <a:r>
              <a:t>検出能</a:t>
            </a:r>
          </a:p>
          <a:p>
            <a:r>
              <a:t>・低血圧の検出 感度 100%・特異度 97.9%</a:t>
            </a:r>
          </a:p>
          <a:p>
            <a:r>
              <a:t>・高血圧の検出 感度 94.9%・特異度 99.2%</a:t>
            </a:r>
          </a:p>
          <a:p>
            <a:endParaRPr/>
          </a:p>
          <a:p>
            <a:r>
              <a:t>※前ページに SVR・コンプライアンスを含む全数値を残してあるので、</a:t>
            </a:r>
          </a:p>
          <a:p>
            <a:r>
              <a:t>　口頭ではそちらを補って説明する。</a:t>
            </a:r>
          </a:p>
          <a:p>
            <a:r>
              <a:t>出典：20. Tusman 2019</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4.3 </a:t>
            </a:r>
            <a:r>
              <a:rPr dirty="0" err="1"/>
              <a:t>麻酔導入時の低血圧を</a:t>
            </a:r>
            <a:r>
              <a:rPr dirty="0"/>
              <a:t> PPG </a:t>
            </a:r>
            <a:r>
              <a:rPr dirty="0" err="1"/>
              <a:t>波形から読む</a:t>
            </a:r>
            <a:r>
              <a:rPr dirty="0"/>
              <a:t> — proof of concept。</a:t>
            </a:r>
          </a:p>
          <a:p>
            <a:endParaRPr dirty="0"/>
          </a:p>
          <a:p>
            <a:r>
              <a:rPr dirty="0" err="1"/>
              <a:t>Coutrot</a:t>
            </a:r>
            <a:r>
              <a:rPr dirty="0"/>
              <a:t> M, Joachim J, </a:t>
            </a:r>
            <a:r>
              <a:rPr dirty="0" err="1"/>
              <a:t>Dépret</a:t>
            </a:r>
            <a:r>
              <a:rPr dirty="0"/>
              <a:t> F, et al. Noninvasive continuous detection of arterial hypotension</a:t>
            </a:r>
          </a:p>
          <a:p>
            <a:r>
              <a:rPr dirty="0"/>
              <a:t>during induction of </a:t>
            </a:r>
            <a:r>
              <a:rPr dirty="0" err="1"/>
              <a:t>anaesthesia</a:t>
            </a:r>
            <a:r>
              <a:rPr dirty="0"/>
              <a:t> using a </a:t>
            </a:r>
            <a:r>
              <a:rPr dirty="0" err="1"/>
              <a:t>photoplethysmographic</a:t>
            </a:r>
            <a:r>
              <a:rPr dirty="0"/>
              <a:t> signal: proof of concept.</a:t>
            </a:r>
          </a:p>
          <a:p>
            <a:r>
              <a:rPr dirty="0"/>
              <a:t>Br J </a:t>
            </a:r>
            <a:r>
              <a:rPr dirty="0" err="1"/>
              <a:t>Anaesth</a:t>
            </a:r>
            <a:r>
              <a:rPr dirty="0"/>
              <a:t> 2019;122:605–12.（PMID 30916032／doi 10.1016/j.bja.2019.01.037）</a:t>
            </a:r>
          </a:p>
          <a:p>
            <a:endParaRPr dirty="0"/>
          </a:p>
          <a:p>
            <a:r>
              <a:rPr dirty="0" err="1"/>
              <a:t>対象（P</a:t>
            </a:r>
            <a:r>
              <a:rPr dirty="0"/>
              <a:t>）</a:t>
            </a:r>
          </a:p>
          <a:p>
            <a:r>
              <a:rPr dirty="0"/>
              <a:t>・</a:t>
            </a:r>
            <a:r>
              <a:rPr dirty="0" err="1"/>
              <a:t>プロポフォールとレミフェンタニルの</a:t>
            </a:r>
            <a:r>
              <a:rPr dirty="0"/>
              <a:t> target controlled infusion で全身麻酔導入を受ける患者61名</a:t>
            </a:r>
          </a:p>
          <a:p>
            <a:r>
              <a:rPr dirty="0"/>
              <a:t>　（NCT03756935）。</a:t>
            </a:r>
          </a:p>
          <a:p>
            <a:endParaRPr dirty="0"/>
          </a:p>
          <a:p>
            <a:r>
              <a:rPr dirty="0" err="1"/>
              <a:t>方法（I</a:t>
            </a:r>
            <a:r>
              <a:rPr dirty="0"/>
              <a:t>）</a:t>
            </a:r>
          </a:p>
          <a:p>
            <a:r>
              <a:rPr dirty="0"/>
              <a:t>・</a:t>
            </a:r>
            <a:r>
              <a:rPr dirty="0" err="1"/>
              <a:t>パルスオキシメータの</a:t>
            </a:r>
            <a:r>
              <a:rPr dirty="0"/>
              <a:t> PPG </a:t>
            </a:r>
            <a:r>
              <a:rPr dirty="0" err="1"/>
              <a:t>信号から、相対的ディクロティックノッチ高（Dicpleth）と</a:t>
            </a:r>
            <a:endParaRPr dirty="0"/>
          </a:p>
          <a:p>
            <a:r>
              <a:rPr dirty="0"/>
              <a:t>　</a:t>
            </a:r>
            <a:r>
              <a:rPr dirty="0" err="1"/>
              <a:t>灌流指数（PI）を求め、その相対変化</a:t>
            </a:r>
            <a:r>
              <a:rPr dirty="0"/>
              <a:t> </a:t>
            </a:r>
            <a:r>
              <a:rPr dirty="0" err="1"/>
              <a:t>ΔDicpleth・ΔPI</a:t>
            </a:r>
            <a:r>
              <a:rPr dirty="0"/>
              <a:t> を1分間隔で監視。</a:t>
            </a:r>
          </a:p>
          <a:p>
            <a:r>
              <a:rPr dirty="0"/>
              <a:t>・</a:t>
            </a:r>
            <a:r>
              <a:rPr dirty="0" err="1"/>
              <a:t>昇圧薬（ノルアドレナリンまたはフェニレフリン）投与中の推移も追跡した</a:t>
            </a:r>
            <a:r>
              <a:rPr dirty="0"/>
              <a:t>。</a:t>
            </a:r>
          </a:p>
          <a:p>
            <a:endParaRPr dirty="0"/>
          </a:p>
          <a:p>
            <a:r>
              <a:rPr dirty="0" err="1"/>
              <a:t>基準（C</a:t>
            </a:r>
            <a:r>
              <a:rPr dirty="0"/>
              <a:t>）</a:t>
            </a:r>
          </a:p>
          <a:p>
            <a:r>
              <a:rPr dirty="0"/>
              <a:t>・</a:t>
            </a:r>
            <a:r>
              <a:rPr dirty="0" err="1"/>
              <a:t>術中低血圧（IOH</a:t>
            </a:r>
            <a:r>
              <a:rPr dirty="0"/>
              <a:t>）＝ </a:t>
            </a:r>
            <a:r>
              <a:rPr dirty="0" err="1"/>
              <a:t>平均動脈圧（MAP）が</a:t>
            </a:r>
            <a:r>
              <a:rPr dirty="0"/>
              <a:t> 20% </a:t>
            </a:r>
            <a:r>
              <a:rPr dirty="0" err="1"/>
              <a:t>を超えて低下したもの</a:t>
            </a:r>
            <a:r>
              <a:rPr dirty="0"/>
              <a:t>。</a:t>
            </a:r>
          </a:p>
          <a:p>
            <a:endParaRPr dirty="0"/>
          </a:p>
          <a:p>
            <a:r>
              <a:rPr dirty="0" err="1"/>
              <a:t>結果（O</a:t>
            </a:r>
            <a:r>
              <a:rPr dirty="0"/>
              <a:t>）</a:t>
            </a:r>
          </a:p>
          <a:p>
            <a:r>
              <a:rPr dirty="0"/>
              <a:t>・</a:t>
            </a:r>
            <a:r>
              <a:rPr dirty="0" err="1"/>
              <a:t>ΔDicpleth：AUC</a:t>
            </a:r>
            <a:r>
              <a:rPr dirty="0"/>
              <a:t> 0.86（最適閾値 −19%、</a:t>
            </a:r>
            <a:r>
              <a:rPr dirty="0" err="1"/>
              <a:t>感度</a:t>
            </a:r>
            <a:r>
              <a:rPr dirty="0"/>
              <a:t> 79%・</a:t>
            </a:r>
            <a:r>
              <a:rPr dirty="0" err="1"/>
              <a:t>特異度</a:t>
            </a:r>
            <a:r>
              <a:rPr dirty="0"/>
              <a:t> 84%）</a:t>
            </a:r>
          </a:p>
          <a:p>
            <a:r>
              <a:rPr dirty="0"/>
              <a:t>・ΔPI：AUC 0.83（最適閾値 51%、</a:t>
            </a:r>
            <a:r>
              <a:rPr dirty="0" err="1"/>
              <a:t>感度</a:t>
            </a:r>
            <a:r>
              <a:rPr dirty="0"/>
              <a:t> 82%・</a:t>
            </a:r>
            <a:r>
              <a:rPr dirty="0" err="1"/>
              <a:t>特異度</a:t>
            </a:r>
            <a:r>
              <a:rPr dirty="0"/>
              <a:t> 74%）</a:t>
            </a:r>
          </a:p>
          <a:p>
            <a:r>
              <a:rPr dirty="0"/>
              <a:t>・</a:t>
            </a:r>
            <a:r>
              <a:rPr dirty="0" err="1"/>
              <a:t>両者の</a:t>
            </a:r>
            <a:r>
              <a:rPr dirty="0"/>
              <a:t> ROC </a:t>
            </a:r>
            <a:r>
              <a:rPr dirty="0" err="1"/>
              <a:t>に有意差なし（P</a:t>
            </a:r>
            <a:r>
              <a:rPr dirty="0"/>
              <a:t>=0.22）。</a:t>
            </a:r>
            <a:r>
              <a:rPr dirty="0" err="1"/>
              <a:t>両者を併用すると</a:t>
            </a:r>
            <a:r>
              <a:rPr dirty="0"/>
              <a:t> AUC 0.91（感度・特異度とも 84%）</a:t>
            </a:r>
            <a:r>
              <a:rPr dirty="0" err="1"/>
              <a:t>に向上</a:t>
            </a:r>
            <a:r>
              <a:rPr dirty="0"/>
              <a:t>。</a:t>
            </a:r>
          </a:p>
          <a:p>
            <a:r>
              <a:rPr dirty="0"/>
              <a:t>・</a:t>
            </a:r>
            <a:r>
              <a:rPr dirty="0" err="1"/>
              <a:t>昇圧薬投与中、MAP</a:t>
            </a:r>
            <a:r>
              <a:rPr dirty="0"/>
              <a:t> </a:t>
            </a:r>
            <a:r>
              <a:rPr dirty="0" err="1"/>
              <a:t>の変化は</a:t>
            </a:r>
            <a:r>
              <a:rPr dirty="0"/>
              <a:t> </a:t>
            </a:r>
            <a:r>
              <a:rPr dirty="0" err="1"/>
              <a:t>ΔDicpleth</a:t>
            </a:r>
            <a:r>
              <a:rPr dirty="0"/>
              <a:t> </a:t>
            </a:r>
            <a:r>
              <a:rPr dirty="0" err="1"/>
              <a:t>と</a:t>
            </a:r>
            <a:r>
              <a:rPr dirty="0"/>
              <a:t> r=0.73、ΔPI </a:t>
            </a:r>
            <a:r>
              <a:rPr dirty="0" err="1"/>
              <a:t>と</a:t>
            </a:r>
            <a:r>
              <a:rPr dirty="0"/>
              <a:t> r=−0.62 </a:t>
            </a:r>
            <a:r>
              <a:rPr dirty="0" err="1"/>
              <a:t>で相関（いずれも</a:t>
            </a:r>
            <a:r>
              <a:rPr dirty="0"/>
              <a:t> P&lt;0.001）。</a:t>
            </a:r>
          </a:p>
          <a:p>
            <a:endParaRPr dirty="0"/>
          </a:p>
          <a:p>
            <a:r>
              <a:rPr dirty="0" err="1"/>
              <a:t>波形の見方（スライド左の模式図</a:t>
            </a:r>
            <a:r>
              <a:rPr dirty="0"/>
              <a:t>）</a:t>
            </a:r>
          </a:p>
          <a:p>
            <a:r>
              <a:rPr dirty="0"/>
              <a:t>・</a:t>
            </a:r>
            <a:r>
              <a:rPr dirty="0" err="1"/>
              <a:t>麻酔導入で血管トーヌスが下がる（血管拡張）と、末梢の反射が減って重複切痕がベースライン側へ</a:t>
            </a:r>
            <a:endParaRPr dirty="0"/>
          </a:p>
          <a:p>
            <a:r>
              <a:rPr dirty="0"/>
              <a:t>　</a:t>
            </a:r>
            <a:r>
              <a:rPr dirty="0" err="1"/>
              <a:t>下降し、同時に灌流が増えて脈波振幅（PI）が大きくなる</a:t>
            </a:r>
            <a:r>
              <a:rPr dirty="0"/>
              <a:t>。</a:t>
            </a:r>
          </a:p>
          <a:p>
            <a:r>
              <a:rPr dirty="0"/>
              <a:t>・</a:t>
            </a:r>
            <a:r>
              <a:rPr dirty="0" err="1"/>
              <a:t>つまり「切痕が下がる（ΔDicpleth</a:t>
            </a:r>
            <a:r>
              <a:rPr dirty="0"/>
              <a:t> </a:t>
            </a:r>
            <a:r>
              <a:rPr dirty="0" err="1"/>
              <a:t>陰性</a:t>
            </a:r>
            <a:r>
              <a:rPr dirty="0"/>
              <a:t>）」＋「PI </a:t>
            </a:r>
            <a:r>
              <a:rPr dirty="0" err="1"/>
              <a:t>が上がる（ΔPI</a:t>
            </a:r>
            <a:r>
              <a:rPr dirty="0"/>
              <a:t> </a:t>
            </a:r>
            <a:r>
              <a:rPr dirty="0" err="1"/>
              <a:t>陽性</a:t>
            </a:r>
            <a:r>
              <a:rPr dirty="0"/>
              <a:t>）」</a:t>
            </a:r>
            <a:r>
              <a:rPr dirty="0" err="1"/>
              <a:t>が低血圧のサイン</a:t>
            </a:r>
            <a:r>
              <a:rPr dirty="0"/>
              <a:t>。</a:t>
            </a:r>
          </a:p>
          <a:p>
            <a:r>
              <a:rPr dirty="0"/>
              <a:t>　4.1（Murray 1996：血管拡張で切痕位置↓・</a:t>
            </a:r>
            <a:r>
              <a:rPr dirty="0" err="1"/>
              <a:t>振幅</a:t>
            </a:r>
            <a:r>
              <a:rPr dirty="0"/>
              <a:t>↑）</a:t>
            </a:r>
            <a:r>
              <a:rPr dirty="0" err="1"/>
              <a:t>と同じ向きの現象を、定量指標にしたもの</a:t>
            </a:r>
            <a:r>
              <a:rPr dirty="0"/>
              <a:t>。</a:t>
            </a:r>
          </a:p>
          <a:p>
            <a:endParaRPr dirty="0"/>
          </a:p>
          <a:p>
            <a:r>
              <a:rPr dirty="0" err="1"/>
              <a:t>限界として口頭で足すこと</a:t>
            </a:r>
            <a:endParaRPr dirty="0"/>
          </a:p>
          <a:p>
            <a:r>
              <a:rPr dirty="0"/>
              <a:t>・proof of concept </a:t>
            </a:r>
            <a:r>
              <a:rPr dirty="0" err="1"/>
              <a:t>の単施設研究で、対象は麻酔導入という限られた場面</a:t>
            </a:r>
            <a:r>
              <a:rPr dirty="0"/>
              <a:t>。</a:t>
            </a:r>
          </a:p>
          <a:p>
            <a:r>
              <a:rPr dirty="0"/>
              <a:t>・AUC 0.86〜0.91 </a:t>
            </a:r>
            <a:r>
              <a:rPr dirty="0" err="1"/>
              <a:t>は「低血圧が起きたかどうかの検出」であって、血圧値そのものの推定ではない</a:t>
            </a:r>
            <a:r>
              <a:rPr dirty="0"/>
              <a:t>。</a:t>
            </a:r>
          </a:p>
          <a:p>
            <a:r>
              <a:rPr dirty="0"/>
              <a:t>・</a:t>
            </a:r>
            <a:r>
              <a:rPr dirty="0" err="1"/>
              <a:t>Dicpleth</a:t>
            </a:r>
            <a:r>
              <a:rPr dirty="0"/>
              <a:t> </a:t>
            </a:r>
            <a:r>
              <a:rPr dirty="0" err="1"/>
              <a:t>は重複切痕が見えている波形でしか定義できない</a:t>
            </a:r>
            <a:r>
              <a:rPr dirty="0"/>
              <a:t>（→ 第7章の限界と同じ問題）。</a:t>
            </a:r>
          </a:p>
          <a:p>
            <a:r>
              <a:rPr dirty="0"/>
              <a:t>・</a:t>
            </a:r>
            <a:r>
              <a:rPr dirty="0" err="1"/>
              <a:t>低灌流・体動・血管収縮薬による末梢収縮では</a:t>
            </a:r>
            <a:r>
              <a:rPr dirty="0"/>
              <a:t> PPG </a:t>
            </a:r>
            <a:r>
              <a:rPr dirty="0" err="1"/>
              <a:t>自体の質が落ちる</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PPG</a:t>
            </a:r>
            <a:r>
              <a:rPr kumimoji="1" lang="ja-JP" altLang="en-US"/>
              <a:t>波形を定量化することで比較しやすくします。特に</a:t>
            </a:r>
            <a:r>
              <a:rPr kumimoji="1" lang="en-US" altLang="ja-JP" dirty="0"/>
              <a:t>PPG</a:t>
            </a:r>
            <a:r>
              <a:rPr kumimoji="1" lang="ja-JP" altLang="en-US"/>
              <a:t>研究で盛んな後負荷における主な指標をまとめます。</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52</a:t>
            </a:fld>
            <a:endParaRPr kumimoji="1" lang="ja-JP" altLang="en-US"/>
          </a:p>
        </p:txBody>
      </p:sp>
    </p:spTree>
    <p:extLst>
      <p:ext uri="{BB962C8B-B14F-4D97-AF65-F5344CB8AC3E}">
        <p14:creationId xmlns:p14="http://schemas.microsoft.com/office/powerpoint/2010/main" val="40638808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SI（stiffness</a:t>
            </a:r>
            <a:r>
              <a:rPr dirty="0"/>
              <a:t> index）＝ </a:t>
            </a:r>
            <a:r>
              <a:rPr dirty="0" err="1"/>
              <a:t>身長</a:t>
            </a:r>
            <a:r>
              <a:rPr dirty="0"/>
              <a:t> ÷ ΔT。</a:t>
            </a:r>
            <a:endParaRPr lang="en-US" dirty="0"/>
          </a:p>
          <a:p>
            <a:r>
              <a:rPr lang="en-US" dirty="0" err="1"/>
              <a:t>大血管スティッフネスの指標</a:t>
            </a:r>
            <a:r>
              <a:rPr lang="en-US" dirty="0"/>
              <a:t>。</a:t>
            </a:r>
          </a:p>
          <a:p>
            <a:r>
              <a:rPr lang="en-US" dirty="0" err="1"/>
              <a:t>前進波ピークから反射波ピークまでの時間</a:t>
            </a:r>
            <a:r>
              <a:rPr lang="en-US" dirty="0"/>
              <a:t>。</a:t>
            </a:r>
          </a:p>
          <a:p>
            <a:r>
              <a:rPr lang="en-US" dirty="0" err="1"/>
              <a:t>反射波は大動脈を下降したのちに反射して戻ってくるため、個人間での比較を行うため身長を用いている</a:t>
            </a:r>
            <a:r>
              <a:rPr lang="en-US" dirty="0"/>
              <a:t>。</a:t>
            </a:r>
          </a:p>
          <a:p>
            <a:r>
              <a:rPr lang="en-US" dirty="0"/>
              <a:t>循環評価における大血管スティッフネス指標のゴールデンスタンダードは脈波伝播速度であり、SIはこれとよく相関することがわかっている。</a:t>
            </a:r>
          </a:p>
          <a:p>
            <a:endParaRPr dirty="0"/>
          </a:p>
          <a:p>
            <a:r>
              <a:rPr dirty="0"/>
              <a:t>ΔT は前進波ピーク（P1）と反射波ピーク（P2）の時間差で、反射波が大動脈〜下肢を</a:t>
            </a:r>
          </a:p>
          <a:p>
            <a:r>
              <a:rPr dirty="0" err="1"/>
              <a:t>往復するのに要した時間に相当する。身長で割って距離を補正することで、実質的に</a:t>
            </a:r>
            <a:endParaRPr dirty="0"/>
          </a:p>
          <a:p>
            <a:r>
              <a:rPr dirty="0" err="1"/>
              <a:t>大動脈の脈波伝播速度（PWV）の代用指標になる</a:t>
            </a:r>
            <a:r>
              <a:rPr dirty="0"/>
              <a:t>。</a:t>
            </a:r>
          </a:p>
          <a:p>
            <a:r>
              <a:rPr dirty="0" err="1"/>
              <a:t>Millasseau</a:t>
            </a:r>
            <a:r>
              <a:rPr dirty="0"/>
              <a:t> </a:t>
            </a:r>
            <a:r>
              <a:rPr dirty="0" err="1"/>
              <a:t>らは指尖</a:t>
            </a:r>
            <a:r>
              <a:rPr dirty="0"/>
              <a:t> PPG </a:t>
            </a:r>
            <a:r>
              <a:rPr dirty="0" err="1"/>
              <a:t>から求めた</a:t>
            </a:r>
            <a:r>
              <a:rPr dirty="0"/>
              <a:t> SI </a:t>
            </a:r>
            <a:r>
              <a:rPr dirty="0" err="1"/>
              <a:t>が大動脈</a:t>
            </a:r>
            <a:r>
              <a:rPr dirty="0"/>
              <a:t> PWV </a:t>
            </a:r>
            <a:r>
              <a:rPr dirty="0" err="1"/>
              <a:t>とよく相関することを示した</a:t>
            </a:r>
            <a:r>
              <a:rPr dirty="0"/>
              <a:t>。</a:t>
            </a:r>
          </a:p>
          <a:p>
            <a:r>
              <a:rPr dirty="0" err="1"/>
              <a:t>加齢・動脈硬化では</a:t>
            </a:r>
            <a:r>
              <a:rPr dirty="0"/>
              <a:t> ΔT </a:t>
            </a:r>
            <a:r>
              <a:rPr dirty="0" err="1"/>
              <a:t>が短縮し</a:t>
            </a:r>
            <a:r>
              <a:rPr dirty="0"/>
              <a:t> SI </a:t>
            </a:r>
            <a:r>
              <a:rPr dirty="0" err="1"/>
              <a:t>は上昇する</a:t>
            </a:r>
            <a:r>
              <a:rPr dirty="0"/>
              <a:t>。</a:t>
            </a:r>
          </a:p>
          <a:p>
            <a:r>
              <a:rPr dirty="0" err="1"/>
              <a:t>注意点</a:t>
            </a:r>
            <a:r>
              <a:rPr dirty="0"/>
              <a:t>：</a:t>
            </a:r>
          </a:p>
          <a:p>
            <a:r>
              <a:rPr dirty="0"/>
              <a:t>・P2 </a:t>
            </a:r>
            <a:r>
              <a:rPr dirty="0" err="1"/>
              <a:t>が明瞭に同定できる波形でしか計算できない</a:t>
            </a:r>
            <a:r>
              <a:rPr dirty="0"/>
              <a:t>（→ 第7章の限界）</a:t>
            </a:r>
          </a:p>
          <a:p>
            <a:r>
              <a:rPr dirty="0"/>
              <a:t>・</a:t>
            </a:r>
            <a:r>
              <a:rPr dirty="0" err="1"/>
              <a:t>心拍数の影響を受けるため、比較には</a:t>
            </a:r>
            <a:r>
              <a:rPr dirty="0"/>
              <a:t> HR </a:t>
            </a:r>
            <a:r>
              <a:rPr dirty="0" err="1"/>
              <a:t>補正が必要</a:t>
            </a:r>
            <a:endParaRPr dirty="0"/>
          </a:p>
          <a:p>
            <a:r>
              <a:rPr dirty="0"/>
              <a:t>・「</a:t>
            </a:r>
            <a:r>
              <a:rPr dirty="0" err="1"/>
              <a:t>慢性・構造」の指標であり、術中の一拍ごとの変化を追う目的には向かない</a:t>
            </a:r>
            <a:r>
              <a:rPr dirty="0"/>
              <a:t>。(</a:t>
            </a:r>
            <a:r>
              <a:rPr dirty="0" err="1"/>
              <a:t>Millasseau</a:t>
            </a:r>
            <a:r>
              <a:rPr dirty="0"/>
              <a:t> 2002)</a:t>
            </a:r>
          </a:p>
          <a:p>
            <a:endParaRPr dirty="0"/>
          </a:p>
          <a:p>
            <a:r>
              <a:rPr dirty="0"/>
              <a:t>【「</a:t>
            </a:r>
            <a:r>
              <a:rPr dirty="0" err="1"/>
              <a:t>身長」の意味（文献確認</a:t>
            </a:r>
            <a:r>
              <a:rPr dirty="0"/>
              <a:t> 2026-08）】</a:t>
            </a:r>
          </a:p>
          <a:p>
            <a:r>
              <a:rPr dirty="0" err="1"/>
              <a:t>原著</a:t>
            </a:r>
            <a:r>
              <a:rPr dirty="0"/>
              <a:t> </a:t>
            </a:r>
            <a:r>
              <a:rPr dirty="0" err="1"/>
              <a:t>Millasseau</a:t>
            </a:r>
            <a:r>
              <a:rPr dirty="0"/>
              <a:t> 2002 </a:t>
            </a:r>
            <a:r>
              <a:rPr dirty="0" err="1"/>
              <a:t>は</a:t>
            </a:r>
            <a:r>
              <a:rPr dirty="0"/>
              <a:t> "This path length is unknown, but can be assumed to be proportional to</a:t>
            </a:r>
          </a:p>
          <a:p>
            <a:r>
              <a:rPr dirty="0"/>
              <a:t>subject height (h)" </a:t>
            </a:r>
            <a:r>
              <a:rPr dirty="0" err="1"/>
              <a:t>と述べており、身長は「測れない往復経路長の代用（比例すると仮定</a:t>
            </a:r>
            <a:r>
              <a:rPr dirty="0"/>
              <a:t>）」</a:t>
            </a:r>
            <a:r>
              <a:rPr dirty="0" err="1"/>
              <a:t>である</a:t>
            </a:r>
            <a:r>
              <a:rPr dirty="0"/>
              <a:t>。</a:t>
            </a:r>
          </a:p>
          <a:p>
            <a:r>
              <a:rPr dirty="0" err="1"/>
              <a:t>実測された実効反射距離は片道</a:t>
            </a:r>
            <a:r>
              <a:rPr dirty="0"/>
              <a:t> 約45〜62 </a:t>
            </a:r>
            <a:r>
              <a:rPr dirty="0" err="1"/>
              <a:t>cm（往復</a:t>
            </a:r>
            <a:r>
              <a:rPr dirty="0"/>
              <a:t> 0.9〜1.2 m）＝</a:t>
            </a:r>
            <a:r>
              <a:rPr dirty="0" err="1"/>
              <a:t>身長の</a:t>
            </a:r>
            <a:r>
              <a:rPr dirty="0"/>
              <a:t> 0.5〜0.7 </a:t>
            </a:r>
            <a:r>
              <a:rPr dirty="0" err="1"/>
              <a:t>倍程度で</a:t>
            </a:r>
            <a:r>
              <a:rPr dirty="0"/>
              <a:t>、</a:t>
            </a:r>
          </a:p>
          <a:p>
            <a:r>
              <a:rPr dirty="0"/>
              <a:t>「</a:t>
            </a:r>
            <a:r>
              <a:rPr dirty="0" err="1"/>
              <a:t>往復距離＝身長」ではない（Pierce</a:t>
            </a:r>
            <a:r>
              <a:rPr dirty="0"/>
              <a:t> 2013 AJP Heart 305:H135、Trachet 2010 Ann Biomed Eng 38:876）。</a:t>
            </a:r>
          </a:p>
          <a:p>
            <a:r>
              <a:rPr dirty="0" err="1"/>
              <a:t>原著自身も</a:t>
            </a:r>
            <a:r>
              <a:rPr dirty="0"/>
              <a:t> "SI_DVP cannot be considered as a direct measure of large artery PWV" </a:t>
            </a:r>
            <a:r>
              <a:rPr dirty="0" err="1"/>
              <a:t>と限定しており</a:t>
            </a:r>
            <a:r>
              <a:rPr dirty="0"/>
              <a:t>、</a:t>
            </a:r>
          </a:p>
          <a:p>
            <a:r>
              <a:rPr dirty="0" err="1"/>
              <a:t>cf</a:t>
            </a:r>
            <a:r>
              <a:rPr dirty="0"/>
              <a:t>-PWV </a:t>
            </a:r>
            <a:r>
              <a:rPr dirty="0" err="1"/>
              <a:t>との相関は</a:t>
            </a:r>
            <a:r>
              <a:rPr dirty="0"/>
              <a:t> r≈0.65（Bland–Altman </a:t>
            </a:r>
            <a:r>
              <a:rPr dirty="0" err="1"/>
              <a:t>の一致幅は</a:t>
            </a:r>
            <a:r>
              <a:rPr dirty="0"/>
              <a:t> ±4 m/s </a:t>
            </a:r>
            <a:r>
              <a:rPr dirty="0" err="1"/>
              <a:t>程度</a:t>
            </a:r>
            <a:r>
              <a:rPr dirty="0"/>
              <a:t>）＝</a:t>
            </a:r>
            <a:r>
              <a:rPr dirty="0" err="1"/>
              <a:t>個人単位の代替にはならない</a:t>
            </a:r>
            <a:r>
              <a:rPr dirty="0"/>
              <a:t>。</a:t>
            </a:r>
          </a:p>
          <a:p>
            <a:r>
              <a:rPr dirty="0" err="1"/>
              <a:t>高齢・高血圧例では未検証、という限定も原著に明記されている</a:t>
            </a:r>
            <a:r>
              <a:rPr dirty="0"/>
              <a:t>。</a:t>
            </a:r>
          </a:p>
          <a:p>
            <a:r>
              <a:rPr dirty="0" err="1"/>
              <a:t>また</a:t>
            </a:r>
            <a:r>
              <a:rPr dirty="0"/>
              <a:t> ΔT </a:t>
            </a:r>
            <a:r>
              <a:rPr dirty="0" err="1"/>
              <a:t>からは腕の伝播時間が相殺されるので、ΔT</a:t>
            </a:r>
            <a:r>
              <a:rPr dirty="0"/>
              <a:t> </a:t>
            </a:r>
            <a:r>
              <a:rPr dirty="0" err="1"/>
              <a:t>は「心臓〜指先」ではなく「大動脈内の往復」を見ている</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A4D7D-187F-37EB-241D-73FEEDBFB3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1772F9-575E-00AD-F9C1-D687E430E49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099F51E-B5BF-8314-CCEC-48DDAFFA2F30}"/>
              </a:ext>
            </a:extLst>
          </p:cNvPr>
          <p:cNvSpPr>
            <a:spLocks noGrp="1"/>
          </p:cNvSpPr>
          <p:nvPr>
            <p:ph type="body" sz="quarter" idx="3"/>
          </p:nvPr>
        </p:nvSpPr>
        <p:spPr/>
        <p:txBody>
          <a:bodyPr/>
          <a:lstStyle/>
          <a:p>
            <a:r>
              <a:rPr lang="ja-JP" altLang="en-US"/>
              <a:t>健常成人の計測結果では、年齢、</a:t>
            </a:r>
            <a:r>
              <a:rPr lang="ja-JP" altLang="ja-JP" sz="1200" b="1"/>
              <a:t>頸動脈–大腿動脈脈波伝播速度</a:t>
            </a:r>
            <a:r>
              <a:rPr lang="ja-JP" altLang="en-US" sz="1200" b="1"/>
              <a:t>との関連が示されている。</a:t>
            </a:r>
            <a:endParaRPr lang="en-US" altLang="ja-JP" dirty="0"/>
          </a:p>
          <a:p>
            <a:r>
              <a:rPr lang="ja-JP" altLang="en-US"/>
              <a:t>血管収縮薬や拡張薬の使用でほぼ変化しなかった</a:t>
            </a:r>
            <a:endParaRPr lang="en-US" altLang="ja-JP" dirty="0"/>
          </a:p>
          <a:p>
            <a:endParaRPr lang="en-US" altLang="ja-JP" dirty="0"/>
          </a:p>
          <a:p>
            <a:r>
              <a:rPr lang="ja-JP" altLang="en-US"/>
              <a:t>ミラソ</a:t>
            </a:r>
            <a:r>
              <a:rPr lang="en-US" altLang="ja-JP" dirty="0"/>
              <a:t>-2022</a:t>
            </a:r>
            <a:r>
              <a:rPr lang="ja-JP" altLang="en-US"/>
              <a:t>　</a:t>
            </a:r>
            <a:endParaRPr lang="en-US" altLang="ja-JP" dirty="0"/>
          </a:p>
          <a:p>
            <a:r>
              <a:rPr lang="ja-JP" altLang="en-US"/>
              <a:t>健常成人</a:t>
            </a:r>
            <a:r>
              <a:rPr lang="en-US" altLang="ja-JP" dirty="0"/>
              <a:t>87</a:t>
            </a:r>
            <a:r>
              <a:rPr lang="ja-JP" altLang="en-US"/>
              <a:t>人の研究</a:t>
            </a:r>
            <a:endParaRPr dirty="0"/>
          </a:p>
        </p:txBody>
      </p:sp>
      <p:sp>
        <p:nvSpPr>
          <p:cNvPr id="4" name="Slide Number Placeholder 3">
            <a:extLst>
              <a:ext uri="{FF2B5EF4-FFF2-40B4-BE49-F238E27FC236}">
                <a16:creationId xmlns:a16="http://schemas.microsoft.com/office/drawing/2014/main" id="{E4E53ED2-5D8E-98A7-160F-26645192C23E}"/>
              </a:ext>
            </a:extLst>
          </p:cNvPr>
          <p:cNvSpPr>
            <a:spLocks noGrp="1"/>
          </p:cNvSpPr>
          <p:nvPr>
            <p:ph type="sldNum" sz="quarter" idx="5"/>
          </p:nvPr>
        </p:nvSpPr>
        <p:spPr/>
      </p:sp>
    </p:spTree>
    <p:extLst>
      <p:ext uri="{BB962C8B-B14F-4D97-AF65-F5344CB8AC3E}">
        <p14:creationId xmlns:p14="http://schemas.microsoft.com/office/powerpoint/2010/main" val="7851324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Refectction</a:t>
            </a:r>
            <a:r>
              <a:rPr lang="en-US" dirty="0"/>
              <a:t> </a:t>
            </a:r>
            <a:r>
              <a:rPr lang="en-US" dirty="0" err="1"/>
              <a:t>indexは末梢血管抵抗の指標となる</a:t>
            </a:r>
            <a:r>
              <a:rPr lang="en-US" dirty="0"/>
              <a:t>。</a:t>
            </a:r>
          </a:p>
          <a:p>
            <a:r>
              <a:rPr lang="en-US" dirty="0" err="1"/>
              <a:t>反射波ピークを前進波ピークで割ったもの。反射波の振幅が反映される</a:t>
            </a:r>
            <a:r>
              <a:rPr lang="en-US" dirty="0"/>
              <a:t>。</a:t>
            </a:r>
          </a:p>
          <a:p>
            <a:endParaRPr lang="en-US" dirty="0"/>
          </a:p>
          <a:p>
            <a:r>
              <a:rPr lang="en-US" dirty="0"/>
              <a:t>中心はミラソ-2003にする、RIの設定に言及したのは2002</a:t>
            </a:r>
            <a:r>
              <a:rPr lang="ja-JP" altLang="en-US"/>
              <a:t> </a:t>
            </a:r>
            <a:r>
              <a:rPr lang="en-US" dirty="0"/>
              <a:t>1999も原理は似ているし、同じ研究チーム</a:t>
            </a:r>
          </a:p>
          <a:p>
            <a:r>
              <a:rPr dirty="0" err="1"/>
              <a:t>RI（reflecti</a:t>
            </a:r>
            <a:r>
              <a:rPr lang="en" dirty="0"/>
              <a:t>o</a:t>
            </a:r>
            <a:r>
              <a:rPr lang="en-US" dirty="0"/>
              <a:t>n index）＝ P2 ÷ P1（％</a:t>
            </a:r>
            <a:r>
              <a:rPr lang="ja-JP" altLang="en-US"/>
              <a:t>で表す）。</a:t>
            </a:r>
          </a:p>
          <a:p>
            <a:r>
              <a:rPr dirty="0" err="1"/>
              <a:t>反射波の高さを前進波の高さで正規化した指標で、末梢血管トーヌス（反射係数）を反映する</a:t>
            </a:r>
            <a:r>
              <a:rPr dirty="0"/>
              <a:t>。</a:t>
            </a:r>
          </a:p>
          <a:p>
            <a:r>
              <a:rPr dirty="0" err="1"/>
              <a:t>Chowienczyk</a:t>
            </a:r>
            <a:r>
              <a:rPr dirty="0"/>
              <a:t> </a:t>
            </a:r>
            <a:r>
              <a:rPr dirty="0" err="1"/>
              <a:t>らは、吸入</a:t>
            </a:r>
            <a:r>
              <a:rPr dirty="0"/>
              <a:t>β2刺激薬で RI </a:t>
            </a:r>
            <a:r>
              <a:rPr dirty="0" err="1"/>
              <a:t>が約</a:t>
            </a:r>
            <a:r>
              <a:rPr dirty="0"/>
              <a:t> −11.8%、</a:t>
            </a:r>
            <a:r>
              <a:rPr dirty="0" err="1"/>
              <a:t>ニトログリセリンで約</a:t>
            </a:r>
            <a:r>
              <a:rPr dirty="0"/>
              <a:t> −18.3% </a:t>
            </a:r>
            <a:r>
              <a:rPr dirty="0" err="1"/>
              <a:t>低下することを</a:t>
            </a:r>
            <a:endParaRPr dirty="0"/>
          </a:p>
          <a:p>
            <a:r>
              <a:rPr dirty="0" err="1"/>
              <a:t>示し、RI</a:t>
            </a:r>
            <a:r>
              <a:rPr dirty="0"/>
              <a:t> </a:t>
            </a:r>
            <a:r>
              <a:rPr dirty="0" err="1"/>
              <a:t>が小血管の拡張に鋭敏に反応することを示した。逆に血管収縮（昇圧薬・浅麻酔）では</a:t>
            </a:r>
            <a:endParaRPr dirty="0"/>
          </a:p>
          <a:p>
            <a:r>
              <a:rPr dirty="0"/>
              <a:t>RI </a:t>
            </a:r>
            <a:r>
              <a:rPr dirty="0" err="1"/>
              <a:t>は上昇する</a:t>
            </a:r>
            <a:r>
              <a:rPr dirty="0"/>
              <a:t>。</a:t>
            </a:r>
          </a:p>
          <a:p>
            <a:r>
              <a:rPr dirty="0"/>
              <a:t>SI </a:t>
            </a:r>
            <a:r>
              <a:rPr dirty="0" err="1"/>
              <a:t>が「硬さ＝慢性・構造」を見るのに対し、RI</a:t>
            </a:r>
            <a:r>
              <a:rPr dirty="0"/>
              <a:t> </a:t>
            </a:r>
            <a:r>
              <a:rPr dirty="0" err="1"/>
              <a:t>は「トーヌス＝急性・機能」を見る指標であり</a:t>
            </a:r>
            <a:r>
              <a:rPr dirty="0"/>
              <a:t>、</a:t>
            </a:r>
          </a:p>
          <a:p>
            <a:r>
              <a:rPr dirty="0" err="1"/>
              <a:t>術中トレンドを追うのに向く。ただし</a:t>
            </a:r>
            <a:r>
              <a:rPr dirty="0"/>
              <a:t> RI </a:t>
            </a:r>
            <a:r>
              <a:rPr dirty="0" err="1"/>
              <a:t>も心拍数の影響を受けるため補正が必要</a:t>
            </a:r>
            <a:r>
              <a:rPr dirty="0"/>
              <a:t>。(</a:t>
            </a:r>
            <a:r>
              <a:rPr dirty="0" err="1"/>
              <a:t>Chowienczyk</a:t>
            </a:r>
            <a:r>
              <a:rPr dirty="0"/>
              <a:t> 1999)</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24908-BA78-F04F-E00B-6FE995288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CD3B70-66B8-3729-20E6-7A685B831F7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E6B3191-67D7-F8EE-100A-C67909330370}"/>
              </a:ext>
            </a:extLst>
          </p:cNvPr>
          <p:cNvSpPr>
            <a:spLocks noGrp="1"/>
          </p:cNvSpPr>
          <p:nvPr>
            <p:ph type="body" sz="quarter" idx="3"/>
          </p:nvPr>
        </p:nvSpPr>
        <p:spPr/>
        <p:txBody>
          <a:bodyPr/>
          <a:lstStyle/>
          <a:p>
            <a:r>
              <a:rPr lang="en-US" dirty="0"/>
              <a:t>ミラソ-2003</a:t>
            </a:r>
            <a:r>
              <a:rPr lang="ja-JP" altLang="en-US"/>
              <a:t>　</a:t>
            </a:r>
            <a:endParaRPr lang="en-US" altLang="ja-JP" dirty="0"/>
          </a:p>
          <a:p>
            <a:endParaRPr lang="en-US" altLang="ja-JP"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増加させた</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減少させた</a:t>
            </a:r>
            <a:endParaRPr kumimoji="1" lang="en-US" altLang="ja-JP" sz="1200" kern="1200" dirty="0">
              <a:solidFill>
                <a:schemeClr val="tx1"/>
              </a:solidFill>
              <a:effectLst/>
              <a:latin typeface="+mn-lt"/>
              <a:ea typeface="+mn-ea"/>
              <a:cs typeface="+mn-cs"/>
            </a:endParaRPr>
          </a:p>
          <a:p>
            <a:endParaRPr lang="en-US" altLang="ja-JP" dirty="0"/>
          </a:p>
          <a:p>
            <a:r>
              <a:rPr lang="ja-JP" altLang="en-US"/>
              <a:t>健康男性</a:t>
            </a:r>
            <a:r>
              <a:rPr lang="en-US" altLang="ja-JP" dirty="0"/>
              <a:t>124</a:t>
            </a:r>
            <a:r>
              <a:rPr lang="ja-JP" altLang="en-US"/>
              <a:t>人での検討では</a:t>
            </a:r>
            <a:r>
              <a:rPr dirty="0" err="1"/>
              <a:t>Chowienczyk</a:t>
            </a:r>
            <a:r>
              <a:rPr dirty="0"/>
              <a:t> </a:t>
            </a:r>
            <a:r>
              <a:rPr dirty="0" err="1"/>
              <a:t>らは、</a:t>
            </a:r>
            <a:r>
              <a:rPr lang="en-US" altLang="ja-JP" dirty="0" err="1"/>
              <a:t>RI</a:t>
            </a:r>
            <a:r>
              <a:rPr lang="ja-JP" altLang="en-US"/>
              <a:t>が</a:t>
            </a:r>
            <a:r>
              <a:rPr dirty="0" err="1"/>
              <a:t>ニトログリセリンで約</a:t>
            </a:r>
            <a:r>
              <a:rPr dirty="0"/>
              <a:t> −18.3% </a:t>
            </a:r>
            <a:r>
              <a:rPr dirty="0" err="1"/>
              <a:t>低下することを</a:t>
            </a:r>
            <a:endParaRPr dirty="0"/>
          </a:p>
          <a:p>
            <a:r>
              <a:rPr dirty="0" err="1"/>
              <a:t>示し、RI</a:t>
            </a:r>
            <a:r>
              <a:rPr dirty="0"/>
              <a:t> </a:t>
            </a:r>
            <a:r>
              <a:rPr dirty="0" err="1"/>
              <a:t>が小血管の拡張に鋭敏に反応することを示した。逆に血管収縮（昇圧薬・浅麻酔）では</a:t>
            </a:r>
            <a:endParaRPr dirty="0"/>
          </a:p>
          <a:p>
            <a:r>
              <a:rPr dirty="0"/>
              <a:t>RI </a:t>
            </a:r>
            <a:r>
              <a:rPr dirty="0" err="1"/>
              <a:t>は上昇する</a:t>
            </a:r>
            <a:r>
              <a:rPr dirty="0"/>
              <a:t>。</a:t>
            </a:r>
          </a:p>
          <a:p>
            <a:r>
              <a:rPr dirty="0"/>
              <a:t>SI </a:t>
            </a:r>
            <a:r>
              <a:rPr dirty="0" err="1"/>
              <a:t>が「硬さ＝慢性・構造」を見るのに対し、RI</a:t>
            </a:r>
            <a:r>
              <a:rPr dirty="0"/>
              <a:t> </a:t>
            </a:r>
            <a:r>
              <a:rPr dirty="0" err="1"/>
              <a:t>は「トーヌス＝急性・機能」を見る指標であり</a:t>
            </a:r>
            <a:r>
              <a:rPr dirty="0"/>
              <a:t>、</a:t>
            </a:r>
          </a:p>
          <a:p>
            <a:r>
              <a:rPr dirty="0" err="1"/>
              <a:t>術中トレンドを追うのに向く。ただし</a:t>
            </a:r>
            <a:r>
              <a:rPr dirty="0"/>
              <a:t> RI </a:t>
            </a:r>
            <a:r>
              <a:rPr dirty="0" err="1"/>
              <a:t>も心拍数の影響を受けるため補正が必要</a:t>
            </a:r>
            <a:r>
              <a:rPr dirty="0"/>
              <a:t>。(</a:t>
            </a:r>
            <a:r>
              <a:rPr dirty="0" err="1"/>
              <a:t>Chowienczyk</a:t>
            </a:r>
            <a:r>
              <a:rPr dirty="0"/>
              <a:t> 1999)</a:t>
            </a:r>
          </a:p>
        </p:txBody>
      </p:sp>
      <p:sp>
        <p:nvSpPr>
          <p:cNvPr id="4" name="Slide Number Placeholder 3">
            <a:extLst>
              <a:ext uri="{FF2B5EF4-FFF2-40B4-BE49-F238E27FC236}">
                <a16:creationId xmlns:a16="http://schemas.microsoft.com/office/drawing/2014/main" id="{F0212291-EF25-F547-25BD-BC547786E566}"/>
              </a:ext>
            </a:extLst>
          </p:cNvPr>
          <p:cNvSpPr>
            <a:spLocks noGrp="1"/>
          </p:cNvSpPr>
          <p:nvPr>
            <p:ph type="sldNum" sz="quarter" idx="5"/>
          </p:nvPr>
        </p:nvSpPr>
        <p:spPr/>
      </p:sp>
    </p:spTree>
    <p:extLst>
      <p:ext uri="{BB962C8B-B14F-4D97-AF65-F5344CB8AC3E}">
        <p14:creationId xmlns:p14="http://schemas.microsoft.com/office/powerpoint/2010/main" val="176895789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D1EE2-1F6D-690B-B26F-7ACD42E8E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C2CF9-E8A3-453E-6CC6-448B4B6BBBB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8ED0F3F-DA55-BE7D-FC02-4BDB819B6604}"/>
              </a:ext>
            </a:extLst>
          </p:cNvPr>
          <p:cNvSpPr>
            <a:spLocks noGrp="1"/>
          </p:cNvSpPr>
          <p:nvPr>
            <p:ph type="body" sz="quarter" idx="3"/>
          </p:nvPr>
        </p:nvSpPr>
        <p:spPr/>
        <p:txBody>
          <a:bodyPr/>
          <a:lstStyle/>
          <a:p>
            <a:r>
              <a:rPr lang="en-US" dirty="0" err="1"/>
              <a:t>RIとSVRに関連があるのかを調べた研究</a:t>
            </a:r>
            <a:endParaRPr lang="en-US" dirty="0"/>
          </a:p>
          <a:p>
            <a:endParaRPr lang="en-US" dirty="0"/>
          </a:p>
          <a:p>
            <a:r>
              <a:rPr lang="en-US" dirty="0"/>
              <a:t>lee2011</a:t>
            </a:r>
            <a:r>
              <a:rPr lang="ja-JP" altLang="en-US"/>
              <a:t>　オーストラリアの</a:t>
            </a:r>
            <a:r>
              <a:rPr lang="en-US" altLang="ja-JP" dirty="0"/>
              <a:t>ICU</a:t>
            </a:r>
            <a:r>
              <a:rPr lang="ja-JP" altLang="en-US"/>
              <a:t>で測定された</a:t>
            </a:r>
            <a:r>
              <a:rPr lang="en-US" altLang="ja-JP" dirty="0"/>
              <a:t>64</a:t>
            </a:r>
            <a:r>
              <a:rPr lang="ja-JP" altLang="en-US"/>
              <a:t>人分のデータ</a:t>
            </a:r>
            <a:endParaRPr dirty="0"/>
          </a:p>
        </p:txBody>
      </p:sp>
      <p:sp>
        <p:nvSpPr>
          <p:cNvPr id="4" name="Slide Number Placeholder 3">
            <a:extLst>
              <a:ext uri="{FF2B5EF4-FFF2-40B4-BE49-F238E27FC236}">
                <a16:creationId xmlns:a16="http://schemas.microsoft.com/office/drawing/2014/main" id="{F7FB63D8-E5B4-6805-4294-75A17752CBDA}"/>
              </a:ext>
            </a:extLst>
          </p:cNvPr>
          <p:cNvSpPr>
            <a:spLocks noGrp="1"/>
          </p:cNvSpPr>
          <p:nvPr>
            <p:ph type="sldNum" sz="quarter" idx="5"/>
          </p:nvPr>
        </p:nvSpPr>
        <p:spPr/>
      </p:sp>
    </p:spTree>
    <p:extLst>
      <p:ext uri="{BB962C8B-B14F-4D97-AF65-F5344CB8AC3E}">
        <p14:creationId xmlns:p14="http://schemas.microsoft.com/office/powerpoint/2010/main" val="202900447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067BE-0EB2-F075-6441-E26E76CAA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97D34-3E29-96DB-D929-66F5810CBA0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A162AA1-DD8A-A287-EFCA-A13CA9595ADE}"/>
              </a:ext>
            </a:extLst>
          </p:cNvPr>
          <p:cNvSpPr>
            <a:spLocks noGrp="1"/>
          </p:cNvSpPr>
          <p:nvPr>
            <p:ph type="body" sz="quarter" idx="3"/>
          </p:nvPr>
        </p:nvSpPr>
        <p:spPr/>
        <p:txBody>
          <a:bodyPr/>
          <a:lstStyle/>
          <a:p>
            <a:r>
              <a:rPr dirty="0"/>
              <a:t>5.2 の2枚目。RI </a:t>
            </a:r>
            <a:r>
              <a:rPr dirty="0" err="1"/>
              <a:t>を使うときに必ず断らなければならない交絡＝心拍数（HR</a:t>
            </a:r>
            <a:r>
              <a:rPr dirty="0"/>
              <a:t>）。</a:t>
            </a:r>
          </a:p>
          <a:p>
            <a:endParaRPr dirty="0"/>
          </a:p>
          <a:p>
            <a:r>
              <a:rPr dirty="0" err="1"/>
              <a:t>なぜ</a:t>
            </a:r>
            <a:r>
              <a:rPr dirty="0"/>
              <a:t> HR </a:t>
            </a:r>
            <a:r>
              <a:rPr dirty="0" err="1"/>
              <a:t>で動くのか</a:t>
            </a:r>
            <a:endParaRPr dirty="0"/>
          </a:p>
          <a:p>
            <a:r>
              <a:rPr dirty="0"/>
              <a:t>・HR </a:t>
            </a:r>
            <a:r>
              <a:rPr dirty="0" err="1"/>
              <a:t>が上がると拡張期が短くなり、左室駆出時間（LVET）も短縮する</a:t>
            </a:r>
            <a:r>
              <a:rPr dirty="0"/>
              <a:t>。</a:t>
            </a:r>
          </a:p>
          <a:p>
            <a:r>
              <a:rPr dirty="0"/>
              <a:t>・</a:t>
            </a:r>
            <a:r>
              <a:rPr dirty="0" err="1"/>
              <a:t>収縮期波が早く減衰するため、反射波が戻ってきたときには基準となる収縮期ピークが</a:t>
            </a:r>
            <a:endParaRPr dirty="0"/>
          </a:p>
          <a:p>
            <a:r>
              <a:rPr dirty="0"/>
              <a:t>　</a:t>
            </a:r>
            <a:r>
              <a:rPr dirty="0" err="1"/>
              <a:t>すでに下がっており、収縮期ピークで正規化した反射波成分</a:t>
            </a:r>
            <a:r>
              <a:rPr dirty="0"/>
              <a:t>（＝P2/P1＝RI）は小さくなる。</a:t>
            </a:r>
          </a:p>
          <a:p>
            <a:r>
              <a:rPr dirty="0"/>
              <a:t>・Charlton 2019 </a:t>
            </a:r>
            <a:r>
              <a:rPr dirty="0" err="1"/>
              <a:t>の</a:t>
            </a:r>
            <a:r>
              <a:rPr dirty="0"/>
              <a:t> in-silico データ（25歳仮想被験者、各パラメータ ±1SD）でも、</a:t>
            </a:r>
          </a:p>
          <a:p>
            <a:r>
              <a:rPr dirty="0"/>
              <a:t>　HR +1SD </a:t>
            </a:r>
            <a:r>
              <a:rPr dirty="0" err="1"/>
              <a:t>で拡張期（反射）ピークの相対的な高さは低下し、切痕は深く早くなる</a:t>
            </a:r>
            <a:r>
              <a:rPr dirty="0"/>
              <a:t>。</a:t>
            </a:r>
          </a:p>
          <a:p>
            <a:endParaRPr dirty="0"/>
          </a:p>
          <a:p>
            <a:r>
              <a:rPr dirty="0" err="1"/>
              <a:t>実測でどこまで言えるか</a:t>
            </a:r>
            <a:endParaRPr dirty="0"/>
          </a:p>
          <a:p>
            <a:r>
              <a:rPr dirty="0"/>
              <a:t>・Md Lazim MR, et al. Is heart rate a confounding factor for photoplethysmography markers?</a:t>
            </a:r>
          </a:p>
          <a:p>
            <a:r>
              <a:rPr dirty="0"/>
              <a:t>　A systematic review. Int J Environ Res Public Health 2020;17:2591.</a:t>
            </a:r>
          </a:p>
          <a:p>
            <a:r>
              <a:rPr dirty="0"/>
              <a:t>　1960件から選択基準を満たした6編を採択。SI・RI・SDPPG（b/a, d/a, AGI, </a:t>
            </a:r>
            <a:r>
              <a:rPr dirty="0" err="1"/>
              <a:t>RAGI）はいずれも</a:t>
            </a:r>
            <a:endParaRPr dirty="0"/>
          </a:p>
          <a:p>
            <a:r>
              <a:rPr dirty="0"/>
              <a:t>　HR </a:t>
            </a:r>
            <a:r>
              <a:rPr dirty="0" err="1"/>
              <a:t>と関連したが、関連が「相当程度（considerable</a:t>
            </a:r>
            <a:r>
              <a:rPr dirty="0"/>
              <a:t>）」</a:t>
            </a:r>
            <a:r>
              <a:rPr dirty="0" err="1"/>
              <a:t>だったのは</a:t>
            </a:r>
            <a:r>
              <a:rPr dirty="0"/>
              <a:t> RI </a:t>
            </a:r>
            <a:r>
              <a:rPr dirty="0" err="1"/>
              <a:t>のみ</a:t>
            </a:r>
            <a:r>
              <a:rPr dirty="0"/>
              <a:t>。</a:t>
            </a:r>
          </a:p>
          <a:p>
            <a:r>
              <a:rPr dirty="0"/>
              <a:t>　SI </a:t>
            </a:r>
            <a:r>
              <a:rPr dirty="0" err="1"/>
              <a:t>と</a:t>
            </a:r>
            <a:r>
              <a:rPr dirty="0"/>
              <a:t> HR </a:t>
            </a:r>
            <a:r>
              <a:rPr dirty="0" err="1"/>
              <a:t>の関連は</a:t>
            </a:r>
            <a:r>
              <a:rPr dirty="0"/>
              <a:t> </a:t>
            </a:r>
            <a:r>
              <a:rPr dirty="0" err="1"/>
              <a:t>non-considerable、HR</a:t>
            </a:r>
            <a:r>
              <a:rPr dirty="0"/>
              <a:t> </a:t>
            </a:r>
            <a:r>
              <a:rPr dirty="0" err="1"/>
              <a:t>と</a:t>
            </a:r>
            <a:r>
              <a:rPr dirty="0"/>
              <a:t> SDPPG </a:t>
            </a:r>
            <a:r>
              <a:rPr dirty="0" err="1"/>
              <a:t>の関連は</a:t>
            </a:r>
            <a:r>
              <a:rPr dirty="0"/>
              <a:t> inconclusive </a:t>
            </a:r>
            <a:r>
              <a:rPr dirty="0" err="1"/>
              <a:t>と結論している</a:t>
            </a:r>
            <a:r>
              <a:rPr dirty="0"/>
              <a:t>。</a:t>
            </a:r>
          </a:p>
          <a:p>
            <a:r>
              <a:rPr dirty="0"/>
              <a:t>　→ </a:t>
            </a:r>
            <a:r>
              <a:rPr dirty="0" err="1"/>
              <a:t>心拍数が大きく動く周術期では、振幅比である</a:t>
            </a:r>
            <a:r>
              <a:rPr dirty="0"/>
              <a:t> RI </a:t>
            </a:r>
            <a:r>
              <a:rPr dirty="0" err="1"/>
              <a:t>のほうが時間指標の</a:t>
            </a:r>
            <a:r>
              <a:rPr dirty="0"/>
              <a:t> SI </a:t>
            </a:r>
            <a:r>
              <a:rPr dirty="0" err="1"/>
              <a:t>より交絡を受けやすい</a:t>
            </a:r>
            <a:r>
              <a:rPr dirty="0"/>
              <a:t>。</a:t>
            </a:r>
          </a:p>
          <a:p>
            <a:r>
              <a:rPr dirty="0"/>
              <a:t>・Wilkinson IB, et al. J </a:t>
            </a:r>
            <a:r>
              <a:rPr dirty="0" err="1"/>
              <a:t>Physiol</a:t>
            </a:r>
            <a:r>
              <a:rPr dirty="0"/>
              <a:t> 2000;525:263–70.</a:t>
            </a:r>
          </a:p>
          <a:p>
            <a:r>
              <a:rPr dirty="0"/>
              <a:t>　恒久ペースメーカ植込み患者22名（平均63歳）を 60→110 bpm </a:t>
            </a:r>
            <a:r>
              <a:rPr dirty="0" err="1"/>
              <a:t>でペーシングし</a:t>
            </a:r>
            <a:r>
              <a:rPr dirty="0"/>
              <a:t>、</a:t>
            </a:r>
          </a:p>
          <a:p>
            <a:r>
              <a:rPr dirty="0"/>
              <a:t>　</a:t>
            </a:r>
            <a:r>
              <a:rPr dirty="0" err="1"/>
              <a:t>AIx</a:t>
            </a:r>
            <a:r>
              <a:rPr dirty="0"/>
              <a:t> </a:t>
            </a:r>
            <a:r>
              <a:rPr dirty="0" err="1"/>
              <a:t>と</a:t>
            </a:r>
            <a:r>
              <a:rPr dirty="0"/>
              <a:t> HR </a:t>
            </a:r>
            <a:r>
              <a:rPr dirty="0" err="1"/>
              <a:t>に有意な負の直線関係（r</a:t>
            </a:r>
            <a:r>
              <a:rPr dirty="0"/>
              <a:t> = −0.76、P&lt;0.001）、HR 10 bpm </a:t>
            </a:r>
            <a:r>
              <a:rPr dirty="0" err="1"/>
              <a:t>増あたり</a:t>
            </a:r>
            <a:r>
              <a:rPr dirty="0"/>
              <a:t> </a:t>
            </a:r>
            <a:r>
              <a:rPr dirty="0" err="1"/>
              <a:t>AIx</a:t>
            </a:r>
            <a:r>
              <a:rPr dirty="0"/>
              <a:t> </a:t>
            </a:r>
            <a:r>
              <a:rPr dirty="0" err="1"/>
              <a:t>約</a:t>
            </a:r>
            <a:r>
              <a:rPr dirty="0"/>
              <a:t> −4%。</a:t>
            </a:r>
          </a:p>
          <a:p>
            <a:r>
              <a:rPr dirty="0"/>
              <a:t>　</a:t>
            </a:r>
            <a:r>
              <a:rPr dirty="0" err="1"/>
              <a:t>ただしこれは中心・末梢の「圧」波形での検討である</a:t>
            </a:r>
            <a:r>
              <a:rPr dirty="0"/>
              <a:t>。</a:t>
            </a:r>
          </a:p>
          <a:p>
            <a:r>
              <a:rPr dirty="0"/>
              <a:t>・Hashimoto J, et al. J </a:t>
            </a:r>
            <a:r>
              <a:rPr dirty="0" err="1"/>
              <a:t>Hypertens</a:t>
            </a:r>
            <a:r>
              <a:rPr dirty="0"/>
              <a:t> 2002;20:2415–22.</a:t>
            </a:r>
          </a:p>
          <a:p>
            <a:r>
              <a:rPr dirty="0"/>
              <a:t>　治療中高血圧294名で、HR </a:t>
            </a:r>
            <a:r>
              <a:rPr dirty="0" err="1"/>
              <a:t>は</a:t>
            </a:r>
            <a:r>
              <a:rPr dirty="0"/>
              <a:t> SDPTG </a:t>
            </a:r>
            <a:r>
              <a:rPr dirty="0" err="1"/>
              <a:t>の</a:t>
            </a:r>
            <a:r>
              <a:rPr dirty="0"/>
              <a:t> d/</a:t>
            </a:r>
            <a:r>
              <a:rPr dirty="0" err="1"/>
              <a:t>a・AGI</a:t>
            </a:r>
            <a:r>
              <a:rPr dirty="0"/>
              <a:t> </a:t>
            </a:r>
            <a:r>
              <a:rPr dirty="0" err="1"/>
              <a:t>と負、b</a:t>
            </a:r>
            <a:r>
              <a:rPr dirty="0"/>
              <a:t>/a </a:t>
            </a:r>
            <a:r>
              <a:rPr dirty="0" err="1"/>
              <a:t>と正に相関した</a:t>
            </a:r>
            <a:r>
              <a:rPr dirty="0"/>
              <a:t>。</a:t>
            </a:r>
          </a:p>
          <a:p>
            <a:endParaRPr dirty="0"/>
          </a:p>
          <a:p>
            <a:r>
              <a:rPr dirty="0" err="1"/>
              <a:t>実務上どうするか</a:t>
            </a:r>
            <a:endParaRPr dirty="0"/>
          </a:p>
          <a:p>
            <a:r>
              <a:rPr dirty="0"/>
              <a:t>・</a:t>
            </a:r>
            <a:r>
              <a:rPr dirty="0" err="1"/>
              <a:t>圧波形の</a:t>
            </a:r>
            <a:r>
              <a:rPr dirty="0"/>
              <a:t> </a:t>
            </a:r>
            <a:r>
              <a:rPr dirty="0" err="1"/>
              <a:t>AIx</a:t>
            </a:r>
            <a:r>
              <a:rPr dirty="0"/>
              <a:t> には「AIx@75」（75 bpm </a:t>
            </a:r>
            <a:r>
              <a:rPr dirty="0" err="1"/>
              <a:t>に標準化）という確立した補正法があるが</a:t>
            </a:r>
            <a:r>
              <a:rPr dirty="0"/>
              <a:t>、</a:t>
            </a:r>
          </a:p>
          <a:p>
            <a:r>
              <a:rPr dirty="0"/>
              <a:t>　</a:t>
            </a:r>
            <a:r>
              <a:rPr dirty="0" err="1"/>
              <a:t>指尖</a:t>
            </a:r>
            <a:r>
              <a:rPr dirty="0"/>
              <a:t> PPG </a:t>
            </a:r>
            <a:r>
              <a:rPr dirty="0" err="1"/>
              <a:t>の</a:t>
            </a:r>
            <a:r>
              <a:rPr dirty="0"/>
              <a:t> RI </a:t>
            </a:r>
            <a:r>
              <a:rPr dirty="0" err="1"/>
              <a:t>について確立した補正式はない。勝手に</a:t>
            </a:r>
            <a:r>
              <a:rPr dirty="0"/>
              <a:t> AIx@75 </a:t>
            </a:r>
            <a:r>
              <a:rPr dirty="0" err="1"/>
              <a:t>の係数を流用しないこと</a:t>
            </a:r>
            <a:r>
              <a:rPr dirty="0"/>
              <a:t>。</a:t>
            </a:r>
          </a:p>
          <a:p>
            <a:r>
              <a:rPr dirty="0"/>
              <a:t>・したがって現実解は次の3つ。</a:t>
            </a:r>
          </a:p>
          <a:p>
            <a:r>
              <a:rPr dirty="0"/>
              <a:t>　① </a:t>
            </a:r>
            <a:r>
              <a:rPr dirty="0" err="1"/>
              <a:t>経時比較では測定時の</a:t>
            </a:r>
            <a:r>
              <a:rPr dirty="0"/>
              <a:t> HR </a:t>
            </a:r>
            <a:r>
              <a:rPr dirty="0" err="1"/>
              <a:t>をそろえる（同じ深度・同じ薬剤条件で比較する</a:t>
            </a:r>
            <a:r>
              <a:rPr dirty="0"/>
              <a:t>）。</a:t>
            </a:r>
          </a:p>
          <a:p>
            <a:r>
              <a:rPr dirty="0"/>
              <a:t>　② RI </a:t>
            </a:r>
            <a:r>
              <a:rPr dirty="0" err="1"/>
              <a:t>の値は必ず</a:t>
            </a:r>
            <a:r>
              <a:rPr dirty="0"/>
              <a:t> HR </a:t>
            </a:r>
            <a:r>
              <a:rPr dirty="0" err="1"/>
              <a:t>とセットで記録・提示する</a:t>
            </a:r>
            <a:r>
              <a:rPr dirty="0"/>
              <a:t>。</a:t>
            </a:r>
          </a:p>
          <a:p>
            <a:r>
              <a:rPr dirty="0"/>
              <a:t>　③ HR </a:t>
            </a:r>
            <a:r>
              <a:rPr dirty="0" err="1"/>
              <a:t>が大きく動く場面（導入直後、昇圧薬投与直後など）の</a:t>
            </a:r>
            <a:r>
              <a:rPr dirty="0"/>
              <a:t> RI </a:t>
            </a:r>
            <a:r>
              <a:rPr dirty="0" err="1"/>
              <a:t>変化は、トーヌス変化と</a:t>
            </a:r>
            <a:endParaRPr dirty="0"/>
          </a:p>
          <a:p>
            <a:r>
              <a:rPr dirty="0"/>
              <a:t>　　</a:t>
            </a:r>
            <a:r>
              <a:rPr dirty="0" err="1"/>
              <a:t>断定せず「HR</a:t>
            </a:r>
            <a:r>
              <a:rPr dirty="0"/>
              <a:t> </a:t>
            </a:r>
            <a:r>
              <a:rPr dirty="0" err="1"/>
              <a:t>の寄与が混じる」と明示する</a:t>
            </a:r>
            <a:r>
              <a:rPr dirty="0"/>
              <a:t>。</a:t>
            </a:r>
          </a:p>
          <a:p>
            <a:r>
              <a:rPr dirty="0"/>
              <a:t>・SI（＝</a:t>
            </a:r>
            <a:r>
              <a:rPr dirty="0" err="1"/>
              <a:t>身長÷ΔT、時間指標）は</a:t>
            </a:r>
            <a:r>
              <a:rPr dirty="0"/>
              <a:t> HR </a:t>
            </a:r>
            <a:r>
              <a:rPr dirty="0" err="1"/>
              <a:t>の影響が相対的に小さいとされるが、無関係ではない</a:t>
            </a:r>
            <a:r>
              <a:rPr dirty="0"/>
              <a:t>。</a:t>
            </a:r>
          </a:p>
          <a:p>
            <a:endParaRPr dirty="0"/>
          </a:p>
        </p:txBody>
      </p:sp>
      <p:sp>
        <p:nvSpPr>
          <p:cNvPr id="4" name="Slide Number Placeholder 3">
            <a:extLst>
              <a:ext uri="{FF2B5EF4-FFF2-40B4-BE49-F238E27FC236}">
                <a16:creationId xmlns:a16="http://schemas.microsoft.com/office/drawing/2014/main" id="{9D43537F-5F77-CEFE-AF5F-E06DE831A5AA}"/>
              </a:ext>
            </a:extLst>
          </p:cNvPr>
          <p:cNvSpPr>
            <a:spLocks noGrp="1"/>
          </p:cNvSpPr>
          <p:nvPr>
            <p:ph type="sldNum" sz="quarter" idx="5"/>
          </p:nvPr>
        </p:nvSpPr>
        <p:spPr/>
      </p:sp>
    </p:spTree>
    <p:extLst>
      <p:ext uri="{BB962C8B-B14F-4D97-AF65-F5344CB8AC3E}">
        <p14:creationId xmlns:p14="http://schemas.microsoft.com/office/powerpoint/2010/main" val="270818886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62704-B79B-F8AB-1A86-1E9FA35E7A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479C02-FAF3-C11B-3BF0-ABDE9EB768C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B061664-B1B8-4E8E-8379-AE2CE27CC0FA}"/>
              </a:ext>
            </a:extLst>
          </p:cNvPr>
          <p:cNvSpPr>
            <a:spLocks noGrp="1"/>
          </p:cNvSpPr>
          <p:nvPr>
            <p:ph type="body" sz="quarter" idx="3"/>
          </p:nvPr>
        </p:nvSpPr>
        <p:spPr/>
        <p:txBody>
          <a:bodyPr/>
          <a:lstStyle/>
          <a:p>
            <a:r>
              <a:rPr lang="en-US" dirty="0"/>
              <a:t>加速度脈波はPPG原波形を2回微分したものです。</a:t>
            </a:r>
          </a:p>
          <a:p>
            <a:r>
              <a:rPr lang="en-US" dirty="0" err="1"/>
              <a:t>そのメリットは原波形での変化を極値として表示できる点にあり、わずかな変化を見逃しません</a:t>
            </a:r>
            <a:r>
              <a:rPr lang="en-US" dirty="0"/>
              <a:t>。</a:t>
            </a:r>
          </a:p>
          <a:p>
            <a:r>
              <a:rPr lang="en-US" dirty="0" err="1"/>
              <a:t>二次微分という解析的手法を臨床に体系化したのは日本人で、高沢らの功績です</a:t>
            </a:r>
            <a:r>
              <a:rPr lang="en-US" dirty="0"/>
              <a:t>。</a:t>
            </a:r>
          </a:p>
          <a:p>
            <a:endParaRPr lang="en-US" dirty="0"/>
          </a:p>
          <a:p>
            <a:r>
              <a:rPr lang="en-US" dirty="0" err="1"/>
              <a:t>振幅情報が消えること、ノイズが増幅されることなどが欠点</a:t>
            </a:r>
            <a:r>
              <a:rPr lang="en-US" dirty="0"/>
              <a:t>。</a:t>
            </a:r>
          </a:p>
          <a:p>
            <a:endParaRPr lang="en-US" dirty="0"/>
          </a:p>
          <a:p>
            <a:r>
              <a:rPr dirty="0" err="1"/>
              <a:t>SDPPG（second</a:t>
            </a:r>
            <a:r>
              <a:rPr dirty="0"/>
              <a:t> derivative of </a:t>
            </a:r>
            <a:r>
              <a:rPr dirty="0" err="1"/>
              <a:t>PPG＝加速度脈波）は、原波形の微妙な「折れ（変曲点</a:t>
            </a:r>
            <a:r>
              <a:rPr dirty="0"/>
              <a:t>）」</a:t>
            </a:r>
            <a:r>
              <a:rPr dirty="0" err="1"/>
              <a:t>を</a:t>
            </a:r>
            <a:endParaRPr dirty="0"/>
          </a:p>
          <a:p>
            <a:r>
              <a:rPr dirty="0" err="1"/>
              <a:t>明瞭な極値に変換する手法。収縮期に</a:t>
            </a:r>
            <a:r>
              <a:rPr dirty="0"/>
              <a:t> </a:t>
            </a:r>
            <a:r>
              <a:rPr dirty="0" err="1"/>
              <a:t>a（初期陽性</a:t>
            </a:r>
            <a:r>
              <a:rPr dirty="0"/>
              <a:t>）・</a:t>
            </a:r>
            <a:r>
              <a:rPr dirty="0" err="1"/>
              <a:t>b（初期陰性</a:t>
            </a:r>
            <a:r>
              <a:rPr dirty="0"/>
              <a:t>）・</a:t>
            </a:r>
            <a:r>
              <a:rPr dirty="0" err="1"/>
              <a:t>c（再上昇</a:t>
            </a:r>
            <a:r>
              <a:rPr dirty="0"/>
              <a:t>）・</a:t>
            </a:r>
            <a:r>
              <a:rPr dirty="0" err="1"/>
              <a:t>d（再下降</a:t>
            </a:r>
            <a:r>
              <a:rPr dirty="0"/>
              <a:t>）、</a:t>
            </a:r>
          </a:p>
          <a:p>
            <a:r>
              <a:rPr dirty="0" err="1"/>
              <a:t>拡張期に</a:t>
            </a:r>
            <a:r>
              <a:rPr dirty="0"/>
              <a:t> </a:t>
            </a:r>
            <a:r>
              <a:rPr dirty="0" err="1"/>
              <a:t>e（重複切痕に相当）の</a:t>
            </a:r>
            <a:r>
              <a:rPr dirty="0"/>
              <a:t> 5 </a:t>
            </a:r>
            <a:r>
              <a:rPr dirty="0" err="1"/>
              <a:t>点が定義される</a:t>
            </a:r>
            <a:r>
              <a:rPr dirty="0"/>
              <a:t>。</a:t>
            </a:r>
          </a:p>
          <a:p>
            <a:r>
              <a:rPr dirty="0" err="1"/>
              <a:t>利点</a:t>
            </a:r>
            <a:r>
              <a:rPr dirty="0"/>
              <a:t>：</a:t>
            </a:r>
          </a:p>
          <a:p>
            <a:r>
              <a:rPr dirty="0"/>
              <a:t>① </a:t>
            </a:r>
            <a:r>
              <a:rPr dirty="0" err="1"/>
              <a:t>変曲点をピークとして扱えるので、位置と大小を数値化できる</a:t>
            </a:r>
            <a:endParaRPr dirty="0"/>
          </a:p>
          <a:p>
            <a:r>
              <a:rPr dirty="0"/>
              <a:t>② </a:t>
            </a:r>
            <a:r>
              <a:rPr dirty="0" err="1"/>
              <a:t>重複切痕が目視で消えている波形でも、e</a:t>
            </a:r>
            <a:r>
              <a:rPr dirty="0"/>
              <a:t> </a:t>
            </a:r>
            <a:r>
              <a:rPr dirty="0" err="1"/>
              <a:t>波として切痕相当点の位置を推定できる</a:t>
            </a:r>
            <a:endParaRPr dirty="0"/>
          </a:p>
          <a:p>
            <a:r>
              <a:rPr dirty="0"/>
              <a:t>③ </a:t>
            </a:r>
            <a:r>
              <a:rPr dirty="0" err="1"/>
              <a:t>直流成分・基線ドリフトが微分で除去され</a:t>
            </a:r>
            <a:r>
              <a:rPr dirty="0"/>
              <a:t>、「</a:t>
            </a:r>
            <a:r>
              <a:rPr dirty="0" err="1"/>
              <a:t>波の比（形</a:t>
            </a:r>
            <a:r>
              <a:rPr dirty="0"/>
              <a:t>）」</a:t>
            </a:r>
            <a:r>
              <a:rPr dirty="0" err="1"/>
              <a:t>で評価できる</a:t>
            </a:r>
            <a:endParaRPr dirty="0"/>
          </a:p>
          <a:p>
            <a:r>
              <a:rPr dirty="0" err="1"/>
              <a:t>臨床的な対応：b</a:t>
            </a:r>
            <a:r>
              <a:rPr dirty="0"/>
              <a:t>/a </a:t>
            </a:r>
            <a:r>
              <a:rPr dirty="0" err="1"/>
              <a:t>は大血管の硬さ、d</a:t>
            </a:r>
            <a:r>
              <a:rPr dirty="0"/>
              <a:t>/a </a:t>
            </a:r>
            <a:r>
              <a:rPr dirty="0" err="1"/>
              <a:t>は末梢トーヌス（昇圧薬で低下、ニトログリセリンで上昇</a:t>
            </a:r>
            <a:r>
              <a:rPr dirty="0"/>
              <a:t>）</a:t>
            </a:r>
          </a:p>
          <a:p>
            <a:r>
              <a:rPr dirty="0" err="1"/>
              <a:t>と関連する</a:t>
            </a:r>
            <a:r>
              <a:rPr dirty="0"/>
              <a:t>。</a:t>
            </a:r>
          </a:p>
          <a:p>
            <a:r>
              <a:rPr dirty="0"/>
              <a:t>注意：2回微分は高周波ノイズを増幅するため、平滑化・帯域制限が前提。各比は心拍数・体位でも</a:t>
            </a:r>
          </a:p>
          <a:p>
            <a:r>
              <a:rPr dirty="0" err="1"/>
              <a:t>変動する（Hashimoto</a:t>
            </a:r>
            <a:r>
              <a:rPr dirty="0"/>
              <a:t> 2002）。(</a:t>
            </a:r>
            <a:r>
              <a:rPr dirty="0" err="1"/>
              <a:t>Takazawa</a:t>
            </a:r>
            <a:r>
              <a:rPr dirty="0"/>
              <a:t> 1998, </a:t>
            </a:r>
            <a:r>
              <a:rPr dirty="0" err="1"/>
              <a:t>Bortolotto</a:t>
            </a:r>
            <a:r>
              <a:rPr dirty="0"/>
              <a:t> 2000)</a:t>
            </a:r>
          </a:p>
          <a:p>
            <a:r>
              <a:rPr dirty="0"/>
              <a:t>【SDPPG </a:t>
            </a:r>
            <a:r>
              <a:rPr dirty="0" err="1"/>
              <a:t>は原波形の変化を忠実に表しているか</a:t>
            </a:r>
            <a:r>
              <a:rPr dirty="0"/>
              <a:t>】</a:t>
            </a:r>
          </a:p>
          <a:p>
            <a:r>
              <a:rPr dirty="0" err="1"/>
              <a:t>結論：数学的には情報を落としていないが、見た目としては「忠実」ではなく</a:t>
            </a:r>
            <a:r>
              <a:rPr dirty="0"/>
              <a:t>、</a:t>
            </a:r>
          </a:p>
          <a:p>
            <a:r>
              <a:rPr dirty="0"/>
              <a:t>「</a:t>
            </a:r>
            <a:r>
              <a:rPr dirty="0" err="1"/>
              <a:t>変曲点を強調し、それ以外（振幅・基線）を捨てた」表示である</a:t>
            </a:r>
            <a:r>
              <a:rPr dirty="0"/>
              <a:t>。</a:t>
            </a:r>
          </a:p>
          <a:p>
            <a:endParaRPr dirty="0"/>
          </a:p>
          <a:p>
            <a:r>
              <a:rPr dirty="0" err="1"/>
              <a:t>忠実な点</a:t>
            </a:r>
            <a:endParaRPr dirty="0"/>
          </a:p>
          <a:p>
            <a:r>
              <a:rPr dirty="0"/>
              <a:t>・2 </a:t>
            </a:r>
            <a:r>
              <a:rPr dirty="0" err="1"/>
              <a:t>回微分は線形演算なので、波形の曲率の情報はそのまま保存される</a:t>
            </a:r>
            <a:r>
              <a:rPr dirty="0"/>
              <a:t>。</a:t>
            </a:r>
          </a:p>
          <a:p>
            <a:r>
              <a:rPr dirty="0"/>
              <a:t>　</a:t>
            </a:r>
            <a:r>
              <a:rPr dirty="0" err="1"/>
              <a:t>目に見えない肩・折れが</a:t>
            </a:r>
            <a:r>
              <a:rPr dirty="0"/>
              <a:t> </a:t>
            </a:r>
            <a:r>
              <a:rPr dirty="0" err="1"/>
              <a:t>a〜e</a:t>
            </a:r>
            <a:r>
              <a:rPr dirty="0"/>
              <a:t> </a:t>
            </a:r>
            <a:r>
              <a:rPr dirty="0" err="1"/>
              <a:t>の極値としてはっきり出る（これが</a:t>
            </a:r>
            <a:r>
              <a:rPr dirty="0"/>
              <a:t> SDPPG </a:t>
            </a:r>
            <a:r>
              <a:rPr dirty="0" err="1"/>
              <a:t>の狙い</a:t>
            </a:r>
            <a:r>
              <a:rPr dirty="0"/>
              <a:t>）。</a:t>
            </a:r>
          </a:p>
          <a:p>
            <a:r>
              <a:rPr dirty="0"/>
              <a:t>・</a:t>
            </a:r>
            <a:r>
              <a:rPr dirty="0" err="1"/>
              <a:t>切痕が目視で消えた波形でも、e</a:t>
            </a:r>
            <a:r>
              <a:rPr dirty="0"/>
              <a:t> </a:t>
            </a:r>
            <a:r>
              <a:rPr dirty="0" err="1"/>
              <a:t>波として切痕相当点の位置を推定できる</a:t>
            </a:r>
            <a:r>
              <a:rPr dirty="0"/>
              <a:t>。</a:t>
            </a:r>
          </a:p>
          <a:p>
            <a:endParaRPr dirty="0"/>
          </a:p>
          <a:p>
            <a:r>
              <a:rPr dirty="0" err="1"/>
              <a:t>忠実でない点（読み替えのときに注意</a:t>
            </a:r>
            <a:r>
              <a:rPr dirty="0"/>
              <a:t>）</a:t>
            </a:r>
          </a:p>
          <a:p>
            <a:r>
              <a:rPr dirty="0"/>
              <a:t>・</a:t>
            </a:r>
            <a:r>
              <a:rPr dirty="0" err="1"/>
              <a:t>振幅情報が消える。通常</a:t>
            </a:r>
            <a:r>
              <a:rPr dirty="0"/>
              <a:t> b/</a:t>
            </a:r>
            <a:r>
              <a:rPr dirty="0" err="1"/>
              <a:t>a・d</a:t>
            </a:r>
            <a:r>
              <a:rPr dirty="0"/>
              <a:t>/a </a:t>
            </a:r>
            <a:r>
              <a:rPr dirty="0" err="1"/>
              <a:t>のように</a:t>
            </a:r>
            <a:r>
              <a:rPr dirty="0"/>
              <a:t> a </a:t>
            </a:r>
            <a:r>
              <a:rPr dirty="0" err="1"/>
              <a:t>で正規化するため、PPG</a:t>
            </a:r>
            <a:r>
              <a:rPr dirty="0"/>
              <a:t> </a:t>
            </a:r>
            <a:r>
              <a:rPr dirty="0" err="1"/>
              <a:t>の絶対振幅</a:t>
            </a:r>
            <a:r>
              <a:rPr dirty="0"/>
              <a:t>（＝PI </a:t>
            </a:r>
            <a:r>
              <a:rPr dirty="0" err="1"/>
              <a:t>や</a:t>
            </a:r>
            <a:endParaRPr dirty="0"/>
          </a:p>
          <a:p>
            <a:r>
              <a:rPr dirty="0"/>
              <a:t>　</a:t>
            </a:r>
            <a:r>
              <a:rPr dirty="0" err="1"/>
              <a:t>前負荷で動く成分）は</a:t>
            </a:r>
            <a:r>
              <a:rPr dirty="0"/>
              <a:t> SDPPG </a:t>
            </a:r>
            <a:r>
              <a:rPr dirty="0" err="1"/>
              <a:t>からは分からない。低灌流で波が小さくなっても比はあまり動かない</a:t>
            </a:r>
            <a:r>
              <a:rPr dirty="0"/>
              <a:t>。</a:t>
            </a:r>
          </a:p>
          <a:p>
            <a:r>
              <a:rPr dirty="0"/>
              <a:t>・</a:t>
            </a:r>
            <a:r>
              <a:rPr dirty="0" err="1"/>
              <a:t>基線・DC</a:t>
            </a:r>
            <a:r>
              <a:rPr dirty="0"/>
              <a:t> </a:t>
            </a:r>
            <a:r>
              <a:rPr dirty="0" err="1"/>
              <a:t>成分は微分で消える（利点でもあるが、RIIV</a:t>
            </a:r>
            <a:r>
              <a:rPr dirty="0"/>
              <a:t> </a:t>
            </a:r>
            <a:r>
              <a:rPr dirty="0" err="1"/>
              <a:t>のような情報は失われる</a:t>
            </a:r>
            <a:r>
              <a:rPr dirty="0"/>
              <a:t>）。</a:t>
            </a:r>
          </a:p>
          <a:p>
            <a:r>
              <a:rPr dirty="0"/>
              <a:t>・</a:t>
            </a:r>
            <a:r>
              <a:rPr dirty="0" err="1"/>
              <a:t>微分はノイズを周波数の</a:t>
            </a:r>
            <a:r>
              <a:rPr dirty="0"/>
              <a:t> 2 </a:t>
            </a:r>
            <a:r>
              <a:rPr dirty="0" err="1"/>
              <a:t>乗で増幅する。実装では必ず平滑化・帯域制限が入り</a:t>
            </a:r>
            <a:r>
              <a:rPr dirty="0"/>
              <a:t>、</a:t>
            </a:r>
          </a:p>
          <a:p>
            <a:r>
              <a:rPr dirty="0"/>
              <a:t>　</a:t>
            </a:r>
            <a:r>
              <a:rPr dirty="0" err="1"/>
              <a:t>その設定（サンプリング周波数、カットオフ、微分の差分幅）で</a:t>
            </a:r>
            <a:r>
              <a:rPr dirty="0"/>
              <a:t> b/</a:t>
            </a:r>
            <a:r>
              <a:rPr dirty="0" err="1"/>
              <a:t>a・d</a:t>
            </a:r>
            <a:r>
              <a:rPr dirty="0"/>
              <a:t>/a </a:t>
            </a:r>
            <a:r>
              <a:rPr dirty="0" err="1"/>
              <a:t>の値が変わる</a:t>
            </a:r>
            <a:r>
              <a:rPr dirty="0"/>
              <a:t>。</a:t>
            </a:r>
          </a:p>
          <a:p>
            <a:r>
              <a:rPr dirty="0"/>
              <a:t>　</a:t>
            </a:r>
            <a:r>
              <a:rPr dirty="0" err="1"/>
              <a:t>文献間で数値を直接比べられないのはこのため</a:t>
            </a:r>
            <a:r>
              <a:rPr dirty="0"/>
              <a:t>。</a:t>
            </a:r>
          </a:p>
          <a:p>
            <a:r>
              <a:rPr dirty="0"/>
              <a:t>・</a:t>
            </a:r>
            <a:r>
              <a:rPr dirty="0" err="1"/>
              <a:t>小さな折れも大きな極値になるので、視覚的には「実際より大きな変化」に見えることがある</a:t>
            </a:r>
            <a:r>
              <a:rPr dirty="0"/>
              <a:t>。</a:t>
            </a:r>
          </a:p>
          <a:p>
            <a:r>
              <a:rPr dirty="0"/>
              <a:t>　</a:t>
            </a:r>
            <a:r>
              <a:rPr dirty="0" err="1"/>
              <a:t>逆に平滑化を強くかけると</a:t>
            </a:r>
            <a:r>
              <a:rPr dirty="0"/>
              <a:t> </a:t>
            </a:r>
            <a:r>
              <a:rPr dirty="0" err="1"/>
              <a:t>c・d</a:t>
            </a:r>
            <a:r>
              <a:rPr dirty="0"/>
              <a:t> </a:t>
            </a:r>
            <a:r>
              <a:rPr dirty="0" err="1"/>
              <a:t>が潰れて検出できなくなる</a:t>
            </a:r>
            <a:r>
              <a:rPr dirty="0"/>
              <a:t>。</a:t>
            </a:r>
          </a:p>
          <a:p>
            <a:r>
              <a:rPr dirty="0"/>
              <a:t>・</a:t>
            </a:r>
            <a:r>
              <a:rPr dirty="0" err="1"/>
              <a:t>低品質拍（体動・低灌流）では極値の同定自体が破綻する</a:t>
            </a:r>
            <a:r>
              <a:rPr dirty="0"/>
              <a:t>。</a:t>
            </a:r>
          </a:p>
          <a:p>
            <a:endParaRPr dirty="0"/>
          </a:p>
          <a:p>
            <a:r>
              <a:rPr dirty="0"/>
              <a:t>文献で裏取りできた具体値（2026-08）</a:t>
            </a:r>
          </a:p>
          <a:p>
            <a:r>
              <a:rPr dirty="0"/>
              <a:t>・</a:t>
            </a:r>
            <a:r>
              <a:rPr dirty="0" err="1"/>
              <a:t>VascAgeNet</a:t>
            </a:r>
            <a:r>
              <a:rPr dirty="0"/>
              <a:t> </a:t>
            </a:r>
            <a:r>
              <a:rPr dirty="0" err="1"/>
              <a:t>レビュ</a:t>
            </a:r>
            <a:r>
              <a:rPr dirty="0"/>
              <a:t>ー（Charlton 2022 </a:t>
            </a:r>
            <a:r>
              <a:rPr dirty="0" err="1"/>
              <a:t>AJP-Heart）本文</a:t>
            </a:r>
            <a:r>
              <a:rPr dirty="0"/>
              <a:t>："Differentiation amplifies higher frequency</a:t>
            </a:r>
          </a:p>
          <a:p>
            <a:r>
              <a:rPr dirty="0"/>
              <a:t>　components of a signal, so noise should be filtered out before differentiation."</a:t>
            </a:r>
          </a:p>
          <a:p>
            <a:r>
              <a:rPr dirty="0"/>
              <a:t>・</a:t>
            </a:r>
            <a:r>
              <a:rPr dirty="0" err="1"/>
              <a:t>Pilt</a:t>
            </a:r>
            <a:r>
              <a:rPr dirty="0"/>
              <a:t> 2013 </a:t>
            </a:r>
            <a:r>
              <a:rPr dirty="0" err="1"/>
              <a:t>は低域通過フィルタのエッジ周波数を</a:t>
            </a:r>
            <a:r>
              <a:rPr dirty="0"/>
              <a:t> 4→14 Hz </a:t>
            </a:r>
            <a:r>
              <a:rPr dirty="0" err="1"/>
              <a:t>に振って</a:t>
            </a:r>
            <a:r>
              <a:rPr dirty="0"/>
              <a:t> b/</a:t>
            </a:r>
            <a:r>
              <a:rPr dirty="0" err="1"/>
              <a:t>a・c</a:t>
            </a:r>
            <a:r>
              <a:rPr dirty="0"/>
              <a:t>/</a:t>
            </a:r>
            <a:r>
              <a:rPr dirty="0" err="1"/>
              <a:t>a・d</a:t>
            </a:r>
            <a:r>
              <a:rPr dirty="0"/>
              <a:t>/</a:t>
            </a:r>
            <a:r>
              <a:rPr dirty="0" err="1"/>
              <a:t>a・e</a:t>
            </a:r>
            <a:r>
              <a:rPr dirty="0"/>
              <a:t>/</a:t>
            </a:r>
            <a:r>
              <a:rPr dirty="0" err="1"/>
              <a:t>a・AGI</a:t>
            </a:r>
            <a:r>
              <a:rPr dirty="0"/>
              <a:t> </a:t>
            </a:r>
            <a:r>
              <a:rPr dirty="0" err="1"/>
              <a:t>の</a:t>
            </a:r>
            <a:endParaRPr dirty="0"/>
          </a:p>
          <a:p>
            <a:r>
              <a:rPr dirty="0"/>
              <a:t>　ばらつきを実測し、6 Hz </a:t>
            </a:r>
            <a:r>
              <a:rPr dirty="0" err="1"/>
              <a:t>で最小（AGI</a:t>
            </a:r>
            <a:r>
              <a:rPr dirty="0"/>
              <a:t> </a:t>
            </a:r>
            <a:r>
              <a:rPr dirty="0" err="1"/>
              <a:t>の</a:t>
            </a:r>
            <a:r>
              <a:rPr dirty="0"/>
              <a:t> SD 0.06）。</a:t>
            </a:r>
            <a:r>
              <a:rPr dirty="0" err="1"/>
              <a:t>設定を最適化しないと</a:t>
            </a:r>
            <a:r>
              <a:rPr dirty="0"/>
              <a:t> SD が約2倍になる。</a:t>
            </a:r>
          </a:p>
          <a:p>
            <a:r>
              <a:rPr dirty="0"/>
              <a:t>　</a:t>
            </a:r>
            <a:r>
              <a:rPr dirty="0" err="1"/>
              <a:t>推奨カットオフは文献間で</a:t>
            </a:r>
            <a:r>
              <a:rPr dirty="0"/>
              <a:t> 6〜20 Hz </a:t>
            </a:r>
            <a:r>
              <a:rPr dirty="0" err="1"/>
              <a:t>と割れており、pyPPG</a:t>
            </a:r>
            <a:r>
              <a:rPr dirty="0"/>
              <a:t> </a:t>
            </a:r>
            <a:r>
              <a:rPr dirty="0" err="1"/>
              <a:t>の既定は</a:t>
            </a:r>
            <a:r>
              <a:rPr dirty="0"/>
              <a:t> 0.5–12 Hz。</a:t>
            </a:r>
          </a:p>
          <a:p>
            <a:r>
              <a:rPr dirty="0"/>
              <a:t>・IIR </a:t>
            </a:r>
            <a:r>
              <a:rPr dirty="0" err="1"/>
              <a:t>フィルタの位相歪みで収縮期ピークの時刻が</a:t>
            </a:r>
            <a:r>
              <a:rPr dirty="0"/>
              <a:t> 0.1–10 Hz </a:t>
            </a:r>
            <a:r>
              <a:rPr dirty="0" err="1"/>
              <a:t>で平均</a:t>
            </a:r>
            <a:r>
              <a:rPr dirty="0"/>
              <a:t> 18.7 ms、0.1–5 Hz </a:t>
            </a:r>
            <a:r>
              <a:rPr dirty="0" err="1"/>
              <a:t>で</a:t>
            </a:r>
            <a:r>
              <a:rPr dirty="0"/>
              <a:t> 51.8 </a:t>
            </a:r>
            <a:r>
              <a:rPr dirty="0" err="1"/>
              <a:t>ms</a:t>
            </a:r>
            <a:r>
              <a:rPr dirty="0"/>
              <a:t> </a:t>
            </a:r>
            <a:r>
              <a:rPr dirty="0" err="1"/>
              <a:t>ずれ</a:t>
            </a:r>
            <a:r>
              <a:rPr dirty="0"/>
              <a:t>、</a:t>
            </a:r>
          </a:p>
          <a:p>
            <a:r>
              <a:rPr dirty="0"/>
              <a:t>　</a:t>
            </a:r>
            <a:r>
              <a:rPr dirty="0" err="1"/>
              <a:t>上限を下げると重複切痕そのものが減衰する。下限を</a:t>
            </a:r>
            <a:r>
              <a:rPr dirty="0"/>
              <a:t> 0.2 Hz </a:t>
            </a:r>
            <a:r>
              <a:rPr dirty="0" err="1"/>
              <a:t>より上げると前進波・反射波が歪む</a:t>
            </a:r>
            <a:r>
              <a:rPr dirty="0"/>
              <a:t>。</a:t>
            </a:r>
          </a:p>
          <a:p>
            <a:r>
              <a:rPr dirty="0"/>
              <a:t>・</a:t>
            </a:r>
            <a:r>
              <a:rPr dirty="0" err="1"/>
              <a:t>再現性は指標で差がある：b</a:t>
            </a:r>
            <a:r>
              <a:rPr dirty="0"/>
              <a:t>/</a:t>
            </a:r>
            <a:r>
              <a:rPr dirty="0" err="1"/>
              <a:t>a（大血管側）は比較的良好だが、d</a:t>
            </a:r>
            <a:r>
              <a:rPr dirty="0"/>
              <a:t>/</a:t>
            </a:r>
            <a:r>
              <a:rPr dirty="0" err="1"/>
              <a:t>a・e</a:t>
            </a:r>
            <a:r>
              <a:rPr dirty="0"/>
              <a:t>/</a:t>
            </a:r>
            <a:r>
              <a:rPr dirty="0" err="1"/>
              <a:t>a（小血管側）は再現性が落ちる</a:t>
            </a:r>
            <a:r>
              <a:rPr dirty="0"/>
              <a:t>。</a:t>
            </a:r>
          </a:p>
          <a:p>
            <a:r>
              <a:rPr dirty="0"/>
              <a:t>・a </a:t>
            </a:r>
            <a:r>
              <a:rPr dirty="0" err="1"/>
              <a:t>波正規化は「情報の損失」でもあるが「デバイス依存性（LED</a:t>
            </a:r>
            <a:r>
              <a:rPr dirty="0"/>
              <a:t> </a:t>
            </a:r>
            <a:r>
              <a:rPr dirty="0" err="1"/>
              <a:t>電流・受光ゲイン・接触圧）の除去」でもある</a:t>
            </a:r>
            <a:r>
              <a:rPr dirty="0"/>
              <a:t>。</a:t>
            </a:r>
          </a:p>
          <a:p>
            <a:r>
              <a:rPr dirty="0"/>
              <a:t>　</a:t>
            </a:r>
            <a:r>
              <a:rPr dirty="0" err="1"/>
              <a:t>ただし</a:t>
            </a:r>
            <a:r>
              <a:rPr dirty="0"/>
              <a:t> ΔPOP／PVI </a:t>
            </a:r>
            <a:r>
              <a:rPr dirty="0" err="1"/>
              <a:t>のような呼吸性の振幅変動は、正規化した</a:t>
            </a:r>
            <a:r>
              <a:rPr dirty="0"/>
              <a:t> SDPPG </a:t>
            </a:r>
            <a:r>
              <a:rPr dirty="0" err="1"/>
              <a:t>指標からは原理的に読めない</a:t>
            </a:r>
            <a:r>
              <a:rPr dirty="0"/>
              <a:t>。</a:t>
            </a:r>
          </a:p>
          <a:p>
            <a:r>
              <a:rPr dirty="0"/>
              <a:t>　→ 3.1（ΔPOP＝絶対振幅を見る）と 5.3（SDPPG＝正規化して形を見る）は前処理の思想が正反対。</a:t>
            </a:r>
          </a:p>
          <a:p>
            <a:endParaRPr dirty="0"/>
          </a:p>
          <a:p>
            <a:r>
              <a:rPr dirty="0" err="1"/>
              <a:t>図についての注意</a:t>
            </a:r>
            <a:endParaRPr dirty="0"/>
          </a:p>
          <a:p>
            <a:r>
              <a:rPr dirty="0"/>
              <a:t>・</a:t>
            </a:r>
            <a:r>
              <a:rPr dirty="0" err="1"/>
              <a:t>このスライドの上下</a:t>
            </a:r>
            <a:r>
              <a:rPr dirty="0"/>
              <a:t> 2 </a:t>
            </a:r>
            <a:r>
              <a:rPr dirty="0" err="1"/>
              <a:t>段は模式図であり、下段は上段を実際に</a:t>
            </a:r>
            <a:r>
              <a:rPr dirty="0"/>
              <a:t> 2 </a:t>
            </a:r>
            <a:r>
              <a:rPr dirty="0" err="1"/>
              <a:t>回微分した曲線ではない</a:t>
            </a:r>
            <a:r>
              <a:rPr dirty="0"/>
              <a:t>。</a:t>
            </a:r>
          </a:p>
          <a:p>
            <a:r>
              <a:rPr dirty="0"/>
              <a:t>　</a:t>
            </a:r>
            <a:r>
              <a:rPr dirty="0" err="1"/>
              <a:t>上段のような「収縮期ピーク＋拡張期ピーク」の単純な合成波を実際に</a:t>
            </a:r>
            <a:r>
              <a:rPr dirty="0"/>
              <a:t> 2 </a:t>
            </a:r>
            <a:r>
              <a:rPr dirty="0" err="1"/>
              <a:t>回微分すると</a:t>
            </a:r>
            <a:r>
              <a:rPr dirty="0"/>
              <a:t>、</a:t>
            </a:r>
          </a:p>
          <a:p>
            <a:r>
              <a:rPr dirty="0"/>
              <a:t>　</a:t>
            </a:r>
            <a:r>
              <a:rPr dirty="0" err="1"/>
              <a:t>極値は</a:t>
            </a:r>
            <a:r>
              <a:rPr dirty="0"/>
              <a:t> </a:t>
            </a:r>
            <a:r>
              <a:rPr dirty="0" err="1"/>
              <a:t>a・b・c</a:t>
            </a:r>
            <a:r>
              <a:rPr dirty="0"/>
              <a:t> </a:t>
            </a:r>
            <a:r>
              <a:rPr dirty="0" err="1"/>
              <a:t>と拡張期の陰性波の</a:t>
            </a:r>
            <a:r>
              <a:rPr dirty="0"/>
              <a:t> 4 </a:t>
            </a:r>
            <a:r>
              <a:rPr dirty="0" err="1"/>
              <a:t>つ程度しか出ず、c</a:t>
            </a:r>
            <a:r>
              <a:rPr dirty="0"/>
              <a:t>–d–e </a:t>
            </a:r>
            <a:r>
              <a:rPr dirty="0" err="1"/>
              <a:t>が収縮期に並ぶ実波形の形にはならない</a:t>
            </a:r>
            <a:r>
              <a:rPr dirty="0"/>
              <a:t>。</a:t>
            </a:r>
          </a:p>
          <a:p>
            <a:r>
              <a:rPr dirty="0"/>
              <a:t>　</a:t>
            </a:r>
            <a:r>
              <a:rPr dirty="0" err="1"/>
              <a:t>実際の</a:t>
            </a:r>
            <a:r>
              <a:rPr dirty="0"/>
              <a:t> SDPPG </a:t>
            </a:r>
            <a:r>
              <a:rPr dirty="0" err="1"/>
              <a:t>で</a:t>
            </a:r>
            <a:r>
              <a:rPr dirty="0"/>
              <a:t> </a:t>
            </a:r>
            <a:r>
              <a:rPr dirty="0" err="1"/>
              <a:t>a〜e</a:t>
            </a:r>
            <a:r>
              <a:rPr dirty="0"/>
              <a:t> </a:t>
            </a:r>
            <a:r>
              <a:rPr dirty="0" err="1"/>
              <a:t>が収縮期に現れるのは、実波形の収縮期に潮波（tidal</a:t>
            </a:r>
            <a:r>
              <a:rPr dirty="0"/>
              <a:t> </a:t>
            </a:r>
            <a:r>
              <a:rPr dirty="0" err="1"/>
              <a:t>wave）などの</a:t>
            </a:r>
            <a:endParaRPr dirty="0"/>
          </a:p>
          <a:p>
            <a:r>
              <a:rPr dirty="0"/>
              <a:t>　</a:t>
            </a:r>
            <a:r>
              <a:rPr dirty="0" err="1"/>
              <a:t>複数の成分が重なっているため。口頭では「模式図」と断ったほうが安全</a:t>
            </a:r>
            <a:r>
              <a:rPr dirty="0"/>
              <a:t>。</a:t>
            </a:r>
          </a:p>
          <a:p>
            <a:r>
              <a:rPr dirty="0"/>
              <a:t>(</a:t>
            </a:r>
            <a:r>
              <a:rPr dirty="0" err="1"/>
              <a:t>Takazawa</a:t>
            </a:r>
            <a:r>
              <a:rPr dirty="0"/>
              <a:t> 1998, </a:t>
            </a:r>
            <a:r>
              <a:rPr dirty="0" err="1"/>
              <a:t>Bortolotto</a:t>
            </a:r>
            <a:r>
              <a:rPr dirty="0"/>
              <a:t> 2000, Hashimoto 2002, </a:t>
            </a:r>
            <a:r>
              <a:rPr dirty="0" err="1"/>
              <a:t>Elgendi</a:t>
            </a:r>
            <a:r>
              <a:rPr dirty="0"/>
              <a:t> 2012)</a:t>
            </a:r>
          </a:p>
        </p:txBody>
      </p:sp>
      <p:sp>
        <p:nvSpPr>
          <p:cNvPr id="4" name="Slide Number Placeholder 3">
            <a:extLst>
              <a:ext uri="{FF2B5EF4-FFF2-40B4-BE49-F238E27FC236}">
                <a16:creationId xmlns:a16="http://schemas.microsoft.com/office/drawing/2014/main" id="{97A790A7-DEA7-7414-F8F3-363170EA35E6}"/>
              </a:ext>
            </a:extLst>
          </p:cNvPr>
          <p:cNvSpPr>
            <a:spLocks noGrp="1"/>
          </p:cNvSpPr>
          <p:nvPr>
            <p:ph type="sldNum" sz="quarter" idx="5"/>
          </p:nvPr>
        </p:nvSpPr>
        <p:spPr/>
      </p:sp>
    </p:spTree>
    <p:extLst>
      <p:ext uri="{BB962C8B-B14F-4D97-AF65-F5344CB8AC3E}">
        <p14:creationId xmlns:p14="http://schemas.microsoft.com/office/powerpoint/2010/main" val="32838935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465A0-6F8A-B442-BCB2-9F2395D14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AD53C2-0B0E-CDF0-E1E3-1CACDF037BE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F418670-ACBE-AE37-4CFB-D39DAD6C73C6}"/>
              </a:ext>
            </a:extLst>
          </p:cNvPr>
          <p:cNvSpPr>
            <a:spLocks noGrp="1"/>
          </p:cNvSpPr>
          <p:nvPr>
            <p:ph type="body" sz="quarter" idx="3"/>
          </p:nvPr>
        </p:nvSpPr>
        <p:spPr/>
        <p:txBody>
          <a:bodyPr/>
          <a:lstStyle/>
          <a:p>
            <a:r>
              <a:rPr kumimoji="1" lang="en" altLang="ja-JP" sz="1200" b="1" i="0" kern="1200" dirty="0">
                <a:solidFill>
                  <a:schemeClr val="tx1"/>
                </a:solidFill>
                <a:effectLst/>
                <a:latin typeface="+mn-lt"/>
                <a:ea typeface="+mn-ea"/>
                <a:cs typeface="+mn-cs"/>
              </a:rPr>
              <a:t>b/a</a:t>
            </a:r>
            <a:r>
              <a:rPr kumimoji="1" lang="ja-JP" altLang="en-US" sz="1200" b="1" i="0" kern="1200">
                <a:solidFill>
                  <a:schemeClr val="tx1"/>
                </a:solidFill>
                <a:effectLst/>
                <a:latin typeface="+mn-lt"/>
                <a:ea typeface="+mn-ea"/>
                <a:cs typeface="+mn-cs"/>
              </a:rPr>
              <a:t>は加齢で正方向に、</a:t>
            </a:r>
            <a:r>
              <a:rPr kumimoji="1" lang="en" altLang="ja-JP" sz="1200" b="1" i="0" kern="1200" dirty="0">
                <a:solidFill>
                  <a:schemeClr val="tx1"/>
                </a:solidFill>
                <a:effectLst/>
                <a:latin typeface="+mn-lt"/>
                <a:ea typeface="+mn-ea"/>
                <a:cs typeface="+mn-cs"/>
              </a:rPr>
              <a:t>c/a</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d/a</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e/a</a:t>
            </a:r>
            <a:r>
              <a:rPr kumimoji="1" lang="ja-JP" altLang="en-US" sz="1200" b="1" i="0" kern="1200">
                <a:solidFill>
                  <a:schemeClr val="tx1"/>
                </a:solidFill>
                <a:effectLst/>
                <a:latin typeface="+mn-lt"/>
                <a:ea typeface="+mn-ea"/>
                <a:cs typeface="+mn-cs"/>
              </a:rPr>
              <a:t>は加齢で負方向に変化する</a:t>
            </a:r>
            <a:r>
              <a:rPr kumimoji="1" lang="ja-JP" altLang="en-US" sz="1200" b="0" i="0" kern="1200">
                <a:solidFill>
                  <a:schemeClr val="tx1"/>
                </a:solidFill>
                <a:effectLst/>
                <a:latin typeface="+mn-lt"/>
                <a:ea typeface="+mn-ea"/>
                <a:cs typeface="+mn-cs"/>
              </a:rPr>
              <a:t>という逆方向のトレンドを持つため、これらを単純に足し合わせると加齢の効果が相殺されてしまう。そこで</a:t>
            </a:r>
            <a:r>
              <a:rPr kumimoji="1" lang="en" altLang="ja-JP" sz="1200" b="1" i="0" kern="1200" dirty="0" err="1">
                <a:solidFill>
                  <a:schemeClr val="tx1"/>
                </a:solidFill>
                <a:effectLst/>
                <a:latin typeface="+mn-lt"/>
                <a:ea typeface="+mn-ea"/>
                <a:cs typeface="+mn-cs"/>
              </a:rPr>
              <a:t>Takazawa</a:t>
            </a:r>
            <a:r>
              <a:rPr kumimoji="1" lang="ja-JP" altLang="en-US" sz="1200" b="1" i="0" kern="1200">
                <a:solidFill>
                  <a:schemeClr val="tx1"/>
                </a:solidFill>
                <a:effectLst/>
                <a:latin typeface="+mn-lt"/>
                <a:ea typeface="+mn-ea"/>
                <a:cs typeface="+mn-cs"/>
              </a:rPr>
              <a:t>らは</a:t>
            </a:r>
            <a:r>
              <a:rPr kumimoji="1" lang="en" altLang="ja-JP" sz="1200" b="1" i="0" kern="1200" dirty="0">
                <a:solidFill>
                  <a:schemeClr val="tx1"/>
                </a:solidFill>
                <a:effectLst/>
                <a:latin typeface="+mn-lt"/>
                <a:ea typeface="+mn-ea"/>
                <a:cs typeface="+mn-cs"/>
              </a:rPr>
              <a:t>b/a</a:t>
            </a:r>
            <a:r>
              <a:rPr kumimoji="1" lang="ja-JP" altLang="en-US" sz="1200" b="1" i="0" kern="1200">
                <a:solidFill>
                  <a:schemeClr val="tx1"/>
                </a:solidFill>
                <a:effectLst/>
                <a:latin typeface="+mn-lt"/>
                <a:ea typeface="+mn-ea"/>
                <a:cs typeface="+mn-cs"/>
              </a:rPr>
              <a:t>から他の</a:t>
            </a:r>
            <a:r>
              <a:rPr kumimoji="1" lang="en-US" altLang="ja-JP" sz="1200" b="1" i="0" kern="1200" dirty="0">
                <a:solidFill>
                  <a:schemeClr val="tx1"/>
                </a:solidFill>
                <a:effectLst/>
                <a:latin typeface="+mn-lt"/>
                <a:ea typeface="+mn-ea"/>
                <a:cs typeface="+mn-cs"/>
              </a:rPr>
              <a:t>3</a:t>
            </a:r>
            <a:r>
              <a:rPr kumimoji="1" lang="ja-JP" altLang="en-US" sz="1200" b="1" i="0" kern="1200">
                <a:solidFill>
                  <a:schemeClr val="tx1"/>
                </a:solidFill>
                <a:effectLst/>
                <a:latin typeface="+mn-lt"/>
                <a:ea typeface="+mn-ea"/>
                <a:cs typeface="+mn-cs"/>
              </a:rPr>
              <a:t>成分を差し引く</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b−c−d−e)/a</a:t>
            </a:r>
            <a:r>
              <a:rPr kumimoji="1" lang="ja-JP" altLang="en-US" sz="1200" b="1" i="0" kern="1200">
                <a:solidFill>
                  <a:schemeClr val="tx1"/>
                </a:solidFill>
                <a:effectLst/>
                <a:latin typeface="+mn-lt"/>
                <a:ea typeface="+mn-ea"/>
                <a:cs typeface="+mn-cs"/>
              </a:rPr>
              <a:t>という合成式</a:t>
            </a:r>
            <a:r>
              <a:rPr kumimoji="1" lang="ja-JP" altLang="en-US" sz="1200" b="0" i="0" kern="1200">
                <a:solidFill>
                  <a:schemeClr val="tx1"/>
                </a:solidFill>
                <a:effectLst/>
                <a:latin typeface="+mn-lt"/>
                <a:ea typeface="+mn-ea"/>
                <a:cs typeface="+mn-cs"/>
              </a:rPr>
              <a:t>を設計することで、すべての成分の加齢効果を同一方向に揃え、加齢に伴う変化を増幅・単一指標として集約した。</a:t>
            </a:r>
            <a:endParaRPr lang="en-US" dirty="0"/>
          </a:p>
          <a:p>
            <a:endParaRPr lang="en-US" dirty="0"/>
          </a:p>
          <a:p>
            <a:r>
              <a:rPr dirty="0" err="1"/>
              <a:t>SDPPG（second</a:t>
            </a:r>
            <a:r>
              <a:rPr dirty="0"/>
              <a:t> derivative of </a:t>
            </a:r>
            <a:r>
              <a:rPr dirty="0" err="1"/>
              <a:t>PPG＝加速度脈波）は、原波形の微妙な「折れ（変曲点</a:t>
            </a:r>
            <a:r>
              <a:rPr dirty="0"/>
              <a:t>）」</a:t>
            </a:r>
            <a:r>
              <a:rPr dirty="0" err="1"/>
              <a:t>を</a:t>
            </a:r>
            <a:endParaRPr dirty="0"/>
          </a:p>
          <a:p>
            <a:r>
              <a:rPr dirty="0" err="1"/>
              <a:t>明瞭な極値に変換する手法。収縮期に</a:t>
            </a:r>
            <a:r>
              <a:rPr dirty="0"/>
              <a:t> </a:t>
            </a:r>
            <a:r>
              <a:rPr dirty="0" err="1"/>
              <a:t>a（初期陽性</a:t>
            </a:r>
            <a:r>
              <a:rPr dirty="0"/>
              <a:t>）・</a:t>
            </a:r>
            <a:r>
              <a:rPr dirty="0" err="1"/>
              <a:t>b（初期陰性</a:t>
            </a:r>
            <a:r>
              <a:rPr dirty="0"/>
              <a:t>）・</a:t>
            </a:r>
            <a:r>
              <a:rPr dirty="0" err="1"/>
              <a:t>c（再上昇</a:t>
            </a:r>
            <a:r>
              <a:rPr dirty="0"/>
              <a:t>）・</a:t>
            </a:r>
            <a:r>
              <a:rPr dirty="0" err="1"/>
              <a:t>d（再下降</a:t>
            </a:r>
            <a:r>
              <a:rPr dirty="0"/>
              <a:t>）、</a:t>
            </a:r>
          </a:p>
          <a:p>
            <a:r>
              <a:rPr dirty="0" err="1"/>
              <a:t>拡張期に</a:t>
            </a:r>
            <a:r>
              <a:rPr dirty="0"/>
              <a:t> </a:t>
            </a:r>
            <a:r>
              <a:rPr dirty="0" err="1"/>
              <a:t>e（重複切痕に相当）の</a:t>
            </a:r>
            <a:r>
              <a:rPr dirty="0"/>
              <a:t> 5 </a:t>
            </a:r>
            <a:r>
              <a:rPr dirty="0" err="1"/>
              <a:t>点が定義される</a:t>
            </a:r>
            <a:r>
              <a:rPr dirty="0"/>
              <a:t>。</a:t>
            </a:r>
          </a:p>
          <a:p>
            <a:r>
              <a:rPr dirty="0" err="1"/>
              <a:t>利点</a:t>
            </a:r>
            <a:r>
              <a:rPr dirty="0"/>
              <a:t>：</a:t>
            </a:r>
          </a:p>
          <a:p>
            <a:r>
              <a:rPr dirty="0"/>
              <a:t>① </a:t>
            </a:r>
            <a:r>
              <a:rPr dirty="0" err="1"/>
              <a:t>変曲点をピークとして扱えるので、位置と大小を数値化できる</a:t>
            </a:r>
            <a:endParaRPr dirty="0"/>
          </a:p>
          <a:p>
            <a:r>
              <a:rPr dirty="0"/>
              <a:t>② </a:t>
            </a:r>
            <a:r>
              <a:rPr dirty="0" err="1"/>
              <a:t>重複切痕が目視で消えている波形でも、e</a:t>
            </a:r>
            <a:r>
              <a:rPr dirty="0"/>
              <a:t> </a:t>
            </a:r>
            <a:r>
              <a:rPr dirty="0" err="1"/>
              <a:t>波として切痕相当点の位置を推定できる</a:t>
            </a:r>
            <a:endParaRPr dirty="0"/>
          </a:p>
          <a:p>
            <a:r>
              <a:rPr dirty="0"/>
              <a:t>③ </a:t>
            </a:r>
            <a:r>
              <a:rPr dirty="0" err="1"/>
              <a:t>直流成分・基線ドリフトが微分で除去され</a:t>
            </a:r>
            <a:r>
              <a:rPr dirty="0"/>
              <a:t>、「</a:t>
            </a:r>
            <a:r>
              <a:rPr dirty="0" err="1"/>
              <a:t>波の比（形</a:t>
            </a:r>
            <a:r>
              <a:rPr dirty="0"/>
              <a:t>）」</a:t>
            </a:r>
            <a:r>
              <a:rPr dirty="0" err="1"/>
              <a:t>で評価できる</a:t>
            </a:r>
            <a:endParaRPr dirty="0"/>
          </a:p>
          <a:p>
            <a:r>
              <a:rPr dirty="0" err="1"/>
              <a:t>臨床的な対応：b</a:t>
            </a:r>
            <a:r>
              <a:rPr dirty="0"/>
              <a:t>/a </a:t>
            </a:r>
            <a:r>
              <a:rPr dirty="0" err="1"/>
              <a:t>は大血管の硬さ、d</a:t>
            </a:r>
            <a:r>
              <a:rPr dirty="0"/>
              <a:t>/a </a:t>
            </a:r>
            <a:r>
              <a:rPr dirty="0" err="1"/>
              <a:t>は末梢トーヌス（昇圧薬で低下、ニトログリセリンで上昇</a:t>
            </a:r>
            <a:r>
              <a:rPr dirty="0"/>
              <a:t>）</a:t>
            </a:r>
          </a:p>
          <a:p>
            <a:r>
              <a:rPr dirty="0" err="1"/>
              <a:t>と関連する</a:t>
            </a:r>
            <a:r>
              <a:rPr dirty="0"/>
              <a:t>。</a:t>
            </a:r>
          </a:p>
          <a:p>
            <a:r>
              <a:rPr dirty="0"/>
              <a:t>注意：2回微分は高周波ノイズを増幅するため、平滑化・帯域制限が前提。各比は心拍数・体位でも</a:t>
            </a:r>
          </a:p>
          <a:p>
            <a:r>
              <a:rPr dirty="0" err="1"/>
              <a:t>変動する（Hashimoto</a:t>
            </a:r>
            <a:r>
              <a:rPr dirty="0"/>
              <a:t> 2002）。(</a:t>
            </a:r>
            <a:r>
              <a:rPr dirty="0" err="1"/>
              <a:t>Takazawa</a:t>
            </a:r>
            <a:r>
              <a:rPr dirty="0"/>
              <a:t> 1998, </a:t>
            </a:r>
            <a:r>
              <a:rPr dirty="0" err="1"/>
              <a:t>Bortolotto</a:t>
            </a:r>
            <a:r>
              <a:rPr dirty="0"/>
              <a:t> 2000)</a:t>
            </a:r>
          </a:p>
          <a:p>
            <a:r>
              <a:rPr dirty="0"/>
              <a:t>【SDPPG </a:t>
            </a:r>
            <a:r>
              <a:rPr dirty="0" err="1"/>
              <a:t>は原波形の変化を忠実に表しているか</a:t>
            </a:r>
            <a:r>
              <a:rPr dirty="0"/>
              <a:t>】</a:t>
            </a:r>
          </a:p>
          <a:p>
            <a:r>
              <a:rPr dirty="0" err="1"/>
              <a:t>結論：数学的には情報を落としていないが、見た目としては「忠実」ではなく</a:t>
            </a:r>
            <a:r>
              <a:rPr dirty="0"/>
              <a:t>、</a:t>
            </a:r>
          </a:p>
          <a:p>
            <a:r>
              <a:rPr dirty="0"/>
              <a:t>「</a:t>
            </a:r>
            <a:r>
              <a:rPr dirty="0" err="1"/>
              <a:t>変曲点を強調し、それ以外（振幅・基線）を捨てた」表示である</a:t>
            </a:r>
            <a:r>
              <a:rPr dirty="0"/>
              <a:t>。</a:t>
            </a:r>
          </a:p>
          <a:p>
            <a:endParaRPr dirty="0"/>
          </a:p>
          <a:p>
            <a:r>
              <a:rPr dirty="0" err="1"/>
              <a:t>忠実な点</a:t>
            </a:r>
            <a:endParaRPr dirty="0"/>
          </a:p>
          <a:p>
            <a:r>
              <a:rPr dirty="0"/>
              <a:t>・2 </a:t>
            </a:r>
            <a:r>
              <a:rPr dirty="0" err="1"/>
              <a:t>回微分は線形演算なので、波形の曲率の情報はそのまま保存される</a:t>
            </a:r>
            <a:r>
              <a:rPr dirty="0"/>
              <a:t>。</a:t>
            </a:r>
          </a:p>
          <a:p>
            <a:r>
              <a:rPr dirty="0"/>
              <a:t>　</a:t>
            </a:r>
            <a:r>
              <a:rPr dirty="0" err="1"/>
              <a:t>目に見えない肩・折れが</a:t>
            </a:r>
            <a:r>
              <a:rPr dirty="0"/>
              <a:t> </a:t>
            </a:r>
            <a:r>
              <a:rPr dirty="0" err="1"/>
              <a:t>a〜e</a:t>
            </a:r>
            <a:r>
              <a:rPr dirty="0"/>
              <a:t> </a:t>
            </a:r>
            <a:r>
              <a:rPr dirty="0" err="1"/>
              <a:t>の極値としてはっきり出る（これが</a:t>
            </a:r>
            <a:r>
              <a:rPr dirty="0"/>
              <a:t> SDPPG </a:t>
            </a:r>
            <a:r>
              <a:rPr dirty="0" err="1"/>
              <a:t>の狙い</a:t>
            </a:r>
            <a:r>
              <a:rPr dirty="0"/>
              <a:t>）。</a:t>
            </a:r>
          </a:p>
          <a:p>
            <a:r>
              <a:rPr dirty="0"/>
              <a:t>・</a:t>
            </a:r>
            <a:r>
              <a:rPr dirty="0" err="1"/>
              <a:t>切痕が目視で消えた波形でも、e</a:t>
            </a:r>
            <a:r>
              <a:rPr dirty="0"/>
              <a:t> </a:t>
            </a:r>
            <a:r>
              <a:rPr dirty="0" err="1"/>
              <a:t>波として切痕相当点の位置を推定できる</a:t>
            </a:r>
            <a:r>
              <a:rPr dirty="0"/>
              <a:t>。</a:t>
            </a:r>
          </a:p>
          <a:p>
            <a:endParaRPr dirty="0"/>
          </a:p>
          <a:p>
            <a:r>
              <a:rPr dirty="0" err="1"/>
              <a:t>忠実でない点（読み替えのときに注意</a:t>
            </a:r>
            <a:r>
              <a:rPr dirty="0"/>
              <a:t>）</a:t>
            </a:r>
          </a:p>
          <a:p>
            <a:r>
              <a:rPr dirty="0"/>
              <a:t>・</a:t>
            </a:r>
            <a:r>
              <a:rPr dirty="0" err="1"/>
              <a:t>振幅情報が消える。通常</a:t>
            </a:r>
            <a:r>
              <a:rPr dirty="0"/>
              <a:t> b/</a:t>
            </a:r>
            <a:r>
              <a:rPr dirty="0" err="1"/>
              <a:t>a・d</a:t>
            </a:r>
            <a:r>
              <a:rPr dirty="0"/>
              <a:t>/a </a:t>
            </a:r>
            <a:r>
              <a:rPr dirty="0" err="1"/>
              <a:t>のように</a:t>
            </a:r>
            <a:r>
              <a:rPr dirty="0"/>
              <a:t> a </a:t>
            </a:r>
            <a:r>
              <a:rPr dirty="0" err="1"/>
              <a:t>で正規化するため、PPG</a:t>
            </a:r>
            <a:r>
              <a:rPr dirty="0"/>
              <a:t> </a:t>
            </a:r>
            <a:r>
              <a:rPr dirty="0" err="1"/>
              <a:t>の絶対振幅</a:t>
            </a:r>
            <a:r>
              <a:rPr dirty="0"/>
              <a:t>（＝PI </a:t>
            </a:r>
            <a:r>
              <a:rPr dirty="0" err="1"/>
              <a:t>や</a:t>
            </a:r>
            <a:endParaRPr dirty="0"/>
          </a:p>
          <a:p>
            <a:r>
              <a:rPr dirty="0"/>
              <a:t>　</a:t>
            </a:r>
            <a:r>
              <a:rPr dirty="0" err="1"/>
              <a:t>前負荷で動く成分）は</a:t>
            </a:r>
            <a:r>
              <a:rPr dirty="0"/>
              <a:t> SDPPG </a:t>
            </a:r>
            <a:r>
              <a:rPr dirty="0" err="1"/>
              <a:t>からは分からない。低灌流で波が小さくなっても比はあまり動かない</a:t>
            </a:r>
            <a:r>
              <a:rPr dirty="0"/>
              <a:t>。</a:t>
            </a:r>
          </a:p>
          <a:p>
            <a:r>
              <a:rPr dirty="0"/>
              <a:t>・</a:t>
            </a:r>
            <a:r>
              <a:rPr dirty="0" err="1"/>
              <a:t>基線・DC</a:t>
            </a:r>
            <a:r>
              <a:rPr dirty="0"/>
              <a:t> </a:t>
            </a:r>
            <a:r>
              <a:rPr dirty="0" err="1"/>
              <a:t>成分は微分で消える（利点でもあるが、RIIV</a:t>
            </a:r>
            <a:r>
              <a:rPr dirty="0"/>
              <a:t> </a:t>
            </a:r>
            <a:r>
              <a:rPr dirty="0" err="1"/>
              <a:t>のような情報は失われる</a:t>
            </a:r>
            <a:r>
              <a:rPr dirty="0"/>
              <a:t>）。</a:t>
            </a:r>
          </a:p>
          <a:p>
            <a:r>
              <a:rPr dirty="0"/>
              <a:t>・</a:t>
            </a:r>
            <a:r>
              <a:rPr dirty="0" err="1"/>
              <a:t>微分はノイズを周波数の</a:t>
            </a:r>
            <a:r>
              <a:rPr dirty="0"/>
              <a:t> 2 </a:t>
            </a:r>
            <a:r>
              <a:rPr dirty="0" err="1"/>
              <a:t>乗で増幅する。実装では必ず平滑化・帯域制限が入り</a:t>
            </a:r>
            <a:r>
              <a:rPr dirty="0"/>
              <a:t>、</a:t>
            </a:r>
          </a:p>
          <a:p>
            <a:r>
              <a:rPr dirty="0"/>
              <a:t>　</a:t>
            </a:r>
            <a:r>
              <a:rPr dirty="0" err="1"/>
              <a:t>その設定（サンプリング周波数、カットオフ、微分の差分幅）で</a:t>
            </a:r>
            <a:r>
              <a:rPr dirty="0"/>
              <a:t> b/</a:t>
            </a:r>
            <a:r>
              <a:rPr dirty="0" err="1"/>
              <a:t>a・d</a:t>
            </a:r>
            <a:r>
              <a:rPr dirty="0"/>
              <a:t>/a </a:t>
            </a:r>
            <a:r>
              <a:rPr dirty="0" err="1"/>
              <a:t>の値が変わる</a:t>
            </a:r>
            <a:r>
              <a:rPr dirty="0"/>
              <a:t>。</a:t>
            </a:r>
          </a:p>
          <a:p>
            <a:r>
              <a:rPr dirty="0"/>
              <a:t>　</a:t>
            </a:r>
            <a:r>
              <a:rPr dirty="0" err="1"/>
              <a:t>文献間で数値を直接比べられないのはこのため</a:t>
            </a:r>
            <a:r>
              <a:rPr dirty="0"/>
              <a:t>。</a:t>
            </a:r>
          </a:p>
          <a:p>
            <a:r>
              <a:rPr dirty="0"/>
              <a:t>・</a:t>
            </a:r>
            <a:r>
              <a:rPr dirty="0" err="1"/>
              <a:t>小さな折れも大きな極値になるので、視覚的には「実際より大きな変化」に見えることがある</a:t>
            </a:r>
            <a:r>
              <a:rPr dirty="0"/>
              <a:t>。</a:t>
            </a:r>
          </a:p>
          <a:p>
            <a:r>
              <a:rPr dirty="0"/>
              <a:t>　</a:t>
            </a:r>
            <a:r>
              <a:rPr dirty="0" err="1"/>
              <a:t>逆に平滑化を強くかけると</a:t>
            </a:r>
            <a:r>
              <a:rPr dirty="0"/>
              <a:t> </a:t>
            </a:r>
            <a:r>
              <a:rPr dirty="0" err="1"/>
              <a:t>c・d</a:t>
            </a:r>
            <a:r>
              <a:rPr dirty="0"/>
              <a:t> </a:t>
            </a:r>
            <a:r>
              <a:rPr dirty="0" err="1"/>
              <a:t>が潰れて検出できなくなる</a:t>
            </a:r>
            <a:r>
              <a:rPr dirty="0"/>
              <a:t>。</a:t>
            </a:r>
          </a:p>
          <a:p>
            <a:r>
              <a:rPr dirty="0"/>
              <a:t>・</a:t>
            </a:r>
            <a:r>
              <a:rPr dirty="0" err="1"/>
              <a:t>低品質拍（体動・低灌流）では極値の同定自体が破綻する</a:t>
            </a:r>
            <a:r>
              <a:rPr dirty="0"/>
              <a:t>。</a:t>
            </a:r>
          </a:p>
          <a:p>
            <a:endParaRPr dirty="0"/>
          </a:p>
          <a:p>
            <a:r>
              <a:rPr dirty="0"/>
              <a:t>文献で裏取りできた具体値（2026-08）</a:t>
            </a:r>
          </a:p>
          <a:p>
            <a:r>
              <a:rPr dirty="0"/>
              <a:t>・</a:t>
            </a:r>
            <a:r>
              <a:rPr dirty="0" err="1"/>
              <a:t>VascAgeNet</a:t>
            </a:r>
            <a:r>
              <a:rPr dirty="0"/>
              <a:t> </a:t>
            </a:r>
            <a:r>
              <a:rPr dirty="0" err="1"/>
              <a:t>レビュ</a:t>
            </a:r>
            <a:r>
              <a:rPr dirty="0"/>
              <a:t>ー（Charlton 2022 </a:t>
            </a:r>
            <a:r>
              <a:rPr dirty="0" err="1"/>
              <a:t>AJP-Heart）本文</a:t>
            </a:r>
            <a:r>
              <a:rPr dirty="0"/>
              <a:t>："Differentiation amplifies higher frequency</a:t>
            </a:r>
          </a:p>
          <a:p>
            <a:r>
              <a:rPr dirty="0"/>
              <a:t>　components of a signal, so noise should be filtered out before differentiation."</a:t>
            </a:r>
          </a:p>
          <a:p>
            <a:r>
              <a:rPr dirty="0"/>
              <a:t>・</a:t>
            </a:r>
            <a:r>
              <a:rPr dirty="0" err="1"/>
              <a:t>Pilt</a:t>
            </a:r>
            <a:r>
              <a:rPr dirty="0"/>
              <a:t> 2013 </a:t>
            </a:r>
            <a:r>
              <a:rPr dirty="0" err="1"/>
              <a:t>は低域通過フィルタのエッジ周波数を</a:t>
            </a:r>
            <a:r>
              <a:rPr dirty="0"/>
              <a:t> 4→14 Hz </a:t>
            </a:r>
            <a:r>
              <a:rPr dirty="0" err="1"/>
              <a:t>に振って</a:t>
            </a:r>
            <a:r>
              <a:rPr dirty="0"/>
              <a:t> b/</a:t>
            </a:r>
            <a:r>
              <a:rPr dirty="0" err="1"/>
              <a:t>a・c</a:t>
            </a:r>
            <a:r>
              <a:rPr dirty="0"/>
              <a:t>/</a:t>
            </a:r>
            <a:r>
              <a:rPr dirty="0" err="1"/>
              <a:t>a・d</a:t>
            </a:r>
            <a:r>
              <a:rPr dirty="0"/>
              <a:t>/</a:t>
            </a:r>
            <a:r>
              <a:rPr dirty="0" err="1"/>
              <a:t>a・e</a:t>
            </a:r>
            <a:r>
              <a:rPr dirty="0"/>
              <a:t>/</a:t>
            </a:r>
            <a:r>
              <a:rPr dirty="0" err="1"/>
              <a:t>a・AGI</a:t>
            </a:r>
            <a:r>
              <a:rPr dirty="0"/>
              <a:t> </a:t>
            </a:r>
            <a:r>
              <a:rPr dirty="0" err="1"/>
              <a:t>の</a:t>
            </a:r>
            <a:endParaRPr dirty="0"/>
          </a:p>
          <a:p>
            <a:r>
              <a:rPr dirty="0"/>
              <a:t>　ばらつきを実測し、6 Hz </a:t>
            </a:r>
            <a:r>
              <a:rPr dirty="0" err="1"/>
              <a:t>で最小（AGI</a:t>
            </a:r>
            <a:r>
              <a:rPr dirty="0"/>
              <a:t> </a:t>
            </a:r>
            <a:r>
              <a:rPr dirty="0" err="1"/>
              <a:t>の</a:t>
            </a:r>
            <a:r>
              <a:rPr dirty="0"/>
              <a:t> SD 0.06）。</a:t>
            </a:r>
            <a:r>
              <a:rPr dirty="0" err="1"/>
              <a:t>設定を最適化しないと</a:t>
            </a:r>
            <a:r>
              <a:rPr dirty="0"/>
              <a:t> SD が約2倍になる。</a:t>
            </a:r>
          </a:p>
          <a:p>
            <a:r>
              <a:rPr dirty="0"/>
              <a:t>　</a:t>
            </a:r>
            <a:r>
              <a:rPr dirty="0" err="1"/>
              <a:t>推奨カットオフは文献間で</a:t>
            </a:r>
            <a:r>
              <a:rPr dirty="0"/>
              <a:t> 6〜20 Hz </a:t>
            </a:r>
            <a:r>
              <a:rPr dirty="0" err="1"/>
              <a:t>と割れており、pyPPG</a:t>
            </a:r>
            <a:r>
              <a:rPr dirty="0"/>
              <a:t> </a:t>
            </a:r>
            <a:r>
              <a:rPr dirty="0" err="1"/>
              <a:t>の既定は</a:t>
            </a:r>
            <a:r>
              <a:rPr dirty="0"/>
              <a:t> 0.5–12 Hz。</a:t>
            </a:r>
          </a:p>
          <a:p>
            <a:r>
              <a:rPr dirty="0"/>
              <a:t>・IIR </a:t>
            </a:r>
            <a:r>
              <a:rPr dirty="0" err="1"/>
              <a:t>フィルタの位相歪みで収縮期ピークの時刻が</a:t>
            </a:r>
            <a:r>
              <a:rPr dirty="0"/>
              <a:t> 0.1–10 Hz </a:t>
            </a:r>
            <a:r>
              <a:rPr dirty="0" err="1"/>
              <a:t>で平均</a:t>
            </a:r>
            <a:r>
              <a:rPr dirty="0"/>
              <a:t> 18.7 ms、0.1–5 Hz </a:t>
            </a:r>
            <a:r>
              <a:rPr dirty="0" err="1"/>
              <a:t>で</a:t>
            </a:r>
            <a:r>
              <a:rPr dirty="0"/>
              <a:t> 51.8 </a:t>
            </a:r>
            <a:r>
              <a:rPr dirty="0" err="1"/>
              <a:t>ms</a:t>
            </a:r>
            <a:r>
              <a:rPr dirty="0"/>
              <a:t> </a:t>
            </a:r>
            <a:r>
              <a:rPr dirty="0" err="1"/>
              <a:t>ずれ</a:t>
            </a:r>
            <a:r>
              <a:rPr dirty="0"/>
              <a:t>、</a:t>
            </a:r>
          </a:p>
          <a:p>
            <a:r>
              <a:rPr dirty="0"/>
              <a:t>　</a:t>
            </a:r>
            <a:r>
              <a:rPr dirty="0" err="1"/>
              <a:t>上限を下げると重複切痕そのものが減衰する。下限を</a:t>
            </a:r>
            <a:r>
              <a:rPr dirty="0"/>
              <a:t> 0.2 Hz </a:t>
            </a:r>
            <a:r>
              <a:rPr dirty="0" err="1"/>
              <a:t>より上げると前進波・反射波が歪む</a:t>
            </a:r>
            <a:r>
              <a:rPr dirty="0"/>
              <a:t>。</a:t>
            </a:r>
          </a:p>
          <a:p>
            <a:r>
              <a:rPr dirty="0"/>
              <a:t>・</a:t>
            </a:r>
            <a:r>
              <a:rPr dirty="0" err="1"/>
              <a:t>再現性は指標で差がある：b</a:t>
            </a:r>
            <a:r>
              <a:rPr dirty="0"/>
              <a:t>/</a:t>
            </a:r>
            <a:r>
              <a:rPr dirty="0" err="1"/>
              <a:t>a（大血管側）は比較的良好だが、d</a:t>
            </a:r>
            <a:r>
              <a:rPr dirty="0"/>
              <a:t>/</a:t>
            </a:r>
            <a:r>
              <a:rPr dirty="0" err="1"/>
              <a:t>a・e</a:t>
            </a:r>
            <a:r>
              <a:rPr dirty="0"/>
              <a:t>/</a:t>
            </a:r>
            <a:r>
              <a:rPr dirty="0" err="1"/>
              <a:t>a（小血管側）は再現性が落ちる</a:t>
            </a:r>
            <a:r>
              <a:rPr dirty="0"/>
              <a:t>。</a:t>
            </a:r>
          </a:p>
          <a:p>
            <a:r>
              <a:rPr dirty="0"/>
              <a:t>・a </a:t>
            </a:r>
            <a:r>
              <a:rPr dirty="0" err="1"/>
              <a:t>波正規化は「情報の損失」でもあるが「デバイス依存性（LED</a:t>
            </a:r>
            <a:r>
              <a:rPr dirty="0"/>
              <a:t> </a:t>
            </a:r>
            <a:r>
              <a:rPr dirty="0" err="1"/>
              <a:t>電流・受光ゲイン・接触圧）の除去」でもある</a:t>
            </a:r>
            <a:r>
              <a:rPr dirty="0"/>
              <a:t>。</a:t>
            </a:r>
          </a:p>
          <a:p>
            <a:r>
              <a:rPr dirty="0"/>
              <a:t>　</a:t>
            </a:r>
            <a:r>
              <a:rPr dirty="0" err="1"/>
              <a:t>ただし</a:t>
            </a:r>
            <a:r>
              <a:rPr dirty="0"/>
              <a:t> ΔPOP／PVI </a:t>
            </a:r>
            <a:r>
              <a:rPr dirty="0" err="1"/>
              <a:t>のような呼吸性の振幅変動は、正規化した</a:t>
            </a:r>
            <a:r>
              <a:rPr dirty="0"/>
              <a:t> SDPPG </a:t>
            </a:r>
            <a:r>
              <a:rPr dirty="0" err="1"/>
              <a:t>指標からは原理的に読めない</a:t>
            </a:r>
            <a:r>
              <a:rPr dirty="0"/>
              <a:t>。</a:t>
            </a:r>
          </a:p>
          <a:p>
            <a:r>
              <a:rPr dirty="0"/>
              <a:t>　→ 3.1（ΔPOP＝絶対振幅を見る）と 5.3（SDPPG＝正規化して形を見る）は前処理の思想が正反対。</a:t>
            </a:r>
          </a:p>
          <a:p>
            <a:endParaRPr dirty="0"/>
          </a:p>
          <a:p>
            <a:r>
              <a:rPr dirty="0" err="1"/>
              <a:t>図についての注意</a:t>
            </a:r>
            <a:endParaRPr dirty="0"/>
          </a:p>
          <a:p>
            <a:r>
              <a:rPr dirty="0"/>
              <a:t>・</a:t>
            </a:r>
            <a:r>
              <a:rPr dirty="0" err="1"/>
              <a:t>このスライドの上下</a:t>
            </a:r>
            <a:r>
              <a:rPr dirty="0"/>
              <a:t> 2 </a:t>
            </a:r>
            <a:r>
              <a:rPr dirty="0" err="1"/>
              <a:t>段は模式図であり、下段は上段を実際に</a:t>
            </a:r>
            <a:r>
              <a:rPr dirty="0"/>
              <a:t> 2 </a:t>
            </a:r>
            <a:r>
              <a:rPr dirty="0" err="1"/>
              <a:t>回微分した曲線ではない</a:t>
            </a:r>
            <a:r>
              <a:rPr dirty="0"/>
              <a:t>。</a:t>
            </a:r>
          </a:p>
          <a:p>
            <a:r>
              <a:rPr dirty="0"/>
              <a:t>　</a:t>
            </a:r>
            <a:r>
              <a:rPr dirty="0" err="1"/>
              <a:t>上段のような「収縮期ピーク＋拡張期ピーク」の単純な合成波を実際に</a:t>
            </a:r>
            <a:r>
              <a:rPr dirty="0"/>
              <a:t> 2 </a:t>
            </a:r>
            <a:r>
              <a:rPr dirty="0" err="1"/>
              <a:t>回微分すると</a:t>
            </a:r>
            <a:r>
              <a:rPr dirty="0"/>
              <a:t>、</a:t>
            </a:r>
          </a:p>
          <a:p>
            <a:r>
              <a:rPr dirty="0"/>
              <a:t>　</a:t>
            </a:r>
            <a:r>
              <a:rPr dirty="0" err="1"/>
              <a:t>極値は</a:t>
            </a:r>
            <a:r>
              <a:rPr dirty="0"/>
              <a:t> </a:t>
            </a:r>
            <a:r>
              <a:rPr dirty="0" err="1"/>
              <a:t>a・b・c</a:t>
            </a:r>
            <a:r>
              <a:rPr dirty="0"/>
              <a:t> </a:t>
            </a:r>
            <a:r>
              <a:rPr dirty="0" err="1"/>
              <a:t>と拡張期の陰性波の</a:t>
            </a:r>
            <a:r>
              <a:rPr dirty="0"/>
              <a:t> 4 </a:t>
            </a:r>
            <a:r>
              <a:rPr dirty="0" err="1"/>
              <a:t>つ程度しか出ず、c</a:t>
            </a:r>
            <a:r>
              <a:rPr dirty="0"/>
              <a:t>–d–e </a:t>
            </a:r>
            <a:r>
              <a:rPr dirty="0" err="1"/>
              <a:t>が収縮期に並ぶ実波形の形にはならない</a:t>
            </a:r>
            <a:r>
              <a:rPr dirty="0"/>
              <a:t>。</a:t>
            </a:r>
          </a:p>
          <a:p>
            <a:r>
              <a:rPr dirty="0"/>
              <a:t>　</a:t>
            </a:r>
            <a:r>
              <a:rPr dirty="0" err="1"/>
              <a:t>実際の</a:t>
            </a:r>
            <a:r>
              <a:rPr dirty="0"/>
              <a:t> SDPPG </a:t>
            </a:r>
            <a:r>
              <a:rPr dirty="0" err="1"/>
              <a:t>で</a:t>
            </a:r>
            <a:r>
              <a:rPr dirty="0"/>
              <a:t> </a:t>
            </a:r>
            <a:r>
              <a:rPr dirty="0" err="1"/>
              <a:t>a〜e</a:t>
            </a:r>
            <a:r>
              <a:rPr dirty="0"/>
              <a:t> </a:t>
            </a:r>
            <a:r>
              <a:rPr dirty="0" err="1"/>
              <a:t>が収縮期に現れるのは、実波形の収縮期に潮波（tidal</a:t>
            </a:r>
            <a:r>
              <a:rPr dirty="0"/>
              <a:t> </a:t>
            </a:r>
            <a:r>
              <a:rPr dirty="0" err="1"/>
              <a:t>wave）などの</a:t>
            </a:r>
            <a:endParaRPr dirty="0"/>
          </a:p>
          <a:p>
            <a:r>
              <a:rPr dirty="0"/>
              <a:t>　</a:t>
            </a:r>
            <a:r>
              <a:rPr dirty="0" err="1"/>
              <a:t>複数の成分が重なっているため。口頭では「模式図」と断ったほうが安全</a:t>
            </a:r>
            <a:r>
              <a:rPr dirty="0"/>
              <a:t>。</a:t>
            </a:r>
          </a:p>
          <a:p>
            <a:r>
              <a:rPr dirty="0"/>
              <a:t>(</a:t>
            </a:r>
            <a:r>
              <a:rPr dirty="0" err="1"/>
              <a:t>Takazawa</a:t>
            </a:r>
            <a:r>
              <a:rPr dirty="0"/>
              <a:t> 1998, </a:t>
            </a:r>
            <a:r>
              <a:rPr dirty="0" err="1"/>
              <a:t>Bortolotto</a:t>
            </a:r>
            <a:r>
              <a:rPr dirty="0"/>
              <a:t> 2000, Hashimoto 2002, </a:t>
            </a:r>
            <a:r>
              <a:rPr dirty="0" err="1"/>
              <a:t>Elgendi</a:t>
            </a:r>
            <a:r>
              <a:rPr dirty="0"/>
              <a:t> 2012)</a:t>
            </a:r>
          </a:p>
        </p:txBody>
      </p:sp>
      <p:sp>
        <p:nvSpPr>
          <p:cNvPr id="4" name="Slide Number Placeholder 3">
            <a:extLst>
              <a:ext uri="{FF2B5EF4-FFF2-40B4-BE49-F238E27FC236}">
                <a16:creationId xmlns:a16="http://schemas.microsoft.com/office/drawing/2014/main" id="{67E83ED4-38FC-C5CB-D260-F4D39B5C4382}"/>
              </a:ext>
            </a:extLst>
          </p:cNvPr>
          <p:cNvSpPr>
            <a:spLocks noGrp="1"/>
          </p:cNvSpPr>
          <p:nvPr>
            <p:ph type="sldNum" sz="quarter" idx="5"/>
          </p:nvPr>
        </p:nvSpPr>
        <p:spPr/>
      </p:sp>
    </p:spTree>
    <p:extLst>
      <p:ext uri="{BB962C8B-B14F-4D97-AF65-F5344CB8AC3E}">
        <p14:creationId xmlns:p14="http://schemas.microsoft.com/office/powerpoint/2010/main" val="23969401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5B5AC-5AD2-01D6-FC18-5C9A7E26F8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B0B96-B5CB-49D5-B07E-B36FE0D682F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FA8C1D4-7430-14BF-EA70-730964FDFBFA}"/>
              </a:ext>
            </a:extLst>
          </p:cNvPr>
          <p:cNvSpPr>
            <a:spLocks noGrp="1"/>
          </p:cNvSpPr>
          <p:nvPr>
            <p:ph type="body" sz="quarter" idx="3"/>
          </p:nvPr>
        </p:nvSpPr>
        <p:spPr/>
        <p:txBody>
          <a:bodyPr/>
          <a:lstStyle/>
          <a:p>
            <a:r>
              <a:t>5.3 の2枚目。SDPPG（加速度脈波）の指標が実際に何と結びついたのか、主要3研究を並べる。</a:t>
            </a:r>
          </a:p>
          <a:p>
            <a:endParaRPr/>
          </a:p>
          <a:p>
            <a:r>
              <a:t>指標の定義</a:t>
            </a:r>
          </a:p>
          <a:p>
            <a:r>
              <a:t>・SDPPG ＝ 指尖 PPG の二次微分。収縮期に a（初期陽性）・b（初期陰性）・c（再上昇）・d（再下降）、</a:t>
            </a:r>
          </a:p>
          <a:p>
            <a:r>
              <a:t>　拡張期に e（重複切痕に相当）の5つの極値が定義される。</a:t>
            </a:r>
          </a:p>
          <a:p>
            <a:r>
              <a:t>・b/a：加齢で増加。大血管の硬さ側の指標。</a:t>
            </a:r>
          </a:p>
          <a:p>
            <a:r>
              <a:t>・d/a：血管作動薬で鋭敏に動く。末梢トーヌス側の指標（負の値をとる）。</a:t>
            </a:r>
          </a:p>
          <a:p>
            <a:r>
              <a:t>・AGI（加齢指数／aging index）＝ (b − c − d − e) / a。</a:t>
            </a:r>
          </a:p>
          <a:p>
            <a:endParaRPr/>
          </a:p>
          <a:p>
            <a:r>
              <a:t>① Takazawa K, et al. Hypertension 1998;32:365–70.（PMID 9719069）</a:t>
            </a:r>
          </a:p>
          <a:p>
            <a:r>
              <a:t>・研究1：上行大動脈圧を同時記録した患者39名（平均54±11歳）。</a:t>
            </a:r>
          </a:p>
          <a:p>
            <a:r>
              <a:t>　上行大動脈圧はアンジオテンシン負荷で 126/74 → 160/91 mmHg、ニトログリセリンで 111/73 mmHg。</a:t>
            </a:r>
          </a:p>
          <a:p>
            <a:r>
              <a:t>　d/a はアンジオテンシンで −0.40±0.13 → −0.62±0.19、ニトログリセリンで −0.25±0.12（いずれも P&lt;0.001）。</a:t>
            </a:r>
          </a:p>
          <a:p>
            <a:r>
              <a:t>　＝血管収縮で d/a はより負に、血管拡張で 0 に近づく。</a:t>
            </a:r>
          </a:p>
          <a:p>
            <a:r>
              <a:t>　負の d/a は 容積脈波 AIx と r=0.79、上行大動脈 AIx と r=0.80（いずれも P&lt;0.001）。</a:t>
            </a:r>
          </a:p>
          <a:p>
            <a:r>
              <a:t>・研究2：健診受診者600名（30代〜80代、各年代男女50名ずつ）。</a:t>
            </a:r>
          </a:p>
          <a:p>
            <a:r>
              <a:t>　b/a は加齢で増加、c/a・d/a・e/a は減少。加齢指数は y = 0.023x − 1.515（r=0.80、P&lt;0.001）。</a:t>
            </a:r>
          </a:p>
          <a:p>
            <a:r>
              <a:t>　糖尿病・高血圧・高コレステロール血症・虚血性心疾患のいずれかの既往を持つ126名の加齢指数は</a:t>
            </a:r>
          </a:p>
          <a:p>
            <a:r>
              <a:t>　−0.06±0.36 で、年齢マッチ対照 −0.22±0.41 より高値（P&lt;0.01）。女性が男性より高値（P&lt;0.01）。</a:t>
            </a:r>
          </a:p>
          <a:p>
            <a:endParaRPr/>
          </a:p>
          <a:p>
            <a:r>
              <a:t>② Bortolotto LA, et al. Am J Hypertens 2000;13:165–71.（PMID 10701816）</a:t>
            </a:r>
          </a:p>
          <a:p>
            <a:r>
              <a:t>・連続した本態性高血圧患者524例。うち動脈硬化性病変（AA）を有するもの140例。</a:t>
            </a:r>
          </a:p>
          <a:p>
            <a:r>
              <a:t>・AA 群 vs 非 AA 群：PWV 14.9±4 vs 12.4±2 m/s（P&lt;.001）、</a:t>
            </a:r>
          </a:p>
          <a:p>
            <a:r>
              <a:t>　SDPTG 加齢指数 −0.093±0.03 vs −0.271±0.018（P&lt;.001）、PTG AUI 0.322±0.16 vs 0.252±0.09（P&lt;.001）。</a:t>
            </a:r>
          </a:p>
          <a:p>
            <a:r>
              <a:t>・60歳以下では PWV のみ AA 群で高く、60歳超では PWV と SDPTG AI の両方が高値。</a:t>
            </a:r>
          </a:p>
          <a:p>
            <a:r>
              <a:t>・ただし AA の有無に対するロジスティック回帰では PWV が有意な独立規定因子で、</a:t>
            </a:r>
          </a:p>
          <a:p>
            <a:r>
              <a:t>　SDPTG-AI の寄与は弱かった。＝「高血圧患者の血管加齢評価に有用」という限定つきの結論。</a:t>
            </a:r>
          </a:p>
          <a:p>
            <a:endParaRPr/>
          </a:p>
          <a:p>
            <a:r>
              <a:t>③ Hashimoto J, et al. J Hypertens 2002;20:2415–22.（PMID 12473866）</a:t>
            </a:r>
          </a:p>
          <a:p>
            <a:r>
              <a:t>・治療中の高血圧患者294名（32〜91歳、平均61.4±10.5歳）。</a:t>
            </a:r>
          </a:p>
          <a:p>
            <a:r>
              <a:t>・重回帰で年齢・収縮期血圧・心拍数が PWV と独立に正相関。SDPTG 指標は年齢・血圧と独立に関連し、</a:t>
            </a:r>
          </a:p>
          <a:p>
            <a:r>
              <a:t>　D:A 比・AGI とは正、B:A 比とは負の相関。心拍数は D:A 比・AGI と負、B:A 比と正の相関。</a:t>
            </a:r>
          </a:p>
          <a:p>
            <a:r>
              <a:t>・PWV と SDPTG 指標は年齢・血圧という共通因子を持つが相互の相関は弱く、</a:t>
            </a:r>
          </a:p>
          <a:p>
            <a:r>
              <a:t>　中心部と末梢部の動脈特性について異なる情報を与えると結論。</a:t>
            </a:r>
          </a:p>
          <a:p>
            <a:endParaRPr/>
          </a:p>
          <a:p>
            <a:r>
              <a:t>読み方</a:t>
            </a:r>
          </a:p>
          <a:p>
            <a:r>
              <a:t>・d/a は「いま効いている薬・いまのトーヌス」を映す急性軸、AGI は「その人の血管年齢」を映す</a:t>
            </a:r>
          </a:p>
          <a:p>
            <a:r>
              <a:t>　半ば固定的な慢性軸。この二軸で読むのが SDPPG の使い方（6章の2軸整理につながる）。</a:t>
            </a:r>
          </a:p>
          <a:p>
            <a:r>
              <a:t>・限界：二次微分は高周波ノイズを2乗で増幅するため、平滑化・帯域制限の設定（サンプリング周波数、</a:t>
            </a:r>
          </a:p>
          <a:p>
            <a:r>
              <a:t>　カットオフ、差分幅）で b/a・d/a の値が変わる。文献間で数値を直接比べられないのはこのため。</a:t>
            </a:r>
          </a:p>
          <a:p>
            <a:r>
              <a:t>・b/a（大血管側）は再現性が比較的良いが、d/a・e/a（小血管側）は再現性が落ちる。</a:t>
            </a:r>
          </a:p>
          <a:p>
            <a:endParaRPr/>
          </a:p>
        </p:txBody>
      </p:sp>
      <p:sp>
        <p:nvSpPr>
          <p:cNvPr id="4" name="Slide Number Placeholder 3">
            <a:extLst>
              <a:ext uri="{FF2B5EF4-FFF2-40B4-BE49-F238E27FC236}">
                <a16:creationId xmlns:a16="http://schemas.microsoft.com/office/drawing/2014/main" id="{1D49C0F2-6B65-348A-402D-68732588F490}"/>
              </a:ext>
            </a:extLst>
          </p:cNvPr>
          <p:cNvSpPr>
            <a:spLocks noGrp="1"/>
          </p:cNvSpPr>
          <p:nvPr>
            <p:ph type="sldNum" sz="quarter" idx="5"/>
          </p:nvPr>
        </p:nvSpPr>
        <p:spPr/>
      </p:sp>
    </p:spTree>
    <p:extLst>
      <p:ext uri="{BB962C8B-B14F-4D97-AF65-F5344CB8AC3E}">
        <p14:creationId xmlns:p14="http://schemas.microsoft.com/office/powerpoint/2010/main" val="320984462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5.3 SDPPG は何を測れたか（前ページの改善案）</a:t>
            </a:r>
          </a:p>
          <a:p>
            <a:endParaRPr/>
          </a:p>
          <a:p>
            <a:r>
              <a:t>前ページは「文献名 → 知見」を 5 行並べる形だった。何が言えて何が言えないのかを</a:t>
            </a:r>
          </a:p>
          <a:p>
            <a:r>
              <a:t>つかみやすくするため、**問いの軸で 3 列に組み替えた**のがこのページである。</a:t>
            </a:r>
          </a:p>
          <a:p>
            <a:endParaRPr/>
          </a:p>
          <a:p>
            <a:r>
              <a:t>【急性のトーヌス軸：○】</a:t>
            </a:r>
          </a:p>
          <a:p>
            <a:r>
              <a:t>・24. Takazawa 1998：上行大動脈圧を同時記録した 39 名。d/a はアンジオテンシン II で</a:t>
            </a:r>
          </a:p>
          <a:p>
            <a:r>
              <a:t>　−0.40±0.13 → −0.62±0.19、ニトログリセリンで −0.25±0.12（いずれも P&lt;0.001）。</a:t>
            </a:r>
          </a:p>
          <a:p>
            <a:r>
              <a:t>　血管収縮で d/a はより負に、血管拡張で 0 に近づく。＝薬理学的に鋭敏に動く。</a:t>
            </a:r>
          </a:p>
          <a:p>
            <a:endParaRPr/>
          </a:p>
          <a:p>
            <a:r>
              <a:t>【慢性の加齢軸：○】</a:t>
            </a:r>
          </a:p>
          <a:p>
            <a:r>
              <a:t>・24. Takazawa 1998：健診受診者 600 名。加齢指数 AGI は y = 0.023x − 1.515（r=0.80, P&lt;0.001）。</a:t>
            </a:r>
          </a:p>
          <a:p>
            <a:r>
              <a:t>・26. Otsuka 2006：一般集団 211 名。SDPTG 指標は Framingham risk score と相関</a:t>
            </a:r>
          </a:p>
          <a:p>
            <a:r>
              <a:t>　（b/a r=0.43(男)/0.54(女)、d/a r=−0.38/−0.58）。高リスク者の判別は感度・特異度とも 0.85。</a:t>
            </a:r>
          </a:p>
          <a:p>
            <a:endParaRPr/>
          </a:p>
          <a:p>
            <a:r>
              <a:t>【臓器障害・動脈硬化軸：×】</a:t>
            </a:r>
          </a:p>
          <a:p>
            <a:r>
              <a:t>・25. Bortolotto 2000：高血圧 524 例。動脈硬化性病変あり群で AGI −0.093 vs なし −0.271（P&lt;.001）</a:t>
            </a:r>
          </a:p>
          <a:p>
            <a:r>
              <a:t>　だが、ロジスティック回帰では PWV が有意な独立規定因子で SDPTG-AI の寄与は弱かった。</a:t>
            </a:r>
          </a:p>
          <a:p>
            <a:r>
              <a:t>・27. Tabara 2016（J-SHIPP）：b/a・d/a・AGI の強い規定因子は年齢・性・収縮期血圧・心拍数で、</a:t>
            </a:r>
          </a:p>
          <a:p>
            <a:r>
              <a:t>　頸動脈 IMT など臓器障害との関連は弱いか有意でない（b/a で β=0.069, P=0.002）。</a:t>
            </a:r>
          </a:p>
          <a:p>
            <a:endParaRPr/>
          </a:p>
          <a:p>
            <a:r>
              <a:t>【位置づけ】</a:t>
            </a:r>
          </a:p>
          <a:p>
            <a:r>
              <a:t>・16. Hashimoto 2002：治療中高血圧 294 名。PWV と SDPTG 指標は年齢・血圧という共通因子を</a:t>
            </a:r>
          </a:p>
          <a:p>
            <a:r>
              <a:t>　持つが相互の相関は弱く、中心部と末梢部について異なる情報を与える。</a:t>
            </a:r>
          </a:p>
          <a:p>
            <a:r>
              <a:t>　＝ SDPPG は PWV の代用ではない。別の軸として扱う。</a:t>
            </a:r>
          </a:p>
          <a:p>
            <a:endParaRPr/>
          </a:p>
          <a:p>
            <a:r>
              <a:t>【まとめ】</a:t>
            </a:r>
          </a:p>
          <a:p>
            <a:r>
              <a:t>SDPPG は「いま血管トーヌスがどう動いたか」と「年齢相応か」には答えられるが、</a:t>
            </a:r>
          </a:p>
          <a:p>
            <a:r>
              <a:t>「臓器障害があるか」には単独では答えられない。</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23EE6-4D26-652B-390C-6C5CF42257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B697D-4BCF-08AA-6BC8-78CB39215A2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7117ECD-EF2E-3790-EFB6-5445C57B9497}"/>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AA052C56-A64C-6701-08AD-D42F39C65B58}"/>
              </a:ext>
            </a:extLst>
          </p:cNvPr>
          <p:cNvSpPr>
            <a:spLocks noGrp="1"/>
          </p:cNvSpPr>
          <p:nvPr>
            <p:ph type="sldNum" sz="quarter" idx="5"/>
          </p:nvPr>
        </p:nvSpPr>
        <p:spPr/>
      </p:sp>
    </p:spTree>
    <p:extLst>
      <p:ext uri="{BB962C8B-B14F-4D97-AF65-F5344CB8AC3E}">
        <p14:creationId xmlns:p14="http://schemas.microsoft.com/office/powerpoint/2010/main" val="119463458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655AD-E244-D23A-4297-E6F28FA3D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973239-F92D-11DF-4446-9542B5CE3DB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73FD843-3800-0778-4849-6DA8FCA1CFB3}"/>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58E3A687-86C5-FF92-B3E2-6DA642E12B9F}"/>
              </a:ext>
            </a:extLst>
          </p:cNvPr>
          <p:cNvSpPr>
            <a:spLocks noGrp="1"/>
          </p:cNvSpPr>
          <p:nvPr>
            <p:ph type="sldNum" sz="quarter" idx="5"/>
          </p:nvPr>
        </p:nvSpPr>
        <p:spPr/>
      </p:sp>
    </p:spTree>
    <p:extLst>
      <p:ext uri="{BB962C8B-B14F-4D97-AF65-F5344CB8AC3E}">
        <p14:creationId xmlns:p14="http://schemas.microsoft.com/office/powerpoint/2010/main" val="63939011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6299A-76F4-5E53-39C2-CD7F997FE8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92A9B8-01B6-0359-CB06-637718E150C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FEC65F3-2C03-6E50-C084-608BC09B746F}"/>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EE5FF02B-6996-28EF-500A-81C33090C21D}"/>
              </a:ext>
            </a:extLst>
          </p:cNvPr>
          <p:cNvSpPr>
            <a:spLocks noGrp="1"/>
          </p:cNvSpPr>
          <p:nvPr>
            <p:ph type="sldNum" sz="quarter" idx="5"/>
          </p:nvPr>
        </p:nvSpPr>
        <p:spPr/>
      </p:sp>
    </p:spTree>
    <p:extLst>
      <p:ext uri="{BB962C8B-B14F-4D97-AF65-F5344CB8AC3E}">
        <p14:creationId xmlns:p14="http://schemas.microsoft.com/office/powerpoint/2010/main" val="192740939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41F5D-907A-5408-2294-D1635E782A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35D77E-A48D-4F10-7339-A6CAF0EBCBC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9E5749B-2AB0-7A13-E720-36673C05486B}"/>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D9CD6C61-19E9-2FCF-01B9-2341E17E4A2D}"/>
              </a:ext>
            </a:extLst>
          </p:cNvPr>
          <p:cNvSpPr>
            <a:spLocks noGrp="1"/>
          </p:cNvSpPr>
          <p:nvPr>
            <p:ph type="sldNum" sz="quarter" idx="5"/>
          </p:nvPr>
        </p:nvSpPr>
        <p:spPr/>
      </p:sp>
    </p:spTree>
    <p:extLst>
      <p:ext uri="{BB962C8B-B14F-4D97-AF65-F5344CB8AC3E}">
        <p14:creationId xmlns:p14="http://schemas.microsoft.com/office/powerpoint/2010/main" val="211713842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FF680-1AF7-27A2-6E26-FA391AFDC7E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05936F0-B182-F864-0D92-28F29E275FE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D9A86F4-E3C4-8497-E2A0-5435CE526A90}"/>
              </a:ext>
            </a:extLst>
          </p:cNvPr>
          <p:cNvSpPr>
            <a:spLocks noGrp="1"/>
          </p:cNvSpPr>
          <p:nvPr>
            <p:ph type="body" idx="1"/>
          </p:nvPr>
        </p:nvSpPr>
        <p:spPr/>
        <p:txBody>
          <a:bodyPr/>
          <a:lstStyle/>
          <a:p>
            <a:r>
              <a:rPr dirty="0"/>
              <a:t>読み方は2軸に整理する。左＝慢性（反射・スティフネス軸）、</a:t>
            </a:r>
            <a:r>
              <a:rPr dirty="0" err="1"/>
              <a:t>右＝急性（血管トーヌス軸</a:t>
            </a:r>
            <a:r>
              <a:rPr dirty="0"/>
              <a:t>）。</a:t>
            </a:r>
          </a:p>
          <a:p>
            <a:endParaRPr dirty="0"/>
          </a:p>
          <a:p>
            <a:r>
              <a:rPr dirty="0"/>
              <a:t>【</a:t>
            </a:r>
            <a:r>
              <a:rPr dirty="0" err="1"/>
              <a:t>左軸に足した一行：SI</a:t>
            </a:r>
            <a:r>
              <a:rPr dirty="0"/>
              <a:t> </a:t>
            </a:r>
            <a:r>
              <a:rPr dirty="0" err="1"/>
              <a:t>は血圧に強く依存する</a:t>
            </a:r>
            <a:r>
              <a:rPr dirty="0"/>
              <a:t>】</a:t>
            </a:r>
          </a:p>
          <a:p>
            <a:r>
              <a:rPr dirty="0"/>
              <a:t>SI </a:t>
            </a:r>
            <a:r>
              <a:rPr dirty="0" err="1"/>
              <a:t>は「大動脈</a:t>
            </a:r>
            <a:r>
              <a:rPr dirty="0"/>
              <a:t> PWV </a:t>
            </a:r>
            <a:r>
              <a:rPr dirty="0" err="1"/>
              <a:t>の代用」だが、PWV</a:t>
            </a:r>
            <a:r>
              <a:rPr dirty="0"/>
              <a:t> </a:t>
            </a:r>
            <a:r>
              <a:rPr dirty="0" err="1"/>
              <a:t>自体が測定時の伸展圧（血圧）に強く依存する</a:t>
            </a:r>
            <a:r>
              <a:rPr dirty="0"/>
              <a:t>。</a:t>
            </a:r>
          </a:p>
          <a:p>
            <a:r>
              <a:rPr dirty="0"/>
              <a:t>・</a:t>
            </a:r>
            <a:r>
              <a:rPr dirty="0" err="1"/>
              <a:t>機序：低い血圧では壁の張力をエラスチンが負担するが、血圧が上がるほど、より硬いコラーゲンが</a:t>
            </a:r>
            <a:endParaRPr dirty="0"/>
          </a:p>
          <a:p>
            <a:r>
              <a:rPr dirty="0"/>
              <a:t>　</a:t>
            </a:r>
            <a:r>
              <a:rPr dirty="0" err="1"/>
              <a:t>荷重を担うようになる（Charlton</a:t>
            </a:r>
            <a:r>
              <a:rPr dirty="0"/>
              <a:t> 2022 </a:t>
            </a:r>
            <a:r>
              <a:rPr dirty="0" err="1"/>
              <a:t>VascAgeNet</a:t>
            </a:r>
            <a:r>
              <a:rPr dirty="0"/>
              <a:t> </a:t>
            </a:r>
            <a:r>
              <a:rPr dirty="0" err="1"/>
              <a:t>総説</a:t>
            </a:r>
            <a:r>
              <a:rPr dirty="0"/>
              <a:t>, Am J </a:t>
            </a:r>
            <a:r>
              <a:rPr dirty="0" err="1"/>
              <a:t>Physiol</a:t>
            </a:r>
            <a:r>
              <a:rPr dirty="0"/>
              <a:t> Heart Circ </a:t>
            </a:r>
            <a:r>
              <a:rPr dirty="0" err="1"/>
              <a:t>Physiol</a:t>
            </a:r>
            <a:r>
              <a:rPr dirty="0"/>
              <a:t> 322:H493）。</a:t>
            </a:r>
          </a:p>
          <a:p>
            <a:r>
              <a:rPr dirty="0"/>
              <a:t>　</a:t>
            </a:r>
            <a:r>
              <a:rPr dirty="0" err="1"/>
              <a:t>つまり同じ血管でも「今の血圧」が高いほど硬く測れる</a:t>
            </a:r>
            <a:r>
              <a:rPr dirty="0"/>
              <a:t>。</a:t>
            </a:r>
          </a:p>
          <a:p>
            <a:r>
              <a:rPr dirty="0"/>
              <a:t>・</a:t>
            </a:r>
            <a:r>
              <a:rPr dirty="0" err="1"/>
              <a:t>降圧治療のメタ解析：PWV</a:t>
            </a:r>
            <a:r>
              <a:rPr dirty="0"/>
              <a:t> </a:t>
            </a:r>
            <a:r>
              <a:rPr dirty="0" err="1"/>
              <a:t>の低下は平均血圧</a:t>
            </a:r>
            <a:r>
              <a:rPr dirty="0"/>
              <a:t> −10 mmHg </a:t>
            </a:r>
            <a:r>
              <a:rPr dirty="0" err="1"/>
              <a:t>あたり</a:t>
            </a:r>
            <a:r>
              <a:rPr dirty="0"/>
              <a:t> −0.65 m/s（95%CI −0.46〜−0.83）で、</a:t>
            </a:r>
          </a:p>
          <a:p>
            <a:r>
              <a:rPr dirty="0"/>
              <a:t>　</a:t>
            </a:r>
            <a:r>
              <a:rPr dirty="0" err="1"/>
              <a:t>これは経壁圧を急性に変えたときの変化とほぼ同じ大きさ</a:t>
            </a:r>
            <a:r>
              <a:rPr dirty="0"/>
              <a:t>。＝</a:t>
            </a:r>
            <a:r>
              <a:rPr dirty="0" err="1"/>
              <a:t>治療による</a:t>
            </a:r>
            <a:r>
              <a:rPr dirty="0"/>
              <a:t> PWV </a:t>
            </a:r>
            <a:r>
              <a:rPr dirty="0" err="1"/>
              <a:t>低下の大部分は</a:t>
            </a:r>
            <a:endParaRPr dirty="0"/>
          </a:p>
          <a:p>
            <a:r>
              <a:rPr dirty="0"/>
              <a:t>　</a:t>
            </a:r>
            <a:r>
              <a:rPr dirty="0" err="1"/>
              <a:t>血圧低下で説明される（McNally</a:t>
            </a:r>
            <a:r>
              <a:rPr dirty="0"/>
              <a:t> R, et al. Hypertension 2024）。</a:t>
            </a:r>
          </a:p>
          <a:p>
            <a:r>
              <a:rPr dirty="0"/>
              <a:t>・</a:t>
            </a:r>
            <a:r>
              <a:rPr dirty="0" err="1"/>
              <a:t>昇圧薬による急性変化：L-NMMA・ノルアドレナリン・ドブタミンで</a:t>
            </a:r>
            <a:r>
              <a:rPr dirty="0"/>
              <a:t> </a:t>
            </a:r>
            <a:r>
              <a:rPr dirty="0" err="1"/>
              <a:t>cf</a:t>
            </a:r>
            <a:r>
              <a:rPr dirty="0"/>
              <a:t>-PWV </a:t>
            </a:r>
            <a:r>
              <a:rPr dirty="0" err="1"/>
              <a:t>を動かすと、その変化量は</a:t>
            </a:r>
            <a:endParaRPr dirty="0"/>
          </a:p>
          <a:p>
            <a:r>
              <a:rPr dirty="0"/>
              <a:t>　</a:t>
            </a:r>
            <a:r>
              <a:rPr dirty="0" err="1"/>
              <a:t>平均血圧の変化量とほぼ完全に相関した（R</a:t>
            </a:r>
            <a:r>
              <a:rPr dirty="0"/>
              <a:t>&gt;0.99, P&lt;0.0001）（Stewart AD, </a:t>
            </a:r>
            <a:r>
              <a:rPr dirty="0" err="1"/>
              <a:t>Millasseau</a:t>
            </a:r>
            <a:r>
              <a:rPr dirty="0"/>
              <a:t> SC, et al.</a:t>
            </a:r>
          </a:p>
          <a:p>
            <a:r>
              <a:rPr dirty="0"/>
              <a:t>　Hypertension 2003;42:915）。</a:t>
            </a:r>
          </a:p>
          <a:p>
            <a:r>
              <a:rPr dirty="0"/>
              <a:t>・</a:t>
            </a:r>
            <a:r>
              <a:rPr dirty="0" err="1"/>
              <a:t>指尖</a:t>
            </a:r>
            <a:r>
              <a:rPr dirty="0"/>
              <a:t> PPG </a:t>
            </a:r>
            <a:r>
              <a:rPr dirty="0" err="1"/>
              <a:t>で直接見た研究：健常者で</a:t>
            </a:r>
            <a:r>
              <a:rPr dirty="0"/>
              <a:t> SI </a:t>
            </a:r>
            <a:r>
              <a:rPr dirty="0" err="1"/>
              <a:t>は収縮期・拡張期血圧と有意に相関したが、RI</a:t>
            </a:r>
            <a:r>
              <a:rPr dirty="0"/>
              <a:t> </a:t>
            </a:r>
            <a:r>
              <a:rPr dirty="0" err="1"/>
              <a:t>はどちらとも</a:t>
            </a:r>
            <a:endParaRPr dirty="0"/>
          </a:p>
          <a:p>
            <a:r>
              <a:rPr dirty="0"/>
              <a:t>　</a:t>
            </a:r>
            <a:r>
              <a:rPr dirty="0" err="1"/>
              <a:t>相関しなかった（Padilla</a:t>
            </a:r>
            <a:r>
              <a:rPr dirty="0"/>
              <a:t> JM, et al. Cardiovasc Eng 2009;9:104）。</a:t>
            </a:r>
          </a:p>
          <a:p>
            <a:r>
              <a:rPr dirty="0"/>
              <a:t>　＝「SI </a:t>
            </a:r>
            <a:r>
              <a:rPr dirty="0" err="1"/>
              <a:t>は血圧側、RI</a:t>
            </a:r>
            <a:r>
              <a:rPr dirty="0"/>
              <a:t> </a:t>
            </a:r>
            <a:r>
              <a:rPr dirty="0" err="1"/>
              <a:t>はトーヌス側」という</a:t>
            </a:r>
            <a:r>
              <a:rPr dirty="0"/>
              <a:t> 2軸の分担と整合する。</a:t>
            </a:r>
          </a:p>
          <a:p>
            <a:endParaRPr dirty="0"/>
          </a:p>
          <a:p>
            <a:r>
              <a:rPr dirty="0"/>
              <a:t>→ </a:t>
            </a:r>
            <a:r>
              <a:rPr dirty="0" err="1"/>
              <a:t>読み替え：術中に</a:t>
            </a:r>
            <a:r>
              <a:rPr dirty="0"/>
              <a:t> SI </a:t>
            </a:r>
            <a:r>
              <a:rPr dirty="0" err="1"/>
              <a:t>が短時間で動いたら、それは「血管が硬くなった」のではなく</a:t>
            </a:r>
            <a:endParaRPr dirty="0"/>
          </a:p>
          <a:p>
            <a:r>
              <a:rPr dirty="0"/>
              <a:t>　「</a:t>
            </a:r>
            <a:r>
              <a:rPr dirty="0" err="1"/>
              <a:t>血圧が変わった」を見ている可能性が高い。硬さの指標としては弱点だが</a:t>
            </a:r>
            <a:r>
              <a:rPr dirty="0"/>
              <a:t>、</a:t>
            </a:r>
          </a:p>
          <a:p>
            <a:r>
              <a:rPr dirty="0"/>
              <a:t>　</a:t>
            </a:r>
            <a:r>
              <a:rPr dirty="0" err="1"/>
              <a:t>裏返せば</a:t>
            </a:r>
            <a:r>
              <a:rPr dirty="0"/>
              <a:t> SI（＝</a:t>
            </a:r>
            <a:r>
              <a:rPr dirty="0" err="1"/>
              <a:t>時相の軸）は血圧トレンドのモニターとして使える余地がある、という言い方ができる</a:t>
            </a:r>
            <a:r>
              <a:rPr dirty="0"/>
              <a:t>。</a:t>
            </a:r>
          </a:p>
          <a:p>
            <a:endParaRPr dirty="0"/>
          </a:p>
          <a:p>
            <a:r>
              <a:rPr dirty="0"/>
              <a:t>【</a:t>
            </a:r>
            <a:r>
              <a:rPr dirty="0" err="1"/>
              <a:t>慎重に言うべきこと</a:t>
            </a:r>
            <a:r>
              <a:rPr dirty="0"/>
              <a:t>】</a:t>
            </a:r>
          </a:p>
          <a:p>
            <a:r>
              <a:rPr dirty="0"/>
              <a:t>・</a:t>
            </a:r>
            <a:r>
              <a:rPr dirty="0" err="1"/>
              <a:t>Millasseau</a:t>
            </a:r>
            <a:r>
              <a:rPr dirty="0"/>
              <a:t> 2003（Am J </a:t>
            </a:r>
            <a:r>
              <a:rPr dirty="0" err="1"/>
              <a:t>Hypertens</a:t>
            </a:r>
            <a:r>
              <a:rPr dirty="0"/>
              <a:t> 16:467）では、SI_DVP </a:t>
            </a:r>
            <a:r>
              <a:rPr dirty="0" err="1"/>
              <a:t>はアンジオテンシンII・GTN</a:t>
            </a:r>
            <a:r>
              <a:rPr dirty="0"/>
              <a:t> </a:t>
            </a:r>
            <a:r>
              <a:rPr dirty="0" err="1"/>
              <a:t>でほとんど動かなかった</a:t>
            </a:r>
            <a:r>
              <a:rPr dirty="0"/>
              <a:t>。</a:t>
            </a:r>
          </a:p>
          <a:p>
            <a:r>
              <a:rPr dirty="0"/>
              <a:t>　</a:t>
            </a:r>
            <a:r>
              <a:rPr dirty="0" err="1"/>
              <a:t>薬剤ごとに「血圧を上げても大動脈の見かけの硬さは動かない」ことがあり、SI</a:t>
            </a:r>
            <a:r>
              <a:rPr dirty="0"/>
              <a:t> ＝ </a:t>
            </a:r>
            <a:r>
              <a:rPr dirty="0" err="1"/>
              <a:t>血圧、と単純化はできない</a:t>
            </a:r>
            <a:r>
              <a:rPr dirty="0"/>
              <a:t>。</a:t>
            </a:r>
          </a:p>
          <a:p>
            <a:r>
              <a:rPr dirty="0"/>
              <a:t>・SI </a:t>
            </a:r>
            <a:r>
              <a:rPr dirty="0" err="1"/>
              <a:t>自体が</a:t>
            </a:r>
            <a:r>
              <a:rPr dirty="0"/>
              <a:t> </a:t>
            </a:r>
            <a:r>
              <a:rPr dirty="0" err="1"/>
              <a:t>cf</a:t>
            </a:r>
            <a:r>
              <a:rPr dirty="0"/>
              <a:t>-PWV の代用として個人単位では不十分（r≈0.65、Bland–Altman ±4 m/s </a:t>
            </a:r>
            <a:r>
              <a:rPr dirty="0" err="1"/>
              <a:t>程度、Millasseau</a:t>
            </a:r>
            <a:r>
              <a:rPr dirty="0"/>
              <a:t> 2002）。</a:t>
            </a:r>
          </a:p>
          <a:p>
            <a:r>
              <a:rPr dirty="0"/>
              <a:t>・</a:t>
            </a:r>
            <a:r>
              <a:rPr dirty="0" err="1"/>
              <a:t>したがって「血圧トレンドの指標にもなりうる（かもしれない</a:t>
            </a:r>
            <a:r>
              <a:rPr dirty="0"/>
              <a:t>）」</a:t>
            </a:r>
            <a:r>
              <a:rPr dirty="0" err="1"/>
              <a:t>という仮説として提示し</a:t>
            </a:r>
            <a:r>
              <a:rPr dirty="0"/>
              <a:t>、</a:t>
            </a:r>
          </a:p>
          <a:p>
            <a:r>
              <a:rPr dirty="0"/>
              <a:t>　</a:t>
            </a:r>
            <a:r>
              <a:rPr dirty="0" err="1"/>
              <a:t>絶対値ではなく同一患者内の相対変化として扱う、という限定を必ず添える</a:t>
            </a:r>
            <a:r>
              <a:rPr dirty="0"/>
              <a:t>。</a:t>
            </a:r>
          </a:p>
          <a:p>
            <a:endParaRPr dirty="0"/>
          </a:p>
          <a:p>
            <a:r>
              <a:rPr dirty="0"/>
              <a:t>（</a:t>
            </a:r>
            <a:r>
              <a:rPr dirty="0" err="1"/>
              <a:t>加齢性変化については</a:t>
            </a:r>
            <a:r>
              <a:rPr dirty="0"/>
              <a:t> Allen 2020 doi:10.1088/1361-6579/ab9b67、AIx </a:t>
            </a:r>
            <a:r>
              <a:rPr dirty="0" err="1"/>
              <a:t>は</a:t>
            </a:r>
            <a:r>
              <a:rPr dirty="0"/>
              <a:t> </a:t>
            </a:r>
            <a:r>
              <a:rPr dirty="0" err="1"/>
              <a:t>Pilt</a:t>
            </a:r>
            <a:r>
              <a:rPr dirty="0"/>
              <a:t> 2014 </a:t>
            </a:r>
            <a:r>
              <a:rPr dirty="0" err="1"/>
              <a:t>も参照</a:t>
            </a:r>
            <a:r>
              <a:rPr dirty="0"/>
              <a:t>）</a:t>
            </a:r>
          </a:p>
        </p:txBody>
      </p:sp>
      <p:sp>
        <p:nvSpPr>
          <p:cNvPr id="4" name="スライド番号プレースホルダー 3">
            <a:extLst>
              <a:ext uri="{FF2B5EF4-FFF2-40B4-BE49-F238E27FC236}">
                <a16:creationId xmlns:a16="http://schemas.microsoft.com/office/drawing/2014/main" id="{B9E26898-7377-D0F3-B712-B35D976C1465}"/>
              </a:ext>
            </a:extLst>
          </p:cNvPr>
          <p:cNvSpPr>
            <a:spLocks noGrp="1"/>
          </p:cNvSpPr>
          <p:nvPr>
            <p:ph type="sldNum" sz="quarter" idx="5"/>
          </p:nvPr>
        </p:nvSpPr>
        <p:spPr/>
        <p:txBody>
          <a:bodyPr/>
          <a:lstStyle/>
          <a:p>
            <a:fld id="{4368CECF-0771-D84F-8D42-085DB944B0B8}" type="slidenum">
              <a:rPr kumimoji="1" lang="ja-JP" altLang="en-US" smtClean="0"/>
              <a:t>67</a:t>
            </a:fld>
            <a:endParaRPr kumimoji="1" lang="ja-JP" altLang="en-US"/>
          </a:p>
        </p:txBody>
      </p:sp>
    </p:spTree>
    <p:extLst>
      <p:ext uri="{BB962C8B-B14F-4D97-AF65-F5344CB8AC3E}">
        <p14:creationId xmlns:p14="http://schemas.microsoft.com/office/powerpoint/2010/main" val="198853544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本手法の最大の実務的な壁は、SpO</a:t>
            </a:r>
            <a:r>
              <a:rPr dirty="0"/>
              <a:t>₂ </a:t>
            </a:r>
            <a:r>
              <a:rPr dirty="0" err="1"/>
              <a:t>波形の反射波が「いくつ・どこに出るか」が一定しないこと</a:t>
            </a:r>
            <a:r>
              <a:rPr dirty="0"/>
              <a:t>。</a:t>
            </a:r>
          </a:p>
          <a:p>
            <a:r>
              <a:rPr dirty="0"/>
              <a:t>・</a:t>
            </a:r>
            <a:r>
              <a:rPr dirty="0" err="1"/>
              <a:t>若年・低トーヌスでは反射波が</a:t>
            </a:r>
            <a:r>
              <a:rPr dirty="0"/>
              <a:t> 2 </a:t>
            </a:r>
            <a:r>
              <a:rPr dirty="0" err="1"/>
              <a:t>つ見えることがあり、どちらを</a:t>
            </a:r>
            <a:r>
              <a:rPr dirty="0"/>
              <a:t> P2 </a:t>
            </a:r>
            <a:r>
              <a:rPr dirty="0" err="1"/>
              <a:t>とするかが決まらない</a:t>
            </a:r>
            <a:endParaRPr dirty="0"/>
          </a:p>
          <a:p>
            <a:r>
              <a:rPr dirty="0"/>
              <a:t>・</a:t>
            </a:r>
            <a:r>
              <a:rPr dirty="0" err="1"/>
              <a:t>典型例では反射波が</a:t>
            </a:r>
            <a:r>
              <a:rPr dirty="0"/>
              <a:t> 1 </a:t>
            </a:r>
            <a:r>
              <a:rPr dirty="0" err="1"/>
              <a:t>つで、重複切痕も明瞭に取れる</a:t>
            </a:r>
            <a:endParaRPr dirty="0"/>
          </a:p>
          <a:p>
            <a:r>
              <a:rPr dirty="0"/>
              <a:t>・大動脈が硬い（高齢・高スティフネス）と反射波が収縮期ピークに融合し、P2 </a:t>
            </a:r>
            <a:r>
              <a:rPr dirty="0" err="1"/>
              <a:t>という「点」が</a:t>
            </a:r>
            <a:endParaRPr dirty="0"/>
          </a:p>
          <a:p>
            <a:r>
              <a:rPr dirty="0"/>
              <a:t>　</a:t>
            </a:r>
            <a:r>
              <a:rPr dirty="0" err="1"/>
              <a:t>そもそも存在しなくなる</a:t>
            </a:r>
            <a:endParaRPr dirty="0"/>
          </a:p>
          <a:p>
            <a:r>
              <a:rPr dirty="0"/>
              <a:t>・</a:t>
            </a:r>
            <a:r>
              <a:rPr dirty="0" err="1"/>
              <a:t>過減衰・DN-less</a:t>
            </a:r>
            <a:r>
              <a:rPr dirty="0"/>
              <a:t> </a:t>
            </a:r>
            <a:r>
              <a:rPr dirty="0" err="1"/>
              <a:t>の信号では切痕そのものが消える</a:t>
            </a:r>
            <a:endParaRPr dirty="0"/>
          </a:p>
          <a:p>
            <a:r>
              <a:rPr dirty="0"/>
              <a:t>SI </a:t>
            </a:r>
            <a:r>
              <a:rPr dirty="0" err="1"/>
              <a:t>も</a:t>
            </a:r>
            <a:r>
              <a:rPr dirty="0"/>
              <a:t> RI </a:t>
            </a:r>
            <a:r>
              <a:rPr dirty="0" err="1"/>
              <a:t>も</a:t>
            </a:r>
            <a:r>
              <a:rPr dirty="0"/>
              <a:t> </a:t>
            </a:r>
            <a:r>
              <a:rPr dirty="0" err="1"/>
              <a:t>AIx</a:t>
            </a:r>
            <a:r>
              <a:rPr dirty="0"/>
              <a:t> も「P1 </a:t>
            </a:r>
            <a:r>
              <a:rPr dirty="0" err="1"/>
              <a:t>と</a:t>
            </a:r>
            <a:r>
              <a:rPr dirty="0"/>
              <a:t> P2 </a:t>
            </a:r>
            <a:r>
              <a:rPr dirty="0" err="1"/>
              <a:t>が同定できること」を前提にした指標なので、この前提が崩れる</a:t>
            </a:r>
            <a:endParaRPr dirty="0"/>
          </a:p>
          <a:p>
            <a:r>
              <a:rPr dirty="0" err="1"/>
              <a:t>波形では計算自体が成立しない。つまり単一の閾値・ルールで全患者・全拍を自動解析することは</a:t>
            </a:r>
            <a:endParaRPr dirty="0"/>
          </a:p>
          <a:p>
            <a:r>
              <a:rPr dirty="0" err="1"/>
              <a:t>できない</a:t>
            </a:r>
            <a:r>
              <a:rPr dirty="0"/>
              <a:t>。</a:t>
            </a:r>
          </a:p>
          <a:p>
            <a:r>
              <a:rPr dirty="0" err="1"/>
              <a:t>実務上の対応は、SDPPG</a:t>
            </a:r>
            <a:r>
              <a:rPr dirty="0"/>
              <a:t> </a:t>
            </a:r>
            <a:r>
              <a:rPr dirty="0" err="1"/>
              <a:t>による変曲点検出、低品質拍の除外、そして絶対値ではなく</a:t>
            </a:r>
            <a:endParaRPr dirty="0"/>
          </a:p>
          <a:p>
            <a:r>
              <a:rPr dirty="0" err="1"/>
              <a:t>自己基準（同一患者内の相対変化）での運用</a:t>
            </a:r>
            <a:r>
              <a:rPr dirty="0"/>
              <a:t>。(</a:t>
            </a:r>
            <a:r>
              <a:rPr dirty="0" err="1"/>
              <a:t>Elgendi</a:t>
            </a:r>
            <a:r>
              <a:rPr dirty="0"/>
              <a:t> 2012)</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・動脈硬化が高度になると</a:t>
            </a:r>
            <a:r>
              <a:rPr kumimoji="1" lang="en" altLang="ja-JP" sz="1200" b="1" i="0" kern="1200" dirty="0">
                <a:solidFill>
                  <a:schemeClr val="tx1"/>
                </a:solidFill>
                <a:effectLst/>
                <a:latin typeface="+mn-lt"/>
                <a:ea typeface="+mn-ea"/>
                <a:cs typeface="+mn-cs"/>
              </a:rPr>
              <a:t>SDPPG</a:t>
            </a:r>
            <a:r>
              <a:rPr kumimoji="1" lang="ja-JP" altLang="en-US" sz="1200" b="1" i="0" kern="1200">
                <a:solidFill>
                  <a:schemeClr val="tx1"/>
                </a:solidFill>
                <a:effectLst/>
                <a:latin typeface="+mn-lt"/>
                <a:ea typeface="+mn-ea"/>
                <a:cs typeface="+mn-cs"/>
              </a:rPr>
              <a:t>の極値同定は困難になる</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これは複数の文献で明確に示されている。</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らの研究</a:t>
            </a:r>
            <a:r>
              <a:rPr kumimoji="1" lang="en-US" altLang="ja-JP" sz="1200" b="0" i="0" kern="1200" dirty="0">
                <a:solidFill>
                  <a:schemeClr val="tx1"/>
                </a:solidFill>
                <a:effectLst/>
                <a:latin typeface="+mn-lt"/>
                <a:ea typeface="+mn-ea"/>
                <a:cs typeface="+mn-cs"/>
              </a:rPr>
              <a:t>(428</a:t>
            </a:r>
            <a:r>
              <a:rPr kumimoji="1" lang="ja-JP" altLang="en-US" sz="1200" b="0" i="0" kern="1200">
                <a:solidFill>
                  <a:schemeClr val="tx1"/>
                </a:solidFill>
                <a:effectLst/>
                <a:latin typeface="+mn-lt"/>
                <a:ea typeface="+mn-ea"/>
                <a:cs typeface="+mn-cs"/>
              </a:rPr>
              <a:t>例、健診受診者</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では、</a:t>
            </a:r>
            <a:r>
              <a:rPr kumimoji="1" lang="ja-JP" altLang="en-US" sz="1200" b="1" i="0" kern="1200">
                <a:solidFill>
                  <a:schemeClr val="tx1"/>
                </a:solidFill>
                <a:effectLst/>
                <a:latin typeface="+mn-lt"/>
                <a:ea typeface="+mn-ea"/>
                <a:cs typeface="+mn-cs"/>
              </a:rPr>
              <a:t>加齢・動脈硬化が進行した対象では波形が歪み、重複切痕</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の位置が曖昧になることで、従来の指標である</a:t>
            </a:r>
            <a:r>
              <a:rPr kumimoji="1" lang="en" altLang="ja-JP" sz="1200" b="1" i="0" kern="1200" dirty="0">
                <a:solidFill>
                  <a:schemeClr val="tx1"/>
                </a:solidFill>
                <a:effectLst/>
                <a:latin typeface="+mn-lt"/>
                <a:ea typeface="+mn-ea"/>
                <a:cs typeface="+mn-cs"/>
              </a:rPr>
              <a:t>stiffness index(SI)</a:t>
            </a:r>
            <a:r>
              <a:rPr kumimoji="1" lang="ja-JP" altLang="en-US" sz="1200" b="1" i="0" kern="1200">
                <a:solidFill>
                  <a:schemeClr val="tx1"/>
                </a:solidFill>
                <a:effectLst/>
                <a:latin typeface="+mn-lt"/>
                <a:ea typeface="+mn-ea"/>
                <a:cs typeface="+mn-cs"/>
              </a:rPr>
              <a:t>と</a:t>
            </a:r>
            <a:r>
              <a:rPr kumimoji="1" lang="en" altLang="ja-JP" sz="1200" b="1" i="0" kern="1200" dirty="0">
                <a:solidFill>
                  <a:schemeClr val="tx1"/>
                </a:solidFill>
                <a:effectLst/>
                <a:latin typeface="+mn-lt"/>
                <a:ea typeface="+mn-ea"/>
                <a:cs typeface="+mn-cs"/>
              </a:rPr>
              <a:t>reflection index(RI)</a:t>
            </a:r>
            <a:r>
              <a:rPr kumimoji="1" lang="ja-JP" altLang="en-US" sz="1200" b="1" i="0" kern="1200">
                <a:solidFill>
                  <a:schemeClr val="tx1"/>
                </a:solidFill>
                <a:effectLst/>
                <a:latin typeface="+mn-lt"/>
                <a:ea typeface="+mn-ea"/>
                <a:cs typeface="+mn-cs"/>
              </a:rPr>
              <a:t>の正確な決定が妨げられる</a:t>
            </a:r>
            <a:r>
              <a:rPr kumimoji="1" lang="ja-JP" altLang="en-US" sz="1200" b="0" i="0" kern="1200">
                <a:solidFill>
                  <a:schemeClr val="tx1"/>
                </a:solidFill>
                <a:effectLst/>
                <a:latin typeface="+mn-lt"/>
                <a:ea typeface="+mn-ea"/>
                <a:cs typeface="+mn-cs"/>
              </a:rPr>
              <a:t>ことが報告されている。 </a:t>
            </a:r>
            <a:r>
              <a:rPr kumimoji="1" lang="en-US" altLang="ja-JP" sz="1200" b="0" i="0" kern="1200" dirty="0">
                <a:solidFill>
                  <a:schemeClr val="tx1"/>
                </a:solidFill>
                <a:effectLst/>
                <a:latin typeface="+mn-lt"/>
                <a:ea typeface="+mn-ea"/>
                <a:cs typeface="+mn-cs"/>
              </a:rPr>
              <a:t>Wu 2010</a:t>
            </a:r>
          </a:p>
          <a:p>
            <a:r>
              <a:rPr kumimoji="1" lang="ja-JP" altLang="en-US" sz="1200" b="0" i="0" kern="1200">
                <a:solidFill>
                  <a:schemeClr val="tx1"/>
                </a:solidFill>
                <a:effectLst/>
                <a:latin typeface="+mn-lt"/>
                <a:ea typeface="+mn-ea"/>
                <a:cs typeface="+mn-cs"/>
              </a:rPr>
              <a:t>・切痕不明瞭な患者は</a:t>
            </a:r>
            <a:r>
              <a:rPr kumimoji="1" lang="en-US" altLang="ja-JP" sz="1200" b="0" i="0" kern="1200" dirty="0" err="1">
                <a:solidFill>
                  <a:schemeClr val="tx1"/>
                </a:solidFill>
                <a:effectLst/>
                <a:latin typeface="+mn-lt"/>
                <a:ea typeface="+mn-ea"/>
                <a:cs typeface="+mn-cs"/>
              </a:rPr>
              <a:t>Ukbiobank</a:t>
            </a:r>
            <a:r>
              <a:rPr kumimoji="1" lang="ja-JP" altLang="en-US" sz="1200" b="0" i="0" kern="1200">
                <a:solidFill>
                  <a:schemeClr val="tx1"/>
                </a:solidFill>
                <a:effectLst/>
                <a:latin typeface="+mn-lt"/>
                <a:ea typeface="+mn-ea"/>
                <a:cs typeface="+mn-cs"/>
              </a:rPr>
              <a:t>で１４％　</a:t>
            </a:r>
            <a:r>
              <a:rPr kumimoji="1" lang="en-US" altLang="ja-JP" sz="1200" b="0" i="0" kern="1200" dirty="0">
                <a:solidFill>
                  <a:schemeClr val="tx1"/>
                </a:solidFill>
                <a:effectLst/>
                <a:latin typeface="+mn-lt"/>
                <a:ea typeface="+mn-ea"/>
                <a:cs typeface="+mn-cs"/>
              </a:rPr>
              <a:t>cuningham2023</a:t>
            </a: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同様に、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(2022)</a:t>
            </a:r>
            <a:r>
              <a:rPr kumimoji="1" lang="ja-JP" altLang="en-US" sz="1200" b="0" i="0" kern="1200">
                <a:solidFill>
                  <a:schemeClr val="tx1"/>
                </a:solidFill>
                <a:effectLst/>
                <a:latin typeface="+mn-lt"/>
                <a:ea typeface="+mn-ea"/>
                <a:cs typeface="+mn-cs"/>
              </a:rPr>
              <a:t>の別研究では、</a:t>
            </a:r>
            <a:r>
              <a:rPr kumimoji="1" lang="ja-JP" altLang="en-US" sz="1200" b="1" i="0" kern="1200">
                <a:solidFill>
                  <a:schemeClr val="tx1"/>
                </a:solidFill>
                <a:effectLst/>
                <a:latin typeface="+mn-lt"/>
                <a:ea typeface="+mn-ea"/>
                <a:cs typeface="+mn-cs"/>
              </a:rPr>
              <a:t>拡張期ピークが不明瞭で</a:t>
            </a:r>
            <a:r>
              <a:rPr kumimoji="1" lang="en" altLang="ja-JP" sz="1200" b="1" i="0" kern="1200" dirty="0">
                <a:solidFill>
                  <a:schemeClr val="tx1"/>
                </a:solidFill>
                <a:effectLst/>
                <a:latin typeface="+mn-lt"/>
                <a:ea typeface="+mn-ea"/>
                <a:cs typeface="+mn-cs"/>
              </a:rPr>
              <a:t>sin</a:t>
            </a:r>
            <a:r>
              <a:rPr kumimoji="1" lang="ja-JP" altLang="en-US" sz="1200" b="1" i="0" kern="1200">
                <a:solidFill>
                  <a:schemeClr val="tx1"/>
                </a:solidFill>
                <a:effectLst/>
                <a:latin typeface="+mn-lt"/>
                <a:ea typeface="+mn-ea"/>
                <a:cs typeface="+mn-cs"/>
              </a:rPr>
              <a:t>波様になった</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信号</a:t>
            </a:r>
            <a:r>
              <a:rPr kumimoji="1" lang="ja-JP" altLang="en-US" sz="1200" b="0" i="0" kern="1200">
                <a:solidFill>
                  <a:schemeClr val="tx1"/>
                </a:solidFill>
                <a:effectLst/>
                <a:latin typeface="+mn-lt"/>
                <a:ea typeface="+mn-ea"/>
                <a:cs typeface="+mn-cs"/>
              </a:rPr>
              <a:t>を定量的に識別する指標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sinusoidal ratio</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収縮期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拡張期ピーク間時間差、</a:t>
            </a:r>
            <a:r>
              <a:rPr kumimoji="1" lang="en" altLang="ja-JP" sz="1200" b="0" i="0" kern="1200" dirty="0">
                <a:solidFill>
                  <a:schemeClr val="tx1"/>
                </a:solidFill>
                <a:effectLst/>
                <a:latin typeface="+mn-lt"/>
                <a:ea typeface="+mn-ea"/>
                <a:cs typeface="+mn-cs"/>
              </a:rPr>
              <a:t>sin</a:t>
            </a:r>
            <a:r>
              <a:rPr kumimoji="1" lang="ja-JP" altLang="en-US" sz="1200" b="0" i="0" kern="1200">
                <a:solidFill>
                  <a:schemeClr val="tx1"/>
                </a:solidFill>
                <a:effectLst/>
                <a:latin typeface="+mn-lt"/>
                <a:ea typeface="+mn-ea"/>
                <a:cs typeface="+mn-cs"/>
              </a:rPr>
              <a:t>様波形の割合</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を提案しており、こうした「</a:t>
            </a:r>
            <a:r>
              <a:rPr kumimoji="1" lang="en" altLang="ja-JP" sz="1200" b="0" i="0" kern="1200" dirty="0">
                <a:solidFill>
                  <a:schemeClr val="tx1"/>
                </a:solidFill>
                <a:effectLst/>
                <a:latin typeface="+mn-lt"/>
                <a:ea typeface="+mn-ea"/>
                <a:cs typeface="+mn-cs"/>
              </a:rPr>
              <a:t>unapparent diastolic peak</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の症例が実臨床で相当数存在すること</a:t>
            </a:r>
            <a:r>
              <a:rPr kumimoji="1" lang="en-US" altLang="ja-JP" sz="1200" b="0" i="0" kern="1200" dirty="0">
                <a:solidFill>
                  <a:schemeClr val="tx1"/>
                </a:solidFill>
                <a:effectLst/>
                <a:latin typeface="+mn-lt"/>
                <a:ea typeface="+mn-ea"/>
                <a:cs typeface="+mn-cs"/>
              </a:rPr>
              <a:t>(40</a:t>
            </a:r>
            <a:r>
              <a:rPr kumimoji="1" lang="ja-JP" altLang="en-US" sz="1200" b="0" i="0" kern="1200">
                <a:solidFill>
                  <a:schemeClr val="tx1"/>
                </a:solidFill>
                <a:effectLst/>
                <a:latin typeface="+mn-lt"/>
                <a:ea typeface="+mn-ea"/>
                <a:cs typeface="+mn-cs"/>
              </a:rPr>
              <a:t>例中</a:t>
            </a:r>
            <a:r>
              <a:rPr kumimoji="1" lang="en-US" altLang="ja-JP" sz="1200" b="0" i="0" kern="1200" dirty="0">
                <a:solidFill>
                  <a:schemeClr val="tx1"/>
                </a:solidFill>
                <a:effectLst/>
                <a:latin typeface="+mn-lt"/>
                <a:ea typeface="+mn-ea"/>
                <a:cs typeface="+mn-cs"/>
              </a:rPr>
              <a:t>29</a:t>
            </a:r>
            <a:r>
              <a:rPr kumimoji="1" lang="ja-JP" altLang="en-US" sz="1200" b="0" i="0" kern="1200">
                <a:solidFill>
                  <a:schemeClr val="tx1"/>
                </a:solidFill>
                <a:effectLst/>
                <a:latin typeface="+mn-lt"/>
                <a:ea typeface="+mn-ea"/>
                <a:cs typeface="+mn-cs"/>
              </a:rPr>
              <a:t>例</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を示している。これは</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においても同様で、</a:t>
            </a:r>
            <a:r>
              <a:rPr kumimoji="1" lang="en" altLang="ja-JP" sz="1200" b="0" i="0" kern="1200" dirty="0" err="1">
                <a:solidFill>
                  <a:schemeClr val="tx1"/>
                </a:solidFill>
                <a:effectLst/>
                <a:latin typeface="+mn-lt"/>
                <a:ea typeface="+mn-ea"/>
                <a:cs typeface="+mn-cs"/>
              </a:rPr>
              <a:t>a〜e</a:t>
            </a:r>
            <a:r>
              <a:rPr kumimoji="1" lang="ja-JP" altLang="en-US" sz="1200" b="0" i="0" kern="1200">
                <a:solidFill>
                  <a:schemeClr val="tx1"/>
                </a:solidFill>
                <a:effectLst/>
                <a:latin typeface="+mn-lt"/>
                <a:ea typeface="+mn-ea"/>
                <a:cs typeface="+mn-cs"/>
              </a:rPr>
              <a:t>波の極値</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は加齢・動脈硬化とともに振幅が減弱・平坦化し、微分波形上でのピーク同定が不安定になりやすい。 </a:t>
            </a:r>
            <a:r>
              <a:rPr kumimoji="1" lang="en-US" altLang="ja-JP" sz="1200" b="0" i="0" kern="1200" dirty="0">
                <a:solidFill>
                  <a:schemeClr val="tx1"/>
                </a:solidFill>
                <a:effectLst/>
                <a:latin typeface="+mn-lt"/>
                <a:ea typeface="+mn-ea"/>
                <a:cs typeface="+mn-cs"/>
              </a:rPr>
              <a:t>[3-5]</a:t>
            </a:r>
          </a:p>
          <a:p>
            <a:r>
              <a:rPr kumimoji="1" lang="ja-JP" altLang="en-US" sz="1200" b="1" i="0" kern="1200">
                <a:solidFill>
                  <a:schemeClr val="tx1"/>
                </a:solidFill>
                <a:effectLst/>
                <a:latin typeface="+mn-lt"/>
                <a:ea typeface="+mn-ea"/>
                <a:cs typeface="+mn-cs"/>
              </a:rPr>
              <a:t>この場合、</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の波形分離解析</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decomposition analysis)</a:t>
            </a:r>
            <a:r>
              <a:rPr kumimoji="1" lang="ja-JP" altLang="en-US" sz="1200" b="1" i="0" kern="1200">
                <a:solidFill>
                  <a:schemeClr val="tx1"/>
                </a:solidFill>
                <a:effectLst/>
                <a:latin typeface="+mn-lt"/>
                <a:ea typeface="+mn-ea"/>
                <a:cs typeface="+mn-cs"/>
              </a:rPr>
              <a:t>は可能か</a:t>
            </a:r>
            <a:endParaRPr kumimoji="1" lang="ja-JP" altLang="en-US" sz="1200" b="0" i="0" kern="120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極値・切痕が視認できない波形でも、モデルベースの波形分離解析であれば解析を継続できる</a:t>
            </a:r>
            <a:r>
              <a:rPr kumimoji="1" lang="ja-JP" altLang="en-US" sz="1200" b="0" i="0" kern="1200">
                <a:solidFill>
                  <a:schemeClr val="tx1"/>
                </a:solidFill>
                <a:effectLst/>
                <a:latin typeface="+mn-lt"/>
                <a:ea typeface="+mn-ea"/>
                <a:cs typeface="+mn-cs"/>
              </a:rPr>
              <a:t>とする報告がある。</a:t>
            </a:r>
          </a:p>
          <a:p>
            <a:r>
              <a:rPr kumimoji="1" lang="en" altLang="ja-JP" sz="1200" b="0" i="0" kern="1200" dirty="0">
                <a:solidFill>
                  <a:schemeClr val="tx1"/>
                </a:solidFill>
                <a:effectLst/>
                <a:latin typeface="+mn-lt"/>
                <a:ea typeface="+mn-ea"/>
                <a:cs typeface="+mn-cs"/>
              </a:rPr>
              <a:t>Couceiro</a:t>
            </a:r>
            <a:r>
              <a:rPr kumimoji="1" lang="ja-JP" altLang="en-US" sz="1200" b="0" i="0" kern="1200">
                <a:solidFill>
                  <a:schemeClr val="tx1"/>
                </a:solidFill>
                <a:effectLst/>
                <a:latin typeface="+mn-lt"/>
                <a:ea typeface="+mn-ea"/>
                <a:cs typeface="+mn-cs"/>
              </a:rPr>
              <a:t>らは、</a:t>
            </a:r>
            <a:r>
              <a:rPr kumimoji="1" lang="en-US" altLang="ja-JP" sz="1200" b="1" i="0" kern="1200" dirty="0">
                <a:solidFill>
                  <a:schemeClr val="tx1"/>
                </a:solidFill>
                <a:effectLst/>
                <a:latin typeface="+mn-lt"/>
                <a:ea typeface="+mn-ea"/>
                <a:cs typeface="+mn-cs"/>
              </a:rPr>
              <a:t>5</a:t>
            </a:r>
            <a:r>
              <a:rPr kumimoji="1" lang="ja-JP" altLang="en-US" sz="1200" b="1" i="0" kern="1200">
                <a:solidFill>
                  <a:schemeClr val="tx1"/>
                </a:solidFill>
                <a:effectLst/>
                <a:latin typeface="+mn-lt"/>
                <a:ea typeface="+mn-ea"/>
                <a:cs typeface="+mn-cs"/>
              </a:rPr>
              <a:t>つのガウス関数による</a:t>
            </a:r>
            <a:r>
              <a:rPr kumimoji="1" lang="en" altLang="ja-JP" sz="1200" b="1" i="0" kern="1200" dirty="0">
                <a:solidFill>
                  <a:schemeClr val="tx1"/>
                </a:solidFill>
                <a:effectLst/>
                <a:latin typeface="+mn-lt"/>
                <a:ea typeface="+mn-ea"/>
                <a:cs typeface="+mn-cs"/>
              </a:rPr>
              <a:t>multi-Gaussian</a:t>
            </a:r>
            <a:r>
              <a:rPr kumimoji="1" lang="ja-JP" altLang="en-US" sz="1200" b="1" i="0" kern="1200">
                <a:solidFill>
                  <a:schemeClr val="tx1"/>
                </a:solidFill>
                <a:effectLst/>
                <a:latin typeface="+mn-lt"/>
                <a:ea typeface="+mn-ea"/>
                <a:cs typeface="+mn-cs"/>
              </a:rPr>
              <a:t>モデル</a:t>
            </a:r>
            <a:r>
              <a:rPr kumimoji="1" lang="ja-JP" altLang="en-US" sz="1200" b="0" i="0" kern="1200">
                <a:solidFill>
                  <a:schemeClr val="tx1"/>
                </a:solidFill>
                <a:effectLst/>
                <a:latin typeface="+mn-lt"/>
                <a:ea typeface="+mn-ea"/>
                <a:cs typeface="+mn-cs"/>
              </a:rPr>
              <a:t>で</a:t>
            </a:r>
            <a:r>
              <a:rPr kumimoji="1" lang="en" altLang="ja-JP" sz="1200" b="0" i="0" kern="1200" dirty="0">
                <a:solidFill>
                  <a:schemeClr val="tx1"/>
                </a:solidFill>
                <a:effectLst/>
                <a:latin typeface="+mn-lt"/>
                <a:ea typeface="+mn-ea"/>
                <a:cs typeface="+mn-cs"/>
              </a:rPr>
              <a:t>PPG</a:t>
            </a:r>
            <a:r>
              <a:rPr kumimoji="1" lang="ja-JP" altLang="en-US" sz="1200" b="0" i="0" kern="1200">
                <a:solidFill>
                  <a:schemeClr val="tx1"/>
                </a:solidFill>
                <a:effectLst/>
                <a:latin typeface="+mn-lt"/>
                <a:ea typeface="+mn-ea"/>
                <a:cs typeface="+mn-cs"/>
              </a:rPr>
              <a:t>波形を順行波・反射波成分に分解し、極値の直接検出に依存せず駆出時間・血圧・血管トーヌスの代理指標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RI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T1_d</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T1_2</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を抽出する手法を報告している。この手法は健常者・心血管疾患患者</a:t>
            </a:r>
            <a:r>
              <a:rPr kumimoji="1" lang="en-US" altLang="ja-JP" sz="1200" b="0" i="0" kern="1200" dirty="0">
                <a:solidFill>
                  <a:schemeClr val="tx1"/>
                </a:solidFill>
                <a:effectLst/>
                <a:latin typeface="+mn-lt"/>
                <a:ea typeface="+mn-ea"/>
                <a:cs typeface="+mn-cs"/>
              </a:rPr>
              <a:t>68〜43</a:t>
            </a:r>
            <a:r>
              <a:rPr kumimoji="1" lang="ja-JP" altLang="en-US" sz="1200" b="0" i="0" kern="1200">
                <a:solidFill>
                  <a:schemeClr val="tx1"/>
                </a:solidFill>
                <a:effectLst/>
                <a:latin typeface="+mn-lt"/>
                <a:ea typeface="+mn-ea"/>
                <a:cs typeface="+mn-cs"/>
              </a:rPr>
              <a:t>例で、心エコーの</a:t>
            </a:r>
            <a:r>
              <a:rPr kumimoji="1" lang="en" altLang="ja-JP" sz="1200" b="0" i="0" kern="1200" dirty="0">
                <a:solidFill>
                  <a:schemeClr val="tx1"/>
                </a:solidFill>
                <a:effectLst/>
                <a:latin typeface="+mn-lt"/>
                <a:ea typeface="+mn-ea"/>
                <a:cs typeface="+mn-cs"/>
              </a:rPr>
              <a:t>LVET</a:t>
            </a:r>
            <a:r>
              <a:rPr kumimoji="1" lang="ja-JP" altLang="en-US" sz="1200" b="0" i="0" kern="1200">
                <a:solidFill>
                  <a:schemeClr val="tx1"/>
                </a:solidFill>
                <a:effectLst/>
                <a:latin typeface="+mn-lt"/>
                <a:ea typeface="+mn-ea"/>
                <a:cs typeface="+mn-cs"/>
              </a:rPr>
              <a:t>や総末梢抵抗指数</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TPRI)</a:t>
            </a:r>
            <a:r>
              <a:rPr kumimoji="1" lang="ja-JP" altLang="en-US" sz="1200" b="0" i="0" kern="1200">
                <a:solidFill>
                  <a:schemeClr val="tx1"/>
                </a:solidFill>
                <a:effectLst/>
                <a:latin typeface="+mn-lt"/>
                <a:ea typeface="+mn-ea"/>
                <a:cs typeface="+mn-cs"/>
              </a:rPr>
              <a:t>との相関</a:t>
            </a:r>
            <a:r>
              <a:rPr kumimoji="1" lang="en-US" altLang="ja-JP" sz="1200" b="0" i="0" kern="1200" dirty="0">
                <a:solidFill>
                  <a:schemeClr val="tx1"/>
                </a:solidFill>
                <a:effectLst/>
                <a:latin typeface="+mn-lt"/>
                <a:ea typeface="+mn-ea"/>
                <a:cs typeface="+mn-cs"/>
              </a:rPr>
              <a:t>(</a:t>
            </a:r>
            <a:r>
              <a:rPr kumimoji="1" lang="el-GR" altLang="ja-JP" sz="1200" b="0" i="0" kern="1200" dirty="0">
                <a:solidFill>
                  <a:schemeClr val="tx1"/>
                </a:solidFill>
                <a:effectLst/>
                <a:latin typeface="+mn-lt"/>
                <a:ea typeface="+mn-ea"/>
                <a:cs typeface="+mn-cs"/>
              </a:rPr>
              <a:t>ρ = 0.78</a:t>
            </a:r>
            <a:r>
              <a:rPr kumimoji="1" lang="ja-JP" altLang="el-GR"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相関 </a:t>
            </a:r>
            <a:r>
              <a:rPr kumimoji="1" lang="en-US" altLang="ja-JP" sz="1200" b="0" i="0" kern="1200" dirty="0">
                <a:solidFill>
                  <a:schemeClr val="tx1"/>
                </a:solidFill>
                <a:effectLst/>
                <a:latin typeface="+mn-lt"/>
                <a:ea typeface="+mn-ea"/>
                <a:cs typeface="+mn-cs"/>
              </a:rPr>
              <a:t>0.45</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を示しており、</a:t>
            </a:r>
            <a:r>
              <a:rPr kumimoji="1" lang="ja-JP" altLang="en-US" sz="1200" b="1" i="0" kern="1200">
                <a:solidFill>
                  <a:schemeClr val="tx1"/>
                </a:solidFill>
                <a:effectLst/>
                <a:latin typeface="+mn-lt"/>
                <a:ea typeface="+mn-ea"/>
                <a:cs typeface="+mn-cs"/>
              </a:rPr>
              <a:t>視覚的なピークが不明瞭な波形でも数理モデルへのフィッティングにより特徴量抽出が可能</a:t>
            </a:r>
            <a:r>
              <a:rPr kumimoji="1" lang="ja-JP" altLang="en-US" sz="1200" b="0" i="0" kern="1200">
                <a:solidFill>
                  <a:schemeClr val="tx1"/>
                </a:solidFill>
                <a:effectLst/>
                <a:latin typeface="+mn-lt"/>
                <a:ea typeface="+mn-ea"/>
                <a:cs typeface="+mn-cs"/>
              </a:rPr>
              <a:t>であることを示唆する。 </a:t>
            </a:r>
            <a:r>
              <a:rPr kumimoji="1" lang="en-US" altLang="ja-JP" sz="1200" b="0" i="0" kern="1200" dirty="0">
                <a:solidFill>
                  <a:schemeClr val="tx1"/>
                </a:solidFill>
                <a:effectLst/>
                <a:latin typeface="+mn-lt"/>
                <a:ea typeface="+mn-ea"/>
                <a:cs typeface="+mn-cs"/>
              </a:rPr>
              <a:t>[6]</a:t>
            </a:r>
          </a:p>
          <a:p>
            <a:r>
              <a:rPr kumimoji="1" lang="ja-JP" altLang="en-US" sz="1200" b="0" i="0" kern="1200">
                <a:solidFill>
                  <a:schemeClr val="tx1"/>
                </a:solidFill>
                <a:effectLst/>
                <a:latin typeface="+mn-lt"/>
                <a:ea typeface="+mn-ea"/>
                <a:cs typeface="+mn-cs"/>
              </a:rPr>
              <a:t>また、</a:t>
            </a:r>
            <a:r>
              <a:rPr kumimoji="1" lang="en" altLang="ja-JP" sz="1200" b="0" i="0" kern="1200" dirty="0">
                <a:solidFill>
                  <a:schemeClr val="tx1"/>
                </a:solidFill>
                <a:effectLst/>
                <a:latin typeface="+mn-lt"/>
                <a:ea typeface="+mn-ea"/>
                <a:cs typeface="+mn-cs"/>
              </a:rPr>
              <a:t>iterative envelope mean(IEM)</a:t>
            </a:r>
            <a:r>
              <a:rPr kumimoji="1" lang="ja-JP" altLang="en-US" sz="1200" b="0" i="0" kern="1200">
                <a:solidFill>
                  <a:schemeClr val="tx1"/>
                </a:solidFill>
                <a:effectLst/>
                <a:latin typeface="+mn-lt"/>
                <a:ea typeface="+mn-ea"/>
                <a:cs typeface="+mn-cs"/>
              </a:rPr>
              <a:t>法に基づくアルゴリズムは、</a:t>
            </a:r>
            <a:r>
              <a:rPr kumimoji="1" lang="ja-JP" altLang="en-US" sz="1200" b="1" i="0" kern="1200">
                <a:solidFill>
                  <a:schemeClr val="tx1"/>
                </a:solidFill>
                <a:effectLst/>
                <a:latin typeface="+mn-lt"/>
                <a:ea typeface="+mn-ea"/>
                <a:cs typeface="+mn-cs"/>
              </a:rPr>
              <a:t>大規模周術期データセット</a:t>
            </a:r>
            <a:r>
              <a:rPr kumimoji="1" lang="en-US" altLang="ja-JP" sz="1200" b="1" i="0" kern="1200" dirty="0">
                <a:solidFill>
                  <a:schemeClr val="tx1"/>
                </a:solidFill>
                <a:effectLst/>
                <a:latin typeface="+mn-lt"/>
                <a:ea typeface="+mn-ea"/>
                <a:cs typeface="+mn-cs"/>
              </a:rPr>
              <a:t>(17,327</a:t>
            </a:r>
            <a:r>
              <a:rPr kumimoji="1" lang="ja-JP" altLang="en-US" sz="1200" b="1" i="0" kern="1200">
                <a:solidFill>
                  <a:schemeClr val="tx1"/>
                </a:solidFill>
                <a:effectLst/>
                <a:latin typeface="+mn-lt"/>
                <a:ea typeface="+mn-ea"/>
                <a:cs typeface="+mn-cs"/>
              </a:rPr>
              <a:t>例、</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心周期約</a:t>
            </a:r>
            <a:r>
              <a:rPr kumimoji="1" lang="en-US" altLang="ja-JP" sz="1200" b="1" i="0" kern="1200" dirty="0">
                <a:solidFill>
                  <a:schemeClr val="tx1"/>
                </a:solidFill>
                <a:effectLst/>
                <a:latin typeface="+mn-lt"/>
                <a:ea typeface="+mn-ea"/>
                <a:cs typeface="+mn-cs"/>
              </a:rPr>
              <a:t>342</a:t>
            </a:r>
            <a:r>
              <a:rPr kumimoji="1" lang="ja-JP" altLang="en-US" sz="1200" b="1" i="0" kern="1200">
                <a:solidFill>
                  <a:schemeClr val="tx1"/>
                </a:solidFill>
                <a:effectLst/>
                <a:latin typeface="+mn-lt"/>
                <a:ea typeface="+mn-ea"/>
                <a:cs typeface="+mn-cs"/>
              </a:rPr>
              <a:t>万拍</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において</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が視覚的に不明瞭な「</a:t>
            </a:r>
            <a:r>
              <a:rPr kumimoji="1" lang="en" altLang="ja-JP" sz="1200" b="1" i="0" kern="1200" dirty="0">
                <a:solidFill>
                  <a:schemeClr val="tx1"/>
                </a:solidFill>
                <a:effectLst/>
                <a:latin typeface="+mn-lt"/>
                <a:ea typeface="+mn-ea"/>
                <a:cs typeface="+mn-cs"/>
              </a:rPr>
              <a:t>DN-less signals</a:t>
            </a:r>
            <a:r>
              <a:rPr kumimoji="1" lang="ja-JP" altLang="en"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でも自動検出が可能</a:t>
            </a:r>
            <a:r>
              <a:rPr kumimoji="1" lang="ja-JP" altLang="en-US" sz="1200" b="0" i="0" kern="1200">
                <a:solidFill>
                  <a:schemeClr val="tx1"/>
                </a:solidFill>
                <a:effectLst/>
                <a:latin typeface="+mn-lt"/>
                <a:ea typeface="+mn-ea"/>
                <a:cs typeface="+mn-cs"/>
              </a:rPr>
              <a:t>であり、従来の二次微分法</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0.097</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よりも高精度</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0.0046</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であったと報告されている。 </a:t>
            </a:r>
            <a:r>
              <a:rPr kumimoji="1" lang="en-US" altLang="ja-JP" sz="1200" b="0" i="0" kern="1200" dirty="0">
                <a:solidFill>
                  <a:schemeClr val="tx1"/>
                </a:solidFill>
                <a:effectLst/>
                <a:latin typeface="+mn-lt"/>
                <a:ea typeface="+mn-ea"/>
                <a:cs typeface="+mn-cs"/>
              </a:rPr>
              <a:t>[7]</a:t>
            </a:r>
          </a:p>
          <a:p>
            <a:r>
              <a:rPr kumimoji="1" lang="ja-JP" altLang="en-US" sz="1200" b="0" i="0" kern="1200">
                <a:solidFill>
                  <a:schemeClr val="tx1"/>
                </a:solidFill>
                <a:effectLst/>
                <a:latin typeface="+mn-lt"/>
                <a:ea typeface="+mn-ea"/>
                <a:cs typeface="+mn-cs"/>
              </a:rPr>
              <a:t>さらに、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(2010)</a:t>
            </a:r>
            <a:r>
              <a:rPr kumimoji="1" lang="ja-JP" altLang="en-US" sz="1200" b="0" i="0" kern="1200">
                <a:solidFill>
                  <a:schemeClr val="tx1"/>
                </a:solidFill>
                <a:effectLst/>
                <a:latin typeface="+mn-lt"/>
                <a:ea typeface="+mn-ea"/>
                <a:cs typeface="+mn-cs"/>
              </a:rPr>
              <a:t>が提案した</a:t>
            </a:r>
            <a:r>
              <a:rPr kumimoji="1" lang="en" altLang="ja-JP" sz="1200" b="0" i="0" kern="1200" dirty="0">
                <a:solidFill>
                  <a:schemeClr val="tx1"/>
                </a:solidFill>
                <a:effectLst/>
                <a:latin typeface="+mn-lt"/>
                <a:ea typeface="+mn-ea"/>
                <a:cs typeface="+mn-cs"/>
              </a:rPr>
              <a:t>normalized crest time(NCT)</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crest time ratio(CTR)</a:t>
            </a:r>
            <a:r>
              <a:rPr kumimoji="1" lang="ja-JP" altLang="en-US" sz="1200" b="0" i="0" kern="1200">
                <a:solidFill>
                  <a:schemeClr val="tx1"/>
                </a:solidFill>
                <a:effectLst/>
                <a:latin typeface="+mn-lt"/>
                <a:ea typeface="+mn-ea"/>
                <a:cs typeface="+mn-cs"/>
              </a:rPr>
              <a:t>は、</a:t>
            </a:r>
            <a:r>
              <a:rPr kumimoji="1" lang="ja-JP" altLang="en-US" sz="1200" b="1" i="0" kern="1200">
                <a:solidFill>
                  <a:schemeClr val="tx1"/>
                </a:solidFill>
                <a:effectLst/>
                <a:latin typeface="+mn-lt"/>
                <a:ea typeface="+mn-ea"/>
                <a:cs typeface="+mn-cs"/>
              </a:rPr>
              <a:t>拡張期ピークが判別不能な症例でも</a:t>
            </a:r>
            <a:r>
              <a:rPr kumimoji="1" lang="en" altLang="ja-JP" sz="1200" b="1" i="0" kern="1200" dirty="0">
                <a:solidFill>
                  <a:schemeClr val="tx1"/>
                </a:solidFill>
                <a:effectLst/>
                <a:latin typeface="+mn-lt"/>
                <a:ea typeface="+mn-ea"/>
                <a:cs typeface="+mn-cs"/>
              </a:rPr>
              <a:t>SI</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RI</a:t>
            </a:r>
            <a:r>
              <a:rPr kumimoji="1" lang="ja-JP" altLang="en-US" sz="1200" b="1" i="0" kern="1200">
                <a:solidFill>
                  <a:schemeClr val="tx1"/>
                </a:solidFill>
                <a:effectLst/>
                <a:latin typeface="+mn-lt"/>
                <a:ea typeface="+mn-ea"/>
                <a:cs typeface="+mn-cs"/>
              </a:rPr>
              <a:t>と有意に相関し、動脈硬化評価に応用可能</a:t>
            </a:r>
            <a:r>
              <a:rPr kumimoji="1" lang="ja-JP" altLang="en-US" sz="1200" b="0" i="0" kern="1200">
                <a:solidFill>
                  <a:schemeClr val="tx1"/>
                </a:solidFill>
                <a:effectLst/>
                <a:latin typeface="+mn-lt"/>
                <a:ea typeface="+mn-ea"/>
                <a:cs typeface="+mn-cs"/>
              </a:rPr>
              <a:t>であることが示されている。 </a:t>
            </a:r>
            <a:r>
              <a:rPr kumimoji="1" lang="en-US" altLang="ja-JP" sz="1200" b="0" i="0" kern="1200" dirty="0">
                <a:solidFill>
                  <a:schemeClr val="tx1"/>
                </a:solidFill>
                <a:effectLst/>
                <a:latin typeface="+mn-lt"/>
                <a:ea typeface="+mn-ea"/>
                <a:cs typeface="+mn-cs"/>
              </a:rPr>
              <a:t>[2]</a:t>
            </a:r>
          </a:p>
          <a:p>
            <a:r>
              <a:rPr kumimoji="1" lang="ja-JP" altLang="en-US" sz="1200" b="1" i="0" kern="1200">
                <a:solidFill>
                  <a:schemeClr val="tx1"/>
                </a:solidFill>
                <a:effectLst/>
                <a:latin typeface="+mn-lt"/>
                <a:ea typeface="+mn-ea"/>
                <a:cs typeface="+mn-cs"/>
              </a:rPr>
              <a:t>まとめ</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加齢・動脈硬化が高度になると、</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の視覚的な極値同定</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は不安定・不能になりうる。この場合、単純なピーク検出に依存する古典的な</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解析よりも、</a:t>
            </a:r>
            <a:r>
              <a:rPr kumimoji="1" lang="ja-JP" altLang="en-US" sz="1200" b="1" i="0" kern="1200">
                <a:solidFill>
                  <a:schemeClr val="tx1"/>
                </a:solidFill>
                <a:effectLst/>
                <a:latin typeface="+mn-lt"/>
                <a:ea typeface="+mn-ea"/>
                <a:cs typeface="+mn-cs"/>
              </a:rPr>
              <a:t>多重ガウス分解などのモデルベース波形分解や、切痕非依存の代替指標</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NCT</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CTR</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IEM</a:t>
            </a:r>
            <a:r>
              <a:rPr kumimoji="1" lang="ja-JP" altLang="en-US" sz="1200" b="1" i="0" kern="1200">
                <a:solidFill>
                  <a:schemeClr val="tx1"/>
                </a:solidFill>
                <a:effectLst/>
                <a:latin typeface="+mn-lt"/>
                <a:ea typeface="+mn-ea"/>
                <a:cs typeface="+mn-cs"/>
              </a:rPr>
              <a:t>法</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の方がロバストに解析を継続できる</a:t>
            </a:r>
            <a:r>
              <a:rPr kumimoji="1" lang="ja-JP" altLang="en-US" sz="1200" b="0" i="0" kern="1200">
                <a:solidFill>
                  <a:schemeClr val="tx1"/>
                </a:solidFill>
                <a:effectLst/>
                <a:latin typeface="+mn-lt"/>
                <a:ea typeface="+mn-ea"/>
                <a:cs typeface="+mn-cs"/>
              </a:rPr>
              <a:t>可能性が示されているが、これらはいずれも研究段階の手法であり、</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に代わる標準的臨床指標としての確立には至っていない。 </a:t>
            </a:r>
            <a:r>
              <a:rPr kumimoji="1" lang="en-US" altLang="ja-JP" sz="1200" b="0" i="0" kern="1200" dirty="0">
                <a:solidFill>
                  <a:schemeClr val="tx1"/>
                </a:solidFill>
                <a:effectLst/>
                <a:latin typeface="+mn-lt"/>
                <a:ea typeface="+mn-ea"/>
                <a:cs typeface="+mn-cs"/>
              </a:rPr>
              <a:t>[2-3][6-7]</a:t>
            </a:r>
          </a:p>
          <a:p>
            <a:endParaRPr kumimoji="1" lang="ja-JP" altLang="en-US"/>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70</a:t>
            </a:fld>
            <a:endParaRPr kumimoji="1" lang="ja-JP" altLang="en-US"/>
          </a:p>
        </p:txBody>
      </p:sp>
    </p:spTree>
    <p:extLst>
      <p:ext uri="{BB962C8B-B14F-4D97-AF65-F5344CB8AC3E}">
        <p14:creationId xmlns:p14="http://schemas.microsoft.com/office/powerpoint/2010/main" val="405365810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8C90B-C38C-9F84-4650-E12B1B4CE06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D08E72-E7BC-F6A5-A003-58BD35C7A62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A55A61F-1B07-D593-6818-12F4E4242214}"/>
              </a:ext>
            </a:extLst>
          </p:cNvPr>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・動脈硬化が高度になると</a:t>
            </a:r>
            <a:r>
              <a:rPr kumimoji="1" lang="en" altLang="ja-JP" sz="1200" b="1" i="0" kern="1200" dirty="0">
                <a:solidFill>
                  <a:schemeClr val="tx1"/>
                </a:solidFill>
                <a:effectLst/>
                <a:latin typeface="+mn-lt"/>
                <a:ea typeface="+mn-ea"/>
                <a:cs typeface="+mn-cs"/>
              </a:rPr>
              <a:t>SDPPG</a:t>
            </a:r>
            <a:r>
              <a:rPr kumimoji="1" lang="ja-JP" altLang="en-US" sz="1200" b="1" i="0" kern="1200">
                <a:solidFill>
                  <a:schemeClr val="tx1"/>
                </a:solidFill>
                <a:effectLst/>
                <a:latin typeface="+mn-lt"/>
                <a:ea typeface="+mn-ea"/>
                <a:cs typeface="+mn-cs"/>
              </a:rPr>
              <a:t>の極値同定は困難になる</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これは複数の文献で明確に示されている。</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らの研究</a:t>
            </a:r>
            <a:r>
              <a:rPr kumimoji="1" lang="en-US" altLang="ja-JP" sz="1200" b="0" i="0" kern="1200" dirty="0">
                <a:solidFill>
                  <a:schemeClr val="tx1"/>
                </a:solidFill>
                <a:effectLst/>
                <a:latin typeface="+mn-lt"/>
                <a:ea typeface="+mn-ea"/>
                <a:cs typeface="+mn-cs"/>
              </a:rPr>
              <a:t>(428</a:t>
            </a:r>
            <a:r>
              <a:rPr kumimoji="1" lang="ja-JP" altLang="en-US" sz="1200" b="0" i="0" kern="1200">
                <a:solidFill>
                  <a:schemeClr val="tx1"/>
                </a:solidFill>
                <a:effectLst/>
                <a:latin typeface="+mn-lt"/>
                <a:ea typeface="+mn-ea"/>
                <a:cs typeface="+mn-cs"/>
              </a:rPr>
              <a:t>例、健診受診者</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では、</a:t>
            </a:r>
            <a:r>
              <a:rPr kumimoji="1" lang="ja-JP" altLang="en-US" sz="1200" b="1" i="0" kern="1200">
                <a:solidFill>
                  <a:schemeClr val="tx1"/>
                </a:solidFill>
                <a:effectLst/>
                <a:latin typeface="+mn-lt"/>
                <a:ea typeface="+mn-ea"/>
                <a:cs typeface="+mn-cs"/>
              </a:rPr>
              <a:t>加齢・動脈硬化が進行した対象では波形が歪み、重複切痕</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の位置が曖昧になることで、従来の指標である</a:t>
            </a:r>
            <a:r>
              <a:rPr kumimoji="1" lang="en" altLang="ja-JP" sz="1200" b="1" i="0" kern="1200" dirty="0">
                <a:solidFill>
                  <a:schemeClr val="tx1"/>
                </a:solidFill>
                <a:effectLst/>
                <a:latin typeface="+mn-lt"/>
                <a:ea typeface="+mn-ea"/>
                <a:cs typeface="+mn-cs"/>
              </a:rPr>
              <a:t>stiffness index(SI)</a:t>
            </a:r>
            <a:r>
              <a:rPr kumimoji="1" lang="ja-JP" altLang="en-US" sz="1200" b="1" i="0" kern="1200">
                <a:solidFill>
                  <a:schemeClr val="tx1"/>
                </a:solidFill>
                <a:effectLst/>
                <a:latin typeface="+mn-lt"/>
                <a:ea typeface="+mn-ea"/>
                <a:cs typeface="+mn-cs"/>
              </a:rPr>
              <a:t>と</a:t>
            </a:r>
            <a:r>
              <a:rPr kumimoji="1" lang="en" altLang="ja-JP" sz="1200" b="1" i="0" kern="1200" dirty="0">
                <a:solidFill>
                  <a:schemeClr val="tx1"/>
                </a:solidFill>
                <a:effectLst/>
                <a:latin typeface="+mn-lt"/>
                <a:ea typeface="+mn-ea"/>
                <a:cs typeface="+mn-cs"/>
              </a:rPr>
              <a:t>reflection index(RI)</a:t>
            </a:r>
            <a:r>
              <a:rPr kumimoji="1" lang="ja-JP" altLang="en-US" sz="1200" b="1" i="0" kern="1200">
                <a:solidFill>
                  <a:schemeClr val="tx1"/>
                </a:solidFill>
                <a:effectLst/>
                <a:latin typeface="+mn-lt"/>
                <a:ea typeface="+mn-ea"/>
                <a:cs typeface="+mn-cs"/>
              </a:rPr>
              <a:t>の正確な決定が妨げられる</a:t>
            </a:r>
            <a:r>
              <a:rPr kumimoji="1" lang="ja-JP" altLang="en-US" sz="1200" b="0" i="0" kern="1200">
                <a:solidFill>
                  <a:schemeClr val="tx1"/>
                </a:solidFill>
                <a:effectLst/>
                <a:latin typeface="+mn-lt"/>
                <a:ea typeface="+mn-ea"/>
                <a:cs typeface="+mn-cs"/>
              </a:rPr>
              <a:t>ことが報告されている。 </a:t>
            </a:r>
            <a:r>
              <a:rPr kumimoji="1" lang="en-US" altLang="ja-JP" sz="1200" b="0" i="0" kern="1200" dirty="0">
                <a:solidFill>
                  <a:schemeClr val="tx1"/>
                </a:solidFill>
                <a:effectLst/>
                <a:latin typeface="+mn-lt"/>
                <a:ea typeface="+mn-ea"/>
                <a:cs typeface="+mn-cs"/>
              </a:rPr>
              <a:t>Wu 2010</a:t>
            </a:r>
          </a:p>
          <a:p>
            <a:r>
              <a:rPr kumimoji="1" lang="ja-JP" altLang="en-US" sz="1200" b="0" i="0" kern="1200">
                <a:solidFill>
                  <a:schemeClr val="tx1"/>
                </a:solidFill>
                <a:effectLst/>
                <a:latin typeface="+mn-lt"/>
                <a:ea typeface="+mn-ea"/>
                <a:cs typeface="+mn-cs"/>
              </a:rPr>
              <a:t>・切痕不明瞭な患者は</a:t>
            </a:r>
            <a:r>
              <a:rPr kumimoji="1" lang="en-US" altLang="ja-JP" sz="1200" b="0" i="0" kern="1200" dirty="0" err="1">
                <a:solidFill>
                  <a:schemeClr val="tx1"/>
                </a:solidFill>
                <a:effectLst/>
                <a:latin typeface="+mn-lt"/>
                <a:ea typeface="+mn-ea"/>
                <a:cs typeface="+mn-cs"/>
              </a:rPr>
              <a:t>Ukbiobank</a:t>
            </a:r>
            <a:r>
              <a:rPr kumimoji="1" lang="ja-JP" altLang="en-US" sz="1200" b="0" i="0" kern="1200">
                <a:solidFill>
                  <a:schemeClr val="tx1"/>
                </a:solidFill>
                <a:effectLst/>
                <a:latin typeface="+mn-lt"/>
                <a:ea typeface="+mn-ea"/>
                <a:cs typeface="+mn-cs"/>
              </a:rPr>
              <a:t>で１４％　</a:t>
            </a:r>
            <a:r>
              <a:rPr kumimoji="1" lang="en-US" altLang="ja-JP" sz="1200" b="0" i="0" kern="1200" dirty="0">
                <a:solidFill>
                  <a:schemeClr val="tx1"/>
                </a:solidFill>
                <a:effectLst/>
                <a:latin typeface="+mn-lt"/>
                <a:ea typeface="+mn-ea"/>
                <a:cs typeface="+mn-cs"/>
              </a:rPr>
              <a:t>cuningham2023</a:t>
            </a: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同様に、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(2022)</a:t>
            </a:r>
            <a:r>
              <a:rPr kumimoji="1" lang="ja-JP" altLang="en-US" sz="1200" b="0" i="0" kern="1200">
                <a:solidFill>
                  <a:schemeClr val="tx1"/>
                </a:solidFill>
                <a:effectLst/>
                <a:latin typeface="+mn-lt"/>
                <a:ea typeface="+mn-ea"/>
                <a:cs typeface="+mn-cs"/>
              </a:rPr>
              <a:t>の別研究では、</a:t>
            </a:r>
            <a:r>
              <a:rPr kumimoji="1" lang="ja-JP" altLang="en-US" sz="1200" b="1" i="0" kern="1200">
                <a:solidFill>
                  <a:schemeClr val="tx1"/>
                </a:solidFill>
                <a:effectLst/>
                <a:latin typeface="+mn-lt"/>
                <a:ea typeface="+mn-ea"/>
                <a:cs typeface="+mn-cs"/>
              </a:rPr>
              <a:t>拡張期ピークが不明瞭で</a:t>
            </a:r>
            <a:r>
              <a:rPr kumimoji="1" lang="en" altLang="ja-JP" sz="1200" b="1" i="0" kern="1200" dirty="0">
                <a:solidFill>
                  <a:schemeClr val="tx1"/>
                </a:solidFill>
                <a:effectLst/>
                <a:latin typeface="+mn-lt"/>
                <a:ea typeface="+mn-ea"/>
                <a:cs typeface="+mn-cs"/>
              </a:rPr>
              <a:t>sin</a:t>
            </a:r>
            <a:r>
              <a:rPr kumimoji="1" lang="ja-JP" altLang="en-US" sz="1200" b="1" i="0" kern="1200">
                <a:solidFill>
                  <a:schemeClr val="tx1"/>
                </a:solidFill>
                <a:effectLst/>
                <a:latin typeface="+mn-lt"/>
                <a:ea typeface="+mn-ea"/>
                <a:cs typeface="+mn-cs"/>
              </a:rPr>
              <a:t>波様になった</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信号</a:t>
            </a:r>
            <a:r>
              <a:rPr kumimoji="1" lang="ja-JP" altLang="en-US" sz="1200" b="0" i="0" kern="1200">
                <a:solidFill>
                  <a:schemeClr val="tx1"/>
                </a:solidFill>
                <a:effectLst/>
                <a:latin typeface="+mn-lt"/>
                <a:ea typeface="+mn-ea"/>
                <a:cs typeface="+mn-cs"/>
              </a:rPr>
              <a:t>を定量的に識別する指標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sinusoidal ratio</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収縮期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拡張期ピーク間時間差、</a:t>
            </a:r>
            <a:r>
              <a:rPr kumimoji="1" lang="en" altLang="ja-JP" sz="1200" b="0" i="0" kern="1200" dirty="0">
                <a:solidFill>
                  <a:schemeClr val="tx1"/>
                </a:solidFill>
                <a:effectLst/>
                <a:latin typeface="+mn-lt"/>
                <a:ea typeface="+mn-ea"/>
                <a:cs typeface="+mn-cs"/>
              </a:rPr>
              <a:t>sin</a:t>
            </a:r>
            <a:r>
              <a:rPr kumimoji="1" lang="ja-JP" altLang="en-US" sz="1200" b="0" i="0" kern="1200">
                <a:solidFill>
                  <a:schemeClr val="tx1"/>
                </a:solidFill>
                <a:effectLst/>
                <a:latin typeface="+mn-lt"/>
                <a:ea typeface="+mn-ea"/>
                <a:cs typeface="+mn-cs"/>
              </a:rPr>
              <a:t>様波形の割合</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を提案しており、こうした「</a:t>
            </a:r>
            <a:r>
              <a:rPr kumimoji="1" lang="en" altLang="ja-JP" sz="1200" b="0" i="0" kern="1200" dirty="0">
                <a:solidFill>
                  <a:schemeClr val="tx1"/>
                </a:solidFill>
                <a:effectLst/>
                <a:latin typeface="+mn-lt"/>
                <a:ea typeface="+mn-ea"/>
                <a:cs typeface="+mn-cs"/>
              </a:rPr>
              <a:t>unapparent diastolic peak</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の症例が実臨床で相当数存在すること</a:t>
            </a:r>
            <a:r>
              <a:rPr kumimoji="1" lang="en-US" altLang="ja-JP" sz="1200" b="0" i="0" kern="1200" dirty="0">
                <a:solidFill>
                  <a:schemeClr val="tx1"/>
                </a:solidFill>
                <a:effectLst/>
                <a:latin typeface="+mn-lt"/>
                <a:ea typeface="+mn-ea"/>
                <a:cs typeface="+mn-cs"/>
              </a:rPr>
              <a:t>(40</a:t>
            </a:r>
            <a:r>
              <a:rPr kumimoji="1" lang="ja-JP" altLang="en-US" sz="1200" b="0" i="0" kern="1200">
                <a:solidFill>
                  <a:schemeClr val="tx1"/>
                </a:solidFill>
                <a:effectLst/>
                <a:latin typeface="+mn-lt"/>
                <a:ea typeface="+mn-ea"/>
                <a:cs typeface="+mn-cs"/>
              </a:rPr>
              <a:t>例中</a:t>
            </a:r>
            <a:r>
              <a:rPr kumimoji="1" lang="en-US" altLang="ja-JP" sz="1200" b="0" i="0" kern="1200" dirty="0">
                <a:solidFill>
                  <a:schemeClr val="tx1"/>
                </a:solidFill>
                <a:effectLst/>
                <a:latin typeface="+mn-lt"/>
                <a:ea typeface="+mn-ea"/>
                <a:cs typeface="+mn-cs"/>
              </a:rPr>
              <a:t>29</a:t>
            </a:r>
            <a:r>
              <a:rPr kumimoji="1" lang="ja-JP" altLang="en-US" sz="1200" b="0" i="0" kern="1200">
                <a:solidFill>
                  <a:schemeClr val="tx1"/>
                </a:solidFill>
                <a:effectLst/>
                <a:latin typeface="+mn-lt"/>
                <a:ea typeface="+mn-ea"/>
                <a:cs typeface="+mn-cs"/>
              </a:rPr>
              <a:t>例</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を示している。これは</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においても同様で、</a:t>
            </a:r>
            <a:r>
              <a:rPr kumimoji="1" lang="en" altLang="ja-JP" sz="1200" b="0" i="0" kern="1200" dirty="0" err="1">
                <a:solidFill>
                  <a:schemeClr val="tx1"/>
                </a:solidFill>
                <a:effectLst/>
                <a:latin typeface="+mn-lt"/>
                <a:ea typeface="+mn-ea"/>
                <a:cs typeface="+mn-cs"/>
              </a:rPr>
              <a:t>a〜e</a:t>
            </a:r>
            <a:r>
              <a:rPr kumimoji="1" lang="ja-JP" altLang="en-US" sz="1200" b="0" i="0" kern="1200">
                <a:solidFill>
                  <a:schemeClr val="tx1"/>
                </a:solidFill>
                <a:effectLst/>
                <a:latin typeface="+mn-lt"/>
                <a:ea typeface="+mn-ea"/>
                <a:cs typeface="+mn-cs"/>
              </a:rPr>
              <a:t>波の極値</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は加齢・動脈硬化とともに振幅が減弱・平坦化し、微分波形上でのピーク同定が不安定になりやすい。 </a:t>
            </a:r>
            <a:r>
              <a:rPr kumimoji="1" lang="en-US" altLang="ja-JP" sz="1200" b="0" i="0" kern="1200" dirty="0">
                <a:solidFill>
                  <a:schemeClr val="tx1"/>
                </a:solidFill>
                <a:effectLst/>
                <a:latin typeface="+mn-lt"/>
                <a:ea typeface="+mn-ea"/>
                <a:cs typeface="+mn-cs"/>
              </a:rPr>
              <a:t>[3-5]</a:t>
            </a:r>
          </a:p>
          <a:p>
            <a:r>
              <a:rPr kumimoji="1" lang="ja-JP" altLang="en-US" sz="1200" b="1" i="0" kern="1200">
                <a:solidFill>
                  <a:schemeClr val="tx1"/>
                </a:solidFill>
                <a:effectLst/>
                <a:latin typeface="+mn-lt"/>
                <a:ea typeface="+mn-ea"/>
                <a:cs typeface="+mn-cs"/>
              </a:rPr>
              <a:t>この場合、</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の波形分離解析</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decomposition analysis)</a:t>
            </a:r>
            <a:r>
              <a:rPr kumimoji="1" lang="ja-JP" altLang="en-US" sz="1200" b="1" i="0" kern="1200">
                <a:solidFill>
                  <a:schemeClr val="tx1"/>
                </a:solidFill>
                <a:effectLst/>
                <a:latin typeface="+mn-lt"/>
                <a:ea typeface="+mn-ea"/>
                <a:cs typeface="+mn-cs"/>
              </a:rPr>
              <a:t>は可能か</a:t>
            </a:r>
            <a:endParaRPr kumimoji="1" lang="ja-JP" altLang="en-US" sz="1200" b="0" i="0" kern="120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極値・切痕が視認できない波形でも、モデルベースの波形分離解析であれば解析を継続できる</a:t>
            </a:r>
            <a:r>
              <a:rPr kumimoji="1" lang="ja-JP" altLang="en-US" sz="1200" b="0" i="0" kern="1200">
                <a:solidFill>
                  <a:schemeClr val="tx1"/>
                </a:solidFill>
                <a:effectLst/>
                <a:latin typeface="+mn-lt"/>
                <a:ea typeface="+mn-ea"/>
                <a:cs typeface="+mn-cs"/>
              </a:rPr>
              <a:t>とする報告がある。</a:t>
            </a:r>
          </a:p>
          <a:p>
            <a:r>
              <a:rPr kumimoji="1" lang="en" altLang="ja-JP" sz="1200" b="0" i="0" kern="1200" dirty="0">
                <a:solidFill>
                  <a:schemeClr val="tx1"/>
                </a:solidFill>
                <a:effectLst/>
                <a:latin typeface="+mn-lt"/>
                <a:ea typeface="+mn-ea"/>
                <a:cs typeface="+mn-cs"/>
              </a:rPr>
              <a:t>Couceiro</a:t>
            </a:r>
            <a:r>
              <a:rPr kumimoji="1" lang="ja-JP" altLang="en-US" sz="1200" b="0" i="0" kern="1200">
                <a:solidFill>
                  <a:schemeClr val="tx1"/>
                </a:solidFill>
                <a:effectLst/>
                <a:latin typeface="+mn-lt"/>
                <a:ea typeface="+mn-ea"/>
                <a:cs typeface="+mn-cs"/>
              </a:rPr>
              <a:t>らは、</a:t>
            </a:r>
            <a:r>
              <a:rPr kumimoji="1" lang="en-US" altLang="ja-JP" sz="1200" b="1" i="0" kern="1200" dirty="0">
                <a:solidFill>
                  <a:schemeClr val="tx1"/>
                </a:solidFill>
                <a:effectLst/>
                <a:latin typeface="+mn-lt"/>
                <a:ea typeface="+mn-ea"/>
                <a:cs typeface="+mn-cs"/>
              </a:rPr>
              <a:t>5</a:t>
            </a:r>
            <a:r>
              <a:rPr kumimoji="1" lang="ja-JP" altLang="en-US" sz="1200" b="1" i="0" kern="1200">
                <a:solidFill>
                  <a:schemeClr val="tx1"/>
                </a:solidFill>
                <a:effectLst/>
                <a:latin typeface="+mn-lt"/>
                <a:ea typeface="+mn-ea"/>
                <a:cs typeface="+mn-cs"/>
              </a:rPr>
              <a:t>つのガウス関数による</a:t>
            </a:r>
            <a:r>
              <a:rPr kumimoji="1" lang="en" altLang="ja-JP" sz="1200" b="1" i="0" kern="1200" dirty="0">
                <a:solidFill>
                  <a:schemeClr val="tx1"/>
                </a:solidFill>
                <a:effectLst/>
                <a:latin typeface="+mn-lt"/>
                <a:ea typeface="+mn-ea"/>
                <a:cs typeface="+mn-cs"/>
              </a:rPr>
              <a:t>multi-Gaussian</a:t>
            </a:r>
            <a:r>
              <a:rPr kumimoji="1" lang="ja-JP" altLang="en-US" sz="1200" b="1" i="0" kern="1200">
                <a:solidFill>
                  <a:schemeClr val="tx1"/>
                </a:solidFill>
                <a:effectLst/>
                <a:latin typeface="+mn-lt"/>
                <a:ea typeface="+mn-ea"/>
                <a:cs typeface="+mn-cs"/>
              </a:rPr>
              <a:t>モデル</a:t>
            </a:r>
            <a:r>
              <a:rPr kumimoji="1" lang="ja-JP" altLang="en-US" sz="1200" b="0" i="0" kern="1200">
                <a:solidFill>
                  <a:schemeClr val="tx1"/>
                </a:solidFill>
                <a:effectLst/>
                <a:latin typeface="+mn-lt"/>
                <a:ea typeface="+mn-ea"/>
                <a:cs typeface="+mn-cs"/>
              </a:rPr>
              <a:t>で</a:t>
            </a:r>
            <a:r>
              <a:rPr kumimoji="1" lang="en" altLang="ja-JP" sz="1200" b="0" i="0" kern="1200" dirty="0">
                <a:solidFill>
                  <a:schemeClr val="tx1"/>
                </a:solidFill>
                <a:effectLst/>
                <a:latin typeface="+mn-lt"/>
                <a:ea typeface="+mn-ea"/>
                <a:cs typeface="+mn-cs"/>
              </a:rPr>
              <a:t>PPG</a:t>
            </a:r>
            <a:r>
              <a:rPr kumimoji="1" lang="ja-JP" altLang="en-US" sz="1200" b="0" i="0" kern="1200">
                <a:solidFill>
                  <a:schemeClr val="tx1"/>
                </a:solidFill>
                <a:effectLst/>
                <a:latin typeface="+mn-lt"/>
                <a:ea typeface="+mn-ea"/>
                <a:cs typeface="+mn-cs"/>
              </a:rPr>
              <a:t>波形を順行波・反射波成分に分解し、極値の直接検出に依存せず駆出時間・血圧・血管トーヌスの代理指標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RI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T1_d</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T1_2</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を抽出する手法を報告している。この手法は健常者・心血管疾患患者</a:t>
            </a:r>
            <a:r>
              <a:rPr kumimoji="1" lang="en-US" altLang="ja-JP" sz="1200" b="0" i="0" kern="1200" dirty="0">
                <a:solidFill>
                  <a:schemeClr val="tx1"/>
                </a:solidFill>
                <a:effectLst/>
                <a:latin typeface="+mn-lt"/>
                <a:ea typeface="+mn-ea"/>
                <a:cs typeface="+mn-cs"/>
              </a:rPr>
              <a:t>68〜43</a:t>
            </a:r>
            <a:r>
              <a:rPr kumimoji="1" lang="ja-JP" altLang="en-US" sz="1200" b="0" i="0" kern="1200">
                <a:solidFill>
                  <a:schemeClr val="tx1"/>
                </a:solidFill>
                <a:effectLst/>
                <a:latin typeface="+mn-lt"/>
                <a:ea typeface="+mn-ea"/>
                <a:cs typeface="+mn-cs"/>
              </a:rPr>
              <a:t>例で、心エコーの</a:t>
            </a:r>
            <a:r>
              <a:rPr kumimoji="1" lang="en" altLang="ja-JP" sz="1200" b="0" i="0" kern="1200" dirty="0">
                <a:solidFill>
                  <a:schemeClr val="tx1"/>
                </a:solidFill>
                <a:effectLst/>
                <a:latin typeface="+mn-lt"/>
                <a:ea typeface="+mn-ea"/>
                <a:cs typeface="+mn-cs"/>
              </a:rPr>
              <a:t>LVET</a:t>
            </a:r>
            <a:r>
              <a:rPr kumimoji="1" lang="ja-JP" altLang="en-US" sz="1200" b="0" i="0" kern="1200">
                <a:solidFill>
                  <a:schemeClr val="tx1"/>
                </a:solidFill>
                <a:effectLst/>
                <a:latin typeface="+mn-lt"/>
                <a:ea typeface="+mn-ea"/>
                <a:cs typeface="+mn-cs"/>
              </a:rPr>
              <a:t>や総末梢抵抗指数</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TPRI)</a:t>
            </a:r>
            <a:r>
              <a:rPr kumimoji="1" lang="ja-JP" altLang="en-US" sz="1200" b="0" i="0" kern="1200">
                <a:solidFill>
                  <a:schemeClr val="tx1"/>
                </a:solidFill>
                <a:effectLst/>
                <a:latin typeface="+mn-lt"/>
                <a:ea typeface="+mn-ea"/>
                <a:cs typeface="+mn-cs"/>
              </a:rPr>
              <a:t>との相関</a:t>
            </a:r>
            <a:r>
              <a:rPr kumimoji="1" lang="en-US" altLang="ja-JP" sz="1200" b="0" i="0" kern="1200" dirty="0">
                <a:solidFill>
                  <a:schemeClr val="tx1"/>
                </a:solidFill>
                <a:effectLst/>
                <a:latin typeface="+mn-lt"/>
                <a:ea typeface="+mn-ea"/>
                <a:cs typeface="+mn-cs"/>
              </a:rPr>
              <a:t>(</a:t>
            </a:r>
            <a:r>
              <a:rPr kumimoji="1" lang="el-GR" altLang="ja-JP" sz="1200" b="0" i="0" kern="1200" dirty="0">
                <a:solidFill>
                  <a:schemeClr val="tx1"/>
                </a:solidFill>
                <a:effectLst/>
                <a:latin typeface="+mn-lt"/>
                <a:ea typeface="+mn-ea"/>
                <a:cs typeface="+mn-cs"/>
              </a:rPr>
              <a:t>ρ = 0.78</a:t>
            </a:r>
            <a:r>
              <a:rPr kumimoji="1" lang="ja-JP" altLang="el-GR"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相関 </a:t>
            </a:r>
            <a:r>
              <a:rPr kumimoji="1" lang="en-US" altLang="ja-JP" sz="1200" b="0" i="0" kern="1200" dirty="0">
                <a:solidFill>
                  <a:schemeClr val="tx1"/>
                </a:solidFill>
                <a:effectLst/>
                <a:latin typeface="+mn-lt"/>
                <a:ea typeface="+mn-ea"/>
                <a:cs typeface="+mn-cs"/>
              </a:rPr>
              <a:t>0.45</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を示しており、</a:t>
            </a:r>
            <a:r>
              <a:rPr kumimoji="1" lang="ja-JP" altLang="en-US" sz="1200" b="1" i="0" kern="1200">
                <a:solidFill>
                  <a:schemeClr val="tx1"/>
                </a:solidFill>
                <a:effectLst/>
                <a:latin typeface="+mn-lt"/>
                <a:ea typeface="+mn-ea"/>
                <a:cs typeface="+mn-cs"/>
              </a:rPr>
              <a:t>視覚的なピークが不明瞭な波形でも数理モデルへのフィッティングにより特徴量抽出が可能</a:t>
            </a:r>
            <a:r>
              <a:rPr kumimoji="1" lang="ja-JP" altLang="en-US" sz="1200" b="0" i="0" kern="1200">
                <a:solidFill>
                  <a:schemeClr val="tx1"/>
                </a:solidFill>
                <a:effectLst/>
                <a:latin typeface="+mn-lt"/>
                <a:ea typeface="+mn-ea"/>
                <a:cs typeface="+mn-cs"/>
              </a:rPr>
              <a:t>であることを示唆する。 </a:t>
            </a:r>
            <a:r>
              <a:rPr kumimoji="1" lang="en-US" altLang="ja-JP" sz="1200" b="0" i="0" kern="1200" dirty="0">
                <a:solidFill>
                  <a:schemeClr val="tx1"/>
                </a:solidFill>
                <a:effectLst/>
                <a:latin typeface="+mn-lt"/>
                <a:ea typeface="+mn-ea"/>
                <a:cs typeface="+mn-cs"/>
              </a:rPr>
              <a:t>[6]</a:t>
            </a:r>
          </a:p>
          <a:p>
            <a:r>
              <a:rPr kumimoji="1" lang="ja-JP" altLang="en-US" sz="1200" b="0" i="0" kern="1200">
                <a:solidFill>
                  <a:schemeClr val="tx1"/>
                </a:solidFill>
                <a:effectLst/>
                <a:latin typeface="+mn-lt"/>
                <a:ea typeface="+mn-ea"/>
                <a:cs typeface="+mn-cs"/>
              </a:rPr>
              <a:t>また、</a:t>
            </a:r>
            <a:r>
              <a:rPr kumimoji="1" lang="en" altLang="ja-JP" sz="1200" b="0" i="0" kern="1200" dirty="0">
                <a:solidFill>
                  <a:schemeClr val="tx1"/>
                </a:solidFill>
                <a:effectLst/>
                <a:latin typeface="+mn-lt"/>
                <a:ea typeface="+mn-ea"/>
                <a:cs typeface="+mn-cs"/>
              </a:rPr>
              <a:t>iterative envelope mean(IEM)</a:t>
            </a:r>
            <a:r>
              <a:rPr kumimoji="1" lang="ja-JP" altLang="en-US" sz="1200" b="0" i="0" kern="1200">
                <a:solidFill>
                  <a:schemeClr val="tx1"/>
                </a:solidFill>
                <a:effectLst/>
                <a:latin typeface="+mn-lt"/>
                <a:ea typeface="+mn-ea"/>
                <a:cs typeface="+mn-cs"/>
              </a:rPr>
              <a:t>法に基づくアルゴリズムは、</a:t>
            </a:r>
            <a:r>
              <a:rPr kumimoji="1" lang="ja-JP" altLang="en-US" sz="1200" b="1" i="0" kern="1200">
                <a:solidFill>
                  <a:schemeClr val="tx1"/>
                </a:solidFill>
                <a:effectLst/>
                <a:latin typeface="+mn-lt"/>
                <a:ea typeface="+mn-ea"/>
                <a:cs typeface="+mn-cs"/>
              </a:rPr>
              <a:t>大規模周術期データセット</a:t>
            </a:r>
            <a:r>
              <a:rPr kumimoji="1" lang="en-US" altLang="ja-JP" sz="1200" b="1" i="0" kern="1200" dirty="0">
                <a:solidFill>
                  <a:schemeClr val="tx1"/>
                </a:solidFill>
                <a:effectLst/>
                <a:latin typeface="+mn-lt"/>
                <a:ea typeface="+mn-ea"/>
                <a:cs typeface="+mn-cs"/>
              </a:rPr>
              <a:t>(17,327</a:t>
            </a:r>
            <a:r>
              <a:rPr kumimoji="1" lang="ja-JP" altLang="en-US" sz="1200" b="1" i="0" kern="1200">
                <a:solidFill>
                  <a:schemeClr val="tx1"/>
                </a:solidFill>
                <a:effectLst/>
                <a:latin typeface="+mn-lt"/>
                <a:ea typeface="+mn-ea"/>
                <a:cs typeface="+mn-cs"/>
              </a:rPr>
              <a:t>例、</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心周期約</a:t>
            </a:r>
            <a:r>
              <a:rPr kumimoji="1" lang="en-US" altLang="ja-JP" sz="1200" b="1" i="0" kern="1200" dirty="0">
                <a:solidFill>
                  <a:schemeClr val="tx1"/>
                </a:solidFill>
                <a:effectLst/>
                <a:latin typeface="+mn-lt"/>
                <a:ea typeface="+mn-ea"/>
                <a:cs typeface="+mn-cs"/>
              </a:rPr>
              <a:t>342</a:t>
            </a:r>
            <a:r>
              <a:rPr kumimoji="1" lang="ja-JP" altLang="en-US" sz="1200" b="1" i="0" kern="1200">
                <a:solidFill>
                  <a:schemeClr val="tx1"/>
                </a:solidFill>
                <a:effectLst/>
                <a:latin typeface="+mn-lt"/>
                <a:ea typeface="+mn-ea"/>
                <a:cs typeface="+mn-cs"/>
              </a:rPr>
              <a:t>万拍</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において</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が視覚的に不明瞭な「</a:t>
            </a:r>
            <a:r>
              <a:rPr kumimoji="1" lang="en" altLang="ja-JP" sz="1200" b="1" i="0" kern="1200" dirty="0">
                <a:solidFill>
                  <a:schemeClr val="tx1"/>
                </a:solidFill>
                <a:effectLst/>
                <a:latin typeface="+mn-lt"/>
                <a:ea typeface="+mn-ea"/>
                <a:cs typeface="+mn-cs"/>
              </a:rPr>
              <a:t>DN-less signals</a:t>
            </a:r>
            <a:r>
              <a:rPr kumimoji="1" lang="ja-JP" altLang="en"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でも自動検出が可能</a:t>
            </a:r>
            <a:r>
              <a:rPr kumimoji="1" lang="ja-JP" altLang="en-US" sz="1200" b="0" i="0" kern="1200">
                <a:solidFill>
                  <a:schemeClr val="tx1"/>
                </a:solidFill>
                <a:effectLst/>
                <a:latin typeface="+mn-lt"/>
                <a:ea typeface="+mn-ea"/>
                <a:cs typeface="+mn-cs"/>
              </a:rPr>
              <a:t>であり、従来の二次微分法</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0.097</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よりも高精度</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0.0046</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であったと報告されている。 </a:t>
            </a:r>
            <a:r>
              <a:rPr kumimoji="1" lang="en-US" altLang="ja-JP" sz="1200" b="0" i="0" kern="1200" dirty="0">
                <a:solidFill>
                  <a:schemeClr val="tx1"/>
                </a:solidFill>
                <a:effectLst/>
                <a:latin typeface="+mn-lt"/>
                <a:ea typeface="+mn-ea"/>
                <a:cs typeface="+mn-cs"/>
              </a:rPr>
              <a:t>[7]</a:t>
            </a:r>
          </a:p>
          <a:p>
            <a:r>
              <a:rPr kumimoji="1" lang="ja-JP" altLang="en-US" sz="1200" b="0" i="0" kern="1200">
                <a:solidFill>
                  <a:schemeClr val="tx1"/>
                </a:solidFill>
                <a:effectLst/>
                <a:latin typeface="+mn-lt"/>
                <a:ea typeface="+mn-ea"/>
                <a:cs typeface="+mn-cs"/>
              </a:rPr>
              <a:t>さらに、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(2010)</a:t>
            </a:r>
            <a:r>
              <a:rPr kumimoji="1" lang="ja-JP" altLang="en-US" sz="1200" b="0" i="0" kern="1200">
                <a:solidFill>
                  <a:schemeClr val="tx1"/>
                </a:solidFill>
                <a:effectLst/>
                <a:latin typeface="+mn-lt"/>
                <a:ea typeface="+mn-ea"/>
                <a:cs typeface="+mn-cs"/>
              </a:rPr>
              <a:t>が提案した</a:t>
            </a:r>
            <a:r>
              <a:rPr kumimoji="1" lang="en" altLang="ja-JP" sz="1200" b="0" i="0" kern="1200" dirty="0">
                <a:solidFill>
                  <a:schemeClr val="tx1"/>
                </a:solidFill>
                <a:effectLst/>
                <a:latin typeface="+mn-lt"/>
                <a:ea typeface="+mn-ea"/>
                <a:cs typeface="+mn-cs"/>
              </a:rPr>
              <a:t>normalized crest time(NCT)</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crest time ratio(CTR)</a:t>
            </a:r>
            <a:r>
              <a:rPr kumimoji="1" lang="ja-JP" altLang="en-US" sz="1200" b="0" i="0" kern="1200">
                <a:solidFill>
                  <a:schemeClr val="tx1"/>
                </a:solidFill>
                <a:effectLst/>
                <a:latin typeface="+mn-lt"/>
                <a:ea typeface="+mn-ea"/>
                <a:cs typeface="+mn-cs"/>
              </a:rPr>
              <a:t>は、</a:t>
            </a:r>
            <a:r>
              <a:rPr kumimoji="1" lang="ja-JP" altLang="en-US" sz="1200" b="1" i="0" kern="1200">
                <a:solidFill>
                  <a:schemeClr val="tx1"/>
                </a:solidFill>
                <a:effectLst/>
                <a:latin typeface="+mn-lt"/>
                <a:ea typeface="+mn-ea"/>
                <a:cs typeface="+mn-cs"/>
              </a:rPr>
              <a:t>拡張期ピークが判別不能な症例でも</a:t>
            </a:r>
            <a:r>
              <a:rPr kumimoji="1" lang="en" altLang="ja-JP" sz="1200" b="1" i="0" kern="1200" dirty="0">
                <a:solidFill>
                  <a:schemeClr val="tx1"/>
                </a:solidFill>
                <a:effectLst/>
                <a:latin typeface="+mn-lt"/>
                <a:ea typeface="+mn-ea"/>
                <a:cs typeface="+mn-cs"/>
              </a:rPr>
              <a:t>SI</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RI</a:t>
            </a:r>
            <a:r>
              <a:rPr kumimoji="1" lang="ja-JP" altLang="en-US" sz="1200" b="1" i="0" kern="1200">
                <a:solidFill>
                  <a:schemeClr val="tx1"/>
                </a:solidFill>
                <a:effectLst/>
                <a:latin typeface="+mn-lt"/>
                <a:ea typeface="+mn-ea"/>
                <a:cs typeface="+mn-cs"/>
              </a:rPr>
              <a:t>と有意に相関し、動脈硬化評価に応用可能</a:t>
            </a:r>
            <a:r>
              <a:rPr kumimoji="1" lang="ja-JP" altLang="en-US" sz="1200" b="0" i="0" kern="1200">
                <a:solidFill>
                  <a:schemeClr val="tx1"/>
                </a:solidFill>
                <a:effectLst/>
                <a:latin typeface="+mn-lt"/>
                <a:ea typeface="+mn-ea"/>
                <a:cs typeface="+mn-cs"/>
              </a:rPr>
              <a:t>であることが示されている。 </a:t>
            </a:r>
            <a:r>
              <a:rPr kumimoji="1" lang="en-US" altLang="ja-JP" sz="1200" b="0" i="0" kern="1200" dirty="0">
                <a:solidFill>
                  <a:schemeClr val="tx1"/>
                </a:solidFill>
                <a:effectLst/>
                <a:latin typeface="+mn-lt"/>
                <a:ea typeface="+mn-ea"/>
                <a:cs typeface="+mn-cs"/>
              </a:rPr>
              <a:t>[2]</a:t>
            </a:r>
          </a:p>
          <a:p>
            <a:r>
              <a:rPr kumimoji="1" lang="ja-JP" altLang="en-US" sz="1200" b="1" i="0" kern="1200">
                <a:solidFill>
                  <a:schemeClr val="tx1"/>
                </a:solidFill>
                <a:effectLst/>
                <a:latin typeface="+mn-lt"/>
                <a:ea typeface="+mn-ea"/>
                <a:cs typeface="+mn-cs"/>
              </a:rPr>
              <a:t>まとめ</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加齢・動脈硬化が高度になると、</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の視覚的な極値同定</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は不安定・不能になりうる。この場合、単純なピーク検出に依存する古典的な</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解析よりも、</a:t>
            </a:r>
            <a:r>
              <a:rPr kumimoji="1" lang="ja-JP" altLang="en-US" sz="1200" b="1" i="0" kern="1200">
                <a:solidFill>
                  <a:schemeClr val="tx1"/>
                </a:solidFill>
                <a:effectLst/>
                <a:latin typeface="+mn-lt"/>
                <a:ea typeface="+mn-ea"/>
                <a:cs typeface="+mn-cs"/>
              </a:rPr>
              <a:t>多重ガウス分解などのモデルベース波形分解や、切痕非依存の代替指標</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NCT</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CTR</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IEM</a:t>
            </a:r>
            <a:r>
              <a:rPr kumimoji="1" lang="ja-JP" altLang="en-US" sz="1200" b="1" i="0" kern="1200">
                <a:solidFill>
                  <a:schemeClr val="tx1"/>
                </a:solidFill>
                <a:effectLst/>
                <a:latin typeface="+mn-lt"/>
                <a:ea typeface="+mn-ea"/>
                <a:cs typeface="+mn-cs"/>
              </a:rPr>
              <a:t>法</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の方がロバストに解析を継続できる</a:t>
            </a:r>
            <a:r>
              <a:rPr kumimoji="1" lang="ja-JP" altLang="en-US" sz="1200" b="0" i="0" kern="1200">
                <a:solidFill>
                  <a:schemeClr val="tx1"/>
                </a:solidFill>
                <a:effectLst/>
                <a:latin typeface="+mn-lt"/>
                <a:ea typeface="+mn-ea"/>
                <a:cs typeface="+mn-cs"/>
              </a:rPr>
              <a:t>可能性が示されているが、これらはいずれも研究段階の手法であり、</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に代わる標準的臨床指標としての確立には至っていない。 </a:t>
            </a:r>
            <a:r>
              <a:rPr kumimoji="1" lang="en-US" altLang="ja-JP" sz="1200" b="0" i="0" kern="1200" dirty="0">
                <a:solidFill>
                  <a:schemeClr val="tx1"/>
                </a:solidFill>
                <a:effectLst/>
                <a:latin typeface="+mn-lt"/>
                <a:ea typeface="+mn-ea"/>
                <a:cs typeface="+mn-cs"/>
              </a:rPr>
              <a:t>[2-3][6-7]</a:t>
            </a:r>
          </a:p>
          <a:p>
            <a:endParaRPr kumimoji="1" lang="ja-JP" altLang="en-US"/>
          </a:p>
        </p:txBody>
      </p:sp>
      <p:sp>
        <p:nvSpPr>
          <p:cNvPr id="4" name="スライド番号プレースホルダー 3">
            <a:extLst>
              <a:ext uri="{FF2B5EF4-FFF2-40B4-BE49-F238E27FC236}">
                <a16:creationId xmlns:a16="http://schemas.microsoft.com/office/drawing/2014/main" id="{CD70CE38-97F3-4FCF-5C9D-BE87403C8145}"/>
              </a:ext>
            </a:extLst>
          </p:cNvPr>
          <p:cNvSpPr>
            <a:spLocks noGrp="1"/>
          </p:cNvSpPr>
          <p:nvPr>
            <p:ph type="sldNum" sz="quarter" idx="5"/>
          </p:nvPr>
        </p:nvSpPr>
        <p:spPr/>
        <p:txBody>
          <a:bodyPr/>
          <a:lstStyle/>
          <a:p>
            <a:fld id="{4368CECF-0771-D84F-8D42-085DB944B0B8}" type="slidenum">
              <a:rPr kumimoji="1" lang="ja-JP" altLang="en-US" smtClean="0"/>
              <a:t>71</a:t>
            </a:fld>
            <a:endParaRPr kumimoji="1" lang="ja-JP" altLang="en-US"/>
          </a:p>
        </p:txBody>
      </p:sp>
    </p:spTree>
    <p:extLst>
      <p:ext uri="{BB962C8B-B14F-4D97-AF65-F5344CB8AC3E}">
        <p14:creationId xmlns:p14="http://schemas.microsoft.com/office/powerpoint/2010/main" val="34364342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30C2A-B3B4-F8A2-CBFF-85DF6AD123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97E3F6C-66EF-F585-AB42-DBEC1E06B0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EE72D68-B954-CB33-C31D-B83D126AFB7B}"/>
              </a:ext>
            </a:extLst>
          </p:cNvPr>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・動脈硬化が高度になると</a:t>
            </a:r>
            <a:r>
              <a:rPr kumimoji="1" lang="en" altLang="ja-JP" sz="1200" b="1" i="0" kern="1200" dirty="0">
                <a:solidFill>
                  <a:schemeClr val="tx1"/>
                </a:solidFill>
                <a:effectLst/>
                <a:latin typeface="+mn-lt"/>
                <a:ea typeface="+mn-ea"/>
                <a:cs typeface="+mn-cs"/>
              </a:rPr>
              <a:t>SDPPG</a:t>
            </a:r>
            <a:r>
              <a:rPr kumimoji="1" lang="ja-JP" altLang="en-US" sz="1200" b="1" i="0" kern="1200">
                <a:solidFill>
                  <a:schemeClr val="tx1"/>
                </a:solidFill>
                <a:effectLst/>
                <a:latin typeface="+mn-lt"/>
                <a:ea typeface="+mn-ea"/>
                <a:cs typeface="+mn-cs"/>
              </a:rPr>
              <a:t>の極値同定は困難になる</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これは複数の文献で明確に示されている。</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らの研究</a:t>
            </a:r>
            <a:r>
              <a:rPr kumimoji="1" lang="en-US" altLang="ja-JP" sz="1200" b="0" i="0" kern="1200" dirty="0">
                <a:solidFill>
                  <a:schemeClr val="tx1"/>
                </a:solidFill>
                <a:effectLst/>
                <a:latin typeface="+mn-lt"/>
                <a:ea typeface="+mn-ea"/>
                <a:cs typeface="+mn-cs"/>
              </a:rPr>
              <a:t>(428</a:t>
            </a:r>
            <a:r>
              <a:rPr kumimoji="1" lang="ja-JP" altLang="en-US" sz="1200" b="0" i="0" kern="1200">
                <a:solidFill>
                  <a:schemeClr val="tx1"/>
                </a:solidFill>
                <a:effectLst/>
                <a:latin typeface="+mn-lt"/>
                <a:ea typeface="+mn-ea"/>
                <a:cs typeface="+mn-cs"/>
              </a:rPr>
              <a:t>例、健診受診者</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では、</a:t>
            </a:r>
            <a:r>
              <a:rPr kumimoji="1" lang="ja-JP" altLang="en-US" sz="1200" b="1" i="0" kern="1200">
                <a:solidFill>
                  <a:schemeClr val="tx1"/>
                </a:solidFill>
                <a:effectLst/>
                <a:latin typeface="+mn-lt"/>
                <a:ea typeface="+mn-ea"/>
                <a:cs typeface="+mn-cs"/>
              </a:rPr>
              <a:t>加齢・動脈硬化が進行した対象では波形が歪み、重複切痕</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の位置が曖昧になることで、従来の指標である</a:t>
            </a:r>
            <a:r>
              <a:rPr kumimoji="1" lang="en" altLang="ja-JP" sz="1200" b="1" i="0" kern="1200" dirty="0">
                <a:solidFill>
                  <a:schemeClr val="tx1"/>
                </a:solidFill>
                <a:effectLst/>
                <a:latin typeface="+mn-lt"/>
                <a:ea typeface="+mn-ea"/>
                <a:cs typeface="+mn-cs"/>
              </a:rPr>
              <a:t>stiffness index(SI)</a:t>
            </a:r>
            <a:r>
              <a:rPr kumimoji="1" lang="ja-JP" altLang="en-US" sz="1200" b="1" i="0" kern="1200">
                <a:solidFill>
                  <a:schemeClr val="tx1"/>
                </a:solidFill>
                <a:effectLst/>
                <a:latin typeface="+mn-lt"/>
                <a:ea typeface="+mn-ea"/>
                <a:cs typeface="+mn-cs"/>
              </a:rPr>
              <a:t>と</a:t>
            </a:r>
            <a:r>
              <a:rPr kumimoji="1" lang="en" altLang="ja-JP" sz="1200" b="1" i="0" kern="1200" dirty="0">
                <a:solidFill>
                  <a:schemeClr val="tx1"/>
                </a:solidFill>
                <a:effectLst/>
                <a:latin typeface="+mn-lt"/>
                <a:ea typeface="+mn-ea"/>
                <a:cs typeface="+mn-cs"/>
              </a:rPr>
              <a:t>reflection index(RI)</a:t>
            </a:r>
            <a:r>
              <a:rPr kumimoji="1" lang="ja-JP" altLang="en-US" sz="1200" b="1" i="0" kern="1200">
                <a:solidFill>
                  <a:schemeClr val="tx1"/>
                </a:solidFill>
                <a:effectLst/>
                <a:latin typeface="+mn-lt"/>
                <a:ea typeface="+mn-ea"/>
                <a:cs typeface="+mn-cs"/>
              </a:rPr>
              <a:t>の正確な決定が妨げられる</a:t>
            </a:r>
            <a:r>
              <a:rPr kumimoji="1" lang="ja-JP" altLang="en-US" sz="1200" b="0" i="0" kern="1200">
                <a:solidFill>
                  <a:schemeClr val="tx1"/>
                </a:solidFill>
                <a:effectLst/>
                <a:latin typeface="+mn-lt"/>
                <a:ea typeface="+mn-ea"/>
                <a:cs typeface="+mn-cs"/>
              </a:rPr>
              <a:t>ことが報告されている。 </a:t>
            </a:r>
            <a:r>
              <a:rPr kumimoji="1" lang="en-US" altLang="ja-JP" sz="1200" b="0" i="0" kern="1200" dirty="0">
                <a:solidFill>
                  <a:schemeClr val="tx1"/>
                </a:solidFill>
                <a:effectLst/>
                <a:latin typeface="+mn-lt"/>
                <a:ea typeface="+mn-ea"/>
                <a:cs typeface="+mn-cs"/>
              </a:rPr>
              <a:t>Wu 2010</a:t>
            </a:r>
          </a:p>
          <a:p>
            <a:r>
              <a:rPr kumimoji="1" lang="ja-JP" altLang="en-US" sz="1200" b="0" i="0" kern="1200">
                <a:solidFill>
                  <a:schemeClr val="tx1"/>
                </a:solidFill>
                <a:effectLst/>
                <a:latin typeface="+mn-lt"/>
                <a:ea typeface="+mn-ea"/>
                <a:cs typeface="+mn-cs"/>
              </a:rPr>
              <a:t>・切痕不明瞭な患者は</a:t>
            </a:r>
            <a:r>
              <a:rPr kumimoji="1" lang="en-US" altLang="ja-JP" sz="1200" b="0" i="0" kern="1200" dirty="0" err="1">
                <a:solidFill>
                  <a:schemeClr val="tx1"/>
                </a:solidFill>
                <a:effectLst/>
                <a:latin typeface="+mn-lt"/>
                <a:ea typeface="+mn-ea"/>
                <a:cs typeface="+mn-cs"/>
              </a:rPr>
              <a:t>Ukbiobank</a:t>
            </a:r>
            <a:r>
              <a:rPr kumimoji="1" lang="ja-JP" altLang="en-US" sz="1200" b="0" i="0" kern="1200">
                <a:solidFill>
                  <a:schemeClr val="tx1"/>
                </a:solidFill>
                <a:effectLst/>
                <a:latin typeface="+mn-lt"/>
                <a:ea typeface="+mn-ea"/>
                <a:cs typeface="+mn-cs"/>
              </a:rPr>
              <a:t>で１４％　</a:t>
            </a:r>
            <a:r>
              <a:rPr kumimoji="1" lang="en-US" altLang="ja-JP" sz="1200" b="0" i="0" kern="1200" dirty="0">
                <a:solidFill>
                  <a:schemeClr val="tx1"/>
                </a:solidFill>
                <a:effectLst/>
                <a:latin typeface="+mn-lt"/>
                <a:ea typeface="+mn-ea"/>
                <a:cs typeface="+mn-cs"/>
              </a:rPr>
              <a:t>cuningham2023</a:t>
            </a: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同様に、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(2022)</a:t>
            </a:r>
            <a:r>
              <a:rPr kumimoji="1" lang="ja-JP" altLang="en-US" sz="1200" b="0" i="0" kern="1200">
                <a:solidFill>
                  <a:schemeClr val="tx1"/>
                </a:solidFill>
                <a:effectLst/>
                <a:latin typeface="+mn-lt"/>
                <a:ea typeface="+mn-ea"/>
                <a:cs typeface="+mn-cs"/>
              </a:rPr>
              <a:t>の別研究では、</a:t>
            </a:r>
            <a:r>
              <a:rPr kumimoji="1" lang="ja-JP" altLang="en-US" sz="1200" b="1" i="0" kern="1200">
                <a:solidFill>
                  <a:schemeClr val="tx1"/>
                </a:solidFill>
                <a:effectLst/>
                <a:latin typeface="+mn-lt"/>
                <a:ea typeface="+mn-ea"/>
                <a:cs typeface="+mn-cs"/>
              </a:rPr>
              <a:t>拡張期ピークが不明瞭で</a:t>
            </a:r>
            <a:r>
              <a:rPr kumimoji="1" lang="en" altLang="ja-JP" sz="1200" b="1" i="0" kern="1200" dirty="0">
                <a:solidFill>
                  <a:schemeClr val="tx1"/>
                </a:solidFill>
                <a:effectLst/>
                <a:latin typeface="+mn-lt"/>
                <a:ea typeface="+mn-ea"/>
                <a:cs typeface="+mn-cs"/>
              </a:rPr>
              <a:t>sin</a:t>
            </a:r>
            <a:r>
              <a:rPr kumimoji="1" lang="ja-JP" altLang="en-US" sz="1200" b="1" i="0" kern="1200">
                <a:solidFill>
                  <a:schemeClr val="tx1"/>
                </a:solidFill>
                <a:effectLst/>
                <a:latin typeface="+mn-lt"/>
                <a:ea typeface="+mn-ea"/>
                <a:cs typeface="+mn-cs"/>
              </a:rPr>
              <a:t>波様になった</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信号</a:t>
            </a:r>
            <a:r>
              <a:rPr kumimoji="1" lang="ja-JP" altLang="en-US" sz="1200" b="0" i="0" kern="1200">
                <a:solidFill>
                  <a:schemeClr val="tx1"/>
                </a:solidFill>
                <a:effectLst/>
                <a:latin typeface="+mn-lt"/>
                <a:ea typeface="+mn-ea"/>
                <a:cs typeface="+mn-cs"/>
              </a:rPr>
              <a:t>を定量的に識別する指標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sinusoidal ratio</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収縮期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拡張期ピーク間時間差、</a:t>
            </a:r>
            <a:r>
              <a:rPr kumimoji="1" lang="en" altLang="ja-JP" sz="1200" b="0" i="0" kern="1200" dirty="0">
                <a:solidFill>
                  <a:schemeClr val="tx1"/>
                </a:solidFill>
                <a:effectLst/>
                <a:latin typeface="+mn-lt"/>
                <a:ea typeface="+mn-ea"/>
                <a:cs typeface="+mn-cs"/>
              </a:rPr>
              <a:t>sin</a:t>
            </a:r>
            <a:r>
              <a:rPr kumimoji="1" lang="ja-JP" altLang="en-US" sz="1200" b="0" i="0" kern="1200">
                <a:solidFill>
                  <a:schemeClr val="tx1"/>
                </a:solidFill>
                <a:effectLst/>
                <a:latin typeface="+mn-lt"/>
                <a:ea typeface="+mn-ea"/>
                <a:cs typeface="+mn-cs"/>
              </a:rPr>
              <a:t>様波形の割合</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を提案しており、こうした「</a:t>
            </a:r>
            <a:r>
              <a:rPr kumimoji="1" lang="en" altLang="ja-JP" sz="1200" b="0" i="0" kern="1200" dirty="0">
                <a:solidFill>
                  <a:schemeClr val="tx1"/>
                </a:solidFill>
                <a:effectLst/>
                <a:latin typeface="+mn-lt"/>
                <a:ea typeface="+mn-ea"/>
                <a:cs typeface="+mn-cs"/>
              </a:rPr>
              <a:t>unapparent diastolic peak</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の症例が実臨床で相当数存在すること</a:t>
            </a:r>
            <a:r>
              <a:rPr kumimoji="1" lang="en-US" altLang="ja-JP" sz="1200" b="0" i="0" kern="1200" dirty="0">
                <a:solidFill>
                  <a:schemeClr val="tx1"/>
                </a:solidFill>
                <a:effectLst/>
                <a:latin typeface="+mn-lt"/>
                <a:ea typeface="+mn-ea"/>
                <a:cs typeface="+mn-cs"/>
              </a:rPr>
              <a:t>(40</a:t>
            </a:r>
            <a:r>
              <a:rPr kumimoji="1" lang="ja-JP" altLang="en-US" sz="1200" b="0" i="0" kern="1200">
                <a:solidFill>
                  <a:schemeClr val="tx1"/>
                </a:solidFill>
                <a:effectLst/>
                <a:latin typeface="+mn-lt"/>
                <a:ea typeface="+mn-ea"/>
                <a:cs typeface="+mn-cs"/>
              </a:rPr>
              <a:t>例中</a:t>
            </a:r>
            <a:r>
              <a:rPr kumimoji="1" lang="en-US" altLang="ja-JP" sz="1200" b="0" i="0" kern="1200" dirty="0">
                <a:solidFill>
                  <a:schemeClr val="tx1"/>
                </a:solidFill>
                <a:effectLst/>
                <a:latin typeface="+mn-lt"/>
                <a:ea typeface="+mn-ea"/>
                <a:cs typeface="+mn-cs"/>
              </a:rPr>
              <a:t>29</a:t>
            </a:r>
            <a:r>
              <a:rPr kumimoji="1" lang="ja-JP" altLang="en-US" sz="1200" b="0" i="0" kern="1200">
                <a:solidFill>
                  <a:schemeClr val="tx1"/>
                </a:solidFill>
                <a:effectLst/>
                <a:latin typeface="+mn-lt"/>
                <a:ea typeface="+mn-ea"/>
                <a:cs typeface="+mn-cs"/>
              </a:rPr>
              <a:t>例</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を示している。これは</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においても同様で、</a:t>
            </a:r>
            <a:r>
              <a:rPr kumimoji="1" lang="en" altLang="ja-JP" sz="1200" b="0" i="0" kern="1200" dirty="0" err="1">
                <a:solidFill>
                  <a:schemeClr val="tx1"/>
                </a:solidFill>
                <a:effectLst/>
                <a:latin typeface="+mn-lt"/>
                <a:ea typeface="+mn-ea"/>
                <a:cs typeface="+mn-cs"/>
              </a:rPr>
              <a:t>a〜e</a:t>
            </a:r>
            <a:r>
              <a:rPr kumimoji="1" lang="ja-JP" altLang="en-US" sz="1200" b="0" i="0" kern="1200">
                <a:solidFill>
                  <a:schemeClr val="tx1"/>
                </a:solidFill>
                <a:effectLst/>
                <a:latin typeface="+mn-lt"/>
                <a:ea typeface="+mn-ea"/>
                <a:cs typeface="+mn-cs"/>
              </a:rPr>
              <a:t>波の極値</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は加齢・動脈硬化とともに振幅が減弱・平坦化し、微分波形上でのピーク同定が不安定になりやすい。 </a:t>
            </a:r>
            <a:r>
              <a:rPr kumimoji="1" lang="en-US" altLang="ja-JP" sz="1200" b="0" i="0" kern="1200" dirty="0">
                <a:solidFill>
                  <a:schemeClr val="tx1"/>
                </a:solidFill>
                <a:effectLst/>
                <a:latin typeface="+mn-lt"/>
                <a:ea typeface="+mn-ea"/>
                <a:cs typeface="+mn-cs"/>
              </a:rPr>
              <a:t>[3-5]</a:t>
            </a:r>
          </a:p>
          <a:p>
            <a:r>
              <a:rPr kumimoji="1" lang="ja-JP" altLang="en-US" sz="1200" b="1" i="0" kern="1200">
                <a:solidFill>
                  <a:schemeClr val="tx1"/>
                </a:solidFill>
                <a:effectLst/>
                <a:latin typeface="+mn-lt"/>
                <a:ea typeface="+mn-ea"/>
                <a:cs typeface="+mn-cs"/>
              </a:rPr>
              <a:t>この場合、</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の波形分離解析</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decomposition analysis)</a:t>
            </a:r>
            <a:r>
              <a:rPr kumimoji="1" lang="ja-JP" altLang="en-US" sz="1200" b="1" i="0" kern="1200">
                <a:solidFill>
                  <a:schemeClr val="tx1"/>
                </a:solidFill>
                <a:effectLst/>
                <a:latin typeface="+mn-lt"/>
                <a:ea typeface="+mn-ea"/>
                <a:cs typeface="+mn-cs"/>
              </a:rPr>
              <a:t>は可能か</a:t>
            </a:r>
            <a:endParaRPr kumimoji="1" lang="ja-JP" altLang="en-US" sz="1200" b="0" i="0" kern="120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極値・切痕が視認できない波形でも、モデルベースの波形分離解析であれば解析を継続できる</a:t>
            </a:r>
            <a:r>
              <a:rPr kumimoji="1" lang="ja-JP" altLang="en-US" sz="1200" b="0" i="0" kern="1200">
                <a:solidFill>
                  <a:schemeClr val="tx1"/>
                </a:solidFill>
                <a:effectLst/>
                <a:latin typeface="+mn-lt"/>
                <a:ea typeface="+mn-ea"/>
                <a:cs typeface="+mn-cs"/>
              </a:rPr>
              <a:t>とする報告がある。</a:t>
            </a:r>
          </a:p>
          <a:p>
            <a:r>
              <a:rPr kumimoji="1" lang="en" altLang="ja-JP" sz="1200" b="0" i="0" kern="1200" dirty="0">
                <a:solidFill>
                  <a:schemeClr val="tx1"/>
                </a:solidFill>
                <a:effectLst/>
                <a:latin typeface="+mn-lt"/>
                <a:ea typeface="+mn-ea"/>
                <a:cs typeface="+mn-cs"/>
              </a:rPr>
              <a:t>Couceiro</a:t>
            </a:r>
            <a:r>
              <a:rPr kumimoji="1" lang="ja-JP" altLang="en-US" sz="1200" b="0" i="0" kern="1200">
                <a:solidFill>
                  <a:schemeClr val="tx1"/>
                </a:solidFill>
                <a:effectLst/>
                <a:latin typeface="+mn-lt"/>
                <a:ea typeface="+mn-ea"/>
                <a:cs typeface="+mn-cs"/>
              </a:rPr>
              <a:t>らは、</a:t>
            </a:r>
            <a:r>
              <a:rPr kumimoji="1" lang="en-US" altLang="ja-JP" sz="1200" b="1" i="0" kern="1200" dirty="0">
                <a:solidFill>
                  <a:schemeClr val="tx1"/>
                </a:solidFill>
                <a:effectLst/>
                <a:latin typeface="+mn-lt"/>
                <a:ea typeface="+mn-ea"/>
                <a:cs typeface="+mn-cs"/>
              </a:rPr>
              <a:t>5</a:t>
            </a:r>
            <a:r>
              <a:rPr kumimoji="1" lang="ja-JP" altLang="en-US" sz="1200" b="1" i="0" kern="1200">
                <a:solidFill>
                  <a:schemeClr val="tx1"/>
                </a:solidFill>
                <a:effectLst/>
                <a:latin typeface="+mn-lt"/>
                <a:ea typeface="+mn-ea"/>
                <a:cs typeface="+mn-cs"/>
              </a:rPr>
              <a:t>つのガウス関数による</a:t>
            </a:r>
            <a:r>
              <a:rPr kumimoji="1" lang="en" altLang="ja-JP" sz="1200" b="1" i="0" kern="1200" dirty="0">
                <a:solidFill>
                  <a:schemeClr val="tx1"/>
                </a:solidFill>
                <a:effectLst/>
                <a:latin typeface="+mn-lt"/>
                <a:ea typeface="+mn-ea"/>
                <a:cs typeface="+mn-cs"/>
              </a:rPr>
              <a:t>multi-Gaussian</a:t>
            </a:r>
            <a:r>
              <a:rPr kumimoji="1" lang="ja-JP" altLang="en-US" sz="1200" b="1" i="0" kern="1200">
                <a:solidFill>
                  <a:schemeClr val="tx1"/>
                </a:solidFill>
                <a:effectLst/>
                <a:latin typeface="+mn-lt"/>
                <a:ea typeface="+mn-ea"/>
                <a:cs typeface="+mn-cs"/>
              </a:rPr>
              <a:t>モデル</a:t>
            </a:r>
            <a:r>
              <a:rPr kumimoji="1" lang="ja-JP" altLang="en-US" sz="1200" b="0" i="0" kern="1200">
                <a:solidFill>
                  <a:schemeClr val="tx1"/>
                </a:solidFill>
                <a:effectLst/>
                <a:latin typeface="+mn-lt"/>
                <a:ea typeface="+mn-ea"/>
                <a:cs typeface="+mn-cs"/>
              </a:rPr>
              <a:t>で</a:t>
            </a:r>
            <a:r>
              <a:rPr kumimoji="1" lang="en" altLang="ja-JP" sz="1200" b="0" i="0" kern="1200" dirty="0">
                <a:solidFill>
                  <a:schemeClr val="tx1"/>
                </a:solidFill>
                <a:effectLst/>
                <a:latin typeface="+mn-lt"/>
                <a:ea typeface="+mn-ea"/>
                <a:cs typeface="+mn-cs"/>
              </a:rPr>
              <a:t>PPG</a:t>
            </a:r>
            <a:r>
              <a:rPr kumimoji="1" lang="ja-JP" altLang="en-US" sz="1200" b="0" i="0" kern="1200">
                <a:solidFill>
                  <a:schemeClr val="tx1"/>
                </a:solidFill>
                <a:effectLst/>
                <a:latin typeface="+mn-lt"/>
                <a:ea typeface="+mn-ea"/>
                <a:cs typeface="+mn-cs"/>
              </a:rPr>
              <a:t>波形を順行波・反射波成分に分解し、極値の直接検出に依存せず駆出時間・血圧・血管トーヌスの代理指標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RI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T1_d</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T1_2</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を抽出する手法を報告している。この手法は健常者・心血管疾患患者</a:t>
            </a:r>
            <a:r>
              <a:rPr kumimoji="1" lang="en-US" altLang="ja-JP" sz="1200" b="0" i="0" kern="1200" dirty="0">
                <a:solidFill>
                  <a:schemeClr val="tx1"/>
                </a:solidFill>
                <a:effectLst/>
                <a:latin typeface="+mn-lt"/>
                <a:ea typeface="+mn-ea"/>
                <a:cs typeface="+mn-cs"/>
              </a:rPr>
              <a:t>68〜43</a:t>
            </a:r>
            <a:r>
              <a:rPr kumimoji="1" lang="ja-JP" altLang="en-US" sz="1200" b="0" i="0" kern="1200">
                <a:solidFill>
                  <a:schemeClr val="tx1"/>
                </a:solidFill>
                <a:effectLst/>
                <a:latin typeface="+mn-lt"/>
                <a:ea typeface="+mn-ea"/>
                <a:cs typeface="+mn-cs"/>
              </a:rPr>
              <a:t>例で、心エコーの</a:t>
            </a:r>
            <a:r>
              <a:rPr kumimoji="1" lang="en" altLang="ja-JP" sz="1200" b="0" i="0" kern="1200" dirty="0">
                <a:solidFill>
                  <a:schemeClr val="tx1"/>
                </a:solidFill>
                <a:effectLst/>
                <a:latin typeface="+mn-lt"/>
                <a:ea typeface="+mn-ea"/>
                <a:cs typeface="+mn-cs"/>
              </a:rPr>
              <a:t>LVET</a:t>
            </a:r>
            <a:r>
              <a:rPr kumimoji="1" lang="ja-JP" altLang="en-US" sz="1200" b="0" i="0" kern="1200">
                <a:solidFill>
                  <a:schemeClr val="tx1"/>
                </a:solidFill>
                <a:effectLst/>
                <a:latin typeface="+mn-lt"/>
                <a:ea typeface="+mn-ea"/>
                <a:cs typeface="+mn-cs"/>
              </a:rPr>
              <a:t>や総末梢抵抗指数</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TPRI)</a:t>
            </a:r>
            <a:r>
              <a:rPr kumimoji="1" lang="ja-JP" altLang="en-US" sz="1200" b="0" i="0" kern="1200">
                <a:solidFill>
                  <a:schemeClr val="tx1"/>
                </a:solidFill>
                <a:effectLst/>
                <a:latin typeface="+mn-lt"/>
                <a:ea typeface="+mn-ea"/>
                <a:cs typeface="+mn-cs"/>
              </a:rPr>
              <a:t>との相関</a:t>
            </a:r>
            <a:r>
              <a:rPr kumimoji="1" lang="en-US" altLang="ja-JP" sz="1200" b="0" i="0" kern="1200" dirty="0">
                <a:solidFill>
                  <a:schemeClr val="tx1"/>
                </a:solidFill>
                <a:effectLst/>
                <a:latin typeface="+mn-lt"/>
                <a:ea typeface="+mn-ea"/>
                <a:cs typeface="+mn-cs"/>
              </a:rPr>
              <a:t>(</a:t>
            </a:r>
            <a:r>
              <a:rPr kumimoji="1" lang="el-GR" altLang="ja-JP" sz="1200" b="0" i="0" kern="1200" dirty="0">
                <a:solidFill>
                  <a:schemeClr val="tx1"/>
                </a:solidFill>
                <a:effectLst/>
                <a:latin typeface="+mn-lt"/>
                <a:ea typeface="+mn-ea"/>
                <a:cs typeface="+mn-cs"/>
              </a:rPr>
              <a:t>ρ = 0.78</a:t>
            </a:r>
            <a:r>
              <a:rPr kumimoji="1" lang="ja-JP" altLang="el-GR"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相関 </a:t>
            </a:r>
            <a:r>
              <a:rPr kumimoji="1" lang="en-US" altLang="ja-JP" sz="1200" b="0" i="0" kern="1200" dirty="0">
                <a:solidFill>
                  <a:schemeClr val="tx1"/>
                </a:solidFill>
                <a:effectLst/>
                <a:latin typeface="+mn-lt"/>
                <a:ea typeface="+mn-ea"/>
                <a:cs typeface="+mn-cs"/>
              </a:rPr>
              <a:t>0.45</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を示しており、</a:t>
            </a:r>
            <a:r>
              <a:rPr kumimoji="1" lang="ja-JP" altLang="en-US" sz="1200" b="1" i="0" kern="1200">
                <a:solidFill>
                  <a:schemeClr val="tx1"/>
                </a:solidFill>
                <a:effectLst/>
                <a:latin typeface="+mn-lt"/>
                <a:ea typeface="+mn-ea"/>
                <a:cs typeface="+mn-cs"/>
              </a:rPr>
              <a:t>視覚的なピークが不明瞭な波形でも数理モデルへのフィッティングにより特徴量抽出が可能</a:t>
            </a:r>
            <a:r>
              <a:rPr kumimoji="1" lang="ja-JP" altLang="en-US" sz="1200" b="0" i="0" kern="1200">
                <a:solidFill>
                  <a:schemeClr val="tx1"/>
                </a:solidFill>
                <a:effectLst/>
                <a:latin typeface="+mn-lt"/>
                <a:ea typeface="+mn-ea"/>
                <a:cs typeface="+mn-cs"/>
              </a:rPr>
              <a:t>であることを示唆する。 </a:t>
            </a:r>
            <a:r>
              <a:rPr kumimoji="1" lang="en-US" altLang="ja-JP" sz="1200" b="0" i="0" kern="1200" dirty="0">
                <a:solidFill>
                  <a:schemeClr val="tx1"/>
                </a:solidFill>
                <a:effectLst/>
                <a:latin typeface="+mn-lt"/>
                <a:ea typeface="+mn-ea"/>
                <a:cs typeface="+mn-cs"/>
              </a:rPr>
              <a:t>[6]</a:t>
            </a:r>
          </a:p>
          <a:p>
            <a:r>
              <a:rPr kumimoji="1" lang="ja-JP" altLang="en-US" sz="1200" b="0" i="0" kern="1200">
                <a:solidFill>
                  <a:schemeClr val="tx1"/>
                </a:solidFill>
                <a:effectLst/>
                <a:latin typeface="+mn-lt"/>
                <a:ea typeface="+mn-ea"/>
                <a:cs typeface="+mn-cs"/>
              </a:rPr>
              <a:t>また、</a:t>
            </a:r>
            <a:r>
              <a:rPr kumimoji="1" lang="en" altLang="ja-JP" sz="1200" b="0" i="0" kern="1200" dirty="0">
                <a:solidFill>
                  <a:schemeClr val="tx1"/>
                </a:solidFill>
                <a:effectLst/>
                <a:latin typeface="+mn-lt"/>
                <a:ea typeface="+mn-ea"/>
                <a:cs typeface="+mn-cs"/>
              </a:rPr>
              <a:t>iterative envelope mean(IEM)</a:t>
            </a:r>
            <a:r>
              <a:rPr kumimoji="1" lang="ja-JP" altLang="en-US" sz="1200" b="0" i="0" kern="1200">
                <a:solidFill>
                  <a:schemeClr val="tx1"/>
                </a:solidFill>
                <a:effectLst/>
                <a:latin typeface="+mn-lt"/>
                <a:ea typeface="+mn-ea"/>
                <a:cs typeface="+mn-cs"/>
              </a:rPr>
              <a:t>法に基づくアルゴリズムは、</a:t>
            </a:r>
            <a:r>
              <a:rPr kumimoji="1" lang="ja-JP" altLang="en-US" sz="1200" b="1" i="0" kern="1200">
                <a:solidFill>
                  <a:schemeClr val="tx1"/>
                </a:solidFill>
                <a:effectLst/>
                <a:latin typeface="+mn-lt"/>
                <a:ea typeface="+mn-ea"/>
                <a:cs typeface="+mn-cs"/>
              </a:rPr>
              <a:t>大規模周術期データセット</a:t>
            </a:r>
            <a:r>
              <a:rPr kumimoji="1" lang="en-US" altLang="ja-JP" sz="1200" b="1" i="0" kern="1200" dirty="0">
                <a:solidFill>
                  <a:schemeClr val="tx1"/>
                </a:solidFill>
                <a:effectLst/>
                <a:latin typeface="+mn-lt"/>
                <a:ea typeface="+mn-ea"/>
                <a:cs typeface="+mn-cs"/>
              </a:rPr>
              <a:t>(17,327</a:t>
            </a:r>
            <a:r>
              <a:rPr kumimoji="1" lang="ja-JP" altLang="en-US" sz="1200" b="1" i="0" kern="1200">
                <a:solidFill>
                  <a:schemeClr val="tx1"/>
                </a:solidFill>
                <a:effectLst/>
                <a:latin typeface="+mn-lt"/>
                <a:ea typeface="+mn-ea"/>
                <a:cs typeface="+mn-cs"/>
              </a:rPr>
              <a:t>例、</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心周期約</a:t>
            </a:r>
            <a:r>
              <a:rPr kumimoji="1" lang="en-US" altLang="ja-JP" sz="1200" b="1" i="0" kern="1200" dirty="0">
                <a:solidFill>
                  <a:schemeClr val="tx1"/>
                </a:solidFill>
                <a:effectLst/>
                <a:latin typeface="+mn-lt"/>
                <a:ea typeface="+mn-ea"/>
                <a:cs typeface="+mn-cs"/>
              </a:rPr>
              <a:t>342</a:t>
            </a:r>
            <a:r>
              <a:rPr kumimoji="1" lang="ja-JP" altLang="en-US" sz="1200" b="1" i="0" kern="1200">
                <a:solidFill>
                  <a:schemeClr val="tx1"/>
                </a:solidFill>
                <a:effectLst/>
                <a:latin typeface="+mn-lt"/>
                <a:ea typeface="+mn-ea"/>
                <a:cs typeface="+mn-cs"/>
              </a:rPr>
              <a:t>万拍</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において</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が視覚的に不明瞭な「</a:t>
            </a:r>
            <a:r>
              <a:rPr kumimoji="1" lang="en" altLang="ja-JP" sz="1200" b="1" i="0" kern="1200" dirty="0">
                <a:solidFill>
                  <a:schemeClr val="tx1"/>
                </a:solidFill>
                <a:effectLst/>
                <a:latin typeface="+mn-lt"/>
                <a:ea typeface="+mn-ea"/>
                <a:cs typeface="+mn-cs"/>
              </a:rPr>
              <a:t>DN-less signals</a:t>
            </a:r>
            <a:r>
              <a:rPr kumimoji="1" lang="ja-JP" altLang="en"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でも自動検出が可能</a:t>
            </a:r>
            <a:r>
              <a:rPr kumimoji="1" lang="ja-JP" altLang="en-US" sz="1200" b="0" i="0" kern="1200">
                <a:solidFill>
                  <a:schemeClr val="tx1"/>
                </a:solidFill>
                <a:effectLst/>
                <a:latin typeface="+mn-lt"/>
                <a:ea typeface="+mn-ea"/>
                <a:cs typeface="+mn-cs"/>
              </a:rPr>
              <a:t>であり、従来の二次微分法</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0.097</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よりも高精度</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0.0046</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であったと報告されている。 </a:t>
            </a:r>
            <a:r>
              <a:rPr kumimoji="1" lang="en-US" altLang="ja-JP" sz="1200" b="0" i="0" kern="1200" dirty="0">
                <a:solidFill>
                  <a:schemeClr val="tx1"/>
                </a:solidFill>
                <a:effectLst/>
                <a:latin typeface="+mn-lt"/>
                <a:ea typeface="+mn-ea"/>
                <a:cs typeface="+mn-cs"/>
              </a:rPr>
              <a:t>[7]</a:t>
            </a:r>
          </a:p>
          <a:p>
            <a:r>
              <a:rPr kumimoji="1" lang="ja-JP" altLang="en-US" sz="1200" b="0" i="0" kern="1200">
                <a:solidFill>
                  <a:schemeClr val="tx1"/>
                </a:solidFill>
                <a:effectLst/>
                <a:latin typeface="+mn-lt"/>
                <a:ea typeface="+mn-ea"/>
                <a:cs typeface="+mn-cs"/>
              </a:rPr>
              <a:t>さらに、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(2010)</a:t>
            </a:r>
            <a:r>
              <a:rPr kumimoji="1" lang="ja-JP" altLang="en-US" sz="1200" b="0" i="0" kern="1200">
                <a:solidFill>
                  <a:schemeClr val="tx1"/>
                </a:solidFill>
                <a:effectLst/>
                <a:latin typeface="+mn-lt"/>
                <a:ea typeface="+mn-ea"/>
                <a:cs typeface="+mn-cs"/>
              </a:rPr>
              <a:t>が提案した</a:t>
            </a:r>
            <a:r>
              <a:rPr kumimoji="1" lang="en" altLang="ja-JP" sz="1200" b="0" i="0" kern="1200" dirty="0">
                <a:solidFill>
                  <a:schemeClr val="tx1"/>
                </a:solidFill>
                <a:effectLst/>
                <a:latin typeface="+mn-lt"/>
                <a:ea typeface="+mn-ea"/>
                <a:cs typeface="+mn-cs"/>
              </a:rPr>
              <a:t>normalized crest time(NCT)</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crest time ratio(CTR)</a:t>
            </a:r>
            <a:r>
              <a:rPr kumimoji="1" lang="ja-JP" altLang="en-US" sz="1200" b="0" i="0" kern="1200">
                <a:solidFill>
                  <a:schemeClr val="tx1"/>
                </a:solidFill>
                <a:effectLst/>
                <a:latin typeface="+mn-lt"/>
                <a:ea typeface="+mn-ea"/>
                <a:cs typeface="+mn-cs"/>
              </a:rPr>
              <a:t>は、</a:t>
            </a:r>
            <a:r>
              <a:rPr kumimoji="1" lang="ja-JP" altLang="en-US" sz="1200" b="1" i="0" kern="1200">
                <a:solidFill>
                  <a:schemeClr val="tx1"/>
                </a:solidFill>
                <a:effectLst/>
                <a:latin typeface="+mn-lt"/>
                <a:ea typeface="+mn-ea"/>
                <a:cs typeface="+mn-cs"/>
              </a:rPr>
              <a:t>拡張期ピークが判別不能な症例でも</a:t>
            </a:r>
            <a:r>
              <a:rPr kumimoji="1" lang="en" altLang="ja-JP" sz="1200" b="1" i="0" kern="1200" dirty="0">
                <a:solidFill>
                  <a:schemeClr val="tx1"/>
                </a:solidFill>
                <a:effectLst/>
                <a:latin typeface="+mn-lt"/>
                <a:ea typeface="+mn-ea"/>
                <a:cs typeface="+mn-cs"/>
              </a:rPr>
              <a:t>SI</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RI</a:t>
            </a:r>
            <a:r>
              <a:rPr kumimoji="1" lang="ja-JP" altLang="en-US" sz="1200" b="1" i="0" kern="1200">
                <a:solidFill>
                  <a:schemeClr val="tx1"/>
                </a:solidFill>
                <a:effectLst/>
                <a:latin typeface="+mn-lt"/>
                <a:ea typeface="+mn-ea"/>
                <a:cs typeface="+mn-cs"/>
              </a:rPr>
              <a:t>と有意に相関し、動脈硬化評価に応用可能</a:t>
            </a:r>
            <a:r>
              <a:rPr kumimoji="1" lang="ja-JP" altLang="en-US" sz="1200" b="0" i="0" kern="1200">
                <a:solidFill>
                  <a:schemeClr val="tx1"/>
                </a:solidFill>
                <a:effectLst/>
                <a:latin typeface="+mn-lt"/>
                <a:ea typeface="+mn-ea"/>
                <a:cs typeface="+mn-cs"/>
              </a:rPr>
              <a:t>であることが示されている。 </a:t>
            </a:r>
            <a:r>
              <a:rPr kumimoji="1" lang="en-US" altLang="ja-JP" sz="1200" b="0" i="0" kern="1200" dirty="0">
                <a:solidFill>
                  <a:schemeClr val="tx1"/>
                </a:solidFill>
                <a:effectLst/>
                <a:latin typeface="+mn-lt"/>
                <a:ea typeface="+mn-ea"/>
                <a:cs typeface="+mn-cs"/>
              </a:rPr>
              <a:t>[2]</a:t>
            </a:r>
          </a:p>
          <a:p>
            <a:r>
              <a:rPr kumimoji="1" lang="ja-JP" altLang="en-US" sz="1200" b="1" i="0" kern="1200">
                <a:solidFill>
                  <a:schemeClr val="tx1"/>
                </a:solidFill>
                <a:effectLst/>
                <a:latin typeface="+mn-lt"/>
                <a:ea typeface="+mn-ea"/>
                <a:cs typeface="+mn-cs"/>
              </a:rPr>
              <a:t>まとめ</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加齢・動脈硬化が高度になると、</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の視覚的な極値同定</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は不安定・不能になりうる。この場合、単純なピーク検出に依存する古典的な</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解析よりも、</a:t>
            </a:r>
            <a:r>
              <a:rPr kumimoji="1" lang="ja-JP" altLang="en-US" sz="1200" b="1" i="0" kern="1200">
                <a:solidFill>
                  <a:schemeClr val="tx1"/>
                </a:solidFill>
                <a:effectLst/>
                <a:latin typeface="+mn-lt"/>
                <a:ea typeface="+mn-ea"/>
                <a:cs typeface="+mn-cs"/>
              </a:rPr>
              <a:t>多重ガウス分解などのモデルベース波形分解や、切痕非依存の代替指標</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NCT</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CTR</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IEM</a:t>
            </a:r>
            <a:r>
              <a:rPr kumimoji="1" lang="ja-JP" altLang="en-US" sz="1200" b="1" i="0" kern="1200">
                <a:solidFill>
                  <a:schemeClr val="tx1"/>
                </a:solidFill>
                <a:effectLst/>
                <a:latin typeface="+mn-lt"/>
                <a:ea typeface="+mn-ea"/>
                <a:cs typeface="+mn-cs"/>
              </a:rPr>
              <a:t>法</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の方がロバストに解析を継続できる</a:t>
            </a:r>
            <a:r>
              <a:rPr kumimoji="1" lang="ja-JP" altLang="en-US" sz="1200" b="0" i="0" kern="1200">
                <a:solidFill>
                  <a:schemeClr val="tx1"/>
                </a:solidFill>
                <a:effectLst/>
                <a:latin typeface="+mn-lt"/>
                <a:ea typeface="+mn-ea"/>
                <a:cs typeface="+mn-cs"/>
              </a:rPr>
              <a:t>可能性が示されているが、これらはいずれも研究段階の手法であり、</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に代わる標準的臨床指標としての確立には至っていない。 </a:t>
            </a:r>
            <a:r>
              <a:rPr kumimoji="1" lang="en-US" altLang="ja-JP" sz="1200" b="0" i="0" kern="1200" dirty="0">
                <a:solidFill>
                  <a:schemeClr val="tx1"/>
                </a:solidFill>
                <a:effectLst/>
                <a:latin typeface="+mn-lt"/>
                <a:ea typeface="+mn-ea"/>
                <a:cs typeface="+mn-cs"/>
              </a:rPr>
              <a:t>[2-3][6-7]</a:t>
            </a:r>
          </a:p>
          <a:p>
            <a:endParaRPr kumimoji="1" lang="ja-JP" altLang="en-US"/>
          </a:p>
        </p:txBody>
      </p:sp>
      <p:sp>
        <p:nvSpPr>
          <p:cNvPr id="4" name="スライド番号プレースホルダー 3">
            <a:extLst>
              <a:ext uri="{FF2B5EF4-FFF2-40B4-BE49-F238E27FC236}">
                <a16:creationId xmlns:a16="http://schemas.microsoft.com/office/drawing/2014/main" id="{9C5BE1CF-9252-F03E-91D6-5E5A0F228D7F}"/>
              </a:ext>
            </a:extLst>
          </p:cNvPr>
          <p:cNvSpPr>
            <a:spLocks noGrp="1"/>
          </p:cNvSpPr>
          <p:nvPr>
            <p:ph type="sldNum" sz="quarter" idx="5"/>
          </p:nvPr>
        </p:nvSpPr>
        <p:spPr/>
        <p:txBody>
          <a:bodyPr/>
          <a:lstStyle/>
          <a:p>
            <a:fld id="{4368CECF-0771-D84F-8D42-085DB944B0B8}" type="slidenum">
              <a:rPr kumimoji="1" lang="ja-JP" altLang="en-US" smtClean="0"/>
              <a:t>72</a:t>
            </a:fld>
            <a:endParaRPr kumimoji="1" lang="ja-JP" altLang="en-US"/>
          </a:p>
        </p:txBody>
      </p:sp>
    </p:spTree>
    <p:extLst>
      <p:ext uri="{BB962C8B-B14F-4D97-AF65-F5344CB8AC3E}">
        <p14:creationId xmlns:p14="http://schemas.microsoft.com/office/powerpoint/2010/main" val="183945288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PDA という考え方</a:t>
            </a:r>
          </a:p>
          <a:p>
            <a:endParaRPr/>
          </a:p>
          <a:p>
            <a:r>
              <a:t>PDA（pulse decomposition analysis, 脈波分解解析）は、PPG の一拍を</a:t>
            </a:r>
          </a:p>
          <a:p>
            <a:r>
              <a:t>「複数の成分波（基底関数）の線形和」としてモデル化し、そのパラメータを最小二乗などで</a:t>
            </a:r>
          </a:p>
          <a:p>
            <a:r>
              <a:t>当てはめる手法である。ちょうど複数の音源からの音波が重なって 1 つの波形になるのと同じで、</a:t>
            </a:r>
          </a:p>
          <a:p>
            <a:r>
              <a:t>心臓から来た前進波と、末梢から戻ってきた反射波の重ね合わせとして PPG を説明する。</a:t>
            </a:r>
          </a:p>
          <a:p>
            <a:endParaRPr/>
          </a:p>
          <a:p>
            <a:r>
              <a:t>■ なぜ必要か</a:t>
            </a:r>
          </a:p>
          <a:p>
            <a:r>
              <a:t>従来の SI（＝身長 ÷ ΔT）も RI（＝P2/P1）も、「P2 という点」の時刻と高さを必要とする。</a:t>
            </a:r>
          </a:p>
          <a:p>
            <a:r>
              <a:t>下降脚が平滑化して P2 が局所最大として存在しない波形（DN-less）では原理的に計算できず、</a:t>
            </a:r>
          </a:p>
          <a:p>
            <a:r>
              <a:t>検出できた症例だけを解析する選択バイアスが生じる。</a:t>
            </a:r>
          </a:p>
          <a:p>
            <a:r>
              <a:t>PDA は点を探さずモデルを当てはめるので、切痕が消えていても</a:t>
            </a:r>
          </a:p>
          <a:p>
            <a:r>
              <a:t>反射成分の時刻 τ と振幅 a を数値として返せる。</a:t>
            </a:r>
          </a:p>
          <a:p>
            <a:endParaRPr/>
          </a:p>
          <a:p>
            <a:r>
              <a:t>■ 得られる量</a:t>
            </a:r>
          </a:p>
          <a:p>
            <a:r>
              <a:t>・T1_2（前進波と反射波の時間差）→ SI に相当</a:t>
            </a:r>
          </a:p>
          <a:p>
            <a:r>
              <a:t>・R1_2（両者の振幅比）→ RI に相当</a:t>
            </a:r>
          </a:p>
          <a:p>
            <a:r>
              <a:t>・LVET（左室駆出時間）も導出できる</a:t>
            </a:r>
          </a:p>
          <a:p>
            <a:endParaRPr/>
          </a:p>
          <a:p>
            <a:r>
              <a:t>出典：40. Rubins 2008 ／ 41. Goswami 2010 ／ 42. Couceiro 2015</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合成波と成分波 ― 言葉の整理</a:t>
            </a:r>
          </a:p>
          <a:p>
            <a:endParaRPr/>
          </a:p>
          <a:p>
            <a:r>
              <a:t>本章では次のように言葉を使い分ける。</a:t>
            </a:r>
          </a:p>
          <a:p>
            <a:endParaRPr/>
          </a:p>
          <a:p>
            <a:r>
              <a:t>・合成波（composite wave）＝ モニタに映る、実際に記録された 1 拍の PPG 波形。</a:t>
            </a:r>
          </a:p>
          <a:p>
            <a:r>
              <a:t>・成分波（component wave）＝ 合成波を作っているとみなす個々の波。</a:t>
            </a:r>
          </a:p>
          <a:p>
            <a:r>
              <a:t>　　第 1 成分波 ＝ 心臓から来た前進波</a:t>
            </a:r>
          </a:p>
          <a:p>
            <a:r>
              <a:t>　　第 2 成分波 ＝ 末梢から戻ってきた反射波</a:t>
            </a:r>
          </a:p>
          <a:p>
            <a:r>
              <a:t>・基底関数（basis function）＝ 成分波の形を表す数式のテンプレート。</a:t>
            </a:r>
          </a:p>
          <a:p>
            <a:r>
              <a:t>　　ガウス関数・Gamma 分布・skewed-Gaussian などが使われる。</a:t>
            </a:r>
          </a:p>
          <a:p>
            <a:endParaRPr/>
          </a:p>
          <a:p>
            <a:r>
              <a:t>「山」という言い方は形を思い浮かべやすい一方で、</a:t>
            </a:r>
          </a:p>
          <a:p>
            <a:r>
              <a:t>本デックが一貫して使ってきた「前進波・反射波」という言葉と混ざるため用いない。</a:t>
            </a:r>
          </a:p>
          <a:p>
            <a:r>
              <a:t>波の話は「波」で統一する。</a:t>
            </a:r>
          </a:p>
          <a:p>
            <a:endParaRPr/>
          </a:p>
          <a:p>
            <a:r>
              <a:t>補足：この考え方は音の重ね合わせと同じである。複数の楽器の音が空気中で足し算されて</a:t>
            </a:r>
          </a:p>
          <a:p>
            <a:r>
              <a:t>1 つの波形になるのと同様に、PPG も前進波と反射波が足し算されて 1 つの波形になっている、</a:t>
            </a:r>
          </a:p>
          <a:p>
            <a:r>
              <a:t>と考える。</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基底関数とは</a:t>
            </a:r>
          </a:p>
          <a:p>
            <a:endParaRPr/>
          </a:p>
          <a:p>
            <a:r>
              <a:t>基底関数（basis function）は、成分波の形を表す数式のテンプレートである。</a:t>
            </a:r>
          </a:p>
          <a:p>
            <a:r>
              <a:t>1 本の成分波は、ふつう次の 3 つのパラメータで決まる。</a:t>
            </a:r>
          </a:p>
          <a:p>
            <a:endParaRPr/>
          </a:p>
          <a:p>
            <a:r>
              <a:t>・振幅 a … その成分波の高さ</a:t>
            </a:r>
          </a:p>
          <a:p>
            <a:r>
              <a:t>・位置 μ … その成分波の頂点が来る時刻</a:t>
            </a:r>
          </a:p>
          <a:p>
            <a:r>
              <a:t>・幅 σ  … その成分波の広がり（持続時間）</a:t>
            </a:r>
          </a:p>
          <a:p>
            <a:endParaRPr/>
          </a:p>
          <a:p>
            <a:r>
              <a:t>たとえばガウス関数なら</a:t>
            </a:r>
          </a:p>
          <a:p>
            <a:r>
              <a:t>　　f(t) = a・exp( −(t − μ)² / 2σ² )</a:t>
            </a:r>
          </a:p>
          <a:p>
            <a:r>
              <a:t>と書ける。合成波はこの成分波を n 本足し合わせたものとしてモデル化される。</a:t>
            </a:r>
          </a:p>
          <a:p>
            <a:r>
              <a:t>　　y(t) ≒ Σ f_k(t)　（k = 1 … n）</a:t>
            </a:r>
          </a:p>
          <a:p>
            <a:endParaRPr/>
          </a:p>
          <a:p>
            <a:r>
              <a:t>■ なぜ「関数」で表すのか</a:t>
            </a:r>
          </a:p>
          <a:p>
            <a:r>
              <a:t>点（切痕・P2）を探す方法は、その点が波形上に存在しないと破綻する。</a:t>
            </a:r>
          </a:p>
          <a:p>
            <a:r>
              <a:t>基底関数を当てはめる方法なら、点が見えなくても</a:t>
            </a:r>
          </a:p>
          <a:p>
            <a:r>
              <a:t>「第 2 成分波の位置 μ₂ と振幅 a₂ はいくつか」という形で答えが出る。</a:t>
            </a:r>
          </a:p>
          <a:p>
            <a:r>
              <a:t>これが PDA の核心である。</a:t>
            </a:r>
          </a:p>
          <a:p>
            <a:endParaRPr/>
          </a:p>
          <a:p>
            <a:r>
              <a:t>■ 使われる基底関数</a:t>
            </a:r>
          </a:p>
          <a:p>
            <a:r>
              <a:t>ガウス関数（対称）、Gamma 分布（非対称）、skewed-Gaussian（非対称）、</a:t>
            </a:r>
          </a:p>
          <a:p>
            <a:r>
              <a:t>Rayleigh 関数、log-normal など。次ページで形を比べる。</a:t>
            </a:r>
          </a:p>
          <a:p>
            <a:endParaRPr/>
          </a:p>
          <a:p>
            <a:r>
              <a:t>出典：40. Rubins 2008（ガウス当てはめの最初期）／43. Tigges 2017（基底関数の総当たり）</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7.2 </a:t>
            </a:r>
            <a:r>
              <a:rPr dirty="0" err="1"/>
              <a:t>どんな山（基底関数）を使うか</a:t>
            </a:r>
            <a:endParaRPr dirty="0"/>
          </a:p>
          <a:p>
            <a:endParaRPr dirty="0"/>
          </a:p>
          <a:p>
            <a:r>
              <a:rPr dirty="0"/>
              <a:t>・</a:t>
            </a:r>
            <a:r>
              <a:rPr dirty="0" err="1"/>
              <a:t>Gaussian（ガウス関数</a:t>
            </a:r>
            <a:r>
              <a:rPr dirty="0"/>
              <a:t>）＝</a:t>
            </a:r>
            <a:r>
              <a:rPr dirty="0" err="1"/>
              <a:t>左右対称の釣鐘型。数学的に扱いやすいが</a:t>
            </a:r>
            <a:r>
              <a:rPr dirty="0"/>
              <a:t>、</a:t>
            </a:r>
          </a:p>
          <a:p>
            <a:r>
              <a:rPr dirty="0"/>
              <a:t>　</a:t>
            </a:r>
            <a:r>
              <a:rPr dirty="0" err="1"/>
              <a:t>実際の脈波は「立ち上がりが急で、下りが緩やか」で非対称なので、当てはまりに限界がある</a:t>
            </a:r>
            <a:r>
              <a:rPr dirty="0"/>
              <a:t>。</a:t>
            </a:r>
          </a:p>
          <a:p>
            <a:r>
              <a:rPr dirty="0"/>
              <a:t>・Gamma </a:t>
            </a:r>
            <a:r>
              <a:rPr dirty="0" err="1"/>
              <a:t>分布＝非対称な減衰を表現できる。おもりをつけたバネが摩擦で徐々に振動を落とす</a:t>
            </a:r>
            <a:endParaRPr dirty="0"/>
          </a:p>
          <a:p>
            <a:r>
              <a:rPr dirty="0"/>
              <a:t>　</a:t>
            </a:r>
            <a:r>
              <a:rPr dirty="0" err="1"/>
              <a:t>ように、片側だけゆっくり戻る形。Fleischhauer</a:t>
            </a:r>
            <a:r>
              <a:rPr dirty="0"/>
              <a:t> 2020 </a:t>
            </a:r>
            <a:r>
              <a:rPr dirty="0" err="1"/>
              <a:t>では</a:t>
            </a:r>
            <a:r>
              <a:rPr dirty="0"/>
              <a:t> Gamma </a:t>
            </a:r>
            <a:r>
              <a:rPr dirty="0" err="1"/>
              <a:t>と</a:t>
            </a:r>
            <a:r>
              <a:rPr dirty="0"/>
              <a:t> Gaussian </a:t>
            </a:r>
            <a:r>
              <a:rPr dirty="0" err="1"/>
              <a:t>の組合せが</a:t>
            </a:r>
            <a:endParaRPr dirty="0"/>
          </a:p>
          <a:p>
            <a:r>
              <a:rPr dirty="0"/>
              <a:t>　</a:t>
            </a:r>
            <a:r>
              <a:rPr dirty="0" err="1"/>
              <a:t>最良で、カーネル</a:t>
            </a:r>
            <a:r>
              <a:rPr dirty="0"/>
              <a:t> 2 </a:t>
            </a:r>
            <a:r>
              <a:rPr dirty="0" err="1"/>
              <a:t>個が最もノイズ・体動に頑健（評価指標が</a:t>
            </a:r>
            <a:r>
              <a:rPr dirty="0"/>
              <a:t> 14.09% </a:t>
            </a:r>
            <a:r>
              <a:rPr dirty="0" err="1"/>
              <a:t>改善）だった</a:t>
            </a:r>
            <a:r>
              <a:rPr dirty="0"/>
              <a:t>。</a:t>
            </a:r>
          </a:p>
          <a:p>
            <a:r>
              <a:rPr dirty="0"/>
              <a:t>・</a:t>
            </a:r>
            <a:r>
              <a:rPr dirty="0" err="1"/>
              <a:t>skewed-Gaussian＝通常のガウス関数に歪みパラメータを</a:t>
            </a:r>
            <a:r>
              <a:rPr dirty="0"/>
              <a:t> 1 </a:t>
            </a:r>
            <a:r>
              <a:rPr dirty="0" err="1"/>
              <a:t>つ足したもの</a:t>
            </a:r>
            <a:r>
              <a:rPr dirty="0"/>
              <a:t>。</a:t>
            </a:r>
          </a:p>
          <a:p>
            <a:r>
              <a:rPr dirty="0"/>
              <a:t>　</a:t>
            </a:r>
            <a:r>
              <a:rPr dirty="0" err="1"/>
              <a:t>対称の山を土台にしているので頂点の位置や幅といった物理的意味が保たれやすい</a:t>
            </a:r>
            <a:r>
              <a:rPr dirty="0"/>
              <a:t>。</a:t>
            </a:r>
          </a:p>
          <a:p>
            <a:r>
              <a:rPr dirty="0"/>
              <a:t>　Basso 2024 </a:t>
            </a:r>
            <a:r>
              <a:rPr dirty="0" err="1"/>
              <a:t>は</a:t>
            </a:r>
            <a:r>
              <a:rPr dirty="0"/>
              <a:t> MIMIC-III </a:t>
            </a:r>
            <a:r>
              <a:rPr dirty="0" err="1"/>
              <a:t>の</a:t>
            </a:r>
            <a:r>
              <a:rPr dirty="0"/>
              <a:t> 8,000 </a:t>
            </a:r>
            <a:r>
              <a:rPr dirty="0" err="1"/>
              <a:t>拍で</a:t>
            </a:r>
            <a:r>
              <a:rPr dirty="0"/>
              <a:t> Gamma-Gaussian </a:t>
            </a:r>
            <a:r>
              <a:rPr dirty="0" err="1"/>
              <a:t>より有意に高精度、かつ</a:t>
            </a:r>
            <a:endParaRPr dirty="0"/>
          </a:p>
          <a:p>
            <a:r>
              <a:rPr dirty="0"/>
              <a:t>　</a:t>
            </a:r>
            <a:r>
              <a:rPr dirty="0" err="1"/>
              <a:t>ランダム初期値に対する感度が低く一貫して頑健だと報告した</a:t>
            </a:r>
            <a:endParaRPr dirty="0"/>
          </a:p>
          <a:p>
            <a:r>
              <a:rPr dirty="0"/>
              <a:t>　（</a:t>
            </a:r>
            <a:r>
              <a:rPr dirty="0" err="1"/>
              <a:t>裏を返せば従来モデルは初期値で答えが動く</a:t>
            </a:r>
            <a:r>
              <a:rPr dirty="0"/>
              <a:t>）。</a:t>
            </a:r>
          </a:p>
          <a:p>
            <a:r>
              <a:rPr dirty="0"/>
              <a:t>・</a:t>
            </a:r>
            <a:r>
              <a:rPr dirty="0" err="1"/>
              <a:t>ほかに</a:t>
            </a:r>
            <a:r>
              <a:rPr dirty="0"/>
              <a:t> Rayleigh </a:t>
            </a:r>
            <a:r>
              <a:rPr dirty="0" err="1"/>
              <a:t>関数、log-normal＋Gaussian（Sološenko</a:t>
            </a:r>
            <a:r>
              <a:rPr dirty="0"/>
              <a:t> 2017）なども使われている。</a:t>
            </a:r>
          </a:p>
          <a:p>
            <a:endParaRPr dirty="0"/>
          </a:p>
          <a:p>
            <a:r>
              <a:rPr dirty="0"/>
              <a:t>Tigges 2017 の総当たり（7,805 </a:t>
            </a:r>
            <a:r>
              <a:rPr dirty="0" err="1"/>
              <a:t>拍・AICc）では、最頻の最良モデル（スケール付き</a:t>
            </a:r>
            <a:r>
              <a:rPr dirty="0"/>
              <a:t> Gamma 3 </a:t>
            </a:r>
            <a:r>
              <a:rPr dirty="0" err="1"/>
              <a:t>個</a:t>
            </a:r>
            <a:r>
              <a:rPr dirty="0"/>
              <a:t>）</a:t>
            </a:r>
          </a:p>
          <a:p>
            <a:r>
              <a:rPr dirty="0" err="1"/>
              <a:t>でも</a:t>
            </a:r>
            <a:r>
              <a:rPr dirty="0"/>
              <a:t> 28.1%、</a:t>
            </a:r>
            <a:r>
              <a:rPr dirty="0" err="1"/>
              <a:t>次点の</a:t>
            </a:r>
            <a:r>
              <a:rPr dirty="0"/>
              <a:t> Rayleigh 2 </a:t>
            </a:r>
            <a:r>
              <a:rPr dirty="0" err="1"/>
              <a:t>個が</a:t>
            </a:r>
            <a:r>
              <a:rPr dirty="0"/>
              <a:t> 14.4%。</a:t>
            </a:r>
            <a:r>
              <a:rPr dirty="0" err="1"/>
              <a:t>単一の最良モデルは存在しない</a:t>
            </a:r>
            <a:r>
              <a:rPr dirty="0"/>
              <a:t>。</a:t>
            </a:r>
          </a:p>
          <a:p>
            <a:endParaRPr dirty="0"/>
          </a:p>
          <a:p>
            <a:r>
              <a:rPr dirty="0"/>
              <a:t>出典：43. Tigges 2017 ／ 35. Fleischhauer 2020 ／ 44. Basso 2024</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成分波を何本使うか（カーネル数）</a:t>
            </a:r>
          </a:p>
          <a:p>
            <a:endParaRPr/>
          </a:p>
          <a:p>
            <a:r>
              <a:t>「カーネル」は、当てはめに使う基底関数 1 本 1 本のこと。</a:t>
            </a:r>
          </a:p>
          <a:p>
            <a:r>
              <a:t>何本使うか（カーネル数）は研究者が決める設計値であり、正解は決まっていない。</a:t>
            </a:r>
          </a:p>
          <a:p>
            <a:endParaRPr/>
          </a:p>
          <a:p>
            <a:r>
              <a:t>・2 本 … 前進波＋反射波。いちばん素直だが、拡張期の細かい形は表せない。</a:t>
            </a:r>
          </a:p>
          <a:p>
            <a:r>
              <a:t>・3〜5 本 … 反射が複数回戻ってくるとみなす。当てはまりは良くなるが、</a:t>
            </a:r>
          </a:p>
          <a:p>
            <a:r>
              <a:t>　　　　　　どの成分波が何に対応するかの解釈が曖昧になる。</a:t>
            </a:r>
          </a:p>
          <a:p>
            <a:endParaRPr/>
          </a:p>
          <a:p>
            <a:r>
              <a:t>■ 本数が増えるとどうなるか</a:t>
            </a:r>
          </a:p>
          <a:p>
            <a:r>
              <a:t>本数を増やせば残差はいくらでも小さくできる（過剰適合）。</a:t>
            </a:r>
          </a:p>
          <a:p>
            <a:r>
              <a:t>一方でパラメータが増えるほど解が一意でなくなり、初期値しだいで答えが動く。</a:t>
            </a:r>
          </a:p>
          <a:p>
            <a:r>
              <a:t>そこで情報量規準（AICc など）で「当てはまりの良さ」と「パラメータの少なさ」を</a:t>
            </a:r>
          </a:p>
          <a:p>
            <a:r>
              <a:t>つり合わせてモデルを選ぶ。</a:t>
            </a:r>
          </a:p>
          <a:p>
            <a:endParaRPr/>
          </a:p>
          <a:p>
            <a:r>
              <a:t>■ 実際の報告</a:t>
            </a:r>
          </a:p>
          <a:p>
            <a:r>
              <a:t>・Tigges 2017：指尖容積脈波 7,805 拍で 4 種の基底関数とモデル次数を総当たりし AICc で選択。</a:t>
            </a:r>
          </a:p>
          <a:p>
            <a:r>
              <a:t>　最頻の最良モデルは Gamma 3 本で 28.1%、次点は Rayleigh 2 本で 14.4%。</a:t>
            </a:r>
          </a:p>
          <a:p>
            <a:r>
              <a:t>　単一の最良モデルは存在しなかった。</a:t>
            </a:r>
          </a:p>
          <a:p>
            <a:r>
              <a:t>・Fleischhauer 2020：カーネル 2 本がノイズ・体動にもっとも頑健で、</a:t>
            </a:r>
          </a:p>
          <a:p>
            <a:r>
              <a:t>　評価指標が 14.09% 改善しつつ、より多いカーネルと同等に形態情報を保った。</a:t>
            </a:r>
          </a:p>
          <a:p>
            <a:endParaRPr/>
          </a:p>
          <a:p>
            <a:r>
              <a:t>→ 「多いほど良い」ではない。2 本が実用上のバランス点という報告が複数ある。</a:t>
            </a:r>
          </a:p>
          <a:p>
            <a:endParaRPr/>
          </a:p>
          <a:p>
            <a:r>
              <a:t>出典：43. Tigges 2017 ／ 35. Fleischhauer 2020</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PDA の手順</a:t>
            </a:r>
          </a:p>
          <a:p>
            <a:endParaRPr/>
          </a:p>
          <a:p>
            <a:r>
              <a:t>① 一拍ごとに切り出し、幅と振幅を正規化する。</a:t>
            </a:r>
          </a:p>
          <a:p>
            <a:r>
              <a:t>② 基底関数（山の形）の種類と個数を決める。ここが本手法の急所。</a:t>
            </a:r>
          </a:p>
          <a:p>
            <a:r>
              <a:t>   Gaussian／Gamma／skewed-Gaussian／Rayleigh／log-normal、カーネル数は 2〜5 と</a:t>
            </a:r>
          </a:p>
          <a:p>
            <a:r>
              <a:t>   研究ごとに割れている。</a:t>
            </a:r>
          </a:p>
          <a:p>
            <a:r>
              <a:t>③ 重み付き最小二乗などでパラメータ（位置・高さ・幅）を推定する。</a:t>
            </a:r>
          </a:p>
          <a:p>
            <a:r>
              <a:t>   初期値の選び方で解が動くことが知られている。</a:t>
            </a:r>
          </a:p>
          <a:p>
            <a:r>
              <a:t>④ 得られた成分波どうしの時間差 T1_2 と振幅比 R1_2 を、それぞれ SI・RI に対応させる。</a:t>
            </a:r>
          </a:p>
          <a:p>
            <a:endParaRPr/>
          </a:p>
          <a:p>
            <a:r>
              <a:t>■ ② が決着していないことの意味</a:t>
            </a:r>
          </a:p>
          <a:p>
            <a:r>
              <a:t>Tigges 2017 は 7,805 拍を対象に 4 種の基底関数とモデル次数を総当たりし、AICc で選択した。</a:t>
            </a:r>
          </a:p>
          <a:p>
            <a:r>
              <a:t>最頻の最良モデル（Gamma 3 個）でも全体の 28.1%、次点（Rayleigh 2 個）が 14.4% で、</a:t>
            </a:r>
          </a:p>
          <a:p>
            <a:r>
              <a:t>両者を足しても半数に満たない。単一の最良モデルは存在しない。</a:t>
            </a:r>
          </a:p>
          <a:p>
            <a:r>
              <a:t>これは「分解」という逆問題が一意に解けていないことの直接の表れである。</a:t>
            </a:r>
          </a:p>
          <a:p>
            <a:endParaRPr/>
          </a:p>
          <a:p>
            <a:r>
              <a:t>出典：42. Couceiro 2015 ／ 43. Tigges 2017 ／ 35. Fleischhauer 2020</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7.3 当てはめの計算 ― 何をどう決めているのか</a:t>
            </a:r>
          </a:p>
          <a:p>
            <a:endParaRPr/>
          </a:p>
          <a:p>
            <a:r>
              <a:t>■ 目的関数</a:t>
            </a:r>
          </a:p>
          <a:p>
            <a:r>
              <a:t>実測した合成波 y(t) と、モデルが作る合成波 ŷ(t)=Σf_k(t) の差（残差）を、</a:t>
            </a:r>
          </a:p>
          <a:p>
            <a:r>
              <a:t>全時点で二乗して足し合わせた値（残差平方和 RSS）を最小にするパラメータを探す。</a:t>
            </a:r>
          </a:p>
          <a:p>
            <a:r>
              <a:t>　　RSS = Σ_t { y(t) − ŷ(t) }²</a:t>
            </a:r>
          </a:p>
          <a:p>
            <a:r>
              <a:t>サンプル点ごとに重みを変える重み付き最小二乗（WLS）を使う実装もある</a:t>
            </a:r>
          </a:p>
          <a:p>
            <a:r>
              <a:t>（Wang L 2013 は重みを多基準意思決定法で最適化している）。</a:t>
            </a:r>
          </a:p>
          <a:p>
            <a:endParaRPr/>
          </a:p>
          <a:p>
            <a:r>
              <a:t>■ 解き方</a:t>
            </a:r>
          </a:p>
          <a:p>
            <a:r>
              <a:t>パラメータについて非線形なので、解析的には解けない。</a:t>
            </a:r>
          </a:p>
          <a:p>
            <a:r>
              <a:t>Levenberg–Marquardt 法などの反復計算で、初期値から少しずつ動かして最小値を探す。</a:t>
            </a:r>
          </a:p>
          <a:p>
            <a:endParaRPr/>
          </a:p>
          <a:p>
            <a:r>
              <a:t>■ 初期値の問題</a:t>
            </a:r>
          </a:p>
          <a:p>
            <a:r>
              <a:t>反復計算は初期値の近くの谷（局所解）に落ちる。したがって</a:t>
            </a:r>
          </a:p>
          <a:p>
            <a:r>
              <a:t>「同じ波形・同じモデルでも、初期値を変えると別の答えが出る」ことが起こる。</a:t>
            </a:r>
          </a:p>
          <a:p>
            <a:r>
              <a:t>Basso 2024 は skewed-Gaussian モデルがランダム初期値に対して感度が低く</a:t>
            </a:r>
          </a:p>
          <a:p>
            <a:r>
              <a:t>一貫して頑健だったと報告しており、これは裏を返せば</a:t>
            </a:r>
          </a:p>
          <a:p>
            <a:r>
              <a:t>従来モデルでは初期値で答えが動いていたということである。</a:t>
            </a:r>
          </a:p>
          <a:p>
            <a:endParaRPr/>
          </a:p>
          <a:p>
            <a:r>
              <a:t>■ 当てはまりの評価</a:t>
            </a:r>
          </a:p>
          <a:p>
            <a:r>
              <a:t>・残差平方和 RSS、正規化 RMSE、R²</a:t>
            </a:r>
          </a:p>
          <a:p>
            <a:r>
              <a:t>・モデル選択には補正赤池情報量規準 AICc（当てはまりとパラメータ数のつり合い）</a:t>
            </a:r>
          </a:p>
          <a:p>
            <a:r>
              <a:t>Couceiro 2015 の 5 ガウスモデルでは、LVET 絶対誤差 15.41±13.66 ms、ρ=0.78 が得られている。</a:t>
            </a:r>
          </a:p>
          <a:p>
            <a:endParaRPr/>
          </a:p>
          <a:p>
            <a:r>
              <a:t>出典：42. Couceiro 2015 ／ 44. Basso 2024</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7.4 分解から何が得られるか</a:t>
            </a:r>
          </a:p>
          <a:p>
            <a:endParaRPr/>
          </a:p>
          <a:p>
            <a:r>
              <a:t>分解が終わると、各成分波の（高さ a・位置 μ・幅 σ）が数値として手に入る。</a:t>
            </a:r>
          </a:p>
          <a:p>
            <a:r>
              <a:t>そこから従来の指標を作り直せる。</a:t>
            </a:r>
          </a:p>
          <a:p>
            <a:endParaRPr/>
          </a:p>
          <a:p>
            <a:r>
              <a:t>・時間差 T1_2 ＝ μ₂ − μ₁（第1成分波と第2成分波の頂点の時刻差）</a:t>
            </a:r>
          </a:p>
          <a:p>
            <a:r>
              <a:t>　　→ 従来の ΔT に相当。SI ＝ 身長 ÷ T1_2 として再定義できる。</a:t>
            </a:r>
          </a:p>
          <a:p>
            <a:r>
              <a:t>・振幅比 R1_2 ＝ a₂ / a₁</a:t>
            </a:r>
          </a:p>
          <a:p>
            <a:r>
              <a:t>　　→ 従来の RI（P2/P1）に相当。</a:t>
            </a:r>
          </a:p>
          <a:p>
            <a:r>
              <a:t>・LVET（左室駆出時間）も、収縮期成分の微分解析から推定できる（Couceiro 2012）。</a:t>
            </a:r>
          </a:p>
          <a:p>
            <a:endParaRPr/>
          </a:p>
          <a:p>
            <a:r>
              <a:t>■ 従来法との決定的な違い</a:t>
            </a:r>
          </a:p>
          <a:p>
            <a:r>
              <a:t>従来法は「切痕・P2 という点」が波形上に存在しないと計算できない。</a:t>
            </a:r>
          </a:p>
          <a:p>
            <a:r>
              <a:t>分解法は点を探さないので、切痕が消えている波形（DN-less）でも</a:t>
            </a:r>
          </a:p>
          <a:p>
            <a:r>
              <a:t>μ₂ と a₂ という数値が返ってくる。これが本章の要点である。</a:t>
            </a:r>
          </a:p>
          <a:p>
            <a:endParaRPr/>
          </a:p>
          <a:p>
            <a:r>
              <a:t>■ ただし</a:t>
            </a:r>
          </a:p>
          <a:p>
            <a:r>
              <a:t>Couceiro 2015 では、振幅比 R1_2 はすべての参照値と低相関だった。</a:t>
            </a:r>
          </a:p>
          <a:p>
            <a:r>
              <a:t>時間側の T1_2 でも総末梢血管抵抗係数との相関は ρ=0.45 にとどまる。</a:t>
            </a:r>
          </a:p>
          <a:p>
            <a:r>
              <a:t>値が返ってくることと、その値が臨床的に意味を持つことは別である。</a:t>
            </a:r>
          </a:p>
          <a:p>
            <a:endParaRPr/>
          </a:p>
          <a:p>
            <a:r>
              <a:t>出典：45. Couceiro 2012 ／ 41. Goswami 2010 ／ 42. Couceiro 2015</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7.5 </a:t>
            </a:r>
            <a:r>
              <a:rPr dirty="0" err="1"/>
              <a:t>重要文献の全体像</a:t>
            </a:r>
            <a:endParaRPr dirty="0"/>
          </a:p>
          <a:p>
            <a:endParaRPr dirty="0"/>
          </a:p>
          <a:p>
            <a:r>
              <a:rPr dirty="0"/>
              <a:t>PDA </a:t>
            </a:r>
            <a:r>
              <a:rPr dirty="0" err="1"/>
              <a:t>をめぐる</a:t>
            </a:r>
            <a:r>
              <a:rPr dirty="0"/>
              <a:t> 9 </a:t>
            </a:r>
            <a:r>
              <a:rPr dirty="0" err="1"/>
              <a:t>本を、役割で</a:t>
            </a:r>
            <a:r>
              <a:rPr dirty="0"/>
              <a:t> 4 </a:t>
            </a:r>
            <a:r>
              <a:rPr dirty="0" err="1"/>
              <a:t>群に分けて並べた。次ページ以降で</a:t>
            </a:r>
            <a:r>
              <a:rPr dirty="0"/>
              <a:t> 1 </a:t>
            </a:r>
            <a:r>
              <a:rPr dirty="0" err="1"/>
              <a:t>本ずつ扱う</a:t>
            </a:r>
            <a:r>
              <a:rPr dirty="0"/>
              <a:t>。</a:t>
            </a:r>
          </a:p>
          <a:p>
            <a:endParaRPr dirty="0"/>
          </a:p>
          <a:p>
            <a:r>
              <a:rPr dirty="0"/>
              <a:t>【A </a:t>
            </a:r>
            <a:r>
              <a:rPr dirty="0" err="1"/>
              <a:t>群：指標を作った</a:t>
            </a:r>
            <a:r>
              <a:rPr dirty="0"/>
              <a:t>】</a:t>
            </a:r>
          </a:p>
          <a:p>
            <a:r>
              <a:rPr dirty="0"/>
              <a:t>・40. Rubins 2008 … </a:t>
            </a:r>
            <a:r>
              <a:rPr dirty="0" err="1"/>
              <a:t>ガウス当てはめから</a:t>
            </a:r>
            <a:r>
              <a:rPr dirty="0"/>
              <a:t> RI </a:t>
            </a:r>
            <a:r>
              <a:rPr dirty="0" err="1"/>
              <a:t>を出した最初期（健常者</a:t>
            </a:r>
            <a:r>
              <a:rPr dirty="0"/>
              <a:t> 40 </a:t>
            </a:r>
            <a:r>
              <a:rPr dirty="0" err="1"/>
              <a:t>名</a:t>
            </a:r>
            <a:r>
              <a:rPr dirty="0"/>
              <a:t>）</a:t>
            </a:r>
          </a:p>
          <a:p>
            <a:r>
              <a:rPr dirty="0"/>
              <a:t>・41. Goswami 2010 … Rayleigh 2 </a:t>
            </a:r>
            <a:r>
              <a:rPr dirty="0" err="1"/>
              <a:t>波合成モデルで</a:t>
            </a:r>
            <a:r>
              <a:rPr dirty="0"/>
              <a:t> SI </a:t>
            </a:r>
            <a:r>
              <a:rPr dirty="0" err="1"/>
              <a:t>と</a:t>
            </a:r>
            <a:r>
              <a:rPr dirty="0"/>
              <a:t> RI を同時に導出（113 </a:t>
            </a:r>
            <a:r>
              <a:rPr dirty="0" err="1"/>
              <a:t>信号</a:t>
            </a:r>
            <a:r>
              <a:rPr dirty="0"/>
              <a:t>）</a:t>
            </a:r>
          </a:p>
          <a:p>
            <a:r>
              <a:rPr dirty="0"/>
              <a:t>・45. Couceiro 2012 … </a:t>
            </a:r>
            <a:r>
              <a:rPr dirty="0" err="1"/>
              <a:t>多ガウス分解から</a:t>
            </a:r>
            <a:r>
              <a:rPr dirty="0"/>
              <a:t> LVET </a:t>
            </a:r>
            <a:r>
              <a:rPr dirty="0" err="1"/>
              <a:t>を推定（誤差</a:t>
            </a:r>
            <a:r>
              <a:rPr dirty="0"/>
              <a:t> 15.84±13.56 </a:t>
            </a:r>
            <a:r>
              <a:rPr dirty="0" err="1"/>
              <a:t>ms</a:t>
            </a:r>
            <a:r>
              <a:rPr dirty="0"/>
              <a:t>）</a:t>
            </a:r>
          </a:p>
          <a:p>
            <a:r>
              <a:rPr dirty="0"/>
              <a:t>・42. Couceiro 2015 … 5 </a:t>
            </a:r>
            <a:r>
              <a:rPr dirty="0" err="1"/>
              <a:t>ガウス分解を血圧・総末梢血管抵抗係数まで対比した到達点</a:t>
            </a:r>
            <a:endParaRPr dirty="0"/>
          </a:p>
          <a:p>
            <a:endParaRPr dirty="0"/>
          </a:p>
          <a:p>
            <a:r>
              <a:rPr dirty="0"/>
              <a:t>【B </a:t>
            </a:r>
            <a:r>
              <a:rPr dirty="0" err="1"/>
              <a:t>群：モデルの選び方</a:t>
            </a:r>
            <a:r>
              <a:rPr dirty="0"/>
              <a:t>】</a:t>
            </a:r>
          </a:p>
          <a:p>
            <a:r>
              <a:rPr dirty="0"/>
              <a:t>・43. Tigges 2017 … 7,805 </a:t>
            </a:r>
            <a:r>
              <a:rPr dirty="0" err="1"/>
              <a:t>拍の総当たり。最頻モデルでも</a:t>
            </a:r>
            <a:r>
              <a:rPr dirty="0"/>
              <a:t> 28.1%</a:t>
            </a:r>
          </a:p>
          <a:p>
            <a:r>
              <a:rPr dirty="0"/>
              <a:t>・35. Fleischhauer 2020 … </a:t>
            </a:r>
            <a:r>
              <a:rPr dirty="0" err="1"/>
              <a:t>Gamma＋Gaussian・カーネル</a:t>
            </a:r>
            <a:r>
              <a:rPr dirty="0"/>
              <a:t> 2 本が最も頑健（14.09% </a:t>
            </a:r>
            <a:r>
              <a:rPr dirty="0" err="1"/>
              <a:t>改善</a:t>
            </a:r>
            <a:r>
              <a:rPr dirty="0"/>
              <a:t>）</a:t>
            </a:r>
          </a:p>
          <a:p>
            <a:r>
              <a:rPr dirty="0"/>
              <a:t>・44. Basso 2024 … </a:t>
            </a:r>
            <a:r>
              <a:rPr dirty="0" err="1"/>
              <a:t>skewed-Gaussian。初期値に頑健（MIMIC-III</a:t>
            </a:r>
            <a:r>
              <a:rPr dirty="0"/>
              <a:t> 8,000 </a:t>
            </a:r>
            <a:r>
              <a:rPr dirty="0" err="1"/>
              <a:t>拍</a:t>
            </a:r>
            <a:r>
              <a:rPr dirty="0"/>
              <a:t>）</a:t>
            </a:r>
          </a:p>
          <a:p>
            <a:endParaRPr dirty="0"/>
          </a:p>
          <a:p>
            <a:r>
              <a:rPr dirty="0"/>
              <a:t>【C </a:t>
            </a:r>
            <a:r>
              <a:rPr dirty="0" err="1"/>
              <a:t>群：臨床応用</a:t>
            </a:r>
            <a:r>
              <a:rPr dirty="0"/>
              <a:t>】</a:t>
            </a:r>
          </a:p>
          <a:p>
            <a:r>
              <a:rPr dirty="0"/>
              <a:t>・46. Baruch 2014 … PDA </a:t>
            </a:r>
            <a:r>
              <a:rPr dirty="0" err="1"/>
              <a:t>由来の</a:t>
            </a:r>
            <a:r>
              <a:rPr dirty="0"/>
              <a:t> P2P1・T13 で中心動脈圧を推定（63 名、R²=0.92）</a:t>
            </a:r>
          </a:p>
          <a:p>
            <a:endParaRPr dirty="0"/>
          </a:p>
          <a:p>
            <a:r>
              <a:rPr dirty="0"/>
              <a:t>【D </a:t>
            </a:r>
            <a:r>
              <a:rPr dirty="0" err="1"/>
              <a:t>群：比較対象</a:t>
            </a:r>
            <a:r>
              <a:rPr dirty="0"/>
              <a:t>】</a:t>
            </a:r>
          </a:p>
          <a:p>
            <a:r>
              <a:rPr dirty="0"/>
              <a:t>・34. Pal 2024 … </a:t>
            </a:r>
            <a:r>
              <a:rPr dirty="0" err="1"/>
              <a:t>分解ではなく切痕を直接検出する</a:t>
            </a:r>
            <a:r>
              <a:rPr dirty="0"/>
              <a:t> IEM </a:t>
            </a:r>
            <a:r>
              <a:rPr dirty="0" err="1"/>
              <a:t>法。DN-less</a:t>
            </a:r>
            <a:r>
              <a:rPr dirty="0"/>
              <a:t> </a:t>
            </a:r>
            <a:r>
              <a:rPr dirty="0" err="1"/>
              <a:t>という語の出典</a:t>
            </a:r>
            <a:endParaRPr dirty="0"/>
          </a:p>
          <a:p>
            <a:endParaRPr dirty="0"/>
          </a:p>
          <a:p>
            <a:r>
              <a:rPr dirty="0"/>
              <a:t>【</a:t>
            </a:r>
            <a:r>
              <a:rPr dirty="0" err="1"/>
              <a:t>読みどころ</a:t>
            </a:r>
            <a:r>
              <a:rPr dirty="0"/>
              <a:t>】</a:t>
            </a:r>
          </a:p>
          <a:p>
            <a:r>
              <a:rPr dirty="0"/>
              <a:t>A </a:t>
            </a:r>
            <a:r>
              <a:rPr dirty="0" err="1"/>
              <a:t>群を時系列に読むと</a:t>
            </a:r>
            <a:r>
              <a:rPr dirty="0"/>
              <a:t>、「</a:t>
            </a:r>
            <a:r>
              <a:rPr dirty="0" err="1"/>
              <a:t>点を探すのをやめて波を当てはめる」という発想の転換も</a:t>
            </a:r>
            <a:r>
              <a:rPr dirty="0"/>
              <a:t>、</a:t>
            </a:r>
          </a:p>
          <a:p>
            <a:r>
              <a:rPr dirty="0" err="1"/>
              <a:t>そこから</a:t>
            </a:r>
            <a:r>
              <a:rPr dirty="0"/>
              <a:t> SI・RI </a:t>
            </a:r>
            <a:r>
              <a:rPr dirty="0" err="1"/>
              <a:t>を作り直すことも、血圧・血管抵抗と対比することも</a:t>
            </a:r>
            <a:r>
              <a:rPr dirty="0"/>
              <a:t>、</a:t>
            </a:r>
          </a:p>
          <a:p>
            <a:r>
              <a:rPr dirty="0"/>
              <a:t>2008〜2015 </a:t>
            </a:r>
            <a:r>
              <a:rPr dirty="0" err="1"/>
              <a:t>年にすべて実施済みだとわかる。しかも成績は芳しくない</a:t>
            </a:r>
            <a:r>
              <a:rPr dirty="0"/>
              <a:t>。</a:t>
            </a:r>
          </a:p>
          <a:p>
            <a:r>
              <a:rPr dirty="0"/>
              <a:t>B </a:t>
            </a:r>
            <a:r>
              <a:rPr dirty="0" err="1"/>
              <a:t>群は、その手法がいまだに一意に解けていないことを示す</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Rubins 2008</a:t>
            </a:r>
          </a:p>
          <a:p>
            <a:endParaRPr/>
          </a:p>
          <a:p>
            <a:r>
              <a:t>Rubins U. Finger and ear photoplethysmogram waveform analysis by fitting with Gaussians. Med Biol Eng Comput 2008;46:1271–6.</a:t>
            </a:r>
          </a:p>
          <a:p>
            <a:endParaRPr/>
          </a:p>
          <a:p>
            <a:r>
              <a:t>比較対照は同一波形から微分法で求めた同じ指標。</a:t>
            </a:r>
          </a:p>
          <a:p>
            <a:r>
              <a:t>「分解由来の RI」の最初期の報告として位置づけられる。</a:t>
            </a:r>
          </a:p>
          <a:p>
            <a:r>
              <a:t>PMID 18855034</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Goswami 2010</a:t>
            </a:r>
          </a:p>
          <a:p>
            <a:endParaRPr/>
          </a:p>
          <a:p>
            <a:r>
              <a:t>Goswami D, et al. A new two-pulse synthesis model for digital volume pulse signal analysis. Cardiovasc Eng 2010;10:109–17.</a:t>
            </a:r>
          </a:p>
          <a:p>
            <a:endParaRPr/>
          </a:p>
          <a:p>
            <a:r>
              <a:t>新指標 differential pulse spread（DPS）も提案している。</a:t>
            </a:r>
          </a:p>
          <a:p>
            <a:r>
              <a:t>基底関数がガウス関数とは限らないことを早くから示した例でもある。</a:t>
            </a:r>
          </a:p>
          <a:p>
            <a:r>
              <a:t>PMID 20734136</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Couceiro 2012</a:t>
            </a:r>
          </a:p>
          <a:p>
            <a:endParaRPr/>
          </a:p>
          <a:p>
            <a:r>
              <a:t>Couceiro R, et al. Multi-Gaussian fitting for the assessment of left ventricular ejection time from the photoplethysmogram. Annu Int Conf IEEE EMBC 2012;2012:3951–4.</a:t>
            </a:r>
          </a:p>
          <a:p>
            <a:endParaRPr/>
          </a:p>
          <a:p>
            <a:r>
              <a:t>比較対照は Chan らの既存 LVET 推定アルゴリズムと心エコー参照値。</a:t>
            </a:r>
          </a:p>
          <a:p>
            <a:r>
              <a:t>PMID 23366792</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Couceiro 2015</a:t>
            </a:r>
          </a:p>
          <a:p>
            <a:endParaRPr/>
          </a:p>
          <a:p>
            <a:r>
              <a:t>Couceiro R, et al. Assessment of cardiovascular function from multi-Gaussian fitting of a finger photoplethysmogram. Physiol Meas 2015;36:1801–25.</a:t>
            </a:r>
          </a:p>
          <a:p>
            <a:endParaRPr/>
          </a:p>
          <a:p>
            <a:r>
              <a:t>本デックにとって最も重要な 1 本。</a:t>
            </a:r>
          </a:p>
          <a:p>
            <a:r>
              <a:t>「分解由来の SI・RI を血圧・総末梢血管抵抗係数と対比する」という設問は</a:t>
            </a:r>
          </a:p>
          <a:p>
            <a:r>
              <a:t>2015 年に既に実施済みであり、しかも成績が芳しくない。</a:t>
            </a:r>
          </a:p>
          <a:p>
            <a:r>
              <a:t>失神を経験した患者では SI と収縮期血圧・平均血圧の一致が最高で 0.57。</a:t>
            </a:r>
          </a:p>
          <a:p>
            <a:r>
              <a:t>→ 主要評価項目は振幅側ではなく時間側に置くべき、という設計上の含意。</a:t>
            </a:r>
          </a:p>
          <a:p>
            <a:r>
              <a:t>PMID 26235798</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Tigges 2017</a:t>
            </a:r>
          </a:p>
          <a:p>
            <a:endParaRPr/>
          </a:p>
          <a:p>
            <a:r>
              <a:t>Tigges T, et al. Model selection for the pulse decomposition analysis of fingertip photoplethysmograms. Annu Int Conf IEEE EMBC 2017;2017:4014–7.</a:t>
            </a:r>
          </a:p>
          <a:p>
            <a:endParaRPr/>
          </a:p>
          <a:p>
            <a:r>
              <a:t>単一の最良モデルは存在しない。</a:t>
            </a:r>
          </a:p>
          <a:p>
            <a:r>
              <a:t>これは分解という逆問題が一意に解けていないことの直接の根拠であり、</a:t>
            </a:r>
          </a:p>
          <a:p>
            <a:r>
              <a:t>分解成分に「前進波」「反射波」という部位名を割り当てること自体の弱さにもつながる。</a:t>
            </a:r>
          </a:p>
          <a:p>
            <a:r>
              <a:t>PMID 29060777</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Fleischhauer</a:t>
            </a:r>
          </a:p>
          <a:p>
            <a:endParaRPr/>
          </a:p>
          <a:p>
            <a:r>
              <a:t>Fleischhauer V, et al. Pulse decomposition analysis in photoplethysmography imaging. Physiol Meas 2020;41:095009.</a:t>
            </a:r>
          </a:p>
          <a:p>
            <a:endParaRPr/>
          </a:p>
          <a:p>
            <a:r>
              <a:t>初期値設定の影響も検討している。</a:t>
            </a:r>
          </a:p>
          <a:p>
            <a:r>
              <a:t>アルゴリズム間の差と初期値依存性を実証した文献。</a:t>
            </a:r>
          </a:p>
          <a:p>
            <a:r>
              <a:t>PMID 33021236</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Basso 2024</a:t>
            </a:r>
          </a:p>
          <a:p>
            <a:endParaRPr/>
          </a:p>
          <a:p>
            <a:r>
              <a:t>Basso G, et al. A skewed-Gaussian model for pulse decomposition analysis of photoplethysmography signals. Physiol Meas 2024;45(11):12507. Bland-Altman でバイアスも評価している（数値は抄録に記載なし）。</a:t>
            </a:r>
          </a:p>
          <a:p>
            <a:r>
              <a:t>基底関数の選択が決着していないことの実例であると同時に、</a:t>
            </a:r>
          </a:p>
          <a:p>
            <a:r>
              <a:t>非対称基底の採用という対策の根拠でもある。</a:t>
            </a:r>
          </a:p>
          <a:p>
            <a:r>
              <a:t>PMID 39577084</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Baruch 2014</a:t>
            </a:r>
          </a:p>
          <a:p>
            <a:endParaRPr/>
          </a:p>
          <a:p>
            <a:r>
              <a:t>Baruch MC, et al. Validation of the pulse decomposition analysis algorithm using central arterial blood pressure. Biomed Eng Online 2014;13:96.</a:t>
            </a:r>
          </a:p>
          <a:p>
            <a:endParaRPr/>
          </a:p>
          <a:p>
            <a:r>
              <a:t>中心ラインカテーテルによる中心動脈圧の実測値と比較。</a:t>
            </a:r>
          </a:p>
          <a:p>
            <a:r>
              <a:t>Bland-Altman は AAMI SP-10 のトレンド基準内。</a:t>
            </a:r>
          </a:p>
          <a:p>
            <a:r>
              <a:t>PDA を製品化している系譜（CareTaker／Vitalstream）があり、</a:t>
            </a:r>
          </a:p>
          <a:p>
            <a:r>
              <a:t>実装を検討する場合は特許調査が別途必要になる。</a:t>
            </a:r>
          </a:p>
          <a:p>
            <a:r>
              <a:t>PMID 25005686</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Pal 2024</a:t>
            </a:r>
          </a:p>
          <a:p>
            <a:endParaRPr/>
          </a:p>
          <a:p>
            <a:r>
              <a:t>Pal R, et al. An algorithm to detect dicrotic notch in arterial blood pressure and photoplethysmography waveforms using the iterative envelope mean method. Comput Methods Programs Biomed 2024;254:108283.</a:t>
            </a:r>
          </a:p>
          <a:p>
            <a:endParaRPr/>
          </a:p>
          <a:p>
            <a:r>
              <a:t>収縮期相持続時間 SPD の相関は PPG で R²=0.98（n=86,764, p&lt;.001）。</a:t>
            </a:r>
          </a:p>
          <a:p>
            <a:r>
              <a:t>SNR −12 dB まで高い検出率を維持。</a:t>
            </a:r>
          </a:p>
          <a:p>
            <a:r>
              <a:t>分解法（PDA）ではなく「切痕を直接検出する」系統の到達点であり、</a:t>
            </a:r>
          </a:p>
          <a:p>
            <a:r>
              <a:t>PDA の比較対象になる。</a:t>
            </a:r>
          </a:p>
          <a:p>
            <a:r>
              <a:t>PMID 38901273</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PDA の限界</a:t>
            </a:r>
          </a:p>
          <a:p>
            <a:endParaRPr/>
          </a:p>
          <a:p>
            <a:r>
              <a:t>① 逆問題が一意に解けていない</a:t>
            </a:r>
          </a:p>
          <a:p>
            <a:r>
              <a:t>　　Gaussian／Gamma／skewed-Gaussian／Rayleigh、カーネル数 2〜5 と研究ごとに最良が異なる</a:t>
            </a:r>
          </a:p>
          <a:p>
            <a:r>
              <a:t>　　（Tigges 2017 の総当たりで最頻モデルでも 28.1%）。Basso 2024 が示した初期値依存性も</a:t>
            </a:r>
          </a:p>
          <a:p>
            <a:r>
              <a:t>　　同じ根を持つ。</a:t>
            </a:r>
          </a:p>
          <a:p>
            <a:endParaRPr/>
          </a:p>
          <a:p>
            <a:r>
              <a:t>② 物理的な帰属が数値モデルから支持されていない</a:t>
            </a:r>
          </a:p>
          <a:p>
            <a:r>
              <a:t>　　Epstein 2014 は手の主要動脈を含む 75 本の動脈網を表現した非線形 1 次元モデルで、</a:t>
            </a:r>
          </a:p>
          <a:p>
            <a:r>
              <a:t>　　SI が大動脈 PWV の直接の代用ではないこと、さらに</a:t>
            </a:r>
          </a:p>
          <a:p>
            <a:r>
              <a:t>　　**第 2 ピークは末梢反射ではなく動脈網内部のインピーダンス不整合が主因**であり、</a:t>
            </a:r>
          </a:p>
          <a:p>
            <a:r>
              <a:t>　　上肢の末梢反射はむしろ第 1 ピークの到達時刻を遅らせることを示した。</a:t>
            </a:r>
          </a:p>
          <a:p>
            <a:r>
              <a:t>　　「2 番目の山＝末梢からの反射波」というラベルは自明ではない。</a:t>
            </a:r>
          </a:p>
          <a:p>
            <a:r>
              <a:t>　　当てはまりがいくら改善しても、この帰属が誤っていれば</a:t>
            </a:r>
          </a:p>
          <a:p>
            <a:r>
              <a:t>　　そこから作った RI・SI の生理学的意味は変わってしまう。</a:t>
            </a:r>
          </a:p>
          <a:p>
            <a:endParaRPr/>
          </a:p>
          <a:p>
            <a:r>
              <a:t>③ 振幅側の成績が一貫して弱い</a:t>
            </a:r>
          </a:p>
          <a:p>
            <a:r>
              <a:t>　　Couceiro 2015 の R1_2（モデル由来の RI）はすべての参照値と低相関。</a:t>
            </a:r>
          </a:p>
          <a:p>
            <a:r>
              <a:t>　　時間側の T1_2 ですら TPRI との ρ=0.45 にとどまる。</a:t>
            </a:r>
          </a:p>
          <a:p>
            <a:endParaRPr/>
          </a:p>
          <a:p>
            <a:r>
              <a:t>→ 検証設計としては、真値が既知の仮想被験者データベース（Charlton 2019）で</a:t>
            </a:r>
          </a:p>
          <a:p>
            <a:r>
              <a:t>　 先に帰属を確かめるのが筋である。</a:t>
            </a:r>
          </a:p>
          <a:p>
            <a:endParaRPr/>
          </a:p>
          <a:p>
            <a:r>
              <a:t>出典：42. Couceiro 2015 ／ 43. Tigges 2017 ／ 44. Basso 2024 ／ 47. Epstein 2014</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参考文献の続き（16〜29）。29 は 4.3 で用いた Coutrot 2019。</a:t>
            </a:r>
          </a:p>
          <a:p>
            <a:r>
              <a:t>1枚に28件を並べると下端がはみ出していたため2枚に分割し、本文を 10.5pt にした。</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【PDA の源流：医学の外で育った道具】</a:t>
            </a:r>
          </a:p>
          <a:p>
            <a:r>
              <a:t>PDA は「波形を成分波の重ね合わせに当てはめる」手法だが、その発想そのものは医学由来ではなく、数学・物理・地球物理・分析化学で先に確立している。</a:t>
            </a:r>
          </a:p>
          <a:p/>
          <a:p>
            <a:r>
              <a:t>・1805 Legendre：最小二乗法。観測値との残差の二乗和を最小にする値を「最も確からしい」とする考え方。5.3「当てはめの計算」で最小化している残差平方和はこれ。（Gauss も 1809 年に独立して発表し、1795 年から使っていたと記している。）</a:t>
            </a:r>
          </a:p>
          <a:p/>
          <a:p>
            <a:r>
              <a:t>・1822 Fourier：熱伝導の理論から、任意の波形が単純な波（正弦波）の重ね合わせで表せることを示した。「見えている波は、より単純な波に分けられる」という発想の原点。</a:t>
            </a:r>
          </a:p>
          <a:p/>
          <a:p>
            <a:r>
              <a:t>・1957 Robinson：地震探査の記録を「震源の波形と、地層からの反射の重ね合わせ」とみなし、記録から反射の時刻と大きさを取り出す（predictive deconvolution）。反射の重ね合わせを分解して反射の時刻を読む、という点で PDA とまったく同じ形の問題。</a:t>
            </a:r>
          </a:p>
          <a:p/>
          <a:p>
            <a:r>
              <a:t>・1966 Fraser &amp; Suzuki：分光分析で重なった吸収バンドを、成分バンドの和として最小二乗当てはめで分離した。ここで導入された非対称なガウス型関数（Fraser–Suzuki 関数）は、Basso 2024 の skewed-Gaussian（5.2・5.5⑦）と同じ発想である。</a:t>
            </a:r>
          </a:p>
          <a:p/>
          <a:p>
            <a:r>
              <a:t>要点：PDA の数学的な中身は医学が発明したものではなく、他分野で完成していた道具を脈波に持ち込んだもの。だからこそ「よく当てはまる」ことは数学が保証しても、その成分波が生理学的に何かは保証しない（5.6 の限界につながる）。</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【当てはめを実際に解く道具】</a:t>
            </a:r>
          </a:p>
          <a:p>
            <a:r>
              <a:t>成分波に分けるという発想（前スライド）があっても、実際に数値を求める手段がなければ使えない。その手段も医学の外で用意された。</a:t>
            </a:r>
          </a:p>
          <a:p/>
          <a:p>
            <a:r>
              <a:t>・1944 Levenberg／1963 Marquardt：非線形最小二乗法の反復解法（Levenberg–Marquardt 法）。最急降下法と Gauss–Newton 法を減衰係数で切り替えながら組み合わせる。ガウス関数の高さ a・位置 μ・幅 σ のようにパラメータが非線形に効く当てはめを、計算機で安定に解けるようにした。5.3「当てはめの計算」で行っている反復計算そのもの。なお Levenberg の 1944 年の論文はほとんど注目されず、1963 年の Marquardt の論文で参照されて広まった。</a:t>
            </a:r>
          </a:p>
          <a:p/>
          <a:p>
            <a:r>
              <a:t>・1974 Akaike：赤池情報量規準（AIC）。当てはまりの良さ（最大対数尤度）とパラメータ数による罰則を足し合わせ、モデルの複雑さを選ぶ基準。AIC = −2 log(最大尤度) + 2×(自由パラメータ数)。「成分波を何本使うか」（5.2）を決める根拠になる。Tigges 2017（文献43）は、補正版の AICc を用いて 4 種類の基底関数とモデル次数を総当たりで比較している。</a:t>
            </a:r>
          </a:p>
          <a:p/>
          <a:p>
            <a:r>
              <a:t>注意：これらは PPG 専用の道具ではなく、あらゆる分野で使われる汎用の数値解析である。裏を返せば、AIC が選んだモデルは「データをよく説明する」モデルであって、「生理学的に正しい」モデルではない。5.6 の限界①（解が一意に決まらない）・②（第2の山＝反射波とは限らない）はここに由来する。</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【医療への応用の歴史】</a:t>
            </a:r>
          </a:p>
          <a:p>
            <a:r>
              <a:t>・1899 Frank：Windkessel モデル。動脈系を弾性室（大動脈のコンプライアンス）と末梢抵抗で表す数式モデルで、脈波を数式で扱う出発点になった。</a:t>
            </a:r>
          </a:p>
          <a:p/>
          <a:p>
            <a:r>
              <a:t>・1972 Westerhof ら：イヌの上行大動脈で、圧波形を心臓から末梢へ向かう前進波と、末梢から戻る後退波に分離した（wave separation analysis）。ただし分離には圧と流量（血流）の同時計測が必要で、侵襲的である。</a:t>
            </a:r>
          </a:p>
          <a:p/>
          <a:p>
            <a:r>
              <a:t>・1990 Parker &amp; Jones：特性曲線法による wave intensity analysis。反射のタイミングと大きさを扱う方法。これも圧と血流速度の同時計測が前提。</a:t>
            </a:r>
          </a:p>
          <a:p/>
          <a:p>
            <a:r>
              <a:t>・2008 Rubins：指尖および耳朶の PPG を、収縮期波と拡張期波それぞれ 2 つのガウス関数の和で当てはめ、RI と AI を算出（健常者 40 名／文献40）。PPG に成分波当てはめを本格的に持ち込んだ研究で、本デックの 5.5① にあたる。</a:t>
            </a:r>
          </a:p>
          <a:p/>
          <a:p>
            <a:r>
              <a:t>・2011 Baruch ら：末梢の動脈脈波を 5 つの成分波（第1波は左室駆出、残りは中心動脈にある 2 か所の反射部位からの反射・再反射）の重ね合わせとみなす手法を Pulse Decomposition Analysis（PDA）と呼んだ。下半身陰圧による出血模擬で、第1成分波と第3成分波の時間差 T13 と脈圧の関係を検討している。2014 年には心臓カテーテル検査中の中心動脈圧と対比して検証（文献46／5.5⑧）。</a:t>
            </a:r>
          </a:p>
          <a:p/>
          <a:p>
            <a:r>
              <a:t>・2012 年以降：Couceiro（多ガウス分解から LVET・血圧）、Tigges（モデル選択）、Fleischhauer（カーネルの種類と個数の頑健性）、Basso（非対称モデル）と、PPG での PDA が方法論として発展した。詳細は 5.5 を参照。</a:t>
            </a:r>
          </a:p>
          <a:p/>
          <a:p>
            <a:r>
              <a:t>要点：Westerhof 以来の「前進波と後退波に分ける」作業は、本来は圧と流量という 2 つの実測を必要とした。PDA はそれを PPG という 1 本の信号だけで行おうとするものであり、だからこそ解が一意に決まらないという限界（5.6）を抱えることになる。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BB1DD5-1A16-1A60-20AF-B5EED0CFCF2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8A4C9E5-FD63-3236-24F5-FC748686EB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3E335F1-834C-BABF-045C-355CCB0A42FF}"/>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FAFDC9A0-3B96-460D-AAB9-FC66E94BBED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7B83DAC-4DD6-08ED-9DCA-53A6DDC06710}"/>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923659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609514-4D53-EA77-F63A-42232F85E86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96EA3DF-4DF3-4992-2DA5-D0DB3DB82D6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B80B6BE-5CB3-C4BE-E076-4A49EC4E4922}"/>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CEF0FD92-12CD-409B-1CEB-389EE2162B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316860B-2AFE-23CB-BE82-66E8FF319C65}"/>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200406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10785A-59BF-2065-B8A1-EBEAADF6A190}"/>
              </a:ext>
            </a:extLst>
          </p:cNvPr>
          <p:cNvSpPr>
            <a:spLocks noGrp="1"/>
          </p:cNvSpPr>
          <p:nvPr>
            <p:ph type="title"/>
          </p:nvPr>
        </p:nvSpPr>
        <p:spPr>
          <a:noFill/>
        </p:spPr>
        <p:txBody>
          <a:bodyPr>
            <a:normAutofit/>
          </a:bodyPr>
          <a:lstStyle>
            <a:lvl1pPr>
              <a:defRPr sz="5400" b="1">
                <a:ln w="28575">
                  <a:solidFill>
                    <a:schemeClr val="tx1"/>
                  </a:solidFill>
                </a:ln>
                <a:solidFill>
                  <a:schemeClr val="accent4">
                    <a:lumMod val="75000"/>
                  </a:schemeClr>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068DAE1-7483-C30B-E035-FB6DBF4EC39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1C75BA9-652B-2D4F-9F17-725B5935BFBE}"/>
              </a:ext>
            </a:extLst>
          </p:cNvPr>
          <p:cNvSpPr>
            <a:spLocks noGrp="1"/>
          </p:cNvSpPr>
          <p:nvPr>
            <p:ph type="dt" sz="half" idx="10"/>
          </p:nvPr>
        </p:nvSpPr>
        <p:spPr/>
        <p:txBody>
          <a:bodyPr/>
          <a:lstStyle/>
          <a:p>
            <a:fld id="{A73D7EA1-97A8-0545-955B-06694759B3F9}"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437D5B95-0BF5-1A66-4B43-3005CBFD369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F6633EE-B940-40F0-810F-74E7411441EC}"/>
              </a:ext>
            </a:extLst>
          </p:cNvPr>
          <p:cNvSpPr>
            <a:spLocks noGrp="1"/>
          </p:cNvSpPr>
          <p:nvPr>
            <p:ph type="sldNum" sz="quarter" idx="12"/>
          </p:nvPr>
        </p:nvSpPr>
        <p:spPr/>
        <p:txBody>
          <a:bodyPr/>
          <a:lstStyle/>
          <a:p>
            <a:fld id="{1B432A2A-E892-8A44-A0E8-B63FAA9CED68}" type="slidenum">
              <a:rPr kumimoji="1" lang="ja-JP" altLang="en-US" smtClean="0"/>
              <a:t>‹#›</a:t>
            </a:fld>
            <a:endParaRPr kumimoji="1" lang="ja-JP" altLang="en-US"/>
          </a:p>
        </p:txBody>
      </p:sp>
      <p:cxnSp>
        <p:nvCxnSpPr>
          <p:cNvPr id="8" name="直線コネクタ 7">
            <a:extLst>
              <a:ext uri="{FF2B5EF4-FFF2-40B4-BE49-F238E27FC236}">
                <a16:creationId xmlns:a16="http://schemas.microsoft.com/office/drawing/2014/main" id="{1588CBBB-9AF3-0B69-57D8-03EC6E25D148}"/>
              </a:ext>
            </a:extLst>
          </p:cNvPr>
          <p:cNvCxnSpPr/>
          <p:nvPr userDrawn="1"/>
        </p:nvCxnSpPr>
        <p:spPr>
          <a:xfrm>
            <a:off x="0" y="1385889"/>
            <a:ext cx="12192000" cy="0"/>
          </a:xfrm>
          <a:prstGeom prst="line">
            <a:avLst/>
          </a:prstGeom>
          <a:ln w="1016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0283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64E0C8-3610-C864-7B17-EEEE201544C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AE91662-1152-EA17-B236-CF25E975C4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A0A7F96-49A0-58F6-DA2B-01B201036C46}"/>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A096A423-4B04-3CED-2E70-E49F08F7F7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9EF4DCE-A44E-3C9F-B1F7-D59EAF8437DC}"/>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098951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5718C9-086A-D1B4-DD68-4C9B73A0AAD9}"/>
              </a:ext>
            </a:extLst>
          </p:cNvPr>
          <p:cNvSpPr>
            <a:spLocks noGrp="1"/>
          </p:cNvSpPr>
          <p:nvPr>
            <p:ph type="title"/>
          </p:nvPr>
        </p:nvSpPr>
        <p:spPr/>
        <p:txBody>
          <a:bodyPr>
            <a:normAutofit/>
          </a:bodyPr>
          <a:lstStyle>
            <a:lvl1pPr>
              <a:defRPr sz="5400" b="1">
                <a:ln w="28575">
                  <a:solidFill>
                    <a:schemeClr val="tx1"/>
                  </a:solidFill>
                </a:ln>
                <a:solidFill>
                  <a:schemeClr val="accent4">
                    <a:lumMod val="75000"/>
                  </a:schemeClr>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DED73AC-1557-B634-8F9F-5C5723BC5FB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DF23024-122B-1FCF-C2E0-B59E059D445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2521A9A-6B13-05C5-5C9D-3D6E125037F3}"/>
              </a:ext>
            </a:extLst>
          </p:cNvPr>
          <p:cNvSpPr>
            <a:spLocks noGrp="1"/>
          </p:cNvSpPr>
          <p:nvPr>
            <p:ph type="dt" sz="half" idx="10"/>
          </p:nvPr>
        </p:nvSpPr>
        <p:spPr/>
        <p:txBody>
          <a:bodyPr/>
          <a:lstStyle/>
          <a:p>
            <a:fld id="{A73D7EA1-97A8-0545-955B-06694759B3F9}" type="datetimeFigureOut">
              <a:rPr kumimoji="1" lang="ja-JP" altLang="en-US" smtClean="0"/>
              <a:t>2026/8/15</a:t>
            </a:fld>
            <a:endParaRPr kumimoji="1" lang="ja-JP" altLang="en-US"/>
          </a:p>
        </p:txBody>
      </p:sp>
      <p:sp>
        <p:nvSpPr>
          <p:cNvPr id="6" name="フッター プレースホルダー 5">
            <a:extLst>
              <a:ext uri="{FF2B5EF4-FFF2-40B4-BE49-F238E27FC236}">
                <a16:creationId xmlns:a16="http://schemas.microsoft.com/office/drawing/2014/main" id="{153A542A-A56B-777E-3F1D-A1708CE104F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0417F42-A65D-CC2D-BF13-1F280C6F77DB}"/>
              </a:ext>
            </a:extLst>
          </p:cNvPr>
          <p:cNvSpPr>
            <a:spLocks noGrp="1"/>
          </p:cNvSpPr>
          <p:nvPr>
            <p:ph type="sldNum" sz="quarter" idx="12"/>
          </p:nvPr>
        </p:nvSpPr>
        <p:spPr/>
        <p:txBody>
          <a:bodyPr/>
          <a:lstStyle/>
          <a:p>
            <a:fld id="{1B432A2A-E892-8A44-A0E8-B63FAA9CED68}" type="slidenum">
              <a:rPr kumimoji="1" lang="ja-JP" altLang="en-US" smtClean="0"/>
              <a:t>‹#›</a:t>
            </a:fld>
            <a:endParaRPr kumimoji="1" lang="ja-JP" altLang="en-US"/>
          </a:p>
        </p:txBody>
      </p:sp>
      <p:cxnSp>
        <p:nvCxnSpPr>
          <p:cNvPr id="9" name="直線コネクタ 8">
            <a:extLst>
              <a:ext uri="{FF2B5EF4-FFF2-40B4-BE49-F238E27FC236}">
                <a16:creationId xmlns:a16="http://schemas.microsoft.com/office/drawing/2014/main" id="{937BC2D1-3F82-EF81-D97A-7D3AE2FE202A}"/>
              </a:ext>
            </a:extLst>
          </p:cNvPr>
          <p:cNvCxnSpPr/>
          <p:nvPr userDrawn="1"/>
        </p:nvCxnSpPr>
        <p:spPr>
          <a:xfrm>
            <a:off x="0" y="1385889"/>
            <a:ext cx="12192000" cy="0"/>
          </a:xfrm>
          <a:prstGeom prst="line">
            <a:avLst/>
          </a:prstGeom>
          <a:ln w="1016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9009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7388CD-1FFB-31F3-C7DB-E3B5FD10D4B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FC6DE23-D275-4370-BD5A-480D95CE28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D690AA4-E9AA-B485-AD6C-1C2878DAD19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8E67483-14AB-067C-B7B7-2EA7516092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65BB0C7-C880-82CA-51CD-8FE569A9A82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B768951-A05B-F317-444E-B2396EBCE859}"/>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8" name="フッター プレースホルダー 7">
            <a:extLst>
              <a:ext uri="{FF2B5EF4-FFF2-40B4-BE49-F238E27FC236}">
                <a16:creationId xmlns:a16="http://schemas.microsoft.com/office/drawing/2014/main" id="{9818A5DB-3180-023B-135D-27BD785A8DB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9B93B53-35E3-07DA-9CCC-A402E6685B00}"/>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557670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B883C7-DD58-5055-62BC-9EDA06590C4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D0DB5EC-BDE0-34D0-DA77-D4DB1A3B6F12}"/>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4" name="フッター プレースホルダー 3">
            <a:extLst>
              <a:ext uri="{FF2B5EF4-FFF2-40B4-BE49-F238E27FC236}">
                <a16:creationId xmlns:a16="http://schemas.microsoft.com/office/drawing/2014/main" id="{AC03656C-86B7-4C15-7BA3-B3B601F88C4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5CBC942-C4B6-A5DA-4F52-C029DAE94702}"/>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257542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27ED450-F690-B038-0094-3555581065A9}"/>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3" name="フッター プレースホルダー 2">
            <a:extLst>
              <a:ext uri="{FF2B5EF4-FFF2-40B4-BE49-F238E27FC236}">
                <a16:creationId xmlns:a16="http://schemas.microsoft.com/office/drawing/2014/main" id="{215B6823-52A0-CD63-36F2-D393CFBAD4C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8CFD362-AD76-FE16-43FF-BF50D783C225}"/>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3030186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AC8FEB-313E-1A23-E039-1FD7BC55147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58DE601-91D4-BA5F-BDED-C48ED34A96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6301970-4A10-1455-4740-658C137B58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1B49241-62A1-1BE7-9708-63D789B8A049}"/>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6" name="フッター プレースホルダー 5">
            <a:extLst>
              <a:ext uri="{FF2B5EF4-FFF2-40B4-BE49-F238E27FC236}">
                <a16:creationId xmlns:a16="http://schemas.microsoft.com/office/drawing/2014/main" id="{18D7AE81-D6E0-B1A1-B87D-C06575CF96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92F107A-897F-811D-10D8-251DF9C7C7BA}"/>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2951925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7E2A16-725A-923D-2398-0748807BDF5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341C8C2-22C2-0735-C719-9C480705C8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7A762707-D34C-FFF3-F523-CC41D9BBBC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3B0758A-0126-79D7-6E8A-D1F16CA2555A}"/>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6" name="フッター プレースホルダー 5">
            <a:extLst>
              <a:ext uri="{FF2B5EF4-FFF2-40B4-BE49-F238E27FC236}">
                <a16:creationId xmlns:a16="http://schemas.microsoft.com/office/drawing/2014/main" id="{D356DEE3-FF23-C461-2CDC-6EE451E78D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0889527-DA9C-DD5E-F8C5-7BA97C20C493}"/>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545643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F78201-368B-B21B-3515-CD75CA99C60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B298458-2860-EDE4-A6A1-B909945E445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0C12A1F-E8C6-279E-3702-8D2ABDBF6ED7}"/>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1A895D9E-AB19-209A-271D-B608230A1BF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7E1F434-D8A1-EF22-053D-975724C5957A}"/>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747549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 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6934F63-3C4A-7B03-891B-E58C9EA8E71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A287C40-F8A5-5185-5289-BD6F4927388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4E29567-34C3-408A-FF69-904DA4E14F34}"/>
              </a:ext>
            </a:extLst>
          </p:cNvPr>
          <p:cNvSpPr>
            <a:spLocks noGrp="1"/>
          </p:cNvSpPr>
          <p:nvPr>
            <p:ph type="dt" sz="half" idx="10"/>
          </p:nvPr>
        </p:nvSpPr>
        <p:spPr/>
        <p:txBody>
          <a:bodyPr/>
          <a:lstStyle/>
          <a:p>
            <a:fld id="{64C99FAD-9CFF-A945-A4B4-00DC82096DC7}"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45F29D42-3054-9D88-7ED1-821F898FF8C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5E444BA-BF3C-F39D-027D-995CD9803464}"/>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84746048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3EDAF73-0985-4932-CF4F-43C22E9DBE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A33A57B-39B7-8230-92F1-93C62ADD8B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12802F8-0984-5FCE-8D31-D5E22B3FB0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C99FAD-9CFF-A945-A4B4-00DC82096DC7}" type="datetimeFigureOut">
              <a:rPr kumimoji="1" lang="ja-JP" altLang="en-US" smtClean="0"/>
              <a:t>2026/8/15</a:t>
            </a:fld>
            <a:endParaRPr kumimoji="1" lang="ja-JP" altLang="en-US"/>
          </a:p>
        </p:txBody>
      </p:sp>
      <p:sp>
        <p:nvSpPr>
          <p:cNvPr id="5" name="フッター プレースホルダー 4">
            <a:extLst>
              <a:ext uri="{FF2B5EF4-FFF2-40B4-BE49-F238E27FC236}">
                <a16:creationId xmlns:a16="http://schemas.microsoft.com/office/drawing/2014/main" id="{45D0B7D1-B6C1-E9C8-4751-E2D7714B04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2583EDD-12F7-AD8E-CC21-18FE39582D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3049843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61"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5.png"/><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5.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8.png"/><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0.png"/><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9.png"/><Relationship Id="rId4" Type="http://schemas.openxmlformats.org/officeDocument/2006/relationships/image" Target="../media/image3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3.png"/><Relationship Id="rId4" Type="http://schemas.openxmlformats.org/officeDocument/2006/relationships/image" Target="../media/image2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3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06F4D-CC38-C2F8-0A88-B7AF90ADD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00115-DF01-9B57-B621-2A10CF5BA13B}"/>
              </a:ext>
            </a:extLst>
          </p:cNvPr>
          <p:cNvSpPr>
            <a:spLocks noGrp="1"/>
          </p:cNvSpPr>
          <p:nvPr>
            <p:ph type="ctrTitle"/>
          </p:nvPr>
        </p:nvSpPr>
        <p:spPr>
          <a:xfrm>
            <a:off x="517460" y="1191722"/>
            <a:ext cx="11157079" cy="3303864"/>
          </a:xfrm>
        </p:spPr>
        <p:txBody>
          <a:bodyPr>
            <a:noAutofit/>
          </a:bodyPr>
          <a:lstStyle/>
          <a:p>
            <a:pPr>
              <a:lnSpc>
                <a:spcPct val="150000"/>
              </a:lnSpc>
              <a:spcAft>
                <a:spcPts val="600"/>
              </a:spcAft>
            </a:pPr>
            <a:r>
              <a:rPr lang="en-US" sz="4800" b="1" dirty="0" err="1">
                <a:solidFill>
                  <a:srgbClr val="262626"/>
                </a:solidFill>
                <a:latin typeface="Meiryo"/>
                <a:ea typeface="Meiryo"/>
                <a:cs typeface="Meiryo"/>
              </a:rPr>
              <a:t>光電式容積脈波記録法：PhotoPlethysmoGraphy</a:t>
            </a:r>
            <a:r>
              <a:rPr lang="en-US" sz="4800" b="1" dirty="0">
                <a:solidFill>
                  <a:srgbClr val="262626"/>
                </a:solidFill>
                <a:latin typeface="Meiryo"/>
                <a:ea typeface="Meiryo"/>
                <a:cs typeface="Meiryo"/>
              </a:rPr>
              <a:t>（</a:t>
            </a:r>
            <a:r>
              <a:rPr lang="en" altLang="ja-JP" sz="4800" b="1" dirty="0">
                <a:solidFill>
                  <a:srgbClr val="262626"/>
                </a:solidFill>
                <a:latin typeface="Meiryo"/>
                <a:ea typeface="Meiryo"/>
                <a:cs typeface="Meiryo"/>
              </a:rPr>
              <a:t> PPG </a:t>
            </a:r>
            <a:r>
              <a:rPr lang="en-US" sz="4800" b="1" dirty="0">
                <a:solidFill>
                  <a:srgbClr val="262626"/>
                </a:solidFill>
                <a:latin typeface="Meiryo"/>
                <a:ea typeface="Meiryo"/>
                <a:cs typeface="Meiryo"/>
              </a:rPr>
              <a:t>）</a:t>
            </a:r>
            <a:br>
              <a:rPr lang="en-US" sz="4800" b="1" dirty="0">
                <a:solidFill>
                  <a:srgbClr val="262626"/>
                </a:solidFill>
                <a:latin typeface="Meiryo"/>
                <a:ea typeface="Meiryo"/>
                <a:cs typeface="Meiryo"/>
              </a:rPr>
            </a:br>
            <a:r>
              <a:rPr sz="4800" b="1" dirty="0" err="1">
                <a:solidFill>
                  <a:srgbClr val="262626"/>
                </a:solidFill>
                <a:latin typeface="Meiryo"/>
                <a:ea typeface="Meiryo"/>
                <a:cs typeface="Meiryo"/>
              </a:rPr>
              <a:t>波形解析</a:t>
            </a:r>
            <a:r>
              <a:rPr lang="ja-JP" altLang="en-US" sz="4800" b="1">
                <a:solidFill>
                  <a:srgbClr val="262626"/>
                </a:solidFill>
                <a:latin typeface="Meiryo"/>
                <a:ea typeface="Meiryo"/>
                <a:cs typeface="Meiryo"/>
              </a:rPr>
              <a:t>について</a:t>
            </a:r>
            <a:endParaRPr sz="4800" b="1" dirty="0">
              <a:solidFill>
                <a:srgbClr val="262626"/>
              </a:solidFill>
              <a:latin typeface="Meiryo"/>
              <a:ea typeface="Meiryo"/>
              <a:cs typeface="Meiryo"/>
            </a:endParaRPr>
          </a:p>
        </p:txBody>
      </p:sp>
      <p:sp>
        <p:nvSpPr>
          <p:cNvPr id="3" name="Subtitle 2">
            <a:extLst>
              <a:ext uri="{FF2B5EF4-FFF2-40B4-BE49-F238E27FC236}">
                <a16:creationId xmlns:a16="http://schemas.microsoft.com/office/drawing/2014/main" id="{68FAD383-7C85-64B8-3A0D-6A86EE5DD97D}"/>
              </a:ext>
            </a:extLst>
          </p:cNvPr>
          <p:cNvSpPr>
            <a:spLocks noGrp="1"/>
          </p:cNvSpPr>
          <p:nvPr>
            <p:ph type="subTitle" idx="1"/>
          </p:nvPr>
        </p:nvSpPr>
        <p:spPr>
          <a:xfrm>
            <a:off x="1511999" y="4015274"/>
            <a:ext cx="9144000" cy="1655762"/>
          </a:xfrm>
        </p:spPr>
        <p:txBody>
          <a:bodyPr>
            <a:normAutofit/>
          </a:bodyPr>
          <a:lstStyle/>
          <a:p>
            <a:pPr algn="ctr">
              <a:spcAft>
                <a:spcPts val="400"/>
              </a:spcAft>
            </a:pPr>
            <a:endParaRPr lang="en-US" sz="2200" b="0" dirty="0">
              <a:solidFill>
                <a:srgbClr val="808080"/>
              </a:solidFill>
              <a:latin typeface="Meiryo"/>
              <a:ea typeface="Meiryo"/>
              <a:cs typeface="Meiryo"/>
            </a:endParaRPr>
          </a:p>
          <a:p>
            <a:pPr algn="ctr">
              <a:spcAft>
                <a:spcPts val="400"/>
              </a:spcAft>
            </a:pPr>
            <a:endParaRPr sz="2200" b="0" dirty="0">
              <a:solidFill>
                <a:srgbClr val="808080"/>
              </a:solidFill>
              <a:latin typeface="Meiryo"/>
              <a:ea typeface="Meiryo"/>
              <a:cs typeface="Meiryo"/>
            </a:endParaRPr>
          </a:p>
          <a:p>
            <a:pPr algn="ctr">
              <a:spcAft>
                <a:spcPts val="400"/>
              </a:spcAft>
            </a:pPr>
            <a:r>
              <a:rPr sz="2200" b="0" dirty="0">
                <a:solidFill>
                  <a:srgbClr val="262626"/>
                </a:solidFill>
                <a:latin typeface="Meiryo"/>
                <a:ea typeface="Meiryo"/>
                <a:cs typeface="Meiryo"/>
              </a:rPr>
              <a:t>川副 靖晃</a:t>
            </a:r>
          </a:p>
        </p:txBody>
      </p:sp>
      <p:pic>
        <p:nvPicPr>
          <p:cNvPr id="4" name="Picture 3" descr="01_hero.png">
            <a:extLst>
              <a:ext uri="{FF2B5EF4-FFF2-40B4-BE49-F238E27FC236}">
                <a16:creationId xmlns:a16="http://schemas.microsoft.com/office/drawing/2014/main" id="{41F42534-4E2B-4E55-CF2F-2632C2CEB70C}"/>
              </a:ext>
            </a:extLst>
          </p:cNvPr>
          <p:cNvPicPr>
            <a:picLocks noChangeAspect="1"/>
          </p:cNvPicPr>
          <p:nvPr/>
        </p:nvPicPr>
        <p:blipFill>
          <a:blip r:embed="rId3"/>
          <a:stretch>
            <a:fillRect/>
          </a:stretch>
        </p:blipFill>
        <p:spPr>
          <a:xfrm>
            <a:off x="4744259" y="5580000"/>
            <a:ext cx="2679481" cy="1044000"/>
          </a:xfrm>
          <a:prstGeom prst="rect">
            <a:avLst/>
          </a:prstGeom>
        </p:spPr>
      </p:pic>
    </p:spTree>
    <p:extLst>
      <p:ext uri="{BB962C8B-B14F-4D97-AF65-F5344CB8AC3E}">
        <p14:creationId xmlns:p14="http://schemas.microsoft.com/office/powerpoint/2010/main" val="64890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72ECB-9F6F-AE99-94C6-56000401B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0DACE4-668A-D2E2-5CFB-29DB39041AB3}"/>
              </a:ext>
            </a:extLst>
          </p:cNvPr>
          <p:cNvSpPr>
            <a:spLocks noGrp="1"/>
          </p:cNvSpPr>
          <p:nvPr>
            <p:ph type="title"/>
          </p:nvPr>
        </p:nvSpPr>
        <p:spPr/>
        <p:txBody>
          <a:bodyPr/>
          <a:lstStyle/>
          <a:p>
            <a:pPr algn="l"/>
            <a:r>
              <a:rPr sz="4600" dirty="0">
                <a:latin typeface="Meiryo"/>
                <a:ea typeface="Meiryo"/>
                <a:cs typeface="Meiryo"/>
              </a:rPr>
              <a:t>用語の整理</a:t>
            </a:r>
          </a:p>
        </p:txBody>
      </p:sp>
      <p:sp>
        <p:nvSpPr>
          <p:cNvPr id="12" name="Off-page Connector 4">
            <a:extLst>
              <a:ext uri="{FF2B5EF4-FFF2-40B4-BE49-F238E27FC236}">
                <a16:creationId xmlns:a16="http://schemas.microsoft.com/office/drawing/2014/main" id="{32CBB9D4-72FC-CE51-CD8B-FDB4CF9593A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BBB0670E-8FB2-AC3B-96A2-C01F2B37CDCA}"/>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428407F8-90F9-7A3F-9A34-CC570C2CA474}"/>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989C7F27-A16F-4EF6-7A91-EB05CEE76A5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7D6E77E0-89EF-FA99-E9A8-75B42B3E7E96}"/>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7" name="Source">
            <a:extLst>
              <a:ext uri="{FF2B5EF4-FFF2-40B4-BE49-F238E27FC236}">
                <a16:creationId xmlns:a16="http://schemas.microsoft.com/office/drawing/2014/main" id="{37C19857-83F1-BA8D-C641-222B8CF685A6}"/>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2. Aoyagi 2003　／　3. Chan 2013</a:t>
            </a:r>
          </a:p>
        </p:txBody>
      </p:sp>
      <p:sp>
        <p:nvSpPr>
          <p:cNvPr id="18" name="Rounded Rectangle 17">
            <a:extLst>
              <a:ext uri="{FF2B5EF4-FFF2-40B4-BE49-F238E27FC236}">
                <a16:creationId xmlns:a16="http://schemas.microsoft.com/office/drawing/2014/main" id="{150D3D67-74A1-7228-7D80-EA72776A3C77}"/>
              </a:ext>
            </a:extLst>
          </p:cNvPr>
          <p:cNvSpPr/>
          <p:nvPr/>
        </p:nvSpPr>
        <p:spPr>
          <a:xfrm>
            <a:off x="390816" y="2413935"/>
            <a:ext cx="3520440" cy="17830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a:extLst>
              <a:ext uri="{FF2B5EF4-FFF2-40B4-BE49-F238E27FC236}">
                <a16:creationId xmlns:a16="http://schemas.microsoft.com/office/drawing/2014/main" id="{EAF29409-8F38-B8CA-A09C-2C59E4668EDD}"/>
              </a:ext>
            </a:extLst>
          </p:cNvPr>
          <p:cNvSpPr txBox="1"/>
          <p:nvPr/>
        </p:nvSpPr>
        <p:spPr>
          <a:xfrm>
            <a:off x="573696" y="2642535"/>
            <a:ext cx="3154680" cy="634166"/>
          </a:xfrm>
          <a:prstGeom prst="rect">
            <a:avLst/>
          </a:prstGeom>
          <a:noFill/>
        </p:spPr>
        <p:txBody>
          <a:bodyPr wrap="square" lIns="0" tIns="0" rIns="0" bIns="0" anchor="t">
            <a:spAutoFit/>
          </a:bodyPr>
          <a:lstStyle/>
          <a:p>
            <a:pPr algn="ctr"/>
            <a:r>
              <a:rPr sz="3000" b="1">
                <a:solidFill>
                  <a:srgbClr val="0072B2"/>
                </a:solidFill>
                <a:latin typeface="Meiryo"/>
                <a:ea typeface="Meiryo"/>
                <a:cs typeface="Meiryo"/>
              </a:rPr>
              <a:t>PPG</a:t>
            </a:r>
          </a:p>
        </p:txBody>
      </p:sp>
      <p:sp>
        <p:nvSpPr>
          <p:cNvPr id="20" name="TextBox 19">
            <a:extLst>
              <a:ext uri="{FF2B5EF4-FFF2-40B4-BE49-F238E27FC236}">
                <a16:creationId xmlns:a16="http://schemas.microsoft.com/office/drawing/2014/main" id="{A9EFB892-AC88-D9CB-4EA0-73175B966B30}"/>
              </a:ext>
            </a:extLst>
          </p:cNvPr>
          <p:cNvSpPr txBox="1"/>
          <p:nvPr/>
        </p:nvSpPr>
        <p:spPr>
          <a:xfrm>
            <a:off x="573696" y="3191175"/>
            <a:ext cx="3154680" cy="1330390"/>
          </a:xfrm>
          <a:prstGeom prst="rect">
            <a:avLst/>
          </a:prstGeom>
          <a:noFill/>
        </p:spPr>
        <p:txBody>
          <a:bodyPr wrap="square" lIns="0" tIns="0" rIns="0" bIns="0" anchor="t">
            <a:spAutoFit/>
          </a:bodyPr>
          <a:lstStyle/>
          <a:p>
            <a:pPr algn="ctr">
              <a:spcAft>
                <a:spcPts val="400"/>
              </a:spcAft>
            </a:pPr>
            <a:r>
              <a:rPr lang="ja-JP" altLang="en-US" sz="2300">
                <a:solidFill>
                  <a:srgbClr val="262626"/>
                </a:solidFill>
                <a:latin typeface="Meiryo"/>
                <a:ea typeface="Meiryo"/>
                <a:cs typeface="Meiryo"/>
              </a:rPr>
              <a:t>光により</a:t>
            </a:r>
            <a:r>
              <a:rPr sz="2300" b="0" dirty="0" err="1">
                <a:solidFill>
                  <a:srgbClr val="262626"/>
                </a:solidFill>
                <a:latin typeface="Meiryo"/>
                <a:ea typeface="Meiryo"/>
                <a:cs typeface="Meiryo"/>
              </a:rPr>
              <a:t>血液量変化を</a:t>
            </a:r>
            <a:r>
              <a:rPr lang="ja-JP" altLang="en-US" sz="2300" b="0">
                <a:solidFill>
                  <a:srgbClr val="262626"/>
                </a:solidFill>
                <a:latin typeface="Meiryo"/>
                <a:ea typeface="Meiryo"/>
                <a:cs typeface="Meiryo"/>
              </a:rPr>
              <a:t>検出する脈波測定方法</a:t>
            </a:r>
            <a:endParaRPr sz="2300" b="0" dirty="0">
              <a:solidFill>
                <a:srgbClr val="262626"/>
              </a:solidFill>
              <a:latin typeface="Meiryo"/>
              <a:ea typeface="Meiryo"/>
              <a:cs typeface="Meiryo"/>
            </a:endParaRPr>
          </a:p>
        </p:txBody>
      </p:sp>
      <p:sp>
        <p:nvSpPr>
          <p:cNvPr id="21" name="Right Arrow 20">
            <a:extLst>
              <a:ext uri="{FF2B5EF4-FFF2-40B4-BE49-F238E27FC236}">
                <a16:creationId xmlns:a16="http://schemas.microsoft.com/office/drawing/2014/main" id="{3939B752-9763-B2B9-09FC-A1E798FDBEE1}"/>
              </a:ext>
            </a:extLst>
          </p:cNvPr>
          <p:cNvSpPr/>
          <p:nvPr/>
        </p:nvSpPr>
        <p:spPr>
          <a:xfrm>
            <a:off x="4048416" y="3063159"/>
            <a:ext cx="566928" cy="5029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a:extLst>
              <a:ext uri="{FF2B5EF4-FFF2-40B4-BE49-F238E27FC236}">
                <a16:creationId xmlns:a16="http://schemas.microsoft.com/office/drawing/2014/main" id="{0FE3AB1D-C75F-9871-04EC-479CC7BB067B}"/>
              </a:ext>
            </a:extLst>
          </p:cNvPr>
          <p:cNvSpPr/>
          <p:nvPr/>
        </p:nvSpPr>
        <p:spPr>
          <a:xfrm>
            <a:off x="4752504" y="2413935"/>
            <a:ext cx="3520440" cy="178308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a:extLst>
              <a:ext uri="{FF2B5EF4-FFF2-40B4-BE49-F238E27FC236}">
                <a16:creationId xmlns:a16="http://schemas.microsoft.com/office/drawing/2014/main" id="{33F70F4F-CE63-E23E-79D9-2B0D6F15E6EF}"/>
              </a:ext>
            </a:extLst>
          </p:cNvPr>
          <p:cNvSpPr txBox="1"/>
          <p:nvPr/>
        </p:nvSpPr>
        <p:spPr>
          <a:xfrm>
            <a:off x="4935384" y="2642535"/>
            <a:ext cx="3154680" cy="634166"/>
          </a:xfrm>
          <a:prstGeom prst="rect">
            <a:avLst/>
          </a:prstGeom>
          <a:noFill/>
        </p:spPr>
        <p:txBody>
          <a:bodyPr wrap="square" lIns="0" tIns="0" rIns="0" bIns="0" anchor="t">
            <a:spAutoFit/>
          </a:bodyPr>
          <a:lstStyle/>
          <a:p>
            <a:pPr algn="ctr"/>
            <a:r>
              <a:rPr sz="3000" b="1">
                <a:solidFill>
                  <a:srgbClr val="D55E00"/>
                </a:solidFill>
                <a:latin typeface="Meiryo"/>
                <a:ea typeface="Meiryo"/>
                <a:cs typeface="Meiryo"/>
              </a:rPr>
              <a:t>PPG 波形</a:t>
            </a:r>
          </a:p>
        </p:txBody>
      </p:sp>
      <p:sp>
        <p:nvSpPr>
          <p:cNvPr id="24" name="TextBox 23">
            <a:extLst>
              <a:ext uri="{FF2B5EF4-FFF2-40B4-BE49-F238E27FC236}">
                <a16:creationId xmlns:a16="http://schemas.microsoft.com/office/drawing/2014/main" id="{34F9D872-DF80-C90F-413D-3CB1DE063F97}"/>
              </a:ext>
            </a:extLst>
          </p:cNvPr>
          <p:cNvSpPr txBox="1"/>
          <p:nvPr/>
        </p:nvSpPr>
        <p:spPr>
          <a:xfrm>
            <a:off x="4935384" y="3191175"/>
            <a:ext cx="3154680" cy="956692"/>
          </a:xfrm>
          <a:prstGeom prst="rect">
            <a:avLst/>
          </a:prstGeom>
          <a:noFill/>
        </p:spPr>
        <p:txBody>
          <a:bodyPr wrap="square" lIns="0" tIns="0" rIns="0" bIns="0" anchor="t">
            <a:spAutoFit/>
          </a:bodyPr>
          <a:lstStyle/>
          <a:p>
            <a:pPr algn="ctr">
              <a:spcAft>
                <a:spcPts val="400"/>
              </a:spcAft>
            </a:pPr>
            <a:r>
              <a:rPr sz="2300" b="0">
                <a:solidFill>
                  <a:srgbClr val="262626"/>
                </a:solidFill>
                <a:latin typeface="Meiryo"/>
                <a:ea typeface="Meiryo"/>
                <a:cs typeface="Meiryo"/>
              </a:rPr>
              <a:t>得られた波</a:t>
            </a:r>
          </a:p>
          <a:p>
            <a:pPr algn="ctr">
              <a:spcAft>
                <a:spcPts val="400"/>
              </a:spcAft>
            </a:pPr>
            <a:r>
              <a:rPr sz="2300" b="0">
                <a:solidFill>
                  <a:srgbClr val="262626"/>
                </a:solidFill>
                <a:latin typeface="Meiryo"/>
                <a:ea typeface="Meiryo"/>
                <a:cs typeface="Meiryo"/>
              </a:rPr>
              <a:t>＝ 容積脈波</a:t>
            </a:r>
          </a:p>
        </p:txBody>
      </p:sp>
      <p:sp>
        <p:nvSpPr>
          <p:cNvPr id="25" name="Right Arrow 24">
            <a:extLst>
              <a:ext uri="{FF2B5EF4-FFF2-40B4-BE49-F238E27FC236}">
                <a16:creationId xmlns:a16="http://schemas.microsoft.com/office/drawing/2014/main" id="{5ADA7861-730B-7259-EC24-EF084D4F76E9}"/>
              </a:ext>
            </a:extLst>
          </p:cNvPr>
          <p:cNvSpPr/>
          <p:nvPr/>
        </p:nvSpPr>
        <p:spPr>
          <a:xfrm>
            <a:off x="8410104" y="3063159"/>
            <a:ext cx="566928" cy="5029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ounded Rectangle 25">
            <a:extLst>
              <a:ext uri="{FF2B5EF4-FFF2-40B4-BE49-F238E27FC236}">
                <a16:creationId xmlns:a16="http://schemas.microsoft.com/office/drawing/2014/main" id="{9EB29FAA-F593-0915-5268-833A542CE4F6}"/>
              </a:ext>
            </a:extLst>
          </p:cNvPr>
          <p:cNvSpPr/>
          <p:nvPr/>
        </p:nvSpPr>
        <p:spPr>
          <a:xfrm>
            <a:off x="9114192" y="2413935"/>
            <a:ext cx="2487168" cy="17830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a:extLst>
              <a:ext uri="{FF2B5EF4-FFF2-40B4-BE49-F238E27FC236}">
                <a16:creationId xmlns:a16="http://schemas.microsoft.com/office/drawing/2014/main" id="{47E03627-34FC-A9AB-C1BA-4B88E40E3150}"/>
              </a:ext>
            </a:extLst>
          </p:cNvPr>
          <p:cNvSpPr txBox="1"/>
          <p:nvPr/>
        </p:nvSpPr>
        <p:spPr>
          <a:xfrm>
            <a:off x="9251352" y="2642535"/>
            <a:ext cx="2212848" cy="634166"/>
          </a:xfrm>
          <a:prstGeom prst="rect">
            <a:avLst/>
          </a:prstGeom>
          <a:noFill/>
        </p:spPr>
        <p:txBody>
          <a:bodyPr wrap="square" lIns="0" tIns="0" rIns="0" bIns="0" anchor="t">
            <a:spAutoFit/>
          </a:bodyPr>
          <a:lstStyle/>
          <a:p>
            <a:pPr algn="ctr"/>
            <a:r>
              <a:rPr sz="3000" b="1">
                <a:solidFill>
                  <a:srgbClr val="00A8AA"/>
                </a:solidFill>
                <a:latin typeface="Meiryo"/>
                <a:ea typeface="Meiryo"/>
                <a:cs typeface="Meiryo"/>
              </a:rPr>
              <a:t>SpO₂</a:t>
            </a:r>
          </a:p>
        </p:txBody>
      </p:sp>
      <p:sp>
        <p:nvSpPr>
          <p:cNvPr id="28" name="TextBox 27">
            <a:extLst>
              <a:ext uri="{FF2B5EF4-FFF2-40B4-BE49-F238E27FC236}">
                <a16:creationId xmlns:a16="http://schemas.microsoft.com/office/drawing/2014/main" id="{58C51AA9-60BA-2B9B-5827-9CE94ADEF5DE}"/>
              </a:ext>
            </a:extLst>
          </p:cNvPr>
          <p:cNvSpPr txBox="1"/>
          <p:nvPr/>
        </p:nvSpPr>
        <p:spPr>
          <a:xfrm>
            <a:off x="9114192" y="3191175"/>
            <a:ext cx="2487168" cy="1327145"/>
          </a:xfrm>
          <a:prstGeom prst="rect">
            <a:avLst/>
          </a:prstGeom>
          <a:noFill/>
        </p:spPr>
        <p:txBody>
          <a:bodyPr wrap="square" lIns="0" tIns="0" rIns="0" bIns="0" anchor="t">
            <a:spAutoFit/>
          </a:bodyPr>
          <a:lstStyle/>
          <a:p>
            <a:pPr algn="ctr">
              <a:spcAft>
                <a:spcPts val="400"/>
              </a:spcAft>
            </a:pPr>
            <a:r>
              <a:rPr lang="ja-JP" altLang="en-US" sz="2200" b="0">
                <a:solidFill>
                  <a:srgbClr val="262626"/>
                </a:solidFill>
                <a:latin typeface="Meiryo"/>
                <a:ea typeface="Meiryo"/>
                <a:cs typeface="Meiryo"/>
              </a:rPr>
              <a:t>脈</a:t>
            </a:r>
            <a:r>
              <a:rPr sz="2200" b="0" dirty="0" err="1">
                <a:solidFill>
                  <a:srgbClr val="262626"/>
                </a:solidFill>
                <a:latin typeface="Meiryo"/>
                <a:ea typeface="Meiryo"/>
                <a:cs typeface="Meiryo"/>
              </a:rPr>
              <a:t>波から計算した</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酸素飽和度</a:t>
            </a:r>
            <a:endParaRPr sz="2200" b="0" dirty="0">
              <a:solidFill>
                <a:srgbClr val="262626"/>
              </a:solidFill>
              <a:latin typeface="Meiryo"/>
              <a:ea typeface="Meiryo"/>
              <a:cs typeface="Meiryo"/>
            </a:endParaRPr>
          </a:p>
        </p:txBody>
      </p:sp>
      <p:sp>
        <p:nvSpPr>
          <p:cNvPr id="41" name="PageNo">
            <a:extLst>
              <a:ext uri="{FF2B5EF4-FFF2-40B4-BE49-F238E27FC236}">
                <a16:creationId xmlns:a16="http://schemas.microsoft.com/office/drawing/2014/main" id="{3EB2A65D-8124-C549-AC5A-7CFFA388A673}"/>
              </a:ext>
            </a:extLst>
          </p:cNvPr>
          <p:cNvSpPr txBox="1"/>
          <p:nvPr/>
        </p:nvSpPr>
        <p:spPr>
          <a:xfrm>
            <a:off x="10456716" y="6615533"/>
            <a:ext cx="1005840" cy="219456"/>
          </a:xfrm>
          <a:prstGeom prst="rect">
            <a:avLst/>
          </a:prstGeom>
          <a:noFill/>
        </p:spPr>
        <p:txBody>
          <a:bodyPr wrap="none">
            <a:spAutoFit/>
          </a:bodyPr>
          <a:lstStyle/>
          <a:p>
            <a:pPr algn="r"/>
            <a:r>
              <a:rPr sz="1200" dirty="0">
                <a:solidFill>
                  <a:srgbClr val="808080"/>
                </a:solidFill>
                <a:latin typeface="Meiryo"/>
                <a:ea typeface="Meiryo"/>
                <a:cs typeface="Meiryo"/>
              </a:rPr>
              <a:t>2/72</a:t>
            </a:r>
          </a:p>
        </p:txBody>
      </p:sp>
      <p:sp>
        <p:nvSpPr>
          <p:cNvPr id="5" name="Rounded Rectangle 25">
            <a:extLst>
              <a:ext uri="{FF2B5EF4-FFF2-40B4-BE49-F238E27FC236}">
                <a16:creationId xmlns:a16="http://schemas.microsoft.com/office/drawing/2014/main" id="{76F8BC04-E993-DEC1-D083-69FB424B965B}"/>
              </a:ext>
            </a:extLst>
          </p:cNvPr>
          <p:cNvSpPr/>
          <p:nvPr/>
        </p:nvSpPr>
        <p:spPr>
          <a:xfrm>
            <a:off x="6504934" y="4493906"/>
            <a:ext cx="4175519" cy="1684644"/>
          </a:xfrm>
          <a:prstGeom prst="roundRect">
            <a:avLst/>
          </a:prstGeom>
          <a:solidFill>
            <a:srgbClr val="F2F2F2"/>
          </a:solidFill>
          <a:ln w="28575">
            <a:solidFill>
              <a:schemeClr val="accent4">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26">
            <a:extLst>
              <a:ext uri="{FF2B5EF4-FFF2-40B4-BE49-F238E27FC236}">
                <a16:creationId xmlns:a16="http://schemas.microsoft.com/office/drawing/2014/main" id="{A68FFC8F-2BB2-8395-8C71-8940E190A791}"/>
              </a:ext>
            </a:extLst>
          </p:cNvPr>
          <p:cNvSpPr txBox="1"/>
          <p:nvPr/>
        </p:nvSpPr>
        <p:spPr>
          <a:xfrm>
            <a:off x="6573514" y="4717739"/>
            <a:ext cx="4038358" cy="1189847"/>
          </a:xfrm>
          <a:prstGeom prst="rect">
            <a:avLst/>
          </a:prstGeom>
          <a:noFill/>
        </p:spPr>
        <p:txBody>
          <a:bodyPr wrap="square" lIns="0" tIns="0" rIns="0" bIns="0" anchor="t">
            <a:spAutoFit/>
          </a:bodyPr>
          <a:lstStyle/>
          <a:p>
            <a:pPr algn="ctr"/>
            <a:r>
              <a:rPr lang="ja-JP" altLang="en-US" sz="3000" b="1">
                <a:solidFill>
                  <a:schemeClr val="accent4">
                    <a:lumMod val="75000"/>
                  </a:schemeClr>
                </a:solidFill>
                <a:latin typeface="Meiryo"/>
                <a:ea typeface="Meiryo"/>
                <a:cs typeface="Meiryo"/>
              </a:rPr>
              <a:t>パルスオキシメトリー</a:t>
            </a:r>
            <a:endParaRPr sz="3000" b="1" dirty="0">
              <a:solidFill>
                <a:schemeClr val="accent4">
                  <a:lumMod val="75000"/>
                </a:schemeClr>
              </a:solidFill>
              <a:latin typeface="Meiryo"/>
              <a:ea typeface="Meiryo"/>
              <a:cs typeface="Meiryo"/>
            </a:endParaRPr>
          </a:p>
        </p:txBody>
      </p:sp>
      <p:sp>
        <p:nvSpPr>
          <p:cNvPr id="7" name="TextBox 27">
            <a:extLst>
              <a:ext uri="{FF2B5EF4-FFF2-40B4-BE49-F238E27FC236}">
                <a16:creationId xmlns:a16="http://schemas.microsoft.com/office/drawing/2014/main" id="{FC895717-5939-40C2-738A-5761E764598C}"/>
              </a:ext>
            </a:extLst>
          </p:cNvPr>
          <p:cNvSpPr txBox="1"/>
          <p:nvPr/>
        </p:nvSpPr>
        <p:spPr>
          <a:xfrm>
            <a:off x="6504934" y="5266379"/>
            <a:ext cx="4175518" cy="919646"/>
          </a:xfrm>
          <a:prstGeom prst="rect">
            <a:avLst/>
          </a:prstGeom>
          <a:noFill/>
        </p:spPr>
        <p:txBody>
          <a:bodyPr wrap="square" lIns="0" tIns="0" rIns="0" bIns="0" anchor="t">
            <a:spAutoFit/>
          </a:bodyPr>
          <a:lstStyle/>
          <a:p>
            <a:pPr algn="ctr">
              <a:spcAft>
                <a:spcPts val="400"/>
              </a:spcAft>
            </a:pPr>
            <a:r>
              <a:rPr lang="ja-JP" altLang="en-US" sz="2200" b="0">
                <a:solidFill>
                  <a:srgbClr val="262626"/>
                </a:solidFill>
                <a:latin typeface="Meiryo"/>
                <a:ea typeface="Meiryo"/>
                <a:cs typeface="Meiryo"/>
              </a:rPr>
              <a:t>脈</a:t>
            </a:r>
            <a:r>
              <a:rPr sz="2200" b="0" dirty="0" err="1">
                <a:solidFill>
                  <a:srgbClr val="262626"/>
                </a:solidFill>
                <a:latin typeface="Meiryo"/>
                <a:ea typeface="Meiryo"/>
                <a:cs typeface="Meiryo"/>
              </a:rPr>
              <a:t>波から</a:t>
            </a:r>
            <a:r>
              <a:rPr lang="ja-JP" altLang="en-US" sz="2200" b="0">
                <a:solidFill>
                  <a:srgbClr val="262626"/>
                </a:solidFill>
                <a:latin typeface="Meiryo"/>
                <a:ea typeface="Meiryo"/>
                <a:cs typeface="Meiryo"/>
              </a:rPr>
              <a:t>経皮的に</a:t>
            </a:r>
            <a:r>
              <a:rPr lang="en-US" altLang="ja-JP" sz="2200" b="0" dirty="0">
                <a:solidFill>
                  <a:srgbClr val="262626"/>
                </a:solidFill>
                <a:latin typeface="Meiryo"/>
                <a:ea typeface="Meiryo"/>
                <a:cs typeface="Meiryo"/>
              </a:rPr>
              <a:t>SaO2</a:t>
            </a:r>
            <a:r>
              <a:rPr lang="ja-JP" altLang="en-US" sz="2200" b="0">
                <a:solidFill>
                  <a:srgbClr val="262626"/>
                </a:solidFill>
                <a:latin typeface="Meiryo"/>
                <a:ea typeface="Meiryo"/>
                <a:cs typeface="Meiryo"/>
              </a:rPr>
              <a:t>を</a:t>
            </a:r>
            <a:endParaRPr lang="en-US" altLang="ja-JP" sz="2200" dirty="0">
              <a:solidFill>
                <a:srgbClr val="262626"/>
              </a:solidFill>
              <a:latin typeface="Meiryo"/>
              <a:ea typeface="Meiryo"/>
              <a:cs typeface="Meiryo"/>
            </a:endParaRPr>
          </a:p>
          <a:p>
            <a:pPr algn="ctr">
              <a:spcAft>
                <a:spcPts val="400"/>
              </a:spcAft>
            </a:pPr>
            <a:r>
              <a:rPr lang="ja-JP" altLang="en-US" sz="2200" b="0">
                <a:solidFill>
                  <a:srgbClr val="262626"/>
                </a:solidFill>
                <a:latin typeface="Meiryo"/>
                <a:ea typeface="Meiryo"/>
                <a:cs typeface="Meiryo"/>
              </a:rPr>
              <a:t>推定する方法</a:t>
            </a:r>
            <a:endParaRPr sz="2200" b="0" dirty="0">
              <a:solidFill>
                <a:srgbClr val="262626"/>
              </a:solidFill>
              <a:latin typeface="Meiryo"/>
              <a:ea typeface="Meiryo"/>
              <a:cs typeface="Meiryo"/>
            </a:endParaRPr>
          </a:p>
        </p:txBody>
      </p:sp>
      <p:sp>
        <p:nvSpPr>
          <p:cNvPr id="4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2/72</a:t>
            </a:r>
          </a:p>
        </p:txBody>
      </p:sp>
    </p:spTree>
    <p:extLst>
      <p:ext uri="{BB962C8B-B14F-4D97-AF65-F5344CB8AC3E}">
        <p14:creationId xmlns:p14="http://schemas.microsoft.com/office/powerpoint/2010/main" val="1987446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600" dirty="0" err="1">
                <a:latin typeface="Meiryo"/>
                <a:ea typeface="Meiryo"/>
                <a:cs typeface="Meiryo"/>
              </a:rPr>
              <a:t>メニュ</a:t>
            </a:r>
            <a:r>
              <a:rPr sz="4600" dirty="0">
                <a:latin typeface="Meiryo"/>
                <a:ea typeface="Meiryo"/>
                <a:cs typeface="Meiryo"/>
              </a:rPr>
              <a:t>ー</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8" name="TextBox 7"/>
          <p:cNvSpPr txBox="1"/>
          <p:nvPr/>
        </p:nvSpPr>
        <p:spPr>
          <a:xfrm>
            <a:off x="859536" y="1536192"/>
            <a:ext cx="10579608" cy="4956048"/>
          </a:xfrm>
          <a:prstGeom prst="rect">
            <a:avLst/>
          </a:prstGeom>
          <a:noFill/>
        </p:spPr>
        <p:txBody>
          <a:bodyPr wrap="square" lIns="0" tIns="0" rIns="0" bIns="0" anchor="ctr">
            <a:spAutoFit/>
          </a:bodyPr>
          <a:lstStyle/>
          <a:p>
            <a:pPr>
              <a:lnSpc>
                <a:spcPct val="145000"/>
              </a:lnSpc>
            </a:pPr>
            <a:r>
              <a:rPr sz="3400" b="1">
                <a:solidFill>
                  <a:srgbClr val="BF9000"/>
                </a:solidFill>
                <a:latin typeface="Meiryo"/>
                <a:ea typeface="Meiryo"/>
                <a:cs typeface="Meiryo"/>
              </a:rPr>
              <a:t>1. </a:t>
            </a:r>
            <a:r>
              <a:rPr sz="3400" b="1">
                <a:solidFill>
                  <a:srgbClr val="262626"/>
                </a:solidFill>
                <a:latin typeface="Meiryo"/>
                <a:ea typeface="Meiryo"/>
                <a:cs typeface="Meiryo"/>
              </a:rPr>
              <a:t>PPGの基礎</a:t>
            </a:r>
          </a:p>
          <a:p>
            <a:pPr>
              <a:lnSpc>
                <a:spcPct val="145000"/>
              </a:lnSpc>
            </a:pPr>
            <a:r>
              <a:rPr sz="3400" b="1">
                <a:solidFill>
                  <a:srgbClr val="BF9000"/>
                </a:solidFill>
                <a:latin typeface="Meiryo"/>
                <a:ea typeface="Meiryo"/>
                <a:cs typeface="Meiryo"/>
              </a:rPr>
              <a:t>2. </a:t>
            </a:r>
            <a:r>
              <a:rPr sz="3400" b="1">
                <a:solidFill>
                  <a:srgbClr val="262626"/>
                </a:solidFill>
                <a:latin typeface="Meiryo"/>
                <a:ea typeface="Meiryo"/>
                <a:cs typeface="Meiryo"/>
              </a:rPr>
              <a:t>波形への影響</a:t>
            </a:r>
          </a:p>
          <a:p>
            <a:pPr>
              <a:lnSpc>
                <a:spcPct val="145000"/>
              </a:lnSpc>
            </a:pPr>
            <a:r>
              <a:rPr sz="3400" b="1">
                <a:solidFill>
                  <a:srgbClr val="BF9000"/>
                </a:solidFill>
                <a:latin typeface="Meiryo"/>
                <a:ea typeface="Meiryo"/>
                <a:cs typeface="Meiryo"/>
              </a:rPr>
              <a:t>3. </a:t>
            </a:r>
            <a:r>
              <a:rPr sz="3400" b="1">
                <a:solidFill>
                  <a:srgbClr val="262626"/>
                </a:solidFill>
                <a:latin typeface="Meiryo"/>
                <a:ea typeface="Meiryo"/>
                <a:cs typeface="Meiryo"/>
              </a:rPr>
              <a:t>波形の定量化</a:t>
            </a:r>
          </a:p>
          <a:p>
            <a:pPr>
              <a:lnSpc>
                <a:spcPct val="145000"/>
              </a:lnSpc>
            </a:pPr>
            <a:r>
              <a:rPr sz="3400" b="1">
                <a:solidFill>
                  <a:srgbClr val="BF9000"/>
                </a:solidFill>
                <a:latin typeface="Meiryo"/>
                <a:ea typeface="Meiryo"/>
                <a:cs typeface="Meiryo"/>
              </a:rPr>
              <a:t>4. </a:t>
            </a:r>
            <a:r>
              <a:rPr sz="3400" b="1">
                <a:solidFill>
                  <a:srgbClr val="262626"/>
                </a:solidFill>
                <a:latin typeface="Meiryo"/>
                <a:ea typeface="Meiryo"/>
                <a:cs typeface="Meiryo"/>
              </a:rPr>
              <a:t>限界</a:t>
            </a:r>
          </a:p>
          <a:p>
            <a:pPr>
              <a:lnSpc>
                <a:spcPct val="145000"/>
              </a:lnSpc>
            </a:pPr>
            <a:r>
              <a:rPr sz="3400" b="1">
                <a:solidFill>
                  <a:srgbClr val="BF9000"/>
                </a:solidFill>
                <a:latin typeface="Meiryo"/>
                <a:ea typeface="Meiryo"/>
                <a:cs typeface="Meiryo"/>
              </a:rPr>
              <a:t>5. </a:t>
            </a:r>
            <a:r>
              <a:rPr sz="3400" b="1">
                <a:solidFill>
                  <a:srgbClr val="262626"/>
                </a:solidFill>
                <a:latin typeface="Meiryo"/>
                <a:ea typeface="Meiryo"/>
                <a:cs typeface="Meiryo"/>
              </a:rPr>
              <a:t>PDA（波形分解）</a:t>
            </a:r>
          </a:p>
        </p:txBody>
      </p:sp>
      <p:sp>
        <p:nvSpPr>
          <p:cNvPr id="1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3/72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 PPGの基礎</a:t>
            </a:r>
          </a:p>
        </p:txBody>
      </p:sp>
      <p:sp>
        <p:nvSpPr>
          <p:cNvPr id="12" name="Off-page Connector 4"/>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BF9000"/>
                </a:solidFill>
                <a:latin typeface="Meiryo"/>
                <a:ea typeface="Meiryo"/>
                <a:cs typeface="Meiryo"/>
              </a:rPr>
              <a:t>1. </a:t>
            </a:r>
            <a:r>
              <a:rPr sz="3200" b="1">
                <a:solidFill>
                  <a:srgbClr val="262626"/>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1.1 </a:t>
            </a:r>
            <a:r>
              <a:rPr sz="2900" b="0">
                <a:solidFill>
                  <a:srgbClr val="262626"/>
                </a:solidFill>
                <a:latin typeface="Meiryo"/>
                <a:ea typeface="Meiryo"/>
                <a:cs typeface="Meiryo"/>
              </a:rPr>
              <a:t>SpO₂の測定原理</a:t>
            </a:r>
          </a:p>
          <a:p>
            <a:pPr>
              <a:lnSpc>
                <a:spcPct val="145000"/>
              </a:lnSpc>
            </a:pPr>
            <a:r>
              <a:rPr sz="2900" b="1">
                <a:solidFill>
                  <a:srgbClr val="BF9000"/>
                </a:solidFill>
                <a:latin typeface="Meiryo"/>
                <a:ea typeface="Meiryo"/>
                <a:cs typeface="Meiryo"/>
              </a:rPr>
              <a:t>1.2 </a:t>
            </a:r>
            <a:r>
              <a:rPr sz="2900" b="0">
                <a:solidFill>
                  <a:srgbClr val="262626"/>
                </a:solidFill>
                <a:latin typeface="Meiryo"/>
                <a:ea typeface="Meiryo"/>
                <a:cs typeface="Meiryo"/>
              </a:rPr>
              <a:t>PPGが測るもの</a:t>
            </a:r>
          </a:p>
          <a:p>
            <a:pPr>
              <a:lnSpc>
                <a:spcPct val="145000"/>
              </a:lnSpc>
            </a:pPr>
            <a:r>
              <a:rPr sz="2900" b="1">
                <a:solidFill>
                  <a:srgbClr val="BF9000"/>
                </a:solidFill>
                <a:latin typeface="Meiryo"/>
                <a:ea typeface="Meiryo"/>
                <a:cs typeface="Meiryo"/>
              </a:rPr>
              <a:t>1.3 </a:t>
            </a:r>
            <a:r>
              <a:rPr sz="2900" b="0">
                <a:solidFill>
                  <a:srgbClr val="262626"/>
                </a:solidFill>
                <a:latin typeface="Meiryo"/>
                <a:ea typeface="Meiryo"/>
                <a:cs typeface="Meiryo"/>
              </a:rPr>
              <a:t>前進波の成因</a:t>
            </a:r>
          </a:p>
          <a:p>
            <a:pPr>
              <a:lnSpc>
                <a:spcPct val="145000"/>
              </a:lnSpc>
            </a:pPr>
            <a:r>
              <a:rPr sz="2900" b="1">
                <a:solidFill>
                  <a:srgbClr val="BF9000"/>
                </a:solidFill>
                <a:latin typeface="Meiryo"/>
                <a:ea typeface="Meiryo"/>
                <a:cs typeface="Meiryo"/>
              </a:rPr>
              <a:t>1.4 </a:t>
            </a:r>
            <a:r>
              <a:rPr sz="2900" b="0">
                <a:solidFill>
                  <a:srgbClr val="262626"/>
                </a:solidFill>
                <a:latin typeface="Meiryo"/>
                <a:ea typeface="Meiryo"/>
                <a:cs typeface="Meiryo"/>
              </a:rPr>
              <a:t>反射波の成因</a:t>
            </a:r>
          </a:p>
          <a:p>
            <a:pPr>
              <a:lnSpc>
                <a:spcPct val="145000"/>
              </a:lnSpc>
            </a:pPr>
            <a:r>
              <a:rPr sz="2900" b="1">
                <a:solidFill>
                  <a:srgbClr val="BF9000"/>
                </a:solidFill>
                <a:latin typeface="Meiryo"/>
                <a:ea typeface="Meiryo"/>
                <a:cs typeface="Meiryo"/>
              </a:rPr>
              <a:t>1.5 </a:t>
            </a:r>
            <a:r>
              <a:rPr sz="2900" b="0">
                <a:solidFill>
                  <a:srgbClr val="262626"/>
                </a:solidFill>
                <a:latin typeface="Meiryo"/>
                <a:ea typeface="Meiryo"/>
                <a:cs typeface="Meiryo"/>
              </a:rPr>
              <a:t>PPG基礎まとめ</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4/72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8C2FD-694C-4897-9A75-2D5D9B7FE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FE8B2F-E956-0B37-F20F-63DF2F5F4167}"/>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AA9D36CE-3772-F005-B54C-9329ADA7F086}"/>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601E0A5A-858A-8F2B-FBB6-6D1BA67FFAF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E4E62E14-CF5D-EBCC-627E-B7B49B8D7BA1}"/>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D4007B9C-4CFC-CD55-E599-C1CA9B596D0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D22D81F5-A6DB-CCD5-0FBD-589BB65E18A2}"/>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 name="コンテンツ プレースホルダー 2">
            <a:extLst>
              <a:ext uri="{FF2B5EF4-FFF2-40B4-BE49-F238E27FC236}">
                <a16:creationId xmlns:a16="http://schemas.microsoft.com/office/drawing/2014/main" id="{829068BC-7154-CBB1-D545-27AC73B2F90F}"/>
              </a:ext>
            </a:extLst>
          </p:cNvPr>
          <p:cNvSpPr>
            <a:spLocks noGrp="1"/>
          </p:cNvSpPr>
          <p:nvPr>
            <p:ph idx="1"/>
          </p:nvPr>
        </p:nvSpPr>
        <p:spPr>
          <a:xfrm>
            <a:off x="838199" y="1825625"/>
            <a:ext cx="10720319" cy="4351338"/>
          </a:xfrm>
        </p:spPr>
        <p:txBody>
          <a:bodyPr/>
          <a:lstStyle/>
          <a:p>
            <a:pPr>
              <a:spcAft>
                <a:spcPts val="1000"/>
              </a:spcAft>
            </a:pPr>
            <a:r>
              <a:rPr lang="en-US" altLang="ja-JP" dirty="0">
                <a:latin typeface="+mj-ea"/>
                <a:ea typeface="+mj-ea"/>
              </a:rPr>
              <a:t>SpO₂</a:t>
            </a:r>
            <a:r>
              <a:rPr lang="ja-JP" altLang="en-US">
                <a:latin typeface="+mj-ea"/>
                <a:ea typeface="+mj-ea"/>
              </a:rPr>
              <a:t>は</a:t>
            </a:r>
            <a:r>
              <a:rPr lang="en-US" altLang="ja-JP" dirty="0">
                <a:latin typeface="+mj-ea"/>
                <a:ea typeface="+mj-ea"/>
              </a:rPr>
              <a:t>SaO2</a:t>
            </a:r>
            <a:r>
              <a:rPr lang="ja-JP" altLang="en-US">
                <a:latin typeface="+mj-ea"/>
                <a:ea typeface="+mj-ea"/>
              </a:rPr>
              <a:t>を経皮的に推定した値である。</a:t>
            </a:r>
            <a:endParaRPr lang="en-US" altLang="ja-JP" dirty="0">
              <a:latin typeface="+mj-ea"/>
              <a:ea typeface="+mj-ea"/>
            </a:endParaRPr>
          </a:p>
          <a:p>
            <a:pPr>
              <a:spcAft>
                <a:spcPts val="1000"/>
              </a:spcAft>
            </a:pPr>
            <a:r>
              <a:rPr lang="en-US" altLang="ja-JP" dirty="0">
                <a:latin typeface="+mj-ea"/>
                <a:ea typeface="+mj-ea"/>
              </a:rPr>
              <a:t>SaO2</a:t>
            </a:r>
            <a:r>
              <a:rPr lang="ja-JP" altLang="en-US">
                <a:latin typeface="+mj-ea"/>
                <a:ea typeface="+mj-ea"/>
              </a:rPr>
              <a:t>は動脈血中の酸素に結合している</a:t>
            </a:r>
            <a:r>
              <a:rPr lang="en-US" altLang="ja-JP" dirty="0">
                <a:latin typeface="+mj-ea"/>
                <a:ea typeface="+mj-ea"/>
              </a:rPr>
              <a:t>Hb</a:t>
            </a:r>
            <a:r>
              <a:rPr lang="ja-JP" altLang="en-US">
                <a:latin typeface="+mj-ea"/>
                <a:ea typeface="+mj-ea"/>
              </a:rPr>
              <a:t>の割合。</a:t>
            </a:r>
            <a:endParaRPr lang="en-US" altLang="ja-JP" dirty="0">
              <a:latin typeface="+mj-ea"/>
              <a:ea typeface="+mj-ea"/>
            </a:endParaRPr>
          </a:p>
          <a:p>
            <a:pPr>
              <a:spcAft>
                <a:spcPts val="1000"/>
              </a:spcAft>
            </a:pPr>
            <a:r>
              <a:rPr lang="en-US" altLang="ja-JP" dirty="0">
                <a:latin typeface="+mj-ea"/>
                <a:ea typeface="+mj-ea"/>
              </a:rPr>
              <a:t>SaO2</a:t>
            </a:r>
            <a:r>
              <a:rPr lang="ja-JP" altLang="en-US">
                <a:latin typeface="+mj-ea"/>
                <a:ea typeface="+mj-ea"/>
              </a:rPr>
              <a:t>は酸素化評価のゴールドスタンダード。</a:t>
            </a:r>
            <a:endParaRPr lang="en-US" altLang="ja-JP" dirty="0">
              <a:latin typeface="+mj-ea"/>
              <a:ea typeface="+mj-ea"/>
            </a:endParaRPr>
          </a:p>
          <a:p>
            <a:pPr>
              <a:spcAft>
                <a:spcPts val="1000"/>
              </a:spcAft>
            </a:pPr>
            <a:endParaRPr lang="en-US" altLang="ja-JP" dirty="0">
              <a:latin typeface="+mj-ea"/>
              <a:ea typeface="+mj-ea"/>
            </a:endParaRPr>
          </a:p>
          <a:p>
            <a:pPr>
              <a:spcAft>
                <a:spcPts val="1000"/>
              </a:spcAft>
            </a:pPr>
            <a:r>
              <a:rPr lang="ja-JP" altLang="en-US">
                <a:latin typeface="+mj-ea"/>
                <a:ea typeface="+mj-ea"/>
              </a:rPr>
              <a:t>パルスオキシメーターはどのように</a:t>
            </a:r>
            <a:r>
              <a:rPr lang="en-US" altLang="ja-JP" dirty="0">
                <a:latin typeface="+mj-ea"/>
                <a:ea typeface="+mj-ea"/>
              </a:rPr>
              <a:t>SaO2</a:t>
            </a:r>
            <a:r>
              <a:rPr lang="ja-JP" altLang="en-US">
                <a:latin typeface="+mj-ea"/>
                <a:ea typeface="+mj-ea"/>
              </a:rPr>
              <a:t>を推定しているのか？</a:t>
            </a:r>
            <a:endParaRPr lang="en-US" altLang="ja-JP" dirty="0">
              <a:latin typeface="+mj-ea"/>
              <a:ea typeface="+mj-ea"/>
            </a:endParaRPr>
          </a:p>
          <a:p>
            <a:endParaRPr kumimoji="1" lang="ja-JP" altLang="en-US">
              <a:latin typeface="+mj-ea"/>
              <a:ea typeface="+mj-ea"/>
            </a:endParaRPr>
          </a:p>
        </p:txBody>
      </p:sp>
      <p:sp>
        <p:nvSpPr>
          <p:cNvPr id="18" name="Source"/>
          <p:cNvSpPr txBox="1"/>
          <p:nvPr/>
        </p:nvSpPr>
        <p:spPr>
          <a:xfrm>
            <a:off x="720000" y="6606000"/>
            <a:ext cx="10881360" cy="276999"/>
          </a:xfrm>
          <a:prstGeom prst="rect">
            <a:avLst/>
          </a:prstGeom>
          <a:noFill/>
        </p:spPr>
        <p:txBody>
          <a:bodyPr wrap="square" lIns="0" tIns="0" rIns="0" bIns="0" anchor="t">
            <a:spAutoFit/>
          </a:bodyPr>
          <a:lstStyle/>
          <a:p>
            <a:r>
              <a:rPr sz="1050" b="0" dirty="0">
                <a:solidFill>
                  <a:srgbClr val="808080"/>
                </a:solidFill>
                <a:latin typeface="Meiryo"/>
                <a:ea typeface="Meiryo"/>
                <a:cs typeface="Meiryo"/>
              </a:rPr>
              <a:t>2. Aoyagi 2003　／　3. Chan 2013、　Ahmed 2005</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5/72</a:t>
            </a:r>
          </a:p>
        </p:txBody>
      </p:sp>
    </p:spTree>
    <p:extLst>
      <p:ext uri="{BB962C8B-B14F-4D97-AF65-F5344CB8AC3E}">
        <p14:creationId xmlns:p14="http://schemas.microsoft.com/office/powerpoint/2010/main" val="143635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93A90-F67A-A2B1-0655-922448B56F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A0EB0-BCC2-59EA-3577-30ECE03291F0}"/>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8E0C622D-099F-3BC2-502E-CA90E240FE44}"/>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C3E3CA0A-6432-5BF5-4E88-00101C7C8F2F}"/>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D1FED4B9-71C9-D8E8-F0F6-0211DC785F08}"/>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7248402B-7E67-103C-3AAE-637FE8C8366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319683B-9818-6005-6ED1-8ED17FE3035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20" name="fig_spectra" descr="f_spo2_spectra.png">
            <a:extLst>
              <a:ext uri="{FF2B5EF4-FFF2-40B4-BE49-F238E27FC236}">
                <a16:creationId xmlns:a16="http://schemas.microsoft.com/office/drawing/2014/main" id="{7BB0358E-BFC2-F1D4-4FB0-8D5C77C32EEC}"/>
              </a:ext>
            </a:extLst>
          </p:cNvPr>
          <p:cNvPicPr>
            <a:picLocks noChangeAspect="1"/>
          </p:cNvPicPr>
          <p:nvPr/>
        </p:nvPicPr>
        <p:blipFill>
          <a:blip r:embed="rId3"/>
          <a:stretch>
            <a:fillRect/>
          </a:stretch>
        </p:blipFill>
        <p:spPr>
          <a:xfrm>
            <a:off x="6625764" y="2015999"/>
            <a:ext cx="3479861" cy="3024000"/>
          </a:xfrm>
          <a:prstGeom prst="rect">
            <a:avLst/>
          </a:prstGeom>
        </p:spPr>
      </p:pic>
      <p:sp>
        <p:nvSpPr>
          <p:cNvPr id="22" name="TextBox 21">
            <a:extLst>
              <a:ext uri="{FF2B5EF4-FFF2-40B4-BE49-F238E27FC236}">
                <a16:creationId xmlns:a16="http://schemas.microsoft.com/office/drawing/2014/main" id="{4E769FE3-5506-60DB-856E-01798BA749F0}"/>
              </a:ext>
            </a:extLst>
          </p:cNvPr>
          <p:cNvSpPr txBox="1"/>
          <p:nvPr/>
        </p:nvSpPr>
        <p:spPr>
          <a:xfrm>
            <a:off x="6739488" y="1681812"/>
            <a:ext cx="1147750" cy="338554"/>
          </a:xfrm>
          <a:prstGeom prst="rect">
            <a:avLst/>
          </a:prstGeom>
          <a:noFill/>
        </p:spPr>
        <p:txBody>
          <a:bodyPr wrap="none" lIns="0" tIns="0" rIns="0" bIns="0" anchor="ctr">
            <a:spAutoFit/>
          </a:bodyPr>
          <a:lstStyle/>
          <a:p>
            <a:pPr algn="ctr">
              <a:spcBef>
                <a:spcPts val="0"/>
              </a:spcBef>
              <a:spcAft>
                <a:spcPts val="0"/>
              </a:spcAft>
            </a:pPr>
            <a:r>
              <a:rPr sz="2200" b="1" dirty="0">
                <a:solidFill>
                  <a:schemeClr val="accent3"/>
                </a:solidFill>
                <a:latin typeface="Meiryo"/>
                <a:ea typeface="Meiryo"/>
                <a:cs typeface="Meiryo"/>
              </a:rPr>
              <a:t>660 nm</a:t>
            </a:r>
          </a:p>
        </p:txBody>
      </p:sp>
      <p:sp>
        <p:nvSpPr>
          <p:cNvPr id="23" name="TextBox 22">
            <a:extLst>
              <a:ext uri="{FF2B5EF4-FFF2-40B4-BE49-F238E27FC236}">
                <a16:creationId xmlns:a16="http://schemas.microsoft.com/office/drawing/2014/main" id="{F6BC3CAA-B677-4E61-B4DE-EF4258C4FB92}"/>
              </a:ext>
            </a:extLst>
          </p:cNvPr>
          <p:cNvSpPr txBox="1"/>
          <p:nvPr/>
        </p:nvSpPr>
        <p:spPr>
          <a:xfrm>
            <a:off x="8978689" y="1681812"/>
            <a:ext cx="1147750" cy="338554"/>
          </a:xfrm>
          <a:prstGeom prst="rect">
            <a:avLst/>
          </a:prstGeom>
          <a:noFill/>
        </p:spPr>
        <p:txBody>
          <a:bodyPr wrap="none" lIns="0" tIns="0" rIns="0" bIns="0" anchor="ctr">
            <a:spAutoFit/>
          </a:bodyPr>
          <a:lstStyle/>
          <a:p>
            <a:pPr algn="ctr">
              <a:spcBef>
                <a:spcPts val="0"/>
              </a:spcBef>
              <a:spcAft>
                <a:spcPts val="0"/>
              </a:spcAft>
            </a:pPr>
            <a:r>
              <a:rPr sz="2200" b="1" dirty="0">
                <a:solidFill>
                  <a:schemeClr val="accent3"/>
                </a:solidFill>
                <a:latin typeface="Meiryo"/>
                <a:ea typeface="Meiryo"/>
                <a:cs typeface="Meiryo"/>
              </a:rPr>
              <a:t>940 nm</a:t>
            </a:r>
          </a:p>
        </p:txBody>
      </p:sp>
      <p:sp>
        <p:nvSpPr>
          <p:cNvPr id="24" name="TextBox 23">
            <a:extLst>
              <a:ext uri="{FF2B5EF4-FFF2-40B4-BE49-F238E27FC236}">
                <a16:creationId xmlns:a16="http://schemas.microsoft.com/office/drawing/2014/main" id="{54C657B8-4AE2-2B27-5248-5B59F92DDB7E}"/>
              </a:ext>
            </a:extLst>
          </p:cNvPr>
          <p:cNvSpPr txBox="1"/>
          <p:nvPr/>
        </p:nvSpPr>
        <p:spPr>
          <a:xfrm>
            <a:off x="6869149" y="5006911"/>
            <a:ext cx="3290966" cy="338554"/>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0072B2"/>
                </a:solidFill>
                <a:latin typeface="Meiryo"/>
                <a:ea typeface="Meiryo"/>
                <a:cs typeface="Meiryo"/>
              </a:rPr>
              <a:t>赤</a:t>
            </a:r>
            <a:r>
              <a:rPr sz="2200" b="1" dirty="0" err="1">
                <a:solidFill>
                  <a:srgbClr val="0072B2"/>
                </a:solidFill>
                <a:latin typeface="Meiryo"/>
                <a:ea typeface="Meiryo"/>
                <a:cs typeface="Meiryo"/>
              </a:rPr>
              <a:t>色光</a:t>
            </a:r>
            <a:r>
              <a:rPr sz="2200" b="1" dirty="0">
                <a:solidFill>
                  <a:srgbClr val="0072B2"/>
                </a:solidFill>
                <a:latin typeface="Meiryo"/>
                <a:ea typeface="Meiryo"/>
                <a:cs typeface="Meiryo"/>
              </a:rPr>
              <a:t> 660 nm </a:t>
            </a:r>
            <a:r>
              <a:rPr lang="ja-JP" altLang="en-US" sz="2200" b="1">
                <a:solidFill>
                  <a:srgbClr val="0072B2"/>
                </a:solidFill>
                <a:latin typeface="Meiryo"/>
                <a:ea typeface="Meiryo"/>
                <a:cs typeface="Meiryo"/>
              </a:rPr>
              <a:t>→</a:t>
            </a:r>
            <a:r>
              <a:rPr sz="2200" b="1" dirty="0">
                <a:solidFill>
                  <a:srgbClr val="0072B2"/>
                </a:solidFill>
                <a:latin typeface="Meiryo"/>
                <a:ea typeface="Meiryo"/>
                <a:cs typeface="Meiryo"/>
              </a:rPr>
              <a:t> </a:t>
            </a:r>
            <a:r>
              <a:rPr lang="en-US" altLang="ja-JP" sz="2200" b="1" dirty="0" err="1">
                <a:solidFill>
                  <a:srgbClr val="0072B2"/>
                </a:solidFill>
                <a:latin typeface="Meiryo"/>
                <a:ea typeface="Meiryo"/>
                <a:cs typeface="Meiryo"/>
              </a:rPr>
              <a:t>H</a:t>
            </a:r>
            <a:r>
              <a:rPr sz="2200" b="1" dirty="0" err="1">
                <a:solidFill>
                  <a:srgbClr val="0072B2"/>
                </a:solidFill>
                <a:latin typeface="Meiryo"/>
                <a:ea typeface="Meiryo"/>
                <a:cs typeface="Meiryo"/>
              </a:rPr>
              <a:t>Hb</a:t>
            </a:r>
            <a:r>
              <a:rPr sz="2200" b="1" dirty="0">
                <a:solidFill>
                  <a:srgbClr val="0072B2"/>
                </a:solidFill>
                <a:latin typeface="Meiryo"/>
                <a:ea typeface="Meiryo"/>
                <a:cs typeface="Meiryo"/>
              </a:rPr>
              <a:t> </a:t>
            </a:r>
          </a:p>
        </p:txBody>
      </p:sp>
      <p:sp>
        <p:nvSpPr>
          <p:cNvPr id="25" name="TextBox 24">
            <a:extLst>
              <a:ext uri="{FF2B5EF4-FFF2-40B4-BE49-F238E27FC236}">
                <a16:creationId xmlns:a16="http://schemas.microsoft.com/office/drawing/2014/main" id="{34D904B3-6616-CE00-13CC-0EF39BB3057C}"/>
              </a:ext>
            </a:extLst>
          </p:cNvPr>
          <p:cNvSpPr txBox="1"/>
          <p:nvPr/>
        </p:nvSpPr>
        <p:spPr>
          <a:xfrm>
            <a:off x="6869149" y="5402911"/>
            <a:ext cx="3430426" cy="338554"/>
          </a:xfrm>
          <a:prstGeom prst="rect">
            <a:avLst/>
          </a:prstGeom>
          <a:noFill/>
        </p:spPr>
        <p:txBody>
          <a:bodyPr wrap="none" lIns="0" tIns="0" rIns="0" bIns="0" anchor="ctr">
            <a:spAutoFit/>
          </a:bodyPr>
          <a:lstStyle/>
          <a:p>
            <a:r>
              <a:rPr sz="2200" b="1" dirty="0" err="1">
                <a:solidFill>
                  <a:srgbClr val="D55E00"/>
                </a:solidFill>
                <a:latin typeface="Meiryo"/>
                <a:ea typeface="Meiryo"/>
                <a:cs typeface="Meiryo"/>
              </a:rPr>
              <a:t>赤外光</a:t>
            </a:r>
            <a:r>
              <a:rPr sz="2200" b="1" dirty="0">
                <a:solidFill>
                  <a:srgbClr val="D55E00"/>
                </a:solidFill>
                <a:latin typeface="Meiryo"/>
                <a:ea typeface="Meiryo"/>
                <a:cs typeface="Meiryo"/>
              </a:rPr>
              <a:t> 940 nm </a:t>
            </a:r>
            <a:r>
              <a:rPr lang="ja-JP" altLang="en-US" sz="2200" b="1">
                <a:solidFill>
                  <a:srgbClr val="D55E00"/>
                </a:solidFill>
                <a:latin typeface="Meiryo"/>
                <a:ea typeface="Meiryo"/>
                <a:cs typeface="Meiryo"/>
              </a:rPr>
              <a:t>→</a:t>
            </a:r>
            <a:r>
              <a:rPr sz="2200" b="1" dirty="0">
                <a:solidFill>
                  <a:srgbClr val="D55E00"/>
                </a:solidFill>
                <a:latin typeface="Meiryo"/>
                <a:ea typeface="Meiryo"/>
                <a:cs typeface="Meiryo"/>
              </a:rPr>
              <a:t> </a:t>
            </a:r>
            <a:r>
              <a:rPr lang="en" altLang="ja-JP" sz="2200" b="1" dirty="0">
                <a:solidFill>
                  <a:srgbClr val="D55E00"/>
                </a:solidFill>
                <a:latin typeface="Meiryo"/>
                <a:ea typeface="Meiryo"/>
                <a:cs typeface="Meiryo"/>
              </a:rPr>
              <a:t>O₂ </a:t>
            </a:r>
            <a:r>
              <a:rPr sz="2200" b="1" dirty="0">
                <a:solidFill>
                  <a:srgbClr val="D55E00"/>
                </a:solidFill>
                <a:latin typeface="Meiryo"/>
                <a:ea typeface="Meiryo"/>
                <a:cs typeface="Meiryo"/>
              </a:rPr>
              <a:t>Hb</a:t>
            </a:r>
          </a:p>
        </p:txBody>
      </p:sp>
      <p:sp>
        <p:nvSpPr>
          <p:cNvPr id="4" name="Rounded Rectangle 25">
            <a:extLst>
              <a:ext uri="{FF2B5EF4-FFF2-40B4-BE49-F238E27FC236}">
                <a16:creationId xmlns:a16="http://schemas.microsoft.com/office/drawing/2014/main" id="{82EFDEDC-6707-898A-918A-BBA9422162AC}"/>
              </a:ext>
            </a:extLst>
          </p:cNvPr>
          <p:cNvSpPr/>
          <p:nvPr/>
        </p:nvSpPr>
        <p:spPr>
          <a:xfrm>
            <a:off x="995967" y="2951223"/>
            <a:ext cx="4605830" cy="172308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400" b="1" dirty="0" err="1">
                <a:solidFill>
                  <a:srgbClr val="262626"/>
                </a:solidFill>
                <a:latin typeface="Meiryo"/>
                <a:ea typeface="Meiryo"/>
                <a:cs typeface="Meiryo"/>
              </a:rPr>
              <a:t>知りたいのは</a:t>
            </a:r>
            <a:r>
              <a:rPr lang="en" altLang="ja-JP" sz="2400" b="1" dirty="0">
                <a:solidFill>
                  <a:srgbClr val="D55E00"/>
                </a:solidFill>
                <a:latin typeface="Meiryo"/>
                <a:ea typeface="Meiryo"/>
                <a:cs typeface="Meiryo"/>
              </a:rPr>
              <a:t> O₂ Hb </a:t>
            </a:r>
            <a:r>
              <a:rPr lang="en-US" sz="2400" b="1" dirty="0" err="1">
                <a:solidFill>
                  <a:srgbClr val="262626"/>
                </a:solidFill>
                <a:latin typeface="Meiryo"/>
                <a:ea typeface="Meiryo"/>
                <a:cs typeface="Meiryo"/>
              </a:rPr>
              <a:t>の割合</a:t>
            </a:r>
            <a:endParaRPr lang="en-US" sz="2400" b="1" dirty="0">
              <a:solidFill>
                <a:srgbClr val="262626"/>
              </a:solidFill>
              <a:latin typeface="Meiryo"/>
              <a:ea typeface="Meiryo"/>
              <a:cs typeface="Meiryo"/>
            </a:endParaRPr>
          </a:p>
          <a:p>
            <a:pPr algn="ctr">
              <a:lnSpc>
                <a:spcPct val="150000"/>
              </a:lnSpc>
              <a:spcBef>
                <a:spcPts val="0"/>
              </a:spcBef>
              <a:spcAft>
                <a:spcPts val="0"/>
              </a:spcAft>
            </a:pPr>
            <a:r>
              <a:rPr lang="en-US" sz="2400" b="1" dirty="0">
                <a:solidFill>
                  <a:srgbClr val="262626"/>
                </a:solidFill>
                <a:latin typeface="Meiryo"/>
                <a:ea typeface="Meiryo"/>
                <a:cs typeface="Meiryo"/>
              </a:rPr>
              <a:t>O2HbとHHbは吸光度が違う</a:t>
            </a:r>
            <a:endParaRPr sz="2400" b="1" dirty="0">
              <a:solidFill>
                <a:srgbClr val="262626"/>
              </a:solidFill>
              <a:latin typeface="Meiryo"/>
              <a:ea typeface="Meiryo"/>
              <a:cs typeface="Meiryo"/>
            </a:endParaRPr>
          </a:p>
        </p:txBody>
      </p:sp>
      <p:sp>
        <p:nvSpPr>
          <p:cNvPr id="2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565512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99F38-8D96-0A52-868E-A2118F86B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86965-335C-A22E-F093-A0985E6238B8}"/>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32996C8E-94C0-375A-90F8-A6FBE470E856}"/>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4EC87173-9741-4795-CA15-E7CF4CEB6DAB}"/>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74CEBD50-A62D-986F-1C38-26D78D610F73}"/>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0E89D78F-940A-12C3-98E4-693AEBB52C1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2F7F1A20-200D-89FF-D5E5-7F6A57BDFF4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TextBox 17">
            <a:extLst>
              <a:ext uri="{FF2B5EF4-FFF2-40B4-BE49-F238E27FC236}">
                <a16:creationId xmlns:a16="http://schemas.microsoft.com/office/drawing/2014/main" id="{7A9738C4-4366-AAED-08A4-502037497F45}"/>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B1D890AC-477C-CAF6-168A-91C737EE8919}"/>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3BC81F91-0B68-364C-1BAC-0895369DD8D2}"/>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DFE83EE1-B768-0321-D84D-0F7948A60886}"/>
              </a:ext>
            </a:extLst>
          </p:cNvPr>
          <p:cNvPicPr>
            <a:picLocks noChangeAspect="1"/>
          </p:cNvPicPr>
          <p:nvPr/>
        </p:nvPicPr>
        <p:blipFill>
          <a:blip r:embed="rId4"/>
          <a:stretch>
            <a:fillRect/>
          </a:stretch>
        </p:blipFill>
        <p:spPr>
          <a:xfrm>
            <a:off x="7015925" y="2096275"/>
            <a:ext cx="4337875" cy="3024000"/>
          </a:xfrm>
          <a:prstGeom prst="rect">
            <a:avLst/>
          </a:prstGeom>
        </p:spPr>
      </p:pic>
      <p:sp>
        <p:nvSpPr>
          <p:cNvPr id="22" name="TextBox 21">
            <a:extLst>
              <a:ext uri="{FF2B5EF4-FFF2-40B4-BE49-F238E27FC236}">
                <a16:creationId xmlns:a16="http://schemas.microsoft.com/office/drawing/2014/main" id="{0037A650-CAE7-7B6F-0890-B4DD112EE98F}"/>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CBB492EF-E1AE-F62C-FE07-8198C8340B06}"/>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1684810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F0854-E3CB-EDE1-70FF-444551AECD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F0B92-35CA-E879-39AA-0CA30029F338}"/>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78B1DB27-8E8F-CEF8-2CB9-5E534D1EEF2D}"/>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32CD04F2-1C84-27A7-E0B7-AD77CDE12A45}"/>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B852448D-4A81-7AAC-B5E7-3557C8B06466}"/>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34FF3A9C-68FD-35EC-C080-80904DED805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4EE56CE6-37DD-F462-84D4-0EA06909920B}"/>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TextBox 17">
            <a:extLst>
              <a:ext uri="{FF2B5EF4-FFF2-40B4-BE49-F238E27FC236}">
                <a16:creationId xmlns:a16="http://schemas.microsoft.com/office/drawing/2014/main" id="{0DCF7FE7-3B26-9289-625A-D37926EF98FF}"/>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F011360F-E6C2-BBA0-4C72-01EEEF696133}"/>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A84F9400-A9EE-F686-F763-FBA9E8F5120E}"/>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EF6BF04E-90FA-6A5C-B11F-A89F559D16A6}"/>
              </a:ext>
            </a:extLst>
          </p:cNvPr>
          <p:cNvPicPr>
            <a:picLocks noChangeAspect="1"/>
          </p:cNvPicPr>
          <p:nvPr/>
        </p:nvPicPr>
        <p:blipFill>
          <a:blip r:embed="rId4"/>
          <a:stretch>
            <a:fillRect/>
          </a:stretch>
        </p:blipFill>
        <p:spPr>
          <a:xfrm>
            <a:off x="7015925" y="2096275"/>
            <a:ext cx="4337875" cy="3024000"/>
          </a:xfrm>
          <a:prstGeom prst="rect">
            <a:avLst/>
          </a:prstGeom>
        </p:spPr>
      </p:pic>
      <p:sp>
        <p:nvSpPr>
          <p:cNvPr id="22" name="TextBox 21">
            <a:extLst>
              <a:ext uri="{FF2B5EF4-FFF2-40B4-BE49-F238E27FC236}">
                <a16:creationId xmlns:a16="http://schemas.microsoft.com/office/drawing/2014/main" id="{009B227C-424B-FF8C-3228-BF16FDB454EE}"/>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F9D670D0-7593-669E-DF00-25384BA744ED}"/>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4" name="TextBox 23">
            <a:extLst>
              <a:ext uri="{FF2B5EF4-FFF2-40B4-BE49-F238E27FC236}">
                <a16:creationId xmlns:a16="http://schemas.microsoft.com/office/drawing/2014/main" id="{7E044192-7ABD-3367-E1CA-D8ABFD96D756}"/>
              </a:ext>
            </a:extLst>
          </p:cNvPr>
          <p:cNvSpPr txBox="1"/>
          <p:nvPr/>
        </p:nvSpPr>
        <p:spPr>
          <a:xfrm>
            <a:off x="8011674" y="3034428"/>
            <a:ext cx="1996444"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D55E00"/>
                </a:solidFill>
                <a:latin typeface="Meiryo"/>
                <a:ea typeface="Meiryo"/>
                <a:cs typeface="Meiryo"/>
              </a:rPr>
              <a:t>AC ＝ </a:t>
            </a:r>
            <a:r>
              <a:rPr sz="2200" b="1" dirty="0" err="1">
                <a:solidFill>
                  <a:srgbClr val="D55E00"/>
                </a:solidFill>
                <a:latin typeface="Meiryo"/>
                <a:ea typeface="Meiryo"/>
                <a:cs typeface="Meiryo"/>
              </a:rPr>
              <a:t>拍動成</a:t>
            </a:r>
            <a:r>
              <a:rPr lang="en-US" sz="2200" b="1" dirty="0" err="1">
                <a:solidFill>
                  <a:srgbClr val="D55E00"/>
                </a:solidFill>
                <a:latin typeface="Meiryo"/>
                <a:ea typeface="Meiryo"/>
                <a:cs typeface="Meiryo"/>
              </a:rPr>
              <a:t>分</a:t>
            </a:r>
            <a:endParaRPr sz="2200" b="1" dirty="0">
              <a:solidFill>
                <a:srgbClr val="D55E00"/>
              </a:solidFill>
              <a:latin typeface="Meiryo"/>
              <a:ea typeface="Meiryo"/>
              <a:cs typeface="Meiryo"/>
            </a:endParaRPr>
          </a:p>
        </p:txBody>
      </p:sp>
      <p:sp>
        <p:nvSpPr>
          <p:cNvPr id="5" name="TextBox 24">
            <a:extLst>
              <a:ext uri="{FF2B5EF4-FFF2-40B4-BE49-F238E27FC236}">
                <a16:creationId xmlns:a16="http://schemas.microsoft.com/office/drawing/2014/main" id="{C09FBA29-02AC-CE79-80FB-B0D36A24DB42}"/>
              </a:ext>
            </a:extLst>
          </p:cNvPr>
          <p:cNvSpPr txBox="1"/>
          <p:nvPr/>
        </p:nvSpPr>
        <p:spPr>
          <a:xfrm>
            <a:off x="8011674" y="4225014"/>
            <a:ext cx="2295500"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808080"/>
                </a:solidFill>
                <a:latin typeface="Meiryo"/>
                <a:ea typeface="Meiryo"/>
                <a:cs typeface="Meiryo"/>
              </a:rPr>
              <a:t>DC ＝ </a:t>
            </a:r>
            <a:r>
              <a:rPr sz="2200" b="1" dirty="0" err="1">
                <a:solidFill>
                  <a:srgbClr val="808080"/>
                </a:solidFill>
                <a:latin typeface="Meiryo"/>
                <a:ea typeface="Meiryo"/>
                <a:cs typeface="Meiryo"/>
              </a:rPr>
              <a:t>非拍動</a:t>
            </a:r>
            <a:r>
              <a:rPr lang="ja-JP" altLang="en-US" sz="2200" b="1">
                <a:solidFill>
                  <a:srgbClr val="808080"/>
                </a:solidFill>
                <a:latin typeface="Meiryo"/>
                <a:ea typeface="Meiryo"/>
                <a:cs typeface="Meiryo"/>
              </a:rPr>
              <a:t>成分</a:t>
            </a:r>
            <a:endParaRPr sz="2200" b="1" dirty="0">
              <a:solidFill>
                <a:srgbClr val="808080"/>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1237144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8D746-D724-AF64-493F-D6B9CBE823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85D1D-70E4-FBA7-F83B-2496A92DA1FD}"/>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418F264E-EDA4-8488-BE23-4CC9C5BCC0DE}"/>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3B9CA89B-D756-D82D-651F-22549BC6D396}"/>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84AF7B09-D6FC-9667-1F0B-E09BE716FF8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E4A8DF70-A28C-38E6-0D07-941534B183A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8C49741A-BCD1-C630-9ED6-2EEA7C756FB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TextBox 17">
            <a:extLst>
              <a:ext uri="{FF2B5EF4-FFF2-40B4-BE49-F238E27FC236}">
                <a16:creationId xmlns:a16="http://schemas.microsoft.com/office/drawing/2014/main" id="{D5DE044F-460A-E2FF-0BD3-DEC0BB446256}"/>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2A9E9DBB-C7CF-6A30-8780-0FF99F220214}"/>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67F772F7-5025-E253-1367-7EF6F8A35FDE}"/>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676C2E62-B192-0207-6F9B-14C6A99A5487}"/>
              </a:ext>
            </a:extLst>
          </p:cNvPr>
          <p:cNvPicPr>
            <a:picLocks noChangeAspect="1"/>
          </p:cNvPicPr>
          <p:nvPr/>
        </p:nvPicPr>
        <p:blipFill>
          <a:blip r:embed="rId4"/>
          <a:stretch>
            <a:fillRect/>
          </a:stretch>
        </p:blipFill>
        <p:spPr>
          <a:xfrm>
            <a:off x="6640145" y="1571270"/>
            <a:ext cx="4337875" cy="3024000"/>
          </a:xfrm>
          <a:prstGeom prst="rect">
            <a:avLst/>
          </a:prstGeom>
        </p:spPr>
      </p:pic>
      <p:sp>
        <p:nvSpPr>
          <p:cNvPr id="22" name="TextBox 21">
            <a:extLst>
              <a:ext uri="{FF2B5EF4-FFF2-40B4-BE49-F238E27FC236}">
                <a16:creationId xmlns:a16="http://schemas.microsoft.com/office/drawing/2014/main" id="{29B29EDA-DCA4-27AB-8C50-E1792491D39E}"/>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642CAA70-6344-1593-DE98-C5CF27B31DC4}"/>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4" name="TextBox 23">
            <a:extLst>
              <a:ext uri="{FF2B5EF4-FFF2-40B4-BE49-F238E27FC236}">
                <a16:creationId xmlns:a16="http://schemas.microsoft.com/office/drawing/2014/main" id="{833E7898-24B9-3FC7-ACBD-30796044C35A}"/>
              </a:ext>
            </a:extLst>
          </p:cNvPr>
          <p:cNvSpPr txBox="1"/>
          <p:nvPr/>
        </p:nvSpPr>
        <p:spPr>
          <a:xfrm>
            <a:off x="7635894" y="2509423"/>
            <a:ext cx="1996444"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D55E00"/>
                </a:solidFill>
                <a:latin typeface="Meiryo"/>
                <a:ea typeface="Meiryo"/>
                <a:cs typeface="Meiryo"/>
              </a:rPr>
              <a:t>AC ＝ </a:t>
            </a:r>
            <a:r>
              <a:rPr sz="2200" b="1" dirty="0" err="1">
                <a:solidFill>
                  <a:srgbClr val="D55E00"/>
                </a:solidFill>
                <a:latin typeface="Meiryo"/>
                <a:ea typeface="Meiryo"/>
                <a:cs typeface="Meiryo"/>
              </a:rPr>
              <a:t>拍動成</a:t>
            </a:r>
            <a:r>
              <a:rPr lang="en-US" sz="2200" b="1" dirty="0" err="1">
                <a:solidFill>
                  <a:srgbClr val="D55E00"/>
                </a:solidFill>
                <a:latin typeface="Meiryo"/>
                <a:ea typeface="Meiryo"/>
                <a:cs typeface="Meiryo"/>
              </a:rPr>
              <a:t>分</a:t>
            </a:r>
            <a:endParaRPr sz="2200" b="1" dirty="0">
              <a:solidFill>
                <a:srgbClr val="D55E00"/>
              </a:solidFill>
              <a:latin typeface="Meiryo"/>
              <a:ea typeface="Meiryo"/>
              <a:cs typeface="Meiryo"/>
            </a:endParaRPr>
          </a:p>
        </p:txBody>
      </p:sp>
      <p:sp>
        <p:nvSpPr>
          <p:cNvPr id="5" name="TextBox 24">
            <a:extLst>
              <a:ext uri="{FF2B5EF4-FFF2-40B4-BE49-F238E27FC236}">
                <a16:creationId xmlns:a16="http://schemas.microsoft.com/office/drawing/2014/main" id="{105B1721-3DB2-AB29-ED41-82BB8AAFBB33}"/>
              </a:ext>
            </a:extLst>
          </p:cNvPr>
          <p:cNvSpPr txBox="1"/>
          <p:nvPr/>
        </p:nvSpPr>
        <p:spPr>
          <a:xfrm>
            <a:off x="7635894" y="3700009"/>
            <a:ext cx="2295500"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808080"/>
                </a:solidFill>
                <a:latin typeface="Meiryo"/>
                <a:ea typeface="Meiryo"/>
                <a:cs typeface="Meiryo"/>
              </a:rPr>
              <a:t>DC ＝ </a:t>
            </a:r>
            <a:r>
              <a:rPr sz="2200" b="1" dirty="0" err="1">
                <a:solidFill>
                  <a:srgbClr val="808080"/>
                </a:solidFill>
                <a:latin typeface="Meiryo"/>
                <a:ea typeface="Meiryo"/>
                <a:cs typeface="Meiryo"/>
              </a:rPr>
              <a:t>非拍動</a:t>
            </a:r>
            <a:r>
              <a:rPr lang="ja-JP" altLang="en-US" sz="2200" b="1">
                <a:solidFill>
                  <a:srgbClr val="808080"/>
                </a:solidFill>
                <a:latin typeface="Meiryo"/>
                <a:ea typeface="Meiryo"/>
                <a:cs typeface="Meiryo"/>
              </a:rPr>
              <a:t>成分</a:t>
            </a:r>
            <a:endParaRPr sz="2200" b="1" dirty="0">
              <a:solidFill>
                <a:srgbClr val="808080"/>
              </a:solidFill>
              <a:latin typeface="Meiryo"/>
              <a:ea typeface="Meiryo"/>
              <a:cs typeface="Meiryo"/>
            </a:endParaRPr>
          </a:p>
        </p:txBody>
      </p:sp>
      <p:sp>
        <p:nvSpPr>
          <p:cNvPr id="6" name="Rounded Rectangle 25">
            <a:extLst>
              <a:ext uri="{FF2B5EF4-FFF2-40B4-BE49-F238E27FC236}">
                <a16:creationId xmlns:a16="http://schemas.microsoft.com/office/drawing/2014/main" id="{819240EA-C12F-123D-1210-AC093C6B6FBB}"/>
              </a:ext>
            </a:extLst>
          </p:cNvPr>
          <p:cNvSpPr/>
          <p:nvPr/>
        </p:nvSpPr>
        <p:spPr>
          <a:xfrm>
            <a:off x="6091592" y="4816850"/>
            <a:ext cx="5457584" cy="1325563"/>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400" b="1" dirty="0" err="1">
                <a:solidFill>
                  <a:srgbClr val="262626"/>
                </a:solidFill>
                <a:latin typeface="Meiryo"/>
                <a:ea typeface="Meiryo"/>
                <a:cs typeface="Meiryo"/>
              </a:rPr>
              <a:t>知りたいのは</a:t>
            </a:r>
            <a:r>
              <a:rPr lang="en" altLang="ja-JP" sz="2400" b="1" dirty="0">
                <a:solidFill>
                  <a:srgbClr val="D55E00"/>
                </a:solidFill>
                <a:latin typeface="Meiryo"/>
                <a:ea typeface="Meiryo"/>
                <a:cs typeface="Meiryo"/>
              </a:rPr>
              <a:t> </a:t>
            </a:r>
            <a:r>
              <a:rPr lang="ja-JP" altLang="en-US" sz="2400" b="1">
                <a:solidFill>
                  <a:schemeClr val="tx1"/>
                </a:solidFill>
                <a:latin typeface="Meiryo"/>
                <a:ea typeface="Meiryo"/>
                <a:cs typeface="Meiryo"/>
              </a:rPr>
              <a:t>動脈血の</a:t>
            </a:r>
            <a:r>
              <a:rPr lang="en-US" altLang="ja-JP" sz="2400" b="1" dirty="0">
                <a:solidFill>
                  <a:schemeClr val="tx1"/>
                </a:solidFill>
                <a:latin typeface="Meiryo"/>
                <a:ea typeface="Meiryo"/>
                <a:cs typeface="Meiryo"/>
              </a:rPr>
              <a:t> </a:t>
            </a:r>
            <a:r>
              <a:rPr lang="en" altLang="ja-JP" sz="2400" b="1" dirty="0">
                <a:solidFill>
                  <a:srgbClr val="D55E00"/>
                </a:solidFill>
                <a:latin typeface="Meiryo"/>
                <a:ea typeface="Meiryo"/>
                <a:cs typeface="Meiryo"/>
              </a:rPr>
              <a:t>O₂ Hb </a:t>
            </a:r>
            <a:r>
              <a:rPr lang="en-US" sz="2400" b="1" dirty="0" err="1">
                <a:solidFill>
                  <a:srgbClr val="262626"/>
                </a:solidFill>
                <a:latin typeface="Meiryo"/>
                <a:ea typeface="Meiryo"/>
                <a:cs typeface="Meiryo"/>
              </a:rPr>
              <a:t>の割合</a:t>
            </a:r>
            <a:endParaRPr lang="en-US" sz="2400" b="1" dirty="0">
              <a:solidFill>
                <a:srgbClr val="262626"/>
              </a:solidFill>
              <a:latin typeface="Meiryo"/>
              <a:ea typeface="Meiryo"/>
              <a:cs typeface="Meiryo"/>
            </a:endParaRPr>
          </a:p>
          <a:p>
            <a:pPr algn="ctr">
              <a:lnSpc>
                <a:spcPct val="150000"/>
              </a:lnSpc>
              <a:spcBef>
                <a:spcPts val="0"/>
              </a:spcBef>
              <a:spcAft>
                <a:spcPts val="0"/>
              </a:spcAft>
            </a:pPr>
            <a:r>
              <a:rPr lang="en-US" sz="2400" b="1" dirty="0">
                <a:solidFill>
                  <a:srgbClr val="262626"/>
                </a:solidFill>
                <a:latin typeface="Meiryo"/>
                <a:ea typeface="Meiryo"/>
                <a:cs typeface="Meiryo"/>
              </a:rPr>
              <a:t>AC / DC </a:t>
            </a:r>
            <a:r>
              <a:rPr lang="en-US" sz="2400" b="1" dirty="0" err="1">
                <a:solidFill>
                  <a:srgbClr val="262626"/>
                </a:solidFill>
                <a:latin typeface="Meiryo"/>
                <a:ea typeface="Meiryo"/>
                <a:cs typeface="Meiryo"/>
              </a:rPr>
              <a:t>で非拍動成分を除く</a:t>
            </a:r>
            <a:endParaRPr sz="24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1683894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9DE69-82D3-AD5B-CFBE-CFEB6B707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8B47B-D71E-F528-DC21-4207271B4BD0}"/>
              </a:ext>
            </a:extLst>
          </p:cNvPr>
          <p:cNvSpPr>
            <a:spLocks noGrp="1"/>
          </p:cNvSpPr>
          <p:nvPr>
            <p:ph type="title"/>
          </p:nvPr>
        </p:nvSpPr>
        <p:spPr/>
        <p:txBody>
          <a:bodyPr/>
          <a:lstStyle/>
          <a:p>
            <a:pPr algn="l"/>
            <a:r>
              <a:rPr sz="4600" dirty="0">
                <a:latin typeface="Meiryo"/>
                <a:ea typeface="Meiryo"/>
                <a:cs typeface="Meiryo"/>
              </a:rPr>
              <a:t>1.1  </a:t>
            </a:r>
            <a:r>
              <a:rPr sz="4600" dirty="0" err="1">
                <a:latin typeface="Meiryo"/>
                <a:ea typeface="Meiryo"/>
                <a:cs typeface="Meiryo"/>
              </a:rPr>
              <a:t>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EB68108E-D56D-D2FE-6A95-6AFF4141C08E}"/>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69B98BAC-ED75-3091-DFD4-2055811DC185}"/>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5070F443-ED2C-E481-8075-6BF6CD4B9533}"/>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DE7ABE82-AE34-DBD8-51F8-C576F890DA6F}"/>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3A1766E-8FDE-2D67-EAA8-9CF5A0E8BD3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6" name="TextBox 25">
            <a:extLst>
              <a:ext uri="{FF2B5EF4-FFF2-40B4-BE49-F238E27FC236}">
                <a16:creationId xmlns:a16="http://schemas.microsoft.com/office/drawing/2014/main" id="{671C795A-39A0-0F8C-6364-F516729C58C0}"/>
              </a:ext>
            </a:extLst>
          </p:cNvPr>
          <p:cNvSpPr txBox="1"/>
          <p:nvPr/>
        </p:nvSpPr>
        <p:spPr>
          <a:xfrm>
            <a:off x="4969880" y="2698563"/>
            <a:ext cx="2929905"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 </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 </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A70156F4-1C44-3299-5196-6543B5023B59}"/>
              </a:ext>
            </a:extLst>
          </p:cNvPr>
          <p:cNvSpPr txBox="1"/>
          <p:nvPr/>
        </p:nvSpPr>
        <p:spPr>
          <a:xfrm>
            <a:off x="3599763" y="4057392"/>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D3A2BA00-D26D-D3EF-749A-289F98062ED8}"/>
              </a:ext>
            </a:extLst>
          </p:cNvPr>
          <p:cNvSpPr txBox="1"/>
          <p:nvPr/>
        </p:nvSpPr>
        <p:spPr>
          <a:xfrm>
            <a:off x="3882238" y="2898617"/>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56AACF86-978F-44BC-D2E0-1A46847AF410}"/>
              </a:ext>
            </a:extLst>
          </p:cNvPr>
          <p:cNvCxnSpPr>
            <a:cxnSpLocks/>
          </p:cNvCxnSpPr>
          <p:nvPr/>
        </p:nvCxnSpPr>
        <p:spPr>
          <a:xfrm>
            <a:off x="5005146" y="3153474"/>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1271960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8E781-C379-328F-DD39-10AD1E4F66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0BD815-6901-B5AD-16B0-30111B30B4E0}"/>
              </a:ext>
            </a:extLst>
          </p:cNvPr>
          <p:cNvSpPr>
            <a:spLocks noGrp="1"/>
          </p:cNvSpPr>
          <p:nvPr>
            <p:ph type="title"/>
          </p:nvPr>
        </p:nvSpPr>
        <p:spPr/>
        <p:txBody>
          <a:bodyPr/>
          <a:lstStyle/>
          <a:p>
            <a:pPr algn="l"/>
            <a:r>
              <a:rPr sz="4600" dirty="0">
                <a:latin typeface="Meiryo"/>
                <a:ea typeface="Meiryo"/>
                <a:cs typeface="Meiryo"/>
              </a:rPr>
              <a:t>1.1  </a:t>
            </a:r>
            <a:r>
              <a:rPr sz="4600" dirty="0" err="1">
                <a:latin typeface="Meiryo"/>
                <a:ea typeface="Meiryo"/>
                <a:cs typeface="Meiryo"/>
              </a:rPr>
              <a:t>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51514755-D727-039C-97EF-F111B7D0E4E0}"/>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FAF4D02A-E95F-3ED3-56DA-7A760F80A9D6}"/>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BAC11D3C-C6C9-6C7B-69AA-54886D6B6787}"/>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AC01BD48-408B-FFEA-38CD-2EFBF2C721C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9A479A1A-9188-6C69-8D9E-0207089C5BAF}"/>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6" name="TextBox 25">
            <a:extLst>
              <a:ext uri="{FF2B5EF4-FFF2-40B4-BE49-F238E27FC236}">
                <a16:creationId xmlns:a16="http://schemas.microsoft.com/office/drawing/2014/main" id="{C2AD21ED-7230-B8AF-C43F-21C68FD52DF9}"/>
              </a:ext>
            </a:extLst>
          </p:cNvPr>
          <p:cNvSpPr txBox="1"/>
          <p:nvPr/>
        </p:nvSpPr>
        <p:spPr>
          <a:xfrm>
            <a:off x="2662110" y="2640506"/>
            <a:ext cx="2929905"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 </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 </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ABB0B0E8-BC72-F328-BA26-3A59E264E815}"/>
              </a:ext>
            </a:extLst>
          </p:cNvPr>
          <p:cNvSpPr txBox="1"/>
          <p:nvPr/>
        </p:nvSpPr>
        <p:spPr>
          <a:xfrm>
            <a:off x="1291993" y="3999335"/>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DEE4B20C-7323-02FF-9476-6537183B16B1}"/>
              </a:ext>
            </a:extLst>
          </p:cNvPr>
          <p:cNvSpPr txBox="1"/>
          <p:nvPr/>
        </p:nvSpPr>
        <p:spPr>
          <a:xfrm>
            <a:off x="1574468" y="2840560"/>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770C4FA7-3629-8CB8-8F31-EF8D211C2E66}"/>
              </a:ext>
            </a:extLst>
          </p:cNvPr>
          <p:cNvCxnSpPr>
            <a:cxnSpLocks/>
          </p:cNvCxnSpPr>
          <p:nvPr/>
        </p:nvCxnSpPr>
        <p:spPr>
          <a:xfrm>
            <a:off x="2697376" y="3095417"/>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ounded Rectangle 25">
            <a:extLst>
              <a:ext uri="{FF2B5EF4-FFF2-40B4-BE49-F238E27FC236}">
                <a16:creationId xmlns:a16="http://schemas.microsoft.com/office/drawing/2014/main" id="{C511A174-F59F-B836-29E4-CB4EB16BE94F}"/>
              </a:ext>
            </a:extLst>
          </p:cNvPr>
          <p:cNvSpPr/>
          <p:nvPr/>
        </p:nvSpPr>
        <p:spPr>
          <a:xfrm>
            <a:off x="1236000" y="5780150"/>
            <a:ext cx="972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sz="2400" b="1" dirty="0">
                <a:solidFill>
                  <a:srgbClr val="262626"/>
                </a:solidFill>
                <a:latin typeface="Meiryo"/>
                <a:ea typeface="Meiryo"/>
                <a:cs typeface="Meiryo"/>
              </a:rPr>
              <a:t>AC / DC </a:t>
            </a:r>
            <a:r>
              <a:rPr lang="en-US" sz="2400" b="1" dirty="0" err="1">
                <a:solidFill>
                  <a:srgbClr val="262626"/>
                </a:solidFill>
                <a:latin typeface="Meiryo"/>
                <a:ea typeface="Meiryo"/>
                <a:cs typeface="Meiryo"/>
              </a:rPr>
              <a:t>で動脈血成分にし</a:t>
            </a:r>
            <a:r>
              <a:rPr lang="en-US" sz="2400" b="1" dirty="0">
                <a:solidFill>
                  <a:srgbClr val="262626"/>
                </a:solidFill>
                <a:latin typeface="Meiryo"/>
                <a:ea typeface="Meiryo"/>
                <a:cs typeface="Meiryo"/>
              </a:rPr>
              <a:t>、</a:t>
            </a:r>
            <a:r>
              <a:rPr lang="en" altLang="ja-JP" sz="2400" b="1" dirty="0" err="1">
                <a:solidFill>
                  <a:srgbClr val="D55E00"/>
                </a:solidFill>
                <a:latin typeface="Meiryo"/>
                <a:ea typeface="Meiryo"/>
                <a:cs typeface="Meiryo"/>
              </a:rPr>
              <a:t>O₂Hb</a:t>
            </a:r>
            <a:r>
              <a:rPr lang="ja-JP" altLang="en-US" sz="2400" b="1">
                <a:solidFill>
                  <a:schemeClr val="tx1"/>
                </a:solidFill>
                <a:latin typeface="Meiryo"/>
                <a:ea typeface="Meiryo"/>
                <a:cs typeface="Meiryo"/>
              </a:rPr>
              <a:t>と</a:t>
            </a:r>
            <a:r>
              <a:rPr lang="en-US" altLang="ja-JP" sz="2400" b="1" dirty="0" err="1">
                <a:solidFill>
                  <a:srgbClr val="0072B2"/>
                </a:solidFill>
                <a:latin typeface="Meiryo"/>
                <a:ea typeface="Meiryo"/>
                <a:cs typeface="Meiryo"/>
              </a:rPr>
              <a:t>HHb</a:t>
            </a:r>
            <a:r>
              <a:rPr lang="ja-JP" altLang="en-US" sz="2400" b="1">
                <a:solidFill>
                  <a:schemeClr val="tx1"/>
                </a:solidFill>
                <a:latin typeface="Meiryo"/>
                <a:ea typeface="Meiryo"/>
                <a:cs typeface="Meiryo"/>
              </a:rPr>
              <a:t>の比をとった</a:t>
            </a:r>
            <a:r>
              <a:rPr lang="en" altLang="ja-JP" sz="2400" b="1" dirty="0">
                <a:solidFill>
                  <a:schemeClr val="tx1"/>
                </a:solidFill>
                <a:latin typeface="Meiryo"/>
                <a:ea typeface="Meiryo"/>
                <a:cs typeface="Meiryo"/>
              </a:rPr>
              <a:t> </a:t>
            </a:r>
            <a:endParaRPr sz="2400" b="1" dirty="0">
              <a:solidFill>
                <a:schemeClr val="tx1"/>
              </a:solidFill>
              <a:latin typeface="Meiryo"/>
              <a:ea typeface="Meiryo"/>
              <a:cs typeface="Meiryo"/>
            </a:endParaRPr>
          </a:p>
        </p:txBody>
      </p:sp>
      <p:pic>
        <p:nvPicPr>
          <p:cNvPr id="19" name="fig_spectra" descr="f_spo2_spectra.png">
            <a:extLst>
              <a:ext uri="{FF2B5EF4-FFF2-40B4-BE49-F238E27FC236}">
                <a16:creationId xmlns:a16="http://schemas.microsoft.com/office/drawing/2014/main" id="{D50D47BC-E9FD-83BB-CE1F-FB92D00C2E43}"/>
              </a:ext>
            </a:extLst>
          </p:cNvPr>
          <p:cNvPicPr>
            <a:picLocks noChangeAspect="1"/>
          </p:cNvPicPr>
          <p:nvPr/>
        </p:nvPicPr>
        <p:blipFill>
          <a:blip r:embed="rId3"/>
          <a:stretch>
            <a:fillRect/>
          </a:stretch>
        </p:blipFill>
        <p:spPr>
          <a:xfrm>
            <a:off x="9438701" y="2985425"/>
            <a:ext cx="1914641" cy="1663823"/>
          </a:xfrm>
          <a:prstGeom prst="rect">
            <a:avLst/>
          </a:prstGeom>
        </p:spPr>
      </p:pic>
      <p:sp>
        <p:nvSpPr>
          <p:cNvPr id="20" name="TextBox 21">
            <a:extLst>
              <a:ext uri="{FF2B5EF4-FFF2-40B4-BE49-F238E27FC236}">
                <a16:creationId xmlns:a16="http://schemas.microsoft.com/office/drawing/2014/main" id="{9216A2DD-A730-87DC-C5D6-104BE726E473}"/>
              </a:ext>
            </a:extLst>
          </p:cNvPr>
          <p:cNvSpPr txBox="1"/>
          <p:nvPr/>
        </p:nvSpPr>
        <p:spPr>
          <a:xfrm>
            <a:off x="9667453" y="2648746"/>
            <a:ext cx="256480" cy="307777"/>
          </a:xfrm>
          <a:prstGeom prst="rect">
            <a:avLst/>
          </a:prstGeom>
          <a:noFill/>
        </p:spPr>
        <p:txBody>
          <a:bodyPr wrap="none" lIns="0" tIns="0" rIns="0" bIns="0" anchor="ctr">
            <a:spAutoFit/>
          </a:bodyPr>
          <a:lstStyle/>
          <a:p>
            <a:pPr algn="ctr"/>
            <a:r>
              <a:rPr lang="ja-JP" altLang="en-US" sz="2000" b="1">
                <a:solidFill>
                  <a:srgbClr val="0072B2"/>
                </a:solidFill>
                <a:latin typeface="Meiryo"/>
                <a:ea typeface="Meiryo"/>
                <a:cs typeface="Meiryo"/>
              </a:rPr>
              <a:t>赤</a:t>
            </a:r>
            <a:endParaRPr lang="en-US" altLang="ja-JP" sz="2000" b="1" dirty="0">
              <a:latin typeface="Meiryo"/>
              <a:ea typeface="Meiryo"/>
              <a:cs typeface="Meiryo"/>
            </a:endParaRPr>
          </a:p>
        </p:txBody>
      </p:sp>
      <p:sp>
        <p:nvSpPr>
          <p:cNvPr id="21" name="TextBox 22">
            <a:extLst>
              <a:ext uri="{FF2B5EF4-FFF2-40B4-BE49-F238E27FC236}">
                <a16:creationId xmlns:a16="http://schemas.microsoft.com/office/drawing/2014/main" id="{5CE9272C-C8B5-E9E0-DC9D-E667F2BEC444}"/>
              </a:ext>
            </a:extLst>
          </p:cNvPr>
          <p:cNvSpPr txBox="1"/>
          <p:nvPr/>
        </p:nvSpPr>
        <p:spPr>
          <a:xfrm>
            <a:off x="10788661" y="2648745"/>
            <a:ext cx="512961" cy="307777"/>
          </a:xfrm>
          <a:prstGeom prst="rect">
            <a:avLst/>
          </a:prstGeom>
          <a:noFill/>
        </p:spPr>
        <p:txBody>
          <a:bodyPr wrap="none" lIns="0" tIns="0" rIns="0" bIns="0" anchor="ctr">
            <a:spAutoFit/>
          </a:bodyPr>
          <a:lstStyle/>
          <a:p>
            <a:pPr algn="ctr">
              <a:spcBef>
                <a:spcPts val="0"/>
              </a:spcBef>
              <a:spcAft>
                <a:spcPts val="0"/>
              </a:spcAft>
            </a:pPr>
            <a:r>
              <a:rPr lang="en-US" sz="2000" b="1" dirty="0" err="1">
                <a:solidFill>
                  <a:srgbClr val="D55E00"/>
                </a:solidFill>
                <a:latin typeface="Meiryo"/>
                <a:ea typeface="Meiryo"/>
                <a:cs typeface="Meiryo"/>
              </a:rPr>
              <a:t>赤外</a:t>
            </a:r>
            <a:endParaRPr sz="2000" b="1" dirty="0">
              <a:solidFill>
                <a:schemeClr val="accent3"/>
              </a:solidFill>
              <a:latin typeface="Meiryo"/>
              <a:ea typeface="Meiryo"/>
              <a:cs typeface="Meiryo"/>
            </a:endParaRPr>
          </a:p>
        </p:txBody>
      </p:sp>
      <p:pic>
        <p:nvPicPr>
          <p:cNvPr id="23" name="fig_signal" descr="f11_signal.png">
            <a:extLst>
              <a:ext uri="{FF2B5EF4-FFF2-40B4-BE49-F238E27FC236}">
                <a16:creationId xmlns:a16="http://schemas.microsoft.com/office/drawing/2014/main" id="{F2E70046-EF7C-3371-CA42-0B47FD71A17E}"/>
              </a:ext>
            </a:extLst>
          </p:cNvPr>
          <p:cNvPicPr>
            <a:picLocks noChangeAspect="1"/>
          </p:cNvPicPr>
          <p:nvPr/>
        </p:nvPicPr>
        <p:blipFill>
          <a:blip r:embed="rId4"/>
          <a:stretch>
            <a:fillRect/>
          </a:stretch>
        </p:blipFill>
        <p:spPr>
          <a:xfrm>
            <a:off x="6885863" y="3021275"/>
            <a:ext cx="2048853" cy="1428287"/>
          </a:xfrm>
          <a:prstGeom prst="rect">
            <a:avLst/>
          </a:prstGeom>
        </p:spPr>
      </p:pic>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2973052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392F3-CC16-4BE4-EECB-B075362566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7DD56F-375A-ECA5-EF52-F9B4FFE7834F}"/>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62003C50-0946-BE08-1DCB-782C001E0166}"/>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36E08B49-D90C-0AF3-512D-2BC21FD0CC5D}"/>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905A4842-4D68-85CD-9430-3D539DA8DE4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1D19E03E-C126-A196-7C93-6AD210386A6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0AC3373A-18C8-EBE5-BDC9-E07163E7BE4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6" name="TextBox 25">
            <a:extLst>
              <a:ext uri="{FF2B5EF4-FFF2-40B4-BE49-F238E27FC236}">
                <a16:creationId xmlns:a16="http://schemas.microsoft.com/office/drawing/2014/main" id="{BFF777B3-6953-3586-45E8-2AF7964E9C6F}"/>
              </a:ext>
            </a:extLst>
          </p:cNvPr>
          <p:cNvSpPr txBox="1"/>
          <p:nvPr/>
        </p:nvSpPr>
        <p:spPr>
          <a:xfrm>
            <a:off x="1988403" y="2879984"/>
            <a:ext cx="2859373"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41027131-7DE3-409A-2020-7854B55610AC}"/>
              </a:ext>
            </a:extLst>
          </p:cNvPr>
          <p:cNvSpPr txBox="1"/>
          <p:nvPr/>
        </p:nvSpPr>
        <p:spPr>
          <a:xfrm>
            <a:off x="583020" y="4238813"/>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41AFD698-29F8-4B08-402C-13E77E75C9B3}"/>
              </a:ext>
            </a:extLst>
          </p:cNvPr>
          <p:cNvSpPr txBox="1"/>
          <p:nvPr/>
        </p:nvSpPr>
        <p:spPr>
          <a:xfrm>
            <a:off x="865495" y="3080038"/>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1856A65F-D379-8E71-391C-1CF73EADD557}"/>
              </a:ext>
            </a:extLst>
          </p:cNvPr>
          <p:cNvCxnSpPr>
            <a:cxnSpLocks/>
          </p:cNvCxnSpPr>
          <p:nvPr/>
        </p:nvCxnSpPr>
        <p:spPr>
          <a:xfrm>
            <a:off x="1988403" y="3334895"/>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18">
            <a:extLst>
              <a:ext uri="{FF2B5EF4-FFF2-40B4-BE49-F238E27FC236}">
                <a16:creationId xmlns:a16="http://schemas.microsoft.com/office/drawing/2014/main" id="{9CED8767-6BF3-8EA0-8F87-22C8D4EBEBB5}"/>
              </a:ext>
            </a:extLst>
          </p:cNvPr>
          <p:cNvSpPr txBox="1"/>
          <p:nvPr/>
        </p:nvSpPr>
        <p:spPr>
          <a:xfrm>
            <a:off x="6433489" y="2031071"/>
            <a:ext cx="735779" cy="338554"/>
          </a:xfrm>
          <a:prstGeom prst="rect">
            <a:avLst/>
          </a:prstGeom>
          <a:noFill/>
        </p:spPr>
        <p:txBody>
          <a:bodyPr wrap="none" lIns="0" tIns="0" rIns="0" bIns="0" anchor="ctr">
            <a:spAutoFit/>
          </a:bodyPr>
          <a:lstStyle/>
          <a:p>
            <a:pPr algn="ctr">
              <a:spcBef>
                <a:spcPts val="0"/>
              </a:spcBef>
              <a:spcAft>
                <a:spcPts val="0"/>
              </a:spcAft>
            </a:pPr>
            <a:r>
              <a:rPr sz="2200" b="1" dirty="0" err="1">
                <a:solidFill>
                  <a:schemeClr val="accent3"/>
                </a:solidFill>
                <a:latin typeface="Meiryo"/>
                <a:ea typeface="Meiryo"/>
                <a:cs typeface="Meiryo"/>
              </a:rPr>
              <a:t>S</a:t>
            </a:r>
            <a:r>
              <a:rPr lang="en-US" sz="2200" b="1" dirty="0" err="1">
                <a:solidFill>
                  <a:schemeClr val="accent3"/>
                </a:solidFill>
                <a:latin typeface="Meiryo"/>
                <a:ea typeface="Meiryo"/>
                <a:cs typeface="Meiryo"/>
              </a:rPr>
              <a:t>a</a:t>
            </a:r>
            <a:r>
              <a:rPr sz="2200" b="1" dirty="0" err="1">
                <a:solidFill>
                  <a:schemeClr val="accent3"/>
                </a:solidFill>
                <a:latin typeface="Meiryo"/>
                <a:ea typeface="Meiryo"/>
                <a:cs typeface="Meiryo"/>
              </a:rPr>
              <a:t>O</a:t>
            </a:r>
            <a:r>
              <a:rPr sz="2200" b="1" dirty="0">
                <a:solidFill>
                  <a:schemeClr val="accent3"/>
                </a:solidFill>
                <a:latin typeface="Meiryo"/>
                <a:ea typeface="Meiryo"/>
                <a:cs typeface="Meiryo"/>
              </a:rPr>
              <a:t>₂</a:t>
            </a:r>
          </a:p>
        </p:txBody>
      </p:sp>
      <p:pic>
        <p:nvPicPr>
          <p:cNvPr id="6" name="fig_calib" descr="f_spo2_calib.png">
            <a:extLst>
              <a:ext uri="{FF2B5EF4-FFF2-40B4-BE49-F238E27FC236}">
                <a16:creationId xmlns:a16="http://schemas.microsoft.com/office/drawing/2014/main" id="{2DE2DC97-6121-8AD5-9B06-16D98FA76519}"/>
              </a:ext>
            </a:extLst>
          </p:cNvPr>
          <p:cNvPicPr>
            <a:picLocks noChangeAspect="1"/>
          </p:cNvPicPr>
          <p:nvPr/>
        </p:nvPicPr>
        <p:blipFill>
          <a:blip r:embed="rId3"/>
          <a:stretch>
            <a:fillRect/>
          </a:stretch>
        </p:blipFill>
        <p:spPr>
          <a:xfrm>
            <a:off x="6374203" y="2365258"/>
            <a:ext cx="4078883" cy="3024000"/>
          </a:xfrm>
          <a:prstGeom prst="rect">
            <a:avLst/>
          </a:prstGeom>
        </p:spPr>
      </p:pic>
      <p:sp>
        <p:nvSpPr>
          <p:cNvPr id="9" name="TextBox 18">
            <a:extLst>
              <a:ext uri="{FF2B5EF4-FFF2-40B4-BE49-F238E27FC236}">
                <a16:creationId xmlns:a16="http://schemas.microsoft.com/office/drawing/2014/main" id="{9A2992B8-6BDA-AE8F-09EE-CD3A772CD3B7}"/>
              </a:ext>
            </a:extLst>
          </p:cNvPr>
          <p:cNvSpPr txBox="1"/>
          <p:nvPr/>
        </p:nvSpPr>
        <p:spPr>
          <a:xfrm>
            <a:off x="10840404" y="4931650"/>
            <a:ext cx="211596" cy="338554"/>
          </a:xfrm>
          <a:prstGeom prst="rect">
            <a:avLst/>
          </a:prstGeom>
          <a:noFill/>
        </p:spPr>
        <p:txBody>
          <a:bodyPr wrap="none" lIns="0" tIns="0" rIns="0" bIns="0" anchor="ctr">
            <a:spAutoFit/>
          </a:bodyPr>
          <a:lstStyle/>
          <a:p>
            <a:pPr algn="ctr">
              <a:spcBef>
                <a:spcPts val="0"/>
              </a:spcBef>
              <a:spcAft>
                <a:spcPts val="0"/>
              </a:spcAft>
            </a:pPr>
            <a:r>
              <a:rPr lang="en-US" sz="2200" b="1" dirty="0">
                <a:solidFill>
                  <a:schemeClr val="accent3"/>
                </a:solidFill>
                <a:latin typeface="Meiryo"/>
                <a:ea typeface="Meiryo"/>
                <a:cs typeface="Meiryo"/>
              </a:rPr>
              <a:t>R</a:t>
            </a:r>
            <a:endParaRPr sz="2200" b="1" dirty="0">
              <a:solidFill>
                <a:schemeClr val="accent3"/>
              </a:solidFill>
              <a:latin typeface="Meiryo"/>
              <a:ea typeface="Meiryo"/>
              <a:cs typeface="Meiryo"/>
            </a:endParaRPr>
          </a:p>
        </p:txBody>
      </p:sp>
      <p:sp>
        <p:nvSpPr>
          <p:cNvPr id="19" name="テキスト ボックス 18">
            <a:extLst>
              <a:ext uri="{FF2B5EF4-FFF2-40B4-BE49-F238E27FC236}">
                <a16:creationId xmlns:a16="http://schemas.microsoft.com/office/drawing/2014/main" id="{6AB88125-D6EA-275F-1C3D-C28AC5906615}"/>
              </a:ext>
            </a:extLst>
          </p:cNvPr>
          <p:cNvSpPr txBox="1"/>
          <p:nvPr/>
        </p:nvSpPr>
        <p:spPr>
          <a:xfrm>
            <a:off x="10503049" y="2401662"/>
            <a:ext cx="535724" cy="369332"/>
          </a:xfrm>
          <a:prstGeom prst="rect">
            <a:avLst/>
          </a:prstGeom>
          <a:noFill/>
        </p:spPr>
        <p:txBody>
          <a:bodyPr wrap="none" rtlCol="0">
            <a:spAutoFit/>
          </a:bodyPr>
          <a:lstStyle/>
          <a:p>
            <a:r>
              <a:rPr kumimoji="1" lang="en-US" altLang="ja-JP" b="1" dirty="0">
                <a:solidFill>
                  <a:schemeClr val="accent3"/>
                </a:solidFill>
              </a:rPr>
              <a:t>100</a:t>
            </a:r>
            <a:endParaRPr kumimoji="1" lang="ja-JP" altLang="en-US" b="1">
              <a:solidFill>
                <a:schemeClr val="accent3"/>
              </a:solidFill>
            </a:endParaRPr>
          </a:p>
        </p:txBody>
      </p:sp>
      <p:sp>
        <p:nvSpPr>
          <p:cNvPr id="20" name="テキスト ボックス 19">
            <a:extLst>
              <a:ext uri="{FF2B5EF4-FFF2-40B4-BE49-F238E27FC236}">
                <a16:creationId xmlns:a16="http://schemas.microsoft.com/office/drawing/2014/main" id="{5FABEF62-388E-ED3A-E9E3-5FA514926AF6}"/>
              </a:ext>
            </a:extLst>
          </p:cNvPr>
          <p:cNvSpPr txBox="1"/>
          <p:nvPr/>
        </p:nvSpPr>
        <p:spPr>
          <a:xfrm>
            <a:off x="10566660" y="3118773"/>
            <a:ext cx="418704" cy="369332"/>
          </a:xfrm>
          <a:prstGeom prst="rect">
            <a:avLst/>
          </a:prstGeom>
          <a:noFill/>
        </p:spPr>
        <p:txBody>
          <a:bodyPr wrap="none" rtlCol="0">
            <a:spAutoFit/>
          </a:bodyPr>
          <a:lstStyle/>
          <a:p>
            <a:r>
              <a:rPr kumimoji="1" lang="en-US" altLang="ja-JP" b="1" dirty="0">
                <a:solidFill>
                  <a:schemeClr val="accent3"/>
                </a:solidFill>
              </a:rPr>
              <a:t>70</a:t>
            </a:r>
            <a:endParaRPr kumimoji="1" lang="ja-JP" altLang="en-US" b="1">
              <a:solidFill>
                <a:schemeClr val="accent3"/>
              </a:solidFill>
            </a:endParaRPr>
          </a:p>
        </p:txBody>
      </p:sp>
      <p:sp>
        <p:nvSpPr>
          <p:cNvPr id="21" name="テキスト ボックス 20">
            <a:extLst>
              <a:ext uri="{FF2B5EF4-FFF2-40B4-BE49-F238E27FC236}">
                <a16:creationId xmlns:a16="http://schemas.microsoft.com/office/drawing/2014/main" id="{6D73AF31-3BE1-BE30-7323-513A21BDB122}"/>
              </a:ext>
            </a:extLst>
          </p:cNvPr>
          <p:cNvSpPr txBox="1"/>
          <p:nvPr/>
        </p:nvSpPr>
        <p:spPr>
          <a:xfrm>
            <a:off x="6251540" y="5517944"/>
            <a:ext cx="5262979" cy="369332"/>
          </a:xfrm>
          <a:prstGeom prst="rect">
            <a:avLst/>
          </a:prstGeom>
          <a:noFill/>
        </p:spPr>
        <p:txBody>
          <a:bodyPr wrap="none" rtlCol="0">
            <a:spAutoFit/>
          </a:bodyPr>
          <a:lstStyle/>
          <a:p>
            <a:r>
              <a:rPr kumimoji="1" lang="ja-JP" altLang="en-US" b="1"/>
              <a:t>健常人の低酸素負荷試験</a:t>
            </a:r>
            <a:r>
              <a:rPr lang="ja-JP" altLang="en-US" b="1"/>
              <a:t>により得られた</a:t>
            </a:r>
            <a:r>
              <a:rPr kumimoji="1" lang="ja-JP" altLang="en-US" b="1"/>
              <a:t>テーブル</a:t>
            </a:r>
          </a:p>
        </p:txBody>
      </p: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4207516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900EA-8DE8-CEA6-793D-3C9AAF647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5E946C-592F-FEA9-5FAD-AF8D3DA91708}"/>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FF32DBAC-C626-61BC-431C-BFD4D3725BDA}"/>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EC775667-C64E-846A-F7FB-2049EF8F0690}"/>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5BE0793C-A633-62EF-B32A-975B4754EEB7}"/>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00C9124B-56CC-A567-DCEE-BCB595F8ACBA}"/>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9EA8FFDD-4534-1A5C-5494-90ABB37335F8}"/>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6" name="TextBox 25">
            <a:extLst>
              <a:ext uri="{FF2B5EF4-FFF2-40B4-BE49-F238E27FC236}">
                <a16:creationId xmlns:a16="http://schemas.microsoft.com/office/drawing/2014/main" id="{9434E1E4-3859-A30E-A9C6-F65269BC5CFB}"/>
              </a:ext>
            </a:extLst>
          </p:cNvPr>
          <p:cNvSpPr txBox="1"/>
          <p:nvPr/>
        </p:nvSpPr>
        <p:spPr>
          <a:xfrm>
            <a:off x="1988403" y="2879984"/>
            <a:ext cx="2859373"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5" name="テキスト ボックス 4">
            <a:extLst>
              <a:ext uri="{FF2B5EF4-FFF2-40B4-BE49-F238E27FC236}">
                <a16:creationId xmlns:a16="http://schemas.microsoft.com/office/drawing/2014/main" id="{B24F7411-D60A-13ED-524F-98E4A86747B7}"/>
              </a:ext>
            </a:extLst>
          </p:cNvPr>
          <p:cNvSpPr txBox="1"/>
          <p:nvPr/>
        </p:nvSpPr>
        <p:spPr>
          <a:xfrm>
            <a:off x="865495" y="3080038"/>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B135F6BD-B69B-126C-17D8-0DDE0E155EF6}"/>
              </a:ext>
            </a:extLst>
          </p:cNvPr>
          <p:cNvCxnSpPr>
            <a:cxnSpLocks/>
          </p:cNvCxnSpPr>
          <p:nvPr/>
        </p:nvCxnSpPr>
        <p:spPr>
          <a:xfrm>
            <a:off x="1988403" y="3334895"/>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06C4E28E-D78C-AB11-11A9-C187756FF4E2}"/>
              </a:ext>
            </a:extLst>
          </p:cNvPr>
          <p:cNvSpPr txBox="1"/>
          <p:nvPr/>
        </p:nvSpPr>
        <p:spPr>
          <a:xfrm>
            <a:off x="1988403" y="4306474"/>
            <a:ext cx="2089034" cy="1569660"/>
          </a:xfrm>
          <a:prstGeom prst="rect">
            <a:avLst/>
          </a:prstGeom>
          <a:noFill/>
        </p:spPr>
        <p:txBody>
          <a:bodyPr wrap="none" rtlCol="0">
            <a:spAutoFit/>
          </a:bodyPr>
          <a:lstStyle/>
          <a:p>
            <a:pPr algn="ctr"/>
            <a:r>
              <a:rPr kumimoji="1" lang="ja-JP" altLang="en-US" sz="3200" b="1">
                <a:latin typeface="+mj-ea"/>
                <a:ea typeface="+mj-ea"/>
              </a:rPr>
              <a:t>↓</a:t>
            </a:r>
            <a:endParaRPr kumimoji="1" lang="en-US" altLang="ja-JP" sz="3200" b="1" dirty="0">
              <a:latin typeface="+mj-ea"/>
              <a:ea typeface="+mj-ea"/>
            </a:endParaRPr>
          </a:p>
          <a:p>
            <a:pPr algn="ctr"/>
            <a:endParaRPr kumimoji="1" lang="en-US" altLang="ja-JP" sz="3200" b="1" dirty="0">
              <a:latin typeface="+mj-ea"/>
              <a:ea typeface="+mj-ea"/>
            </a:endParaRPr>
          </a:p>
          <a:p>
            <a:pPr algn="ctr"/>
            <a:r>
              <a:rPr lang="en-US" altLang="ja-JP" sz="3200" b="1" dirty="0">
                <a:latin typeface="+mj-ea"/>
                <a:ea typeface="+mj-ea"/>
              </a:rPr>
              <a:t>SpO₂</a:t>
            </a:r>
            <a:r>
              <a:rPr lang="ja-JP" altLang="en-US" sz="3200" b="1">
                <a:latin typeface="+mj-ea"/>
                <a:ea typeface="+mj-ea"/>
              </a:rPr>
              <a:t>決定</a:t>
            </a:r>
            <a:endParaRPr kumimoji="1" lang="ja-JP" altLang="en-US" sz="3200" b="1">
              <a:latin typeface="+mj-ea"/>
              <a:ea typeface="+mj-ea"/>
            </a:endParaRPr>
          </a:p>
        </p:txBody>
      </p:sp>
      <p:sp>
        <p:nvSpPr>
          <p:cNvPr id="4" name="TextBox 18">
            <a:extLst>
              <a:ext uri="{FF2B5EF4-FFF2-40B4-BE49-F238E27FC236}">
                <a16:creationId xmlns:a16="http://schemas.microsoft.com/office/drawing/2014/main" id="{7BE2AC6C-5E04-2BB8-5CFB-211FCC713823}"/>
              </a:ext>
            </a:extLst>
          </p:cNvPr>
          <p:cNvSpPr txBox="1"/>
          <p:nvPr/>
        </p:nvSpPr>
        <p:spPr>
          <a:xfrm>
            <a:off x="6433489" y="2031071"/>
            <a:ext cx="735779" cy="338554"/>
          </a:xfrm>
          <a:prstGeom prst="rect">
            <a:avLst/>
          </a:prstGeom>
          <a:noFill/>
        </p:spPr>
        <p:txBody>
          <a:bodyPr wrap="none" lIns="0" tIns="0" rIns="0" bIns="0" anchor="ctr">
            <a:spAutoFit/>
          </a:bodyPr>
          <a:lstStyle/>
          <a:p>
            <a:pPr algn="ctr">
              <a:spcBef>
                <a:spcPts val="0"/>
              </a:spcBef>
              <a:spcAft>
                <a:spcPts val="0"/>
              </a:spcAft>
            </a:pPr>
            <a:r>
              <a:rPr sz="2200" b="1" dirty="0" err="1">
                <a:solidFill>
                  <a:schemeClr val="accent3"/>
                </a:solidFill>
                <a:latin typeface="Meiryo"/>
                <a:ea typeface="Meiryo"/>
                <a:cs typeface="Meiryo"/>
              </a:rPr>
              <a:t>S</a:t>
            </a:r>
            <a:r>
              <a:rPr lang="en-US" sz="2200" b="1" dirty="0" err="1">
                <a:solidFill>
                  <a:schemeClr val="accent3"/>
                </a:solidFill>
                <a:latin typeface="Meiryo"/>
                <a:ea typeface="Meiryo"/>
                <a:cs typeface="Meiryo"/>
              </a:rPr>
              <a:t>a</a:t>
            </a:r>
            <a:r>
              <a:rPr sz="2200" b="1" dirty="0" err="1">
                <a:solidFill>
                  <a:schemeClr val="accent3"/>
                </a:solidFill>
                <a:latin typeface="Meiryo"/>
                <a:ea typeface="Meiryo"/>
                <a:cs typeface="Meiryo"/>
              </a:rPr>
              <a:t>O</a:t>
            </a:r>
            <a:r>
              <a:rPr sz="2200" b="1" dirty="0">
                <a:solidFill>
                  <a:schemeClr val="accent3"/>
                </a:solidFill>
                <a:latin typeface="Meiryo"/>
                <a:ea typeface="Meiryo"/>
                <a:cs typeface="Meiryo"/>
              </a:rPr>
              <a:t>₂</a:t>
            </a:r>
          </a:p>
        </p:txBody>
      </p:sp>
      <p:pic>
        <p:nvPicPr>
          <p:cNvPr id="22" name="fig_calib" descr="f_spo2_calib.png">
            <a:extLst>
              <a:ext uri="{FF2B5EF4-FFF2-40B4-BE49-F238E27FC236}">
                <a16:creationId xmlns:a16="http://schemas.microsoft.com/office/drawing/2014/main" id="{535361BC-26D6-8B05-A4D1-81B3819BF9BD}"/>
              </a:ext>
            </a:extLst>
          </p:cNvPr>
          <p:cNvPicPr>
            <a:picLocks noChangeAspect="1"/>
          </p:cNvPicPr>
          <p:nvPr/>
        </p:nvPicPr>
        <p:blipFill>
          <a:blip r:embed="rId3"/>
          <a:stretch>
            <a:fillRect/>
          </a:stretch>
        </p:blipFill>
        <p:spPr>
          <a:xfrm>
            <a:off x="6374203" y="2365258"/>
            <a:ext cx="4078883" cy="3024000"/>
          </a:xfrm>
          <a:prstGeom prst="rect">
            <a:avLst/>
          </a:prstGeom>
        </p:spPr>
      </p:pic>
      <p:sp>
        <p:nvSpPr>
          <p:cNvPr id="23" name="TextBox 18">
            <a:extLst>
              <a:ext uri="{FF2B5EF4-FFF2-40B4-BE49-F238E27FC236}">
                <a16:creationId xmlns:a16="http://schemas.microsoft.com/office/drawing/2014/main" id="{6560D9B5-125B-6596-5521-4DA1EAACA04F}"/>
              </a:ext>
            </a:extLst>
          </p:cNvPr>
          <p:cNvSpPr txBox="1"/>
          <p:nvPr/>
        </p:nvSpPr>
        <p:spPr>
          <a:xfrm>
            <a:off x="10840404" y="4931650"/>
            <a:ext cx="211596" cy="338554"/>
          </a:xfrm>
          <a:prstGeom prst="rect">
            <a:avLst/>
          </a:prstGeom>
          <a:noFill/>
        </p:spPr>
        <p:txBody>
          <a:bodyPr wrap="none" lIns="0" tIns="0" rIns="0" bIns="0" anchor="ctr">
            <a:spAutoFit/>
          </a:bodyPr>
          <a:lstStyle/>
          <a:p>
            <a:pPr algn="ctr">
              <a:spcBef>
                <a:spcPts val="0"/>
              </a:spcBef>
              <a:spcAft>
                <a:spcPts val="0"/>
              </a:spcAft>
            </a:pPr>
            <a:r>
              <a:rPr lang="en-US" sz="2200" b="1" dirty="0">
                <a:solidFill>
                  <a:schemeClr val="accent3"/>
                </a:solidFill>
                <a:latin typeface="Meiryo"/>
                <a:ea typeface="Meiryo"/>
                <a:cs typeface="Meiryo"/>
              </a:rPr>
              <a:t>R</a:t>
            </a:r>
            <a:endParaRPr sz="2200" b="1" dirty="0">
              <a:solidFill>
                <a:schemeClr val="accent3"/>
              </a:solidFill>
              <a:latin typeface="Meiryo"/>
              <a:ea typeface="Meiryo"/>
              <a:cs typeface="Meiryo"/>
            </a:endParaRPr>
          </a:p>
        </p:txBody>
      </p:sp>
      <p:sp>
        <p:nvSpPr>
          <p:cNvPr id="24" name="テキスト ボックス 23">
            <a:extLst>
              <a:ext uri="{FF2B5EF4-FFF2-40B4-BE49-F238E27FC236}">
                <a16:creationId xmlns:a16="http://schemas.microsoft.com/office/drawing/2014/main" id="{661D48D2-3AAF-417B-F177-E5E0167778AF}"/>
              </a:ext>
            </a:extLst>
          </p:cNvPr>
          <p:cNvSpPr txBox="1"/>
          <p:nvPr/>
        </p:nvSpPr>
        <p:spPr>
          <a:xfrm>
            <a:off x="10503049" y="2401662"/>
            <a:ext cx="535724" cy="369332"/>
          </a:xfrm>
          <a:prstGeom prst="rect">
            <a:avLst/>
          </a:prstGeom>
          <a:noFill/>
        </p:spPr>
        <p:txBody>
          <a:bodyPr wrap="none" rtlCol="0">
            <a:spAutoFit/>
          </a:bodyPr>
          <a:lstStyle/>
          <a:p>
            <a:r>
              <a:rPr kumimoji="1" lang="en-US" altLang="ja-JP" b="1" dirty="0">
                <a:solidFill>
                  <a:schemeClr val="accent3"/>
                </a:solidFill>
              </a:rPr>
              <a:t>100</a:t>
            </a:r>
            <a:endParaRPr kumimoji="1" lang="ja-JP" altLang="en-US" b="1">
              <a:solidFill>
                <a:schemeClr val="accent3"/>
              </a:solidFill>
            </a:endParaRPr>
          </a:p>
        </p:txBody>
      </p:sp>
      <p:sp>
        <p:nvSpPr>
          <p:cNvPr id="25" name="テキスト ボックス 24">
            <a:extLst>
              <a:ext uri="{FF2B5EF4-FFF2-40B4-BE49-F238E27FC236}">
                <a16:creationId xmlns:a16="http://schemas.microsoft.com/office/drawing/2014/main" id="{95A85D45-3CD3-3571-7513-305F82F23954}"/>
              </a:ext>
            </a:extLst>
          </p:cNvPr>
          <p:cNvSpPr txBox="1"/>
          <p:nvPr/>
        </p:nvSpPr>
        <p:spPr>
          <a:xfrm>
            <a:off x="10566660" y="3118773"/>
            <a:ext cx="418704" cy="369332"/>
          </a:xfrm>
          <a:prstGeom prst="rect">
            <a:avLst/>
          </a:prstGeom>
          <a:noFill/>
        </p:spPr>
        <p:txBody>
          <a:bodyPr wrap="none" rtlCol="0">
            <a:spAutoFit/>
          </a:bodyPr>
          <a:lstStyle/>
          <a:p>
            <a:r>
              <a:rPr kumimoji="1" lang="en-US" altLang="ja-JP" b="1" dirty="0">
                <a:solidFill>
                  <a:schemeClr val="accent3"/>
                </a:solidFill>
              </a:rPr>
              <a:t>70</a:t>
            </a:r>
            <a:endParaRPr kumimoji="1" lang="ja-JP" altLang="en-US" b="1">
              <a:solidFill>
                <a:schemeClr val="accent3"/>
              </a:solidFill>
            </a:endParaRPr>
          </a:p>
        </p:txBody>
      </p:sp>
      <p:sp>
        <p:nvSpPr>
          <p:cNvPr id="27" name="テキスト ボックス 26">
            <a:extLst>
              <a:ext uri="{FF2B5EF4-FFF2-40B4-BE49-F238E27FC236}">
                <a16:creationId xmlns:a16="http://schemas.microsoft.com/office/drawing/2014/main" id="{7F038007-00B8-3212-FD5D-8E93B283E290}"/>
              </a:ext>
            </a:extLst>
          </p:cNvPr>
          <p:cNvSpPr txBox="1"/>
          <p:nvPr/>
        </p:nvSpPr>
        <p:spPr>
          <a:xfrm>
            <a:off x="6251540" y="5517944"/>
            <a:ext cx="5262979" cy="369332"/>
          </a:xfrm>
          <a:prstGeom prst="rect">
            <a:avLst/>
          </a:prstGeom>
          <a:noFill/>
        </p:spPr>
        <p:txBody>
          <a:bodyPr wrap="none" rtlCol="0">
            <a:spAutoFit/>
          </a:bodyPr>
          <a:lstStyle/>
          <a:p>
            <a:r>
              <a:rPr kumimoji="1" lang="ja-JP" altLang="en-US" b="1"/>
              <a:t>健常人の低酸素負荷試験</a:t>
            </a:r>
            <a:r>
              <a:rPr lang="ja-JP" altLang="en-US" b="1"/>
              <a:t>により得られた</a:t>
            </a:r>
            <a:r>
              <a:rPr kumimoji="1" lang="ja-JP" altLang="en-US" b="1"/>
              <a:t>テーブル</a:t>
            </a:r>
          </a:p>
        </p:txBody>
      </p:sp>
      <p:sp>
        <p:nvSpPr>
          <p:cNvPr id="2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
        <p:nvSpPr>
          <p:cNvPr id="2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1175598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 name="Rounded Rectangle 25"/>
          <p:cNvSpPr/>
          <p:nvPr/>
        </p:nvSpPr>
        <p:spPr>
          <a:xfrm>
            <a:off x="540000" y="1872000"/>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DC の中身</a:t>
            </a:r>
          </a:p>
        </p:txBody>
      </p:sp>
      <p:sp>
        <p:nvSpPr>
          <p:cNvPr id="27" name="TextBox 26"/>
          <p:cNvSpPr txBox="1"/>
          <p:nvPr/>
        </p:nvSpPr>
        <p:spPr>
          <a:xfrm>
            <a:off x="3311999" y="192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DC ＝ 静脈血 ＋ 組織 ＋ 拡張期の動脈血</a:t>
            </a:r>
          </a:p>
          <a:p>
            <a:pPr algn="l">
              <a:spcAft>
                <a:spcPts val="400"/>
              </a:spcAft>
            </a:pPr>
            <a:r>
              <a:rPr sz="2400" b="1">
                <a:solidFill>
                  <a:srgbClr val="262626"/>
                </a:solidFill>
                <a:latin typeface="Meiryo"/>
                <a:ea typeface="Meiryo"/>
                <a:cs typeface="Meiryo"/>
              </a:rPr>
              <a:t>「動脈成分を除いた値」ではない</a:t>
            </a:r>
          </a:p>
        </p:txBody>
      </p:sp>
      <p:sp>
        <p:nvSpPr>
          <p:cNvPr id="28" name="Rounded Rectangle 27"/>
          <p:cNvSpPr/>
          <p:nvPr/>
        </p:nvSpPr>
        <p:spPr>
          <a:xfrm>
            <a:off x="540000" y="2951999"/>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理論では</a:t>
            </a:r>
          </a:p>
        </p:txBody>
      </p:sp>
      <p:sp>
        <p:nvSpPr>
          <p:cNvPr id="29" name="TextBox 28"/>
          <p:cNvSpPr txBox="1"/>
          <p:nvPr/>
        </p:nvSpPr>
        <p:spPr>
          <a:xfrm>
            <a:off x="3311999" y="300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R と SaO₂ の関係を決めるのは</a:t>
            </a:r>
          </a:p>
          <a:p>
            <a:pPr algn="l">
              <a:spcAft>
                <a:spcPts val="400"/>
              </a:spcAft>
            </a:pPr>
            <a:r>
              <a:rPr sz="2400" b="1">
                <a:solidFill>
                  <a:srgbClr val="262626"/>
                </a:solidFill>
                <a:latin typeface="Meiryo"/>
                <a:ea typeface="Meiryo"/>
                <a:cs typeface="Meiryo"/>
              </a:rPr>
              <a:t>拍動で膨らむ区画の 実効光路長</a:t>
            </a:r>
          </a:p>
        </p:txBody>
      </p:sp>
      <p:sp>
        <p:nvSpPr>
          <p:cNvPr id="30" name="Rounded Rectangle 29"/>
          <p:cNvSpPr/>
          <p:nvPr/>
        </p:nvSpPr>
        <p:spPr>
          <a:xfrm>
            <a:off x="540000" y="4031999"/>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実務では</a:t>
            </a:r>
          </a:p>
        </p:txBody>
      </p:sp>
      <p:sp>
        <p:nvSpPr>
          <p:cNvPr id="31" name="TextBox 30"/>
          <p:cNvSpPr txBox="1"/>
          <p:nvPr/>
        </p:nvSpPr>
        <p:spPr>
          <a:xfrm>
            <a:off x="3311999" y="408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メーカーの経験的較正（健常者の低酸素負荷）に</a:t>
            </a:r>
          </a:p>
          <a:p>
            <a:pPr algn="l">
              <a:spcAft>
                <a:spcPts val="400"/>
              </a:spcAft>
            </a:pPr>
            <a:r>
              <a:rPr sz="2400" b="1">
                <a:solidFill>
                  <a:srgbClr val="262626"/>
                </a:solidFill>
                <a:latin typeface="Meiryo"/>
                <a:ea typeface="Meiryo"/>
                <a:cs typeface="Meiryo"/>
              </a:rPr>
              <a:t>織り込み済み ＝ 通常の臨床精度 約3〜4% に収まる</a:t>
            </a:r>
          </a:p>
        </p:txBody>
      </p:sp>
      <p:sp>
        <p:nvSpPr>
          <p:cNvPr id="32" name="Rounded Rectangle 31"/>
          <p:cNvSpPr/>
          <p:nvPr/>
        </p:nvSpPr>
        <p:spPr>
          <a:xfrm>
            <a:off x="540000" y="5148000"/>
            <a:ext cx="11160000" cy="1044000"/>
          </a:xfrm>
          <a:prstGeom prst="roundRect">
            <a:avLst/>
          </a:prstGeom>
          <a:no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600" b="1">
                <a:solidFill>
                  <a:srgbClr val="C00000"/>
                </a:solidFill>
                <a:latin typeface="Meiryo"/>
                <a:ea typeface="Meiryo"/>
                <a:cs typeface="Meiryo"/>
              </a:rPr>
              <a:t>較正の前提（健常成人）から外れると 誤差が拡大</a:t>
            </a:r>
          </a:p>
          <a:p>
            <a:pPr algn="ctr">
              <a:spcAft>
                <a:spcPts val="400"/>
              </a:spcAft>
            </a:pPr>
            <a:r>
              <a:rPr sz="2200" b="1">
                <a:solidFill>
                  <a:srgbClr val="262626"/>
                </a:solidFill>
                <a:latin typeface="Meiryo"/>
                <a:ea typeface="Meiryo"/>
                <a:cs typeface="Meiryo"/>
              </a:rPr>
              <a:t>末梢循環不全・色素沈着・異常Hb血症 → hidden hypoxemia</a:t>
            </a:r>
          </a:p>
        </p:txBody>
      </p:sp>
      <p:sp>
        <p:nvSpPr>
          <p:cNvPr id="21" name="Title 1">
            <a:extLst>
              <a:ext uri="{FF2B5EF4-FFF2-40B4-BE49-F238E27FC236}">
                <a16:creationId xmlns:a16="http://schemas.microsoft.com/office/drawing/2014/main" id="{9C289714-CA7F-A992-D29E-FA3F2A8F0919}"/>
              </a:ext>
            </a:extLst>
          </p:cNvPr>
          <p:cNvSpPr>
            <a:spLocks noGrp="1"/>
          </p:cNvSpPr>
          <p:nvPr>
            <p:ph type="title"/>
          </p:nvPr>
        </p:nvSpPr>
        <p:spPr>
          <a:xfrm>
            <a:off x="838200" y="365125"/>
            <a:ext cx="10515600" cy="1325563"/>
          </a:xfrm>
        </p:spPr>
        <p:txBody>
          <a:bodyPr/>
          <a:lstStyle/>
          <a:p>
            <a:pPr algn="l"/>
            <a:r>
              <a:rPr lang="ja-JP" altLang="en-US" sz="4600">
                <a:latin typeface="Meiryo"/>
                <a:ea typeface="Meiryo"/>
                <a:cs typeface="Meiryo"/>
              </a:rPr>
              <a:t>＊</a:t>
            </a:r>
            <a:r>
              <a:rPr sz="4600" dirty="0">
                <a:latin typeface="Meiryo"/>
                <a:ea typeface="Meiryo"/>
                <a:cs typeface="Meiryo"/>
              </a:rPr>
              <a:t> </a:t>
            </a:r>
            <a:r>
              <a:rPr lang="ja-JP" altLang="en-US" sz="4600">
                <a:latin typeface="Meiryo"/>
                <a:ea typeface="Meiryo"/>
                <a:cs typeface="Meiryo"/>
              </a:rPr>
              <a:t>残存動脈血について</a:t>
            </a:r>
            <a:endParaRPr sz="4600" dirty="0">
              <a:latin typeface="Meiryo"/>
              <a:ea typeface="Meiryo"/>
              <a:cs typeface="Meiryo"/>
            </a:endParaRPr>
          </a:p>
        </p:txBody>
      </p:sp>
      <p:sp>
        <p:nvSpPr>
          <p:cNvPr id="24" name="Off-page Connector 4">
            <a:extLst>
              <a:ext uri="{FF2B5EF4-FFF2-40B4-BE49-F238E27FC236}">
                <a16:creationId xmlns:a16="http://schemas.microsoft.com/office/drawing/2014/main" id="{C104181C-0595-D25E-7899-9F2DCB22F14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33" name="Off-page Connector 5">
            <a:extLst>
              <a:ext uri="{FF2B5EF4-FFF2-40B4-BE49-F238E27FC236}">
                <a16:creationId xmlns:a16="http://schemas.microsoft.com/office/drawing/2014/main" id="{EA49AC02-5603-00BB-9B05-6D21BBB53617}"/>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34" name="Off-page Connector 6">
            <a:extLst>
              <a:ext uri="{FF2B5EF4-FFF2-40B4-BE49-F238E27FC236}">
                <a16:creationId xmlns:a16="http://schemas.microsoft.com/office/drawing/2014/main" id="{7A5D9E57-43B6-61F5-36A0-644FFF1B3D90}"/>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35" name="Off-page Connector 7">
            <a:extLst>
              <a:ext uri="{FF2B5EF4-FFF2-40B4-BE49-F238E27FC236}">
                <a16:creationId xmlns:a16="http://schemas.microsoft.com/office/drawing/2014/main" id="{07F9C134-3BEB-BE77-FA16-60912303DD6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36" name="Off-page Connector 8">
            <a:extLst>
              <a:ext uri="{FF2B5EF4-FFF2-40B4-BE49-F238E27FC236}">
                <a16:creationId xmlns:a16="http://schemas.microsoft.com/office/drawing/2014/main" id="{3371D76A-1D43-0092-31D3-891C741D4E7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0213F-9AE9-B5AC-84A0-67940F4F7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D50A5-B875-0F0F-A113-235E673577E2}"/>
              </a:ext>
            </a:extLst>
          </p:cNvPr>
          <p:cNvSpPr>
            <a:spLocks noGrp="1"/>
          </p:cNvSpPr>
          <p:nvPr>
            <p:ph type="title"/>
          </p:nvPr>
        </p:nvSpPr>
        <p:spPr/>
        <p:txBody>
          <a:bodyPr/>
          <a:lstStyle/>
          <a:p>
            <a:pPr algn="l"/>
            <a:r>
              <a:rPr sz="4600">
                <a:latin typeface="Meiryo"/>
                <a:ea typeface="Meiryo"/>
                <a:cs typeface="Meiryo"/>
              </a:rPr>
              <a:t>1.2  PPGが測るもの</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A0688F5D-D548-0A86-F3D6-30A76BA0AE93}"/>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314174C3-B500-4C63-8093-152A3DC4D758}"/>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C7022DA7-F402-260A-E6AB-D42D417F0E48}"/>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51341152-344E-FDA7-4360-6157383A803E}"/>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90916281-6882-F039-A2CF-2DC1C57137C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TextBox 17">
            <a:extLst>
              <a:ext uri="{FF2B5EF4-FFF2-40B4-BE49-F238E27FC236}">
                <a16:creationId xmlns:a16="http://schemas.microsoft.com/office/drawing/2014/main" id="{7051BD20-0A34-9524-08F0-F6BE167243B8}"/>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74A3A49C-E169-31EF-4BB4-FB61F82262E5}"/>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44784786-4896-08CD-2FD0-53229D7EE7A7}"/>
              </a:ext>
            </a:extLst>
          </p:cNvPr>
          <p:cNvPicPr>
            <a:picLocks noChangeAspect="1"/>
          </p:cNvPicPr>
          <p:nvPr/>
        </p:nvPicPr>
        <p:blipFill>
          <a:blip r:embed="rId3"/>
          <a:stretch>
            <a:fillRect/>
          </a:stretch>
        </p:blipFill>
        <p:spPr>
          <a:xfrm>
            <a:off x="1344680" y="2287984"/>
            <a:ext cx="3472386" cy="3024000"/>
          </a:xfrm>
          <a:prstGeom prst="rect">
            <a:avLst/>
          </a:prstGeom>
        </p:spPr>
      </p:pic>
      <p:sp>
        <p:nvSpPr>
          <p:cNvPr id="22" name="TextBox 21">
            <a:extLst>
              <a:ext uri="{FF2B5EF4-FFF2-40B4-BE49-F238E27FC236}">
                <a16:creationId xmlns:a16="http://schemas.microsoft.com/office/drawing/2014/main" id="{2066DA1A-3FD9-A447-50FA-1AD2CD87C05D}"/>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23" name="TextBox 22">
            <a:extLst>
              <a:ext uri="{FF2B5EF4-FFF2-40B4-BE49-F238E27FC236}">
                <a16:creationId xmlns:a16="http://schemas.microsoft.com/office/drawing/2014/main" id="{723C4902-E489-8214-E816-7EAC05EC4922}"/>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26" name="Rounded Rectangle 25">
            <a:extLst>
              <a:ext uri="{FF2B5EF4-FFF2-40B4-BE49-F238E27FC236}">
                <a16:creationId xmlns:a16="http://schemas.microsoft.com/office/drawing/2014/main" id="{F56FCA1C-98A4-3F27-AE39-4E09D28B9542}"/>
              </a:ext>
            </a:extLst>
          </p:cNvPr>
          <p:cNvSpPr/>
          <p:nvPr/>
        </p:nvSpPr>
        <p:spPr>
          <a:xfrm>
            <a:off x="1224000" y="6012000"/>
            <a:ext cx="972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400" b="1">
                <a:solidFill>
                  <a:srgbClr val="262626"/>
                </a:solidFill>
                <a:latin typeface="Meiryo"/>
                <a:ea typeface="Meiryo"/>
                <a:cs typeface="Meiryo"/>
              </a:rPr>
              <a:t>PPG が測るのは 拍動する動脈血の容積変化</a:t>
            </a:r>
          </a:p>
        </p:txBody>
      </p:sp>
      <p:pic>
        <p:nvPicPr>
          <p:cNvPr id="7" name="fig_wave_vessel" descr="f13_fwd_vessel.png">
            <a:extLst>
              <a:ext uri="{FF2B5EF4-FFF2-40B4-BE49-F238E27FC236}">
                <a16:creationId xmlns:a16="http://schemas.microsoft.com/office/drawing/2014/main" id="{DC7C24AC-9D0E-3C17-CD73-33033FD18424}"/>
              </a:ext>
            </a:extLst>
          </p:cNvPr>
          <p:cNvPicPr>
            <a:picLocks noChangeAspect="1"/>
          </p:cNvPicPr>
          <p:nvPr/>
        </p:nvPicPr>
        <p:blipFill>
          <a:blip r:embed="rId4"/>
          <a:stretch>
            <a:fillRect/>
          </a:stretch>
        </p:blipFill>
        <p:spPr>
          <a:xfrm>
            <a:off x="6528609" y="2501383"/>
            <a:ext cx="4635000" cy="1854000"/>
          </a:xfrm>
          <a:prstGeom prst="rect">
            <a:avLst/>
          </a:prstGeom>
        </p:spPr>
      </p:pic>
      <p:sp>
        <p:nvSpPr>
          <p:cNvPr id="9" name="TextBox 31">
            <a:extLst>
              <a:ext uri="{FF2B5EF4-FFF2-40B4-BE49-F238E27FC236}">
                <a16:creationId xmlns:a16="http://schemas.microsoft.com/office/drawing/2014/main" id="{DE476DB9-2F08-E52B-79F9-1E42C79A6973}"/>
              </a:ext>
            </a:extLst>
          </p:cNvPr>
          <p:cNvSpPr txBox="1"/>
          <p:nvPr/>
        </p:nvSpPr>
        <p:spPr>
          <a:xfrm>
            <a:off x="6195908" y="4781721"/>
            <a:ext cx="4889159"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262626"/>
                </a:solidFill>
                <a:latin typeface="Meiryo"/>
                <a:ea typeface="Meiryo"/>
                <a:cs typeface="Meiryo"/>
              </a:rPr>
              <a:t>圧</a:t>
            </a:r>
            <a:r>
              <a:rPr lang="ja-JP" altLang="en-US" sz="2200" b="1">
                <a:solidFill>
                  <a:srgbClr val="262626"/>
                </a:solidFill>
                <a:latin typeface="Meiryo"/>
                <a:ea typeface="Meiryo"/>
                <a:cs typeface="Meiryo"/>
              </a:rPr>
              <a:t>脈波の到着部分だけ拡張</a:t>
            </a:r>
            <a:r>
              <a:rPr sz="2200" b="1" dirty="0">
                <a:solidFill>
                  <a:srgbClr val="BF9000"/>
                </a:solidFill>
                <a:latin typeface="Meiryo"/>
                <a:ea typeface="Meiryo"/>
                <a:cs typeface="Meiryo"/>
              </a:rPr>
              <a:t>　＝ </a:t>
            </a:r>
            <a:r>
              <a:rPr sz="2200" b="1" dirty="0" err="1">
                <a:solidFill>
                  <a:srgbClr val="BF9000"/>
                </a:solidFill>
                <a:latin typeface="Meiryo"/>
                <a:ea typeface="Meiryo"/>
                <a:cs typeface="Meiryo"/>
              </a:rPr>
              <a:t>容積</a:t>
            </a:r>
            <a:r>
              <a:rPr sz="2200" b="1" dirty="0">
                <a:solidFill>
                  <a:srgbClr val="BF9000"/>
                </a:solidFill>
                <a:latin typeface="Meiryo"/>
                <a:ea typeface="Meiryo"/>
                <a:cs typeface="Meiryo"/>
              </a:rPr>
              <a:t>↑</a:t>
            </a:r>
          </a:p>
        </p:txBody>
      </p: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8/72</a:t>
            </a:r>
          </a:p>
        </p:txBody>
      </p:sp>
    </p:spTree>
    <p:extLst>
      <p:ext uri="{BB962C8B-B14F-4D97-AF65-F5344CB8AC3E}">
        <p14:creationId xmlns:p14="http://schemas.microsoft.com/office/powerpoint/2010/main" val="345179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050BC-8FAF-F7C7-7383-588024CD5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9391AB-30D4-16FE-A773-CDD111049356}"/>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4DFA500C-62FD-C61C-440B-D282AE95D768}"/>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1FDF07FD-64A3-8600-6089-5023ABDEFB4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179FA7F2-CCEF-EBFA-FEE4-82F76D25D74A}"/>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3DE2DD8F-07F9-5271-4D4F-8CC8593B2CC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89610E2-4A20-D8D1-36A7-2042EF05F69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4" name="TextBox 23">
            <a:extLst>
              <a:ext uri="{FF2B5EF4-FFF2-40B4-BE49-F238E27FC236}">
                <a16:creationId xmlns:a16="http://schemas.microsoft.com/office/drawing/2014/main" id="{B45D55D9-0758-2EDF-21AD-A8773EB056BE}"/>
              </a:ext>
            </a:extLst>
          </p:cNvPr>
          <p:cNvSpPr txBox="1"/>
          <p:nvPr/>
        </p:nvSpPr>
        <p:spPr>
          <a:xfrm>
            <a:off x="1100558" y="442908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a:t>
            </a:r>
            <a:r>
              <a:rPr lang="ja-JP" altLang="en-US" sz="2200" b="1">
                <a:solidFill>
                  <a:srgbClr val="0072B2"/>
                </a:solidFill>
                <a:latin typeface="Meiryo"/>
                <a:ea typeface="Meiryo"/>
                <a:cs typeface="Meiryo"/>
              </a:rPr>
              <a:t>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6026DB75-E07A-9910-5530-06D50593B15F}"/>
              </a:ext>
            </a:extLst>
          </p:cNvPr>
          <p:cNvSpPr/>
          <p:nvPr/>
        </p:nvSpPr>
        <p:spPr>
          <a:xfrm>
            <a:off x="1100558" y="482516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BDE4B504-ED83-9FEA-E9B1-570F44D5C927}"/>
              </a:ext>
            </a:extLst>
          </p:cNvPr>
          <p:cNvSpPr txBox="1"/>
          <p:nvPr/>
        </p:nvSpPr>
        <p:spPr>
          <a:xfrm>
            <a:off x="1100558" y="5289119"/>
            <a:ext cx="1915974"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808080"/>
                </a:solidFill>
                <a:latin typeface="Meiryo"/>
                <a:ea typeface="Meiryo"/>
                <a:cs typeface="Meiryo"/>
              </a:rPr>
              <a:t>血流</a:t>
            </a:r>
            <a:r>
              <a:rPr sz="2200" b="1" dirty="0">
                <a:solidFill>
                  <a:srgbClr val="808080"/>
                </a:solidFill>
                <a:latin typeface="Meiryo"/>
                <a:ea typeface="Meiryo"/>
                <a:cs typeface="Meiryo"/>
              </a:rPr>
              <a:t> </a:t>
            </a:r>
            <a:r>
              <a:rPr lang="en-US" sz="2200" b="1" dirty="0">
                <a:solidFill>
                  <a:srgbClr val="808080"/>
                </a:solidFill>
                <a:latin typeface="Meiryo"/>
                <a:ea typeface="Meiryo"/>
                <a:cs typeface="Meiryo"/>
              </a:rPr>
              <a:t>20</a:t>
            </a:r>
            <a:r>
              <a:rPr lang="en-US" altLang="ja-JP" sz="2200" b="1" dirty="0">
                <a:solidFill>
                  <a:srgbClr val="808080"/>
                </a:solidFill>
                <a:latin typeface="Meiryo"/>
                <a:ea typeface="Meiryo"/>
                <a:cs typeface="Meiryo"/>
              </a:rPr>
              <a:t> cm/s</a:t>
            </a:r>
            <a:endParaRPr sz="2200" b="1" dirty="0">
              <a:solidFill>
                <a:srgbClr val="808080"/>
              </a:solidFill>
              <a:latin typeface="Meiryo"/>
              <a:ea typeface="Meiryo"/>
              <a:cs typeface="Meiryo"/>
            </a:endParaRPr>
          </a:p>
        </p:txBody>
      </p:sp>
      <p:sp>
        <p:nvSpPr>
          <p:cNvPr id="27" name="Right Arrow 26">
            <a:extLst>
              <a:ext uri="{FF2B5EF4-FFF2-40B4-BE49-F238E27FC236}">
                <a16:creationId xmlns:a16="http://schemas.microsoft.com/office/drawing/2014/main" id="{324F8A84-ABDA-5698-CC03-741E16541371}"/>
              </a:ext>
            </a:extLst>
          </p:cNvPr>
          <p:cNvSpPr/>
          <p:nvPr/>
        </p:nvSpPr>
        <p:spPr>
          <a:xfrm>
            <a:off x="1100558" y="5685196"/>
            <a:ext cx="468000" cy="19800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5D643E03-693C-B5E6-8F65-FE06C441565A}"/>
              </a:ext>
            </a:extLst>
          </p:cNvPr>
          <p:cNvPicPr>
            <a:picLocks noChangeAspect="1"/>
          </p:cNvPicPr>
          <p:nvPr/>
        </p:nvPicPr>
        <p:blipFill>
          <a:blip r:embed="rId3"/>
          <a:stretch>
            <a:fillRect/>
          </a:stretch>
        </p:blipFill>
        <p:spPr>
          <a:xfrm>
            <a:off x="1100558" y="1906794"/>
            <a:ext cx="4680000" cy="2320797"/>
          </a:xfrm>
          <a:prstGeom prst="rect">
            <a:avLst/>
          </a:prstGeom>
        </p:spPr>
      </p:pic>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9/72</a:t>
            </a:r>
          </a:p>
        </p:txBody>
      </p:sp>
    </p:spTree>
    <p:extLst>
      <p:ext uri="{BB962C8B-B14F-4D97-AF65-F5344CB8AC3E}">
        <p14:creationId xmlns:p14="http://schemas.microsoft.com/office/powerpoint/2010/main" val="3699481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8FE66-A2D6-86A2-6910-772B202D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D029F-EA12-E8FC-37D3-7672B7953ED1}"/>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45A3A22C-DD21-2A35-E6D4-D71B8EE9CEC4}"/>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97994337-F97D-F511-039A-36C0B616600D}"/>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4C41C884-4F38-6BE1-7757-C4929BD12AC2}"/>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BE9007E8-091B-2031-20CE-927B601E4A2F}"/>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EF288B1B-105A-B675-DBBE-6EE6B929B8C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4" name="TextBox 23">
            <a:extLst>
              <a:ext uri="{FF2B5EF4-FFF2-40B4-BE49-F238E27FC236}">
                <a16:creationId xmlns:a16="http://schemas.microsoft.com/office/drawing/2014/main" id="{7004FBEB-B6BC-4C74-695B-C5B300C694D8}"/>
              </a:ext>
            </a:extLst>
          </p:cNvPr>
          <p:cNvSpPr txBox="1"/>
          <p:nvPr/>
        </p:nvSpPr>
        <p:spPr>
          <a:xfrm>
            <a:off x="1100558" y="442908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a:t>
            </a:r>
            <a:r>
              <a:rPr lang="ja-JP" altLang="en-US" sz="2200" b="1">
                <a:solidFill>
                  <a:srgbClr val="0072B2"/>
                </a:solidFill>
                <a:latin typeface="Meiryo"/>
                <a:ea typeface="Meiryo"/>
                <a:cs typeface="Meiryo"/>
              </a:rPr>
              <a:t>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1EC58F54-9E55-0E48-152E-CF5DFB79B63E}"/>
              </a:ext>
            </a:extLst>
          </p:cNvPr>
          <p:cNvSpPr/>
          <p:nvPr/>
        </p:nvSpPr>
        <p:spPr>
          <a:xfrm>
            <a:off x="1100558" y="482516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2F0C9D03-4CC7-9E88-EDC8-107FAD6A1791}"/>
              </a:ext>
            </a:extLst>
          </p:cNvPr>
          <p:cNvSpPr txBox="1"/>
          <p:nvPr/>
        </p:nvSpPr>
        <p:spPr>
          <a:xfrm>
            <a:off x="1100558" y="5289119"/>
            <a:ext cx="1915974"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808080"/>
                </a:solidFill>
                <a:latin typeface="Meiryo"/>
                <a:ea typeface="Meiryo"/>
                <a:cs typeface="Meiryo"/>
              </a:rPr>
              <a:t>血流</a:t>
            </a:r>
            <a:r>
              <a:rPr sz="2200" b="1" dirty="0">
                <a:solidFill>
                  <a:srgbClr val="808080"/>
                </a:solidFill>
                <a:latin typeface="Meiryo"/>
                <a:ea typeface="Meiryo"/>
                <a:cs typeface="Meiryo"/>
              </a:rPr>
              <a:t> </a:t>
            </a:r>
            <a:r>
              <a:rPr lang="en-US" sz="2200" b="1" dirty="0">
                <a:solidFill>
                  <a:srgbClr val="808080"/>
                </a:solidFill>
                <a:latin typeface="Meiryo"/>
                <a:ea typeface="Meiryo"/>
                <a:cs typeface="Meiryo"/>
              </a:rPr>
              <a:t>20</a:t>
            </a:r>
            <a:r>
              <a:rPr lang="en-US" altLang="ja-JP" sz="2200" b="1" dirty="0">
                <a:solidFill>
                  <a:srgbClr val="808080"/>
                </a:solidFill>
                <a:latin typeface="Meiryo"/>
                <a:ea typeface="Meiryo"/>
                <a:cs typeface="Meiryo"/>
              </a:rPr>
              <a:t> cm/s</a:t>
            </a:r>
            <a:endParaRPr sz="2200" b="1" dirty="0">
              <a:solidFill>
                <a:srgbClr val="808080"/>
              </a:solidFill>
              <a:latin typeface="Meiryo"/>
              <a:ea typeface="Meiryo"/>
              <a:cs typeface="Meiryo"/>
            </a:endParaRPr>
          </a:p>
        </p:txBody>
      </p:sp>
      <p:sp>
        <p:nvSpPr>
          <p:cNvPr id="27" name="Right Arrow 26">
            <a:extLst>
              <a:ext uri="{FF2B5EF4-FFF2-40B4-BE49-F238E27FC236}">
                <a16:creationId xmlns:a16="http://schemas.microsoft.com/office/drawing/2014/main" id="{8E300BEE-8DD4-B48B-2043-A073CEB14D0C}"/>
              </a:ext>
            </a:extLst>
          </p:cNvPr>
          <p:cNvSpPr/>
          <p:nvPr/>
        </p:nvSpPr>
        <p:spPr>
          <a:xfrm>
            <a:off x="1100558" y="5685196"/>
            <a:ext cx="468000" cy="19800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0901AABF-0E7D-1849-A425-BEDA70C3F452}"/>
              </a:ext>
            </a:extLst>
          </p:cNvPr>
          <p:cNvPicPr>
            <a:picLocks noChangeAspect="1"/>
          </p:cNvPicPr>
          <p:nvPr/>
        </p:nvPicPr>
        <p:blipFill>
          <a:blip r:embed="rId3"/>
          <a:stretch>
            <a:fillRect/>
          </a:stretch>
        </p:blipFill>
        <p:spPr>
          <a:xfrm>
            <a:off x="1100558" y="1906794"/>
            <a:ext cx="4680000" cy="2320797"/>
          </a:xfrm>
          <a:prstGeom prst="rect">
            <a:avLst/>
          </a:prstGeom>
        </p:spPr>
      </p:pic>
      <p:sp>
        <p:nvSpPr>
          <p:cNvPr id="3" name="Rounded Rectangle 29">
            <a:extLst>
              <a:ext uri="{FF2B5EF4-FFF2-40B4-BE49-F238E27FC236}">
                <a16:creationId xmlns:a16="http://schemas.microsoft.com/office/drawing/2014/main" id="{C659F48E-451B-DDC8-74EF-4F7A5B41C4E9}"/>
              </a:ext>
            </a:extLst>
          </p:cNvPr>
          <p:cNvSpPr/>
          <p:nvPr/>
        </p:nvSpPr>
        <p:spPr>
          <a:xfrm>
            <a:off x="6369835" y="2669015"/>
            <a:ext cx="5516264" cy="244232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nSpc>
                <a:spcPct val="150000"/>
              </a:lnSpc>
              <a:spcBef>
                <a:spcPts val="0"/>
              </a:spcBef>
              <a:spcAft>
                <a:spcPts val="0"/>
              </a:spcAft>
            </a:pPr>
            <a:r>
              <a:rPr lang="en-US" altLang="ja-JP" sz="2400" b="1" dirty="0">
                <a:solidFill>
                  <a:srgbClr val="262626"/>
                </a:solidFill>
                <a:latin typeface="Meiryo"/>
                <a:ea typeface="Meiryo"/>
                <a:cs typeface="Meiryo"/>
              </a:rPr>
              <a:t>PPG</a:t>
            </a:r>
            <a:r>
              <a:rPr lang="ja-JP" altLang="en-US" sz="2400" b="1">
                <a:solidFill>
                  <a:srgbClr val="262626"/>
                </a:solidFill>
                <a:latin typeface="Meiryo"/>
                <a:ea typeface="Meiryo"/>
                <a:cs typeface="Meiryo"/>
              </a:rPr>
              <a:t>の測定対象：</a:t>
            </a:r>
            <a:endParaRPr lang="en-US" altLang="ja-JP" sz="2400" b="1" dirty="0">
              <a:solidFill>
                <a:srgbClr val="262626"/>
              </a:solidFill>
              <a:latin typeface="Meiryo"/>
              <a:ea typeface="Meiryo"/>
              <a:cs typeface="Meiryo"/>
            </a:endParaRPr>
          </a:p>
          <a:p>
            <a:pPr>
              <a:lnSpc>
                <a:spcPct val="150000"/>
              </a:lnSpc>
              <a:spcBef>
                <a:spcPts val="0"/>
              </a:spcBef>
              <a:spcAft>
                <a:spcPts val="0"/>
              </a:spcAft>
            </a:pPr>
            <a:r>
              <a:rPr lang="ja-JP" altLang="en-US" sz="2400" b="1">
                <a:solidFill>
                  <a:srgbClr val="262626"/>
                </a:solidFill>
                <a:latin typeface="Meiryo"/>
                <a:ea typeface="Meiryo"/>
                <a:cs typeface="Meiryo"/>
              </a:rPr>
              <a:t>心臓から拍出された血液量</a:t>
            </a:r>
            <a:r>
              <a:rPr lang="en-US" altLang="ja-JP" sz="2400" b="1" dirty="0">
                <a:solidFill>
                  <a:srgbClr val="262626"/>
                </a:solidFill>
                <a:latin typeface="Meiryo"/>
                <a:ea typeface="Meiryo"/>
                <a:cs typeface="Meiryo"/>
              </a:rPr>
              <a:t>	×</a:t>
            </a:r>
          </a:p>
          <a:p>
            <a:pPr>
              <a:lnSpc>
                <a:spcPct val="150000"/>
              </a:lnSpc>
              <a:spcBef>
                <a:spcPts val="0"/>
              </a:spcBef>
              <a:spcAft>
                <a:spcPts val="0"/>
              </a:spcAft>
            </a:pPr>
            <a:r>
              <a:rPr lang="ja-JP" altLang="en-US" sz="2400" b="1">
                <a:solidFill>
                  <a:srgbClr val="262626"/>
                </a:solidFill>
                <a:latin typeface="Meiryo"/>
                <a:ea typeface="Meiryo"/>
                <a:cs typeface="Meiryo"/>
              </a:rPr>
              <a:t>血管伸展による</a:t>
            </a:r>
            <a:r>
              <a:rPr lang="ja-JP" altLang="en-US" sz="2800" b="1">
                <a:solidFill>
                  <a:srgbClr val="262626"/>
                </a:solidFill>
                <a:latin typeface="Meiryo"/>
                <a:ea typeface="Meiryo"/>
                <a:cs typeface="Meiryo"/>
              </a:rPr>
              <a:t>容積変化</a:t>
            </a:r>
            <a:r>
              <a:rPr lang="en-US" altLang="ja-JP" sz="2400" b="1" dirty="0">
                <a:solidFill>
                  <a:srgbClr val="262626"/>
                </a:solidFill>
                <a:latin typeface="Meiryo"/>
                <a:ea typeface="Meiryo"/>
                <a:cs typeface="Meiryo"/>
              </a:rPr>
              <a:t>		</a:t>
            </a:r>
            <a:r>
              <a:rPr lang="ja-JP" altLang="en-US" sz="2800" b="1">
                <a:solidFill>
                  <a:srgbClr val="262626"/>
                </a:solidFill>
                <a:latin typeface="Meiryo"/>
                <a:ea typeface="Meiryo"/>
                <a:cs typeface="Meiryo"/>
              </a:rPr>
              <a:t>○</a:t>
            </a:r>
            <a:endParaRPr lang="en-US" altLang="ja-JP" sz="2400" b="1" dirty="0">
              <a:solidFill>
                <a:srgbClr val="262626"/>
              </a:solidFill>
              <a:latin typeface="Meiryo"/>
              <a:ea typeface="Meiryo"/>
              <a:cs typeface="Meiryo"/>
            </a:endParaRPr>
          </a:p>
          <a:p>
            <a:pPr>
              <a:lnSpc>
                <a:spcPct val="150000"/>
              </a:lnSpc>
              <a:spcBef>
                <a:spcPts val="0"/>
              </a:spcBef>
              <a:spcAft>
                <a:spcPts val="0"/>
              </a:spcAft>
            </a:pPr>
            <a:r>
              <a:rPr lang="ja-JP" altLang="en-US" sz="2400" b="1">
                <a:solidFill>
                  <a:srgbClr val="262626"/>
                </a:solidFill>
                <a:latin typeface="Meiryo"/>
                <a:ea typeface="Meiryo"/>
                <a:cs typeface="Meiryo"/>
              </a:rPr>
              <a:t>（圧脈波による受動的な影響）</a:t>
            </a:r>
            <a:endParaRPr lang="en-US" altLang="ja-JP" sz="2400" b="1" dirty="0">
              <a:solidFill>
                <a:srgbClr val="262626"/>
              </a:solidFill>
              <a:latin typeface="Meiryo"/>
              <a:ea typeface="Meiryo"/>
              <a:cs typeface="Meiryo"/>
            </a:endParaRPr>
          </a:p>
        </p:txBody>
      </p:sp>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9/72</a:t>
            </a:r>
          </a:p>
        </p:txBody>
      </p:sp>
    </p:spTree>
    <p:extLst>
      <p:ext uri="{BB962C8B-B14F-4D97-AF65-F5344CB8AC3E}">
        <p14:creationId xmlns:p14="http://schemas.microsoft.com/office/powerpoint/2010/main" val="1376433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6CDAA-9D94-ACD5-034F-DDBE40AB0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E7020E-2B48-211E-9647-9A074D5B2AD2}"/>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32CF05AF-A6AE-3792-77C3-0945EDDA239B}"/>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D9368F35-DAF4-0299-E19E-1A85D98B57B9}"/>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F31C7102-666D-2300-7BB5-046223937660}"/>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D789A6A2-6371-82EE-F033-517F09DF8BD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AFB85EB6-3472-5741-36C2-EEFFB2FF48B4}"/>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9" name="fig_body" descr="f12_body.png">
            <a:extLst>
              <a:ext uri="{FF2B5EF4-FFF2-40B4-BE49-F238E27FC236}">
                <a16:creationId xmlns:a16="http://schemas.microsoft.com/office/drawing/2014/main" id="{79419894-41D9-0EF9-319A-4BD819C5A915}"/>
              </a:ext>
            </a:extLst>
          </p:cNvPr>
          <p:cNvPicPr>
            <a:picLocks noChangeAspect="1"/>
          </p:cNvPicPr>
          <p:nvPr/>
        </p:nvPicPr>
        <p:blipFill>
          <a:blip r:embed="rId3"/>
          <a:stretch>
            <a:fillRect/>
          </a:stretch>
        </p:blipFill>
        <p:spPr>
          <a:xfrm>
            <a:off x="864000" y="1994629"/>
            <a:ext cx="4608000" cy="3744000"/>
          </a:xfrm>
          <a:prstGeom prst="rect">
            <a:avLst/>
          </a:prstGeom>
        </p:spPr>
      </p:pic>
      <p:sp>
        <p:nvSpPr>
          <p:cNvPr id="20" name="TextBox 19">
            <a:extLst>
              <a:ext uri="{FF2B5EF4-FFF2-40B4-BE49-F238E27FC236}">
                <a16:creationId xmlns:a16="http://schemas.microsoft.com/office/drawing/2014/main" id="{12A5DE94-7B01-CF7B-72BB-15451DCD013E}"/>
              </a:ext>
            </a:extLst>
          </p:cNvPr>
          <p:cNvSpPr txBox="1"/>
          <p:nvPr/>
        </p:nvSpPr>
        <p:spPr>
          <a:xfrm>
            <a:off x="921600" y="2282629"/>
            <a:ext cx="2268000" cy="3456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心臓（左室）</a:t>
            </a:r>
          </a:p>
        </p:txBody>
      </p:sp>
      <p:sp>
        <p:nvSpPr>
          <p:cNvPr id="21" name="TextBox 20">
            <a:extLst>
              <a:ext uri="{FF2B5EF4-FFF2-40B4-BE49-F238E27FC236}">
                <a16:creationId xmlns:a16="http://schemas.microsoft.com/office/drawing/2014/main" id="{58293747-D317-5DCB-543D-BE3EE44BEA3F}"/>
              </a:ext>
            </a:extLst>
          </p:cNvPr>
          <p:cNvSpPr txBox="1"/>
          <p:nvPr/>
        </p:nvSpPr>
        <p:spPr>
          <a:xfrm>
            <a:off x="4320000" y="2282629"/>
            <a:ext cx="1116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指先</a:t>
            </a:r>
          </a:p>
        </p:txBody>
      </p:sp>
      <p:sp>
        <p:nvSpPr>
          <p:cNvPr id="22" name="TextBox 21">
            <a:extLst>
              <a:ext uri="{FF2B5EF4-FFF2-40B4-BE49-F238E27FC236}">
                <a16:creationId xmlns:a16="http://schemas.microsoft.com/office/drawing/2014/main" id="{08F0CCF5-5144-43D6-1BB6-2BD2945944B1}"/>
              </a:ext>
            </a:extLst>
          </p:cNvPr>
          <p:cNvSpPr txBox="1"/>
          <p:nvPr/>
        </p:nvSpPr>
        <p:spPr>
          <a:xfrm>
            <a:off x="2390400" y="3895429"/>
            <a:ext cx="2015999"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下行大動脈</a:t>
            </a:r>
          </a:p>
        </p:txBody>
      </p:sp>
      <p:sp>
        <p:nvSpPr>
          <p:cNvPr id="23" name="TextBox 22">
            <a:extLst>
              <a:ext uri="{FF2B5EF4-FFF2-40B4-BE49-F238E27FC236}">
                <a16:creationId xmlns:a16="http://schemas.microsoft.com/office/drawing/2014/main" id="{95D17C31-CE9F-6436-E3EC-9C203ACDF047}"/>
              </a:ext>
            </a:extLst>
          </p:cNvPr>
          <p:cNvSpPr txBox="1"/>
          <p:nvPr/>
        </p:nvSpPr>
        <p:spPr>
          <a:xfrm>
            <a:off x="2476800" y="5177029"/>
            <a:ext cx="2988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下半身へ</a:t>
            </a:r>
          </a:p>
        </p:txBody>
      </p:sp>
      <p:sp>
        <p:nvSpPr>
          <p:cNvPr id="24" name="TextBox 23">
            <a:extLst>
              <a:ext uri="{FF2B5EF4-FFF2-40B4-BE49-F238E27FC236}">
                <a16:creationId xmlns:a16="http://schemas.microsoft.com/office/drawing/2014/main" id="{21710870-005C-97CF-8DE7-7788C39CC068}"/>
              </a:ext>
            </a:extLst>
          </p:cNvPr>
          <p:cNvSpPr txBox="1"/>
          <p:nvPr/>
        </p:nvSpPr>
        <p:spPr>
          <a:xfrm>
            <a:off x="6300001" y="266156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09782EA6-1EFE-C8D6-6352-C0C1C5F33A9C}"/>
              </a:ext>
            </a:extLst>
          </p:cNvPr>
          <p:cNvSpPr/>
          <p:nvPr/>
        </p:nvSpPr>
        <p:spPr>
          <a:xfrm>
            <a:off x="6300001" y="305764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1CC4D179-FBED-65C3-02F3-34A54B8BCE13}"/>
              </a:ext>
            </a:extLst>
          </p:cNvPr>
          <p:cNvPicPr>
            <a:picLocks noChangeAspect="1"/>
          </p:cNvPicPr>
          <p:nvPr/>
        </p:nvPicPr>
        <p:blipFill>
          <a:blip r:embed="rId4"/>
          <a:stretch>
            <a:fillRect/>
          </a:stretch>
        </p:blipFill>
        <p:spPr>
          <a:xfrm>
            <a:off x="6300001" y="3791732"/>
            <a:ext cx="4635000" cy="1854000"/>
          </a:xfrm>
          <a:prstGeom prst="rect">
            <a:avLst/>
          </a:prstGeom>
        </p:spPr>
      </p:pic>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9/72</a:t>
            </a:r>
          </a:p>
        </p:txBody>
      </p:sp>
    </p:spTree>
    <p:extLst>
      <p:ext uri="{BB962C8B-B14F-4D97-AF65-F5344CB8AC3E}">
        <p14:creationId xmlns:p14="http://schemas.microsoft.com/office/powerpoint/2010/main" val="2508768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1.4  </a:t>
            </a:r>
            <a:r>
              <a:rPr sz="4600" dirty="0" err="1">
                <a:latin typeface="Meiryo"/>
                <a:ea typeface="Meiryo"/>
                <a:cs typeface="Meiryo"/>
              </a:rPr>
              <a:t>反射波の成因</a:t>
            </a:r>
            <a:endParaRPr sz="4600" dirty="0">
              <a:latin typeface="Meiryo"/>
              <a:ea typeface="Meiryo"/>
              <a:cs typeface="Meiryo"/>
            </a:endParaRPr>
          </a:p>
        </p:txBody>
      </p:sp>
      <p:sp>
        <p:nvSpPr>
          <p:cNvPr id="13" name="Off-page Connector 4"/>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9" name="fig_body" descr="f13_body.png"/>
          <p:cNvPicPr>
            <a:picLocks noChangeAspect="1"/>
          </p:cNvPicPr>
          <p:nvPr/>
        </p:nvPicPr>
        <p:blipFill>
          <a:blip r:embed="rId3"/>
          <a:stretch>
            <a:fillRect/>
          </a:stretch>
        </p:blipFill>
        <p:spPr>
          <a:xfrm>
            <a:off x="864000" y="1707040"/>
            <a:ext cx="4608000" cy="3744000"/>
          </a:xfrm>
          <a:prstGeom prst="rect">
            <a:avLst/>
          </a:prstGeom>
        </p:spPr>
      </p:pic>
      <p:sp>
        <p:nvSpPr>
          <p:cNvPr id="20" name="TextBox 19"/>
          <p:cNvSpPr txBox="1"/>
          <p:nvPr/>
        </p:nvSpPr>
        <p:spPr>
          <a:xfrm>
            <a:off x="921600" y="1995040"/>
            <a:ext cx="2268000" cy="3456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心臓（左室）</a:t>
            </a:r>
          </a:p>
        </p:txBody>
      </p:sp>
      <p:sp>
        <p:nvSpPr>
          <p:cNvPr id="21" name="TextBox 20"/>
          <p:cNvSpPr txBox="1"/>
          <p:nvPr/>
        </p:nvSpPr>
        <p:spPr>
          <a:xfrm>
            <a:off x="4320000" y="1995040"/>
            <a:ext cx="1116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指先</a:t>
            </a:r>
          </a:p>
        </p:txBody>
      </p:sp>
      <p:sp>
        <p:nvSpPr>
          <p:cNvPr id="22" name="TextBox 21"/>
          <p:cNvSpPr txBox="1"/>
          <p:nvPr/>
        </p:nvSpPr>
        <p:spPr>
          <a:xfrm>
            <a:off x="2390400" y="3607840"/>
            <a:ext cx="2015999"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下行大動脈</a:t>
            </a:r>
          </a:p>
        </p:txBody>
      </p:sp>
      <p:sp>
        <p:nvSpPr>
          <p:cNvPr id="23" name="TextBox 22"/>
          <p:cNvSpPr txBox="1"/>
          <p:nvPr/>
        </p:nvSpPr>
        <p:spPr>
          <a:xfrm>
            <a:off x="2476800" y="4550886"/>
            <a:ext cx="3196388" cy="677108"/>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262626"/>
                </a:solidFill>
                <a:latin typeface="Meiryo"/>
                <a:ea typeface="Meiryo"/>
                <a:cs typeface="Meiryo"/>
              </a:rPr>
              <a:t>体幹</a:t>
            </a:r>
            <a:r>
              <a:rPr sz="2200" b="1" dirty="0">
                <a:solidFill>
                  <a:srgbClr val="262626"/>
                </a:solidFill>
                <a:latin typeface="Meiryo"/>
                <a:ea typeface="Meiryo"/>
                <a:cs typeface="Meiryo"/>
              </a:rPr>
              <a:t>・</a:t>
            </a:r>
            <a:r>
              <a:rPr sz="2200" b="1" dirty="0" err="1">
                <a:solidFill>
                  <a:srgbClr val="262626"/>
                </a:solidFill>
                <a:latin typeface="Meiryo"/>
                <a:ea typeface="Meiryo"/>
                <a:cs typeface="Meiryo"/>
              </a:rPr>
              <a:t>下肢</a:t>
            </a:r>
            <a:r>
              <a:rPr lang="ja-JP" altLang="en-US" sz="2200" b="1">
                <a:solidFill>
                  <a:srgbClr val="262626"/>
                </a:solidFill>
                <a:latin typeface="Meiryo"/>
                <a:ea typeface="Meiryo"/>
                <a:cs typeface="Meiryo"/>
              </a:rPr>
              <a:t>の長経路</a:t>
            </a:r>
            <a:endParaRPr sz="2200" b="1" dirty="0">
              <a:solidFill>
                <a:srgbClr val="262626"/>
              </a:solidFill>
              <a:latin typeface="Meiryo"/>
              <a:ea typeface="Meiryo"/>
              <a:cs typeface="Meiryo"/>
            </a:endParaRPr>
          </a:p>
          <a:p>
            <a:pPr algn="l">
              <a:spcBef>
                <a:spcPts val="0"/>
              </a:spcBef>
              <a:spcAft>
                <a:spcPts val="0"/>
              </a:spcAft>
            </a:pP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主な</a:t>
            </a:r>
            <a:r>
              <a:rPr lang="ja-JP" altLang="en-US" sz="2200" b="1">
                <a:solidFill>
                  <a:srgbClr val="262626"/>
                </a:solidFill>
                <a:latin typeface="Meiryo"/>
                <a:ea typeface="Meiryo"/>
                <a:cs typeface="Meiryo"/>
              </a:rPr>
              <a:t>見かけの</a:t>
            </a:r>
            <a:r>
              <a:rPr sz="2200" b="1" dirty="0" err="1">
                <a:solidFill>
                  <a:srgbClr val="262626"/>
                </a:solidFill>
                <a:latin typeface="Meiryo"/>
                <a:ea typeface="Meiryo"/>
                <a:cs typeface="Meiryo"/>
              </a:rPr>
              <a:t>反射部位</a:t>
            </a:r>
            <a:endParaRPr sz="2200" b="1" dirty="0">
              <a:solidFill>
                <a:srgbClr val="262626"/>
              </a:solidFill>
              <a:latin typeface="Meiryo"/>
              <a:ea typeface="Meiryo"/>
              <a:cs typeface="Meiryo"/>
            </a:endParaRPr>
          </a:p>
        </p:txBody>
      </p:sp>
      <p:sp>
        <p:nvSpPr>
          <p:cNvPr id="25" name="TextBox 24"/>
          <p:cNvSpPr txBox="1"/>
          <p:nvPr/>
        </p:nvSpPr>
        <p:spPr>
          <a:xfrm>
            <a:off x="6665099" y="2384183"/>
            <a:ext cx="4231928" cy="677108"/>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D55E00"/>
                </a:solidFill>
                <a:latin typeface="Meiryo"/>
                <a:ea typeface="Meiryo"/>
                <a:cs typeface="Meiryo"/>
              </a:rPr>
              <a:t>体幹から下肢を中心とした</a:t>
            </a:r>
            <a:r>
              <a:rPr sz="2200" b="1" dirty="0" err="1">
                <a:solidFill>
                  <a:srgbClr val="D55E00"/>
                </a:solidFill>
                <a:latin typeface="Meiryo"/>
                <a:ea typeface="Meiryo"/>
                <a:cs typeface="Meiryo"/>
              </a:rPr>
              <a:t>反射</a:t>
            </a:r>
            <a:r>
              <a:rPr lang="ja-JP" altLang="en-US" sz="2200" b="1">
                <a:solidFill>
                  <a:srgbClr val="D55E00"/>
                </a:solidFill>
                <a:latin typeface="Meiryo"/>
                <a:ea typeface="Meiryo"/>
                <a:cs typeface="Meiryo"/>
              </a:rPr>
              <a:t>が</a:t>
            </a:r>
            <a:endParaRPr lang="en-US" altLang="ja-JP" sz="2200" b="1" dirty="0">
              <a:solidFill>
                <a:srgbClr val="D55E00"/>
              </a:solidFill>
              <a:latin typeface="Meiryo"/>
              <a:ea typeface="Meiryo"/>
              <a:cs typeface="Meiryo"/>
            </a:endParaRPr>
          </a:p>
          <a:p>
            <a:r>
              <a:rPr lang="ja-JP" altLang="en-US" sz="2200" b="1">
                <a:solidFill>
                  <a:srgbClr val="D55E00"/>
                </a:solidFill>
                <a:latin typeface="Meiryo"/>
                <a:ea typeface="Meiryo"/>
                <a:cs typeface="Meiryo"/>
              </a:rPr>
              <a:t>大動脈を遡って再度測定部位へ</a:t>
            </a:r>
            <a:endParaRPr sz="2200" b="1" dirty="0">
              <a:solidFill>
                <a:srgbClr val="D55E00"/>
              </a:solidFill>
              <a:latin typeface="Meiryo"/>
              <a:ea typeface="Meiryo"/>
              <a:cs typeface="Meiryo"/>
            </a:endParaRPr>
          </a:p>
        </p:txBody>
      </p:sp>
      <p:pic>
        <p:nvPicPr>
          <p:cNvPr id="27" name="fig_wave" descr="f13_wave.png"/>
          <p:cNvPicPr>
            <a:picLocks noChangeAspect="1"/>
          </p:cNvPicPr>
          <p:nvPr/>
        </p:nvPicPr>
        <p:blipFill>
          <a:blip r:embed="rId4"/>
          <a:stretch>
            <a:fillRect/>
          </a:stretch>
        </p:blipFill>
        <p:spPr>
          <a:xfrm>
            <a:off x="6384001" y="3402644"/>
            <a:ext cx="4320000" cy="1584000"/>
          </a:xfrm>
          <a:prstGeom prst="rect">
            <a:avLst/>
          </a:prstGeom>
        </p:spPr>
      </p:pic>
      <p:sp>
        <p:nvSpPr>
          <p:cNvPr id="28" name="TextBox 27"/>
          <p:cNvSpPr txBox="1"/>
          <p:nvPr/>
        </p:nvSpPr>
        <p:spPr>
          <a:xfrm>
            <a:off x="9120001" y="3834645"/>
            <a:ext cx="2304000" cy="3600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重複切痕</a:t>
            </a:r>
          </a:p>
        </p:txBody>
      </p:sp>
      <p:sp>
        <p:nvSpPr>
          <p:cNvPr id="29" name="TextBox 28"/>
          <p:cNvSpPr txBox="1"/>
          <p:nvPr/>
        </p:nvSpPr>
        <p:spPr>
          <a:xfrm>
            <a:off x="7421357" y="5195368"/>
            <a:ext cx="2821285" cy="338554"/>
          </a:xfrm>
          <a:prstGeom prst="rect">
            <a:avLst/>
          </a:prstGeom>
          <a:noFill/>
        </p:spPr>
        <p:txBody>
          <a:bodyPr wrap="none" lIns="0" tIns="0" rIns="0" bIns="0" anchor="ctr">
            <a:spAutoFit/>
          </a:bodyPr>
          <a:lstStyle/>
          <a:p>
            <a:pPr algn="ctr">
              <a:spcBef>
                <a:spcPts val="0"/>
              </a:spcBef>
              <a:spcAft>
                <a:spcPts val="0"/>
              </a:spcAft>
            </a:pPr>
            <a:r>
              <a:rPr lang="ja-JP" altLang="en-US" sz="2200" b="1">
                <a:solidFill>
                  <a:srgbClr val="262626"/>
                </a:solidFill>
                <a:latin typeface="Meiryo"/>
                <a:ea typeface="Meiryo"/>
                <a:cs typeface="Meiryo"/>
              </a:rPr>
              <a:t>指先</a:t>
            </a:r>
            <a:r>
              <a:rPr sz="2200" b="1" dirty="0">
                <a:solidFill>
                  <a:srgbClr val="262626"/>
                </a:solidFill>
                <a:latin typeface="Meiryo"/>
                <a:ea typeface="Meiryo"/>
                <a:cs typeface="Meiryo"/>
              </a:rPr>
              <a:t>＝</a:t>
            </a:r>
            <a:r>
              <a:rPr sz="2200" b="1" dirty="0" err="1">
                <a:solidFill>
                  <a:srgbClr val="262626"/>
                </a:solidFill>
                <a:latin typeface="Meiryo"/>
                <a:ea typeface="Meiryo"/>
                <a:cs typeface="Meiryo"/>
              </a:rPr>
              <a:t>前進波＋反射波</a:t>
            </a:r>
            <a:endParaRPr sz="2200" b="1" dirty="0">
              <a:solidFill>
                <a:srgbClr val="262626"/>
              </a:solidFill>
              <a:latin typeface="Meiryo"/>
              <a:ea typeface="Meiryo"/>
              <a:cs typeface="Meiryo"/>
            </a:endParaRPr>
          </a:p>
        </p:txBody>
      </p:sp>
      <p:sp>
        <p:nvSpPr>
          <p:cNvPr id="30" name="Rounded Rectangle 29"/>
          <p:cNvSpPr/>
          <p:nvPr/>
        </p:nvSpPr>
        <p:spPr>
          <a:xfrm>
            <a:off x="864000" y="5903999"/>
            <a:ext cx="1044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sz="2400" b="1" dirty="0" err="1">
                <a:solidFill>
                  <a:srgbClr val="262626"/>
                </a:solidFill>
                <a:latin typeface="Meiryo"/>
                <a:ea typeface="Meiryo"/>
                <a:cs typeface="Meiryo"/>
              </a:rPr>
              <a:t>前進波と反射波の合成によりPPG波形は成り立つ</a:t>
            </a:r>
            <a:endParaRPr sz="2400" b="1" dirty="0">
              <a:solidFill>
                <a:srgbClr val="262626"/>
              </a:solidFill>
              <a:latin typeface="Meiryo"/>
              <a:ea typeface="Meiryo"/>
              <a:cs typeface="Meiryo"/>
            </a:endParaRPr>
          </a:p>
        </p:txBody>
      </p:sp>
      <p:sp>
        <p:nvSpPr>
          <p:cNvPr id="3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　／　6. Millasseau 2002</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10/72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1.5  PPG基礎まとめ</a:t>
            </a:r>
          </a:p>
        </p:txBody>
      </p:sp>
      <p:sp>
        <p:nvSpPr>
          <p:cNvPr id="12" name="Off-page Connector 4"/>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2. Aoyagi 2003　／　3. Chan 2013　／　5. Politi 2016</a:t>
            </a:r>
          </a:p>
        </p:txBody>
      </p:sp>
      <p:sp>
        <p:nvSpPr>
          <p:cNvPr id="18" name="Rounded Rectangle 17"/>
          <p:cNvSpPr/>
          <p:nvPr/>
        </p:nvSpPr>
        <p:spPr>
          <a:xfrm>
            <a:off x="502920" y="1737360"/>
            <a:ext cx="3529584" cy="30175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nSpc>
                <a:spcPct val="150000"/>
              </a:lnSpc>
            </a:pPr>
            <a:endParaRPr dirty="0"/>
          </a:p>
        </p:txBody>
      </p:sp>
      <p:sp>
        <p:nvSpPr>
          <p:cNvPr id="19" name="TextBox 18"/>
          <p:cNvSpPr txBox="1"/>
          <p:nvPr/>
        </p:nvSpPr>
        <p:spPr>
          <a:xfrm>
            <a:off x="685800" y="1883664"/>
            <a:ext cx="548640" cy="597121"/>
          </a:xfrm>
          <a:prstGeom prst="rect">
            <a:avLst/>
          </a:prstGeom>
          <a:noFill/>
        </p:spPr>
        <p:txBody>
          <a:bodyPr wrap="square" lIns="0" tIns="0" rIns="0" bIns="0" anchor="t">
            <a:spAutoFit/>
          </a:bodyPr>
          <a:lstStyle/>
          <a:p>
            <a:pPr algn="l"/>
            <a:r>
              <a:rPr sz="2800" b="1">
                <a:solidFill>
                  <a:srgbClr val="0072B2"/>
                </a:solidFill>
                <a:latin typeface="Meiryo"/>
                <a:ea typeface="Meiryo"/>
                <a:cs typeface="Meiryo"/>
              </a:rPr>
              <a:t>①</a:t>
            </a:r>
          </a:p>
        </p:txBody>
      </p:sp>
      <p:sp>
        <p:nvSpPr>
          <p:cNvPr id="20" name="TextBox 19"/>
          <p:cNvSpPr txBox="1"/>
          <p:nvPr/>
        </p:nvSpPr>
        <p:spPr>
          <a:xfrm>
            <a:off x="1234440" y="1920240"/>
            <a:ext cx="2651760" cy="541553"/>
          </a:xfrm>
          <a:prstGeom prst="rect">
            <a:avLst/>
          </a:prstGeom>
          <a:noFill/>
        </p:spPr>
        <p:txBody>
          <a:bodyPr wrap="square" lIns="0" tIns="0" rIns="0" bIns="0" anchor="t">
            <a:spAutoFit/>
          </a:bodyPr>
          <a:lstStyle/>
          <a:p>
            <a:pPr algn="l"/>
            <a:r>
              <a:rPr sz="2500" b="1" dirty="0">
                <a:solidFill>
                  <a:srgbClr val="0072B2"/>
                </a:solidFill>
                <a:latin typeface="Meiryo"/>
                <a:ea typeface="Meiryo"/>
                <a:cs typeface="Meiryo"/>
              </a:rPr>
              <a:t>SpO₂</a:t>
            </a:r>
            <a:r>
              <a:rPr lang="en-US" sz="2500" b="1" dirty="0">
                <a:solidFill>
                  <a:srgbClr val="0072B2"/>
                </a:solidFill>
                <a:latin typeface="Meiryo"/>
                <a:ea typeface="Meiryo"/>
                <a:cs typeface="Meiryo"/>
              </a:rPr>
              <a:t> </a:t>
            </a:r>
            <a:r>
              <a:rPr lang="en-US" sz="2500" b="1" dirty="0" err="1">
                <a:solidFill>
                  <a:srgbClr val="0072B2"/>
                </a:solidFill>
                <a:latin typeface="Meiryo"/>
                <a:ea typeface="Meiryo"/>
                <a:cs typeface="Meiryo"/>
              </a:rPr>
              <a:t>測定原理</a:t>
            </a:r>
            <a:endParaRPr sz="2500" b="1" dirty="0">
              <a:solidFill>
                <a:srgbClr val="0072B2"/>
              </a:solidFill>
              <a:latin typeface="Meiryo"/>
              <a:ea typeface="Meiryo"/>
              <a:cs typeface="Meiryo"/>
            </a:endParaRPr>
          </a:p>
        </p:txBody>
      </p:sp>
      <p:sp>
        <p:nvSpPr>
          <p:cNvPr id="21" name="TextBox 20"/>
          <p:cNvSpPr txBox="1"/>
          <p:nvPr/>
        </p:nvSpPr>
        <p:spPr>
          <a:xfrm>
            <a:off x="731520" y="2514600"/>
            <a:ext cx="3108960" cy="2018032"/>
          </a:xfrm>
          <a:prstGeom prst="rect">
            <a:avLst/>
          </a:prstGeom>
          <a:noFill/>
        </p:spPr>
        <p:txBody>
          <a:bodyPr wrap="square" lIns="0" tIns="0" rIns="0" bIns="0" anchor="t">
            <a:spAutoFit/>
          </a:bodyPr>
          <a:lstStyle/>
          <a:p>
            <a:pPr algn="l">
              <a:lnSpc>
                <a:spcPct val="120000"/>
              </a:lnSpc>
              <a:spcAft>
                <a:spcPts val="600"/>
              </a:spcAft>
            </a:pPr>
            <a:r>
              <a:rPr sz="2300" b="0">
                <a:solidFill>
                  <a:srgbClr val="262626"/>
                </a:solidFill>
                <a:latin typeface="Meiryo"/>
                <a:ea typeface="Meiryo"/>
                <a:cs typeface="Meiryo"/>
              </a:rPr>
              <a:t>赤色光と赤外光の</a:t>
            </a:r>
          </a:p>
          <a:p>
            <a:pPr algn="l">
              <a:lnSpc>
                <a:spcPct val="120000"/>
              </a:lnSpc>
              <a:spcAft>
                <a:spcPts val="600"/>
              </a:spcAft>
            </a:pPr>
            <a:r>
              <a:rPr sz="2300" b="0">
                <a:solidFill>
                  <a:srgbClr val="262626"/>
                </a:solidFill>
                <a:latin typeface="Meiryo"/>
                <a:ea typeface="Meiryo"/>
                <a:cs typeface="Meiryo"/>
              </a:rPr>
              <a:t>吸収の比 R を</a:t>
            </a:r>
          </a:p>
          <a:p>
            <a:pPr algn="l">
              <a:lnSpc>
                <a:spcPct val="120000"/>
              </a:lnSpc>
              <a:spcAft>
                <a:spcPts val="600"/>
              </a:spcAft>
            </a:pPr>
            <a:r>
              <a:rPr sz="2300" b="0">
                <a:solidFill>
                  <a:srgbClr val="262626"/>
                </a:solidFill>
                <a:latin typeface="Meiryo"/>
                <a:ea typeface="Meiryo"/>
                <a:cs typeface="Meiryo"/>
              </a:rPr>
              <a:t>健常者の較正表に</a:t>
            </a:r>
          </a:p>
          <a:p>
            <a:pPr algn="l">
              <a:lnSpc>
                <a:spcPct val="120000"/>
              </a:lnSpc>
              <a:spcAft>
                <a:spcPts val="600"/>
              </a:spcAft>
            </a:pPr>
            <a:r>
              <a:rPr sz="2300" b="0">
                <a:solidFill>
                  <a:srgbClr val="262626"/>
                </a:solidFill>
                <a:latin typeface="Meiryo"/>
                <a:ea typeface="Meiryo"/>
                <a:cs typeface="Meiryo"/>
              </a:rPr>
              <a:t>当てはめた推定値</a:t>
            </a:r>
          </a:p>
        </p:txBody>
      </p:sp>
      <p:sp>
        <p:nvSpPr>
          <p:cNvPr id="22" name="Rounded Rectangle 21"/>
          <p:cNvSpPr/>
          <p:nvPr/>
        </p:nvSpPr>
        <p:spPr>
          <a:xfrm>
            <a:off x="4306824" y="1737360"/>
            <a:ext cx="3529584" cy="30175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489704" y="1883664"/>
            <a:ext cx="548640" cy="597121"/>
          </a:xfrm>
          <a:prstGeom prst="rect">
            <a:avLst/>
          </a:prstGeom>
          <a:noFill/>
        </p:spPr>
        <p:txBody>
          <a:bodyPr wrap="square" lIns="0" tIns="0" rIns="0" bIns="0" anchor="t">
            <a:spAutoFit/>
          </a:bodyPr>
          <a:lstStyle/>
          <a:p>
            <a:pPr algn="l"/>
            <a:r>
              <a:rPr sz="2800" b="1">
                <a:solidFill>
                  <a:srgbClr val="D55E00"/>
                </a:solidFill>
                <a:latin typeface="Meiryo"/>
                <a:ea typeface="Meiryo"/>
                <a:cs typeface="Meiryo"/>
              </a:rPr>
              <a:t>②</a:t>
            </a:r>
          </a:p>
        </p:txBody>
      </p:sp>
      <p:sp>
        <p:nvSpPr>
          <p:cNvPr id="24" name="TextBox 23"/>
          <p:cNvSpPr txBox="1"/>
          <p:nvPr/>
        </p:nvSpPr>
        <p:spPr>
          <a:xfrm>
            <a:off x="5038344" y="1920240"/>
            <a:ext cx="2651760" cy="541553"/>
          </a:xfrm>
          <a:prstGeom prst="rect">
            <a:avLst/>
          </a:prstGeom>
          <a:noFill/>
        </p:spPr>
        <p:txBody>
          <a:bodyPr wrap="square" lIns="0" tIns="0" rIns="0" bIns="0" anchor="t">
            <a:spAutoFit/>
          </a:bodyPr>
          <a:lstStyle/>
          <a:p>
            <a:pPr algn="l"/>
            <a:r>
              <a:rPr sz="2500" b="1" dirty="0">
                <a:solidFill>
                  <a:srgbClr val="D55E00"/>
                </a:solidFill>
                <a:latin typeface="Meiryo"/>
                <a:ea typeface="Meiryo"/>
                <a:cs typeface="Meiryo"/>
              </a:rPr>
              <a:t>PPG </a:t>
            </a:r>
            <a:r>
              <a:rPr lang="ja-JP" altLang="en-US" sz="2500" b="1">
                <a:solidFill>
                  <a:srgbClr val="D55E00"/>
                </a:solidFill>
                <a:latin typeface="Meiryo"/>
                <a:ea typeface="Meiryo"/>
                <a:cs typeface="Meiryo"/>
              </a:rPr>
              <a:t>が測るもの</a:t>
            </a:r>
            <a:endParaRPr sz="2500" b="1" dirty="0">
              <a:solidFill>
                <a:srgbClr val="D55E00"/>
              </a:solidFill>
              <a:latin typeface="Meiryo"/>
              <a:ea typeface="Meiryo"/>
              <a:cs typeface="Meiryo"/>
            </a:endParaRPr>
          </a:p>
        </p:txBody>
      </p:sp>
      <p:sp>
        <p:nvSpPr>
          <p:cNvPr id="25" name="TextBox 24"/>
          <p:cNvSpPr txBox="1"/>
          <p:nvPr/>
        </p:nvSpPr>
        <p:spPr>
          <a:xfrm>
            <a:off x="4535424" y="2514600"/>
            <a:ext cx="3108960" cy="2004395"/>
          </a:xfrm>
          <a:prstGeom prst="rect">
            <a:avLst/>
          </a:prstGeom>
          <a:noFill/>
        </p:spPr>
        <p:txBody>
          <a:bodyPr wrap="square" lIns="0" tIns="0" rIns="0" bIns="0" anchor="t">
            <a:spAutoFit/>
          </a:bodyPr>
          <a:lstStyle/>
          <a:p>
            <a:pPr algn="l">
              <a:lnSpc>
                <a:spcPct val="120000"/>
              </a:lnSpc>
              <a:spcAft>
                <a:spcPts val="600"/>
              </a:spcAft>
            </a:pPr>
            <a:r>
              <a:rPr lang="ja-JP" altLang="en-US" sz="2300">
                <a:solidFill>
                  <a:srgbClr val="262626"/>
                </a:solidFill>
                <a:latin typeface="Meiryo"/>
                <a:ea typeface="Meiryo"/>
                <a:cs typeface="Meiryo"/>
              </a:rPr>
              <a:t>脈波による局所的な</a:t>
            </a:r>
            <a:endParaRPr sz="2300" b="0" dirty="0">
              <a:solidFill>
                <a:srgbClr val="262626"/>
              </a:solidFill>
              <a:latin typeface="Meiryo"/>
              <a:ea typeface="Meiryo"/>
              <a:cs typeface="Meiryo"/>
            </a:endParaRPr>
          </a:p>
          <a:p>
            <a:pPr algn="l">
              <a:lnSpc>
                <a:spcPct val="120000"/>
              </a:lnSpc>
              <a:spcAft>
                <a:spcPts val="600"/>
              </a:spcAft>
            </a:pPr>
            <a:r>
              <a:rPr lang="ja-JP" altLang="en-US" sz="2300" b="0">
                <a:solidFill>
                  <a:srgbClr val="262626"/>
                </a:solidFill>
                <a:latin typeface="Meiryo"/>
                <a:ea typeface="Meiryo"/>
                <a:cs typeface="Meiryo"/>
              </a:rPr>
              <a:t>血管伸展にともなう</a:t>
            </a:r>
            <a:endParaRPr lang="en-US" altLang="ja-JP" sz="2300" b="0" dirty="0">
              <a:solidFill>
                <a:srgbClr val="262626"/>
              </a:solidFill>
              <a:latin typeface="Meiryo"/>
              <a:ea typeface="Meiryo"/>
              <a:cs typeface="Meiryo"/>
            </a:endParaRPr>
          </a:p>
          <a:p>
            <a:pPr algn="l">
              <a:lnSpc>
                <a:spcPct val="120000"/>
              </a:lnSpc>
              <a:spcAft>
                <a:spcPts val="600"/>
              </a:spcAft>
            </a:pPr>
            <a:r>
              <a:rPr sz="2800" b="1" dirty="0" err="1">
                <a:solidFill>
                  <a:srgbClr val="262626"/>
                </a:solidFill>
                <a:latin typeface="Meiryo"/>
                <a:ea typeface="Meiryo"/>
                <a:cs typeface="Meiryo"/>
              </a:rPr>
              <a:t>容積の変化</a:t>
            </a:r>
            <a:endParaRPr sz="2800" b="1" dirty="0">
              <a:solidFill>
                <a:srgbClr val="262626"/>
              </a:solidFill>
              <a:latin typeface="Meiryo"/>
              <a:ea typeface="Meiryo"/>
              <a:cs typeface="Meiryo"/>
            </a:endParaRPr>
          </a:p>
          <a:p>
            <a:pPr algn="l">
              <a:lnSpc>
                <a:spcPct val="120000"/>
              </a:lnSpc>
              <a:spcAft>
                <a:spcPts val="600"/>
              </a:spcAft>
            </a:pPr>
            <a:endParaRPr sz="2300" b="0" dirty="0">
              <a:solidFill>
                <a:srgbClr val="262626"/>
              </a:solidFill>
              <a:latin typeface="Meiryo"/>
              <a:ea typeface="Meiryo"/>
              <a:cs typeface="Meiryo"/>
            </a:endParaRPr>
          </a:p>
        </p:txBody>
      </p:sp>
      <p:sp>
        <p:nvSpPr>
          <p:cNvPr id="26" name="Rounded Rectangle 25"/>
          <p:cNvSpPr/>
          <p:nvPr/>
        </p:nvSpPr>
        <p:spPr>
          <a:xfrm>
            <a:off x="8110728" y="1737360"/>
            <a:ext cx="3529584" cy="30175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293608" y="1883664"/>
            <a:ext cx="548640" cy="597121"/>
          </a:xfrm>
          <a:prstGeom prst="rect">
            <a:avLst/>
          </a:prstGeom>
          <a:noFill/>
        </p:spPr>
        <p:txBody>
          <a:bodyPr wrap="square" lIns="0" tIns="0" rIns="0" bIns="0" anchor="t">
            <a:spAutoFit/>
          </a:bodyPr>
          <a:lstStyle/>
          <a:p>
            <a:pPr algn="l"/>
            <a:r>
              <a:rPr sz="2800" b="1">
                <a:solidFill>
                  <a:srgbClr val="00A8AA"/>
                </a:solidFill>
                <a:latin typeface="Meiryo"/>
                <a:ea typeface="Meiryo"/>
                <a:cs typeface="Meiryo"/>
              </a:rPr>
              <a:t>③</a:t>
            </a:r>
          </a:p>
        </p:txBody>
      </p:sp>
      <p:sp>
        <p:nvSpPr>
          <p:cNvPr id="28" name="TextBox 27"/>
          <p:cNvSpPr txBox="1"/>
          <p:nvPr/>
        </p:nvSpPr>
        <p:spPr>
          <a:xfrm>
            <a:off x="8842248" y="1920240"/>
            <a:ext cx="2651760" cy="541553"/>
          </a:xfrm>
          <a:prstGeom prst="rect">
            <a:avLst/>
          </a:prstGeom>
          <a:noFill/>
        </p:spPr>
        <p:txBody>
          <a:bodyPr wrap="square" lIns="0" tIns="0" rIns="0" bIns="0" anchor="t">
            <a:spAutoFit/>
          </a:bodyPr>
          <a:lstStyle/>
          <a:p>
            <a:pPr algn="l"/>
            <a:r>
              <a:rPr sz="2500" b="1">
                <a:solidFill>
                  <a:srgbClr val="00A8AA"/>
                </a:solidFill>
                <a:latin typeface="Meiryo"/>
                <a:ea typeface="Meiryo"/>
                <a:cs typeface="Meiryo"/>
              </a:rPr>
              <a:t>波形の成り立ち</a:t>
            </a:r>
          </a:p>
        </p:txBody>
      </p:sp>
      <p:sp>
        <p:nvSpPr>
          <p:cNvPr id="29" name="TextBox 28"/>
          <p:cNvSpPr txBox="1"/>
          <p:nvPr/>
        </p:nvSpPr>
        <p:spPr>
          <a:xfrm>
            <a:off x="8339328" y="2514600"/>
            <a:ext cx="3108960" cy="1101629"/>
          </a:xfrm>
          <a:prstGeom prst="rect">
            <a:avLst/>
          </a:prstGeom>
          <a:noFill/>
        </p:spPr>
        <p:txBody>
          <a:bodyPr wrap="square" lIns="0" tIns="0" rIns="0" bIns="0" anchor="t">
            <a:spAutoFit/>
          </a:bodyPr>
          <a:lstStyle/>
          <a:p>
            <a:pPr algn="l">
              <a:spcAft>
                <a:spcPts val="600"/>
              </a:spcAft>
            </a:pPr>
            <a:r>
              <a:rPr sz="2800" b="1" dirty="0" err="1">
                <a:solidFill>
                  <a:srgbClr val="262626"/>
                </a:solidFill>
                <a:latin typeface="Meiryo"/>
                <a:ea typeface="Meiryo"/>
                <a:cs typeface="Meiryo"/>
              </a:rPr>
              <a:t>前進波</a:t>
            </a:r>
            <a:r>
              <a:rPr sz="2300" b="0" dirty="0">
                <a:solidFill>
                  <a:srgbClr val="262626"/>
                </a:solidFill>
                <a:latin typeface="Meiryo"/>
                <a:ea typeface="Meiryo"/>
                <a:cs typeface="Meiryo"/>
              </a:rPr>
              <a:t> ＋ </a:t>
            </a:r>
            <a:r>
              <a:rPr sz="2800" b="1" dirty="0" err="1">
                <a:solidFill>
                  <a:srgbClr val="262626"/>
                </a:solidFill>
                <a:latin typeface="Meiryo"/>
                <a:ea typeface="Meiryo"/>
                <a:cs typeface="Meiryo"/>
              </a:rPr>
              <a:t>反射波</a:t>
            </a:r>
            <a:endParaRPr sz="2800" b="1" dirty="0">
              <a:solidFill>
                <a:srgbClr val="262626"/>
              </a:solidFill>
              <a:latin typeface="Meiryo"/>
              <a:ea typeface="Meiryo"/>
              <a:cs typeface="Meiryo"/>
            </a:endParaRPr>
          </a:p>
          <a:p>
            <a:pPr algn="l">
              <a:spcAft>
                <a:spcPts val="600"/>
              </a:spcAft>
            </a:pPr>
            <a:r>
              <a:rPr sz="2300" b="0" dirty="0" err="1">
                <a:solidFill>
                  <a:srgbClr val="262626"/>
                </a:solidFill>
                <a:latin typeface="Meiryo"/>
                <a:ea typeface="Meiryo"/>
                <a:cs typeface="Meiryo"/>
              </a:rPr>
              <a:t>の合成</a:t>
            </a:r>
            <a:endParaRPr sz="2300" b="0" dirty="0">
              <a:solidFill>
                <a:srgbClr val="262626"/>
              </a:solidFill>
              <a:latin typeface="Meiryo"/>
              <a:ea typeface="Meiryo"/>
              <a:cs typeface="Meiryo"/>
            </a:endParaRPr>
          </a:p>
        </p:txBody>
      </p:sp>
      <p:sp>
        <p:nvSpPr>
          <p:cNvPr id="30" name="Rounded Rectangle 29"/>
          <p:cNvSpPr/>
          <p:nvPr/>
        </p:nvSpPr>
        <p:spPr>
          <a:xfrm>
            <a:off x="502920" y="5029200"/>
            <a:ext cx="11183112" cy="109728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85800" y="5230368"/>
            <a:ext cx="10789920" cy="1049305"/>
          </a:xfrm>
          <a:prstGeom prst="rect">
            <a:avLst/>
          </a:prstGeom>
          <a:noFill/>
        </p:spPr>
        <p:txBody>
          <a:bodyPr wrap="square" lIns="0" tIns="0" rIns="0" bIns="0" anchor="t">
            <a:spAutoFit/>
          </a:bodyPr>
          <a:lstStyle/>
          <a:p>
            <a:pPr algn="ctr">
              <a:spcAft>
                <a:spcPts val="400"/>
              </a:spcAft>
            </a:pPr>
            <a:r>
              <a:rPr lang="en-US" altLang="ja-JP" sz="2700" b="1" dirty="0" err="1">
                <a:solidFill>
                  <a:srgbClr val="262626"/>
                </a:solidFill>
                <a:latin typeface="Meiryo"/>
                <a:ea typeface="Meiryo"/>
                <a:cs typeface="Meiryo"/>
              </a:rPr>
              <a:t>PPG</a:t>
            </a:r>
            <a:r>
              <a:rPr sz="2700" b="1" dirty="0" err="1">
                <a:solidFill>
                  <a:srgbClr val="262626"/>
                </a:solidFill>
                <a:latin typeface="Meiryo"/>
                <a:ea typeface="Meiryo"/>
                <a:cs typeface="Meiryo"/>
              </a:rPr>
              <a:t>波形は</a:t>
            </a:r>
            <a:r>
              <a:rPr sz="2700" b="1" dirty="0">
                <a:solidFill>
                  <a:srgbClr val="262626"/>
                </a:solidFill>
                <a:latin typeface="Meiryo"/>
                <a:ea typeface="Meiryo"/>
                <a:cs typeface="Meiryo"/>
              </a:rPr>
              <a:t> </a:t>
            </a:r>
            <a:r>
              <a:rPr sz="2700" b="1" dirty="0" err="1">
                <a:solidFill>
                  <a:srgbClr val="BF9000"/>
                </a:solidFill>
                <a:latin typeface="Meiryo"/>
                <a:ea typeface="Meiryo"/>
                <a:cs typeface="Meiryo"/>
              </a:rPr>
              <a:t>どのような因子</a:t>
            </a:r>
            <a:r>
              <a:rPr sz="2700" b="1" dirty="0">
                <a:solidFill>
                  <a:srgbClr val="262626"/>
                </a:solidFill>
                <a:latin typeface="Meiryo"/>
                <a:ea typeface="Meiryo"/>
                <a:cs typeface="Meiryo"/>
              </a:rPr>
              <a:t> </a:t>
            </a:r>
            <a:r>
              <a:rPr sz="2700" b="1" dirty="0" err="1">
                <a:solidFill>
                  <a:srgbClr val="262626"/>
                </a:solidFill>
                <a:latin typeface="Meiryo"/>
                <a:ea typeface="Meiryo"/>
                <a:cs typeface="Meiryo"/>
              </a:rPr>
              <a:t>に影響を受けるのか</a:t>
            </a:r>
            <a:endParaRPr sz="2700" b="1" dirty="0">
              <a:solidFill>
                <a:srgbClr val="262626"/>
              </a:solidFill>
              <a:latin typeface="Meiryo"/>
              <a:ea typeface="Meiryo"/>
              <a:cs typeface="Meiryo"/>
            </a:endParaRPr>
          </a:p>
          <a:p>
            <a:pPr algn="ctr">
              <a:spcAft>
                <a:spcPts val="400"/>
              </a:spcAft>
            </a:pPr>
            <a:r>
              <a:rPr sz="2400" b="1" dirty="0">
                <a:solidFill>
                  <a:srgbClr val="262626"/>
                </a:solidFill>
                <a:latin typeface="Meiryo"/>
                <a:ea typeface="Meiryo"/>
                <a:cs typeface="Meiryo"/>
              </a:rPr>
              <a:t>→　</a:t>
            </a:r>
            <a:r>
              <a:rPr sz="2400" b="1" dirty="0" err="1">
                <a:solidFill>
                  <a:srgbClr val="262626"/>
                </a:solidFill>
                <a:latin typeface="Meiryo"/>
                <a:ea typeface="Meiryo"/>
                <a:cs typeface="Meiryo"/>
              </a:rPr>
              <a:t>次章から</a:t>
            </a:r>
            <a:r>
              <a:rPr sz="2400" b="1" dirty="0">
                <a:solidFill>
                  <a:srgbClr val="262626"/>
                </a:solidFill>
                <a:latin typeface="Meiryo"/>
                <a:ea typeface="Meiryo"/>
                <a:cs typeface="Meiryo"/>
              </a:rPr>
              <a:t> </a:t>
            </a:r>
            <a:r>
              <a:rPr sz="2400" b="1" dirty="0" err="1">
                <a:solidFill>
                  <a:srgbClr val="262626"/>
                </a:solidFill>
                <a:latin typeface="Meiryo"/>
                <a:ea typeface="Meiryo"/>
                <a:cs typeface="Meiryo"/>
              </a:rPr>
              <a:t>加齢・循環・麻酔</a:t>
            </a:r>
            <a:r>
              <a:rPr sz="2400" b="1" dirty="0">
                <a:solidFill>
                  <a:srgbClr val="262626"/>
                </a:solidFill>
                <a:latin typeface="Meiryo"/>
                <a:ea typeface="Meiryo"/>
                <a:cs typeface="Meiryo"/>
              </a:rPr>
              <a:t> </a:t>
            </a:r>
            <a:r>
              <a:rPr sz="2400" b="1" dirty="0" err="1">
                <a:solidFill>
                  <a:srgbClr val="262626"/>
                </a:solidFill>
                <a:latin typeface="Meiryo"/>
                <a:ea typeface="Meiryo"/>
                <a:cs typeface="Meiryo"/>
              </a:rPr>
              <a:t>の順に見ていく</a:t>
            </a:r>
            <a:endParaRPr sz="2400" b="1" dirty="0">
              <a:solidFill>
                <a:srgbClr val="262626"/>
              </a:solidFill>
              <a:latin typeface="Meiryo"/>
              <a:ea typeface="Meiryo"/>
              <a:cs typeface="Meiryo"/>
            </a:endParaRP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11/72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185628-72CC-53D2-71C2-CF0C5DF854AE}"/>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0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4"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57" name="Agenda"/>
          <p:cNvSpPr txBox="1"/>
          <p:nvPr/>
        </p:nvSpPr>
        <p:spPr>
          <a:xfrm>
            <a:off x="822960" y="1536192"/>
            <a:ext cx="5029200" cy="4956048"/>
          </a:xfrm>
          <a:prstGeom prst="rect">
            <a:avLst/>
          </a:prstGeom>
          <a:noFill/>
        </p:spPr>
        <p:txBody>
          <a:bodyPr wrap="square" lIns="0" tIns="0" rIns="0" bIns="0" anchor="t"/>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BF9000"/>
                </a:solidFill>
                <a:latin typeface="Meiryo"/>
                <a:ea typeface="Meiryo"/>
                <a:cs typeface="Meiryo"/>
              </a:rPr>
              <a:t>2. </a:t>
            </a:r>
            <a:r>
              <a:rPr sz="3200" b="1">
                <a:solidFill>
                  <a:srgbClr val="262626"/>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p:txBody>
      </p:sp>
      <p:sp>
        <p:nvSpPr>
          <p:cNvPr id="959"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2.1 </a:t>
            </a:r>
            <a:r>
              <a:rPr sz="2900" b="0">
                <a:solidFill>
                  <a:srgbClr val="262626"/>
                </a:solidFill>
                <a:latin typeface="Meiryo"/>
                <a:ea typeface="Meiryo"/>
                <a:cs typeface="Meiryo"/>
              </a:rPr>
              <a:t>加齢の影響</a:t>
            </a:r>
          </a:p>
          <a:p>
            <a:pPr>
              <a:lnSpc>
                <a:spcPct val="145000"/>
              </a:lnSpc>
            </a:pPr>
            <a:r>
              <a:rPr sz="2900" b="1">
                <a:solidFill>
                  <a:srgbClr val="BF9000"/>
                </a:solidFill>
                <a:latin typeface="Meiryo"/>
                <a:ea typeface="Meiryo"/>
                <a:cs typeface="Meiryo"/>
              </a:rPr>
              <a:t>2.2 </a:t>
            </a:r>
            <a:r>
              <a:rPr sz="2900" b="0">
                <a:solidFill>
                  <a:srgbClr val="262626"/>
                </a:solidFill>
                <a:latin typeface="Meiryo"/>
                <a:ea typeface="Meiryo"/>
                <a:cs typeface="Meiryo"/>
              </a:rPr>
              <a:t>循環の変化</a:t>
            </a:r>
          </a:p>
          <a:p>
            <a:pPr>
              <a:lnSpc>
                <a:spcPct val="145000"/>
              </a:lnSpc>
            </a:pPr>
            <a:r>
              <a:rPr sz="2900" b="1">
                <a:solidFill>
                  <a:srgbClr val="BF9000"/>
                </a:solidFill>
                <a:latin typeface="Meiryo"/>
                <a:ea typeface="Meiryo"/>
                <a:cs typeface="Meiryo"/>
              </a:rPr>
              <a:t>2.3 </a:t>
            </a:r>
            <a:r>
              <a:rPr sz="2900" b="0">
                <a:solidFill>
                  <a:srgbClr val="262626"/>
                </a:solidFill>
                <a:latin typeface="Meiryo"/>
                <a:ea typeface="Meiryo"/>
                <a:cs typeface="Meiryo"/>
              </a:rPr>
              <a:t>麻酔中の変化</a:t>
            </a:r>
          </a:p>
        </p:txBody>
      </p:sp>
      <p:sp>
        <p:nvSpPr>
          <p:cNvPr id="96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12/72</a:t>
            </a:r>
          </a:p>
        </p:txBody>
      </p:sp>
    </p:spTree>
    <p:extLst>
      <p:ext uri="{BB962C8B-B14F-4D97-AF65-F5344CB8AC3E}">
        <p14:creationId xmlns:p14="http://schemas.microsoft.com/office/powerpoint/2010/main" val="13493065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0D585-C2E4-BE11-73F6-9C986485CE6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03" name="Off-page Connector 4">
            <a:extLst>
              <a:ext uri="{FF2B5EF4-FFF2-40B4-BE49-F238E27FC236}">
                <a16:creationId xmlns:a16="http://schemas.microsoft.com/office/drawing/2014/main" id="{74956F3D-E19A-EDD1-8019-2BEDCBF54DC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4" name="Off-page Connector 5">
            <a:extLst>
              <a:ext uri="{FF2B5EF4-FFF2-40B4-BE49-F238E27FC236}">
                <a16:creationId xmlns:a16="http://schemas.microsoft.com/office/drawing/2014/main" id="{70323696-E7DF-3856-E16B-DF7874ABAA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5" name="Off-page Connector 6">
            <a:extLst>
              <a:ext uri="{FF2B5EF4-FFF2-40B4-BE49-F238E27FC236}">
                <a16:creationId xmlns:a16="http://schemas.microsoft.com/office/drawing/2014/main" id="{DBE3ED70-EF18-AA7E-E12F-9A7FAB18A28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6" name="Off-page Connector 7">
            <a:extLst>
              <a:ext uri="{FF2B5EF4-FFF2-40B4-BE49-F238E27FC236}">
                <a16:creationId xmlns:a16="http://schemas.microsoft.com/office/drawing/2014/main" id="{620376B2-DB4A-3B9F-1142-2335FA12BFB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7" name="Off-page Connector 8">
            <a:extLst>
              <a:ext uri="{FF2B5EF4-FFF2-40B4-BE49-F238E27FC236}">
                <a16:creationId xmlns:a16="http://schemas.microsoft.com/office/drawing/2014/main" id="{6BFD8B17-10AA-A8B2-0F86-6AF9860541E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4956048"/>
          </a:xfrm>
          <a:prstGeom prst="rect">
            <a:avLst/>
          </a:prstGeom>
          <a:noFill/>
        </p:spPr>
        <p:txBody>
          <a:bodyPr wrap="square" lIns="0" tIns="0" rIns="0" bIns="0" anchor="t"/>
          <a:lstStyle/>
          <a:p>
            <a:pPr>
              <a:lnSpc>
                <a:spcPct val="142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42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42000"/>
              </a:lnSpc>
            </a:pPr>
            <a:r>
              <a:rPr sz="2700" b="1">
                <a:solidFill>
                  <a:srgbClr val="BF9000"/>
                </a:solidFill>
                <a:latin typeface="Meiryo"/>
                <a:ea typeface="Meiryo"/>
                <a:cs typeface="Meiryo"/>
              </a:rPr>
              <a:t>　2.1 </a:t>
            </a:r>
            <a:r>
              <a:rPr sz="2700" b="1">
                <a:solidFill>
                  <a:srgbClr val="262626"/>
                </a:solidFill>
                <a:latin typeface="Meiryo"/>
                <a:ea typeface="Meiryo"/>
                <a:cs typeface="Meiryo"/>
              </a:rPr>
              <a:t>加齢の影響</a:t>
            </a:r>
          </a:p>
          <a:p>
            <a:pPr>
              <a:lnSpc>
                <a:spcPct val="142000"/>
              </a:lnSpc>
            </a:pPr>
            <a:r>
              <a:rPr sz="2700" b="1">
                <a:solidFill>
                  <a:srgbClr val="D9D9D9"/>
                </a:solidFill>
                <a:latin typeface="Meiryo"/>
                <a:ea typeface="Meiryo"/>
                <a:cs typeface="Meiryo"/>
              </a:rPr>
              <a:t>　2.2 </a:t>
            </a:r>
            <a:r>
              <a:rPr sz="2700" b="0">
                <a:solidFill>
                  <a:srgbClr val="808080"/>
                </a:solidFill>
                <a:latin typeface="Meiryo"/>
                <a:ea typeface="Meiryo"/>
                <a:cs typeface="Meiryo"/>
              </a:rPr>
              <a:t>循環の変化</a:t>
            </a:r>
          </a:p>
          <a:p>
            <a:pPr>
              <a:lnSpc>
                <a:spcPct val="142000"/>
              </a:lnSpc>
            </a:pPr>
            <a:r>
              <a:rPr sz="2700" b="1">
                <a:solidFill>
                  <a:srgbClr val="D9D9D9"/>
                </a:solidFill>
                <a:latin typeface="Meiryo"/>
                <a:ea typeface="Meiryo"/>
                <a:cs typeface="Meiryo"/>
              </a:rPr>
              <a:t>　2.3 </a:t>
            </a:r>
            <a:r>
              <a:rPr sz="2700" b="0">
                <a:solidFill>
                  <a:srgbClr val="808080"/>
                </a:solidFill>
                <a:latin typeface="Meiryo"/>
                <a:ea typeface="Meiryo"/>
                <a:cs typeface="Meiryo"/>
              </a:rPr>
              <a:t>麻酔中の変化</a:t>
            </a:r>
          </a:p>
          <a:p>
            <a:pPr>
              <a:lnSpc>
                <a:spcPct val="142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42000"/>
              </a:lnSpc>
            </a:pPr>
            <a:r>
              <a:rPr sz="3000" b="1">
                <a:solidFill>
                  <a:srgbClr val="D9D9D9"/>
                </a:solidFill>
                <a:latin typeface="Meiryo"/>
                <a:ea typeface="Meiryo"/>
                <a:cs typeface="Meiryo"/>
              </a:rPr>
              <a:t>4. </a:t>
            </a:r>
            <a:r>
              <a:rPr sz="3000" b="0">
                <a:solidFill>
                  <a:srgbClr val="D9D9D9"/>
                </a:solidFill>
                <a:latin typeface="Meiryo"/>
                <a:ea typeface="Meiryo"/>
                <a:cs typeface="Meiryo"/>
              </a:rPr>
              <a:t>限界</a:t>
            </a:r>
          </a:p>
          <a:p>
            <a:pPr>
              <a:lnSpc>
                <a:spcPct val="142000"/>
              </a:lnSpc>
            </a:pPr>
            <a:r>
              <a:rPr sz="3000" b="1">
                <a:solidFill>
                  <a:srgbClr val="D9D9D9"/>
                </a:solidFill>
                <a:latin typeface="Meiryo"/>
                <a:ea typeface="Meiryo"/>
                <a:cs typeface="Meiryo"/>
              </a:rPr>
              <a:t>5. </a:t>
            </a:r>
            <a:r>
              <a:rPr sz="3000" b="0">
                <a:solidFill>
                  <a:srgbClr val="D9D9D9"/>
                </a:solidFill>
                <a:latin typeface="Meiryo"/>
                <a:ea typeface="Meiryo"/>
                <a:cs typeface="Meiryo"/>
              </a:rPr>
              <a:t>PDA（波形分解）</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2.1 </a:t>
            </a:r>
            <a:r>
              <a:rPr sz="3000" b="1">
                <a:solidFill>
                  <a:srgbClr val="262626"/>
                </a:solidFill>
                <a:latin typeface="Meiryo"/>
                <a:ea typeface="Meiryo"/>
                <a:cs typeface="Meiryo"/>
              </a:rPr>
              <a:t>加齢の影響</a:t>
            </a:r>
          </a:p>
          <a:p>
            <a:pPr>
              <a:lnSpc>
                <a:spcPct val="142000"/>
              </a:lnSpc>
            </a:pPr>
            <a:r>
              <a:rPr sz="2700" b="1">
                <a:solidFill>
                  <a:srgbClr val="BF9000"/>
                </a:solidFill>
                <a:latin typeface="Meiryo"/>
                <a:ea typeface="Meiryo"/>
                <a:cs typeface="Meiryo"/>
              </a:rPr>
              <a:t>2.1.1 </a:t>
            </a:r>
            <a:r>
              <a:rPr sz="2700" b="0">
                <a:solidFill>
                  <a:srgbClr val="262626"/>
                </a:solidFill>
                <a:latin typeface="Meiryo"/>
                <a:ea typeface="Meiryo"/>
                <a:cs typeface="Meiryo"/>
              </a:rPr>
              <a:t>フラミンガム研究</a:t>
            </a:r>
          </a:p>
          <a:p>
            <a:pPr>
              <a:lnSpc>
                <a:spcPct val="142000"/>
              </a:lnSpc>
            </a:pPr>
            <a:r>
              <a:rPr sz="2700" b="1">
                <a:solidFill>
                  <a:srgbClr val="BF9000"/>
                </a:solidFill>
                <a:latin typeface="Meiryo"/>
                <a:ea typeface="Meiryo"/>
                <a:cs typeface="Meiryo"/>
              </a:rPr>
              <a:t>2.1.2 </a:t>
            </a:r>
            <a:r>
              <a:rPr sz="2700" b="0">
                <a:solidFill>
                  <a:srgbClr val="262626"/>
                </a:solidFill>
                <a:latin typeface="Meiryo"/>
                <a:ea typeface="Meiryo"/>
                <a:cs typeface="Meiryo"/>
              </a:rPr>
              <a:t>UK Biobank</a:t>
            </a:r>
          </a:p>
          <a:p>
            <a:pPr>
              <a:lnSpc>
                <a:spcPct val="142000"/>
              </a:lnSpc>
            </a:pPr>
            <a:r>
              <a:rPr sz="2700" b="1">
                <a:solidFill>
                  <a:srgbClr val="BF9000"/>
                </a:solidFill>
                <a:latin typeface="Meiryo"/>
                <a:ea typeface="Meiryo"/>
                <a:cs typeface="Meiryo"/>
              </a:rPr>
              <a:t>2.1.3 </a:t>
            </a:r>
            <a:r>
              <a:rPr sz="2700" b="0">
                <a:solidFill>
                  <a:srgbClr val="262626"/>
                </a:solidFill>
                <a:latin typeface="Meiryo"/>
                <a:ea typeface="Meiryo"/>
                <a:cs typeface="Meiryo"/>
              </a:rPr>
              <a:t>切痕平滑化の理由</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13/72</a:t>
            </a:r>
          </a:p>
        </p:txBody>
      </p:sp>
    </p:spTree>
    <p:extLst>
      <p:ext uri="{BB962C8B-B14F-4D97-AF65-F5344CB8AC3E}">
        <p14:creationId xmlns:p14="http://schemas.microsoft.com/office/powerpoint/2010/main" val="3094319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6FF89-B285-9CE6-7A63-68741F9732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201AB-7969-FFD4-7E38-EED96D163515}"/>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4" name="Off-page Connector 4">
            <a:extLst>
              <a:ext uri="{FF2B5EF4-FFF2-40B4-BE49-F238E27FC236}">
                <a16:creationId xmlns:a16="http://schemas.microsoft.com/office/drawing/2014/main" id="{841E0964-E45F-CE29-98E0-A7115AB44B7A}"/>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a:extLst>
              <a:ext uri="{FF2B5EF4-FFF2-40B4-BE49-F238E27FC236}">
                <a16:creationId xmlns:a16="http://schemas.microsoft.com/office/drawing/2014/main" id="{E3132FED-6E38-D861-03F7-D7A42E9905A8}"/>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a:extLst>
              <a:ext uri="{FF2B5EF4-FFF2-40B4-BE49-F238E27FC236}">
                <a16:creationId xmlns:a16="http://schemas.microsoft.com/office/drawing/2014/main" id="{C2ABAE9C-A018-D5B5-84EE-739957BE8E1E}"/>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EAC09DD2-957B-97D5-4F0D-ECDD552C40C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a:extLst>
              <a:ext uri="{FF2B5EF4-FFF2-40B4-BE49-F238E27FC236}">
                <a16:creationId xmlns:a16="http://schemas.microsoft.com/office/drawing/2014/main" id="{071E0BA8-F957-7153-77B9-719EDC30588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9" name="lead"/>
          <p:cNvSpPr txBox="1"/>
          <p:nvPr/>
        </p:nvSpPr>
        <p:spPr>
          <a:xfrm>
            <a:off x="566928" y="2250863"/>
            <a:ext cx="10058400" cy="369332"/>
          </a:xfrm>
          <a:prstGeom prst="rect">
            <a:avLst/>
          </a:prstGeom>
          <a:noFill/>
        </p:spPr>
        <p:txBody>
          <a:bodyPr wrap="square" lIns="0" tIns="0" rIns="0" bIns="0" anchor="ctr">
            <a:spAutoFit/>
          </a:bodyPr>
          <a:lstStyle/>
          <a:p>
            <a:pPr algn="l"/>
            <a:r>
              <a:rPr sz="2400" b="1" dirty="0" err="1">
                <a:solidFill>
                  <a:srgbClr val="262626"/>
                </a:solidFill>
                <a:latin typeface="Meiryo"/>
                <a:ea typeface="Meiryo"/>
                <a:cs typeface="Meiryo"/>
              </a:rPr>
              <a:t>米国の前向きコホート</a:t>
            </a:r>
            <a:endParaRPr sz="2400" b="1" dirty="0">
              <a:solidFill>
                <a:srgbClr val="262626"/>
              </a:solidFill>
              <a:latin typeface="Meiryo"/>
              <a:ea typeface="Meiryo"/>
              <a:cs typeface="Meiryo"/>
            </a:endParaRPr>
          </a:p>
        </p:txBody>
      </p:sp>
      <p:sp>
        <p:nvSpPr>
          <p:cNvPr id="20" name="fact0"/>
          <p:cNvSpPr/>
          <p:nvPr/>
        </p:nvSpPr>
        <p:spPr>
          <a:xfrm>
            <a:off x="548640"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1948年 開始</a:t>
            </a:r>
          </a:p>
          <a:p>
            <a:pPr algn="ctr"/>
            <a:r>
              <a:rPr sz="2200" b="1">
                <a:solidFill>
                  <a:srgbClr val="262626"/>
                </a:solidFill>
                <a:latin typeface="Meiryo"/>
                <a:ea typeface="Meiryo"/>
                <a:cs typeface="Meiryo"/>
              </a:rPr>
              <a:t>米国 国立心臓研究所</a:t>
            </a:r>
          </a:p>
          <a:p>
            <a:pPr algn="ctr"/>
            <a:r>
              <a:rPr sz="2200" b="1">
                <a:solidFill>
                  <a:srgbClr val="262626"/>
                </a:solidFill>
                <a:latin typeface="Meiryo"/>
                <a:ea typeface="Meiryo"/>
                <a:cs typeface="Meiryo"/>
              </a:rPr>
              <a:t>（現 NHLBI）</a:t>
            </a:r>
          </a:p>
        </p:txBody>
      </p:sp>
      <p:sp>
        <p:nvSpPr>
          <p:cNvPr id="21" name="fact1"/>
          <p:cNvSpPr/>
          <p:nvPr/>
        </p:nvSpPr>
        <p:spPr>
          <a:xfrm>
            <a:off x="4370832"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5,209 人</a:t>
            </a:r>
          </a:p>
          <a:p>
            <a:pPr algn="ctr"/>
            <a:r>
              <a:rPr sz="2200" b="1">
                <a:solidFill>
                  <a:srgbClr val="262626"/>
                </a:solidFill>
                <a:latin typeface="Meiryo"/>
                <a:ea typeface="Meiryo"/>
                <a:cs typeface="Meiryo"/>
              </a:rPr>
              <a:t>マサチューセッツ州</a:t>
            </a:r>
          </a:p>
          <a:p>
            <a:pPr algn="ctr"/>
            <a:r>
              <a:rPr sz="2200" b="1">
                <a:solidFill>
                  <a:srgbClr val="262626"/>
                </a:solidFill>
                <a:latin typeface="Meiryo"/>
                <a:ea typeface="Meiryo"/>
                <a:cs typeface="Meiryo"/>
              </a:rPr>
              <a:t>フラミンガムの住民</a:t>
            </a:r>
          </a:p>
        </p:txBody>
      </p:sp>
      <p:sp>
        <p:nvSpPr>
          <p:cNvPr id="22" name="fact2"/>
          <p:cNvSpPr/>
          <p:nvPr/>
        </p:nvSpPr>
        <p:spPr>
          <a:xfrm>
            <a:off x="8193024"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30〜62 歳</a:t>
            </a:r>
          </a:p>
          <a:p>
            <a:pPr algn="ctr"/>
            <a:r>
              <a:rPr sz="2200" b="1">
                <a:solidFill>
                  <a:srgbClr val="262626"/>
                </a:solidFill>
                <a:latin typeface="Meiryo"/>
                <a:ea typeface="Meiryo"/>
                <a:cs typeface="Meiryo"/>
              </a:rPr>
              <a:t>登録時に</a:t>
            </a:r>
          </a:p>
          <a:p>
            <a:pPr algn="ctr"/>
            <a:r>
              <a:rPr sz="2200" b="1">
                <a:solidFill>
                  <a:srgbClr val="262626"/>
                </a:solidFill>
                <a:latin typeface="Meiryo"/>
                <a:ea typeface="Meiryo"/>
                <a:cs typeface="Meiryo"/>
              </a:rPr>
              <a:t>心血管疾患なし</a:t>
            </a:r>
          </a:p>
        </p:txBody>
      </p:sp>
      <p:sp>
        <p:nvSpPr>
          <p:cNvPr id="4" name="fact1">
            <a:extLst>
              <a:ext uri="{FF2B5EF4-FFF2-40B4-BE49-F238E27FC236}">
                <a16:creationId xmlns:a16="http://schemas.microsoft.com/office/drawing/2014/main" id="{E9CB1BDA-6335-6B88-D851-03BD5F7CC4E8}"/>
              </a:ext>
            </a:extLst>
          </p:cNvPr>
          <p:cNvSpPr/>
          <p:nvPr/>
        </p:nvSpPr>
        <p:spPr>
          <a:xfrm>
            <a:off x="548640" y="4374056"/>
            <a:ext cx="11119104" cy="969265"/>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2</a:t>
            </a:r>
            <a:r>
              <a:rPr lang="ja-JP" altLang="en-US" sz="2600" b="1">
                <a:solidFill>
                  <a:srgbClr val="262626"/>
                </a:solidFill>
                <a:latin typeface="Meiryo"/>
                <a:ea typeface="Meiryo"/>
                <a:cs typeface="Meiryo"/>
              </a:rPr>
              <a:t>年ごとに追跡し、発症前からの経過を追う</a:t>
            </a:r>
          </a:p>
          <a:p>
            <a:pPr algn="ctr"/>
            <a:r>
              <a:rPr lang="ja-JP" altLang="en-US" sz="2200" b="1">
                <a:solidFill>
                  <a:srgbClr val="262626"/>
                </a:solidFill>
                <a:latin typeface="Meiryo"/>
                <a:ea typeface="Meiryo"/>
                <a:cs typeface="Meiryo"/>
              </a:rPr>
              <a:t>「危険因子（</a:t>
            </a:r>
            <a:r>
              <a:rPr lang="en" altLang="ja-JP" sz="2200" b="1" dirty="0">
                <a:solidFill>
                  <a:srgbClr val="262626"/>
                </a:solidFill>
                <a:latin typeface="Meiryo"/>
                <a:ea typeface="Meiryo"/>
                <a:cs typeface="Meiryo"/>
              </a:rPr>
              <a:t>risk factor</a:t>
            </a:r>
            <a:r>
              <a:rPr lang="ja-JP" altLang="en" sz="2200" b="1">
                <a:solidFill>
                  <a:srgbClr val="262626"/>
                </a:solidFill>
                <a:latin typeface="Meiryo"/>
                <a:ea typeface="Meiryo"/>
                <a:cs typeface="Meiryo"/>
              </a:rPr>
              <a:t>）」</a:t>
            </a:r>
            <a:r>
              <a:rPr lang="ja-JP" altLang="en-US" sz="2200" b="1">
                <a:solidFill>
                  <a:srgbClr val="262626"/>
                </a:solidFill>
                <a:latin typeface="Meiryo"/>
                <a:ea typeface="Meiryo"/>
                <a:cs typeface="Meiryo"/>
              </a:rPr>
              <a:t>という概念を生んだ研究</a:t>
            </a:r>
            <a:endParaRPr lang="ja-JP" altLang="en-US"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14/72</a:t>
            </a:r>
          </a:p>
        </p:txBody>
      </p:sp>
    </p:spTree>
    <p:extLst>
      <p:ext uri="{BB962C8B-B14F-4D97-AF65-F5344CB8AC3E}">
        <p14:creationId xmlns:p14="http://schemas.microsoft.com/office/powerpoint/2010/main" val="14569262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8968F-ADEA-D170-C699-C12C4AFCD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201E03-EEF2-C812-5C12-A17A8C5D2F4D}"/>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4" name="Off-page Connector 4">
            <a:extLst>
              <a:ext uri="{FF2B5EF4-FFF2-40B4-BE49-F238E27FC236}">
                <a16:creationId xmlns:a16="http://schemas.microsoft.com/office/drawing/2014/main" id="{F904641B-85DE-8E6C-6C6E-CB18D8B400D1}"/>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a:extLst>
              <a:ext uri="{FF2B5EF4-FFF2-40B4-BE49-F238E27FC236}">
                <a16:creationId xmlns:a16="http://schemas.microsoft.com/office/drawing/2014/main" id="{E5F5129B-29D5-4A3F-C7CF-A62583168D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a:extLst>
              <a:ext uri="{FF2B5EF4-FFF2-40B4-BE49-F238E27FC236}">
                <a16:creationId xmlns:a16="http://schemas.microsoft.com/office/drawing/2014/main" id="{453A6919-A47D-1801-425D-36733C9C1871}"/>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416F21FD-7073-1352-B10A-D94472A0B493}"/>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a:extLst>
              <a:ext uri="{FF2B5EF4-FFF2-40B4-BE49-F238E27FC236}">
                <a16:creationId xmlns:a16="http://schemas.microsoft.com/office/drawing/2014/main" id="{28C88997-B342-0DC0-B064-6EE32E8FEF7D}"/>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9" name="lead">
            <a:extLst>
              <a:ext uri="{FF2B5EF4-FFF2-40B4-BE49-F238E27FC236}">
                <a16:creationId xmlns:a16="http://schemas.microsoft.com/office/drawing/2014/main" id="{F8EC53D6-55CF-9E98-3B56-78CF9A0EB19F}"/>
              </a:ext>
            </a:extLst>
          </p:cNvPr>
          <p:cNvSpPr txBox="1"/>
          <p:nvPr/>
        </p:nvSpPr>
        <p:spPr>
          <a:xfrm>
            <a:off x="566928" y="2250863"/>
            <a:ext cx="10058400" cy="369332"/>
          </a:xfrm>
          <a:prstGeom prst="rect">
            <a:avLst/>
          </a:prstGeom>
          <a:noFill/>
        </p:spPr>
        <p:txBody>
          <a:bodyPr wrap="square" lIns="0" tIns="0" rIns="0" bIns="0" anchor="ctr">
            <a:spAutoFit/>
          </a:bodyPr>
          <a:lstStyle/>
          <a:p>
            <a:pPr algn="l"/>
            <a:r>
              <a:rPr sz="2400" b="1" dirty="0" err="1">
                <a:solidFill>
                  <a:srgbClr val="262626"/>
                </a:solidFill>
                <a:latin typeface="Meiryo"/>
                <a:ea typeface="Meiryo"/>
                <a:cs typeface="Meiryo"/>
              </a:rPr>
              <a:t>米国の前向きコホート</a:t>
            </a:r>
            <a:endParaRPr sz="2400" b="1" dirty="0">
              <a:solidFill>
                <a:srgbClr val="262626"/>
              </a:solidFill>
              <a:latin typeface="Meiryo"/>
              <a:ea typeface="Meiryo"/>
              <a:cs typeface="Meiryo"/>
            </a:endParaRPr>
          </a:p>
        </p:txBody>
      </p:sp>
      <p:sp>
        <p:nvSpPr>
          <p:cNvPr id="20" name="fact0">
            <a:extLst>
              <a:ext uri="{FF2B5EF4-FFF2-40B4-BE49-F238E27FC236}">
                <a16:creationId xmlns:a16="http://schemas.microsoft.com/office/drawing/2014/main" id="{E9D390A7-1B50-043A-92FB-213A4D9A4214}"/>
              </a:ext>
            </a:extLst>
          </p:cNvPr>
          <p:cNvSpPr/>
          <p:nvPr/>
        </p:nvSpPr>
        <p:spPr>
          <a:xfrm>
            <a:off x="548640"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1948年 開始</a:t>
            </a:r>
          </a:p>
          <a:p>
            <a:pPr algn="ctr"/>
            <a:r>
              <a:rPr sz="2200" b="1">
                <a:solidFill>
                  <a:srgbClr val="262626"/>
                </a:solidFill>
                <a:latin typeface="Meiryo"/>
                <a:ea typeface="Meiryo"/>
                <a:cs typeface="Meiryo"/>
              </a:rPr>
              <a:t>米国 国立心臓研究所</a:t>
            </a:r>
          </a:p>
          <a:p>
            <a:pPr algn="ctr"/>
            <a:r>
              <a:rPr sz="2200" b="1">
                <a:solidFill>
                  <a:srgbClr val="262626"/>
                </a:solidFill>
                <a:latin typeface="Meiryo"/>
                <a:ea typeface="Meiryo"/>
                <a:cs typeface="Meiryo"/>
              </a:rPr>
              <a:t>（現 NHLBI）</a:t>
            </a:r>
          </a:p>
        </p:txBody>
      </p:sp>
      <p:sp>
        <p:nvSpPr>
          <p:cNvPr id="21" name="fact1">
            <a:extLst>
              <a:ext uri="{FF2B5EF4-FFF2-40B4-BE49-F238E27FC236}">
                <a16:creationId xmlns:a16="http://schemas.microsoft.com/office/drawing/2014/main" id="{206FE081-ED3A-4FC5-288E-D1CEF3A2E35E}"/>
              </a:ext>
            </a:extLst>
          </p:cNvPr>
          <p:cNvSpPr/>
          <p:nvPr/>
        </p:nvSpPr>
        <p:spPr>
          <a:xfrm>
            <a:off x="4370832"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5,209 人</a:t>
            </a:r>
          </a:p>
          <a:p>
            <a:pPr algn="ctr"/>
            <a:r>
              <a:rPr sz="2200" b="1">
                <a:solidFill>
                  <a:srgbClr val="262626"/>
                </a:solidFill>
                <a:latin typeface="Meiryo"/>
                <a:ea typeface="Meiryo"/>
                <a:cs typeface="Meiryo"/>
              </a:rPr>
              <a:t>マサチューセッツ州</a:t>
            </a:r>
          </a:p>
          <a:p>
            <a:pPr algn="ctr"/>
            <a:r>
              <a:rPr sz="2200" b="1">
                <a:solidFill>
                  <a:srgbClr val="262626"/>
                </a:solidFill>
                <a:latin typeface="Meiryo"/>
                <a:ea typeface="Meiryo"/>
                <a:cs typeface="Meiryo"/>
              </a:rPr>
              <a:t>フラミンガムの住民</a:t>
            </a:r>
          </a:p>
        </p:txBody>
      </p:sp>
      <p:sp>
        <p:nvSpPr>
          <p:cNvPr id="22" name="fact2">
            <a:extLst>
              <a:ext uri="{FF2B5EF4-FFF2-40B4-BE49-F238E27FC236}">
                <a16:creationId xmlns:a16="http://schemas.microsoft.com/office/drawing/2014/main" id="{015B7C19-73C4-B5A6-9724-4A6AD846E664}"/>
              </a:ext>
            </a:extLst>
          </p:cNvPr>
          <p:cNvSpPr/>
          <p:nvPr/>
        </p:nvSpPr>
        <p:spPr>
          <a:xfrm>
            <a:off x="8193024"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30〜62 歳</a:t>
            </a:r>
          </a:p>
          <a:p>
            <a:pPr algn="ctr"/>
            <a:r>
              <a:rPr sz="2200" b="1">
                <a:solidFill>
                  <a:srgbClr val="262626"/>
                </a:solidFill>
                <a:latin typeface="Meiryo"/>
                <a:ea typeface="Meiryo"/>
                <a:cs typeface="Meiryo"/>
              </a:rPr>
              <a:t>登録時に</a:t>
            </a:r>
          </a:p>
          <a:p>
            <a:pPr algn="ctr"/>
            <a:r>
              <a:rPr sz="2200" b="1">
                <a:solidFill>
                  <a:srgbClr val="262626"/>
                </a:solidFill>
                <a:latin typeface="Meiryo"/>
                <a:ea typeface="Meiryo"/>
                <a:cs typeface="Meiryo"/>
              </a:rPr>
              <a:t>心血管疾患なし</a:t>
            </a:r>
          </a:p>
        </p:txBody>
      </p:sp>
      <p:sp>
        <p:nvSpPr>
          <p:cNvPr id="3" name="callout">
            <a:extLst>
              <a:ext uri="{FF2B5EF4-FFF2-40B4-BE49-F238E27FC236}">
                <a16:creationId xmlns:a16="http://schemas.microsoft.com/office/drawing/2014/main" id="{8972EB66-69B1-1329-DF72-0CA13CFBD1AF}"/>
              </a:ext>
            </a:extLst>
          </p:cNvPr>
          <p:cNvSpPr/>
          <p:nvPr/>
        </p:nvSpPr>
        <p:spPr>
          <a:xfrm>
            <a:off x="548639" y="5568236"/>
            <a:ext cx="11119103" cy="583429"/>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指尖脈波波形と年齢や冠動脈疾患の関連を調べた</a:t>
            </a:r>
            <a:endParaRPr sz="2200" b="1" dirty="0">
              <a:solidFill>
                <a:srgbClr val="262626"/>
              </a:solidFill>
              <a:latin typeface="Meiryo"/>
              <a:ea typeface="Meiryo"/>
              <a:cs typeface="Meiryo"/>
            </a:endParaRPr>
          </a:p>
        </p:txBody>
      </p:sp>
      <p:sp>
        <p:nvSpPr>
          <p:cNvPr id="4" name="fact1">
            <a:extLst>
              <a:ext uri="{FF2B5EF4-FFF2-40B4-BE49-F238E27FC236}">
                <a16:creationId xmlns:a16="http://schemas.microsoft.com/office/drawing/2014/main" id="{917550F6-F1DD-C512-E172-D3C4EBCD1DB3}"/>
              </a:ext>
            </a:extLst>
          </p:cNvPr>
          <p:cNvSpPr/>
          <p:nvPr/>
        </p:nvSpPr>
        <p:spPr>
          <a:xfrm>
            <a:off x="548640" y="4374056"/>
            <a:ext cx="11119104" cy="969265"/>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2</a:t>
            </a:r>
            <a:r>
              <a:rPr lang="ja-JP" altLang="en-US" sz="2600" b="1">
                <a:solidFill>
                  <a:srgbClr val="262626"/>
                </a:solidFill>
                <a:latin typeface="Meiryo"/>
                <a:ea typeface="Meiryo"/>
                <a:cs typeface="Meiryo"/>
              </a:rPr>
              <a:t>年ごとに追跡し、発症前からの経過を追う</a:t>
            </a:r>
          </a:p>
          <a:p>
            <a:pPr algn="ctr"/>
            <a:r>
              <a:rPr lang="ja-JP" altLang="en-US" sz="2200" b="1">
                <a:solidFill>
                  <a:srgbClr val="262626"/>
                </a:solidFill>
                <a:latin typeface="Meiryo"/>
                <a:ea typeface="Meiryo"/>
                <a:cs typeface="Meiryo"/>
              </a:rPr>
              <a:t>「危険因子（</a:t>
            </a:r>
            <a:r>
              <a:rPr lang="en" altLang="ja-JP" sz="2200" b="1" dirty="0">
                <a:solidFill>
                  <a:srgbClr val="262626"/>
                </a:solidFill>
                <a:latin typeface="Meiryo"/>
                <a:ea typeface="Meiryo"/>
                <a:cs typeface="Meiryo"/>
              </a:rPr>
              <a:t>risk factor</a:t>
            </a:r>
            <a:r>
              <a:rPr lang="ja-JP" altLang="en" sz="2200" b="1">
                <a:solidFill>
                  <a:srgbClr val="262626"/>
                </a:solidFill>
                <a:latin typeface="Meiryo"/>
                <a:ea typeface="Meiryo"/>
                <a:cs typeface="Meiryo"/>
              </a:rPr>
              <a:t>）」</a:t>
            </a:r>
            <a:r>
              <a:rPr lang="ja-JP" altLang="en-US" sz="2200" b="1">
                <a:solidFill>
                  <a:srgbClr val="262626"/>
                </a:solidFill>
                <a:latin typeface="Meiryo"/>
                <a:ea typeface="Meiryo"/>
                <a:cs typeface="Meiryo"/>
              </a:rPr>
              <a:t>という概念を生んだ研究</a:t>
            </a:r>
            <a:endParaRPr lang="ja-JP" altLang="en-US"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14/72</a:t>
            </a:r>
          </a:p>
        </p:txBody>
      </p:sp>
    </p:spTree>
    <p:extLst>
      <p:ext uri="{BB962C8B-B14F-4D97-AF65-F5344CB8AC3E}">
        <p14:creationId xmlns:p14="http://schemas.microsoft.com/office/powerpoint/2010/main" val="37212150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8552F-549D-3330-54DB-E3DA47239846}"/>
            </a:ext>
          </a:extLst>
        </p:cNvPr>
        <p:cNvGrpSpPr/>
        <p:nvPr/>
      </p:nvGrpSpPr>
      <p:grpSpPr>
        <a:xfrm>
          <a:off x="0" y="0"/>
          <a:ext cx="0" cy="0"/>
          <a:chOff x="0" y="0"/>
          <a:chExt cx="0" cy="0"/>
        </a:xfrm>
      </p:grpSpPr>
      <p:pic>
        <p:nvPicPr>
          <p:cNvPr id="305" name="fig_dawber4" descr="f21_dawber4.png"/>
          <p:cNvPicPr>
            <a:picLocks noChangeAspect="1"/>
          </p:cNvPicPr>
          <p:nvPr/>
        </p:nvPicPr>
        <p:blipFill>
          <a:blip r:embed="rId3"/>
          <a:stretch>
            <a:fillRect/>
          </a:stretch>
        </p:blipFill>
        <p:spPr>
          <a:xfrm>
            <a:off x="929973" y="1800000"/>
            <a:ext cx="10308054" cy="4320000"/>
          </a:xfrm>
          <a:prstGeom prst="rect">
            <a:avLst/>
          </a:prstGeom>
        </p:spPr>
      </p:pic>
      <p:sp>
        <p:nvSpPr>
          <p:cNvPr id="2" name="Title 1">
            <a:extLst>
              <a:ext uri="{FF2B5EF4-FFF2-40B4-BE49-F238E27FC236}">
                <a16:creationId xmlns:a16="http://schemas.microsoft.com/office/drawing/2014/main" id="{D1790004-114C-1086-8AE9-614102C58CAE}"/>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4" name="Off-page Connector 4">
            <a:extLst>
              <a:ext uri="{FF2B5EF4-FFF2-40B4-BE49-F238E27FC236}">
                <a16:creationId xmlns:a16="http://schemas.microsoft.com/office/drawing/2014/main" id="{CF5250E4-BF8B-FA72-0DFB-3EA3DB46D0A3}"/>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a:extLst>
              <a:ext uri="{FF2B5EF4-FFF2-40B4-BE49-F238E27FC236}">
                <a16:creationId xmlns:a16="http://schemas.microsoft.com/office/drawing/2014/main" id="{6D3C1C6F-DF04-39D8-502A-90D8AC4C36A7}"/>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a:extLst>
              <a:ext uri="{FF2B5EF4-FFF2-40B4-BE49-F238E27FC236}">
                <a16:creationId xmlns:a16="http://schemas.microsoft.com/office/drawing/2014/main" id="{BA91245A-7E70-1C7A-29F0-7C6545493356}"/>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3D627800-83D0-BA96-6B79-FB0DC61A2EA7}"/>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a:extLst>
              <a:ext uri="{FF2B5EF4-FFF2-40B4-BE49-F238E27FC236}">
                <a16:creationId xmlns:a16="http://schemas.microsoft.com/office/drawing/2014/main" id="{B07CD557-6D40-D3B8-CF8F-157FA4F6A15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00" name="c1"/>
          <p:cNvSpPr txBox="1"/>
          <p:nvPr/>
        </p:nvSpPr>
        <p:spPr>
          <a:xfrm>
            <a:off x="755460" y="1886400"/>
            <a:ext cx="2680094" cy="648000"/>
          </a:xfrm>
          <a:prstGeom prst="rect">
            <a:avLst/>
          </a:prstGeom>
          <a:noFill/>
        </p:spPr>
        <p:txBody>
          <a:bodyPr wrap="square" lIns="0" tIns="0" rIns="0" bIns="0" anchor="t">
            <a:noAutofit/>
          </a:bodyPr>
          <a:lstStyle/>
          <a:p>
            <a:pPr algn="ctr"/>
            <a:r>
              <a:rPr lang="ja-JP" altLang="en-US" sz="2200" b="1" dirty="0">
                <a:solidFill>
                  <a:srgbClr val="70AD47"/>
                </a:solidFill>
                <a:latin typeface="Meiryo"/>
                <a:ea typeface="Meiryo"/>
                <a:cs typeface="Meiryo"/>
              </a:rPr>
              <a:t>Class 1</a:t>
            </a:r>
            <a:br>
              <a:rPr lang="ja-JP" altLang="en-US" sz="2200" b="1" dirty="0">
                <a:solidFill>
                  <a:srgbClr val="70AD47"/>
                </a:solidFill>
                <a:latin typeface="Meiryo"/>
                <a:ea typeface="Meiryo"/>
                <a:cs typeface="Meiryo"/>
              </a:rPr>
            </a:br>
            <a:r>
              <a:rPr lang="ja-JP" altLang="en-US" sz="2200" b="1" dirty="0">
                <a:solidFill>
                  <a:srgbClr val="70AD47"/>
                </a:solidFill>
                <a:latin typeface="Meiryo"/>
                <a:ea typeface="Meiryo"/>
                <a:cs typeface="Meiryo"/>
              </a:rPr>
              <a:t>明瞭な切痕</a:t>
            </a:r>
          </a:p>
        </p:txBody>
      </p:sp>
      <p:sp>
        <p:nvSpPr>
          <p:cNvPr id="301" name="c2"/>
          <p:cNvSpPr txBox="1"/>
          <p:nvPr/>
        </p:nvSpPr>
        <p:spPr>
          <a:xfrm>
            <a:off x="3381125" y="1886400"/>
            <a:ext cx="2473932" cy="648000"/>
          </a:xfrm>
          <a:prstGeom prst="rect">
            <a:avLst/>
          </a:prstGeom>
          <a:noFill/>
        </p:spPr>
        <p:txBody>
          <a:bodyPr wrap="square" lIns="0" tIns="0" rIns="0" bIns="0" anchor="t">
            <a:noAutofit/>
          </a:bodyPr>
          <a:lstStyle/>
          <a:p>
            <a:pPr algn="ctr"/>
            <a:r>
              <a:rPr lang="ja-JP" altLang="en-US" sz="2200" b="1" dirty="0">
                <a:solidFill>
                  <a:srgbClr val="00A8AA"/>
                </a:solidFill>
                <a:latin typeface="Meiryo"/>
                <a:ea typeface="Meiryo"/>
                <a:cs typeface="Meiryo"/>
              </a:rPr>
              <a:t>Class 2</a:t>
            </a:r>
            <a:br>
              <a:rPr lang="ja-JP" altLang="en-US" sz="2200" b="1" dirty="0">
                <a:solidFill>
                  <a:srgbClr val="00A8AA"/>
                </a:solidFill>
                <a:latin typeface="Meiryo"/>
                <a:ea typeface="Meiryo"/>
                <a:cs typeface="Meiryo"/>
              </a:rPr>
            </a:br>
            <a:r>
              <a:rPr lang="ja-JP" altLang="en-US" sz="2200" b="1" dirty="0">
                <a:solidFill>
                  <a:srgbClr val="00A8AA"/>
                </a:solidFill>
                <a:latin typeface="Meiryo"/>
                <a:ea typeface="Meiryo"/>
                <a:cs typeface="Meiryo"/>
              </a:rPr>
              <a:t>切痕は消え水平化</a:t>
            </a:r>
          </a:p>
        </p:txBody>
      </p:sp>
      <p:sp>
        <p:nvSpPr>
          <p:cNvPr id="302" name="c3"/>
          <p:cNvSpPr txBox="1"/>
          <p:nvPr/>
        </p:nvSpPr>
        <p:spPr>
          <a:xfrm>
            <a:off x="6012905" y="1886400"/>
            <a:ext cx="2473932" cy="648000"/>
          </a:xfrm>
          <a:prstGeom prst="rect">
            <a:avLst/>
          </a:prstGeom>
          <a:noFill/>
        </p:spPr>
        <p:txBody>
          <a:bodyPr wrap="square" lIns="0" tIns="0" rIns="0" bIns="0" anchor="t">
            <a:noAutofit/>
          </a:bodyPr>
          <a:lstStyle/>
          <a:p>
            <a:pPr algn="ctr"/>
            <a:r>
              <a:rPr lang="ja-JP" altLang="en-US" sz="2200" b="1" dirty="0">
                <a:solidFill>
                  <a:srgbClr val="BF9000"/>
                </a:solidFill>
                <a:latin typeface="Meiryo"/>
                <a:ea typeface="Meiryo"/>
                <a:cs typeface="Meiryo"/>
              </a:rPr>
              <a:t>Class 3</a:t>
            </a:r>
            <a:br>
              <a:rPr lang="ja-JP" altLang="en-US" sz="2200" b="1">
                <a:solidFill>
                  <a:srgbClr val="BF9000"/>
                </a:solidFill>
                <a:latin typeface="Meiryo"/>
                <a:ea typeface="Meiryo"/>
                <a:cs typeface="Meiryo"/>
              </a:rPr>
            </a:br>
            <a:r>
              <a:rPr lang="ja-JP" altLang="en-US" sz="2200" b="1">
                <a:solidFill>
                  <a:srgbClr val="BF9000"/>
                </a:solidFill>
                <a:latin typeface="Meiryo"/>
                <a:ea typeface="Meiryo"/>
                <a:cs typeface="Meiryo"/>
              </a:rPr>
              <a:t>下降脚の</a:t>
            </a:r>
            <a:r>
              <a:rPr lang="ja-JP" altLang="en-US" sz="2200" b="1" dirty="0">
                <a:solidFill>
                  <a:srgbClr val="BF9000"/>
                </a:solidFill>
                <a:latin typeface="Meiryo"/>
                <a:ea typeface="Meiryo"/>
                <a:cs typeface="Meiryo"/>
              </a:rPr>
              <a:t>変化のみ</a:t>
            </a:r>
          </a:p>
        </p:txBody>
      </p:sp>
      <p:sp>
        <p:nvSpPr>
          <p:cNvPr id="303" name="c4"/>
          <p:cNvSpPr txBox="1"/>
          <p:nvPr/>
        </p:nvSpPr>
        <p:spPr>
          <a:xfrm>
            <a:off x="8579368" y="1886400"/>
            <a:ext cx="2473932" cy="648000"/>
          </a:xfrm>
          <a:prstGeom prst="rect">
            <a:avLst/>
          </a:prstGeom>
          <a:noFill/>
        </p:spPr>
        <p:txBody>
          <a:bodyPr wrap="square" lIns="0" tIns="0" rIns="0" bIns="0" anchor="t">
            <a:noAutofit/>
          </a:bodyPr>
          <a:lstStyle/>
          <a:p>
            <a:pPr algn="ctr"/>
            <a:r>
              <a:rPr lang="ja-JP" altLang="en-US" sz="2200" b="1" dirty="0">
                <a:solidFill>
                  <a:srgbClr val="C00000"/>
                </a:solidFill>
                <a:latin typeface="Meiryo"/>
                <a:ea typeface="Meiryo"/>
                <a:cs typeface="Meiryo"/>
              </a:rPr>
              <a:t>Class 4</a:t>
            </a:r>
            <a:br>
              <a:rPr lang="ja-JP" altLang="en-US" sz="2200" b="1" dirty="0">
                <a:solidFill>
                  <a:srgbClr val="C00000"/>
                </a:solidFill>
                <a:latin typeface="Meiryo"/>
                <a:ea typeface="Meiryo"/>
                <a:cs typeface="Meiryo"/>
              </a:rPr>
            </a:br>
            <a:r>
              <a:rPr lang="ja-JP" altLang="en-US" sz="2200" b="1" dirty="0">
                <a:solidFill>
                  <a:srgbClr val="C00000"/>
                </a:solidFill>
                <a:latin typeface="Meiryo"/>
                <a:ea typeface="Meiryo"/>
                <a:cs typeface="Meiryo"/>
              </a:rPr>
              <a:t>切痕の痕跡なし</a:t>
            </a:r>
          </a:p>
        </p:txBody>
      </p:sp>
      <p:sp>
        <p:nvSpPr>
          <p:cNvPr id="304" name="cap"/>
          <p:cNvSpPr txBox="1"/>
          <p:nvPr/>
        </p:nvSpPr>
        <p:spPr>
          <a:xfrm>
            <a:off x="929973" y="5904000"/>
            <a:ext cx="10308054" cy="302400"/>
          </a:xfrm>
          <a:prstGeom prst="rect">
            <a:avLst/>
          </a:prstGeom>
          <a:noFill/>
        </p:spPr>
        <p:txBody>
          <a:bodyPr wrap="square" lIns="0" tIns="0" rIns="0" bIns="0" anchor="t">
            <a:noAutofit/>
          </a:bodyPr>
          <a:lstStyle/>
          <a:p>
            <a:pPr algn="ctr"/>
            <a:r>
              <a:rPr lang="ja-JP" altLang="en-US" sz="2200" b="1">
                <a:solidFill>
                  <a:srgbClr val="262626"/>
                </a:solidFill>
                <a:latin typeface="Meiryo"/>
                <a:ea typeface="Meiryo"/>
                <a:cs typeface="Meiryo"/>
              </a:rPr>
              <a:t>指尖脈波を切痕の位置で</a:t>
            </a:r>
            <a:r>
              <a:rPr lang="en-US" altLang="ja-JP" sz="2200" b="1" dirty="0">
                <a:solidFill>
                  <a:srgbClr val="262626"/>
                </a:solidFill>
                <a:latin typeface="Meiryo"/>
                <a:ea typeface="Meiryo"/>
                <a:cs typeface="Meiryo"/>
              </a:rPr>
              <a:t>class </a:t>
            </a:r>
            <a:r>
              <a:rPr lang="ja-JP" altLang="en-US" sz="2200" b="1">
                <a:solidFill>
                  <a:srgbClr val="262626"/>
                </a:solidFill>
                <a:latin typeface="Meiryo"/>
                <a:ea typeface="Meiryo"/>
                <a:cs typeface="Meiryo"/>
              </a:rPr>
              <a:t>分類　年齢や冠動脈疾患との関連を調べた</a:t>
            </a:r>
            <a:endParaRPr lang="ja-JP" altLang="en-US" sz="2200" b="1" dirty="0">
              <a:solidFill>
                <a:srgbClr val="262626"/>
              </a:solidFill>
              <a:latin typeface="Meiryo"/>
              <a:ea typeface="Meiryo"/>
              <a:cs typeface="Meiryo"/>
            </a:endParaRPr>
          </a:p>
        </p:txBody>
      </p:sp>
      <p:sp>
        <p:nvSpPr>
          <p:cNvPr id="30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30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14/72</a:t>
            </a:r>
          </a:p>
        </p:txBody>
      </p:sp>
    </p:spTree>
    <p:extLst>
      <p:ext uri="{BB962C8B-B14F-4D97-AF65-F5344CB8AC3E}">
        <p14:creationId xmlns:p14="http://schemas.microsoft.com/office/powerpoint/2010/main" val="17654311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130B3-0213-CD15-2271-9D28D1145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FDB7B5-0971-C91D-B79B-B3B77CD76673}"/>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4" name="Off-page Connector 4">
            <a:extLst>
              <a:ext uri="{FF2B5EF4-FFF2-40B4-BE49-F238E27FC236}">
                <a16:creationId xmlns:a16="http://schemas.microsoft.com/office/drawing/2014/main" id="{5C0ACB27-B69D-B9B2-DB81-8531DE017F3B}"/>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a:extLst>
              <a:ext uri="{FF2B5EF4-FFF2-40B4-BE49-F238E27FC236}">
                <a16:creationId xmlns:a16="http://schemas.microsoft.com/office/drawing/2014/main" id="{FC547875-78D1-A2D2-4C07-144DD4697DDB}"/>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a:extLst>
              <a:ext uri="{FF2B5EF4-FFF2-40B4-BE49-F238E27FC236}">
                <a16:creationId xmlns:a16="http://schemas.microsoft.com/office/drawing/2014/main" id="{C6D9E636-69FF-F206-BC02-D24D3AB3B9B6}"/>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2891074C-1B7C-667C-2B02-AD3856DB771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a:extLst>
              <a:ext uri="{FF2B5EF4-FFF2-40B4-BE49-F238E27FC236}">
                <a16:creationId xmlns:a16="http://schemas.microsoft.com/office/drawing/2014/main" id="{7F9B3F51-14B6-D571-3688-70FC3099113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00" name="c1">
            <a:extLst>
              <a:ext uri="{FF2B5EF4-FFF2-40B4-BE49-F238E27FC236}">
                <a16:creationId xmlns:a16="http://schemas.microsoft.com/office/drawing/2014/main" id="{D4DBE8DF-21F8-4CF5-24FE-DBC30F3F1213}"/>
              </a:ext>
            </a:extLst>
          </p:cNvPr>
          <p:cNvSpPr txBox="1"/>
          <p:nvPr/>
        </p:nvSpPr>
        <p:spPr>
          <a:xfrm>
            <a:off x="239612" y="2446996"/>
            <a:ext cx="2680094" cy="648000"/>
          </a:xfrm>
          <a:prstGeom prst="rect">
            <a:avLst/>
          </a:prstGeom>
          <a:noFill/>
        </p:spPr>
        <p:txBody>
          <a:bodyPr wrap="square" lIns="0" tIns="0" rIns="0" bIns="0" anchor="t">
            <a:noAutofit/>
          </a:bodyPr>
          <a:lstStyle/>
          <a:p>
            <a:pPr algn="ctr"/>
            <a:r>
              <a:rPr lang="ja-JP" altLang="en-US" sz="2200" b="1" dirty="0">
                <a:solidFill>
                  <a:srgbClr val="70AD47"/>
                </a:solidFill>
                <a:latin typeface="Meiryo"/>
                <a:ea typeface="Meiryo"/>
                <a:cs typeface="Meiryo"/>
              </a:rPr>
              <a:t>Class 1</a:t>
            </a:r>
            <a:br>
              <a:rPr lang="ja-JP" altLang="en-US" sz="2200" b="1" dirty="0">
                <a:solidFill>
                  <a:srgbClr val="70AD47"/>
                </a:solidFill>
                <a:latin typeface="Meiryo"/>
                <a:ea typeface="Meiryo"/>
                <a:cs typeface="Meiryo"/>
              </a:rPr>
            </a:br>
            <a:r>
              <a:rPr lang="ja-JP" altLang="en-US" sz="2200" b="1" dirty="0">
                <a:solidFill>
                  <a:srgbClr val="70AD47"/>
                </a:solidFill>
                <a:latin typeface="Meiryo"/>
                <a:ea typeface="Meiryo"/>
                <a:cs typeface="Meiryo"/>
              </a:rPr>
              <a:t>明瞭な切痕</a:t>
            </a:r>
          </a:p>
        </p:txBody>
      </p:sp>
      <p:sp>
        <p:nvSpPr>
          <p:cNvPr id="301" name="c2">
            <a:extLst>
              <a:ext uri="{FF2B5EF4-FFF2-40B4-BE49-F238E27FC236}">
                <a16:creationId xmlns:a16="http://schemas.microsoft.com/office/drawing/2014/main" id="{A982EAFB-5973-9850-9BC7-220A7C8199AE}"/>
              </a:ext>
            </a:extLst>
          </p:cNvPr>
          <p:cNvSpPr txBox="1"/>
          <p:nvPr/>
        </p:nvSpPr>
        <p:spPr>
          <a:xfrm>
            <a:off x="3353587" y="2446996"/>
            <a:ext cx="2473932" cy="648000"/>
          </a:xfrm>
          <a:prstGeom prst="rect">
            <a:avLst/>
          </a:prstGeom>
          <a:noFill/>
        </p:spPr>
        <p:txBody>
          <a:bodyPr wrap="square" lIns="0" tIns="0" rIns="0" bIns="0" anchor="t">
            <a:noAutofit/>
          </a:bodyPr>
          <a:lstStyle/>
          <a:p>
            <a:pPr algn="ctr"/>
            <a:r>
              <a:rPr lang="ja-JP" altLang="en-US" sz="2200" b="1" dirty="0">
                <a:solidFill>
                  <a:srgbClr val="00A8AA"/>
                </a:solidFill>
                <a:latin typeface="Meiryo"/>
                <a:ea typeface="Meiryo"/>
                <a:cs typeface="Meiryo"/>
              </a:rPr>
              <a:t>Class 2</a:t>
            </a:r>
            <a:br>
              <a:rPr lang="ja-JP" altLang="en-US" sz="2200" b="1" dirty="0">
                <a:solidFill>
                  <a:srgbClr val="00A8AA"/>
                </a:solidFill>
                <a:latin typeface="Meiryo"/>
                <a:ea typeface="Meiryo"/>
                <a:cs typeface="Meiryo"/>
              </a:rPr>
            </a:br>
            <a:r>
              <a:rPr lang="ja-JP" altLang="en-US" sz="2200" b="1" dirty="0">
                <a:solidFill>
                  <a:srgbClr val="00A8AA"/>
                </a:solidFill>
                <a:latin typeface="Meiryo"/>
                <a:ea typeface="Meiryo"/>
                <a:cs typeface="Meiryo"/>
              </a:rPr>
              <a:t>切痕は消え水平化</a:t>
            </a:r>
          </a:p>
        </p:txBody>
      </p:sp>
      <p:sp>
        <p:nvSpPr>
          <p:cNvPr id="302" name="c3">
            <a:extLst>
              <a:ext uri="{FF2B5EF4-FFF2-40B4-BE49-F238E27FC236}">
                <a16:creationId xmlns:a16="http://schemas.microsoft.com/office/drawing/2014/main" id="{FFB383E3-636C-0892-2784-B994B87D7A26}"/>
              </a:ext>
            </a:extLst>
          </p:cNvPr>
          <p:cNvSpPr txBox="1"/>
          <p:nvPr/>
        </p:nvSpPr>
        <p:spPr>
          <a:xfrm>
            <a:off x="6317553" y="2446996"/>
            <a:ext cx="2473932" cy="648000"/>
          </a:xfrm>
          <a:prstGeom prst="rect">
            <a:avLst/>
          </a:prstGeom>
          <a:noFill/>
        </p:spPr>
        <p:txBody>
          <a:bodyPr wrap="square" lIns="0" tIns="0" rIns="0" bIns="0" anchor="t">
            <a:noAutofit/>
          </a:bodyPr>
          <a:lstStyle/>
          <a:p>
            <a:pPr algn="ctr"/>
            <a:r>
              <a:rPr lang="ja-JP" altLang="en-US" sz="2200" b="1" dirty="0">
                <a:solidFill>
                  <a:srgbClr val="BF9000"/>
                </a:solidFill>
                <a:latin typeface="Meiryo"/>
                <a:ea typeface="Meiryo"/>
                <a:cs typeface="Meiryo"/>
              </a:rPr>
              <a:t>Class 3</a:t>
            </a:r>
            <a:br>
              <a:rPr lang="ja-JP" altLang="en-US" sz="2200" b="1">
                <a:solidFill>
                  <a:srgbClr val="BF9000"/>
                </a:solidFill>
                <a:latin typeface="Meiryo"/>
                <a:ea typeface="Meiryo"/>
                <a:cs typeface="Meiryo"/>
              </a:rPr>
            </a:br>
            <a:r>
              <a:rPr lang="ja-JP" altLang="en-US" sz="2200" b="1">
                <a:solidFill>
                  <a:srgbClr val="BF9000"/>
                </a:solidFill>
                <a:latin typeface="Meiryo"/>
                <a:ea typeface="Meiryo"/>
                <a:cs typeface="Meiryo"/>
              </a:rPr>
              <a:t>下降脚の</a:t>
            </a:r>
            <a:r>
              <a:rPr lang="ja-JP" altLang="en-US" sz="2200" b="1" dirty="0">
                <a:solidFill>
                  <a:srgbClr val="BF9000"/>
                </a:solidFill>
                <a:latin typeface="Meiryo"/>
                <a:ea typeface="Meiryo"/>
                <a:cs typeface="Meiryo"/>
              </a:rPr>
              <a:t>変化のみ</a:t>
            </a:r>
          </a:p>
        </p:txBody>
      </p:sp>
      <p:sp>
        <p:nvSpPr>
          <p:cNvPr id="303" name="c4">
            <a:extLst>
              <a:ext uri="{FF2B5EF4-FFF2-40B4-BE49-F238E27FC236}">
                <a16:creationId xmlns:a16="http://schemas.microsoft.com/office/drawing/2014/main" id="{82DF3CD3-71A8-E76E-FBAD-BB4AE090C956}"/>
              </a:ext>
            </a:extLst>
          </p:cNvPr>
          <p:cNvSpPr txBox="1"/>
          <p:nvPr/>
        </p:nvSpPr>
        <p:spPr>
          <a:xfrm>
            <a:off x="9340689" y="2446996"/>
            <a:ext cx="2473932" cy="648000"/>
          </a:xfrm>
          <a:prstGeom prst="rect">
            <a:avLst/>
          </a:prstGeom>
          <a:noFill/>
        </p:spPr>
        <p:txBody>
          <a:bodyPr wrap="square" lIns="0" tIns="0" rIns="0" bIns="0" anchor="t">
            <a:noAutofit/>
          </a:bodyPr>
          <a:lstStyle/>
          <a:p>
            <a:pPr algn="ctr"/>
            <a:r>
              <a:rPr lang="ja-JP" altLang="en-US" sz="2200" b="1" dirty="0">
                <a:solidFill>
                  <a:srgbClr val="C00000"/>
                </a:solidFill>
                <a:latin typeface="Meiryo"/>
                <a:ea typeface="Meiryo"/>
                <a:cs typeface="Meiryo"/>
              </a:rPr>
              <a:t>Class 4</a:t>
            </a:r>
            <a:br>
              <a:rPr lang="ja-JP" altLang="en-US" sz="2200" b="1" dirty="0">
                <a:solidFill>
                  <a:srgbClr val="C00000"/>
                </a:solidFill>
                <a:latin typeface="Meiryo"/>
                <a:ea typeface="Meiryo"/>
                <a:cs typeface="Meiryo"/>
              </a:rPr>
            </a:br>
            <a:r>
              <a:rPr lang="ja-JP" altLang="en-US" sz="2200" b="1" dirty="0">
                <a:solidFill>
                  <a:srgbClr val="C00000"/>
                </a:solidFill>
                <a:latin typeface="Meiryo"/>
                <a:ea typeface="Meiryo"/>
                <a:cs typeface="Meiryo"/>
              </a:rPr>
              <a:t>切痕の痕跡なし</a:t>
            </a:r>
          </a:p>
        </p:txBody>
      </p:sp>
      <p:pic>
        <p:nvPicPr>
          <p:cNvPr id="3" name="図 2">
            <a:extLst>
              <a:ext uri="{FF2B5EF4-FFF2-40B4-BE49-F238E27FC236}">
                <a16:creationId xmlns:a16="http://schemas.microsoft.com/office/drawing/2014/main" id="{66299B97-0090-66DC-34D9-27419A7550FD}"/>
              </a:ext>
            </a:extLst>
          </p:cNvPr>
          <p:cNvPicPr>
            <a:picLocks noChangeAspect="1"/>
          </p:cNvPicPr>
          <p:nvPr/>
        </p:nvPicPr>
        <p:blipFill rotWithShape="1">
          <a:blip r:embed="rId3"/>
          <a:srcRect t="27054" r="24870" b="48502"/>
          <a:stretch>
            <a:fillRect/>
          </a:stretch>
        </p:blipFill>
        <p:spPr>
          <a:xfrm>
            <a:off x="3159318" y="3780847"/>
            <a:ext cx="2862470" cy="1325563"/>
          </a:xfrm>
          <a:prstGeom prst="rect">
            <a:avLst/>
          </a:prstGeom>
        </p:spPr>
      </p:pic>
      <p:pic>
        <p:nvPicPr>
          <p:cNvPr id="4" name="図 3">
            <a:extLst>
              <a:ext uri="{FF2B5EF4-FFF2-40B4-BE49-F238E27FC236}">
                <a16:creationId xmlns:a16="http://schemas.microsoft.com/office/drawing/2014/main" id="{A5114804-75F7-28A7-0A6B-F433C0D762F2}"/>
              </a:ext>
            </a:extLst>
          </p:cNvPr>
          <p:cNvPicPr>
            <a:picLocks noChangeAspect="1"/>
          </p:cNvPicPr>
          <p:nvPr/>
        </p:nvPicPr>
        <p:blipFill>
          <a:blip r:embed="rId3"/>
          <a:srcRect l="3013" t="2610" r="21857" b="72946"/>
          <a:stretch>
            <a:fillRect/>
          </a:stretch>
        </p:blipFill>
        <p:spPr>
          <a:xfrm>
            <a:off x="148424" y="3780847"/>
            <a:ext cx="2862470" cy="1325563"/>
          </a:xfrm>
          <a:prstGeom prst="rect">
            <a:avLst/>
          </a:prstGeom>
        </p:spPr>
      </p:pic>
      <p:pic>
        <p:nvPicPr>
          <p:cNvPr id="5" name="図 4">
            <a:extLst>
              <a:ext uri="{FF2B5EF4-FFF2-40B4-BE49-F238E27FC236}">
                <a16:creationId xmlns:a16="http://schemas.microsoft.com/office/drawing/2014/main" id="{0E4B2E59-1360-99D4-DD5D-2170A0FDA1FA}"/>
              </a:ext>
            </a:extLst>
          </p:cNvPr>
          <p:cNvPicPr>
            <a:picLocks noChangeAspect="1"/>
          </p:cNvPicPr>
          <p:nvPr/>
        </p:nvPicPr>
        <p:blipFill>
          <a:blip r:embed="rId3"/>
          <a:srcRect l="3013" t="51498" r="21857" b="24140"/>
          <a:stretch>
            <a:fillRect/>
          </a:stretch>
        </p:blipFill>
        <p:spPr>
          <a:xfrm>
            <a:off x="6170212" y="3780847"/>
            <a:ext cx="2862470" cy="1321124"/>
          </a:xfrm>
          <a:prstGeom prst="rect">
            <a:avLst/>
          </a:prstGeom>
        </p:spPr>
      </p:pic>
      <p:pic>
        <p:nvPicPr>
          <p:cNvPr id="6" name="図 5">
            <a:extLst>
              <a:ext uri="{FF2B5EF4-FFF2-40B4-BE49-F238E27FC236}">
                <a16:creationId xmlns:a16="http://schemas.microsoft.com/office/drawing/2014/main" id="{54828E6E-F6C7-2302-BBD2-9A9F69237FF9}"/>
              </a:ext>
            </a:extLst>
          </p:cNvPr>
          <p:cNvPicPr>
            <a:picLocks noChangeAspect="1"/>
          </p:cNvPicPr>
          <p:nvPr/>
        </p:nvPicPr>
        <p:blipFill>
          <a:blip r:embed="rId3"/>
          <a:srcRect l="3013" t="75860" r="21857"/>
          <a:stretch>
            <a:fillRect/>
          </a:stretch>
        </p:blipFill>
        <p:spPr>
          <a:xfrm>
            <a:off x="9181106" y="3792884"/>
            <a:ext cx="2862470" cy="1309087"/>
          </a:xfrm>
          <a:prstGeom prst="rect">
            <a:avLst/>
          </a:prstGeom>
        </p:spPr>
      </p:pic>
      <p:sp>
        <p:nvSpPr>
          <p:cNvPr id="304"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30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14/72</a:t>
            </a:r>
          </a:p>
        </p:txBody>
      </p:sp>
    </p:spTree>
    <p:extLst>
      <p:ext uri="{BB962C8B-B14F-4D97-AF65-F5344CB8AC3E}">
        <p14:creationId xmlns:p14="http://schemas.microsoft.com/office/powerpoint/2010/main" val="16429085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BDBF7-ADC4-A5AA-A03C-7F9C1F764F15}"/>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C53FAAD1-E8F8-0F7C-AC7B-929B3E0DD4DA}"/>
              </a:ext>
            </a:extLst>
          </p:cNvPr>
          <p:cNvPicPr>
            <a:picLocks noChangeAspect="1"/>
          </p:cNvPicPr>
          <p:nvPr/>
        </p:nvPicPr>
        <p:blipFill>
          <a:blip r:embed="rId3"/>
          <a:srcRect t="10529"/>
          <a:stretch>
            <a:fillRect/>
          </a:stretch>
        </p:blipFill>
        <p:spPr>
          <a:xfrm>
            <a:off x="2420405" y="230844"/>
            <a:ext cx="7351190" cy="1939416"/>
          </a:xfrm>
          <a:prstGeom prst="rect">
            <a:avLst/>
          </a:prstGeom>
        </p:spPr>
      </p:pic>
      <p:pic>
        <p:nvPicPr>
          <p:cNvPr id="4" name="図 3">
            <a:extLst>
              <a:ext uri="{FF2B5EF4-FFF2-40B4-BE49-F238E27FC236}">
                <a16:creationId xmlns:a16="http://schemas.microsoft.com/office/drawing/2014/main" id="{B7D39D22-0973-23D9-5AC9-28DC1AD506DF}"/>
              </a:ext>
            </a:extLst>
          </p:cNvPr>
          <p:cNvPicPr>
            <a:picLocks noChangeAspect="1"/>
          </p:cNvPicPr>
          <p:nvPr/>
        </p:nvPicPr>
        <p:blipFill>
          <a:blip r:embed="rId4"/>
          <a:srcRect t="9213"/>
          <a:stretch>
            <a:fillRect/>
          </a:stretch>
        </p:blipFill>
        <p:spPr>
          <a:xfrm>
            <a:off x="2420405" y="2288427"/>
            <a:ext cx="7351190" cy="1990453"/>
          </a:xfrm>
          <a:prstGeom prst="rect">
            <a:avLst/>
          </a:prstGeom>
        </p:spPr>
      </p:pic>
      <p:pic>
        <p:nvPicPr>
          <p:cNvPr id="5" name="図 4">
            <a:extLst>
              <a:ext uri="{FF2B5EF4-FFF2-40B4-BE49-F238E27FC236}">
                <a16:creationId xmlns:a16="http://schemas.microsoft.com/office/drawing/2014/main" id="{6D74B60B-1522-5A22-9D8B-83BAA12F749D}"/>
              </a:ext>
            </a:extLst>
          </p:cNvPr>
          <p:cNvPicPr>
            <a:picLocks noChangeAspect="1"/>
          </p:cNvPicPr>
          <p:nvPr/>
        </p:nvPicPr>
        <p:blipFill>
          <a:blip r:embed="rId5"/>
          <a:stretch>
            <a:fillRect/>
          </a:stretch>
        </p:blipFill>
        <p:spPr>
          <a:xfrm>
            <a:off x="2188268" y="4523708"/>
            <a:ext cx="7771265" cy="2162439"/>
          </a:xfrm>
          <a:prstGeom prst="rect">
            <a:avLst/>
          </a:prstGeom>
        </p:spPr>
      </p:pic>
      <p:sp>
        <p:nvSpPr>
          <p:cNvPr id="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15/72</a:t>
            </a:r>
          </a:p>
        </p:txBody>
      </p:sp>
    </p:spTree>
    <p:extLst>
      <p:ext uri="{BB962C8B-B14F-4D97-AF65-F5344CB8AC3E}">
        <p14:creationId xmlns:p14="http://schemas.microsoft.com/office/powerpoint/2010/main" val="7459359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2FF0DBA-ECBC-8830-B575-566CBAFAD46A}"/>
              </a:ext>
            </a:extLst>
          </p:cNvPr>
          <p:cNvPicPr>
            <a:picLocks noChangeAspect="1"/>
          </p:cNvPicPr>
          <p:nvPr/>
        </p:nvPicPr>
        <p:blipFill>
          <a:blip r:embed="rId3"/>
          <a:srcRect t="10529"/>
          <a:stretch>
            <a:fillRect/>
          </a:stretch>
        </p:blipFill>
        <p:spPr>
          <a:xfrm>
            <a:off x="2420405" y="230844"/>
            <a:ext cx="7351190" cy="1939416"/>
          </a:xfrm>
          <a:prstGeom prst="rect">
            <a:avLst/>
          </a:prstGeom>
        </p:spPr>
      </p:pic>
      <p:pic>
        <p:nvPicPr>
          <p:cNvPr id="4" name="図 3">
            <a:extLst>
              <a:ext uri="{FF2B5EF4-FFF2-40B4-BE49-F238E27FC236}">
                <a16:creationId xmlns:a16="http://schemas.microsoft.com/office/drawing/2014/main" id="{CF99ACD6-6813-4DAD-7730-8BB6669A38B2}"/>
              </a:ext>
            </a:extLst>
          </p:cNvPr>
          <p:cNvPicPr>
            <a:picLocks noChangeAspect="1"/>
          </p:cNvPicPr>
          <p:nvPr/>
        </p:nvPicPr>
        <p:blipFill>
          <a:blip r:embed="rId4"/>
          <a:srcRect t="9213"/>
          <a:stretch>
            <a:fillRect/>
          </a:stretch>
        </p:blipFill>
        <p:spPr>
          <a:xfrm>
            <a:off x="2420405" y="2288427"/>
            <a:ext cx="7351190" cy="1990453"/>
          </a:xfrm>
          <a:prstGeom prst="rect">
            <a:avLst/>
          </a:prstGeom>
        </p:spPr>
      </p:pic>
      <p:pic>
        <p:nvPicPr>
          <p:cNvPr id="5" name="図 4">
            <a:extLst>
              <a:ext uri="{FF2B5EF4-FFF2-40B4-BE49-F238E27FC236}">
                <a16:creationId xmlns:a16="http://schemas.microsoft.com/office/drawing/2014/main" id="{8B14757C-13FD-7C8F-FBE7-0C476725B37F}"/>
              </a:ext>
            </a:extLst>
          </p:cNvPr>
          <p:cNvPicPr>
            <a:picLocks noChangeAspect="1"/>
          </p:cNvPicPr>
          <p:nvPr/>
        </p:nvPicPr>
        <p:blipFill>
          <a:blip r:embed="rId5"/>
          <a:stretch>
            <a:fillRect/>
          </a:stretch>
        </p:blipFill>
        <p:spPr>
          <a:xfrm>
            <a:off x="2188268" y="4523708"/>
            <a:ext cx="7771265" cy="2162439"/>
          </a:xfrm>
          <a:prstGeom prst="rect">
            <a:avLst/>
          </a:prstGeom>
        </p:spPr>
      </p:pic>
      <p:sp>
        <p:nvSpPr>
          <p:cNvPr id="7" name="callout">
            <a:extLst>
              <a:ext uri="{FF2B5EF4-FFF2-40B4-BE49-F238E27FC236}">
                <a16:creationId xmlns:a16="http://schemas.microsoft.com/office/drawing/2014/main" id="{A48A420C-F01C-9675-D690-5B862DADF8D5}"/>
              </a:ext>
            </a:extLst>
          </p:cNvPr>
          <p:cNvSpPr/>
          <p:nvPr/>
        </p:nvSpPr>
        <p:spPr>
          <a:xfrm>
            <a:off x="536448" y="2538644"/>
            <a:ext cx="11119103" cy="1780711"/>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chemeClr val="tx1"/>
                </a:solidFill>
              </a:rPr>
              <a:t>高齢者の方が切痕が平滑になりやすい。</a:t>
            </a:r>
            <a:endParaRPr lang="en-US" altLang="ja-JP" sz="2800" b="1" dirty="0">
              <a:solidFill>
                <a:schemeClr val="tx1"/>
              </a:solidFill>
            </a:endParaRPr>
          </a:p>
          <a:p>
            <a:pPr algn="ctr">
              <a:lnSpc>
                <a:spcPct val="150000"/>
              </a:lnSpc>
            </a:pPr>
            <a:r>
              <a:rPr lang="ja-JP" altLang="en-US" sz="2800" b="1">
                <a:solidFill>
                  <a:schemeClr val="tx1"/>
                </a:solidFill>
              </a:rPr>
              <a:t>切痕が平滑である方が冠動脈疾患を持つ人の割合が増える。</a:t>
            </a:r>
            <a:endParaRPr sz="2200" b="1" dirty="0">
              <a:solidFill>
                <a:schemeClr val="tx1"/>
              </a:solidFill>
              <a:latin typeface="Meiryo"/>
              <a:ea typeface="Meiryo"/>
              <a:cs typeface="Meiryo"/>
            </a:endParaRPr>
          </a:p>
        </p:txBody>
      </p:sp>
      <p:sp>
        <p:nvSpPr>
          <p:cNvPr id="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16/72</a:t>
            </a:r>
          </a:p>
        </p:txBody>
      </p:sp>
    </p:spTree>
    <p:extLst>
      <p:ext uri="{BB962C8B-B14F-4D97-AF65-F5344CB8AC3E}">
        <p14:creationId xmlns:p14="http://schemas.microsoft.com/office/powerpoint/2010/main" val="25954029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F1733-745F-0EFD-5630-D33A63647A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8BA87-019C-0EEE-D56B-C1A2D554C2DE}"/>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16" name="Off-page Connector 4">
            <a:extLst>
              <a:ext uri="{FF2B5EF4-FFF2-40B4-BE49-F238E27FC236}">
                <a16:creationId xmlns:a16="http://schemas.microsoft.com/office/drawing/2014/main" id="{758B9F97-3077-8EBB-5EEE-0A55DBA0AF9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 name="Off-page Connector 5">
            <a:extLst>
              <a:ext uri="{FF2B5EF4-FFF2-40B4-BE49-F238E27FC236}">
                <a16:creationId xmlns:a16="http://schemas.microsoft.com/office/drawing/2014/main" id="{0F6E5B49-B78E-51F0-52DB-22FDC48255B4}"/>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8" name="Off-page Connector 6">
            <a:extLst>
              <a:ext uri="{FF2B5EF4-FFF2-40B4-BE49-F238E27FC236}">
                <a16:creationId xmlns:a16="http://schemas.microsoft.com/office/drawing/2014/main" id="{D4DE397A-B087-3B19-7E27-47311D2D7188}"/>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CBE4A483-A7B7-8535-E3B5-96609FFDCD01}"/>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0" name="Off-page Connector 8">
            <a:extLst>
              <a:ext uri="{FF2B5EF4-FFF2-40B4-BE49-F238E27FC236}">
                <a16:creationId xmlns:a16="http://schemas.microsoft.com/office/drawing/2014/main" id="{FFC52689-4F8F-542B-D8DA-CF3BB5F3756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1" name="lead">
            <a:extLst>
              <a:ext uri="{FF2B5EF4-FFF2-40B4-BE49-F238E27FC236}">
                <a16:creationId xmlns:a16="http://schemas.microsoft.com/office/drawing/2014/main" id="{526F467B-1137-959F-016C-95A0046B7EEB}"/>
              </a:ext>
            </a:extLst>
          </p:cNvPr>
          <p:cNvSpPr txBox="1"/>
          <p:nvPr/>
        </p:nvSpPr>
        <p:spPr>
          <a:xfrm>
            <a:off x="566928" y="2032118"/>
            <a:ext cx="10058400" cy="457200"/>
          </a:xfrm>
          <a:prstGeom prst="rect">
            <a:avLst/>
          </a:prstGeom>
          <a:noFill/>
        </p:spPr>
        <p:txBody>
          <a:bodyPr wrap="square" lIns="0" tIns="0" rIns="0" bIns="0" anchor="ctr">
            <a:spAutoFit/>
          </a:bodyPr>
          <a:lstStyle/>
          <a:p>
            <a:pPr algn="l"/>
            <a:r>
              <a:rPr sz="2400" b="1">
                <a:solidFill>
                  <a:srgbClr val="262626"/>
                </a:solidFill>
                <a:latin typeface="Meiryo"/>
                <a:ea typeface="Meiryo"/>
                <a:cs typeface="Meiryo"/>
              </a:rPr>
              <a:t>英国の 大規模バイオバンク型 前向きコホート</a:t>
            </a:r>
          </a:p>
        </p:txBody>
      </p:sp>
      <p:sp>
        <p:nvSpPr>
          <p:cNvPr id="22" name="fact0">
            <a:extLst>
              <a:ext uri="{FF2B5EF4-FFF2-40B4-BE49-F238E27FC236}">
                <a16:creationId xmlns:a16="http://schemas.microsoft.com/office/drawing/2014/main" id="{53CD82EB-1A70-2A49-0DBE-7B4C5B2BFBB6}"/>
              </a:ext>
            </a:extLst>
          </p:cNvPr>
          <p:cNvSpPr/>
          <p:nvPr/>
        </p:nvSpPr>
        <p:spPr>
          <a:xfrm>
            <a:off x="548640"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2006</a:t>
            </a:r>
            <a:r>
              <a:rPr lang="ja-JP" altLang="en-US" sz="3000" b="1">
                <a:solidFill>
                  <a:srgbClr val="262626"/>
                </a:solidFill>
                <a:latin typeface="Meiryo"/>
                <a:ea typeface="Meiryo"/>
                <a:cs typeface="Meiryo"/>
              </a:rPr>
              <a:t>年</a:t>
            </a:r>
            <a:r>
              <a:rPr lang="en-US" altLang="ja-JP" sz="3000" b="1" dirty="0">
                <a:solidFill>
                  <a:srgbClr val="262626"/>
                </a:solidFill>
                <a:latin typeface="Meiryo"/>
                <a:ea typeface="Meiryo"/>
                <a:cs typeface="Meiryo"/>
              </a:rPr>
              <a:t> </a:t>
            </a:r>
            <a:r>
              <a:rPr lang="ja-JP" altLang="en-US" sz="3000" b="1">
                <a:solidFill>
                  <a:srgbClr val="262626"/>
                </a:solidFill>
                <a:latin typeface="Meiryo"/>
                <a:ea typeface="Meiryo"/>
                <a:cs typeface="Meiryo"/>
              </a:rPr>
              <a:t>開始</a:t>
            </a:r>
            <a:endParaRPr lang="en-US" altLang="ja-JP" sz="3000" b="1" dirty="0">
              <a:solidFill>
                <a:srgbClr val="262626"/>
              </a:solidFill>
              <a:latin typeface="Meiryo"/>
              <a:ea typeface="Meiryo"/>
              <a:cs typeface="Meiryo"/>
            </a:endParaRPr>
          </a:p>
          <a:p>
            <a:pPr algn="ctr"/>
            <a:r>
              <a:rPr sz="2200" b="1" dirty="0" err="1">
                <a:solidFill>
                  <a:srgbClr val="262626"/>
                </a:solidFill>
                <a:latin typeface="Meiryo"/>
                <a:ea typeface="Meiryo"/>
                <a:cs typeface="Meiryo"/>
              </a:rPr>
              <a:t>英国</a:t>
            </a:r>
            <a:r>
              <a:rPr sz="2200" b="1" dirty="0">
                <a:solidFill>
                  <a:srgbClr val="262626"/>
                </a:solidFill>
                <a:latin typeface="Meiryo"/>
                <a:ea typeface="Meiryo"/>
                <a:cs typeface="Meiryo"/>
              </a:rPr>
              <a:t> 22施設で登録</a:t>
            </a:r>
          </a:p>
        </p:txBody>
      </p:sp>
      <p:sp>
        <p:nvSpPr>
          <p:cNvPr id="23" name="fact1">
            <a:extLst>
              <a:ext uri="{FF2B5EF4-FFF2-40B4-BE49-F238E27FC236}">
                <a16:creationId xmlns:a16="http://schemas.microsoft.com/office/drawing/2014/main" id="{0507FA75-00C2-B002-C40E-5D97843DE899}"/>
              </a:ext>
            </a:extLst>
          </p:cNvPr>
          <p:cNvSpPr/>
          <p:nvPr/>
        </p:nvSpPr>
        <p:spPr>
          <a:xfrm>
            <a:off x="4370832"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3000" b="1">
                <a:solidFill>
                  <a:srgbClr val="262626"/>
                </a:solidFill>
                <a:latin typeface="Meiryo"/>
                <a:ea typeface="Meiryo"/>
                <a:cs typeface="Meiryo"/>
              </a:rPr>
              <a:t>約</a:t>
            </a:r>
            <a:r>
              <a:rPr lang="en-US" altLang="ja-JP" sz="3000" b="1" dirty="0">
                <a:solidFill>
                  <a:srgbClr val="262626"/>
                </a:solidFill>
                <a:latin typeface="Meiryo"/>
                <a:ea typeface="Meiryo"/>
                <a:cs typeface="Meiryo"/>
              </a:rPr>
              <a:t> 50</a:t>
            </a:r>
            <a:r>
              <a:rPr lang="ja-JP" altLang="en-US" sz="3000" b="1">
                <a:solidFill>
                  <a:srgbClr val="262626"/>
                </a:solidFill>
                <a:latin typeface="Meiryo"/>
                <a:ea typeface="Meiryo"/>
                <a:cs typeface="Meiryo"/>
              </a:rPr>
              <a:t>万人</a:t>
            </a:r>
            <a:endParaRPr lang="en-US" altLang="ja-JP" sz="3000" b="1" dirty="0">
              <a:solidFill>
                <a:srgbClr val="262626"/>
              </a:solidFill>
              <a:latin typeface="Meiryo"/>
              <a:ea typeface="Meiryo"/>
              <a:cs typeface="Meiryo"/>
            </a:endParaRPr>
          </a:p>
          <a:p>
            <a:pPr algn="ctr"/>
            <a:r>
              <a:rPr lang="ja-JP" altLang="en-US" sz="2200" b="1">
                <a:solidFill>
                  <a:srgbClr val="262626"/>
                </a:solidFill>
                <a:latin typeface="Meiryo"/>
                <a:ea typeface="Meiryo"/>
                <a:cs typeface="Meiryo"/>
              </a:rPr>
              <a:t>施設近所のボランティア</a:t>
            </a:r>
          </a:p>
        </p:txBody>
      </p:sp>
      <p:sp>
        <p:nvSpPr>
          <p:cNvPr id="24" name="fact2">
            <a:extLst>
              <a:ext uri="{FF2B5EF4-FFF2-40B4-BE49-F238E27FC236}">
                <a16:creationId xmlns:a16="http://schemas.microsoft.com/office/drawing/2014/main" id="{044B09EA-7AFA-3517-723F-914A205FB697}"/>
              </a:ext>
            </a:extLst>
          </p:cNvPr>
          <p:cNvSpPr/>
          <p:nvPr/>
        </p:nvSpPr>
        <p:spPr>
          <a:xfrm>
            <a:off x="8193024"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40〜69 </a:t>
            </a:r>
            <a:r>
              <a:rPr lang="ja-JP" altLang="en-US" sz="3000" b="1">
                <a:solidFill>
                  <a:srgbClr val="262626"/>
                </a:solidFill>
                <a:latin typeface="Meiryo"/>
                <a:ea typeface="Meiryo"/>
                <a:cs typeface="Meiryo"/>
              </a:rPr>
              <a:t>歳</a:t>
            </a:r>
          </a:p>
          <a:p>
            <a:pPr algn="ctr"/>
            <a:r>
              <a:rPr lang="ja-JP" altLang="en-US" sz="2200" b="1">
                <a:solidFill>
                  <a:srgbClr val="262626"/>
                </a:solidFill>
                <a:latin typeface="Meiryo"/>
                <a:ea typeface="Meiryo"/>
                <a:cs typeface="Meiryo"/>
              </a:rPr>
              <a:t>健康ボランティアバイアス</a:t>
            </a:r>
            <a:endParaRPr sz="2200" b="1" dirty="0">
              <a:solidFill>
                <a:srgbClr val="262626"/>
              </a:solidFill>
              <a:latin typeface="Meiryo"/>
              <a:ea typeface="Meiryo"/>
              <a:cs typeface="Meiryo"/>
            </a:endParaRPr>
          </a:p>
        </p:txBody>
      </p:sp>
      <p:sp>
        <p:nvSpPr>
          <p:cNvPr id="4" name="fact0">
            <a:extLst>
              <a:ext uri="{FF2B5EF4-FFF2-40B4-BE49-F238E27FC236}">
                <a16:creationId xmlns:a16="http://schemas.microsoft.com/office/drawing/2014/main" id="{DEBDC9D6-71D4-256E-A441-19D7FAC18EBA}"/>
              </a:ext>
            </a:extLst>
          </p:cNvPr>
          <p:cNvSpPr/>
          <p:nvPr/>
        </p:nvSpPr>
        <p:spPr>
          <a:xfrm>
            <a:off x="554736" y="4243084"/>
            <a:ext cx="1111300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登録時に 質問票・身体計測・採血・指尖</a:t>
            </a:r>
            <a:r>
              <a:rPr lang="en" altLang="ja-JP" sz="2600" b="1" dirty="0">
                <a:solidFill>
                  <a:srgbClr val="262626"/>
                </a:solidFill>
                <a:latin typeface="Meiryo"/>
                <a:ea typeface="Meiryo"/>
                <a:cs typeface="Meiryo"/>
              </a:rPr>
              <a:t>PPG</a:t>
            </a:r>
          </a:p>
          <a:p>
            <a:pPr algn="ctr"/>
            <a:r>
              <a:rPr lang="ja-JP" altLang="en-US" sz="2200" b="1">
                <a:solidFill>
                  <a:srgbClr val="262626"/>
                </a:solidFill>
                <a:latin typeface="Meiryo"/>
                <a:ea typeface="Meiryo"/>
                <a:cs typeface="Meiryo"/>
              </a:rPr>
              <a:t>その後は 医療記録とのリンクで イベントを追跡</a:t>
            </a:r>
            <a:endParaRPr lang="ja-JP" altLang="en-US" sz="2200" b="1" dirty="0">
              <a:solidFill>
                <a:srgbClr val="262626"/>
              </a:solidFill>
              <a:latin typeface="Meiryo"/>
              <a:ea typeface="Meiryo"/>
              <a:cs typeface="Meiryo"/>
            </a:endParaRP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　／　9. Fry 2017</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17/72</a:t>
            </a:r>
          </a:p>
        </p:txBody>
      </p:sp>
    </p:spTree>
    <p:extLst>
      <p:ext uri="{BB962C8B-B14F-4D97-AF65-F5344CB8AC3E}">
        <p14:creationId xmlns:p14="http://schemas.microsoft.com/office/powerpoint/2010/main" val="30437049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BEF48-854D-4EF6-C11B-6F29BB873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70BB31-5495-A77C-D834-615AF52AB217}"/>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16" name="Off-page Connector 4">
            <a:extLst>
              <a:ext uri="{FF2B5EF4-FFF2-40B4-BE49-F238E27FC236}">
                <a16:creationId xmlns:a16="http://schemas.microsoft.com/office/drawing/2014/main" id="{7639B582-06D1-DFEC-B7DD-7B27D05A0099}"/>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 name="Off-page Connector 5">
            <a:extLst>
              <a:ext uri="{FF2B5EF4-FFF2-40B4-BE49-F238E27FC236}">
                <a16:creationId xmlns:a16="http://schemas.microsoft.com/office/drawing/2014/main" id="{D9A81368-A28A-7342-364F-C1780B8D7A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8" name="Off-page Connector 6">
            <a:extLst>
              <a:ext uri="{FF2B5EF4-FFF2-40B4-BE49-F238E27FC236}">
                <a16:creationId xmlns:a16="http://schemas.microsoft.com/office/drawing/2014/main" id="{5292455A-92CA-67BF-D4ED-968B236466A1}"/>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EE37C782-574B-FAFD-5DE4-4F964522BC0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0" name="Off-page Connector 8">
            <a:extLst>
              <a:ext uri="{FF2B5EF4-FFF2-40B4-BE49-F238E27FC236}">
                <a16:creationId xmlns:a16="http://schemas.microsoft.com/office/drawing/2014/main" id="{DC3326B9-8F76-788E-AF3E-C5A98E4F4A76}"/>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1" name="lead">
            <a:extLst>
              <a:ext uri="{FF2B5EF4-FFF2-40B4-BE49-F238E27FC236}">
                <a16:creationId xmlns:a16="http://schemas.microsoft.com/office/drawing/2014/main" id="{F6B2A981-DF9E-8B8B-4366-BACBF5734F93}"/>
              </a:ext>
            </a:extLst>
          </p:cNvPr>
          <p:cNvSpPr txBox="1"/>
          <p:nvPr/>
        </p:nvSpPr>
        <p:spPr>
          <a:xfrm>
            <a:off x="566928" y="2032118"/>
            <a:ext cx="10058400" cy="457200"/>
          </a:xfrm>
          <a:prstGeom prst="rect">
            <a:avLst/>
          </a:prstGeom>
          <a:noFill/>
        </p:spPr>
        <p:txBody>
          <a:bodyPr wrap="square" lIns="0" tIns="0" rIns="0" bIns="0" anchor="ctr">
            <a:spAutoFit/>
          </a:bodyPr>
          <a:lstStyle/>
          <a:p>
            <a:pPr algn="l"/>
            <a:r>
              <a:rPr sz="2400" b="1">
                <a:solidFill>
                  <a:srgbClr val="262626"/>
                </a:solidFill>
                <a:latin typeface="Meiryo"/>
                <a:ea typeface="Meiryo"/>
                <a:cs typeface="Meiryo"/>
              </a:rPr>
              <a:t>英国の 大規模バイオバンク型 前向きコホート</a:t>
            </a:r>
          </a:p>
        </p:txBody>
      </p:sp>
      <p:sp>
        <p:nvSpPr>
          <p:cNvPr id="22" name="fact0">
            <a:extLst>
              <a:ext uri="{FF2B5EF4-FFF2-40B4-BE49-F238E27FC236}">
                <a16:creationId xmlns:a16="http://schemas.microsoft.com/office/drawing/2014/main" id="{C0E7C231-1C03-4C2A-990C-4FBE42DCA163}"/>
              </a:ext>
            </a:extLst>
          </p:cNvPr>
          <p:cNvSpPr/>
          <p:nvPr/>
        </p:nvSpPr>
        <p:spPr>
          <a:xfrm>
            <a:off x="548640"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2006</a:t>
            </a:r>
            <a:r>
              <a:rPr lang="ja-JP" altLang="en-US" sz="3000" b="1">
                <a:solidFill>
                  <a:srgbClr val="262626"/>
                </a:solidFill>
                <a:latin typeface="Meiryo"/>
                <a:ea typeface="Meiryo"/>
                <a:cs typeface="Meiryo"/>
              </a:rPr>
              <a:t>年</a:t>
            </a:r>
            <a:r>
              <a:rPr lang="en-US" altLang="ja-JP" sz="3000" b="1" dirty="0">
                <a:solidFill>
                  <a:srgbClr val="262626"/>
                </a:solidFill>
                <a:latin typeface="Meiryo"/>
                <a:ea typeface="Meiryo"/>
                <a:cs typeface="Meiryo"/>
              </a:rPr>
              <a:t> </a:t>
            </a:r>
            <a:r>
              <a:rPr lang="ja-JP" altLang="en-US" sz="3000" b="1">
                <a:solidFill>
                  <a:srgbClr val="262626"/>
                </a:solidFill>
                <a:latin typeface="Meiryo"/>
                <a:ea typeface="Meiryo"/>
                <a:cs typeface="Meiryo"/>
              </a:rPr>
              <a:t>開始</a:t>
            </a:r>
            <a:endParaRPr lang="en-US" altLang="ja-JP" sz="3000" b="1" dirty="0">
              <a:solidFill>
                <a:srgbClr val="262626"/>
              </a:solidFill>
              <a:latin typeface="Meiryo"/>
              <a:ea typeface="Meiryo"/>
              <a:cs typeface="Meiryo"/>
            </a:endParaRPr>
          </a:p>
          <a:p>
            <a:pPr algn="ctr"/>
            <a:r>
              <a:rPr sz="2200" b="1" dirty="0" err="1">
                <a:solidFill>
                  <a:srgbClr val="262626"/>
                </a:solidFill>
                <a:latin typeface="Meiryo"/>
                <a:ea typeface="Meiryo"/>
                <a:cs typeface="Meiryo"/>
              </a:rPr>
              <a:t>英国</a:t>
            </a:r>
            <a:r>
              <a:rPr sz="2200" b="1" dirty="0">
                <a:solidFill>
                  <a:srgbClr val="262626"/>
                </a:solidFill>
                <a:latin typeface="Meiryo"/>
                <a:ea typeface="Meiryo"/>
                <a:cs typeface="Meiryo"/>
              </a:rPr>
              <a:t> 22施設で登録</a:t>
            </a:r>
          </a:p>
        </p:txBody>
      </p:sp>
      <p:sp>
        <p:nvSpPr>
          <p:cNvPr id="23" name="fact1">
            <a:extLst>
              <a:ext uri="{FF2B5EF4-FFF2-40B4-BE49-F238E27FC236}">
                <a16:creationId xmlns:a16="http://schemas.microsoft.com/office/drawing/2014/main" id="{C156D6C8-B1C8-2860-7AB4-DA1E14CEC910}"/>
              </a:ext>
            </a:extLst>
          </p:cNvPr>
          <p:cNvSpPr/>
          <p:nvPr/>
        </p:nvSpPr>
        <p:spPr>
          <a:xfrm>
            <a:off x="4370832"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3000" b="1">
                <a:solidFill>
                  <a:srgbClr val="262626"/>
                </a:solidFill>
                <a:latin typeface="Meiryo"/>
                <a:ea typeface="Meiryo"/>
                <a:cs typeface="Meiryo"/>
              </a:rPr>
              <a:t>約</a:t>
            </a:r>
            <a:r>
              <a:rPr lang="en-US" altLang="ja-JP" sz="3000" b="1" dirty="0">
                <a:solidFill>
                  <a:srgbClr val="262626"/>
                </a:solidFill>
                <a:latin typeface="Meiryo"/>
                <a:ea typeface="Meiryo"/>
                <a:cs typeface="Meiryo"/>
              </a:rPr>
              <a:t> 50</a:t>
            </a:r>
            <a:r>
              <a:rPr lang="ja-JP" altLang="en-US" sz="3000" b="1">
                <a:solidFill>
                  <a:srgbClr val="262626"/>
                </a:solidFill>
                <a:latin typeface="Meiryo"/>
                <a:ea typeface="Meiryo"/>
                <a:cs typeface="Meiryo"/>
              </a:rPr>
              <a:t>万人</a:t>
            </a:r>
            <a:endParaRPr lang="en-US" altLang="ja-JP" sz="3000" b="1" dirty="0">
              <a:solidFill>
                <a:srgbClr val="262626"/>
              </a:solidFill>
              <a:latin typeface="Meiryo"/>
              <a:ea typeface="Meiryo"/>
              <a:cs typeface="Meiryo"/>
            </a:endParaRPr>
          </a:p>
          <a:p>
            <a:pPr algn="ctr"/>
            <a:r>
              <a:rPr lang="ja-JP" altLang="en-US" sz="2200" b="1">
                <a:solidFill>
                  <a:srgbClr val="262626"/>
                </a:solidFill>
                <a:latin typeface="Meiryo"/>
                <a:ea typeface="Meiryo"/>
                <a:cs typeface="Meiryo"/>
              </a:rPr>
              <a:t>施設近所のボランティア</a:t>
            </a:r>
          </a:p>
        </p:txBody>
      </p:sp>
      <p:sp>
        <p:nvSpPr>
          <p:cNvPr id="24" name="fact2">
            <a:extLst>
              <a:ext uri="{FF2B5EF4-FFF2-40B4-BE49-F238E27FC236}">
                <a16:creationId xmlns:a16="http://schemas.microsoft.com/office/drawing/2014/main" id="{28C1DA1A-5C57-1005-4BC2-631CE8F28061}"/>
              </a:ext>
            </a:extLst>
          </p:cNvPr>
          <p:cNvSpPr/>
          <p:nvPr/>
        </p:nvSpPr>
        <p:spPr>
          <a:xfrm>
            <a:off x="8193024"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40〜69 </a:t>
            </a:r>
            <a:r>
              <a:rPr lang="ja-JP" altLang="en-US" sz="3000" b="1">
                <a:solidFill>
                  <a:srgbClr val="262626"/>
                </a:solidFill>
                <a:latin typeface="Meiryo"/>
                <a:ea typeface="Meiryo"/>
                <a:cs typeface="Meiryo"/>
              </a:rPr>
              <a:t>歳</a:t>
            </a:r>
          </a:p>
          <a:p>
            <a:pPr algn="ctr"/>
            <a:r>
              <a:rPr lang="ja-JP" altLang="en-US" sz="2200" b="1">
                <a:solidFill>
                  <a:srgbClr val="262626"/>
                </a:solidFill>
                <a:latin typeface="Meiryo"/>
                <a:ea typeface="Meiryo"/>
                <a:cs typeface="Meiryo"/>
              </a:rPr>
              <a:t>健康ボランティアバイアス</a:t>
            </a:r>
            <a:endParaRPr sz="2200" b="1" dirty="0">
              <a:solidFill>
                <a:srgbClr val="262626"/>
              </a:solidFill>
              <a:latin typeface="Meiryo"/>
              <a:ea typeface="Meiryo"/>
              <a:cs typeface="Meiryo"/>
            </a:endParaRPr>
          </a:p>
        </p:txBody>
      </p:sp>
      <p:sp>
        <p:nvSpPr>
          <p:cNvPr id="3" name="callout">
            <a:extLst>
              <a:ext uri="{FF2B5EF4-FFF2-40B4-BE49-F238E27FC236}">
                <a16:creationId xmlns:a16="http://schemas.microsoft.com/office/drawing/2014/main" id="{25B5E446-BAFA-EC66-9AC7-D735C6BF6339}"/>
              </a:ext>
            </a:extLst>
          </p:cNvPr>
          <p:cNvSpPr/>
          <p:nvPr/>
        </p:nvSpPr>
        <p:spPr>
          <a:xfrm>
            <a:off x="548639" y="5488710"/>
            <a:ext cx="11113007" cy="657854"/>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PPG</a:t>
            </a:r>
            <a:r>
              <a:rPr lang="ja-JP" altLang="en-US" sz="2600" b="1">
                <a:solidFill>
                  <a:srgbClr val="262626"/>
                </a:solidFill>
                <a:latin typeface="Meiryo"/>
                <a:ea typeface="Meiryo"/>
                <a:cs typeface="Meiryo"/>
              </a:rPr>
              <a:t>波形を機械学習し、切痕の平滑さと各種疾患の関連を調べた</a:t>
            </a:r>
            <a:endParaRPr sz="2200" b="1" dirty="0">
              <a:solidFill>
                <a:srgbClr val="262626"/>
              </a:solidFill>
              <a:latin typeface="Meiryo"/>
              <a:ea typeface="Meiryo"/>
              <a:cs typeface="Meiryo"/>
            </a:endParaRPr>
          </a:p>
        </p:txBody>
      </p:sp>
      <p:sp>
        <p:nvSpPr>
          <p:cNvPr id="4" name="fact0">
            <a:extLst>
              <a:ext uri="{FF2B5EF4-FFF2-40B4-BE49-F238E27FC236}">
                <a16:creationId xmlns:a16="http://schemas.microsoft.com/office/drawing/2014/main" id="{B332B328-27A5-105B-7A2F-CACD865F3B5A}"/>
              </a:ext>
            </a:extLst>
          </p:cNvPr>
          <p:cNvSpPr/>
          <p:nvPr/>
        </p:nvSpPr>
        <p:spPr>
          <a:xfrm>
            <a:off x="554736" y="4243084"/>
            <a:ext cx="1111300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登録時に 質問票・身体計測・採血・指尖</a:t>
            </a:r>
            <a:r>
              <a:rPr lang="en" altLang="ja-JP" sz="2600" b="1" dirty="0">
                <a:solidFill>
                  <a:srgbClr val="262626"/>
                </a:solidFill>
                <a:latin typeface="Meiryo"/>
                <a:ea typeface="Meiryo"/>
                <a:cs typeface="Meiryo"/>
              </a:rPr>
              <a:t>PPG</a:t>
            </a:r>
          </a:p>
          <a:p>
            <a:pPr algn="ctr"/>
            <a:r>
              <a:rPr lang="ja-JP" altLang="en-US" sz="2200" b="1">
                <a:solidFill>
                  <a:srgbClr val="262626"/>
                </a:solidFill>
                <a:latin typeface="Meiryo"/>
                <a:ea typeface="Meiryo"/>
                <a:cs typeface="Meiryo"/>
              </a:rPr>
              <a:t>その後は 医療記録とのリンクで イベントを追跡</a:t>
            </a:r>
            <a:endParaRPr lang="ja-JP" altLang="en-US" sz="2200" b="1" dirty="0">
              <a:solidFill>
                <a:srgbClr val="262626"/>
              </a:solidFill>
              <a:latin typeface="Meiryo"/>
              <a:ea typeface="Meiryo"/>
              <a:cs typeface="Meiryo"/>
            </a:endParaRP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　／　9. Fry 2017</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17/72</a:t>
            </a:r>
          </a:p>
        </p:txBody>
      </p:sp>
    </p:spTree>
    <p:extLst>
      <p:ext uri="{BB962C8B-B14F-4D97-AF65-F5344CB8AC3E}">
        <p14:creationId xmlns:p14="http://schemas.microsoft.com/office/powerpoint/2010/main" val="23915320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CD83A-C2A9-F647-ADBE-D5CB6D4F8E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7C163-F393-8064-6BAA-D9F5CFF6DA31}"/>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16" name="Off-page Connector 4">
            <a:extLst>
              <a:ext uri="{FF2B5EF4-FFF2-40B4-BE49-F238E27FC236}">
                <a16:creationId xmlns:a16="http://schemas.microsoft.com/office/drawing/2014/main" id="{59F57616-1BE7-4156-91C0-DC582D1AE702}"/>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 name="Off-page Connector 5">
            <a:extLst>
              <a:ext uri="{FF2B5EF4-FFF2-40B4-BE49-F238E27FC236}">
                <a16:creationId xmlns:a16="http://schemas.microsoft.com/office/drawing/2014/main" id="{7E160212-A50C-ABF3-1B9E-694C7EEFAA7B}"/>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8" name="Off-page Connector 6">
            <a:extLst>
              <a:ext uri="{FF2B5EF4-FFF2-40B4-BE49-F238E27FC236}">
                <a16:creationId xmlns:a16="http://schemas.microsoft.com/office/drawing/2014/main" id="{2F101920-C64C-DEC2-9F51-9DA11464CB5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8E7FD405-5255-6666-D847-F08EFC902C0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0" name="Off-page Connector 8">
            <a:extLst>
              <a:ext uri="{FF2B5EF4-FFF2-40B4-BE49-F238E27FC236}">
                <a16:creationId xmlns:a16="http://schemas.microsoft.com/office/drawing/2014/main" id="{C86A3FE9-B677-40CE-1AFB-5B56F269C891}"/>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1" name="図 10">
            <a:extLst>
              <a:ext uri="{FF2B5EF4-FFF2-40B4-BE49-F238E27FC236}">
                <a16:creationId xmlns:a16="http://schemas.microsoft.com/office/drawing/2014/main" id="{EE5BBC1A-3689-6085-055C-20750B8DA905}"/>
              </a:ext>
            </a:extLst>
          </p:cNvPr>
          <p:cNvPicPr>
            <a:picLocks noChangeAspect="1"/>
          </p:cNvPicPr>
          <p:nvPr/>
        </p:nvPicPr>
        <p:blipFill>
          <a:blip r:embed="rId3"/>
          <a:stretch>
            <a:fillRect/>
          </a:stretch>
        </p:blipFill>
        <p:spPr>
          <a:xfrm>
            <a:off x="358058" y="2347302"/>
            <a:ext cx="5874342" cy="3487406"/>
          </a:xfrm>
          <a:prstGeom prst="rect">
            <a:avLst/>
          </a:prstGeom>
        </p:spPr>
      </p:pic>
      <p:pic>
        <p:nvPicPr>
          <p:cNvPr id="13" name="図 12">
            <a:extLst>
              <a:ext uri="{FF2B5EF4-FFF2-40B4-BE49-F238E27FC236}">
                <a16:creationId xmlns:a16="http://schemas.microsoft.com/office/drawing/2014/main" id="{DAE11561-6EFA-9874-E89A-8BBB010948E0}"/>
              </a:ext>
            </a:extLst>
          </p:cNvPr>
          <p:cNvPicPr>
            <a:picLocks noChangeAspect="1"/>
          </p:cNvPicPr>
          <p:nvPr/>
        </p:nvPicPr>
        <p:blipFill>
          <a:blip r:embed="rId4"/>
          <a:srcRect t="1" b="27431"/>
          <a:stretch>
            <a:fillRect/>
          </a:stretch>
        </p:blipFill>
        <p:spPr>
          <a:xfrm>
            <a:off x="6232400" y="1823018"/>
            <a:ext cx="5601542" cy="4337316"/>
          </a:xfrm>
          <a:prstGeom prst="rect">
            <a:avLst/>
          </a:prstGeom>
        </p:spPr>
      </p:pic>
      <p:sp>
        <p:nvSpPr>
          <p:cNvPr id="2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a:t>
            </a:r>
          </a:p>
        </p:txBody>
      </p:sp>
      <p:sp>
        <p:nvSpPr>
          <p:cNvPr id="2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17/72</a:t>
            </a:r>
          </a:p>
        </p:txBody>
      </p:sp>
    </p:spTree>
    <p:extLst>
      <p:ext uri="{BB962C8B-B14F-4D97-AF65-F5344CB8AC3E}">
        <p14:creationId xmlns:p14="http://schemas.microsoft.com/office/powerpoint/2010/main" val="16157025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9ACB8-DCD9-F0FE-6F6A-9CF362E722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A1135C-9592-0C51-C9AA-F33BA50304ED}"/>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16" name="Off-page Connector 4">
            <a:extLst>
              <a:ext uri="{FF2B5EF4-FFF2-40B4-BE49-F238E27FC236}">
                <a16:creationId xmlns:a16="http://schemas.microsoft.com/office/drawing/2014/main" id="{050492A9-66EC-FA98-B419-C261262F827E}"/>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 name="Off-page Connector 5">
            <a:extLst>
              <a:ext uri="{FF2B5EF4-FFF2-40B4-BE49-F238E27FC236}">
                <a16:creationId xmlns:a16="http://schemas.microsoft.com/office/drawing/2014/main" id="{D1A1AE54-3A35-6730-B959-E69049BC0A6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8" name="Off-page Connector 6">
            <a:extLst>
              <a:ext uri="{FF2B5EF4-FFF2-40B4-BE49-F238E27FC236}">
                <a16:creationId xmlns:a16="http://schemas.microsoft.com/office/drawing/2014/main" id="{0BFF12C2-90BD-E92E-0118-D412BA221E7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3301B627-1673-7484-3485-877B8873E62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0" name="Off-page Connector 8">
            <a:extLst>
              <a:ext uri="{FF2B5EF4-FFF2-40B4-BE49-F238E27FC236}">
                <a16:creationId xmlns:a16="http://schemas.microsoft.com/office/drawing/2014/main" id="{971DCEDA-7638-2156-8F9F-6FD6C8DBE5F3}"/>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1" name="図 10">
            <a:extLst>
              <a:ext uri="{FF2B5EF4-FFF2-40B4-BE49-F238E27FC236}">
                <a16:creationId xmlns:a16="http://schemas.microsoft.com/office/drawing/2014/main" id="{5AE9E7C1-EAA3-62C2-8F3E-50B3F0EFAC47}"/>
              </a:ext>
            </a:extLst>
          </p:cNvPr>
          <p:cNvPicPr>
            <a:picLocks noChangeAspect="1"/>
          </p:cNvPicPr>
          <p:nvPr/>
        </p:nvPicPr>
        <p:blipFill>
          <a:blip r:embed="rId3"/>
          <a:stretch>
            <a:fillRect/>
          </a:stretch>
        </p:blipFill>
        <p:spPr>
          <a:xfrm>
            <a:off x="358058" y="2347302"/>
            <a:ext cx="5874342" cy="3487406"/>
          </a:xfrm>
          <a:prstGeom prst="rect">
            <a:avLst/>
          </a:prstGeom>
        </p:spPr>
      </p:pic>
      <p:pic>
        <p:nvPicPr>
          <p:cNvPr id="13" name="図 12">
            <a:extLst>
              <a:ext uri="{FF2B5EF4-FFF2-40B4-BE49-F238E27FC236}">
                <a16:creationId xmlns:a16="http://schemas.microsoft.com/office/drawing/2014/main" id="{7BA7E091-456D-3E23-4930-6776B6F92097}"/>
              </a:ext>
            </a:extLst>
          </p:cNvPr>
          <p:cNvPicPr>
            <a:picLocks noChangeAspect="1"/>
          </p:cNvPicPr>
          <p:nvPr/>
        </p:nvPicPr>
        <p:blipFill>
          <a:blip r:embed="rId4"/>
          <a:srcRect t="1" b="27431"/>
          <a:stretch>
            <a:fillRect/>
          </a:stretch>
        </p:blipFill>
        <p:spPr>
          <a:xfrm>
            <a:off x="6232400" y="1823018"/>
            <a:ext cx="5601542" cy="4337316"/>
          </a:xfrm>
          <a:prstGeom prst="rect">
            <a:avLst/>
          </a:prstGeom>
        </p:spPr>
      </p:pic>
      <p:sp>
        <p:nvSpPr>
          <p:cNvPr id="4" name="callout">
            <a:extLst>
              <a:ext uri="{FF2B5EF4-FFF2-40B4-BE49-F238E27FC236}">
                <a16:creationId xmlns:a16="http://schemas.microsoft.com/office/drawing/2014/main" id="{9B6B7DC0-E5C7-B684-E2DA-0B0CBDCB724B}"/>
              </a:ext>
            </a:extLst>
          </p:cNvPr>
          <p:cNvSpPr/>
          <p:nvPr/>
        </p:nvSpPr>
        <p:spPr>
          <a:xfrm>
            <a:off x="1518506" y="3076168"/>
            <a:ext cx="9154988" cy="183101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rgbClr val="262626"/>
                </a:solidFill>
                <a:latin typeface="Meiryo"/>
                <a:ea typeface="Meiryo"/>
                <a:cs typeface="Meiryo"/>
              </a:rPr>
              <a:t>切痕が平滑であるほど、</a:t>
            </a:r>
            <a:endParaRPr lang="en-US" altLang="ja-JP" sz="2800" b="1" dirty="0">
              <a:solidFill>
                <a:srgbClr val="262626"/>
              </a:solidFill>
              <a:latin typeface="Meiryo"/>
              <a:ea typeface="Meiryo"/>
              <a:cs typeface="Meiryo"/>
            </a:endParaRPr>
          </a:p>
          <a:p>
            <a:pPr algn="ctr">
              <a:lnSpc>
                <a:spcPct val="150000"/>
              </a:lnSpc>
            </a:pPr>
            <a:r>
              <a:rPr lang="ja-JP" altLang="en-US" sz="2800" b="1">
                <a:solidFill>
                  <a:srgbClr val="262626"/>
                </a:solidFill>
                <a:latin typeface="Meiryo"/>
                <a:ea typeface="Meiryo"/>
                <a:cs typeface="Meiryo"/>
              </a:rPr>
              <a:t>高血圧・冠動脈疾患・心不全・死亡 が増加する。</a:t>
            </a:r>
          </a:p>
        </p:txBody>
      </p:sp>
      <p:sp>
        <p:nvSpPr>
          <p:cNvPr id="2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a:t>
            </a:r>
          </a:p>
        </p:txBody>
      </p:sp>
      <p:sp>
        <p:nvSpPr>
          <p:cNvPr id="2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17/72</a:t>
            </a:r>
          </a:p>
        </p:txBody>
      </p:sp>
    </p:spTree>
    <p:extLst>
      <p:ext uri="{BB962C8B-B14F-4D97-AF65-F5344CB8AC3E}">
        <p14:creationId xmlns:p14="http://schemas.microsoft.com/office/powerpoint/2010/main" val="28719371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2.1.3  切痕平滑化の理由</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1_stiffness_series.png"/>
          <p:cNvPicPr>
            <a:picLocks noChangeAspect="1"/>
          </p:cNvPicPr>
          <p:nvPr/>
        </p:nvPicPr>
        <p:blipFill>
          <a:blip r:embed="rId3"/>
          <a:stretch>
            <a:fillRect/>
          </a:stretch>
        </p:blipFill>
        <p:spPr>
          <a:xfrm>
            <a:off x="1564000" y="1597656"/>
            <a:ext cx="9040000" cy="4320000"/>
          </a:xfrm>
          <a:prstGeom prst="rect">
            <a:avLst/>
          </a:prstGeom>
        </p:spPr>
      </p:pic>
      <p:sp>
        <p:nvSpPr>
          <p:cNvPr id="270" name="t_g"/>
          <p:cNvSpPr txBox="1"/>
          <p:nvPr/>
        </p:nvSpPr>
        <p:spPr>
          <a:xfrm>
            <a:off x="1925600" y="1929600"/>
            <a:ext cx="2621600" cy="388800"/>
          </a:xfrm>
          <a:prstGeom prst="rect">
            <a:avLst/>
          </a:prstGeom>
          <a:noFill/>
        </p:spPr>
        <p:txBody>
          <a:bodyPr wrap="square" lIns="0" tIns="0" rIns="0" bIns="0" anchor="t">
            <a:normAutofit/>
          </a:bodyPr>
          <a:lstStyle/>
          <a:p>
            <a:pPr algn="ctr"/>
            <a:r>
              <a:rPr lang="ja-JP" altLang="en-US" sz="2200" b="1" dirty="0">
                <a:solidFill>
                  <a:srgbClr val="70AD47"/>
                </a:solidFill>
                <a:latin typeface="Meiryo"/>
                <a:ea typeface="Meiryo"/>
                <a:cs typeface="Meiryo"/>
              </a:rPr>
              <a:t>若年・柔らかい</a:t>
            </a:r>
          </a:p>
        </p:txBody>
      </p:sp>
      <p:sp>
        <p:nvSpPr>
          <p:cNvPr id="271" name="t_m"/>
          <p:cNvSpPr txBox="1"/>
          <p:nvPr/>
        </p:nvSpPr>
        <p:spPr>
          <a:xfrm>
            <a:off x="4908800" y="1929600"/>
            <a:ext cx="2531200" cy="388800"/>
          </a:xfrm>
          <a:prstGeom prst="rect">
            <a:avLst/>
          </a:prstGeom>
          <a:noFill/>
        </p:spPr>
        <p:txBody>
          <a:bodyPr wrap="square" lIns="0" tIns="0" rIns="0" bIns="0" anchor="t">
            <a:normAutofit/>
          </a:bodyPr>
          <a:lstStyle/>
          <a:p>
            <a:pPr algn="ctr"/>
            <a:r>
              <a:rPr lang="ja-JP" altLang="en-US" sz="2200" b="1" dirty="0">
                <a:solidFill>
                  <a:srgbClr val="BF9000"/>
                </a:solidFill>
                <a:latin typeface="Meiryo"/>
                <a:ea typeface="Meiryo"/>
                <a:cs typeface="Meiryo"/>
              </a:rPr>
              <a:t>中間</a:t>
            </a:r>
          </a:p>
        </p:txBody>
      </p:sp>
      <p:sp>
        <p:nvSpPr>
          <p:cNvPr id="272" name="t_r"/>
          <p:cNvSpPr txBox="1"/>
          <p:nvPr/>
        </p:nvSpPr>
        <p:spPr>
          <a:xfrm>
            <a:off x="7892000" y="1929600"/>
            <a:ext cx="2621600" cy="388800"/>
          </a:xfrm>
          <a:prstGeom prst="rect">
            <a:avLst/>
          </a:prstGeom>
          <a:noFill/>
        </p:spPr>
        <p:txBody>
          <a:bodyPr wrap="square" lIns="0" tIns="0" rIns="0" bIns="0" anchor="t">
            <a:normAutofit/>
          </a:bodyPr>
          <a:lstStyle/>
          <a:p>
            <a:pPr algn="ctr"/>
            <a:r>
              <a:rPr lang="ja-JP" altLang="en-US" sz="2200" b="1" dirty="0">
                <a:solidFill>
                  <a:srgbClr val="C00000"/>
                </a:solidFill>
                <a:latin typeface="Meiryo"/>
                <a:ea typeface="Meiryo"/>
                <a:cs typeface="Meiryo"/>
              </a:rPr>
              <a:t>高齢・硬い</a:t>
            </a:r>
          </a:p>
        </p:txBody>
      </p:sp>
      <p:sp>
        <p:nvSpPr>
          <p:cNvPr id="9018" name="chain"/>
          <p:cNvSpPr txBox="1"/>
          <p:nvPr/>
        </p:nvSpPr>
        <p:spPr>
          <a:xfrm>
            <a:off x="864000" y="5395656"/>
            <a:ext cx="10440000" cy="1044000"/>
          </a:xfrm>
          <a:prstGeom prst="rect">
            <a:avLst/>
          </a:prstGeom>
          <a:noFill/>
        </p:spPr>
        <p:txBody>
          <a:bodyPr wrap="square" lIns="0" tIns="0" rIns="0" bIns="0" anchor="t">
            <a:noAutofit/>
          </a:bodyPr>
          <a:lstStyle/>
          <a:p>
            <a:pPr algn="ctr">
              <a:lnSpc>
                <a:spcPct val="150000"/>
              </a:lnSpc>
            </a:pPr>
            <a:r>
              <a:rPr lang="ja-JP" altLang="en-US" sz="2400" b="1" dirty="0">
                <a:solidFill>
                  <a:srgbClr val="262626"/>
                </a:solidFill>
                <a:latin typeface="Meiryo"/>
                <a:ea typeface="Meiryo"/>
                <a:cs typeface="Meiryo"/>
              </a:rPr>
              <a:t>加齢・動脈硬化 → 大血管スティフネス↑ </a:t>
            </a:r>
            <a:r>
              <a:rPr lang="ja-JP" altLang="en-US" sz="2800" b="1" dirty="0">
                <a:solidFill>
                  <a:srgbClr val="262626"/>
                </a:solidFill>
                <a:latin typeface="Meiryo"/>
                <a:ea typeface="Meiryo"/>
                <a:cs typeface="Meiryo"/>
              </a:rPr>
              <a:t>→ 反射波の速度↑</a:t>
            </a:r>
          </a:p>
          <a:p>
            <a:pPr algn="ctr">
              <a:lnSpc>
                <a:spcPct val="150000"/>
              </a:lnSpc>
            </a:pPr>
            <a:r>
              <a:rPr lang="ja-JP" altLang="en-US" sz="2400" b="1" dirty="0">
                <a:solidFill>
                  <a:srgbClr val="262626"/>
                </a:solidFill>
                <a:latin typeface="Meiryo"/>
                <a:ea typeface="Meiryo"/>
                <a:cs typeface="Meiryo"/>
              </a:rPr>
              <a:t>→ 反射波が早く戻る → 収縮期へ融合 → </a:t>
            </a:r>
            <a:r>
              <a:rPr lang="ja-JP" altLang="en-US" sz="2400" b="1" dirty="0">
                <a:latin typeface="Meiryo"/>
                <a:ea typeface="Meiryo"/>
                <a:cs typeface="Meiryo"/>
              </a:rPr>
              <a:t>切痕が消える</a:t>
            </a:r>
          </a:p>
        </p:txBody>
      </p:sp>
      <p:sp>
        <p:nvSpPr>
          <p:cNvPr id="90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7. Dawber 1973　／　8. Cunningham 2023</a:t>
            </a:r>
          </a:p>
        </p:txBody>
      </p:sp>
      <p:sp>
        <p:nvSpPr>
          <p:cNvPr id="90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18/72</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35C80-85A1-E59A-EC49-BD19C22E1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BD3EAE-E61A-69EB-5F86-CDAF8BC3B97F}"/>
              </a:ext>
            </a:extLst>
          </p:cNvPr>
          <p:cNvSpPr>
            <a:spLocks noGrp="1"/>
          </p:cNvSpPr>
          <p:nvPr>
            <p:ph type="title"/>
          </p:nvPr>
        </p:nvSpPr>
        <p:spPr/>
        <p:txBody>
          <a:bodyPr>
            <a:normAutofit/>
          </a:bodyPr>
          <a:lstStyle/>
          <a:p>
            <a:pPr algn="l"/>
            <a:r>
              <a:rPr sz="4600" dirty="0">
                <a:latin typeface="Meiryo"/>
                <a:ea typeface="Meiryo"/>
                <a:cs typeface="Meiryo"/>
              </a:rPr>
              <a:t>2.1.3  切痕平滑化の理由</a:t>
            </a:r>
          </a:p>
        </p:txBody>
      </p:sp>
      <p:sp>
        <p:nvSpPr>
          <p:cNvPr id="13" name="Off-page Connector 4">
            <a:extLst>
              <a:ext uri="{FF2B5EF4-FFF2-40B4-BE49-F238E27FC236}">
                <a16:creationId xmlns:a16="http://schemas.microsoft.com/office/drawing/2014/main" id="{827E9629-B337-1E99-36C5-1F4AA5193957}"/>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2C1D0BED-F892-AF73-6B88-1E38B9DE7A82}"/>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71795643-C707-315F-6EF9-6B6628DD4734}"/>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B77CE50C-7179-C763-5B90-9459E154E63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AE672F60-FAEC-3346-FF59-1B6F1C83939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1_stiffness_series.png">
            <a:extLst>
              <a:ext uri="{FF2B5EF4-FFF2-40B4-BE49-F238E27FC236}">
                <a16:creationId xmlns:a16="http://schemas.microsoft.com/office/drawing/2014/main" id="{B2A0FFB8-9E06-274E-CB88-667C604AA887}"/>
              </a:ext>
            </a:extLst>
          </p:cNvPr>
          <p:cNvPicPr>
            <a:picLocks noChangeAspect="1"/>
          </p:cNvPicPr>
          <p:nvPr/>
        </p:nvPicPr>
        <p:blipFill>
          <a:blip r:embed="rId3"/>
          <a:stretch>
            <a:fillRect/>
          </a:stretch>
        </p:blipFill>
        <p:spPr>
          <a:xfrm>
            <a:off x="1564000" y="1597656"/>
            <a:ext cx="9040000" cy="4320000"/>
          </a:xfrm>
          <a:prstGeom prst="rect">
            <a:avLst/>
          </a:prstGeom>
        </p:spPr>
      </p:pic>
      <p:sp>
        <p:nvSpPr>
          <p:cNvPr id="270" name="t_g">
            <a:extLst>
              <a:ext uri="{FF2B5EF4-FFF2-40B4-BE49-F238E27FC236}">
                <a16:creationId xmlns:a16="http://schemas.microsoft.com/office/drawing/2014/main" id="{E63171B8-4D19-7F60-33E4-5CCE68416AC4}"/>
              </a:ext>
            </a:extLst>
          </p:cNvPr>
          <p:cNvSpPr txBox="1"/>
          <p:nvPr/>
        </p:nvSpPr>
        <p:spPr>
          <a:xfrm>
            <a:off x="1925600" y="1929600"/>
            <a:ext cx="2621600" cy="388800"/>
          </a:xfrm>
          <a:prstGeom prst="rect">
            <a:avLst/>
          </a:prstGeom>
          <a:noFill/>
        </p:spPr>
        <p:txBody>
          <a:bodyPr wrap="square" lIns="0" tIns="0" rIns="0" bIns="0" anchor="t">
            <a:normAutofit/>
          </a:bodyPr>
          <a:lstStyle/>
          <a:p>
            <a:pPr algn="ctr"/>
            <a:r>
              <a:rPr lang="ja-JP" altLang="en-US" sz="2200" b="1" dirty="0">
                <a:solidFill>
                  <a:srgbClr val="70AD47"/>
                </a:solidFill>
                <a:latin typeface="Meiryo"/>
                <a:ea typeface="Meiryo"/>
                <a:cs typeface="Meiryo"/>
              </a:rPr>
              <a:t>若年・柔らかい</a:t>
            </a:r>
          </a:p>
        </p:txBody>
      </p:sp>
      <p:sp>
        <p:nvSpPr>
          <p:cNvPr id="271" name="t_m">
            <a:extLst>
              <a:ext uri="{FF2B5EF4-FFF2-40B4-BE49-F238E27FC236}">
                <a16:creationId xmlns:a16="http://schemas.microsoft.com/office/drawing/2014/main" id="{A5A14D11-A6D9-AD7A-CB87-BC4B86D571A9}"/>
              </a:ext>
            </a:extLst>
          </p:cNvPr>
          <p:cNvSpPr txBox="1"/>
          <p:nvPr/>
        </p:nvSpPr>
        <p:spPr>
          <a:xfrm>
            <a:off x="4908800" y="1929600"/>
            <a:ext cx="2531200" cy="388800"/>
          </a:xfrm>
          <a:prstGeom prst="rect">
            <a:avLst/>
          </a:prstGeom>
          <a:noFill/>
        </p:spPr>
        <p:txBody>
          <a:bodyPr wrap="square" lIns="0" tIns="0" rIns="0" bIns="0" anchor="t">
            <a:normAutofit/>
          </a:bodyPr>
          <a:lstStyle/>
          <a:p>
            <a:pPr algn="ctr"/>
            <a:r>
              <a:rPr lang="ja-JP" altLang="en-US" sz="2200" b="1" dirty="0">
                <a:solidFill>
                  <a:srgbClr val="BF9000"/>
                </a:solidFill>
                <a:latin typeface="Meiryo"/>
                <a:ea typeface="Meiryo"/>
                <a:cs typeface="Meiryo"/>
              </a:rPr>
              <a:t>中間</a:t>
            </a:r>
          </a:p>
        </p:txBody>
      </p:sp>
      <p:sp>
        <p:nvSpPr>
          <p:cNvPr id="272" name="t_r">
            <a:extLst>
              <a:ext uri="{FF2B5EF4-FFF2-40B4-BE49-F238E27FC236}">
                <a16:creationId xmlns:a16="http://schemas.microsoft.com/office/drawing/2014/main" id="{5590840A-784F-7DD5-1871-AED26F4D85A2}"/>
              </a:ext>
            </a:extLst>
          </p:cNvPr>
          <p:cNvSpPr txBox="1"/>
          <p:nvPr/>
        </p:nvSpPr>
        <p:spPr>
          <a:xfrm>
            <a:off x="7892000" y="1929600"/>
            <a:ext cx="2621600" cy="388800"/>
          </a:xfrm>
          <a:prstGeom prst="rect">
            <a:avLst/>
          </a:prstGeom>
          <a:noFill/>
        </p:spPr>
        <p:txBody>
          <a:bodyPr wrap="square" lIns="0" tIns="0" rIns="0" bIns="0" anchor="t">
            <a:normAutofit/>
          </a:bodyPr>
          <a:lstStyle/>
          <a:p>
            <a:pPr algn="ctr"/>
            <a:r>
              <a:rPr lang="ja-JP" altLang="en-US" sz="2200" b="1" dirty="0">
                <a:solidFill>
                  <a:srgbClr val="C00000"/>
                </a:solidFill>
                <a:latin typeface="Meiryo"/>
                <a:ea typeface="Meiryo"/>
                <a:cs typeface="Meiryo"/>
              </a:rPr>
              <a:t>高齢・硬い</a:t>
            </a:r>
          </a:p>
        </p:txBody>
      </p:sp>
      <p:sp>
        <p:nvSpPr>
          <p:cNvPr id="9018" name="chain">
            <a:extLst>
              <a:ext uri="{FF2B5EF4-FFF2-40B4-BE49-F238E27FC236}">
                <a16:creationId xmlns:a16="http://schemas.microsoft.com/office/drawing/2014/main" id="{1C740D0E-37D3-CEA6-5822-56CD14E4ECAC}"/>
              </a:ext>
            </a:extLst>
          </p:cNvPr>
          <p:cNvSpPr txBox="1"/>
          <p:nvPr/>
        </p:nvSpPr>
        <p:spPr>
          <a:xfrm>
            <a:off x="864000" y="5395656"/>
            <a:ext cx="10440000" cy="1044000"/>
          </a:xfrm>
          <a:prstGeom prst="rect">
            <a:avLst/>
          </a:prstGeom>
          <a:noFill/>
        </p:spPr>
        <p:txBody>
          <a:bodyPr wrap="square" lIns="0" tIns="0" rIns="0" bIns="0" anchor="t">
            <a:noAutofit/>
          </a:bodyPr>
          <a:lstStyle/>
          <a:p>
            <a:pPr algn="ctr">
              <a:lnSpc>
                <a:spcPct val="150000"/>
              </a:lnSpc>
            </a:pPr>
            <a:r>
              <a:rPr lang="ja-JP" altLang="en-US" sz="2400" b="1" dirty="0">
                <a:solidFill>
                  <a:srgbClr val="262626"/>
                </a:solidFill>
                <a:latin typeface="Meiryo"/>
                <a:ea typeface="Meiryo"/>
                <a:cs typeface="Meiryo"/>
              </a:rPr>
              <a:t>加齢・動脈硬化 → 大血管スティフネス↑ </a:t>
            </a:r>
            <a:r>
              <a:rPr lang="ja-JP" altLang="en-US" sz="2800" b="1" dirty="0">
                <a:solidFill>
                  <a:srgbClr val="262626"/>
                </a:solidFill>
                <a:latin typeface="Meiryo"/>
                <a:ea typeface="Meiryo"/>
                <a:cs typeface="Meiryo"/>
              </a:rPr>
              <a:t>→ 反射波の速度↑</a:t>
            </a:r>
          </a:p>
          <a:p>
            <a:pPr algn="ctr">
              <a:lnSpc>
                <a:spcPct val="150000"/>
              </a:lnSpc>
            </a:pPr>
            <a:r>
              <a:rPr lang="ja-JP" altLang="en-US" sz="2400" b="1" dirty="0">
                <a:solidFill>
                  <a:srgbClr val="262626"/>
                </a:solidFill>
                <a:latin typeface="Meiryo"/>
                <a:ea typeface="Meiryo"/>
                <a:cs typeface="Meiryo"/>
              </a:rPr>
              <a:t>→ 反射波が早く戻る → 収縮期へ融合 → </a:t>
            </a:r>
            <a:r>
              <a:rPr lang="ja-JP" altLang="en-US" sz="2400" b="1" dirty="0">
                <a:latin typeface="Meiryo"/>
                <a:ea typeface="Meiryo"/>
                <a:cs typeface="Meiryo"/>
              </a:rPr>
              <a:t>切痕が消える</a:t>
            </a:r>
          </a:p>
        </p:txBody>
      </p:sp>
      <p:sp>
        <p:nvSpPr>
          <p:cNvPr id="4" name="callout">
            <a:extLst>
              <a:ext uri="{FF2B5EF4-FFF2-40B4-BE49-F238E27FC236}">
                <a16:creationId xmlns:a16="http://schemas.microsoft.com/office/drawing/2014/main" id="{27CEA4E8-9A6A-58AB-9954-21E599EFD001}"/>
              </a:ext>
            </a:extLst>
          </p:cNvPr>
          <p:cNvSpPr/>
          <p:nvPr/>
        </p:nvSpPr>
        <p:spPr>
          <a:xfrm>
            <a:off x="916600" y="2919225"/>
            <a:ext cx="10515600" cy="187560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rgbClr val="262626"/>
                </a:solidFill>
                <a:latin typeface="Meiryo"/>
                <a:ea typeface="Meiryo"/>
                <a:cs typeface="Meiryo"/>
              </a:rPr>
              <a:t>切痕の消失は</a:t>
            </a:r>
            <a:r>
              <a:rPr lang="ja-JP" altLang="en-US" sz="4000" b="1">
                <a:solidFill>
                  <a:srgbClr val="262626"/>
                </a:solidFill>
                <a:latin typeface="Meiryo"/>
                <a:ea typeface="Meiryo"/>
                <a:cs typeface="Meiryo"/>
              </a:rPr>
              <a:t>動脈硬化</a:t>
            </a:r>
            <a:r>
              <a:rPr lang="ja-JP" altLang="en-US" sz="2800" b="1">
                <a:solidFill>
                  <a:srgbClr val="262626"/>
                </a:solidFill>
                <a:latin typeface="Meiryo"/>
                <a:ea typeface="Meiryo"/>
                <a:cs typeface="Meiryo"/>
              </a:rPr>
              <a:t>の進行具合と関連する。</a:t>
            </a:r>
            <a:endParaRPr lang="en-US" altLang="ja-JP" sz="2800" b="1" dirty="0">
              <a:solidFill>
                <a:srgbClr val="262626"/>
              </a:solidFill>
              <a:latin typeface="Meiryo"/>
              <a:ea typeface="Meiryo"/>
              <a:cs typeface="Meiryo"/>
            </a:endParaRPr>
          </a:p>
          <a:p>
            <a:pPr algn="ctr">
              <a:lnSpc>
                <a:spcPct val="150000"/>
              </a:lnSpc>
            </a:pPr>
            <a:r>
              <a:rPr lang="ja-JP" altLang="en-US" sz="2800" b="1">
                <a:solidFill>
                  <a:srgbClr val="262626"/>
                </a:solidFill>
                <a:latin typeface="Meiryo"/>
                <a:ea typeface="Meiryo"/>
                <a:cs typeface="Meiryo"/>
              </a:rPr>
              <a:t>消失具合が強いほど動脈硬化性疾患と関連する。</a:t>
            </a:r>
          </a:p>
        </p:txBody>
      </p:sp>
      <p:sp>
        <p:nvSpPr>
          <p:cNvPr id="90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7. Dawber 1973　／　8. Cunningham 2023</a:t>
            </a:r>
          </a:p>
        </p:txBody>
      </p:sp>
      <p:sp>
        <p:nvSpPr>
          <p:cNvPr id="90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18/72</a:t>
            </a:r>
          </a:p>
        </p:txBody>
      </p:sp>
    </p:spTree>
    <p:extLst>
      <p:ext uri="{BB962C8B-B14F-4D97-AF65-F5344CB8AC3E}">
        <p14:creationId xmlns:p14="http://schemas.microsoft.com/office/powerpoint/2010/main" val="2705218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03" name="Off-page Connector 4">
            <a:extLst>
              <a:ext uri="{FF2B5EF4-FFF2-40B4-BE49-F238E27FC236}">
                <a16:creationId xmlns:a16="http://schemas.microsoft.com/office/drawing/2014/main" id="{74956F3D-E19A-EDD1-8019-2BEDCBF54DC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4" name="Off-page Connector 5">
            <a:extLst>
              <a:ext uri="{FF2B5EF4-FFF2-40B4-BE49-F238E27FC236}">
                <a16:creationId xmlns:a16="http://schemas.microsoft.com/office/drawing/2014/main" id="{70323696-E7DF-3856-E16B-DF7874ABAA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5" name="Off-page Connector 6">
            <a:extLst>
              <a:ext uri="{FF2B5EF4-FFF2-40B4-BE49-F238E27FC236}">
                <a16:creationId xmlns:a16="http://schemas.microsoft.com/office/drawing/2014/main" id="{DBE3ED70-EF18-AA7E-E12F-9A7FAB18A28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6" name="Off-page Connector 7">
            <a:extLst>
              <a:ext uri="{FF2B5EF4-FFF2-40B4-BE49-F238E27FC236}">
                <a16:creationId xmlns:a16="http://schemas.microsoft.com/office/drawing/2014/main" id="{620376B2-DB4A-3B9F-1142-2335FA12BFB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7" name="Off-page Connector 8">
            <a:extLst>
              <a:ext uri="{FF2B5EF4-FFF2-40B4-BE49-F238E27FC236}">
                <a16:creationId xmlns:a16="http://schemas.microsoft.com/office/drawing/2014/main" id="{6BFD8B17-10AA-A8B2-0F86-6AF9860541E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4956048"/>
          </a:xfrm>
          <a:prstGeom prst="rect">
            <a:avLst/>
          </a:prstGeom>
          <a:noFill/>
        </p:spPr>
        <p:txBody>
          <a:bodyPr wrap="square" lIns="0" tIns="0" rIns="0" bIns="0" anchor="t"/>
          <a:lstStyle/>
          <a:p>
            <a:pPr>
              <a:lnSpc>
                <a:spcPct val="142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42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42000"/>
              </a:lnSpc>
            </a:pPr>
            <a:r>
              <a:rPr sz="2700" b="1">
                <a:solidFill>
                  <a:srgbClr val="D9D9D9"/>
                </a:solidFill>
                <a:latin typeface="Meiryo"/>
                <a:ea typeface="Meiryo"/>
                <a:cs typeface="Meiryo"/>
              </a:rPr>
              <a:t>　2.1 </a:t>
            </a:r>
            <a:r>
              <a:rPr sz="2700" b="0">
                <a:solidFill>
                  <a:srgbClr val="808080"/>
                </a:solidFill>
                <a:latin typeface="Meiryo"/>
                <a:ea typeface="Meiryo"/>
                <a:cs typeface="Meiryo"/>
              </a:rPr>
              <a:t>加齢の影響</a:t>
            </a:r>
          </a:p>
          <a:p>
            <a:pPr>
              <a:lnSpc>
                <a:spcPct val="142000"/>
              </a:lnSpc>
            </a:pPr>
            <a:r>
              <a:rPr sz="2700" b="1">
                <a:solidFill>
                  <a:srgbClr val="BF9000"/>
                </a:solidFill>
                <a:latin typeface="Meiryo"/>
                <a:ea typeface="Meiryo"/>
                <a:cs typeface="Meiryo"/>
              </a:rPr>
              <a:t>　2.2 </a:t>
            </a:r>
            <a:r>
              <a:rPr sz="2700" b="1">
                <a:solidFill>
                  <a:srgbClr val="262626"/>
                </a:solidFill>
                <a:latin typeface="Meiryo"/>
                <a:ea typeface="Meiryo"/>
                <a:cs typeface="Meiryo"/>
              </a:rPr>
              <a:t>循環の変化</a:t>
            </a:r>
          </a:p>
          <a:p>
            <a:pPr>
              <a:lnSpc>
                <a:spcPct val="142000"/>
              </a:lnSpc>
            </a:pPr>
            <a:r>
              <a:rPr sz="2700" b="1">
                <a:solidFill>
                  <a:srgbClr val="D9D9D9"/>
                </a:solidFill>
                <a:latin typeface="Meiryo"/>
                <a:ea typeface="Meiryo"/>
                <a:cs typeface="Meiryo"/>
              </a:rPr>
              <a:t>　2.3 </a:t>
            </a:r>
            <a:r>
              <a:rPr sz="2700" b="0">
                <a:solidFill>
                  <a:srgbClr val="808080"/>
                </a:solidFill>
                <a:latin typeface="Meiryo"/>
                <a:ea typeface="Meiryo"/>
                <a:cs typeface="Meiryo"/>
              </a:rPr>
              <a:t>麻酔中の変化</a:t>
            </a:r>
          </a:p>
          <a:p>
            <a:pPr>
              <a:lnSpc>
                <a:spcPct val="142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42000"/>
              </a:lnSpc>
            </a:pPr>
            <a:r>
              <a:rPr sz="3000" b="1">
                <a:solidFill>
                  <a:srgbClr val="D9D9D9"/>
                </a:solidFill>
                <a:latin typeface="Meiryo"/>
                <a:ea typeface="Meiryo"/>
                <a:cs typeface="Meiryo"/>
              </a:rPr>
              <a:t>4. </a:t>
            </a:r>
            <a:r>
              <a:rPr sz="3000" b="0">
                <a:solidFill>
                  <a:srgbClr val="D9D9D9"/>
                </a:solidFill>
                <a:latin typeface="Meiryo"/>
                <a:ea typeface="Meiryo"/>
                <a:cs typeface="Meiryo"/>
              </a:rPr>
              <a:t>限界</a:t>
            </a:r>
          </a:p>
          <a:p>
            <a:pPr>
              <a:lnSpc>
                <a:spcPct val="142000"/>
              </a:lnSpc>
            </a:pPr>
            <a:r>
              <a:rPr sz="3000" b="1">
                <a:solidFill>
                  <a:srgbClr val="D9D9D9"/>
                </a:solidFill>
                <a:latin typeface="Meiryo"/>
                <a:ea typeface="Meiryo"/>
                <a:cs typeface="Meiryo"/>
              </a:rPr>
              <a:t>5. </a:t>
            </a:r>
            <a:r>
              <a:rPr sz="3000" b="0">
                <a:solidFill>
                  <a:srgbClr val="D9D9D9"/>
                </a:solidFill>
                <a:latin typeface="Meiryo"/>
                <a:ea typeface="Meiryo"/>
                <a:cs typeface="Meiryo"/>
              </a:rPr>
              <a:t>PDA（波形分解）</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2.2 </a:t>
            </a:r>
            <a:r>
              <a:rPr sz="3000" b="1">
                <a:solidFill>
                  <a:srgbClr val="262626"/>
                </a:solidFill>
                <a:latin typeface="Meiryo"/>
                <a:ea typeface="Meiryo"/>
                <a:cs typeface="Meiryo"/>
              </a:rPr>
              <a:t>循環の変化</a:t>
            </a:r>
          </a:p>
          <a:p>
            <a:pPr>
              <a:lnSpc>
                <a:spcPct val="142000"/>
              </a:lnSpc>
            </a:pPr>
            <a:r>
              <a:rPr sz="2700" b="1">
                <a:solidFill>
                  <a:srgbClr val="BF9000"/>
                </a:solidFill>
                <a:latin typeface="Meiryo"/>
                <a:ea typeface="Meiryo"/>
                <a:cs typeface="Meiryo"/>
              </a:rPr>
              <a:t>2.2.1 </a:t>
            </a:r>
            <a:r>
              <a:rPr sz="2700" b="0">
                <a:solidFill>
                  <a:srgbClr val="262626"/>
                </a:solidFill>
                <a:latin typeface="Meiryo"/>
                <a:ea typeface="Meiryo"/>
                <a:cs typeface="Meiryo"/>
              </a:rPr>
              <a:t>前負荷</a:t>
            </a:r>
          </a:p>
          <a:p>
            <a:pPr>
              <a:lnSpc>
                <a:spcPct val="142000"/>
              </a:lnSpc>
            </a:pPr>
            <a:r>
              <a:rPr sz="2700" b="1">
                <a:solidFill>
                  <a:srgbClr val="BF9000"/>
                </a:solidFill>
                <a:latin typeface="Meiryo"/>
                <a:ea typeface="Meiryo"/>
                <a:cs typeface="Meiryo"/>
              </a:rPr>
              <a:t>2.2.2 </a:t>
            </a:r>
            <a:r>
              <a:rPr sz="2700" b="0">
                <a:solidFill>
                  <a:srgbClr val="262626"/>
                </a:solidFill>
                <a:latin typeface="Meiryo"/>
                <a:ea typeface="Meiryo"/>
                <a:cs typeface="Meiryo"/>
              </a:rPr>
              <a:t>後負荷：末梢</a:t>
            </a:r>
          </a:p>
          <a:p>
            <a:pPr>
              <a:lnSpc>
                <a:spcPct val="142000"/>
              </a:lnSpc>
            </a:pPr>
            <a:r>
              <a:rPr sz="2700" b="1">
                <a:solidFill>
                  <a:srgbClr val="BF9000"/>
                </a:solidFill>
                <a:latin typeface="Meiryo"/>
                <a:ea typeface="Meiryo"/>
                <a:cs typeface="Meiryo"/>
              </a:rPr>
              <a:t>2.2.3 </a:t>
            </a:r>
            <a:r>
              <a:rPr sz="2700" b="0">
                <a:solidFill>
                  <a:srgbClr val="262626"/>
                </a:solidFill>
                <a:latin typeface="Meiryo"/>
                <a:ea typeface="Meiryo"/>
                <a:cs typeface="Meiryo"/>
              </a:rPr>
              <a:t>後負荷の違い</a:t>
            </a:r>
          </a:p>
          <a:p>
            <a:pPr>
              <a:lnSpc>
                <a:spcPct val="142000"/>
              </a:lnSpc>
            </a:pPr>
            <a:r>
              <a:rPr sz="2700" b="1">
                <a:solidFill>
                  <a:srgbClr val="BF9000"/>
                </a:solidFill>
                <a:latin typeface="Meiryo"/>
                <a:ea typeface="Meiryo"/>
                <a:cs typeface="Meiryo"/>
              </a:rPr>
              <a:t>2.2.4 </a:t>
            </a:r>
            <a:r>
              <a:rPr sz="2700" b="0">
                <a:solidFill>
                  <a:srgbClr val="262626"/>
                </a:solidFill>
                <a:latin typeface="Meiryo"/>
                <a:ea typeface="Meiryo"/>
                <a:cs typeface="Meiryo"/>
              </a:rPr>
              <a:t>心収縮力</a:t>
            </a:r>
          </a:p>
          <a:p>
            <a:pPr>
              <a:lnSpc>
                <a:spcPct val="142000"/>
              </a:lnSpc>
            </a:pPr>
            <a:r>
              <a:rPr sz="2700" b="1">
                <a:solidFill>
                  <a:srgbClr val="BF9000"/>
                </a:solidFill>
                <a:latin typeface="Meiryo"/>
                <a:ea typeface="Meiryo"/>
                <a:cs typeface="Meiryo"/>
              </a:rPr>
              <a:t>2.2.5 </a:t>
            </a:r>
            <a:r>
              <a:rPr sz="2700" b="0">
                <a:solidFill>
                  <a:srgbClr val="262626"/>
                </a:solidFill>
                <a:latin typeface="Meiryo"/>
                <a:ea typeface="Meiryo"/>
                <a:cs typeface="Meiryo"/>
              </a:rPr>
              <a:t>心拍数</a:t>
            </a:r>
          </a:p>
          <a:p>
            <a:pPr>
              <a:lnSpc>
                <a:spcPct val="142000"/>
              </a:lnSpc>
            </a:pPr>
            <a:r>
              <a:rPr sz="2700" b="1">
                <a:solidFill>
                  <a:srgbClr val="BF9000"/>
                </a:solidFill>
                <a:latin typeface="Meiryo"/>
                <a:ea typeface="Meiryo"/>
                <a:cs typeface="Meiryo"/>
              </a:rPr>
              <a:t>2.2.6 </a:t>
            </a:r>
            <a:r>
              <a:rPr sz="2700" b="0">
                <a:solidFill>
                  <a:srgbClr val="262626"/>
                </a:solidFill>
                <a:latin typeface="Meiryo"/>
                <a:ea typeface="Meiryo"/>
                <a:cs typeface="Meiryo"/>
              </a:rPr>
              <a:t>波形変化まとめ</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19/72</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8BC60-406C-AB35-6E25-6C26C37AA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9AE8E6-AFF7-0B1A-53C3-83B8DB469A70}"/>
              </a:ext>
            </a:extLst>
          </p:cNvPr>
          <p:cNvSpPr>
            <a:spLocks noGrp="1"/>
          </p:cNvSpPr>
          <p:nvPr>
            <p:ph type="title"/>
          </p:nvPr>
        </p:nvSpPr>
        <p:spPr/>
        <p:txBody>
          <a:bodyPr>
            <a:normAutofit/>
          </a:bodyPr>
          <a:lstStyle/>
          <a:p>
            <a:pPr algn="l"/>
            <a:r>
              <a:rPr sz="4600" dirty="0">
                <a:latin typeface="Meiryo"/>
                <a:ea typeface="Meiryo"/>
                <a:cs typeface="Meiryo"/>
              </a:rPr>
              <a:t>2.2.1  前負荷</a:t>
            </a:r>
          </a:p>
        </p:txBody>
      </p:sp>
      <p:sp>
        <p:nvSpPr>
          <p:cNvPr id="13" name="Off-page Connector 4">
            <a:extLst>
              <a:ext uri="{FF2B5EF4-FFF2-40B4-BE49-F238E27FC236}">
                <a16:creationId xmlns:a16="http://schemas.microsoft.com/office/drawing/2014/main" id="{26963288-D6CC-5161-0FD1-8819F2D90830}"/>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382384CD-2B24-41DF-9BE1-EF322BE7004E}"/>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D35840E4-246E-6456-1486-0D3C7096DEE7}"/>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93AE1F30-16AE-6EEF-D45F-9B4E35B0C990}"/>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475DFDAB-E462-B320-678B-2D7F9FEFD04D}"/>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4" name="図 3">
            <a:extLst>
              <a:ext uri="{FF2B5EF4-FFF2-40B4-BE49-F238E27FC236}">
                <a16:creationId xmlns:a16="http://schemas.microsoft.com/office/drawing/2014/main" id="{1DF4DAE4-C276-A673-424B-A341DE4BDD37}"/>
              </a:ext>
            </a:extLst>
          </p:cNvPr>
          <p:cNvPicPr>
            <a:picLocks noChangeAspect="1"/>
          </p:cNvPicPr>
          <p:nvPr/>
        </p:nvPicPr>
        <p:blipFill>
          <a:blip r:embed="rId3"/>
          <a:stretch>
            <a:fillRect/>
          </a:stretch>
        </p:blipFill>
        <p:spPr>
          <a:xfrm>
            <a:off x="313380" y="1662997"/>
            <a:ext cx="3940602" cy="3012788"/>
          </a:xfrm>
          <a:prstGeom prst="rect">
            <a:avLst/>
          </a:prstGeom>
        </p:spPr>
      </p:pic>
      <p:sp>
        <p:nvSpPr>
          <p:cNvPr id="6" name="テキスト ボックス 5">
            <a:extLst>
              <a:ext uri="{FF2B5EF4-FFF2-40B4-BE49-F238E27FC236}">
                <a16:creationId xmlns:a16="http://schemas.microsoft.com/office/drawing/2014/main" id="{E4F3E7F8-03AC-648B-BB45-D2A2EE8702AC}"/>
              </a:ext>
            </a:extLst>
          </p:cNvPr>
          <p:cNvSpPr txBox="1"/>
          <p:nvPr/>
        </p:nvSpPr>
        <p:spPr>
          <a:xfrm>
            <a:off x="338270" y="4854138"/>
            <a:ext cx="11515460" cy="1573508"/>
          </a:xfrm>
          <a:prstGeom prst="rect">
            <a:avLst/>
          </a:prstGeom>
          <a:noFill/>
        </p:spPr>
        <p:txBody>
          <a:bodyPr wrap="none" rtlCol="0">
            <a:spAutoFit/>
          </a:bodyPr>
          <a:lstStyle/>
          <a:p>
            <a:pPr>
              <a:lnSpc>
                <a:spcPct val="150000"/>
              </a:lnSpc>
            </a:pPr>
            <a:r>
              <a:rPr lang="ja-JP" altLang="en-US" sz="2200"/>
              <a:t>自発呼吸下の健常ボランティア</a:t>
            </a:r>
            <a:r>
              <a:rPr lang="en-US" altLang="ja-JP" sz="2200" dirty="0"/>
              <a:t>11</a:t>
            </a:r>
            <a:r>
              <a:rPr lang="ja-JP" altLang="en-US" sz="2200"/>
              <a:t>人に対し、下半身陰圧（</a:t>
            </a:r>
            <a:r>
              <a:rPr lang="en-US" altLang="ja-JP" sz="2200" dirty="0"/>
              <a:t>Lower body negative pressure</a:t>
            </a:r>
            <a:r>
              <a:rPr lang="ja-JP" altLang="en-US" sz="2200"/>
              <a:t>）で</a:t>
            </a:r>
            <a:endParaRPr lang="en-US" altLang="ja-JP" sz="2200" dirty="0"/>
          </a:p>
          <a:p>
            <a:pPr>
              <a:lnSpc>
                <a:spcPct val="150000"/>
              </a:lnSpc>
            </a:pPr>
            <a:r>
              <a:rPr lang="ja-JP" altLang="en-US" sz="2200"/>
              <a:t>循環血液量減少を再現し、</a:t>
            </a:r>
            <a:r>
              <a:rPr lang="en-US" altLang="ja-JP" sz="2200" dirty="0"/>
              <a:t>PPG</a:t>
            </a:r>
            <a:r>
              <a:rPr lang="ja-JP" altLang="en-US" sz="2200"/>
              <a:t>波形変化を観察した。</a:t>
            </a:r>
            <a:endParaRPr lang="en-US" altLang="ja-JP" sz="2200" dirty="0"/>
          </a:p>
          <a:p>
            <a:pPr>
              <a:lnSpc>
                <a:spcPct val="150000"/>
              </a:lnSpc>
            </a:pPr>
            <a:r>
              <a:rPr lang="ja-JP" altLang="en-US" sz="2200"/>
              <a:t>ピーク、高さ、幅、傾斜、面積の項目を検討。</a:t>
            </a:r>
            <a:endParaRPr lang="en-US" altLang="ja-JP" sz="2200" dirty="0"/>
          </a:p>
        </p:txBody>
      </p:sp>
      <p:pic>
        <p:nvPicPr>
          <p:cNvPr id="9" name="図 8">
            <a:extLst>
              <a:ext uri="{FF2B5EF4-FFF2-40B4-BE49-F238E27FC236}">
                <a16:creationId xmlns:a16="http://schemas.microsoft.com/office/drawing/2014/main" id="{8409AFFA-6FAF-66F4-C19C-48A04D529BCD}"/>
              </a:ext>
            </a:extLst>
          </p:cNvPr>
          <p:cNvPicPr>
            <a:picLocks noChangeAspect="1"/>
          </p:cNvPicPr>
          <p:nvPr/>
        </p:nvPicPr>
        <p:blipFill>
          <a:blip r:embed="rId4"/>
          <a:stretch>
            <a:fillRect/>
          </a:stretch>
        </p:blipFill>
        <p:spPr>
          <a:xfrm>
            <a:off x="4253982" y="1783314"/>
            <a:ext cx="7772400" cy="2365030"/>
          </a:xfrm>
          <a:prstGeom prst="rect">
            <a:avLst/>
          </a:prstGeom>
        </p:spPr>
      </p:pic>
      <p:sp>
        <p:nvSpPr>
          <p:cNvPr id="19" name="正方形/長方形 18">
            <a:extLst>
              <a:ext uri="{FF2B5EF4-FFF2-40B4-BE49-F238E27FC236}">
                <a16:creationId xmlns:a16="http://schemas.microsoft.com/office/drawing/2014/main" id="{BDBE8768-AAF0-0C39-482B-086EB88E8FD3}"/>
              </a:ext>
            </a:extLst>
          </p:cNvPr>
          <p:cNvSpPr/>
          <p:nvPr/>
        </p:nvSpPr>
        <p:spPr>
          <a:xfrm>
            <a:off x="6473371" y="1662997"/>
            <a:ext cx="406400" cy="3544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10. Alian 2011</a:t>
            </a:r>
          </a:p>
        </p:txBody>
      </p:sp>
      <p:sp>
        <p:nvSpPr>
          <p:cNvPr id="2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20/72</a:t>
            </a:r>
          </a:p>
        </p:txBody>
      </p:sp>
    </p:spTree>
    <p:extLst>
      <p:ext uri="{BB962C8B-B14F-4D97-AF65-F5344CB8AC3E}">
        <p14:creationId xmlns:p14="http://schemas.microsoft.com/office/powerpoint/2010/main" val="16116634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E30A6-2A5B-FC4D-3096-44A246F34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1CFE63-08C5-9A4F-1932-A931EC6F9A8F}"/>
              </a:ext>
            </a:extLst>
          </p:cNvPr>
          <p:cNvSpPr>
            <a:spLocks noGrp="1"/>
          </p:cNvSpPr>
          <p:nvPr>
            <p:ph type="title"/>
          </p:nvPr>
        </p:nvSpPr>
        <p:spPr/>
        <p:txBody>
          <a:bodyPr>
            <a:normAutofit/>
          </a:bodyPr>
          <a:lstStyle/>
          <a:p>
            <a:pPr algn="l"/>
            <a:r>
              <a:rPr sz="4600" dirty="0">
                <a:latin typeface="Meiryo"/>
                <a:ea typeface="Meiryo"/>
                <a:cs typeface="Meiryo"/>
              </a:rPr>
              <a:t>2.2.1  前負荷</a:t>
            </a:r>
          </a:p>
        </p:txBody>
      </p:sp>
      <p:sp>
        <p:nvSpPr>
          <p:cNvPr id="13" name="Off-page Connector 4">
            <a:extLst>
              <a:ext uri="{FF2B5EF4-FFF2-40B4-BE49-F238E27FC236}">
                <a16:creationId xmlns:a16="http://schemas.microsoft.com/office/drawing/2014/main" id="{BB430936-BF81-CADE-E9A4-F650B73DB6A9}"/>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34433F5A-EB95-5445-9E58-B41A531867DB}"/>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66B151D6-0B8E-7C8B-7284-D5E615151D8B}"/>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CAB8C086-C182-C46B-478C-16D81A95A8F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E0FE34E6-4AB2-3F68-108C-4E3DBE5DB32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5" name="図 4">
            <a:extLst>
              <a:ext uri="{FF2B5EF4-FFF2-40B4-BE49-F238E27FC236}">
                <a16:creationId xmlns:a16="http://schemas.microsoft.com/office/drawing/2014/main" id="{CC5DFA9D-C3D7-B753-C02F-F00F3F11CAB2}"/>
              </a:ext>
            </a:extLst>
          </p:cNvPr>
          <p:cNvPicPr>
            <a:picLocks noChangeAspect="1"/>
          </p:cNvPicPr>
          <p:nvPr/>
        </p:nvPicPr>
        <p:blipFill>
          <a:blip r:embed="rId3"/>
          <a:srcRect l="1551" b="2497"/>
          <a:stretch>
            <a:fillRect/>
          </a:stretch>
        </p:blipFill>
        <p:spPr>
          <a:xfrm>
            <a:off x="295933" y="1690688"/>
            <a:ext cx="7258586" cy="4697309"/>
          </a:xfrm>
          <a:prstGeom prst="rect">
            <a:avLst/>
          </a:prstGeom>
        </p:spPr>
      </p:pic>
      <p:pic>
        <p:nvPicPr>
          <p:cNvPr id="3" name="Picture 8" descr="09b_preload_overlay.png">
            <a:extLst>
              <a:ext uri="{FF2B5EF4-FFF2-40B4-BE49-F238E27FC236}">
                <a16:creationId xmlns:a16="http://schemas.microsoft.com/office/drawing/2014/main" id="{68CE830F-1028-A26D-05F5-066DFC60D4C7}"/>
              </a:ext>
            </a:extLst>
          </p:cNvPr>
          <p:cNvPicPr>
            <a:picLocks noChangeAspect="1"/>
          </p:cNvPicPr>
          <p:nvPr/>
        </p:nvPicPr>
        <p:blipFill>
          <a:blip r:embed="rId4"/>
          <a:srcRect t="22374" r="28310"/>
          <a:stretch>
            <a:fillRect/>
          </a:stretch>
        </p:blipFill>
        <p:spPr>
          <a:xfrm>
            <a:off x="7199538" y="2753186"/>
            <a:ext cx="5391438" cy="2694404"/>
          </a:xfrm>
          <a:prstGeom prst="rect">
            <a:avLst/>
          </a:prstGeom>
        </p:spPr>
      </p:pic>
      <p:sp>
        <p:nvSpPr>
          <p:cNvPr id="7" name="lg1">
            <a:extLst>
              <a:ext uri="{FF2B5EF4-FFF2-40B4-BE49-F238E27FC236}">
                <a16:creationId xmlns:a16="http://schemas.microsoft.com/office/drawing/2014/main" id="{818DCE95-A46E-741B-4692-46C7F3A7DA8D}"/>
              </a:ext>
            </a:extLst>
          </p:cNvPr>
          <p:cNvSpPr txBox="1"/>
          <p:nvPr/>
        </p:nvSpPr>
        <p:spPr>
          <a:xfrm>
            <a:off x="10406786" y="2105925"/>
            <a:ext cx="1785214" cy="211487"/>
          </a:xfrm>
          <a:prstGeom prst="rect">
            <a:avLst/>
          </a:prstGeom>
          <a:noFill/>
        </p:spPr>
        <p:txBody>
          <a:bodyPr wrap="square" lIns="0" tIns="0" rIns="0" bIns="0" anchor="t">
            <a:noAutofit/>
          </a:bodyPr>
          <a:lstStyle/>
          <a:p>
            <a:pPr algn="l"/>
            <a:r>
              <a:rPr lang="ja-JP" altLang="en-US" sz="2200" b="1" dirty="0">
                <a:solidFill>
                  <a:srgbClr val="70AD47"/>
                </a:solidFill>
                <a:latin typeface="Meiryo"/>
                <a:ea typeface="Meiryo"/>
                <a:cs typeface="Meiryo"/>
              </a:rPr>
              <a:t>正常前負荷</a:t>
            </a:r>
          </a:p>
        </p:txBody>
      </p:sp>
      <p:sp>
        <p:nvSpPr>
          <p:cNvPr id="9" name="lg2">
            <a:extLst>
              <a:ext uri="{FF2B5EF4-FFF2-40B4-BE49-F238E27FC236}">
                <a16:creationId xmlns:a16="http://schemas.microsoft.com/office/drawing/2014/main" id="{9B60C0BF-4ADF-41B8-E481-AFF9CDF58DA0}"/>
              </a:ext>
            </a:extLst>
          </p:cNvPr>
          <p:cNvSpPr txBox="1"/>
          <p:nvPr/>
        </p:nvSpPr>
        <p:spPr>
          <a:xfrm>
            <a:off x="10406786" y="2567812"/>
            <a:ext cx="2604167" cy="614258"/>
          </a:xfrm>
          <a:prstGeom prst="rect">
            <a:avLst/>
          </a:prstGeom>
          <a:noFill/>
        </p:spPr>
        <p:txBody>
          <a:bodyPr wrap="square" lIns="0" tIns="0" rIns="0" bIns="0" anchor="t">
            <a:noAutofit/>
          </a:bodyPr>
          <a:lstStyle/>
          <a:p>
            <a:pPr algn="l"/>
            <a:r>
              <a:rPr lang="ja-JP" altLang="en-US" sz="2200" b="1">
                <a:solidFill>
                  <a:srgbClr val="E8853B"/>
                </a:solidFill>
                <a:latin typeface="Meiryo"/>
                <a:ea typeface="Meiryo"/>
                <a:cs typeface="Meiryo"/>
              </a:rPr>
              <a:t>前負荷低下</a:t>
            </a:r>
            <a:endParaRPr lang="en-US" altLang="ja-JP" sz="2200" b="1" dirty="0">
              <a:solidFill>
                <a:srgbClr val="E8853B"/>
              </a:solidFill>
              <a:latin typeface="Meiryo"/>
              <a:ea typeface="Meiryo"/>
              <a:cs typeface="Meiryo"/>
            </a:endParaRPr>
          </a:p>
          <a:p>
            <a:pPr algn="l"/>
            <a:r>
              <a:rPr lang="ja-JP" altLang="en-US" sz="2200" b="1">
                <a:solidFill>
                  <a:srgbClr val="E8853B"/>
                </a:solidFill>
                <a:latin typeface="Meiryo"/>
                <a:ea typeface="Meiryo"/>
                <a:cs typeface="Meiryo"/>
              </a:rPr>
              <a:t>（LBNP）</a:t>
            </a:r>
            <a:endParaRPr lang="ja-JP" altLang="en-US" sz="2200" b="1" dirty="0">
              <a:solidFill>
                <a:srgbClr val="E8853B"/>
              </a:solidFill>
              <a:latin typeface="Meiryo"/>
              <a:ea typeface="Meiryo"/>
              <a:cs typeface="Meiryo"/>
            </a:endParaRPr>
          </a:p>
        </p:txBody>
      </p:sp>
      <p:pic>
        <p:nvPicPr>
          <p:cNvPr id="18" name="Picture 8" descr="09b_preload_overlay.png">
            <a:extLst>
              <a:ext uri="{FF2B5EF4-FFF2-40B4-BE49-F238E27FC236}">
                <a16:creationId xmlns:a16="http://schemas.microsoft.com/office/drawing/2014/main" id="{EE87D3CC-BEB4-3BE0-2AD3-E01ABF10B594}"/>
              </a:ext>
            </a:extLst>
          </p:cNvPr>
          <p:cNvPicPr>
            <a:picLocks noChangeAspect="1"/>
          </p:cNvPicPr>
          <p:nvPr/>
        </p:nvPicPr>
        <p:blipFill>
          <a:blip r:embed="rId4"/>
          <a:srcRect l="56359" r="31022" b="72445"/>
          <a:stretch>
            <a:fillRect/>
          </a:stretch>
        </p:blipFill>
        <p:spPr>
          <a:xfrm>
            <a:off x="8897795" y="1792010"/>
            <a:ext cx="1543195" cy="1555256"/>
          </a:xfrm>
          <a:prstGeom prst="rect">
            <a:avLst/>
          </a:prstGeom>
        </p:spPr>
      </p:pic>
      <p:sp>
        <p:nvSpPr>
          <p:cNvPr id="4" name="callout">
            <a:extLst>
              <a:ext uri="{FF2B5EF4-FFF2-40B4-BE49-F238E27FC236}">
                <a16:creationId xmlns:a16="http://schemas.microsoft.com/office/drawing/2014/main" id="{1781950C-5AA7-ED02-0C1A-220540C87262}"/>
              </a:ext>
            </a:extLst>
          </p:cNvPr>
          <p:cNvSpPr/>
          <p:nvPr/>
        </p:nvSpPr>
        <p:spPr>
          <a:xfrm>
            <a:off x="7673745" y="5218959"/>
            <a:ext cx="4341548" cy="82801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400" b="1">
                <a:solidFill>
                  <a:srgbClr val="262626"/>
                </a:solidFill>
                <a:latin typeface="Meiryo"/>
                <a:ea typeface="Meiryo"/>
                <a:cs typeface="Meiryo"/>
              </a:rPr>
              <a:t>高さ・面積・傾き・幅 が低下</a:t>
            </a:r>
            <a:endParaRPr lang="ja-JP" altLang="en-US" sz="2400" b="1" dirty="0">
              <a:solidFill>
                <a:srgbClr val="262626"/>
              </a:solidFill>
              <a:latin typeface="Meiryo"/>
              <a:ea typeface="Meiryo"/>
              <a:cs typeface="Meiryo"/>
            </a:endParaRPr>
          </a:p>
        </p:txBody>
      </p:sp>
      <p:sp>
        <p:nvSpPr>
          <p:cNvPr id="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10. Alian 2011</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20/72</a:t>
            </a:r>
          </a:p>
        </p:txBody>
      </p:sp>
    </p:spTree>
    <p:extLst>
      <p:ext uri="{BB962C8B-B14F-4D97-AF65-F5344CB8AC3E}">
        <p14:creationId xmlns:p14="http://schemas.microsoft.com/office/powerpoint/2010/main" val="27249950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53AE4-12D1-0CF5-A97A-DCFA55FB8828}"/>
            </a:ext>
          </a:extLst>
        </p:cNvPr>
        <p:cNvGrpSpPr/>
        <p:nvPr/>
      </p:nvGrpSpPr>
      <p:grpSpPr>
        <a:xfrm>
          <a:off x="0" y="0"/>
          <a:ext cx="0" cy="0"/>
          <a:chOff x="0" y="0"/>
          <a:chExt cx="0" cy="0"/>
        </a:xfrm>
      </p:grpSpPr>
      <p:pic>
        <p:nvPicPr>
          <p:cNvPr id="3" name="Picture 8" descr="10_svr.png">
            <a:extLst>
              <a:ext uri="{FF2B5EF4-FFF2-40B4-BE49-F238E27FC236}">
                <a16:creationId xmlns:a16="http://schemas.microsoft.com/office/drawing/2014/main" id="{7356DC41-20D4-C3A9-2FA2-9A406D2F7F39}"/>
              </a:ext>
            </a:extLst>
          </p:cNvPr>
          <p:cNvPicPr>
            <a:picLocks noChangeAspect="1"/>
          </p:cNvPicPr>
          <p:nvPr/>
        </p:nvPicPr>
        <p:blipFill>
          <a:blip r:embed="rId3"/>
          <a:srcRect l="50922" t="26379"/>
          <a:stretch>
            <a:fillRect/>
          </a:stretch>
        </p:blipFill>
        <p:spPr>
          <a:xfrm>
            <a:off x="7127061" y="3951766"/>
            <a:ext cx="2679535" cy="2257353"/>
          </a:xfrm>
          <a:prstGeom prst="rect">
            <a:avLst/>
          </a:prstGeom>
        </p:spPr>
      </p:pic>
      <p:sp>
        <p:nvSpPr>
          <p:cNvPr id="2" name="Title 1">
            <a:extLst>
              <a:ext uri="{FF2B5EF4-FFF2-40B4-BE49-F238E27FC236}">
                <a16:creationId xmlns:a16="http://schemas.microsoft.com/office/drawing/2014/main" id="{CC555787-B884-6BA7-F3AA-5408C737906E}"/>
              </a:ext>
            </a:extLst>
          </p:cNvPr>
          <p:cNvSpPr>
            <a:spLocks noGrp="1"/>
          </p:cNvSpPr>
          <p:nvPr>
            <p:ph type="title"/>
          </p:nvPr>
        </p:nvSpPr>
        <p:spPr/>
        <p:txBody>
          <a:bodyPr>
            <a:normAutofit/>
          </a:bodyPr>
          <a:lstStyle/>
          <a:p>
            <a:pPr algn="l"/>
            <a:r>
              <a:rPr sz="4600" dirty="0">
                <a:latin typeface="Meiryo"/>
                <a:ea typeface="Meiryo"/>
                <a:cs typeface="Meiryo"/>
              </a:rPr>
              <a:t>2.2.2  後負荷：末梢</a:t>
            </a:r>
          </a:p>
        </p:txBody>
      </p:sp>
      <p:sp>
        <p:nvSpPr>
          <p:cNvPr id="13" name="Off-page Connector 4">
            <a:extLst>
              <a:ext uri="{FF2B5EF4-FFF2-40B4-BE49-F238E27FC236}">
                <a16:creationId xmlns:a16="http://schemas.microsoft.com/office/drawing/2014/main" id="{D636C95D-DB7D-0974-7314-B94868B13417}"/>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9D3908B6-884F-A3C2-250E-298711EB5D90}"/>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9C5DA544-8DA7-FFDE-3A04-58A3DB87D66B}"/>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18610E29-7B73-C4FB-A7D5-A25DCFF9A99B}"/>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D81379C4-00EB-AD7E-D19C-D28035851DA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0_svr.png">
            <a:extLst>
              <a:ext uri="{FF2B5EF4-FFF2-40B4-BE49-F238E27FC236}">
                <a16:creationId xmlns:a16="http://schemas.microsoft.com/office/drawing/2014/main" id="{2BA34126-022A-3DDD-0F79-8FEE29376CAC}"/>
              </a:ext>
            </a:extLst>
          </p:cNvPr>
          <p:cNvPicPr>
            <a:picLocks noChangeAspect="1"/>
          </p:cNvPicPr>
          <p:nvPr/>
        </p:nvPicPr>
        <p:blipFill>
          <a:blip r:embed="rId3"/>
          <a:srcRect t="26379" r="50923"/>
          <a:stretch>
            <a:fillRect/>
          </a:stretch>
        </p:blipFill>
        <p:spPr>
          <a:xfrm>
            <a:off x="7096159" y="1769217"/>
            <a:ext cx="2679535" cy="2257353"/>
          </a:xfrm>
          <a:prstGeom prst="rect">
            <a:avLst/>
          </a:prstGeom>
        </p:spPr>
      </p:pic>
      <p:sp>
        <p:nvSpPr>
          <p:cNvPr id="361" name="t_l">
            <a:extLst>
              <a:ext uri="{FF2B5EF4-FFF2-40B4-BE49-F238E27FC236}">
                <a16:creationId xmlns:a16="http://schemas.microsoft.com/office/drawing/2014/main" id="{617D00CD-0BCE-FB86-85CC-8377B455D112}"/>
              </a:ext>
            </a:extLst>
          </p:cNvPr>
          <p:cNvSpPr txBox="1"/>
          <p:nvPr/>
        </p:nvSpPr>
        <p:spPr>
          <a:xfrm>
            <a:off x="7992795" y="1821510"/>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血管拡張（ト⁠ー⁠ヌ⁠ス↓）</a:t>
            </a:r>
          </a:p>
        </p:txBody>
      </p:sp>
      <p:sp>
        <p:nvSpPr>
          <p:cNvPr id="362" name="t_r">
            <a:extLst>
              <a:ext uri="{FF2B5EF4-FFF2-40B4-BE49-F238E27FC236}">
                <a16:creationId xmlns:a16="http://schemas.microsoft.com/office/drawing/2014/main" id="{29C3172F-1A04-41E8-E03B-40077384F00A}"/>
              </a:ext>
            </a:extLst>
          </p:cNvPr>
          <p:cNvSpPr txBox="1"/>
          <p:nvPr/>
        </p:nvSpPr>
        <p:spPr>
          <a:xfrm>
            <a:off x="8023697" y="3974908"/>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血管収縮（ト⁠ー⁠ヌ⁠ス↑）</a:t>
            </a:r>
          </a:p>
        </p:txBody>
      </p:sp>
      <p:pic>
        <p:nvPicPr>
          <p:cNvPr id="4" name="図 3">
            <a:extLst>
              <a:ext uri="{FF2B5EF4-FFF2-40B4-BE49-F238E27FC236}">
                <a16:creationId xmlns:a16="http://schemas.microsoft.com/office/drawing/2014/main" id="{FA304C0D-1D7A-8D2C-0191-02206FD3C5C7}"/>
              </a:ext>
            </a:extLst>
          </p:cNvPr>
          <p:cNvPicPr>
            <a:picLocks noChangeAspect="1"/>
          </p:cNvPicPr>
          <p:nvPr/>
        </p:nvPicPr>
        <p:blipFill>
          <a:blip r:embed="rId4"/>
          <a:srcRect r="48043" b="54220"/>
          <a:stretch>
            <a:fillRect/>
          </a:stretch>
        </p:blipFill>
        <p:spPr>
          <a:xfrm>
            <a:off x="3410583" y="3951766"/>
            <a:ext cx="2782676" cy="1796991"/>
          </a:xfrm>
          <a:prstGeom prst="rect">
            <a:avLst/>
          </a:prstGeom>
        </p:spPr>
      </p:pic>
      <p:pic>
        <p:nvPicPr>
          <p:cNvPr id="5" name="図 4">
            <a:extLst>
              <a:ext uri="{FF2B5EF4-FFF2-40B4-BE49-F238E27FC236}">
                <a16:creationId xmlns:a16="http://schemas.microsoft.com/office/drawing/2014/main" id="{94999B29-D753-BFA3-6518-C23DF092F91E}"/>
              </a:ext>
            </a:extLst>
          </p:cNvPr>
          <p:cNvPicPr>
            <a:picLocks noChangeAspect="1"/>
          </p:cNvPicPr>
          <p:nvPr/>
        </p:nvPicPr>
        <p:blipFill>
          <a:blip r:embed="rId5"/>
          <a:srcRect t="3209" r="47305" b="51417"/>
          <a:stretch>
            <a:fillRect/>
          </a:stretch>
        </p:blipFill>
        <p:spPr>
          <a:xfrm>
            <a:off x="3429436" y="1791233"/>
            <a:ext cx="2782676" cy="1796991"/>
          </a:xfrm>
          <a:prstGeom prst="rect">
            <a:avLst/>
          </a:prstGeom>
        </p:spPr>
      </p:pic>
      <p:sp>
        <p:nvSpPr>
          <p:cNvPr id="6" name="テキスト ボックス 5">
            <a:extLst>
              <a:ext uri="{FF2B5EF4-FFF2-40B4-BE49-F238E27FC236}">
                <a16:creationId xmlns:a16="http://schemas.microsoft.com/office/drawing/2014/main" id="{F4A0F85A-3673-3E17-A05A-E12333A95C66}"/>
              </a:ext>
            </a:extLst>
          </p:cNvPr>
          <p:cNvSpPr txBox="1"/>
          <p:nvPr/>
        </p:nvSpPr>
        <p:spPr>
          <a:xfrm>
            <a:off x="776779" y="4647509"/>
            <a:ext cx="2749471" cy="400110"/>
          </a:xfrm>
          <a:prstGeom prst="rect">
            <a:avLst/>
          </a:prstGeom>
          <a:noFill/>
        </p:spPr>
        <p:txBody>
          <a:bodyPr wrap="none" rtlCol="0">
            <a:spAutoFit/>
          </a:bodyPr>
          <a:lstStyle/>
          <a:p>
            <a:r>
              <a:rPr kumimoji="1" lang="ja-JP" altLang="en-US" sz="2000" b="1"/>
              <a:t>アンジオテンシン投与</a:t>
            </a:r>
          </a:p>
        </p:txBody>
      </p:sp>
      <p:sp>
        <p:nvSpPr>
          <p:cNvPr id="7" name="テキスト ボックス 6">
            <a:extLst>
              <a:ext uri="{FF2B5EF4-FFF2-40B4-BE49-F238E27FC236}">
                <a16:creationId xmlns:a16="http://schemas.microsoft.com/office/drawing/2014/main" id="{E7DEAB5A-38B4-A4E8-7836-B7E43B0F40F4}"/>
              </a:ext>
            </a:extLst>
          </p:cNvPr>
          <p:cNvSpPr txBox="1"/>
          <p:nvPr/>
        </p:nvSpPr>
        <p:spPr>
          <a:xfrm>
            <a:off x="776779" y="2487171"/>
            <a:ext cx="2749471" cy="400110"/>
          </a:xfrm>
          <a:prstGeom prst="rect">
            <a:avLst/>
          </a:prstGeom>
          <a:noFill/>
        </p:spPr>
        <p:txBody>
          <a:bodyPr wrap="none" rtlCol="0">
            <a:spAutoFit/>
          </a:bodyPr>
          <a:lstStyle/>
          <a:p>
            <a:r>
              <a:rPr kumimoji="1" lang="ja-JP" altLang="en-US" sz="2000" b="1"/>
              <a:t>ニトログリセリン投与</a:t>
            </a:r>
          </a:p>
        </p:txBody>
      </p:sp>
      <p:sp>
        <p:nvSpPr>
          <p:cNvPr id="19" name="テキスト ボックス 18">
            <a:extLst>
              <a:ext uri="{FF2B5EF4-FFF2-40B4-BE49-F238E27FC236}">
                <a16:creationId xmlns:a16="http://schemas.microsoft.com/office/drawing/2014/main" id="{D5A65DD6-5058-26B0-247A-72F1D01B1E45}"/>
              </a:ext>
            </a:extLst>
          </p:cNvPr>
          <p:cNvSpPr txBox="1"/>
          <p:nvPr/>
        </p:nvSpPr>
        <p:spPr>
          <a:xfrm>
            <a:off x="1593004" y="6023470"/>
            <a:ext cx="9005992" cy="461665"/>
          </a:xfrm>
          <a:prstGeom prst="rect">
            <a:avLst/>
          </a:prstGeom>
          <a:noFill/>
        </p:spPr>
        <p:txBody>
          <a:bodyPr wrap="none" rtlCol="0">
            <a:spAutoFit/>
          </a:bodyPr>
          <a:lstStyle/>
          <a:p>
            <a:r>
              <a:rPr kumimoji="1" lang="ja-JP" altLang="en-US" sz="2400"/>
              <a:t>健常成人ボランティアに血管拡張・収縮薬投与で</a:t>
            </a:r>
            <a:r>
              <a:rPr kumimoji="1" lang="en-US" altLang="ja-JP" sz="2400" dirty="0"/>
              <a:t>PPG</a:t>
            </a:r>
            <a:r>
              <a:rPr kumimoji="1" lang="ja-JP" altLang="en-US" sz="2400"/>
              <a:t>変化をみた</a:t>
            </a:r>
          </a:p>
        </p:txBody>
      </p:sp>
      <p:sp>
        <p:nvSpPr>
          <p:cNvPr id="36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　／　12. Millasseau 2003</a:t>
            </a:r>
          </a:p>
        </p:txBody>
      </p:sp>
      <p:sp>
        <p:nvSpPr>
          <p:cNvPr id="36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21/72</a:t>
            </a:r>
          </a:p>
        </p:txBody>
      </p:sp>
    </p:spTree>
    <p:extLst>
      <p:ext uri="{BB962C8B-B14F-4D97-AF65-F5344CB8AC3E}">
        <p14:creationId xmlns:p14="http://schemas.microsoft.com/office/powerpoint/2010/main" val="36977261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65079-4508-5497-F141-DE50AAEB0CD4}"/>
            </a:ext>
          </a:extLst>
        </p:cNvPr>
        <p:cNvGrpSpPr/>
        <p:nvPr/>
      </p:nvGrpSpPr>
      <p:grpSpPr>
        <a:xfrm>
          <a:off x="0" y="0"/>
          <a:ext cx="0" cy="0"/>
          <a:chOff x="0" y="0"/>
          <a:chExt cx="0" cy="0"/>
        </a:xfrm>
      </p:grpSpPr>
      <p:pic>
        <p:nvPicPr>
          <p:cNvPr id="3" name="Picture 8" descr="10_svr.png">
            <a:extLst>
              <a:ext uri="{FF2B5EF4-FFF2-40B4-BE49-F238E27FC236}">
                <a16:creationId xmlns:a16="http://schemas.microsoft.com/office/drawing/2014/main" id="{362C4290-EED1-422F-7FB5-DE381B417B94}"/>
              </a:ext>
            </a:extLst>
          </p:cNvPr>
          <p:cNvPicPr>
            <a:picLocks noChangeAspect="1"/>
          </p:cNvPicPr>
          <p:nvPr/>
        </p:nvPicPr>
        <p:blipFill>
          <a:blip r:embed="rId3"/>
          <a:srcRect l="50922" t="26379"/>
          <a:stretch>
            <a:fillRect/>
          </a:stretch>
        </p:blipFill>
        <p:spPr>
          <a:xfrm>
            <a:off x="7127061" y="3951766"/>
            <a:ext cx="2679535" cy="2257353"/>
          </a:xfrm>
          <a:prstGeom prst="rect">
            <a:avLst/>
          </a:prstGeom>
        </p:spPr>
      </p:pic>
      <p:sp>
        <p:nvSpPr>
          <p:cNvPr id="2" name="Title 1">
            <a:extLst>
              <a:ext uri="{FF2B5EF4-FFF2-40B4-BE49-F238E27FC236}">
                <a16:creationId xmlns:a16="http://schemas.microsoft.com/office/drawing/2014/main" id="{1F8D11BB-63E2-2C0D-B496-60630080BA1D}"/>
              </a:ext>
            </a:extLst>
          </p:cNvPr>
          <p:cNvSpPr>
            <a:spLocks noGrp="1"/>
          </p:cNvSpPr>
          <p:nvPr>
            <p:ph type="title"/>
          </p:nvPr>
        </p:nvSpPr>
        <p:spPr/>
        <p:txBody>
          <a:bodyPr>
            <a:normAutofit/>
          </a:bodyPr>
          <a:lstStyle/>
          <a:p>
            <a:pPr algn="l"/>
            <a:r>
              <a:rPr sz="4600" dirty="0">
                <a:latin typeface="Meiryo"/>
                <a:ea typeface="Meiryo"/>
                <a:cs typeface="Meiryo"/>
              </a:rPr>
              <a:t>2.2.2  後負荷：末梢</a:t>
            </a:r>
          </a:p>
        </p:txBody>
      </p:sp>
      <p:sp>
        <p:nvSpPr>
          <p:cNvPr id="13" name="Off-page Connector 4">
            <a:extLst>
              <a:ext uri="{FF2B5EF4-FFF2-40B4-BE49-F238E27FC236}">
                <a16:creationId xmlns:a16="http://schemas.microsoft.com/office/drawing/2014/main" id="{C083CA8D-3BBE-F5CA-B54B-8409E047B57B}"/>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FBE6D318-39BC-0336-CD5D-ADDF24B6F10E}"/>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9502A3E9-1080-0116-E2BC-E596A6E5C21A}"/>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084FD6F8-1B4F-A6F3-1451-20BF39490F7F}"/>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7BF977B-436D-4F41-8C39-B2239A9F9D2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0_svr.png">
            <a:extLst>
              <a:ext uri="{FF2B5EF4-FFF2-40B4-BE49-F238E27FC236}">
                <a16:creationId xmlns:a16="http://schemas.microsoft.com/office/drawing/2014/main" id="{402398F5-DD06-139E-7A44-EE16134071DF}"/>
              </a:ext>
            </a:extLst>
          </p:cNvPr>
          <p:cNvPicPr>
            <a:picLocks noChangeAspect="1"/>
          </p:cNvPicPr>
          <p:nvPr/>
        </p:nvPicPr>
        <p:blipFill>
          <a:blip r:embed="rId3"/>
          <a:srcRect t="26379" r="50923"/>
          <a:stretch>
            <a:fillRect/>
          </a:stretch>
        </p:blipFill>
        <p:spPr>
          <a:xfrm>
            <a:off x="7096159" y="1769217"/>
            <a:ext cx="2679535" cy="2257353"/>
          </a:xfrm>
          <a:prstGeom prst="rect">
            <a:avLst/>
          </a:prstGeom>
        </p:spPr>
      </p:pic>
      <p:sp>
        <p:nvSpPr>
          <p:cNvPr id="361" name="t_l">
            <a:extLst>
              <a:ext uri="{FF2B5EF4-FFF2-40B4-BE49-F238E27FC236}">
                <a16:creationId xmlns:a16="http://schemas.microsoft.com/office/drawing/2014/main" id="{4B67D30A-7DF0-7C19-4766-97B9ECCFC945}"/>
              </a:ext>
            </a:extLst>
          </p:cNvPr>
          <p:cNvSpPr txBox="1"/>
          <p:nvPr/>
        </p:nvSpPr>
        <p:spPr>
          <a:xfrm>
            <a:off x="7992795" y="1821510"/>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血管拡張（ト⁠ー⁠ヌ⁠ス↓）</a:t>
            </a:r>
          </a:p>
        </p:txBody>
      </p:sp>
      <p:sp>
        <p:nvSpPr>
          <p:cNvPr id="362" name="t_r">
            <a:extLst>
              <a:ext uri="{FF2B5EF4-FFF2-40B4-BE49-F238E27FC236}">
                <a16:creationId xmlns:a16="http://schemas.microsoft.com/office/drawing/2014/main" id="{61F99186-825D-A604-DC5F-FD6FD8767F62}"/>
              </a:ext>
            </a:extLst>
          </p:cNvPr>
          <p:cNvSpPr txBox="1"/>
          <p:nvPr/>
        </p:nvSpPr>
        <p:spPr>
          <a:xfrm>
            <a:off x="8023697" y="3974908"/>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血管収縮（ト⁠ー⁠ヌ⁠ス↑）</a:t>
            </a:r>
          </a:p>
        </p:txBody>
      </p:sp>
      <p:pic>
        <p:nvPicPr>
          <p:cNvPr id="4" name="図 3">
            <a:extLst>
              <a:ext uri="{FF2B5EF4-FFF2-40B4-BE49-F238E27FC236}">
                <a16:creationId xmlns:a16="http://schemas.microsoft.com/office/drawing/2014/main" id="{015AD26D-E5C6-2A54-3035-ED8289FFCE0A}"/>
              </a:ext>
            </a:extLst>
          </p:cNvPr>
          <p:cNvPicPr>
            <a:picLocks noChangeAspect="1"/>
          </p:cNvPicPr>
          <p:nvPr/>
        </p:nvPicPr>
        <p:blipFill>
          <a:blip r:embed="rId4"/>
          <a:srcRect r="48043" b="54220"/>
          <a:stretch>
            <a:fillRect/>
          </a:stretch>
        </p:blipFill>
        <p:spPr>
          <a:xfrm>
            <a:off x="3410583" y="3951766"/>
            <a:ext cx="2782676" cy="1796991"/>
          </a:xfrm>
          <a:prstGeom prst="rect">
            <a:avLst/>
          </a:prstGeom>
        </p:spPr>
      </p:pic>
      <p:pic>
        <p:nvPicPr>
          <p:cNvPr id="5" name="図 4">
            <a:extLst>
              <a:ext uri="{FF2B5EF4-FFF2-40B4-BE49-F238E27FC236}">
                <a16:creationId xmlns:a16="http://schemas.microsoft.com/office/drawing/2014/main" id="{1270D8DB-21FC-FF91-74DE-8B78AF8E028C}"/>
              </a:ext>
            </a:extLst>
          </p:cNvPr>
          <p:cNvPicPr>
            <a:picLocks noChangeAspect="1"/>
          </p:cNvPicPr>
          <p:nvPr/>
        </p:nvPicPr>
        <p:blipFill>
          <a:blip r:embed="rId5"/>
          <a:srcRect t="3209" r="47305" b="51417"/>
          <a:stretch>
            <a:fillRect/>
          </a:stretch>
        </p:blipFill>
        <p:spPr>
          <a:xfrm>
            <a:off x="3429436" y="1791233"/>
            <a:ext cx="2782676" cy="1796991"/>
          </a:xfrm>
          <a:prstGeom prst="rect">
            <a:avLst/>
          </a:prstGeom>
        </p:spPr>
      </p:pic>
      <p:sp>
        <p:nvSpPr>
          <p:cNvPr id="6" name="テキスト ボックス 5">
            <a:extLst>
              <a:ext uri="{FF2B5EF4-FFF2-40B4-BE49-F238E27FC236}">
                <a16:creationId xmlns:a16="http://schemas.microsoft.com/office/drawing/2014/main" id="{316FD39C-1145-369B-2504-A1474B245055}"/>
              </a:ext>
            </a:extLst>
          </p:cNvPr>
          <p:cNvSpPr txBox="1"/>
          <p:nvPr/>
        </p:nvSpPr>
        <p:spPr>
          <a:xfrm>
            <a:off x="776779" y="4647509"/>
            <a:ext cx="2749471" cy="400110"/>
          </a:xfrm>
          <a:prstGeom prst="rect">
            <a:avLst/>
          </a:prstGeom>
          <a:noFill/>
        </p:spPr>
        <p:txBody>
          <a:bodyPr wrap="none" rtlCol="0">
            <a:spAutoFit/>
          </a:bodyPr>
          <a:lstStyle/>
          <a:p>
            <a:r>
              <a:rPr kumimoji="1" lang="ja-JP" altLang="en-US" sz="2000" b="1"/>
              <a:t>アンジオテンシン投与</a:t>
            </a:r>
          </a:p>
        </p:txBody>
      </p:sp>
      <p:sp>
        <p:nvSpPr>
          <p:cNvPr id="7" name="テキスト ボックス 6">
            <a:extLst>
              <a:ext uri="{FF2B5EF4-FFF2-40B4-BE49-F238E27FC236}">
                <a16:creationId xmlns:a16="http://schemas.microsoft.com/office/drawing/2014/main" id="{B20288AD-2CAE-65BF-CD0A-C086DF9ECA29}"/>
              </a:ext>
            </a:extLst>
          </p:cNvPr>
          <p:cNvSpPr txBox="1"/>
          <p:nvPr/>
        </p:nvSpPr>
        <p:spPr>
          <a:xfrm>
            <a:off x="776779" y="2487171"/>
            <a:ext cx="2749471" cy="400110"/>
          </a:xfrm>
          <a:prstGeom prst="rect">
            <a:avLst/>
          </a:prstGeom>
          <a:noFill/>
        </p:spPr>
        <p:txBody>
          <a:bodyPr wrap="none" rtlCol="0">
            <a:spAutoFit/>
          </a:bodyPr>
          <a:lstStyle/>
          <a:p>
            <a:r>
              <a:rPr kumimoji="1" lang="ja-JP" altLang="en-US" sz="2000" b="1"/>
              <a:t>ニトログリセリン投与</a:t>
            </a:r>
          </a:p>
        </p:txBody>
      </p:sp>
      <p:sp>
        <p:nvSpPr>
          <p:cNvPr id="18" name="callout">
            <a:extLst>
              <a:ext uri="{FF2B5EF4-FFF2-40B4-BE49-F238E27FC236}">
                <a16:creationId xmlns:a16="http://schemas.microsoft.com/office/drawing/2014/main" id="{339F7693-591D-47A2-F762-B4C7374D22E7}"/>
              </a:ext>
            </a:extLst>
          </p:cNvPr>
          <p:cNvSpPr/>
          <p:nvPr/>
        </p:nvSpPr>
        <p:spPr>
          <a:xfrm>
            <a:off x="2077574" y="5922712"/>
            <a:ext cx="8036851" cy="52749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400" b="1">
                <a:solidFill>
                  <a:srgbClr val="1A1A1A"/>
                </a:solidFill>
                <a:latin typeface="Meiryo"/>
                <a:ea typeface="Meiryo"/>
                <a:cs typeface="Meiryo"/>
              </a:rPr>
              <a:t>血管ト⁠ー⁠ヌ⁠スの変化 → 反射波の高さが変わる</a:t>
            </a:r>
            <a:endParaRPr lang="ja-JP" altLang="en-US" sz="2400" b="1" dirty="0">
              <a:solidFill>
                <a:srgbClr val="1A1A1A"/>
              </a:solidFill>
              <a:latin typeface="Meiryo"/>
              <a:ea typeface="Meiryo"/>
              <a:cs typeface="Meiryo"/>
            </a:endParaRPr>
          </a:p>
        </p:txBody>
      </p:sp>
      <p:sp>
        <p:nvSpPr>
          <p:cNvPr id="36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　／　12. Millasseau 2003</a:t>
            </a:r>
          </a:p>
        </p:txBody>
      </p:sp>
      <p:sp>
        <p:nvSpPr>
          <p:cNvPr id="36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21/72</a:t>
            </a:r>
          </a:p>
        </p:txBody>
      </p:sp>
    </p:spTree>
    <p:extLst>
      <p:ext uri="{BB962C8B-B14F-4D97-AF65-F5344CB8AC3E}">
        <p14:creationId xmlns:p14="http://schemas.microsoft.com/office/powerpoint/2010/main" val="32376881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17490-8D86-DB93-6569-A0209107F6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DE9A4A-0427-4ADE-C047-AB3E3303090B}"/>
              </a:ext>
            </a:extLst>
          </p:cNvPr>
          <p:cNvSpPr>
            <a:spLocks noGrp="1"/>
          </p:cNvSpPr>
          <p:nvPr>
            <p:ph type="title"/>
          </p:nvPr>
        </p:nvSpPr>
        <p:spPr/>
        <p:txBody>
          <a:bodyPr>
            <a:normAutofit/>
          </a:bodyPr>
          <a:lstStyle/>
          <a:p>
            <a:pPr algn="l"/>
            <a:r>
              <a:rPr sz="4600" dirty="0">
                <a:latin typeface="Meiryo"/>
                <a:ea typeface="Meiryo"/>
                <a:cs typeface="Meiryo"/>
              </a:rPr>
              <a:t>2.2.3  後負荷の違い</a:t>
            </a:r>
          </a:p>
        </p:txBody>
      </p:sp>
      <p:sp>
        <p:nvSpPr>
          <p:cNvPr id="13" name="Off-page Connector 4">
            <a:extLst>
              <a:ext uri="{FF2B5EF4-FFF2-40B4-BE49-F238E27FC236}">
                <a16:creationId xmlns:a16="http://schemas.microsoft.com/office/drawing/2014/main" id="{266F0750-78FA-66BC-C93C-64F9454D8782}"/>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9AA5EE62-C4C5-B94B-E592-7F32385B2E04}"/>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43B9E573-13FF-914F-45E0-3A2F9B8FDA07}"/>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4F19F32C-C429-2EB8-0D25-9B3C13EDFD8A}"/>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57EC0EF8-6A25-DB92-5EF8-FE7093DCF66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07_factor_2axis.png">
            <a:extLst>
              <a:ext uri="{FF2B5EF4-FFF2-40B4-BE49-F238E27FC236}">
                <a16:creationId xmlns:a16="http://schemas.microsoft.com/office/drawing/2014/main" id="{8C69438D-BFC6-745C-FA3A-8DA981B5ED57}"/>
              </a:ext>
            </a:extLst>
          </p:cNvPr>
          <p:cNvPicPr>
            <a:picLocks noChangeAspect="1"/>
          </p:cNvPicPr>
          <p:nvPr/>
        </p:nvPicPr>
        <p:blipFill>
          <a:blip r:embed="rId3"/>
          <a:srcRect t="16134" b="47584"/>
          <a:stretch>
            <a:fillRect/>
          </a:stretch>
        </p:blipFill>
        <p:spPr>
          <a:xfrm>
            <a:off x="1482436" y="2123504"/>
            <a:ext cx="8328377" cy="1763007"/>
          </a:xfrm>
          <a:prstGeom prst="rect">
            <a:avLst/>
          </a:prstGeom>
        </p:spPr>
      </p:pic>
      <p:pic>
        <p:nvPicPr>
          <p:cNvPr id="250" name="Picture 8b" descr="07_factor_2axis.png">
            <a:extLst>
              <a:ext uri="{FF2B5EF4-FFF2-40B4-BE49-F238E27FC236}">
                <a16:creationId xmlns:a16="http://schemas.microsoft.com/office/drawing/2014/main" id="{63DBEBD7-4675-D2B3-2C9A-6D1A5FB77D10}"/>
              </a:ext>
            </a:extLst>
          </p:cNvPr>
          <p:cNvPicPr>
            <a:picLocks noChangeAspect="1"/>
          </p:cNvPicPr>
          <p:nvPr/>
        </p:nvPicPr>
        <p:blipFill>
          <a:blip r:embed="rId3"/>
          <a:srcRect t="56511"/>
          <a:stretch>
            <a:fillRect/>
          </a:stretch>
        </p:blipFill>
        <p:spPr>
          <a:xfrm>
            <a:off x="1482436" y="4341629"/>
            <a:ext cx="8328377" cy="2113221"/>
          </a:xfrm>
          <a:prstGeom prst="rect">
            <a:avLst/>
          </a:prstGeom>
        </p:spPr>
      </p:pic>
      <p:sp>
        <p:nvSpPr>
          <p:cNvPr id="210" name="h1">
            <a:extLst>
              <a:ext uri="{FF2B5EF4-FFF2-40B4-BE49-F238E27FC236}">
                <a16:creationId xmlns:a16="http://schemas.microsoft.com/office/drawing/2014/main" id="{9643E6C4-AD3E-16B9-9985-622F9A8505C1}"/>
              </a:ext>
            </a:extLst>
          </p:cNvPr>
          <p:cNvSpPr txBox="1"/>
          <p:nvPr/>
        </p:nvSpPr>
        <p:spPr>
          <a:xfrm>
            <a:off x="1519437" y="1812138"/>
            <a:ext cx="9335082" cy="434794"/>
          </a:xfrm>
          <a:prstGeom prst="rect">
            <a:avLst/>
          </a:prstGeom>
          <a:noFill/>
        </p:spPr>
        <p:txBody>
          <a:bodyPr wrap="square" lIns="0" tIns="0" rIns="0" bIns="0" anchor="t">
            <a:noAutofit/>
          </a:bodyPr>
          <a:lstStyle/>
          <a:p>
            <a:pPr algn="l"/>
            <a:r>
              <a:rPr lang="ja-JP" altLang="en-US" sz="2200" b="1">
                <a:solidFill>
                  <a:srgbClr val="E8853B"/>
                </a:solidFill>
                <a:latin typeface="Meiryo"/>
                <a:ea typeface="Meiryo"/>
                <a:cs typeface="Meiryo"/>
              </a:rPr>
              <a:t>① 末梢血管</a:t>
            </a:r>
            <a:r>
              <a:rPr lang="ja-JP" altLang="en-US" sz="2200" b="1" dirty="0">
                <a:solidFill>
                  <a:srgbClr val="E8853B"/>
                </a:solidFill>
                <a:latin typeface="Meiryo"/>
                <a:ea typeface="Meiryo"/>
                <a:cs typeface="Meiryo"/>
              </a:rPr>
              <a:t>トーヌス ↑ → 反射波・切痕が「高く</a:t>
            </a:r>
            <a:r>
              <a:rPr lang="ja-JP" altLang="en-US" sz="2200" b="1">
                <a:solidFill>
                  <a:srgbClr val="E8853B"/>
                </a:solidFill>
                <a:latin typeface="Meiryo"/>
                <a:ea typeface="Meiryo"/>
                <a:cs typeface="Meiryo"/>
              </a:rPr>
              <a:t>」なる</a:t>
            </a:r>
            <a:endParaRPr lang="ja-JP" altLang="en-US" sz="2200" b="1" dirty="0">
              <a:solidFill>
                <a:srgbClr val="E8853B"/>
              </a:solidFill>
              <a:latin typeface="Meiryo"/>
              <a:ea typeface="Meiryo"/>
              <a:cs typeface="Meiryo"/>
            </a:endParaRPr>
          </a:p>
        </p:txBody>
      </p:sp>
      <p:sp>
        <p:nvSpPr>
          <p:cNvPr id="211" name="takasa">
            <a:extLst>
              <a:ext uri="{FF2B5EF4-FFF2-40B4-BE49-F238E27FC236}">
                <a16:creationId xmlns:a16="http://schemas.microsoft.com/office/drawing/2014/main" id="{B7012E9E-EB04-35BE-FBFB-C8FADEF34CFA}"/>
              </a:ext>
            </a:extLst>
          </p:cNvPr>
          <p:cNvSpPr txBox="1"/>
          <p:nvPr/>
        </p:nvSpPr>
        <p:spPr>
          <a:xfrm>
            <a:off x="9225548" y="2914543"/>
            <a:ext cx="1937942" cy="304356"/>
          </a:xfrm>
          <a:prstGeom prst="rect">
            <a:avLst/>
          </a:prstGeom>
          <a:noFill/>
        </p:spPr>
        <p:txBody>
          <a:bodyPr wrap="square" lIns="0" tIns="0" rIns="0" bIns="0" anchor="t">
            <a:normAutofit lnSpcReduction="10000"/>
          </a:bodyPr>
          <a:lstStyle/>
          <a:p>
            <a:pPr algn="l"/>
            <a:r>
              <a:rPr lang="ja-JP" altLang="en-US" sz="2000" b="1" dirty="0">
                <a:solidFill>
                  <a:srgbClr val="E8853B"/>
                </a:solidFill>
                <a:latin typeface="Meiryo"/>
                <a:ea typeface="Meiryo"/>
                <a:cs typeface="Meiryo"/>
              </a:rPr>
              <a:t>高さ↑</a:t>
            </a:r>
          </a:p>
        </p:txBody>
      </p:sp>
      <p:sp>
        <p:nvSpPr>
          <p:cNvPr id="212" name="h2">
            <a:extLst>
              <a:ext uri="{FF2B5EF4-FFF2-40B4-BE49-F238E27FC236}">
                <a16:creationId xmlns:a16="http://schemas.microsoft.com/office/drawing/2014/main" id="{CF326274-D609-3E77-0B78-BE0B3A09D728}"/>
              </a:ext>
            </a:extLst>
          </p:cNvPr>
          <p:cNvSpPr txBox="1"/>
          <p:nvPr/>
        </p:nvSpPr>
        <p:spPr>
          <a:xfrm>
            <a:off x="1519437" y="4311240"/>
            <a:ext cx="11427118" cy="478274"/>
          </a:xfrm>
          <a:prstGeom prst="rect">
            <a:avLst/>
          </a:prstGeom>
          <a:noFill/>
        </p:spPr>
        <p:txBody>
          <a:bodyPr wrap="square" lIns="0" tIns="0" rIns="0" bIns="0" anchor="t">
            <a:noAutofit/>
          </a:bodyPr>
          <a:lstStyle/>
          <a:p>
            <a:pPr algn="l"/>
            <a:r>
              <a:rPr lang="ja-JP" altLang="en-US" sz="2200" b="1">
                <a:solidFill>
                  <a:srgbClr val="B8860B"/>
                </a:solidFill>
                <a:latin typeface="Meiryo"/>
                <a:ea typeface="Meiryo"/>
                <a:cs typeface="Meiryo"/>
              </a:rPr>
              <a:t>② 大血管スティフネス </a:t>
            </a:r>
            <a:r>
              <a:rPr lang="ja-JP" altLang="en-US" sz="2200" b="1" dirty="0">
                <a:solidFill>
                  <a:srgbClr val="B8860B"/>
                </a:solidFill>
                <a:latin typeface="Meiryo"/>
                <a:ea typeface="Meiryo"/>
                <a:cs typeface="Meiryo"/>
              </a:rPr>
              <a:t>↑ → 反射波が「早く</a:t>
            </a:r>
            <a:r>
              <a:rPr lang="ja-JP" altLang="en-US" sz="2200" b="1">
                <a:solidFill>
                  <a:srgbClr val="B8860B"/>
                </a:solidFill>
                <a:latin typeface="Meiryo"/>
                <a:ea typeface="Meiryo"/>
                <a:cs typeface="Meiryo"/>
              </a:rPr>
              <a:t>」帰る→ 反射波の時相が早くなる</a:t>
            </a:r>
            <a:endParaRPr lang="ja-JP" altLang="en-US" sz="2200" b="1" dirty="0">
              <a:solidFill>
                <a:srgbClr val="B8860B"/>
              </a:solidFill>
              <a:latin typeface="Meiryo"/>
              <a:ea typeface="Meiryo"/>
              <a:cs typeface="Meiryo"/>
            </a:endParaRPr>
          </a:p>
        </p:txBody>
      </p:sp>
      <p:sp>
        <p:nvSpPr>
          <p:cNvPr id="213" name="jiso">
            <a:extLst>
              <a:ext uri="{FF2B5EF4-FFF2-40B4-BE49-F238E27FC236}">
                <a16:creationId xmlns:a16="http://schemas.microsoft.com/office/drawing/2014/main" id="{0954FE5B-58A2-1FC2-8F70-714A7560119B}"/>
              </a:ext>
            </a:extLst>
          </p:cNvPr>
          <p:cNvSpPr txBox="1"/>
          <p:nvPr/>
        </p:nvSpPr>
        <p:spPr>
          <a:xfrm>
            <a:off x="8492796" y="5262282"/>
            <a:ext cx="2003446" cy="359899"/>
          </a:xfrm>
          <a:prstGeom prst="rect">
            <a:avLst/>
          </a:prstGeom>
          <a:noFill/>
        </p:spPr>
        <p:txBody>
          <a:bodyPr wrap="square" lIns="0" tIns="0" rIns="0" bIns="0" anchor="t">
            <a:normAutofit/>
          </a:bodyPr>
          <a:lstStyle/>
          <a:p>
            <a:pPr algn="ctr"/>
            <a:r>
              <a:rPr lang="ja-JP" altLang="en-US" sz="2000" b="1" dirty="0">
                <a:solidFill>
                  <a:srgbClr val="B8860B"/>
                </a:solidFill>
                <a:latin typeface="Meiryo"/>
                <a:ea typeface="Meiryo"/>
                <a:cs typeface="Meiryo"/>
              </a:rPr>
              <a:t>時相 早い</a:t>
            </a:r>
          </a:p>
        </p:txBody>
      </p:sp>
      <p:sp>
        <p:nvSpPr>
          <p:cNvPr id="214" name="henkyoku">
            <a:extLst>
              <a:ext uri="{FF2B5EF4-FFF2-40B4-BE49-F238E27FC236}">
                <a16:creationId xmlns:a16="http://schemas.microsoft.com/office/drawing/2014/main" id="{668686BA-9DCF-A97F-1960-0E5256FBD843}"/>
              </a:ext>
            </a:extLst>
          </p:cNvPr>
          <p:cNvSpPr txBox="1"/>
          <p:nvPr/>
        </p:nvSpPr>
        <p:spPr>
          <a:xfrm>
            <a:off x="3804411" y="5142663"/>
            <a:ext cx="2544787" cy="1118607"/>
          </a:xfrm>
          <a:prstGeom prst="rect">
            <a:avLst/>
          </a:prstGeom>
          <a:noFill/>
        </p:spPr>
        <p:txBody>
          <a:bodyPr wrap="square" lIns="0" tIns="0" rIns="0" bIns="0" anchor="t">
            <a:normAutofit/>
          </a:bodyPr>
          <a:lstStyle/>
          <a:p>
            <a:pPr algn="ctr"/>
            <a:r>
              <a:rPr lang="ja-JP" altLang="en-US" sz="2000" b="1">
                <a:solidFill>
                  <a:srgbClr val="B8860B"/>
                </a:solidFill>
                <a:latin typeface="Meiryo"/>
                <a:ea typeface="Meiryo"/>
                <a:cs typeface="Meiryo"/>
              </a:rPr>
              <a:t>変曲点</a:t>
            </a:r>
            <a:endParaRPr lang="en-US" altLang="ja-JP" sz="2000" b="1" dirty="0">
              <a:solidFill>
                <a:srgbClr val="B8860B"/>
              </a:solidFill>
              <a:latin typeface="Meiryo"/>
              <a:ea typeface="Meiryo"/>
              <a:cs typeface="Meiryo"/>
            </a:endParaRPr>
          </a:p>
          <a:p>
            <a:pPr algn="ctr"/>
            <a:r>
              <a:rPr lang="ja-JP" altLang="en-US" sz="2000" b="1">
                <a:solidFill>
                  <a:srgbClr val="B8860B"/>
                </a:solidFill>
                <a:latin typeface="Meiryo"/>
                <a:ea typeface="Meiryo"/>
                <a:cs typeface="Meiryo"/>
              </a:rPr>
              <a:t>（</a:t>
            </a:r>
            <a:r>
              <a:rPr lang="ja-JP" altLang="en-US" sz="2000" b="1" dirty="0">
                <a:solidFill>
                  <a:srgbClr val="B8860B"/>
                </a:solidFill>
                <a:latin typeface="Meiryo"/>
                <a:ea typeface="Meiryo"/>
                <a:cs typeface="Meiryo"/>
              </a:rPr>
              <a:t>早期反射）</a:t>
            </a:r>
          </a:p>
        </p:txBody>
      </p:sp>
      <p:sp>
        <p:nvSpPr>
          <p:cNvPr id="25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8. Cunningham 2023　／　12. Millasseau 2003</a:t>
            </a:r>
          </a:p>
        </p:txBody>
      </p:sp>
      <p:sp>
        <p:nvSpPr>
          <p:cNvPr id="25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22/72</a:t>
            </a:r>
          </a:p>
        </p:txBody>
      </p:sp>
    </p:spTree>
    <p:extLst>
      <p:ext uri="{BB962C8B-B14F-4D97-AF65-F5344CB8AC3E}">
        <p14:creationId xmlns:p14="http://schemas.microsoft.com/office/powerpoint/2010/main" val="20166118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7A99F-D3E2-0A55-7651-45CB6F7C77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8B9FC1-392B-D89A-B3BA-5DD88EE8DAAD}"/>
              </a:ext>
            </a:extLst>
          </p:cNvPr>
          <p:cNvSpPr>
            <a:spLocks noGrp="1"/>
          </p:cNvSpPr>
          <p:nvPr>
            <p:ph type="title"/>
          </p:nvPr>
        </p:nvSpPr>
        <p:spPr/>
        <p:txBody>
          <a:bodyPr>
            <a:normAutofit/>
          </a:bodyPr>
          <a:lstStyle/>
          <a:p>
            <a:pPr algn="l"/>
            <a:r>
              <a:rPr sz="4600" dirty="0">
                <a:latin typeface="Meiryo"/>
                <a:ea typeface="Meiryo"/>
                <a:cs typeface="Meiryo"/>
              </a:rPr>
              <a:t>2.2.4  心収縮力</a:t>
            </a:r>
          </a:p>
        </p:txBody>
      </p:sp>
      <p:sp>
        <p:nvSpPr>
          <p:cNvPr id="13" name="Off-page Connector 4">
            <a:extLst>
              <a:ext uri="{FF2B5EF4-FFF2-40B4-BE49-F238E27FC236}">
                <a16:creationId xmlns:a16="http://schemas.microsoft.com/office/drawing/2014/main" id="{126E03C4-F53B-BA3C-D275-D8315E03369D}"/>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18B3E220-3FD2-DDF1-01D2-B71CB4E0DF6E}"/>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60CE0B28-7751-0C47-1746-00AF0782105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5DAD2652-C4D4-7C04-0797-291338CB77D6}"/>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F813FD56-8ACC-F3A2-8638-3AE16EA54B2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642" name="cap2">
            <a:extLst>
              <a:ext uri="{FF2B5EF4-FFF2-40B4-BE49-F238E27FC236}">
                <a16:creationId xmlns:a16="http://schemas.microsoft.com/office/drawing/2014/main" id="{B4A3164A-BA51-5B5B-9E14-47E2B5B27E86}"/>
              </a:ext>
            </a:extLst>
          </p:cNvPr>
          <p:cNvSpPr txBox="1"/>
          <p:nvPr/>
        </p:nvSpPr>
        <p:spPr>
          <a:xfrm>
            <a:off x="4722800" y="4834402"/>
            <a:ext cx="11134389" cy="468327"/>
          </a:xfrm>
          <a:prstGeom prst="rect">
            <a:avLst/>
          </a:prstGeom>
          <a:noFill/>
        </p:spPr>
        <p:txBody>
          <a:bodyPr wrap="square" lIns="0" tIns="0" rIns="0" bIns="0" anchor="t">
            <a:noAutofit/>
          </a:bodyPr>
          <a:lstStyle/>
          <a:p>
            <a:pPr algn="ctr"/>
            <a:r>
              <a:rPr lang="ja-JP" altLang="en-US" sz="2200" b="0">
                <a:solidFill>
                  <a:srgbClr val="8C8C8C"/>
                </a:solidFill>
                <a:latin typeface="Meiryo"/>
                <a:ea typeface="Meiryo"/>
                <a:cs typeface="Meiryo"/>
              </a:rPr>
              <a:t>※ </a:t>
            </a:r>
            <a:r>
              <a:rPr lang="ja-JP" altLang="en-US" sz="2200">
                <a:solidFill>
                  <a:srgbClr val="8C8C8C"/>
                </a:solidFill>
                <a:latin typeface="Meiryo"/>
                <a:ea typeface="Meiryo"/>
                <a:cs typeface="Meiryo"/>
              </a:rPr>
              <a:t>計算モデルから</a:t>
            </a:r>
            <a:r>
              <a:rPr lang="ja-JP" altLang="en-US" sz="2200" b="0">
                <a:solidFill>
                  <a:srgbClr val="8C8C8C"/>
                </a:solidFill>
                <a:latin typeface="Meiryo"/>
                <a:ea typeface="Meiryo"/>
                <a:cs typeface="Meiryo"/>
              </a:rPr>
              <a:t>の外挿</a:t>
            </a:r>
            <a:endParaRPr lang="ja-JP" altLang="en-US" sz="2200" b="0" dirty="0">
              <a:solidFill>
                <a:srgbClr val="8C8C8C"/>
              </a:solidFill>
              <a:latin typeface="Meiryo"/>
              <a:ea typeface="Meiryo"/>
              <a:cs typeface="Meiryo"/>
            </a:endParaRPr>
          </a:p>
        </p:txBody>
      </p:sp>
      <p:grpSp>
        <p:nvGrpSpPr>
          <p:cNvPr id="6" name="グループ化 5">
            <a:extLst>
              <a:ext uri="{FF2B5EF4-FFF2-40B4-BE49-F238E27FC236}">
                <a16:creationId xmlns:a16="http://schemas.microsoft.com/office/drawing/2014/main" id="{F8DC659E-F481-D246-F1F4-84BF134878FE}"/>
              </a:ext>
            </a:extLst>
          </p:cNvPr>
          <p:cNvGrpSpPr/>
          <p:nvPr/>
        </p:nvGrpSpPr>
        <p:grpSpPr>
          <a:xfrm>
            <a:off x="926123" y="1812266"/>
            <a:ext cx="6506310" cy="3294252"/>
            <a:chOff x="1515934" y="3429000"/>
            <a:chExt cx="2128769" cy="1044184"/>
          </a:xfrm>
        </p:grpSpPr>
        <p:pic>
          <p:nvPicPr>
            <p:cNvPr id="3" name="図 2">
              <a:extLst>
                <a:ext uri="{FF2B5EF4-FFF2-40B4-BE49-F238E27FC236}">
                  <a16:creationId xmlns:a16="http://schemas.microsoft.com/office/drawing/2014/main" id="{68BAC6D6-AFF7-91F1-D127-4A1338A9238D}"/>
                </a:ext>
              </a:extLst>
            </p:cNvPr>
            <p:cNvPicPr>
              <a:picLocks noChangeAspect="1"/>
            </p:cNvPicPr>
            <p:nvPr/>
          </p:nvPicPr>
          <p:blipFill>
            <a:blip r:embed="rId3"/>
            <a:srcRect r="90696"/>
            <a:stretch>
              <a:fillRect/>
            </a:stretch>
          </p:blipFill>
          <p:spPr>
            <a:xfrm>
              <a:off x="1515934" y="3429000"/>
              <a:ext cx="723173" cy="1044184"/>
            </a:xfrm>
            <a:prstGeom prst="rect">
              <a:avLst/>
            </a:prstGeom>
          </p:spPr>
        </p:pic>
        <p:pic>
          <p:nvPicPr>
            <p:cNvPr id="4" name="図 3">
              <a:extLst>
                <a:ext uri="{FF2B5EF4-FFF2-40B4-BE49-F238E27FC236}">
                  <a16:creationId xmlns:a16="http://schemas.microsoft.com/office/drawing/2014/main" id="{52CDD66F-2601-0627-925D-D72C2AC987B4}"/>
                </a:ext>
              </a:extLst>
            </p:cNvPr>
            <p:cNvPicPr>
              <a:picLocks noChangeAspect="1"/>
            </p:cNvPicPr>
            <p:nvPr/>
          </p:nvPicPr>
          <p:blipFill>
            <a:blip r:embed="rId3"/>
            <a:srcRect l="81916"/>
            <a:stretch>
              <a:fillRect/>
            </a:stretch>
          </p:blipFill>
          <p:spPr>
            <a:xfrm>
              <a:off x="2239107" y="3429000"/>
              <a:ext cx="1405596" cy="1044184"/>
            </a:xfrm>
            <a:prstGeom prst="rect">
              <a:avLst/>
            </a:prstGeom>
          </p:spPr>
        </p:pic>
      </p:grpSp>
      <p:sp>
        <p:nvSpPr>
          <p:cNvPr id="18" name="Rounded Rectangle 29">
            <a:extLst>
              <a:ext uri="{FF2B5EF4-FFF2-40B4-BE49-F238E27FC236}">
                <a16:creationId xmlns:a16="http://schemas.microsoft.com/office/drawing/2014/main" id="{5B32805A-91E7-52DA-14E9-C0BC5E99A850}"/>
              </a:ext>
            </a:extLst>
          </p:cNvPr>
          <p:cNvSpPr/>
          <p:nvPr/>
        </p:nvSpPr>
        <p:spPr>
          <a:xfrm>
            <a:off x="7610395" y="3290532"/>
            <a:ext cx="4371297" cy="132556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ja-JP" altLang="en-US" sz="2400" b="1">
                <a:solidFill>
                  <a:schemeClr val="tx1"/>
                </a:solidFill>
                <a:latin typeface="Meiryo"/>
                <a:ea typeface="Meiryo"/>
                <a:cs typeface="Meiryo"/>
              </a:rPr>
              <a:t>収縮力↑→ 立ち上がり勾配↑</a:t>
            </a:r>
            <a:endParaRPr lang="en-US" altLang="ja-JP" sz="2400" b="1" dirty="0">
              <a:solidFill>
                <a:schemeClr val="tx1"/>
              </a:solidFill>
              <a:latin typeface="Meiryo"/>
              <a:ea typeface="Meiryo"/>
              <a:cs typeface="Meiryo"/>
            </a:endParaRPr>
          </a:p>
          <a:p>
            <a:pPr algn="ctr"/>
            <a:r>
              <a:rPr lang="ja-JP" altLang="en-US" sz="2400" b="1">
                <a:solidFill>
                  <a:schemeClr val="tx1"/>
                </a:solidFill>
                <a:latin typeface="Meiryo"/>
                <a:ea typeface="Meiryo"/>
                <a:cs typeface="Meiryo"/>
              </a:rPr>
              <a:t>→ 前進波が早く・尖鋭化</a:t>
            </a:r>
            <a:endParaRPr lang="ja-JP" altLang="en-US" sz="2400" b="1" dirty="0">
              <a:solidFill>
                <a:schemeClr val="tx1"/>
              </a:solidFill>
              <a:latin typeface="Meiryo"/>
              <a:ea typeface="Meiryo"/>
              <a:cs typeface="Meiryo"/>
            </a:endParaRPr>
          </a:p>
        </p:txBody>
      </p:sp>
      <p:sp>
        <p:nvSpPr>
          <p:cNvPr id="64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13. Pagoulatou 2021　／　14. Piccioli 2022</a:t>
            </a:r>
          </a:p>
        </p:txBody>
      </p:sp>
      <p:sp>
        <p:nvSpPr>
          <p:cNvPr id="64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23/72</a:t>
            </a:r>
          </a:p>
        </p:txBody>
      </p:sp>
    </p:spTree>
    <p:extLst>
      <p:ext uri="{BB962C8B-B14F-4D97-AF65-F5344CB8AC3E}">
        <p14:creationId xmlns:p14="http://schemas.microsoft.com/office/powerpoint/2010/main" val="35994046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827E2-CB29-6C3A-54EF-2F3CF659D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AB4B2C-40F7-9B11-9106-6C7BA8C92E96}"/>
              </a:ext>
            </a:extLst>
          </p:cNvPr>
          <p:cNvSpPr>
            <a:spLocks noGrp="1"/>
          </p:cNvSpPr>
          <p:nvPr>
            <p:ph type="title"/>
          </p:nvPr>
        </p:nvSpPr>
        <p:spPr/>
        <p:txBody>
          <a:bodyPr>
            <a:normAutofit/>
          </a:bodyPr>
          <a:lstStyle/>
          <a:p>
            <a:pPr algn="l"/>
            <a:r>
              <a:rPr sz="4600" dirty="0">
                <a:latin typeface="Meiryo"/>
                <a:ea typeface="Meiryo"/>
                <a:cs typeface="Meiryo"/>
              </a:rPr>
              <a:t>2.2.4  心収縮力</a:t>
            </a:r>
          </a:p>
        </p:txBody>
      </p:sp>
      <p:sp>
        <p:nvSpPr>
          <p:cNvPr id="13" name="Off-page Connector 4">
            <a:extLst>
              <a:ext uri="{FF2B5EF4-FFF2-40B4-BE49-F238E27FC236}">
                <a16:creationId xmlns:a16="http://schemas.microsoft.com/office/drawing/2014/main" id="{4BBC1839-0F94-62AC-D516-F62061BB4DF9}"/>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C7FDB4DE-382B-9981-CBEC-1B04AD4688C3}"/>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F09464F3-7A64-0929-25AD-97C2BAC7A15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72DA7D32-18CE-D37C-31D8-E9B5A128805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F546107B-EA50-9F53-3DB5-88C566EAD651}"/>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642" name="cap2">
            <a:extLst>
              <a:ext uri="{FF2B5EF4-FFF2-40B4-BE49-F238E27FC236}">
                <a16:creationId xmlns:a16="http://schemas.microsoft.com/office/drawing/2014/main" id="{2BDAAE34-6C1B-7AD6-FE22-745AD7543112}"/>
              </a:ext>
            </a:extLst>
          </p:cNvPr>
          <p:cNvSpPr txBox="1"/>
          <p:nvPr/>
        </p:nvSpPr>
        <p:spPr>
          <a:xfrm>
            <a:off x="4722800" y="4834402"/>
            <a:ext cx="11134389" cy="468327"/>
          </a:xfrm>
          <a:prstGeom prst="rect">
            <a:avLst/>
          </a:prstGeom>
          <a:noFill/>
        </p:spPr>
        <p:txBody>
          <a:bodyPr wrap="square" lIns="0" tIns="0" rIns="0" bIns="0" anchor="t">
            <a:noAutofit/>
          </a:bodyPr>
          <a:lstStyle/>
          <a:p>
            <a:pPr algn="ctr"/>
            <a:r>
              <a:rPr lang="ja-JP" altLang="en-US" sz="2200" b="0">
                <a:solidFill>
                  <a:srgbClr val="8C8C8C"/>
                </a:solidFill>
                <a:latin typeface="Meiryo"/>
                <a:ea typeface="Meiryo"/>
                <a:cs typeface="Meiryo"/>
              </a:rPr>
              <a:t>※ </a:t>
            </a:r>
            <a:r>
              <a:rPr lang="ja-JP" altLang="en-US" sz="2200">
                <a:solidFill>
                  <a:srgbClr val="8C8C8C"/>
                </a:solidFill>
                <a:latin typeface="Meiryo"/>
                <a:ea typeface="Meiryo"/>
                <a:cs typeface="Meiryo"/>
              </a:rPr>
              <a:t>計算モデルから</a:t>
            </a:r>
            <a:r>
              <a:rPr lang="ja-JP" altLang="en-US" sz="2200" b="0">
                <a:solidFill>
                  <a:srgbClr val="8C8C8C"/>
                </a:solidFill>
                <a:latin typeface="Meiryo"/>
                <a:ea typeface="Meiryo"/>
                <a:cs typeface="Meiryo"/>
              </a:rPr>
              <a:t>の外挿</a:t>
            </a:r>
            <a:endParaRPr lang="ja-JP" altLang="en-US" sz="2200" b="0" dirty="0">
              <a:solidFill>
                <a:srgbClr val="8C8C8C"/>
              </a:solidFill>
              <a:latin typeface="Meiryo"/>
              <a:ea typeface="Meiryo"/>
              <a:cs typeface="Meiryo"/>
            </a:endParaRPr>
          </a:p>
        </p:txBody>
      </p:sp>
      <p:grpSp>
        <p:nvGrpSpPr>
          <p:cNvPr id="6" name="グループ化 5">
            <a:extLst>
              <a:ext uri="{FF2B5EF4-FFF2-40B4-BE49-F238E27FC236}">
                <a16:creationId xmlns:a16="http://schemas.microsoft.com/office/drawing/2014/main" id="{F81A316D-FD0D-D887-2EA0-3CFE25CEB391}"/>
              </a:ext>
            </a:extLst>
          </p:cNvPr>
          <p:cNvGrpSpPr/>
          <p:nvPr/>
        </p:nvGrpSpPr>
        <p:grpSpPr>
          <a:xfrm>
            <a:off x="926123" y="1812266"/>
            <a:ext cx="6506310" cy="3294252"/>
            <a:chOff x="1515934" y="3429000"/>
            <a:chExt cx="2128769" cy="1044184"/>
          </a:xfrm>
        </p:grpSpPr>
        <p:pic>
          <p:nvPicPr>
            <p:cNvPr id="3" name="図 2">
              <a:extLst>
                <a:ext uri="{FF2B5EF4-FFF2-40B4-BE49-F238E27FC236}">
                  <a16:creationId xmlns:a16="http://schemas.microsoft.com/office/drawing/2014/main" id="{850F751C-6284-6659-FF2E-19D1C159CC76}"/>
                </a:ext>
              </a:extLst>
            </p:cNvPr>
            <p:cNvPicPr>
              <a:picLocks noChangeAspect="1"/>
            </p:cNvPicPr>
            <p:nvPr/>
          </p:nvPicPr>
          <p:blipFill>
            <a:blip r:embed="rId3"/>
            <a:srcRect r="90696"/>
            <a:stretch>
              <a:fillRect/>
            </a:stretch>
          </p:blipFill>
          <p:spPr>
            <a:xfrm>
              <a:off x="1515934" y="3429000"/>
              <a:ext cx="723173" cy="1044184"/>
            </a:xfrm>
            <a:prstGeom prst="rect">
              <a:avLst/>
            </a:prstGeom>
          </p:spPr>
        </p:pic>
        <p:pic>
          <p:nvPicPr>
            <p:cNvPr id="4" name="図 3">
              <a:extLst>
                <a:ext uri="{FF2B5EF4-FFF2-40B4-BE49-F238E27FC236}">
                  <a16:creationId xmlns:a16="http://schemas.microsoft.com/office/drawing/2014/main" id="{808CDE7B-3AC6-DB22-8B0D-F28819F1EFAF}"/>
                </a:ext>
              </a:extLst>
            </p:cNvPr>
            <p:cNvPicPr>
              <a:picLocks noChangeAspect="1"/>
            </p:cNvPicPr>
            <p:nvPr/>
          </p:nvPicPr>
          <p:blipFill>
            <a:blip r:embed="rId3"/>
            <a:srcRect l="81916"/>
            <a:stretch>
              <a:fillRect/>
            </a:stretch>
          </p:blipFill>
          <p:spPr>
            <a:xfrm>
              <a:off x="2239107" y="3429000"/>
              <a:ext cx="1405596" cy="1044184"/>
            </a:xfrm>
            <a:prstGeom prst="rect">
              <a:avLst/>
            </a:prstGeom>
          </p:spPr>
        </p:pic>
      </p:grpSp>
      <p:sp>
        <p:nvSpPr>
          <p:cNvPr id="18" name="Rounded Rectangle 29">
            <a:extLst>
              <a:ext uri="{FF2B5EF4-FFF2-40B4-BE49-F238E27FC236}">
                <a16:creationId xmlns:a16="http://schemas.microsoft.com/office/drawing/2014/main" id="{17930FC6-DA6D-B19A-0A0A-A79B48B7D69E}"/>
              </a:ext>
            </a:extLst>
          </p:cNvPr>
          <p:cNvSpPr/>
          <p:nvPr/>
        </p:nvSpPr>
        <p:spPr>
          <a:xfrm>
            <a:off x="7610395" y="3290532"/>
            <a:ext cx="4371297" cy="132556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ja-JP" altLang="en-US" sz="2400" b="1">
                <a:solidFill>
                  <a:schemeClr val="tx1"/>
                </a:solidFill>
                <a:latin typeface="Meiryo"/>
                <a:ea typeface="Meiryo"/>
                <a:cs typeface="Meiryo"/>
              </a:rPr>
              <a:t>収縮力↑→ 立ち上がり勾配↑</a:t>
            </a:r>
            <a:endParaRPr lang="en-US" altLang="ja-JP" sz="2400" b="1" dirty="0">
              <a:solidFill>
                <a:schemeClr val="tx1"/>
              </a:solidFill>
              <a:latin typeface="Meiryo"/>
              <a:ea typeface="Meiryo"/>
              <a:cs typeface="Meiryo"/>
            </a:endParaRPr>
          </a:p>
          <a:p>
            <a:pPr algn="ctr"/>
            <a:r>
              <a:rPr lang="ja-JP" altLang="en-US" sz="2400" b="1">
                <a:solidFill>
                  <a:schemeClr val="tx1"/>
                </a:solidFill>
                <a:latin typeface="Meiryo"/>
                <a:ea typeface="Meiryo"/>
                <a:cs typeface="Meiryo"/>
              </a:rPr>
              <a:t>→ 前進波が早く・尖鋭化</a:t>
            </a:r>
            <a:endParaRPr lang="ja-JP" altLang="en-US" sz="2400" b="1" dirty="0">
              <a:solidFill>
                <a:schemeClr val="tx1"/>
              </a:solidFill>
              <a:latin typeface="Meiryo"/>
              <a:ea typeface="Meiryo"/>
              <a:cs typeface="Meiryo"/>
            </a:endParaRPr>
          </a:p>
        </p:txBody>
      </p:sp>
      <p:sp>
        <p:nvSpPr>
          <p:cNvPr id="19" name="テキスト ボックス 18">
            <a:extLst>
              <a:ext uri="{FF2B5EF4-FFF2-40B4-BE49-F238E27FC236}">
                <a16:creationId xmlns:a16="http://schemas.microsoft.com/office/drawing/2014/main" id="{148B0A2B-1259-1A22-B626-B10B9B6E4E91}"/>
              </a:ext>
            </a:extLst>
          </p:cNvPr>
          <p:cNvSpPr txBox="1"/>
          <p:nvPr/>
        </p:nvSpPr>
        <p:spPr>
          <a:xfrm>
            <a:off x="2101156" y="5386527"/>
            <a:ext cx="7989688" cy="1065676"/>
          </a:xfrm>
          <a:prstGeom prst="rect">
            <a:avLst/>
          </a:prstGeom>
          <a:noFill/>
        </p:spPr>
        <p:txBody>
          <a:bodyPr wrap="none" rtlCol="0">
            <a:spAutoFit/>
          </a:bodyPr>
          <a:lstStyle/>
          <a:p>
            <a:pPr>
              <a:lnSpc>
                <a:spcPct val="150000"/>
              </a:lnSpc>
            </a:pPr>
            <a:r>
              <a:rPr lang="en-US" altLang="ja-JP" sz="2200" dirty="0"/>
              <a:t>PPG</a:t>
            </a:r>
            <a:r>
              <a:rPr lang="ja-JP" altLang="en-US" sz="2200"/>
              <a:t>波形の立ち上がり勾配は末梢血管抵抗にも影響を受ける。</a:t>
            </a:r>
            <a:endParaRPr lang="en-US" altLang="ja-JP" sz="2200" dirty="0"/>
          </a:p>
          <a:p>
            <a:pPr>
              <a:lnSpc>
                <a:spcPct val="150000"/>
              </a:lnSpc>
            </a:pPr>
            <a:r>
              <a:rPr kumimoji="1" lang="ja-JP" altLang="en-US" sz="2200"/>
              <a:t>単一の</a:t>
            </a:r>
            <a:r>
              <a:rPr kumimoji="1" lang="en-US" altLang="ja-JP" sz="2200" dirty="0"/>
              <a:t>PPG</a:t>
            </a:r>
            <a:r>
              <a:rPr kumimoji="1" lang="ja-JP" altLang="en-US" sz="2200"/>
              <a:t>信号から収縮性のみを分離するのは技術的に困難。</a:t>
            </a:r>
          </a:p>
        </p:txBody>
      </p:sp>
      <p:sp>
        <p:nvSpPr>
          <p:cNvPr id="64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13. Pagoulatou 2021　／　14. Piccioli 2022</a:t>
            </a:r>
          </a:p>
        </p:txBody>
      </p:sp>
      <p:sp>
        <p:nvSpPr>
          <p:cNvPr id="64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23/72</a:t>
            </a:r>
          </a:p>
        </p:txBody>
      </p:sp>
    </p:spTree>
    <p:extLst>
      <p:ext uri="{BB962C8B-B14F-4D97-AF65-F5344CB8AC3E}">
        <p14:creationId xmlns:p14="http://schemas.microsoft.com/office/powerpoint/2010/main" val="16623708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2.2.5  心拍数</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3" name="図 2">
            <a:extLst>
              <a:ext uri="{FF2B5EF4-FFF2-40B4-BE49-F238E27FC236}">
                <a16:creationId xmlns:a16="http://schemas.microsoft.com/office/drawing/2014/main" id="{4B243921-2DC2-956B-8955-4BE8E945D2FF}"/>
              </a:ext>
            </a:extLst>
          </p:cNvPr>
          <p:cNvPicPr>
            <a:picLocks noChangeAspect="1"/>
          </p:cNvPicPr>
          <p:nvPr/>
        </p:nvPicPr>
        <p:blipFill>
          <a:blip r:embed="rId3"/>
          <a:srcRect l="71670" t="12610"/>
          <a:stretch>
            <a:fillRect/>
          </a:stretch>
        </p:blipFill>
        <p:spPr>
          <a:xfrm>
            <a:off x="2209800" y="1595154"/>
            <a:ext cx="4433712" cy="4041598"/>
          </a:xfrm>
          <a:prstGeom prst="rect">
            <a:avLst/>
          </a:prstGeom>
        </p:spPr>
      </p:pic>
      <p:pic>
        <p:nvPicPr>
          <p:cNvPr id="6" name="図 5">
            <a:extLst>
              <a:ext uri="{FF2B5EF4-FFF2-40B4-BE49-F238E27FC236}">
                <a16:creationId xmlns:a16="http://schemas.microsoft.com/office/drawing/2014/main" id="{0D6441C1-E3C6-DC13-81F3-F5CA72815B3F}"/>
              </a:ext>
            </a:extLst>
          </p:cNvPr>
          <p:cNvPicPr>
            <a:picLocks noChangeAspect="1"/>
          </p:cNvPicPr>
          <p:nvPr/>
        </p:nvPicPr>
        <p:blipFill rotWithShape="1">
          <a:blip r:embed="rId3"/>
          <a:srcRect l="1877" t="44555" r="91446" b="35539"/>
          <a:stretch>
            <a:fillRect/>
          </a:stretch>
        </p:blipFill>
        <p:spPr>
          <a:xfrm>
            <a:off x="838200" y="3397458"/>
            <a:ext cx="1044979" cy="920578"/>
          </a:xfrm>
          <a:prstGeom prst="rect">
            <a:avLst/>
          </a:prstGeom>
        </p:spPr>
      </p:pic>
      <p:sp>
        <p:nvSpPr>
          <p:cNvPr id="9014" name="legend"/>
          <p:cNvSpPr txBox="1"/>
          <p:nvPr/>
        </p:nvSpPr>
        <p:spPr>
          <a:xfrm>
            <a:off x="7950519" y="2317256"/>
            <a:ext cx="3168000" cy="1548000"/>
          </a:xfrm>
          <a:prstGeom prst="rect">
            <a:avLst/>
          </a:prstGeom>
          <a:noFill/>
        </p:spPr>
        <p:txBody>
          <a:bodyPr wrap="square" lIns="0" tIns="0" rIns="0" bIns="0" anchor="t">
            <a:noAutofit/>
          </a:bodyPr>
          <a:lstStyle/>
          <a:p>
            <a:pPr algn="l"/>
            <a:r>
              <a:rPr lang="ja-JP" altLang="en-US" sz="2400" b="1" dirty="0">
                <a:solidFill>
                  <a:srgbClr val="0000FF"/>
                </a:solidFill>
                <a:latin typeface="Meiryo"/>
                <a:ea typeface="Meiryo"/>
                <a:cs typeface="Meiryo"/>
              </a:rPr>
              <a:t>■ </a:t>
            </a:r>
            <a:r>
              <a:rPr lang="ja-JP" altLang="en-US" sz="2400" b="1" dirty="0">
                <a:solidFill>
                  <a:srgbClr val="262626"/>
                </a:solidFill>
                <a:latin typeface="Meiryo"/>
                <a:ea typeface="Meiryo"/>
                <a:cs typeface="Meiryo"/>
              </a:rPr>
              <a:t>高心拍  +1SD</a:t>
            </a:r>
          </a:p>
          <a:p>
            <a:pPr algn="l"/>
            <a:r>
              <a:rPr lang="ja-JP" altLang="en-US" sz="2400" b="1" dirty="0">
                <a:solidFill>
                  <a:srgbClr val="000000"/>
                </a:solidFill>
                <a:latin typeface="Meiryo"/>
                <a:ea typeface="Meiryo"/>
                <a:cs typeface="Meiryo"/>
              </a:rPr>
              <a:t>■ </a:t>
            </a:r>
            <a:r>
              <a:rPr lang="ja-JP" altLang="en-US" sz="2400" b="1" dirty="0">
                <a:solidFill>
                  <a:srgbClr val="262626"/>
                </a:solidFill>
                <a:latin typeface="Meiryo"/>
                <a:ea typeface="Meiryo"/>
                <a:cs typeface="Meiryo"/>
              </a:rPr>
              <a:t>基準</a:t>
            </a:r>
          </a:p>
          <a:p>
            <a:pPr algn="l"/>
            <a:r>
              <a:rPr lang="ja-JP" altLang="en-US" sz="2400" b="1" dirty="0">
                <a:solidFill>
                  <a:srgbClr val="FF0000"/>
                </a:solidFill>
                <a:latin typeface="Meiryo"/>
                <a:ea typeface="Meiryo"/>
                <a:cs typeface="Meiryo"/>
              </a:rPr>
              <a:t>■ </a:t>
            </a:r>
            <a:r>
              <a:rPr lang="ja-JP" altLang="en-US" sz="2400" b="1" dirty="0">
                <a:solidFill>
                  <a:srgbClr val="262626"/>
                </a:solidFill>
                <a:latin typeface="Meiryo"/>
                <a:ea typeface="Meiryo"/>
                <a:cs typeface="Meiryo"/>
              </a:rPr>
              <a:t>低心拍  −1SD</a:t>
            </a:r>
          </a:p>
        </p:txBody>
      </p:sp>
      <p:sp>
        <p:nvSpPr>
          <p:cNvPr id="5" name="cap2">
            <a:extLst>
              <a:ext uri="{FF2B5EF4-FFF2-40B4-BE49-F238E27FC236}">
                <a16:creationId xmlns:a16="http://schemas.microsoft.com/office/drawing/2014/main" id="{E23ACC53-4CC6-9721-14E9-8A78AC97A7BE}"/>
              </a:ext>
            </a:extLst>
          </p:cNvPr>
          <p:cNvSpPr txBox="1"/>
          <p:nvPr/>
        </p:nvSpPr>
        <p:spPr>
          <a:xfrm>
            <a:off x="3927324" y="5209448"/>
            <a:ext cx="11134389" cy="468327"/>
          </a:xfrm>
          <a:prstGeom prst="rect">
            <a:avLst/>
          </a:prstGeom>
          <a:noFill/>
        </p:spPr>
        <p:txBody>
          <a:bodyPr wrap="square" lIns="0" tIns="0" rIns="0" bIns="0" anchor="t">
            <a:noAutofit/>
          </a:bodyPr>
          <a:lstStyle/>
          <a:p>
            <a:pPr algn="ctr"/>
            <a:r>
              <a:rPr lang="ja-JP" altLang="en-US" b="0">
                <a:solidFill>
                  <a:srgbClr val="8C8C8C"/>
                </a:solidFill>
                <a:latin typeface="Meiryo"/>
                <a:ea typeface="Meiryo"/>
                <a:cs typeface="Meiryo"/>
              </a:rPr>
              <a:t>※ 計算モデル</a:t>
            </a:r>
            <a:r>
              <a:rPr lang="ja-JP" altLang="en-US" b="0" dirty="0">
                <a:solidFill>
                  <a:srgbClr val="8C8C8C"/>
                </a:solidFill>
                <a:latin typeface="Meiryo"/>
                <a:ea typeface="Meiryo"/>
                <a:cs typeface="Meiryo"/>
              </a:rPr>
              <a:t>から</a:t>
            </a:r>
            <a:r>
              <a:rPr lang="ja-JP" altLang="en-US" b="0">
                <a:solidFill>
                  <a:srgbClr val="8C8C8C"/>
                </a:solidFill>
                <a:latin typeface="Meiryo"/>
                <a:ea typeface="Meiryo"/>
                <a:cs typeface="Meiryo"/>
              </a:rPr>
              <a:t>の外挿</a:t>
            </a:r>
            <a:endParaRPr lang="ja-JP" altLang="en-US" b="0" dirty="0">
              <a:solidFill>
                <a:srgbClr val="8C8C8C"/>
              </a:solidFill>
              <a:latin typeface="Meiryo"/>
              <a:ea typeface="Meiryo"/>
              <a:cs typeface="Meiryo"/>
            </a:endParaRPr>
          </a:p>
        </p:txBody>
      </p:sp>
      <p:sp>
        <p:nvSpPr>
          <p:cNvPr id="7" name="Rounded Rectangle 29">
            <a:extLst>
              <a:ext uri="{FF2B5EF4-FFF2-40B4-BE49-F238E27FC236}">
                <a16:creationId xmlns:a16="http://schemas.microsoft.com/office/drawing/2014/main" id="{934C5BEC-F28D-9BF0-28B7-FD36A2F15742}"/>
              </a:ext>
            </a:extLst>
          </p:cNvPr>
          <p:cNvSpPr/>
          <p:nvPr/>
        </p:nvSpPr>
        <p:spPr>
          <a:xfrm>
            <a:off x="876000" y="5754806"/>
            <a:ext cx="1044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en-US" altLang="ja-JP" sz="2400" b="1" dirty="0">
                <a:solidFill>
                  <a:schemeClr val="tx1"/>
                </a:solidFill>
              </a:rPr>
              <a:t>HR </a:t>
            </a:r>
            <a:r>
              <a:rPr lang="ja-JP" altLang="en-US" sz="2400" b="1">
                <a:solidFill>
                  <a:schemeClr val="tx1"/>
                </a:solidFill>
              </a:rPr>
              <a:t>↑ → 左室収縮時間</a:t>
            </a:r>
            <a:r>
              <a:rPr lang="en-US" altLang="ja-JP" sz="2400" b="1" dirty="0">
                <a:solidFill>
                  <a:schemeClr val="tx1"/>
                </a:solidFill>
              </a:rPr>
              <a:t> </a:t>
            </a:r>
            <a:r>
              <a:rPr lang="ja-JP" altLang="en-US" sz="2400" b="1">
                <a:solidFill>
                  <a:schemeClr val="tx1"/>
                </a:solidFill>
              </a:rPr>
              <a:t>↓ → 前進波幅</a:t>
            </a:r>
            <a:r>
              <a:rPr lang="en-US" altLang="ja-JP" sz="2400" b="1" dirty="0">
                <a:solidFill>
                  <a:schemeClr val="tx1"/>
                </a:solidFill>
              </a:rPr>
              <a:t> </a:t>
            </a:r>
            <a:r>
              <a:rPr lang="ja-JP" altLang="en-US" sz="2400" b="1">
                <a:solidFill>
                  <a:schemeClr val="tx1"/>
                </a:solidFill>
              </a:rPr>
              <a:t>↓</a:t>
            </a:r>
            <a:r>
              <a:rPr lang="en-US" altLang="ja-JP" sz="2400" b="1" dirty="0">
                <a:solidFill>
                  <a:schemeClr val="tx1"/>
                </a:solidFill>
              </a:rPr>
              <a:t> </a:t>
            </a:r>
            <a:r>
              <a:rPr lang="ja-JP" altLang="en-US" sz="2400" b="1">
                <a:solidFill>
                  <a:schemeClr val="tx1"/>
                </a:solidFill>
              </a:rPr>
              <a:t>→</a:t>
            </a:r>
            <a:r>
              <a:rPr lang="en-US" altLang="ja-JP" sz="2400" b="1" dirty="0">
                <a:solidFill>
                  <a:schemeClr val="tx1"/>
                </a:solidFill>
              </a:rPr>
              <a:t> </a:t>
            </a:r>
            <a:r>
              <a:rPr lang="ja-JP" altLang="en-US" sz="2400" b="1">
                <a:solidFill>
                  <a:schemeClr val="tx1"/>
                </a:solidFill>
              </a:rPr>
              <a:t>反射波振幅</a:t>
            </a:r>
            <a:r>
              <a:rPr lang="en-US" altLang="ja-JP" sz="2400" b="1" dirty="0">
                <a:solidFill>
                  <a:schemeClr val="tx1"/>
                </a:solidFill>
              </a:rPr>
              <a:t> </a:t>
            </a:r>
            <a:r>
              <a:rPr lang="ja-JP" altLang="en-US" sz="2400" b="1">
                <a:solidFill>
                  <a:schemeClr val="tx1"/>
                </a:solidFill>
              </a:rPr>
              <a:t>↓</a:t>
            </a:r>
          </a:p>
        </p:txBody>
      </p:sp>
      <p:sp>
        <p:nvSpPr>
          <p:cNvPr id="901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15. Wilkinson 2000　／　16. Hashimoto 2002　／　17. Charlton 2019　／　18. Md Lazim 2020</a:t>
            </a:r>
          </a:p>
        </p:txBody>
      </p:sp>
      <p:sp>
        <p:nvSpPr>
          <p:cNvPr id="901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24/72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2.2.6  波形変化まとめ</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h_因子"/>
          <p:cNvSpPr txBox="1"/>
          <p:nvPr/>
        </p:nvSpPr>
        <p:spPr>
          <a:xfrm>
            <a:off x="548640" y="1793288"/>
            <a:ext cx="2368296" cy="420624"/>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因子</a:t>
            </a:r>
          </a:p>
        </p:txBody>
      </p:sp>
      <p:sp>
        <p:nvSpPr>
          <p:cNvPr id="19" name="h_波形"/>
          <p:cNvSpPr txBox="1"/>
          <p:nvPr/>
        </p:nvSpPr>
        <p:spPr>
          <a:xfrm>
            <a:off x="3054095" y="1834323"/>
            <a:ext cx="2971801" cy="338554"/>
          </a:xfrm>
          <a:prstGeom prst="rect">
            <a:avLst/>
          </a:prstGeom>
          <a:noFill/>
        </p:spPr>
        <p:txBody>
          <a:bodyPr wrap="square" lIns="0" tIns="0" rIns="0" bIns="0" anchor="ctr">
            <a:spAutoFit/>
          </a:bodyPr>
          <a:lstStyle/>
          <a:p>
            <a:pPr algn="ctr"/>
            <a:r>
              <a:rPr sz="2200" b="1" dirty="0" err="1">
                <a:solidFill>
                  <a:srgbClr val="262626"/>
                </a:solidFill>
                <a:latin typeface="Meiryo"/>
                <a:ea typeface="Meiryo"/>
                <a:cs typeface="Meiryo"/>
              </a:rPr>
              <a:t>波形</a:t>
            </a:r>
            <a:r>
              <a:rPr lang="en-US" sz="2200" b="1" dirty="0">
                <a:solidFill>
                  <a:srgbClr val="262626"/>
                </a:solidFill>
                <a:latin typeface="Meiryo"/>
                <a:ea typeface="Meiryo"/>
                <a:cs typeface="Meiryo"/>
              </a:rPr>
              <a:t> </a:t>
            </a:r>
            <a:r>
              <a:rPr lang="en-US" sz="1600" dirty="0">
                <a:solidFill>
                  <a:srgbClr val="262626"/>
                </a:solidFill>
                <a:latin typeface="Meiryo"/>
                <a:ea typeface="Meiryo"/>
                <a:cs typeface="Meiryo"/>
              </a:rPr>
              <a:t>( </a:t>
            </a:r>
            <a:r>
              <a:rPr lang="ja-JP" altLang="en-US" sz="1600" b="1">
                <a:solidFill>
                  <a:srgbClr val="808080"/>
                </a:solidFill>
                <a:latin typeface="Meiryo"/>
                <a:ea typeface="Meiryo"/>
                <a:cs typeface="Meiryo"/>
              </a:rPr>
              <a:t>灰＝基準</a:t>
            </a:r>
            <a:r>
              <a:rPr lang="en-US" altLang="ja-JP" sz="1600" b="1" dirty="0">
                <a:solidFill>
                  <a:srgbClr val="808080"/>
                </a:solidFill>
                <a:latin typeface="Meiryo"/>
                <a:ea typeface="Meiryo"/>
                <a:cs typeface="Meiryo"/>
              </a:rPr>
              <a:t> </a:t>
            </a:r>
            <a:r>
              <a:rPr lang="ja-JP" altLang="en-US" sz="1600" b="1">
                <a:solidFill>
                  <a:srgbClr val="808080"/>
                </a:solidFill>
                <a:latin typeface="Meiryo"/>
                <a:ea typeface="Meiryo"/>
                <a:cs typeface="Meiryo"/>
              </a:rPr>
              <a:t>青＝因子</a:t>
            </a:r>
            <a:r>
              <a:rPr lang="ja-JP" altLang="en-US" sz="1600">
                <a:solidFill>
                  <a:srgbClr val="808080"/>
                </a:solidFill>
                <a:latin typeface="Meiryo"/>
                <a:ea typeface="Meiryo"/>
                <a:cs typeface="Meiryo"/>
              </a:rPr>
              <a:t>↑</a:t>
            </a:r>
            <a:r>
              <a:rPr lang="en-US" altLang="ja-JP" sz="1600" dirty="0">
                <a:solidFill>
                  <a:srgbClr val="262626"/>
                </a:solidFill>
                <a:latin typeface="Meiryo"/>
                <a:ea typeface="Meiryo"/>
                <a:cs typeface="Meiryo"/>
              </a:rPr>
              <a:t>)</a:t>
            </a:r>
            <a:endParaRPr sz="1600" dirty="0">
              <a:solidFill>
                <a:srgbClr val="262626"/>
              </a:solidFill>
              <a:latin typeface="Meiryo"/>
              <a:ea typeface="Meiryo"/>
              <a:cs typeface="Meiryo"/>
            </a:endParaRPr>
          </a:p>
        </p:txBody>
      </p:sp>
      <p:sp>
        <p:nvSpPr>
          <p:cNvPr id="20" name="h_変化"/>
          <p:cNvSpPr txBox="1"/>
          <p:nvPr/>
        </p:nvSpPr>
        <p:spPr>
          <a:xfrm>
            <a:off x="6025896" y="1834323"/>
            <a:ext cx="3291840" cy="338554"/>
          </a:xfrm>
          <a:prstGeom prst="rect">
            <a:avLst/>
          </a:prstGeom>
          <a:noFill/>
        </p:spPr>
        <p:txBody>
          <a:bodyPr wrap="square" lIns="0" tIns="0" rIns="0" bIns="0" anchor="ctr">
            <a:spAutoFit/>
          </a:bodyPr>
          <a:lstStyle/>
          <a:p>
            <a:pPr algn="ctr"/>
            <a:r>
              <a:rPr lang="ja-JP" altLang="en-US" sz="2200" b="1">
                <a:solidFill>
                  <a:srgbClr val="262626"/>
                </a:solidFill>
                <a:latin typeface="Meiryo"/>
                <a:ea typeface="Meiryo"/>
                <a:cs typeface="Meiryo"/>
              </a:rPr>
              <a:t>主な</a:t>
            </a:r>
            <a:r>
              <a:rPr sz="2200" b="1" dirty="0" err="1">
                <a:solidFill>
                  <a:srgbClr val="262626"/>
                </a:solidFill>
                <a:latin typeface="Meiryo"/>
                <a:ea typeface="Meiryo"/>
                <a:cs typeface="Meiryo"/>
              </a:rPr>
              <a:t>変化</a:t>
            </a:r>
            <a:r>
              <a:rPr lang="ja-JP" altLang="en-US" sz="2200" b="1">
                <a:solidFill>
                  <a:srgbClr val="262626"/>
                </a:solidFill>
                <a:latin typeface="Meiryo"/>
                <a:ea typeface="Meiryo"/>
                <a:cs typeface="Meiryo"/>
              </a:rPr>
              <a:t>対象</a:t>
            </a:r>
            <a:endParaRPr sz="2200" b="1" dirty="0">
              <a:solidFill>
                <a:srgbClr val="262626"/>
              </a:solidFill>
              <a:latin typeface="Meiryo"/>
              <a:ea typeface="Meiryo"/>
              <a:cs typeface="Meiryo"/>
            </a:endParaRPr>
          </a:p>
        </p:txBody>
      </p:sp>
      <p:sp>
        <p:nvSpPr>
          <p:cNvPr id="21" name="h_文献強度"/>
          <p:cNvSpPr txBox="1"/>
          <p:nvPr/>
        </p:nvSpPr>
        <p:spPr>
          <a:xfrm>
            <a:off x="9454896" y="1793288"/>
            <a:ext cx="2112264" cy="420624"/>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文献強度</a:t>
            </a:r>
          </a:p>
        </p:txBody>
      </p:sp>
      <p:sp>
        <p:nvSpPr>
          <p:cNvPr id="22" name="f0"/>
          <p:cNvSpPr/>
          <p:nvPr/>
        </p:nvSpPr>
        <p:spPr>
          <a:xfrm>
            <a:off x="548640" y="2287064"/>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前負荷</a:t>
            </a:r>
            <a:r>
              <a:rPr sz="2200" b="1" dirty="0">
                <a:solidFill>
                  <a:srgbClr val="262626"/>
                </a:solidFill>
                <a:latin typeface="Meiryo"/>
                <a:ea typeface="Meiryo"/>
                <a:cs typeface="Meiryo"/>
              </a:rPr>
              <a:t> </a:t>
            </a:r>
          </a:p>
        </p:txBody>
      </p:sp>
      <p:sp>
        <p:nvSpPr>
          <p:cNvPr id="23" name="wbox0"/>
          <p:cNvSpPr/>
          <p:nvPr/>
        </p:nvSpPr>
        <p:spPr>
          <a:xfrm>
            <a:off x="3054096" y="2287064"/>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wbase0"/>
          <p:cNvCxnSpPr/>
          <p:nvPr/>
        </p:nvCxnSpPr>
        <p:spPr>
          <a:xfrm>
            <a:off x="3163824" y="2908856"/>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wg0"/>
          <p:cNvSpPr/>
          <p:nvPr/>
        </p:nvSpPr>
        <p:spPr>
          <a:xfrm>
            <a:off x="3163824" y="2529321"/>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wc0"/>
          <p:cNvSpPr/>
          <p:nvPr/>
        </p:nvSpPr>
        <p:spPr>
          <a:xfrm>
            <a:off x="3163824" y="2416745"/>
            <a:ext cx="2615184" cy="492111"/>
          </a:xfrm>
          <a:custGeom>
            <a:avLst/>
            <a:gdLst/>
            <a:ahLst/>
            <a:cxnLst/>
            <a:rect l="l" t="t" r="r" b="b"/>
            <a:pathLst>
              <a:path w="2615184" h="492111">
                <a:moveTo>
                  <a:pt x="0" y="491357"/>
                </a:moveTo>
                <a:lnTo>
                  <a:pt x="14610" y="490991"/>
                </a:lnTo>
                <a:lnTo>
                  <a:pt x="29220" y="490468"/>
                </a:lnTo>
                <a:lnTo>
                  <a:pt x="43830" y="489729"/>
                </a:lnTo>
                <a:lnTo>
                  <a:pt x="58440" y="488702"/>
                </a:lnTo>
                <a:lnTo>
                  <a:pt x="73050" y="487293"/>
                </a:lnTo>
                <a:lnTo>
                  <a:pt x="87660" y="485385"/>
                </a:lnTo>
                <a:lnTo>
                  <a:pt x="102270" y="482839"/>
                </a:lnTo>
                <a:lnTo>
                  <a:pt x="116880" y="479487"/>
                </a:lnTo>
                <a:lnTo>
                  <a:pt x="131490" y="475136"/>
                </a:lnTo>
                <a:lnTo>
                  <a:pt x="146100" y="469569"/>
                </a:lnTo>
                <a:lnTo>
                  <a:pt x="160710" y="462547"/>
                </a:lnTo>
                <a:lnTo>
                  <a:pt x="175320" y="453820"/>
                </a:lnTo>
                <a:lnTo>
                  <a:pt x="189930" y="443131"/>
                </a:lnTo>
                <a:lnTo>
                  <a:pt x="204540" y="430235"/>
                </a:lnTo>
                <a:lnTo>
                  <a:pt x="219149" y="414915"/>
                </a:lnTo>
                <a:lnTo>
                  <a:pt x="233759" y="396995"/>
                </a:lnTo>
                <a:lnTo>
                  <a:pt x="248369" y="376369"/>
                </a:lnTo>
                <a:lnTo>
                  <a:pt x="262979" y="353017"/>
                </a:lnTo>
                <a:lnTo>
                  <a:pt x="277589" y="327028"/>
                </a:lnTo>
                <a:lnTo>
                  <a:pt x="292199" y="298611"/>
                </a:lnTo>
                <a:lnTo>
                  <a:pt x="306809" y="268117"/>
                </a:lnTo>
                <a:lnTo>
                  <a:pt x="321419" y="236031"/>
                </a:lnTo>
                <a:lnTo>
                  <a:pt x="336029" y="202979"/>
                </a:lnTo>
                <a:lnTo>
                  <a:pt x="350639" y="169708"/>
                </a:lnTo>
                <a:lnTo>
                  <a:pt x="365249" y="137063"/>
                </a:lnTo>
                <a:lnTo>
                  <a:pt x="379859" y="105957"/>
                </a:lnTo>
                <a:lnTo>
                  <a:pt x="394469" y="77328"/>
                </a:lnTo>
                <a:lnTo>
                  <a:pt x="409079" y="52091"/>
                </a:lnTo>
                <a:lnTo>
                  <a:pt x="423689" y="31095"/>
                </a:lnTo>
                <a:lnTo>
                  <a:pt x="438299" y="15067"/>
                </a:lnTo>
                <a:lnTo>
                  <a:pt x="452909" y="4577"/>
                </a:lnTo>
                <a:lnTo>
                  <a:pt x="467519" y="0"/>
                </a:lnTo>
                <a:lnTo>
                  <a:pt x="482129" y="1493"/>
                </a:lnTo>
                <a:lnTo>
                  <a:pt x="496739" y="8985"/>
                </a:lnTo>
                <a:lnTo>
                  <a:pt x="511349" y="22182"/>
                </a:lnTo>
                <a:lnTo>
                  <a:pt x="525959" y="40581"/>
                </a:lnTo>
                <a:lnTo>
                  <a:pt x="540569" y="63505"/>
                </a:lnTo>
                <a:lnTo>
                  <a:pt x="555179" y="90138"/>
                </a:lnTo>
                <a:lnTo>
                  <a:pt x="569789" y="119573"/>
                </a:lnTo>
                <a:lnTo>
                  <a:pt x="584399" y="150859"/>
                </a:lnTo>
                <a:lnTo>
                  <a:pt x="599009" y="183052"/>
                </a:lnTo>
                <a:lnTo>
                  <a:pt x="613619" y="215254"/>
                </a:lnTo>
                <a:lnTo>
                  <a:pt x="628229" y="246654"/>
                </a:lnTo>
                <a:lnTo>
                  <a:pt x="642839" y="276552"/>
                </a:lnTo>
                <a:lnTo>
                  <a:pt x="657448" y="304383"/>
                </a:lnTo>
                <a:lnTo>
                  <a:pt x="672058" y="329717"/>
                </a:lnTo>
                <a:lnTo>
                  <a:pt x="686668" y="352267"/>
                </a:lnTo>
                <a:lnTo>
                  <a:pt x="701278" y="371874"/>
                </a:lnTo>
                <a:lnTo>
                  <a:pt x="715888" y="388499"/>
                </a:lnTo>
                <a:lnTo>
                  <a:pt x="730498" y="402196"/>
                </a:lnTo>
                <a:lnTo>
                  <a:pt x="745108" y="413101"/>
                </a:lnTo>
                <a:lnTo>
                  <a:pt x="759718" y="421405"/>
                </a:lnTo>
                <a:lnTo>
                  <a:pt x="774328" y="427337"/>
                </a:lnTo>
                <a:lnTo>
                  <a:pt x="788938" y="431146"/>
                </a:lnTo>
                <a:lnTo>
                  <a:pt x="803548" y="433087"/>
                </a:lnTo>
                <a:lnTo>
                  <a:pt x="818158" y="433411"/>
                </a:lnTo>
                <a:lnTo>
                  <a:pt x="832768" y="432355"/>
                </a:lnTo>
                <a:lnTo>
                  <a:pt x="847378" y="430139"/>
                </a:lnTo>
                <a:lnTo>
                  <a:pt x="861988" y="426963"/>
                </a:lnTo>
                <a:lnTo>
                  <a:pt x="876598" y="423006"/>
                </a:lnTo>
                <a:lnTo>
                  <a:pt x="891208" y="418428"/>
                </a:lnTo>
                <a:lnTo>
                  <a:pt x="905818" y="413370"/>
                </a:lnTo>
                <a:lnTo>
                  <a:pt x="920428" y="407959"/>
                </a:lnTo>
                <a:lnTo>
                  <a:pt x="935038" y="402309"/>
                </a:lnTo>
                <a:lnTo>
                  <a:pt x="949648" y="396523"/>
                </a:lnTo>
                <a:lnTo>
                  <a:pt x="964258" y="390697"/>
                </a:lnTo>
                <a:lnTo>
                  <a:pt x="978868" y="384920"/>
                </a:lnTo>
                <a:lnTo>
                  <a:pt x="993478" y="379275"/>
                </a:lnTo>
                <a:lnTo>
                  <a:pt x="1008088" y="373840"/>
                </a:lnTo>
                <a:lnTo>
                  <a:pt x="1022698" y="368690"/>
                </a:lnTo>
                <a:lnTo>
                  <a:pt x="1037308" y="363894"/>
                </a:lnTo>
                <a:lnTo>
                  <a:pt x="1051918" y="359517"/>
                </a:lnTo>
                <a:lnTo>
                  <a:pt x="1066528" y="355618"/>
                </a:lnTo>
                <a:lnTo>
                  <a:pt x="1081138" y="352251"/>
                </a:lnTo>
                <a:lnTo>
                  <a:pt x="1095747" y="349462"/>
                </a:lnTo>
                <a:lnTo>
                  <a:pt x="1110357" y="347290"/>
                </a:lnTo>
                <a:lnTo>
                  <a:pt x="1124967" y="345764"/>
                </a:lnTo>
                <a:lnTo>
                  <a:pt x="1139577" y="344906"/>
                </a:lnTo>
                <a:lnTo>
                  <a:pt x="1154187" y="344729"/>
                </a:lnTo>
                <a:lnTo>
                  <a:pt x="1168797" y="345234"/>
                </a:lnTo>
                <a:lnTo>
                  <a:pt x="1183407" y="346416"/>
                </a:lnTo>
                <a:lnTo>
                  <a:pt x="1198017" y="348257"/>
                </a:lnTo>
                <a:lnTo>
                  <a:pt x="1212627" y="350733"/>
                </a:lnTo>
                <a:lnTo>
                  <a:pt x="1227237" y="353810"/>
                </a:lnTo>
                <a:lnTo>
                  <a:pt x="1241847" y="357446"/>
                </a:lnTo>
                <a:lnTo>
                  <a:pt x="1256457" y="361593"/>
                </a:lnTo>
                <a:lnTo>
                  <a:pt x="1271067" y="366199"/>
                </a:lnTo>
                <a:lnTo>
                  <a:pt x="1285677" y="371205"/>
                </a:lnTo>
                <a:lnTo>
                  <a:pt x="1300287" y="376549"/>
                </a:lnTo>
                <a:lnTo>
                  <a:pt x="1314897" y="382169"/>
                </a:lnTo>
                <a:lnTo>
                  <a:pt x="1329507" y="387999"/>
                </a:lnTo>
                <a:lnTo>
                  <a:pt x="1344117" y="393977"/>
                </a:lnTo>
                <a:lnTo>
                  <a:pt x="1358727" y="400041"/>
                </a:lnTo>
                <a:lnTo>
                  <a:pt x="1373337" y="406129"/>
                </a:lnTo>
                <a:lnTo>
                  <a:pt x="1387947" y="412187"/>
                </a:lnTo>
                <a:lnTo>
                  <a:pt x="1402557" y="418162"/>
                </a:lnTo>
                <a:lnTo>
                  <a:pt x="1417167" y="424007"/>
                </a:lnTo>
                <a:lnTo>
                  <a:pt x="1431777" y="429681"/>
                </a:lnTo>
                <a:lnTo>
                  <a:pt x="1446387" y="435146"/>
                </a:lnTo>
                <a:lnTo>
                  <a:pt x="1460997" y="440375"/>
                </a:lnTo>
                <a:lnTo>
                  <a:pt x="1475607" y="445340"/>
                </a:lnTo>
                <a:lnTo>
                  <a:pt x="1490217" y="450025"/>
                </a:lnTo>
                <a:lnTo>
                  <a:pt x="1504827" y="454417"/>
                </a:lnTo>
                <a:lnTo>
                  <a:pt x="1519437" y="458506"/>
                </a:lnTo>
                <a:lnTo>
                  <a:pt x="1534046" y="462290"/>
                </a:lnTo>
                <a:lnTo>
                  <a:pt x="1548656" y="465771"/>
                </a:lnTo>
                <a:lnTo>
                  <a:pt x="1563266" y="468953"/>
                </a:lnTo>
                <a:lnTo>
                  <a:pt x="1577876" y="471845"/>
                </a:lnTo>
                <a:lnTo>
                  <a:pt x="1592486" y="474458"/>
                </a:lnTo>
                <a:lnTo>
                  <a:pt x="1607096" y="476806"/>
                </a:lnTo>
                <a:lnTo>
                  <a:pt x="1621706" y="478902"/>
                </a:lnTo>
                <a:lnTo>
                  <a:pt x="1636316" y="480764"/>
                </a:lnTo>
                <a:lnTo>
                  <a:pt x="1650926" y="482409"/>
                </a:lnTo>
                <a:lnTo>
                  <a:pt x="1665536" y="483854"/>
                </a:lnTo>
                <a:lnTo>
                  <a:pt x="1680146" y="485116"/>
                </a:lnTo>
                <a:lnTo>
                  <a:pt x="1694756" y="486213"/>
                </a:lnTo>
                <a:lnTo>
                  <a:pt x="1709366" y="487161"/>
                </a:lnTo>
                <a:lnTo>
                  <a:pt x="1723976" y="487975"/>
                </a:lnTo>
                <a:lnTo>
                  <a:pt x="1738586" y="488672"/>
                </a:lnTo>
                <a:lnTo>
                  <a:pt x="1753196" y="489264"/>
                </a:lnTo>
                <a:lnTo>
                  <a:pt x="1767806" y="489766"/>
                </a:lnTo>
                <a:lnTo>
                  <a:pt x="1782416" y="490188"/>
                </a:lnTo>
                <a:lnTo>
                  <a:pt x="1797026" y="490541"/>
                </a:lnTo>
                <a:lnTo>
                  <a:pt x="1811636" y="490836"/>
                </a:lnTo>
                <a:lnTo>
                  <a:pt x="1826246" y="491080"/>
                </a:lnTo>
                <a:lnTo>
                  <a:pt x="1840856" y="491281"/>
                </a:lnTo>
                <a:lnTo>
                  <a:pt x="1855466" y="491446"/>
                </a:lnTo>
                <a:lnTo>
                  <a:pt x="1870076" y="491580"/>
                </a:lnTo>
                <a:lnTo>
                  <a:pt x="1884686" y="491690"/>
                </a:lnTo>
                <a:lnTo>
                  <a:pt x="1899296" y="491778"/>
                </a:lnTo>
                <a:lnTo>
                  <a:pt x="1913906" y="491849"/>
                </a:lnTo>
                <a:lnTo>
                  <a:pt x="1928516" y="491906"/>
                </a:lnTo>
                <a:lnTo>
                  <a:pt x="1943126" y="491951"/>
                </a:lnTo>
                <a:lnTo>
                  <a:pt x="1957736" y="491987"/>
                </a:lnTo>
                <a:lnTo>
                  <a:pt x="1972345" y="492015"/>
                </a:lnTo>
                <a:lnTo>
                  <a:pt x="1986955" y="492038"/>
                </a:lnTo>
                <a:lnTo>
                  <a:pt x="2001565" y="492055"/>
                </a:lnTo>
                <a:lnTo>
                  <a:pt x="2016175" y="492068"/>
                </a:lnTo>
                <a:lnTo>
                  <a:pt x="2030785" y="492079"/>
                </a:lnTo>
                <a:lnTo>
                  <a:pt x="2045395" y="492087"/>
                </a:lnTo>
                <a:lnTo>
                  <a:pt x="2060005" y="492093"/>
                </a:lnTo>
                <a:lnTo>
                  <a:pt x="2074615" y="492097"/>
                </a:lnTo>
                <a:lnTo>
                  <a:pt x="2089225" y="492101"/>
                </a:lnTo>
                <a:lnTo>
                  <a:pt x="2103835" y="492103"/>
                </a:lnTo>
                <a:lnTo>
                  <a:pt x="2118445" y="492105"/>
                </a:lnTo>
                <a:lnTo>
                  <a:pt x="2133055" y="492107"/>
                </a:lnTo>
                <a:lnTo>
                  <a:pt x="2147665" y="492108"/>
                </a:lnTo>
                <a:lnTo>
                  <a:pt x="2162275" y="492109"/>
                </a:lnTo>
                <a:lnTo>
                  <a:pt x="2176885" y="492109"/>
                </a:lnTo>
                <a:lnTo>
                  <a:pt x="2191495" y="492110"/>
                </a:lnTo>
                <a:lnTo>
                  <a:pt x="2206105" y="492110"/>
                </a:lnTo>
                <a:lnTo>
                  <a:pt x="2220715" y="492110"/>
                </a:lnTo>
                <a:lnTo>
                  <a:pt x="2235325" y="492111"/>
                </a:lnTo>
                <a:lnTo>
                  <a:pt x="2249935" y="492111"/>
                </a:lnTo>
                <a:lnTo>
                  <a:pt x="2264545" y="492111"/>
                </a:lnTo>
                <a:lnTo>
                  <a:pt x="2279155" y="492111"/>
                </a:lnTo>
                <a:lnTo>
                  <a:pt x="2293765" y="492111"/>
                </a:lnTo>
                <a:lnTo>
                  <a:pt x="2308375" y="492111"/>
                </a:lnTo>
                <a:lnTo>
                  <a:pt x="2322985" y="492111"/>
                </a:lnTo>
                <a:lnTo>
                  <a:pt x="2337595" y="492111"/>
                </a:lnTo>
                <a:lnTo>
                  <a:pt x="2352205" y="492111"/>
                </a:lnTo>
                <a:lnTo>
                  <a:pt x="2366815" y="492111"/>
                </a:lnTo>
                <a:lnTo>
                  <a:pt x="2381425" y="492111"/>
                </a:lnTo>
                <a:lnTo>
                  <a:pt x="2396035" y="492111"/>
                </a:lnTo>
                <a:lnTo>
                  <a:pt x="2410644" y="492111"/>
                </a:lnTo>
                <a:lnTo>
                  <a:pt x="2425254" y="492111"/>
                </a:lnTo>
                <a:lnTo>
                  <a:pt x="2439864" y="492111"/>
                </a:lnTo>
                <a:lnTo>
                  <a:pt x="2454474" y="492111"/>
                </a:lnTo>
                <a:lnTo>
                  <a:pt x="2469084" y="492111"/>
                </a:lnTo>
                <a:lnTo>
                  <a:pt x="2483694" y="492111"/>
                </a:lnTo>
                <a:lnTo>
                  <a:pt x="2498304" y="492111"/>
                </a:lnTo>
                <a:lnTo>
                  <a:pt x="2512914" y="492111"/>
                </a:lnTo>
                <a:lnTo>
                  <a:pt x="2527524" y="492111"/>
                </a:lnTo>
                <a:lnTo>
                  <a:pt x="2542134" y="492111"/>
                </a:lnTo>
                <a:lnTo>
                  <a:pt x="2556744" y="492111"/>
                </a:lnTo>
                <a:lnTo>
                  <a:pt x="2571354" y="492111"/>
                </a:lnTo>
                <a:lnTo>
                  <a:pt x="2585964" y="492111"/>
                </a:lnTo>
                <a:lnTo>
                  <a:pt x="2600574" y="492111"/>
                </a:lnTo>
                <a:lnTo>
                  <a:pt x="2615184" y="492111"/>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m0"/>
          <p:cNvSpPr txBox="1"/>
          <p:nvPr/>
        </p:nvSpPr>
        <p:spPr>
          <a:xfrm>
            <a:off x="6025896" y="2456115"/>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全体の</a:t>
            </a:r>
            <a:r>
              <a:rPr sz="2200" b="1" dirty="0" err="1">
                <a:solidFill>
                  <a:srgbClr val="262626"/>
                </a:solidFill>
                <a:latin typeface="Meiryo"/>
                <a:ea typeface="Meiryo"/>
                <a:cs typeface="Meiryo"/>
              </a:rPr>
              <a:t>振幅</a:t>
            </a:r>
            <a:endParaRPr sz="2200" b="1" dirty="0">
              <a:solidFill>
                <a:srgbClr val="262626"/>
              </a:solidFill>
              <a:latin typeface="Meiryo"/>
              <a:ea typeface="Meiryo"/>
              <a:cs typeface="Meiryo"/>
            </a:endParaRPr>
          </a:p>
        </p:txBody>
      </p:sp>
      <p:sp>
        <p:nvSpPr>
          <p:cNvPr id="26" name="g0"/>
          <p:cNvSpPr/>
          <p:nvPr/>
        </p:nvSpPr>
        <p:spPr>
          <a:xfrm>
            <a:off x="9454896" y="2287064"/>
            <a:ext cx="2112264" cy="676656"/>
          </a:xfrm>
          <a:prstGeom prst="roundRect">
            <a:avLst>
              <a:gd name="adj" fmla="val 40000"/>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a:t>
            </a:r>
          </a:p>
        </p:txBody>
      </p:sp>
      <p:sp>
        <p:nvSpPr>
          <p:cNvPr id="27" name="f1"/>
          <p:cNvSpPr/>
          <p:nvPr/>
        </p:nvSpPr>
        <p:spPr>
          <a:xfrm>
            <a:off x="548640" y="3036872"/>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大血管の硬さ</a:t>
            </a:r>
            <a:r>
              <a:rPr sz="2200" b="1" dirty="0">
                <a:solidFill>
                  <a:srgbClr val="262626"/>
                </a:solidFill>
                <a:latin typeface="Meiryo"/>
                <a:ea typeface="Meiryo"/>
                <a:cs typeface="Meiryo"/>
              </a:rPr>
              <a:t> </a:t>
            </a:r>
          </a:p>
        </p:txBody>
      </p:sp>
      <p:sp>
        <p:nvSpPr>
          <p:cNvPr id="28" name="wbox1"/>
          <p:cNvSpPr/>
          <p:nvPr/>
        </p:nvSpPr>
        <p:spPr>
          <a:xfrm>
            <a:off x="3054096" y="3036872"/>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wbase1"/>
          <p:cNvCxnSpPr/>
          <p:nvPr/>
        </p:nvCxnSpPr>
        <p:spPr>
          <a:xfrm>
            <a:off x="3163824" y="3658664"/>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5" name="wg1"/>
          <p:cNvSpPr/>
          <p:nvPr/>
        </p:nvSpPr>
        <p:spPr>
          <a:xfrm>
            <a:off x="3163824" y="3279129"/>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wc1"/>
          <p:cNvSpPr/>
          <p:nvPr/>
        </p:nvSpPr>
        <p:spPr>
          <a:xfrm>
            <a:off x="3163824" y="3212402"/>
            <a:ext cx="2615184" cy="446262"/>
          </a:xfrm>
          <a:custGeom>
            <a:avLst/>
            <a:gdLst/>
            <a:ahLst/>
            <a:cxnLst/>
            <a:rect l="l" t="t" r="r" b="b"/>
            <a:pathLst>
              <a:path w="2615184" h="446262">
                <a:moveTo>
                  <a:pt x="0" y="444703"/>
                </a:moveTo>
                <a:lnTo>
                  <a:pt x="14610" y="444146"/>
                </a:lnTo>
                <a:lnTo>
                  <a:pt x="29220" y="443398"/>
                </a:lnTo>
                <a:lnTo>
                  <a:pt x="43830" y="442402"/>
                </a:lnTo>
                <a:lnTo>
                  <a:pt x="58440" y="441086"/>
                </a:lnTo>
                <a:lnTo>
                  <a:pt x="73050" y="439363"/>
                </a:lnTo>
                <a:lnTo>
                  <a:pt x="87660" y="437130"/>
                </a:lnTo>
                <a:lnTo>
                  <a:pt x="102270" y="434263"/>
                </a:lnTo>
                <a:lnTo>
                  <a:pt x="116880" y="430623"/>
                </a:lnTo>
                <a:lnTo>
                  <a:pt x="131490" y="426052"/>
                </a:lnTo>
                <a:lnTo>
                  <a:pt x="146100" y="420378"/>
                </a:lnTo>
                <a:lnTo>
                  <a:pt x="160710" y="413419"/>
                </a:lnTo>
                <a:lnTo>
                  <a:pt x="175320" y="404989"/>
                </a:lnTo>
                <a:lnTo>
                  <a:pt x="189930" y="394905"/>
                </a:lnTo>
                <a:lnTo>
                  <a:pt x="204540" y="382999"/>
                </a:lnTo>
                <a:lnTo>
                  <a:pt x="219149" y="369128"/>
                </a:lnTo>
                <a:lnTo>
                  <a:pt x="233759" y="353191"/>
                </a:lnTo>
                <a:lnTo>
                  <a:pt x="248369" y="335135"/>
                </a:lnTo>
                <a:lnTo>
                  <a:pt x="262979" y="314976"/>
                </a:lnTo>
                <a:lnTo>
                  <a:pt x="277589" y="292808"/>
                </a:lnTo>
                <a:lnTo>
                  <a:pt x="292199" y="268811"/>
                </a:lnTo>
                <a:lnTo>
                  <a:pt x="306809" y="243256"/>
                </a:lnTo>
                <a:lnTo>
                  <a:pt x="321419" y="216510"/>
                </a:lnTo>
                <a:lnTo>
                  <a:pt x="336029" y="189026"/>
                </a:lnTo>
                <a:lnTo>
                  <a:pt x="350639" y="161335"/>
                </a:lnTo>
                <a:lnTo>
                  <a:pt x="365249" y="134030"/>
                </a:lnTo>
                <a:lnTo>
                  <a:pt x="379859" y="107740"/>
                </a:lnTo>
                <a:lnTo>
                  <a:pt x="394469" y="83107"/>
                </a:lnTo>
                <a:lnTo>
                  <a:pt x="409079" y="60755"/>
                </a:lnTo>
                <a:lnTo>
                  <a:pt x="423689" y="41258"/>
                </a:lnTo>
                <a:lnTo>
                  <a:pt x="438299" y="25115"/>
                </a:lnTo>
                <a:lnTo>
                  <a:pt x="452909" y="12719"/>
                </a:lnTo>
                <a:lnTo>
                  <a:pt x="467519" y="4339"/>
                </a:lnTo>
                <a:lnTo>
                  <a:pt x="482129" y="104"/>
                </a:lnTo>
                <a:lnTo>
                  <a:pt x="496739" y="0"/>
                </a:lnTo>
                <a:lnTo>
                  <a:pt x="511349" y="3868"/>
                </a:lnTo>
                <a:lnTo>
                  <a:pt x="525959" y="11417"/>
                </a:lnTo>
                <a:lnTo>
                  <a:pt x="540569" y="22245"/>
                </a:lnTo>
                <a:lnTo>
                  <a:pt x="555179" y="35855"/>
                </a:lnTo>
                <a:lnTo>
                  <a:pt x="569789" y="51693"/>
                </a:lnTo>
                <a:lnTo>
                  <a:pt x="584399" y="69168"/>
                </a:lnTo>
                <a:lnTo>
                  <a:pt x="599009" y="87691"/>
                </a:lnTo>
                <a:lnTo>
                  <a:pt x="613619" y="106696"/>
                </a:lnTo>
                <a:lnTo>
                  <a:pt x="628229" y="125667"/>
                </a:lnTo>
                <a:lnTo>
                  <a:pt x="642839" y="144158"/>
                </a:lnTo>
                <a:lnTo>
                  <a:pt x="657448" y="161803"/>
                </a:lnTo>
                <a:lnTo>
                  <a:pt x="672058" y="178326"/>
                </a:lnTo>
                <a:lnTo>
                  <a:pt x="686668" y="193539"/>
                </a:lnTo>
                <a:lnTo>
                  <a:pt x="701278" y="207342"/>
                </a:lnTo>
                <a:lnTo>
                  <a:pt x="715888" y="219709"/>
                </a:lnTo>
                <a:lnTo>
                  <a:pt x="730498" y="230685"/>
                </a:lnTo>
                <a:lnTo>
                  <a:pt x="745108" y="240364"/>
                </a:lnTo>
                <a:lnTo>
                  <a:pt x="759718" y="248882"/>
                </a:lnTo>
                <a:lnTo>
                  <a:pt x="774328" y="256399"/>
                </a:lnTo>
                <a:lnTo>
                  <a:pt x="788938" y="263087"/>
                </a:lnTo>
                <a:lnTo>
                  <a:pt x="803548" y="269123"/>
                </a:lnTo>
                <a:lnTo>
                  <a:pt x="818158" y="274673"/>
                </a:lnTo>
                <a:lnTo>
                  <a:pt x="832768" y="279893"/>
                </a:lnTo>
                <a:lnTo>
                  <a:pt x="847378" y="284917"/>
                </a:lnTo>
                <a:lnTo>
                  <a:pt x="861988" y="289859"/>
                </a:lnTo>
                <a:lnTo>
                  <a:pt x="876598" y="294810"/>
                </a:lnTo>
                <a:lnTo>
                  <a:pt x="891208" y="299838"/>
                </a:lnTo>
                <a:lnTo>
                  <a:pt x="905818" y="304989"/>
                </a:lnTo>
                <a:lnTo>
                  <a:pt x="920428" y="310291"/>
                </a:lnTo>
                <a:lnTo>
                  <a:pt x="935038" y="315754"/>
                </a:lnTo>
                <a:lnTo>
                  <a:pt x="949648" y="321374"/>
                </a:lnTo>
                <a:lnTo>
                  <a:pt x="964258" y="327135"/>
                </a:lnTo>
                <a:lnTo>
                  <a:pt x="978868" y="333013"/>
                </a:lnTo>
                <a:lnTo>
                  <a:pt x="993478" y="338977"/>
                </a:lnTo>
                <a:lnTo>
                  <a:pt x="1008088" y="344991"/>
                </a:lnTo>
                <a:lnTo>
                  <a:pt x="1022698" y="351017"/>
                </a:lnTo>
                <a:lnTo>
                  <a:pt x="1037308" y="357016"/>
                </a:lnTo>
                <a:lnTo>
                  <a:pt x="1051918" y="362951"/>
                </a:lnTo>
                <a:lnTo>
                  <a:pt x="1066528" y="368785"/>
                </a:lnTo>
                <a:lnTo>
                  <a:pt x="1081138" y="374484"/>
                </a:lnTo>
                <a:lnTo>
                  <a:pt x="1095747" y="380017"/>
                </a:lnTo>
                <a:lnTo>
                  <a:pt x="1110357" y="385357"/>
                </a:lnTo>
                <a:lnTo>
                  <a:pt x="1124967" y="390481"/>
                </a:lnTo>
                <a:lnTo>
                  <a:pt x="1139577" y="395370"/>
                </a:lnTo>
                <a:lnTo>
                  <a:pt x="1154187" y="400009"/>
                </a:lnTo>
                <a:lnTo>
                  <a:pt x="1168797" y="404386"/>
                </a:lnTo>
                <a:lnTo>
                  <a:pt x="1183407" y="408495"/>
                </a:lnTo>
                <a:lnTo>
                  <a:pt x="1198017" y="412331"/>
                </a:lnTo>
                <a:lnTo>
                  <a:pt x="1212627" y="415895"/>
                </a:lnTo>
                <a:lnTo>
                  <a:pt x="1227237" y="419189"/>
                </a:lnTo>
                <a:lnTo>
                  <a:pt x="1241847" y="422219"/>
                </a:lnTo>
                <a:lnTo>
                  <a:pt x="1256457" y="424991"/>
                </a:lnTo>
                <a:lnTo>
                  <a:pt x="1271067" y="427517"/>
                </a:lnTo>
                <a:lnTo>
                  <a:pt x="1285677" y="429806"/>
                </a:lnTo>
                <a:lnTo>
                  <a:pt x="1300287" y="431871"/>
                </a:lnTo>
                <a:lnTo>
                  <a:pt x="1314897" y="433725"/>
                </a:lnTo>
                <a:lnTo>
                  <a:pt x="1329507" y="435382"/>
                </a:lnTo>
                <a:lnTo>
                  <a:pt x="1344117" y="436857"/>
                </a:lnTo>
                <a:lnTo>
                  <a:pt x="1358727" y="438163"/>
                </a:lnTo>
                <a:lnTo>
                  <a:pt x="1373337" y="439314"/>
                </a:lnTo>
                <a:lnTo>
                  <a:pt x="1387947" y="440325"/>
                </a:lnTo>
                <a:lnTo>
                  <a:pt x="1402557" y="441208"/>
                </a:lnTo>
                <a:lnTo>
                  <a:pt x="1417167" y="441977"/>
                </a:lnTo>
                <a:lnTo>
                  <a:pt x="1431777" y="442642"/>
                </a:lnTo>
                <a:lnTo>
                  <a:pt x="1446387" y="443216"/>
                </a:lnTo>
                <a:lnTo>
                  <a:pt x="1460997" y="443709"/>
                </a:lnTo>
                <a:lnTo>
                  <a:pt x="1475607" y="444130"/>
                </a:lnTo>
                <a:lnTo>
                  <a:pt x="1490217" y="444489"/>
                </a:lnTo>
                <a:lnTo>
                  <a:pt x="1504827" y="444793"/>
                </a:lnTo>
                <a:lnTo>
                  <a:pt x="1519437" y="445049"/>
                </a:lnTo>
                <a:lnTo>
                  <a:pt x="1534046" y="445265"/>
                </a:lnTo>
                <a:lnTo>
                  <a:pt x="1548656" y="445445"/>
                </a:lnTo>
                <a:lnTo>
                  <a:pt x="1563266" y="445596"/>
                </a:lnTo>
                <a:lnTo>
                  <a:pt x="1577876" y="445720"/>
                </a:lnTo>
                <a:lnTo>
                  <a:pt x="1592486" y="445823"/>
                </a:lnTo>
                <a:lnTo>
                  <a:pt x="1607096" y="445908"/>
                </a:lnTo>
                <a:lnTo>
                  <a:pt x="1621706" y="445978"/>
                </a:lnTo>
                <a:lnTo>
                  <a:pt x="1636316" y="446035"/>
                </a:lnTo>
                <a:lnTo>
                  <a:pt x="1650926" y="446081"/>
                </a:lnTo>
                <a:lnTo>
                  <a:pt x="1665536" y="446118"/>
                </a:lnTo>
                <a:lnTo>
                  <a:pt x="1680146" y="446148"/>
                </a:lnTo>
                <a:lnTo>
                  <a:pt x="1694756" y="446172"/>
                </a:lnTo>
                <a:lnTo>
                  <a:pt x="1709366" y="446192"/>
                </a:lnTo>
                <a:lnTo>
                  <a:pt x="1723976" y="446207"/>
                </a:lnTo>
                <a:lnTo>
                  <a:pt x="1738586" y="446219"/>
                </a:lnTo>
                <a:lnTo>
                  <a:pt x="1753196" y="446229"/>
                </a:lnTo>
                <a:lnTo>
                  <a:pt x="1767806" y="446236"/>
                </a:lnTo>
                <a:lnTo>
                  <a:pt x="1782416" y="446242"/>
                </a:lnTo>
                <a:lnTo>
                  <a:pt x="1797026" y="446247"/>
                </a:lnTo>
                <a:lnTo>
                  <a:pt x="1811636" y="446250"/>
                </a:lnTo>
                <a:lnTo>
                  <a:pt x="1826246" y="446253"/>
                </a:lnTo>
                <a:lnTo>
                  <a:pt x="1840856" y="446255"/>
                </a:lnTo>
                <a:lnTo>
                  <a:pt x="1855466" y="446257"/>
                </a:lnTo>
                <a:lnTo>
                  <a:pt x="1870076" y="446258"/>
                </a:lnTo>
                <a:lnTo>
                  <a:pt x="1884686" y="446259"/>
                </a:lnTo>
                <a:lnTo>
                  <a:pt x="1899296" y="446260"/>
                </a:lnTo>
                <a:lnTo>
                  <a:pt x="1913906" y="446260"/>
                </a:lnTo>
                <a:lnTo>
                  <a:pt x="1928516" y="446261"/>
                </a:lnTo>
                <a:lnTo>
                  <a:pt x="1943126" y="446261"/>
                </a:lnTo>
                <a:lnTo>
                  <a:pt x="1957736" y="446261"/>
                </a:lnTo>
                <a:lnTo>
                  <a:pt x="1972345" y="446262"/>
                </a:lnTo>
                <a:lnTo>
                  <a:pt x="1986955" y="446262"/>
                </a:lnTo>
                <a:lnTo>
                  <a:pt x="2001565" y="446262"/>
                </a:lnTo>
                <a:lnTo>
                  <a:pt x="2016175" y="446262"/>
                </a:lnTo>
                <a:lnTo>
                  <a:pt x="2030785" y="446262"/>
                </a:lnTo>
                <a:lnTo>
                  <a:pt x="2045395" y="446262"/>
                </a:lnTo>
                <a:lnTo>
                  <a:pt x="2060005" y="446262"/>
                </a:lnTo>
                <a:lnTo>
                  <a:pt x="2074615" y="446262"/>
                </a:lnTo>
                <a:lnTo>
                  <a:pt x="2089225" y="446262"/>
                </a:lnTo>
                <a:lnTo>
                  <a:pt x="2103835" y="446262"/>
                </a:lnTo>
                <a:lnTo>
                  <a:pt x="2118445" y="446262"/>
                </a:lnTo>
                <a:lnTo>
                  <a:pt x="2133055" y="446262"/>
                </a:lnTo>
                <a:lnTo>
                  <a:pt x="2147665" y="446262"/>
                </a:lnTo>
                <a:lnTo>
                  <a:pt x="2162275" y="446262"/>
                </a:lnTo>
                <a:lnTo>
                  <a:pt x="2176885" y="446262"/>
                </a:lnTo>
                <a:lnTo>
                  <a:pt x="2191495" y="446262"/>
                </a:lnTo>
                <a:lnTo>
                  <a:pt x="2206105" y="446262"/>
                </a:lnTo>
                <a:lnTo>
                  <a:pt x="2220715" y="446262"/>
                </a:lnTo>
                <a:lnTo>
                  <a:pt x="2235325" y="446262"/>
                </a:lnTo>
                <a:lnTo>
                  <a:pt x="2249935" y="446262"/>
                </a:lnTo>
                <a:lnTo>
                  <a:pt x="2264545" y="446262"/>
                </a:lnTo>
                <a:lnTo>
                  <a:pt x="2279155" y="446262"/>
                </a:lnTo>
                <a:lnTo>
                  <a:pt x="2293765" y="446262"/>
                </a:lnTo>
                <a:lnTo>
                  <a:pt x="2308375" y="446262"/>
                </a:lnTo>
                <a:lnTo>
                  <a:pt x="2322985" y="446262"/>
                </a:lnTo>
                <a:lnTo>
                  <a:pt x="2337595" y="446262"/>
                </a:lnTo>
                <a:lnTo>
                  <a:pt x="2352205" y="446262"/>
                </a:lnTo>
                <a:lnTo>
                  <a:pt x="2366815" y="446262"/>
                </a:lnTo>
                <a:lnTo>
                  <a:pt x="2381425" y="446262"/>
                </a:lnTo>
                <a:lnTo>
                  <a:pt x="2396035" y="446262"/>
                </a:lnTo>
                <a:lnTo>
                  <a:pt x="2410644" y="446262"/>
                </a:lnTo>
                <a:lnTo>
                  <a:pt x="2425254" y="446262"/>
                </a:lnTo>
                <a:lnTo>
                  <a:pt x="2439864" y="446262"/>
                </a:lnTo>
                <a:lnTo>
                  <a:pt x="2454474" y="446262"/>
                </a:lnTo>
                <a:lnTo>
                  <a:pt x="2469084" y="446262"/>
                </a:lnTo>
                <a:lnTo>
                  <a:pt x="2483694" y="446262"/>
                </a:lnTo>
                <a:lnTo>
                  <a:pt x="2498304" y="446262"/>
                </a:lnTo>
                <a:lnTo>
                  <a:pt x="2512914" y="446262"/>
                </a:lnTo>
                <a:lnTo>
                  <a:pt x="2527524" y="446262"/>
                </a:lnTo>
                <a:lnTo>
                  <a:pt x="2542134" y="446262"/>
                </a:lnTo>
                <a:lnTo>
                  <a:pt x="2556744" y="446262"/>
                </a:lnTo>
                <a:lnTo>
                  <a:pt x="2571354" y="446262"/>
                </a:lnTo>
                <a:lnTo>
                  <a:pt x="2585964" y="446262"/>
                </a:lnTo>
                <a:lnTo>
                  <a:pt x="2600574" y="446262"/>
                </a:lnTo>
                <a:lnTo>
                  <a:pt x="2615184" y="446262"/>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m1"/>
          <p:cNvSpPr txBox="1"/>
          <p:nvPr/>
        </p:nvSpPr>
        <p:spPr>
          <a:xfrm>
            <a:off x="6025896" y="3205923"/>
            <a:ext cx="3291840" cy="338554"/>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反射波</a:t>
            </a:r>
            <a:r>
              <a:rPr lang="ja-JP" altLang="en-US" sz="2200" b="1">
                <a:solidFill>
                  <a:srgbClr val="262626"/>
                </a:solidFill>
                <a:latin typeface="Meiryo"/>
                <a:ea typeface="Meiryo"/>
                <a:cs typeface="Meiryo"/>
              </a:rPr>
              <a:t>の時相</a:t>
            </a:r>
            <a:endParaRPr sz="2200" b="1" dirty="0">
              <a:solidFill>
                <a:srgbClr val="262626"/>
              </a:solidFill>
              <a:latin typeface="Meiryo"/>
              <a:ea typeface="Meiryo"/>
              <a:cs typeface="Meiryo"/>
            </a:endParaRPr>
          </a:p>
        </p:txBody>
      </p:sp>
      <p:sp>
        <p:nvSpPr>
          <p:cNvPr id="31" name="g1"/>
          <p:cNvSpPr/>
          <p:nvPr/>
        </p:nvSpPr>
        <p:spPr>
          <a:xfrm>
            <a:off x="9454896" y="3036872"/>
            <a:ext cx="2112264" cy="676656"/>
          </a:xfrm>
          <a:prstGeom prst="roundRect">
            <a:avLst>
              <a:gd name="adj" fmla="val 40000"/>
            </a:avLst>
          </a:prstGeom>
          <a:solidFill>
            <a:srgbClr val="BF90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実測+モデル</a:t>
            </a:r>
          </a:p>
        </p:txBody>
      </p:sp>
      <p:sp>
        <p:nvSpPr>
          <p:cNvPr id="32" name="f2"/>
          <p:cNvSpPr/>
          <p:nvPr/>
        </p:nvSpPr>
        <p:spPr>
          <a:xfrm>
            <a:off x="548640" y="3786680"/>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末梢トーヌス</a:t>
            </a:r>
            <a:r>
              <a:rPr sz="2200" b="1" dirty="0">
                <a:solidFill>
                  <a:srgbClr val="262626"/>
                </a:solidFill>
                <a:latin typeface="Meiryo"/>
                <a:ea typeface="Meiryo"/>
                <a:cs typeface="Meiryo"/>
              </a:rPr>
              <a:t> </a:t>
            </a:r>
          </a:p>
        </p:txBody>
      </p:sp>
      <p:sp>
        <p:nvSpPr>
          <p:cNvPr id="33" name="wbox2"/>
          <p:cNvSpPr/>
          <p:nvPr/>
        </p:nvSpPr>
        <p:spPr>
          <a:xfrm>
            <a:off x="3054096" y="3786680"/>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wbase2"/>
          <p:cNvCxnSpPr/>
          <p:nvPr/>
        </p:nvCxnSpPr>
        <p:spPr>
          <a:xfrm>
            <a:off x="3163824" y="4408472"/>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7" name="wg2"/>
          <p:cNvSpPr/>
          <p:nvPr/>
        </p:nvSpPr>
        <p:spPr>
          <a:xfrm>
            <a:off x="3163824" y="4028937"/>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c2"/>
          <p:cNvSpPr/>
          <p:nvPr/>
        </p:nvSpPr>
        <p:spPr>
          <a:xfrm>
            <a:off x="3163824" y="4028338"/>
            <a:ext cx="2615184" cy="380134"/>
          </a:xfrm>
          <a:custGeom>
            <a:avLst/>
            <a:gdLst/>
            <a:ahLst/>
            <a:cxnLst/>
            <a:rect l="l" t="t" r="r" b="b"/>
            <a:pathLst>
              <a:path w="2615184" h="380134">
                <a:moveTo>
                  <a:pt x="0" y="379554"/>
                </a:moveTo>
                <a:lnTo>
                  <a:pt x="14610" y="379272"/>
                </a:lnTo>
                <a:lnTo>
                  <a:pt x="29220" y="378869"/>
                </a:lnTo>
                <a:lnTo>
                  <a:pt x="43830" y="378301"/>
                </a:lnTo>
                <a:lnTo>
                  <a:pt x="58440" y="377511"/>
                </a:lnTo>
                <a:lnTo>
                  <a:pt x="73050" y="376426"/>
                </a:lnTo>
                <a:lnTo>
                  <a:pt x="87660" y="374958"/>
                </a:lnTo>
                <a:lnTo>
                  <a:pt x="102270" y="372999"/>
                </a:lnTo>
                <a:lnTo>
                  <a:pt x="116880" y="370419"/>
                </a:lnTo>
                <a:lnTo>
                  <a:pt x="131490" y="367071"/>
                </a:lnTo>
                <a:lnTo>
                  <a:pt x="146100" y="362787"/>
                </a:lnTo>
                <a:lnTo>
                  <a:pt x="160710" y="357383"/>
                </a:lnTo>
                <a:lnTo>
                  <a:pt x="175320" y="350666"/>
                </a:lnTo>
                <a:lnTo>
                  <a:pt x="189930" y="342440"/>
                </a:lnTo>
                <a:lnTo>
                  <a:pt x="204540" y="332515"/>
                </a:lnTo>
                <a:lnTo>
                  <a:pt x="219149" y="320722"/>
                </a:lnTo>
                <a:lnTo>
                  <a:pt x="233759" y="306929"/>
                </a:lnTo>
                <a:lnTo>
                  <a:pt x="248369" y="291051"/>
                </a:lnTo>
                <a:lnTo>
                  <a:pt x="262979" y="273072"/>
                </a:lnTo>
                <a:lnTo>
                  <a:pt x="277589" y="253061"/>
                </a:lnTo>
                <a:lnTo>
                  <a:pt x="292199" y="231177"/>
                </a:lnTo>
                <a:lnTo>
                  <a:pt x="306809" y="207689"/>
                </a:lnTo>
                <a:lnTo>
                  <a:pt x="321419" y="182968"/>
                </a:lnTo>
                <a:lnTo>
                  <a:pt x="336029" y="157495"/>
                </a:lnTo>
                <a:lnTo>
                  <a:pt x="350639" y="131841"/>
                </a:lnTo>
                <a:lnTo>
                  <a:pt x="365249" y="106655"/>
                </a:lnTo>
                <a:lnTo>
                  <a:pt x="379859" y="82636"/>
                </a:lnTo>
                <a:lnTo>
                  <a:pt x="394469" y="60501"/>
                </a:lnTo>
                <a:lnTo>
                  <a:pt x="409079" y="40952"/>
                </a:lnTo>
                <a:lnTo>
                  <a:pt x="423689" y="24636"/>
                </a:lnTo>
                <a:lnTo>
                  <a:pt x="438299" y="12109"/>
                </a:lnTo>
                <a:lnTo>
                  <a:pt x="452909" y="3803"/>
                </a:lnTo>
                <a:lnTo>
                  <a:pt x="467519" y="0"/>
                </a:lnTo>
                <a:lnTo>
                  <a:pt x="482129" y="816"/>
                </a:lnTo>
                <a:lnTo>
                  <a:pt x="496739" y="6187"/>
                </a:lnTo>
                <a:lnTo>
                  <a:pt x="511349" y="15880"/>
                </a:lnTo>
                <a:lnTo>
                  <a:pt x="525959" y="29500"/>
                </a:lnTo>
                <a:lnTo>
                  <a:pt x="540569" y="46517"/>
                </a:lnTo>
                <a:lnTo>
                  <a:pt x="555179" y="66294"/>
                </a:lnTo>
                <a:lnTo>
                  <a:pt x="569789" y="88124"/>
                </a:lnTo>
                <a:lnTo>
                  <a:pt x="584399" y="111268"/>
                </a:lnTo>
                <a:lnTo>
                  <a:pt x="599009" y="134988"/>
                </a:lnTo>
                <a:lnTo>
                  <a:pt x="613619" y="158587"/>
                </a:lnTo>
                <a:lnTo>
                  <a:pt x="628229" y="181431"/>
                </a:lnTo>
                <a:lnTo>
                  <a:pt x="642839" y="202976"/>
                </a:lnTo>
                <a:lnTo>
                  <a:pt x="657448" y="222781"/>
                </a:lnTo>
                <a:lnTo>
                  <a:pt x="672058" y="240511"/>
                </a:lnTo>
                <a:lnTo>
                  <a:pt x="686668" y="255943"/>
                </a:lnTo>
                <a:lnTo>
                  <a:pt x="701278" y="268955"/>
                </a:lnTo>
                <a:lnTo>
                  <a:pt x="715888" y="279519"/>
                </a:lnTo>
                <a:lnTo>
                  <a:pt x="730498" y="287682"/>
                </a:lnTo>
                <a:lnTo>
                  <a:pt x="745108" y="293557"/>
                </a:lnTo>
                <a:lnTo>
                  <a:pt x="759718" y="297302"/>
                </a:lnTo>
                <a:lnTo>
                  <a:pt x="774328" y="299108"/>
                </a:lnTo>
                <a:lnTo>
                  <a:pt x="788938" y="299185"/>
                </a:lnTo>
                <a:lnTo>
                  <a:pt x="803548" y="297751"/>
                </a:lnTo>
                <a:lnTo>
                  <a:pt x="818158" y="295025"/>
                </a:lnTo>
                <a:lnTo>
                  <a:pt x="832768" y="291216"/>
                </a:lnTo>
                <a:lnTo>
                  <a:pt x="847378" y="286526"/>
                </a:lnTo>
                <a:lnTo>
                  <a:pt x="861988" y="281140"/>
                </a:lnTo>
                <a:lnTo>
                  <a:pt x="876598" y="275231"/>
                </a:lnTo>
                <a:lnTo>
                  <a:pt x="891208" y="268959"/>
                </a:lnTo>
                <a:lnTo>
                  <a:pt x="905818" y="262470"/>
                </a:lnTo>
                <a:lnTo>
                  <a:pt x="920428" y="255896"/>
                </a:lnTo>
                <a:lnTo>
                  <a:pt x="935038" y="249362"/>
                </a:lnTo>
                <a:lnTo>
                  <a:pt x="949648" y="242980"/>
                </a:lnTo>
                <a:lnTo>
                  <a:pt x="964258" y="236856"/>
                </a:lnTo>
                <a:lnTo>
                  <a:pt x="978868" y="231084"/>
                </a:lnTo>
                <a:lnTo>
                  <a:pt x="993478" y="225753"/>
                </a:lnTo>
                <a:lnTo>
                  <a:pt x="1008088" y="220942"/>
                </a:lnTo>
                <a:lnTo>
                  <a:pt x="1022698" y="216721"/>
                </a:lnTo>
                <a:lnTo>
                  <a:pt x="1037308" y="213153"/>
                </a:lnTo>
                <a:lnTo>
                  <a:pt x="1051918" y="210289"/>
                </a:lnTo>
                <a:lnTo>
                  <a:pt x="1066528" y="208171"/>
                </a:lnTo>
                <a:lnTo>
                  <a:pt x="1081138" y="206830"/>
                </a:lnTo>
                <a:lnTo>
                  <a:pt x="1095747" y="206285"/>
                </a:lnTo>
                <a:lnTo>
                  <a:pt x="1110357" y="206545"/>
                </a:lnTo>
                <a:lnTo>
                  <a:pt x="1124967" y="207606"/>
                </a:lnTo>
                <a:lnTo>
                  <a:pt x="1139577" y="209455"/>
                </a:lnTo>
                <a:lnTo>
                  <a:pt x="1154187" y="212065"/>
                </a:lnTo>
                <a:lnTo>
                  <a:pt x="1168797" y="215402"/>
                </a:lnTo>
                <a:lnTo>
                  <a:pt x="1183407" y="219420"/>
                </a:lnTo>
                <a:lnTo>
                  <a:pt x="1198017" y="224066"/>
                </a:lnTo>
                <a:lnTo>
                  <a:pt x="1212627" y="229279"/>
                </a:lnTo>
                <a:lnTo>
                  <a:pt x="1227237" y="234994"/>
                </a:lnTo>
                <a:lnTo>
                  <a:pt x="1241847" y="241139"/>
                </a:lnTo>
                <a:lnTo>
                  <a:pt x="1256457" y="247640"/>
                </a:lnTo>
                <a:lnTo>
                  <a:pt x="1271067" y="254422"/>
                </a:lnTo>
                <a:lnTo>
                  <a:pt x="1285677" y="261409"/>
                </a:lnTo>
                <a:lnTo>
                  <a:pt x="1300287" y="268527"/>
                </a:lnTo>
                <a:lnTo>
                  <a:pt x="1314897" y="275704"/>
                </a:lnTo>
                <a:lnTo>
                  <a:pt x="1329507" y="282872"/>
                </a:lnTo>
                <a:lnTo>
                  <a:pt x="1344117" y="289968"/>
                </a:lnTo>
                <a:lnTo>
                  <a:pt x="1358727" y="296933"/>
                </a:lnTo>
                <a:lnTo>
                  <a:pt x="1373337" y="303715"/>
                </a:lnTo>
                <a:lnTo>
                  <a:pt x="1387947" y="310270"/>
                </a:lnTo>
                <a:lnTo>
                  <a:pt x="1402557" y="316558"/>
                </a:lnTo>
                <a:lnTo>
                  <a:pt x="1417167" y="322548"/>
                </a:lnTo>
                <a:lnTo>
                  <a:pt x="1431777" y="328215"/>
                </a:lnTo>
                <a:lnTo>
                  <a:pt x="1446387" y="333542"/>
                </a:lnTo>
                <a:lnTo>
                  <a:pt x="1460997" y="338515"/>
                </a:lnTo>
                <a:lnTo>
                  <a:pt x="1475607" y="343130"/>
                </a:lnTo>
                <a:lnTo>
                  <a:pt x="1490217" y="347385"/>
                </a:lnTo>
                <a:lnTo>
                  <a:pt x="1504827" y="351286"/>
                </a:lnTo>
                <a:lnTo>
                  <a:pt x="1519437" y="354839"/>
                </a:lnTo>
                <a:lnTo>
                  <a:pt x="1534046" y="358057"/>
                </a:lnTo>
                <a:lnTo>
                  <a:pt x="1548656" y="360956"/>
                </a:lnTo>
                <a:lnTo>
                  <a:pt x="1563266" y="363551"/>
                </a:lnTo>
                <a:lnTo>
                  <a:pt x="1577876" y="365861"/>
                </a:lnTo>
                <a:lnTo>
                  <a:pt x="1592486" y="367906"/>
                </a:lnTo>
                <a:lnTo>
                  <a:pt x="1607096" y="369707"/>
                </a:lnTo>
                <a:lnTo>
                  <a:pt x="1621706" y="371283"/>
                </a:lnTo>
                <a:lnTo>
                  <a:pt x="1636316" y="372656"/>
                </a:lnTo>
                <a:lnTo>
                  <a:pt x="1650926" y="373846"/>
                </a:lnTo>
                <a:lnTo>
                  <a:pt x="1665536" y="374870"/>
                </a:lnTo>
                <a:lnTo>
                  <a:pt x="1680146" y="375748"/>
                </a:lnTo>
                <a:lnTo>
                  <a:pt x="1694756" y="376497"/>
                </a:lnTo>
                <a:lnTo>
                  <a:pt x="1709366" y="377132"/>
                </a:lnTo>
                <a:lnTo>
                  <a:pt x="1723976" y="377667"/>
                </a:lnTo>
                <a:lnTo>
                  <a:pt x="1738586" y="378116"/>
                </a:lnTo>
                <a:lnTo>
                  <a:pt x="1753196" y="378492"/>
                </a:lnTo>
                <a:lnTo>
                  <a:pt x="1767806" y="378803"/>
                </a:lnTo>
                <a:lnTo>
                  <a:pt x="1782416" y="379061"/>
                </a:lnTo>
                <a:lnTo>
                  <a:pt x="1797026" y="379272"/>
                </a:lnTo>
                <a:lnTo>
                  <a:pt x="1811636" y="379445"/>
                </a:lnTo>
                <a:lnTo>
                  <a:pt x="1826246" y="379586"/>
                </a:lnTo>
                <a:lnTo>
                  <a:pt x="1840856" y="379700"/>
                </a:lnTo>
                <a:lnTo>
                  <a:pt x="1855466" y="379792"/>
                </a:lnTo>
                <a:lnTo>
                  <a:pt x="1870076" y="379866"/>
                </a:lnTo>
                <a:lnTo>
                  <a:pt x="1884686" y="379925"/>
                </a:lnTo>
                <a:lnTo>
                  <a:pt x="1899296" y="379971"/>
                </a:lnTo>
                <a:lnTo>
                  <a:pt x="1913906" y="380008"/>
                </a:lnTo>
                <a:lnTo>
                  <a:pt x="1928516" y="380037"/>
                </a:lnTo>
                <a:lnTo>
                  <a:pt x="1943126" y="380060"/>
                </a:lnTo>
                <a:lnTo>
                  <a:pt x="1957736" y="380077"/>
                </a:lnTo>
                <a:lnTo>
                  <a:pt x="1972345" y="380091"/>
                </a:lnTo>
                <a:lnTo>
                  <a:pt x="1986955" y="380102"/>
                </a:lnTo>
                <a:lnTo>
                  <a:pt x="2001565" y="380110"/>
                </a:lnTo>
                <a:lnTo>
                  <a:pt x="2016175" y="380116"/>
                </a:lnTo>
                <a:lnTo>
                  <a:pt x="2030785" y="380120"/>
                </a:lnTo>
                <a:lnTo>
                  <a:pt x="2045395" y="380124"/>
                </a:lnTo>
                <a:lnTo>
                  <a:pt x="2060005" y="380127"/>
                </a:lnTo>
                <a:lnTo>
                  <a:pt x="2074615" y="380129"/>
                </a:lnTo>
                <a:lnTo>
                  <a:pt x="2089225" y="380130"/>
                </a:lnTo>
                <a:lnTo>
                  <a:pt x="2103835" y="380131"/>
                </a:lnTo>
                <a:lnTo>
                  <a:pt x="2118445" y="380132"/>
                </a:lnTo>
                <a:lnTo>
                  <a:pt x="2133055" y="380132"/>
                </a:lnTo>
                <a:lnTo>
                  <a:pt x="2147665" y="380133"/>
                </a:lnTo>
                <a:lnTo>
                  <a:pt x="2162275" y="380133"/>
                </a:lnTo>
                <a:lnTo>
                  <a:pt x="2176885" y="380133"/>
                </a:lnTo>
                <a:lnTo>
                  <a:pt x="2191495" y="380134"/>
                </a:lnTo>
                <a:lnTo>
                  <a:pt x="2206105" y="380134"/>
                </a:lnTo>
                <a:lnTo>
                  <a:pt x="2220715" y="380134"/>
                </a:lnTo>
                <a:lnTo>
                  <a:pt x="2235325" y="380134"/>
                </a:lnTo>
                <a:lnTo>
                  <a:pt x="2249935" y="380134"/>
                </a:lnTo>
                <a:lnTo>
                  <a:pt x="2264545" y="380134"/>
                </a:lnTo>
                <a:lnTo>
                  <a:pt x="2279155" y="380134"/>
                </a:lnTo>
                <a:lnTo>
                  <a:pt x="2293765" y="380134"/>
                </a:lnTo>
                <a:lnTo>
                  <a:pt x="2308375" y="380134"/>
                </a:lnTo>
                <a:lnTo>
                  <a:pt x="2322985" y="380134"/>
                </a:lnTo>
                <a:lnTo>
                  <a:pt x="2337595" y="380134"/>
                </a:lnTo>
                <a:lnTo>
                  <a:pt x="2352205" y="380134"/>
                </a:lnTo>
                <a:lnTo>
                  <a:pt x="2366815" y="380134"/>
                </a:lnTo>
                <a:lnTo>
                  <a:pt x="2381425" y="380134"/>
                </a:lnTo>
                <a:lnTo>
                  <a:pt x="2396035" y="380134"/>
                </a:lnTo>
                <a:lnTo>
                  <a:pt x="2410644" y="380134"/>
                </a:lnTo>
                <a:lnTo>
                  <a:pt x="2425254" y="380134"/>
                </a:lnTo>
                <a:lnTo>
                  <a:pt x="2439864" y="380134"/>
                </a:lnTo>
                <a:lnTo>
                  <a:pt x="2454474" y="380134"/>
                </a:lnTo>
                <a:lnTo>
                  <a:pt x="2469084" y="380134"/>
                </a:lnTo>
                <a:lnTo>
                  <a:pt x="2483694" y="380134"/>
                </a:lnTo>
                <a:lnTo>
                  <a:pt x="2498304" y="380134"/>
                </a:lnTo>
                <a:lnTo>
                  <a:pt x="2512914" y="380134"/>
                </a:lnTo>
                <a:lnTo>
                  <a:pt x="2527524" y="380134"/>
                </a:lnTo>
                <a:lnTo>
                  <a:pt x="2542134" y="380134"/>
                </a:lnTo>
                <a:lnTo>
                  <a:pt x="2556744" y="380134"/>
                </a:lnTo>
                <a:lnTo>
                  <a:pt x="2571354" y="380134"/>
                </a:lnTo>
                <a:lnTo>
                  <a:pt x="2585964" y="380134"/>
                </a:lnTo>
                <a:lnTo>
                  <a:pt x="2600574" y="380134"/>
                </a:lnTo>
                <a:lnTo>
                  <a:pt x="2615184" y="380134"/>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m2"/>
          <p:cNvSpPr txBox="1"/>
          <p:nvPr/>
        </p:nvSpPr>
        <p:spPr>
          <a:xfrm>
            <a:off x="6025896" y="3955731"/>
            <a:ext cx="3291840" cy="338554"/>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反射波</a:t>
            </a:r>
            <a:r>
              <a:rPr lang="ja-JP" altLang="en-US" sz="2200" b="1">
                <a:solidFill>
                  <a:srgbClr val="262626"/>
                </a:solidFill>
                <a:latin typeface="Meiryo"/>
                <a:ea typeface="Meiryo"/>
                <a:cs typeface="Meiryo"/>
              </a:rPr>
              <a:t>の振幅</a:t>
            </a:r>
            <a:endParaRPr sz="2200" b="1" dirty="0">
              <a:solidFill>
                <a:srgbClr val="262626"/>
              </a:solidFill>
              <a:latin typeface="Meiryo"/>
              <a:ea typeface="Meiryo"/>
              <a:cs typeface="Meiryo"/>
            </a:endParaRPr>
          </a:p>
        </p:txBody>
      </p:sp>
      <p:sp>
        <p:nvSpPr>
          <p:cNvPr id="36" name="g2"/>
          <p:cNvSpPr/>
          <p:nvPr/>
        </p:nvSpPr>
        <p:spPr>
          <a:xfrm>
            <a:off x="9454896" y="3786680"/>
            <a:ext cx="2112264" cy="676656"/>
          </a:xfrm>
          <a:prstGeom prst="roundRect">
            <a:avLst>
              <a:gd name="adj" fmla="val 40000"/>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a:t>
            </a:r>
          </a:p>
        </p:txBody>
      </p:sp>
      <p:sp>
        <p:nvSpPr>
          <p:cNvPr id="37" name="f3"/>
          <p:cNvSpPr/>
          <p:nvPr/>
        </p:nvSpPr>
        <p:spPr>
          <a:xfrm>
            <a:off x="548640" y="4536488"/>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心収縮力</a:t>
            </a:r>
            <a:r>
              <a:rPr sz="2200" b="1" dirty="0">
                <a:solidFill>
                  <a:srgbClr val="262626"/>
                </a:solidFill>
                <a:latin typeface="Meiryo"/>
                <a:ea typeface="Meiryo"/>
                <a:cs typeface="Meiryo"/>
              </a:rPr>
              <a:t> </a:t>
            </a:r>
          </a:p>
        </p:txBody>
      </p:sp>
      <p:sp>
        <p:nvSpPr>
          <p:cNvPr id="38" name="wbox3"/>
          <p:cNvSpPr/>
          <p:nvPr/>
        </p:nvSpPr>
        <p:spPr>
          <a:xfrm>
            <a:off x="3054096" y="4536488"/>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wbase3"/>
          <p:cNvCxnSpPr/>
          <p:nvPr/>
        </p:nvCxnSpPr>
        <p:spPr>
          <a:xfrm>
            <a:off x="3163824" y="5158280"/>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9" name="wg3"/>
          <p:cNvSpPr/>
          <p:nvPr/>
        </p:nvSpPr>
        <p:spPr>
          <a:xfrm>
            <a:off x="3163824" y="4778745"/>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wc3"/>
          <p:cNvSpPr/>
          <p:nvPr/>
        </p:nvSpPr>
        <p:spPr>
          <a:xfrm>
            <a:off x="3163824" y="4722504"/>
            <a:ext cx="2615184" cy="435776"/>
          </a:xfrm>
          <a:custGeom>
            <a:avLst/>
            <a:gdLst/>
            <a:ahLst/>
            <a:cxnLst/>
            <a:rect l="l" t="t" r="r" b="b"/>
            <a:pathLst>
              <a:path w="2615184" h="435776">
                <a:moveTo>
                  <a:pt x="0" y="435629"/>
                </a:moveTo>
                <a:lnTo>
                  <a:pt x="14610" y="435522"/>
                </a:lnTo>
                <a:lnTo>
                  <a:pt x="29220" y="435346"/>
                </a:lnTo>
                <a:lnTo>
                  <a:pt x="43830" y="435060"/>
                </a:lnTo>
                <a:lnTo>
                  <a:pt x="58440" y="434608"/>
                </a:lnTo>
                <a:lnTo>
                  <a:pt x="73050" y="433906"/>
                </a:lnTo>
                <a:lnTo>
                  <a:pt x="87660" y="432840"/>
                </a:lnTo>
                <a:lnTo>
                  <a:pt x="102270" y="431255"/>
                </a:lnTo>
                <a:lnTo>
                  <a:pt x="116880" y="428948"/>
                </a:lnTo>
                <a:lnTo>
                  <a:pt x="131490" y="425664"/>
                </a:lnTo>
                <a:lnTo>
                  <a:pt x="146100" y="421089"/>
                </a:lnTo>
                <a:lnTo>
                  <a:pt x="160710" y="414855"/>
                </a:lnTo>
                <a:lnTo>
                  <a:pt x="175320" y="406551"/>
                </a:lnTo>
                <a:lnTo>
                  <a:pt x="189930" y="395739"/>
                </a:lnTo>
                <a:lnTo>
                  <a:pt x="204540" y="381985"/>
                </a:lnTo>
                <a:lnTo>
                  <a:pt x="219149" y="364902"/>
                </a:lnTo>
                <a:lnTo>
                  <a:pt x="233759" y="344195"/>
                </a:lnTo>
                <a:lnTo>
                  <a:pt x="248369" y="319723"/>
                </a:lnTo>
                <a:lnTo>
                  <a:pt x="262979" y="291550"/>
                </a:lnTo>
                <a:lnTo>
                  <a:pt x="277589" y="259997"/>
                </a:lnTo>
                <a:lnTo>
                  <a:pt x="292199" y="225677"/>
                </a:lnTo>
                <a:lnTo>
                  <a:pt x="306809" y="189500"/>
                </a:lnTo>
                <a:lnTo>
                  <a:pt x="321419" y="152663"/>
                </a:lnTo>
                <a:lnTo>
                  <a:pt x="336029" y="116593"/>
                </a:lnTo>
                <a:lnTo>
                  <a:pt x="350639" y="82863"/>
                </a:lnTo>
                <a:lnTo>
                  <a:pt x="365249" y="53086"/>
                </a:lnTo>
                <a:lnTo>
                  <a:pt x="379859" y="28785"/>
                </a:lnTo>
                <a:lnTo>
                  <a:pt x="394469" y="11263"/>
                </a:lnTo>
                <a:lnTo>
                  <a:pt x="409079" y="1488"/>
                </a:lnTo>
                <a:lnTo>
                  <a:pt x="423689" y="0"/>
                </a:lnTo>
                <a:lnTo>
                  <a:pt x="438299" y="6858"/>
                </a:lnTo>
                <a:lnTo>
                  <a:pt x="452909" y="21639"/>
                </a:lnTo>
                <a:lnTo>
                  <a:pt x="467519" y="43470"/>
                </a:lnTo>
                <a:lnTo>
                  <a:pt x="482129" y="71115"/>
                </a:lnTo>
                <a:lnTo>
                  <a:pt x="496739" y="103083"/>
                </a:lnTo>
                <a:lnTo>
                  <a:pt x="511349" y="137758"/>
                </a:lnTo>
                <a:lnTo>
                  <a:pt x="525959" y="173526"/>
                </a:lnTo>
                <a:lnTo>
                  <a:pt x="540569" y="208893"/>
                </a:lnTo>
                <a:lnTo>
                  <a:pt x="555179" y="242576"/>
                </a:lnTo>
                <a:lnTo>
                  <a:pt x="569789" y="273565"/>
                </a:lnTo>
                <a:lnTo>
                  <a:pt x="584399" y="301148"/>
                </a:lnTo>
                <a:lnTo>
                  <a:pt x="599009" y="324911"/>
                </a:lnTo>
                <a:lnTo>
                  <a:pt x="613619" y="344709"/>
                </a:lnTo>
                <a:lnTo>
                  <a:pt x="628229" y="360620"/>
                </a:lnTo>
                <a:lnTo>
                  <a:pt x="642839" y="372891"/>
                </a:lnTo>
                <a:lnTo>
                  <a:pt x="657448" y="381880"/>
                </a:lnTo>
                <a:lnTo>
                  <a:pt x="672058" y="388007"/>
                </a:lnTo>
                <a:lnTo>
                  <a:pt x="686668" y="391710"/>
                </a:lnTo>
                <a:lnTo>
                  <a:pt x="701278" y="393411"/>
                </a:lnTo>
                <a:lnTo>
                  <a:pt x="715888" y="393495"/>
                </a:lnTo>
                <a:lnTo>
                  <a:pt x="730498" y="392301"/>
                </a:lnTo>
                <a:lnTo>
                  <a:pt x="745108" y="390113"/>
                </a:lnTo>
                <a:lnTo>
                  <a:pt x="759718" y="387164"/>
                </a:lnTo>
                <a:lnTo>
                  <a:pt x="774328" y="383644"/>
                </a:lnTo>
                <a:lnTo>
                  <a:pt x="788938" y="379704"/>
                </a:lnTo>
                <a:lnTo>
                  <a:pt x="803548" y="375464"/>
                </a:lnTo>
                <a:lnTo>
                  <a:pt x="818158" y="371025"/>
                </a:lnTo>
                <a:lnTo>
                  <a:pt x="832768" y="366468"/>
                </a:lnTo>
                <a:lnTo>
                  <a:pt x="847378" y="361866"/>
                </a:lnTo>
                <a:lnTo>
                  <a:pt x="861988" y="357281"/>
                </a:lnTo>
                <a:lnTo>
                  <a:pt x="876598" y="352774"/>
                </a:lnTo>
                <a:lnTo>
                  <a:pt x="891208" y="348401"/>
                </a:lnTo>
                <a:lnTo>
                  <a:pt x="905818" y="344215"/>
                </a:lnTo>
                <a:lnTo>
                  <a:pt x="920428" y="340270"/>
                </a:lnTo>
                <a:lnTo>
                  <a:pt x="935038" y="336613"/>
                </a:lnTo>
                <a:lnTo>
                  <a:pt x="949648" y="333292"/>
                </a:lnTo>
                <a:lnTo>
                  <a:pt x="964258" y="330349"/>
                </a:lnTo>
                <a:lnTo>
                  <a:pt x="978868" y="327824"/>
                </a:lnTo>
                <a:lnTo>
                  <a:pt x="993478" y="325750"/>
                </a:lnTo>
                <a:lnTo>
                  <a:pt x="1008088" y="324155"/>
                </a:lnTo>
                <a:lnTo>
                  <a:pt x="1022698" y="323062"/>
                </a:lnTo>
                <a:lnTo>
                  <a:pt x="1037308" y="322485"/>
                </a:lnTo>
                <a:lnTo>
                  <a:pt x="1051918" y="322432"/>
                </a:lnTo>
                <a:lnTo>
                  <a:pt x="1066528" y="322905"/>
                </a:lnTo>
                <a:lnTo>
                  <a:pt x="1081138" y="323896"/>
                </a:lnTo>
                <a:lnTo>
                  <a:pt x="1095747" y="325392"/>
                </a:lnTo>
                <a:lnTo>
                  <a:pt x="1110357" y="327372"/>
                </a:lnTo>
                <a:lnTo>
                  <a:pt x="1124967" y="329810"/>
                </a:lnTo>
                <a:lnTo>
                  <a:pt x="1139577" y="332672"/>
                </a:lnTo>
                <a:lnTo>
                  <a:pt x="1154187" y="335922"/>
                </a:lnTo>
                <a:lnTo>
                  <a:pt x="1168797" y="339517"/>
                </a:lnTo>
                <a:lnTo>
                  <a:pt x="1183407" y="343413"/>
                </a:lnTo>
                <a:lnTo>
                  <a:pt x="1198017" y="347561"/>
                </a:lnTo>
                <a:lnTo>
                  <a:pt x="1212627" y="351913"/>
                </a:lnTo>
                <a:lnTo>
                  <a:pt x="1227237" y="356420"/>
                </a:lnTo>
                <a:lnTo>
                  <a:pt x="1241847" y="361032"/>
                </a:lnTo>
                <a:lnTo>
                  <a:pt x="1256457" y="365702"/>
                </a:lnTo>
                <a:lnTo>
                  <a:pt x="1271067" y="370384"/>
                </a:lnTo>
                <a:lnTo>
                  <a:pt x="1285677" y="375037"/>
                </a:lnTo>
                <a:lnTo>
                  <a:pt x="1300287" y="379619"/>
                </a:lnTo>
                <a:lnTo>
                  <a:pt x="1314897" y="384096"/>
                </a:lnTo>
                <a:lnTo>
                  <a:pt x="1329507" y="388437"/>
                </a:lnTo>
                <a:lnTo>
                  <a:pt x="1344117" y="392613"/>
                </a:lnTo>
                <a:lnTo>
                  <a:pt x="1358727" y="396604"/>
                </a:lnTo>
                <a:lnTo>
                  <a:pt x="1373337" y="400390"/>
                </a:lnTo>
                <a:lnTo>
                  <a:pt x="1387947" y="403958"/>
                </a:lnTo>
                <a:lnTo>
                  <a:pt x="1402557" y="407299"/>
                </a:lnTo>
                <a:lnTo>
                  <a:pt x="1417167" y="410407"/>
                </a:lnTo>
                <a:lnTo>
                  <a:pt x="1431777" y="413281"/>
                </a:lnTo>
                <a:lnTo>
                  <a:pt x="1446387" y="415921"/>
                </a:lnTo>
                <a:lnTo>
                  <a:pt x="1460997" y="418333"/>
                </a:lnTo>
                <a:lnTo>
                  <a:pt x="1475607" y="420523"/>
                </a:lnTo>
                <a:lnTo>
                  <a:pt x="1490217" y="422499"/>
                </a:lnTo>
                <a:lnTo>
                  <a:pt x="1504827" y="424273"/>
                </a:lnTo>
                <a:lnTo>
                  <a:pt x="1519437" y="425856"/>
                </a:lnTo>
                <a:lnTo>
                  <a:pt x="1534046" y="427261"/>
                </a:lnTo>
                <a:lnTo>
                  <a:pt x="1548656" y="428501"/>
                </a:lnTo>
                <a:lnTo>
                  <a:pt x="1563266" y="429589"/>
                </a:lnTo>
                <a:lnTo>
                  <a:pt x="1577876" y="430539"/>
                </a:lnTo>
                <a:lnTo>
                  <a:pt x="1592486" y="431363"/>
                </a:lnTo>
                <a:lnTo>
                  <a:pt x="1607096" y="432075"/>
                </a:lnTo>
                <a:lnTo>
                  <a:pt x="1621706" y="432686"/>
                </a:lnTo>
                <a:lnTo>
                  <a:pt x="1636316" y="433209"/>
                </a:lnTo>
                <a:lnTo>
                  <a:pt x="1650926" y="433653"/>
                </a:lnTo>
                <a:lnTo>
                  <a:pt x="1665536" y="434028"/>
                </a:lnTo>
                <a:lnTo>
                  <a:pt x="1680146" y="434343"/>
                </a:lnTo>
                <a:lnTo>
                  <a:pt x="1694756" y="434608"/>
                </a:lnTo>
                <a:lnTo>
                  <a:pt x="1709366" y="434827"/>
                </a:lnTo>
                <a:lnTo>
                  <a:pt x="1723976" y="435009"/>
                </a:lnTo>
                <a:lnTo>
                  <a:pt x="1738586" y="435159"/>
                </a:lnTo>
                <a:lnTo>
                  <a:pt x="1753196" y="435282"/>
                </a:lnTo>
                <a:lnTo>
                  <a:pt x="1767806" y="435383"/>
                </a:lnTo>
                <a:lnTo>
                  <a:pt x="1782416" y="435464"/>
                </a:lnTo>
                <a:lnTo>
                  <a:pt x="1797026" y="435530"/>
                </a:lnTo>
                <a:lnTo>
                  <a:pt x="1811636" y="435582"/>
                </a:lnTo>
                <a:lnTo>
                  <a:pt x="1826246" y="435624"/>
                </a:lnTo>
                <a:lnTo>
                  <a:pt x="1840856" y="435658"/>
                </a:lnTo>
                <a:lnTo>
                  <a:pt x="1855466" y="435685"/>
                </a:lnTo>
                <a:lnTo>
                  <a:pt x="1870076" y="435705"/>
                </a:lnTo>
                <a:lnTo>
                  <a:pt x="1884686" y="435722"/>
                </a:lnTo>
                <a:lnTo>
                  <a:pt x="1899296" y="435735"/>
                </a:lnTo>
                <a:lnTo>
                  <a:pt x="1913906" y="435745"/>
                </a:lnTo>
                <a:lnTo>
                  <a:pt x="1928516" y="435752"/>
                </a:lnTo>
                <a:lnTo>
                  <a:pt x="1943126" y="435758"/>
                </a:lnTo>
                <a:lnTo>
                  <a:pt x="1957736" y="435763"/>
                </a:lnTo>
                <a:lnTo>
                  <a:pt x="1972345" y="435766"/>
                </a:lnTo>
                <a:lnTo>
                  <a:pt x="1986955" y="435769"/>
                </a:lnTo>
                <a:lnTo>
                  <a:pt x="2001565" y="435770"/>
                </a:lnTo>
                <a:lnTo>
                  <a:pt x="2016175" y="435772"/>
                </a:lnTo>
                <a:lnTo>
                  <a:pt x="2030785" y="435773"/>
                </a:lnTo>
                <a:lnTo>
                  <a:pt x="2045395" y="435774"/>
                </a:lnTo>
                <a:lnTo>
                  <a:pt x="2060005" y="435774"/>
                </a:lnTo>
                <a:lnTo>
                  <a:pt x="2074615" y="435775"/>
                </a:lnTo>
                <a:lnTo>
                  <a:pt x="2089225" y="435775"/>
                </a:lnTo>
                <a:lnTo>
                  <a:pt x="2103835" y="435775"/>
                </a:lnTo>
                <a:lnTo>
                  <a:pt x="2118445" y="435776"/>
                </a:lnTo>
                <a:lnTo>
                  <a:pt x="2133055" y="435776"/>
                </a:lnTo>
                <a:lnTo>
                  <a:pt x="2147665" y="435776"/>
                </a:lnTo>
                <a:lnTo>
                  <a:pt x="2162275" y="435776"/>
                </a:lnTo>
                <a:lnTo>
                  <a:pt x="2176885" y="435776"/>
                </a:lnTo>
                <a:lnTo>
                  <a:pt x="2191495" y="435776"/>
                </a:lnTo>
                <a:lnTo>
                  <a:pt x="2206105" y="435776"/>
                </a:lnTo>
                <a:lnTo>
                  <a:pt x="2220715" y="435776"/>
                </a:lnTo>
                <a:lnTo>
                  <a:pt x="2235325" y="435776"/>
                </a:lnTo>
                <a:lnTo>
                  <a:pt x="2249935" y="435776"/>
                </a:lnTo>
                <a:lnTo>
                  <a:pt x="2264545" y="435776"/>
                </a:lnTo>
                <a:lnTo>
                  <a:pt x="2279155" y="435776"/>
                </a:lnTo>
                <a:lnTo>
                  <a:pt x="2293765" y="435776"/>
                </a:lnTo>
                <a:lnTo>
                  <a:pt x="2308375" y="435776"/>
                </a:lnTo>
                <a:lnTo>
                  <a:pt x="2322985" y="435776"/>
                </a:lnTo>
                <a:lnTo>
                  <a:pt x="2337595" y="435776"/>
                </a:lnTo>
                <a:lnTo>
                  <a:pt x="2352205" y="435776"/>
                </a:lnTo>
                <a:lnTo>
                  <a:pt x="2366815" y="435776"/>
                </a:lnTo>
                <a:lnTo>
                  <a:pt x="2381425" y="435776"/>
                </a:lnTo>
                <a:lnTo>
                  <a:pt x="2396035" y="435776"/>
                </a:lnTo>
                <a:lnTo>
                  <a:pt x="2410644" y="435776"/>
                </a:lnTo>
                <a:lnTo>
                  <a:pt x="2425254" y="435776"/>
                </a:lnTo>
                <a:lnTo>
                  <a:pt x="2439864" y="435776"/>
                </a:lnTo>
                <a:lnTo>
                  <a:pt x="2454474" y="435776"/>
                </a:lnTo>
                <a:lnTo>
                  <a:pt x="2469084" y="435776"/>
                </a:lnTo>
                <a:lnTo>
                  <a:pt x="2483694" y="435776"/>
                </a:lnTo>
                <a:lnTo>
                  <a:pt x="2498304" y="435776"/>
                </a:lnTo>
                <a:lnTo>
                  <a:pt x="2512914" y="435776"/>
                </a:lnTo>
                <a:lnTo>
                  <a:pt x="2527524" y="435776"/>
                </a:lnTo>
                <a:lnTo>
                  <a:pt x="2542134" y="435776"/>
                </a:lnTo>
                <a:lnTo>
                  <a:pt x="2556744" y="435776"/>
                </a:lnTo>
                <a:lnTo>
                  <a:pt x="2571354" y="435776"/>
                </a:lnTo>
                <a:lnTo>
                  <a:pt x="2585964" y="435776"/>
                </a:lnTo>
                <a:lnTo>
                  <a:pt x="2600574" y="435776"/>
                </a:lnTo>
                <a:lnTo>
                  <a:pt x="2615184" y="435776"/>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m3"/>
          <p:cNvSpPr txBox="1"/>
          <p:nvPr/>
        </p:nvSpPr>
        <p:spPr>
          <a:xfrm>
            <a:off x="6025896" y="4705539"/>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前進波の傾き</a:t>
            </a:r>
            <a:endParaRPr sz="2200" b="1" dirty="0">
              <a:solidFill>
                <a:srgbClr val="262626"/>
              </a:solidFill>
              <a:latin typeface="Meiryo"/>
              <a:ea typeface="Meiryo"/>
              <a:cs typeface="Meiryo"/>
            </a:endParaRPr>
          </a:p>
        </p:txBody>
      </p:sp>
      <p:sp>
        <p:nvSpPr>
          <p:cNvPr id="43" name="f4"/>
          <p:cNvSpPr/>
          <p:nvPr/>
        </p:nvSpPr>
        <p:spPr>
          <a:xfrm>
            <a:off x="548640" y="5286296"/>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心拍数</a:t>
            </a:r>
            <a:r>
              <a:rPr sz="2200" b="1" dirty="0">
                <a:solidFill>
                  <a:srgbClr val="262626"/>
                </a:solidFill>
                <a:latin typeface="Meiryo"/>
                <a:ea typeface="Meiryo"/>
                <a:cs typeface="Meiryo"/>
              </a:rPr>
              <a:t> </a:t>
            </a:r>
          </a:p>
        </p:txBody>
      </p:sp>
      <p:sp>
        <p:nvSpPr>
          <p:cNvPr id="44" name="wbox4"/>
          <p:cNvSpPr/>
          <p:nvPr/>
        </p:nvSpPr>
        <p:spPr>
          <a:xfrm>
            <a:off x="3054096" y="5286296"/>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5" name="wbase4"/>
          <p:cNvCxnSpPr/>
          <p:nvPr/>
        </p:nvCxnSpPr>
        <p:spPr>
          <a:xfrm>
            <a:off x="3163824" y="5908088"/>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46" name="wg4"/>
          <p:cNvSpPr/>
          <p:nvPr/>
        </p:nvSpPr>
        <p:spPr>
          <a:xfrm>
            <a:off x="3163824" y="5528553"/>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wc4"/>
          <p:cNvSpPr/>
          <p:nvPr/>
        </p:nvSpPr>
        <p:spPr>
          <a:xfrm>
            <a:off x="3163824" y="5529482"/>
            <a:ext cx="2615184" cy="378598"/>
          </a:xfrm>
          <a:custGeom>
            <a:avLst/>
            <a:gdLst/>
            <a:ahLst/>
            <a:cxnLst/>
            <a:rect l="l" t="t" r="r" b="b"/>
            <a:pathLst>
              <a:path w="2615184" h="378598">
                <a:moveTo>
                  <a:pt x="0" y="378026"/>
                </a:moveTo>
                <a:lnTo>
                  <a:pt x="14610" y="377683"/>
                </a:lnTo>
                <a:lnTo>
                  <a:pt x="29220" y="377163"/>
                </a:lnTo>
                <a:lnTo>
                  <a:pt x="43830" y="376387"/>
                </a:lnTo>
                <a:lnTo>
                  <a:pt x="58440" y="375254"/>
                </a:lnTo>
                <a:lnTo>
                  <a:pt x="73050" y="373627"/>
                </a:lnTo>
                <a:lnTo>
                  <a:pt x="87660" y="371339"/>
                </a:lnTo>
                <a:lnTo>
                  <a:pt x="102270" y="368181"/>
                </a:lnTo>
                <a:lnTo>
                  <a:pt x="116880" y="363906"/>
                </a:lnTo>
                <a:lnTo>
                  <a:pt x="131490" y="358233"/>
                </a:lnTo>
                <a:lnTo>
                  <a:pt x="146100" y="350855"/>
                </a:lnTo>
                <a:lnTo>
                  <a:pt x="160710" y="341451"/>
                </a:lnTo>
                <a:lnTo>
                  <a:pt x="175320" y="329714"/>
                </a:lnTo>
                <a:lnTo>
                  <a:pt x="189930" y="315370"/>
                </a:lnTo>
                <a:lnTo>
                  <a:pt x="204540" y="298219"/>
                </a:lnTo>
                <a:lnTo>
                  <a:pt x="219149" y="278165"/>
                </a:lnTo>
                <a:lnTo>
                  <a:pt x="233759" y="255258"/>
                </a:lnTo>
                <a:lnTo>
                  <a:pt x="248369" y="229720"/>
                </a:lnTo>
                <a:lnTo>
                  <a:pt x="262979" y="201971"/>
                </a:lnTo>
                <a:lnTo>
                  <a:pt x="277589" y="172636"/>
                </a:lnTo>
                <a:lnTo>
                  <a:pt x="292199" y="142538"/>
                </a:lnTo>
                <a:lnTo>
                  <a:pt x="306809" y="112670"/>
                </a:lnTo>
                <a:lnTo>
                  <a:pt x="321419" y="84145"/>
                </a:lnTo>
                <a:lnTo>
                  <a:pt x="336029" y="58130"/>
                </a:lnTo>
                <a:lnTo>
                  <a:pt x="350639" y="35771"/>
                </a:lnTo>
                <a:lnTo>
                  <a:pt x="365249" y="18106"/>
                </a:lnTo>
                <a:lnTo>
                  <a:pt x="379859" y="5985"/>
                </a:lnTo>
                <a:lnTo>
                  <a:pt x="394469" y="0"/>
                </a:lnTo>
                <a:lnTo>
                  <a:pt x="409079" y="435"/>
                </a:lnTo>
                <a:lnTo>
                  <a:pt x="423689" y="7243"/>
                </a:lnTo>
                <a:lnTo>
                  <a:pt x="438299" y="20043"/>
                </a:lnTo>
                <a:lnTo>
                  <a:pt x="452909" y="38161"/>
                </a:lnTo>
                <a:lnTo>
                  <a:pt x="467519" y="60676"/>
                </a:lnTo>
                <a:lnTo>
                  <a:pt x="482129" y="86496"/>
                </a:lnTo>
                <a:lnTo>
                  <a:pt x="496739" y="114443"/>
                </a:lnTo>
                <a:lnTo>
                  <a:pt x="511349" y="143334"/>
                </a:lnTo>
                <a:lnTo>
                  <a:pt x="525959" y="172056"/>
                </a:lnTo>
                <a:lnTo>
                  <a:pt x="540569" y="199633"/>
                </a:lnTo>
                <a:lnTo>
                  <a:pt x="555179" y="225265"/>
                </a:lnTo>
                <a:lnTo>
                  <a:pt x="569789" y="248356"/>
                </a:lnTo>
                <a:lnTo>
                  <a:pt x="584399" y="268516"/>
                </a:lnTo>
                <a:lnTo>
                  <a:pt x="599009" y="285553"/>
                </a:lnTo>
                <a:lnTo>
                  <a:pt x="613619" y="299445"/>
                </a:lnTo>
                <a:lnTo>
                  <a:pt x="628229" y="310310"/>
                </a:lnTo>
                <a:lnTo>
                  <a:pt x="642839" y="318369"/>
                </a:lnTo>
                <a:lnTo>
                  <a:pt x="657448" y="323910"/>
                </a:lnTo>
                <a:lnTo>
                  <a:pt x="672058" y="327260"/>
                </a:lnTo>
                <a:lnTo>
                  <a:pt x="686668" y="328757"/>
                </a:lnTo>
                <a:lnTo>
                  <a:pt x="701278" y="328729"/>
                </a:lnTo>
                <a:lnTo>
                  <a:pt x="715888" y="327482"/>
                </a:lnTo>
                <a:lnTo>
                  <a:pt x="730498" y="325295"/>
                </a:lnTo>
                <a:lnTo>
                  <a:pt x="745108" y="322412"/>
                </a:lnTo>
                <a:lnTo>
                  <a:pt x="759718" y="319046"/>
                </a:lnTo>
                <a:lnTo>
                  <a:pt x="774328" y="315382"/>
                </a:lnTo>
                <a:lnTo>
                  <a:pt x="788938" y="311577"/>
                </a:lnTo>
                <a:lnTo>
                  <a:pt x="803548" y="307766"/>
                </a:lnTo>
                <a:lnTo>
                  <a:pt x="818158" y="304066"/>
                </a:lnTo>
                <a:lnTo>
                  <a:pt x="832768" y="300578"/>
                </a:lnTo>
                <a:lnTo>
                  <a:pt x="847378" y="297388"/>
                </a:lnTo>
                <a:lnTo>
                  <a:pt x="861988" y="294571"/>
                </a:lnTo>
                <a:lnTo>
                  <a:pt x="876598" y="292191"/>
                </a:lnTo>
                <a:lnTo>
                  <a:pt x="891208" y="290298"/>
                </a:lnTo>
                <a:lnTo>
                  <a:pt x="905818" y="288934"/>
                </a:lnTo>
                <a:lnTo>
                  <a:pt x="920428" y="288128"/>
                </a:lnTo>
                <a:lnTo>
                  <a:pt x="935038" y="287897"/>
                </a:lnTo>
                <a:lnTo>
                  <a:pt x="949648" y="288246"/>
                </a:lnTo>
                <a:lnTo>
                  <a:pt x="964258" y="289169"/>
                </a:lnTo>
                <a:lnTo>
                  <a:pt x="978868" y="290649"/>
                </a:lnTo>
                <a:lnTo>
                  <a:pt x="993478" y="292659"/>
                </a:lnTo>
                <a:lnTo>
                  <a:pt x="1008088" y="295160"/>
                </a:lnTo>
                <a:lnTo>
                  <a:pt x="1022698" y="298107"/>
                </a:lnTo>
                <a:lnTo>
                  <a:pt x="1037308" y="301447"/>
                </a:lnTo>
                <a:lnTo>
                  <a:pt x="1051918" y="305123"/>
                </a:lnTo>
                <a:lnTo>
                  <a:pt x="1066528" y="309071"/>
                </a:lnTo>
                <a:lnTo>
                  <a:pt x="1081138" y="313229"/>
                </a:lnTo>
                <a:lnTo>
                  <a:pt x="1095747" y="317532"/>
                </a:lnTo>
                <a:lnTo>
                  <a:pt x="1110357" y="321916"/>
                </a:lnTo>
                <a:lnTo>
                  <a:pt x="1124967" y="326323"/>
                </a:lnTo>
                <a:lnTo>
                  <a:pt x="1139577" y="330697"/>
                </a:lnTo>
                <a:lnTo>
                  <a:pt x="1154187" y="334985"/>
                </a:lnTo>
                <a:lnTo>
                  <a:pt x="1168797" y="339144"/>
                </a:lnTo>
                <a:lnTo>
                  <a:pt x="1183407" y="343135"/>
                </a:lnTo>
                <a:lnTo>
                  <a:pt x="1198017" y="346927"/>
                </a:lnTo>
                <a:lnTo>
                  <a:pt x="1212627" y="350494"/>
                </a:lnTo>
                <a:lnTo>
                  <a:pt x="1227237" y="353820"/>
                </a:lnTo>
                <a:lnTo>
                  <a:pt x="1241847" y="356892"/>
                </a:lnTo>
                <a:lnTo>
                  <a:pt x="1256457" y="359705"/>
                </a:lnTo>
                <a:lnTo>
                  <a:pt x="1271067" y="362259"/>
                </a:lnTo>
                <a:lnTo>
                  <a:pt x="1285677" y="364558"/>
                </a:lnTo>
                <a:lnTo>
                  <a:pt x="1300287" y="366612"/>
                </a:lnTo>
                <a:lnTo>
                  <a:pt x="1314897" y="368430"/>
                </a:lnTo>
                <a:lnTo>
                  <a:pt x="1329507" y="370029"/>
                </a:lnTo>
                <a:lnTo>
                  <a:pt x="1344117" y="371422"/>
                </a:lnTo>
                <a:lnTo>
                  <a:pt x="1358727" y="372628"/>
                </a:lnTo>
                <a:lnTo>
                  <a:pt x="1373337" y="373663"/>
                </a:lnTo>
                <a:lnTo>
                  <a:pt x="1387947" y="374545"/>
                </a:lnTo>
                <a:lnTo>
                  <a:pt x="1402557" y="375291"/>
                </a:lnTo>
                <a:lnTo>
                  <a:pt x="1417167" y="375917"/>
                </a:lnTo>
                <a:lnTo>
                  <a:pt x="1431777" y="376439"/>
                </a:lnTo>
                <a:lnTo>
                  <a:pt x="1446387" y="376871"/>
                </a:lnTo>
                <a:lnTo>
                  <a:pt x="1460997" y="377226"/>
                </a:lnTo>
                <a:lnTo>
                  <a:pt x="1475607" y="377515"/>
                </a:lnTo>
                <a:lnTo>
                  <a:pt x="1490217" y="377749"/>
                </a:lnTo>
                <a:lnTo>
                  <a:pt x="1504827" y="377937"/>
                </a:lnTo>
                <a:lnTo>
                  <a:pt x="1519437" y="378087"/>
                </a:lnTo>
                <a:lnTo>
                  <a:pt x="1534046" y="378207"/>
                </a:lnTo>
                <a:lnTo>
                  <a:pt x="1548656" y="378300"/>
                </a:lnTo>
                <a:lnTo>
                  <a:pt x="1563266" y="378373"/>
                </a:lnTo>
                <a:lnTo>
                  <a:pt x="1577876" y="378430"/>
                </a:lnTo>
                <a:lnTo>
                  <a:pt x="1592486" y="378474"/>
                </a:lnTo>
                <a:lnTo>
                  <a:pt x="1607096" y="378508"/>
                </a:lnTo>
                <a:lnTo>
                  <a:pt x="1621706" y="378533"/>
                </a:lnTo>
                <a:lnTo>
                  <a:pt x="1636316" y="378552"/>
                </a:lnTo>
                <a:lnTo>
                  <a:pt x="1650926" y="378567"/>
                </a:lnTo>
                <a:lnTo>
                  <a:pt x="1665536" y="378577"/>
                </a:lnTo>
                <a:lnTo>
                  <a:pt x="1680146" y="378585"/>
                </a:lnTo>
                <a:lnTo>
                  <a:pt x="1694756" y="378591"/>
                </a:lnTo>
                <a:lnTo>
                  <a:pt x="1709366" y="378595"/>
                </a:lnTo>
                <a:lnTo>
                  <a:pt x="1723976" y="378597"/>
                </a:lnTo>
                <a:lnTo>
                  <a:pt x="1738586" y="378598"/>
                </a:lnTo>
                <a:lnTo>
                  <a:pt x="1753196" y="378598"/>
                </a:lnTo>
                <a:lnTo>
                  <a:pt x="1767806" y="378595"/>
                </a:lnTo>
                <a:lnTo>
                  <a:pt x="1782416" y="378589"/>
                </a:lnTo>
                <a:lnTo>
                  <a:pt x="1797026" y="378578"/>
                </a:lnTo>
                <a:lnTo>
                  <a:pt x="1811636" y="378558"/>
                </a:lnTo>
                <a:lnTo>
                  <a:pt x="1826246" y="378524"/>
                </a:lnTo>
                <a:lnTo>
                  <a:pt x="1840856" y="378468"/>
                </a:lnTo>
                <a:lnTo>
                  <a:pt x="1855466" y="378375"/>
                </a:lnTo>
                <a:lnTo>
                  <a:pt x="1870076" y="378226"/>
                </a:lnTo>
                <a:lnTo>
                  <a:pt x="1884686" y="377992"/>
                </a:lnTo>
                <a:lnTo>
                  <a:pt x="1899296" y="377632"/>
                </a:lnTo>
                <a:lnTo>
                  <a:pt x="1913906" y="377085"/>
                </a:lnTo>
                <a:lnTo>
                  <a:pt x="1928516" y="376273"/>
                </a:lnTo>
                <a:lnTo>
                  <a:pt x="1943126" y="375088"/>
                </a:lnTo>
                <a:lnTo>
                  <a:pt x="1957736" y="373393"/>
                </a:lnTo>
                <a:lnTo>
                  <a:pt x="1972345" y="371013"/>
                </a:lnTo>
                <a:lnTo>
                  <a:pt x="1986955" y="367735"/>
                </a:lnTo>
                <a:lnTo>
                  <a:pt x="2001565" y="363309"/>
                </a:lnTo>
                <a:lnTo>
                  <a:pt x="2016175" y="357450"/>
                </a:lnTo>
                <a:lnTo>
                  <a:pt x="2030785" y="349848"/>
                </a:lnTo>
                <a:lnTo>
                  <a:pt x="2045395" y="340184"/>
                </a:lnTo>
                <a:lnTo>
                  <a:pt x="2060005" y="328151"/>
                </a:lnTo>
                <a:lnTo>
                  <a:pt x="2074615" y="313486"/>
                </a:lnTo>
                <a:lnTo>
                  <a:pt x="2089225" y="295998"/>
                </a:lnTo>
                <a:lnTo>
                  <a:pt x="2103835" y="275608"/>
                </a:lnTo>
                <a:lnTo>
                  <a:pt x="2118445" y="252386"/>
                </a:lnTo>
                <a:lnTo>
                  <a:pt x="2133055" y="226577"/>
                </a:lnTo>
                <a:lnTo>
                  <a:pt x="2147665" y="198628"/>
                </a:lnTo>
                <a:lnTo>
                  <a:pt x="2162275" y="169191"/>
                </a:lnTo>
                <a:lnTo>
                  <a:pt x="2176885" y="139113"/>
                </a:lnTo>
                <a:lnTo>
                  <a:pt x="2191495" y="109407"/>
                </a:lnTo>
                <a:lnTo>
                  <a:pt x="2206105" y="81200"/>
                </a:lnTo>
                <a:lnTo>
                  <a:pt x="2220715" y="55666"/>
                </a:lnTo>
                <a:lnTo>
                  <a:pt x="2235325" y="33947"/>
                </a:lnTo>
                <a:lnTo>
                  <a:pt x="2249935" y="17068"/>
                </a:lnTo>
                <a:lnTo>
                  <a:pt x="2264545" y="5860"/>
                </a:lnTo>
                <a:lnTo>
                  <a:pt x="2279155" y="887"/>
                </a:lnTo>
                <a:lnTo>
                  <a:pt x="2293765" y="2404"/>
                </a:lnTo>
                <a:lnTo>
                  <a:pt x="2308375" y="10334"/>
                </a:lnTo>
                <a:lnTo>
                  <a:pt x="2322985" y="24273"/>
                </a:lnTo>
                <a:lnTo>
                  <a:pt x="2337595" y="43524"/>
                </a:lnTo>
                <a:lnTo>
                  <a:pt x="2352205" y="67158"/>
                </a:lnTo>
                <a:lnTo>
                  <a:pt x="2366815" y="94084"/>
                </a:lnTo>
                <a:lnTo>
                  <a:pt x="2381425" y="123134"/>
                </a:lnTo>
                <a:lnTo>
                  <a:pt x="2396035" y="153148"/>
                </a:lnTo>
                <a:lnTo>
                  <a:pt x="2410644" y="183044"/>
                </a:lnTo>
                <a:lnTo>
                  <a:pt x="2425254" y="211882"/>
                </a:lnTo>
                <a:lnTo>
                  <a:pt x="2439864" y="238902"/>
                </a:lnTo>
                <a:lnTo>
                  <a:pt x="2454474" y="263548"/>
                </a:lnTo>
                <a:lnTo>
                  <a:pt x="2469084" y="285470"/>
                </a:lnTo>
                <a:lnTo>
                  <a:pt x="2483694" y="304507"/>
                </a:lnTo>
                <a:lnTo>
                  <a:pt x="2498304" y="320662"/>
                </a:lnTo>
                <a:lnTo>
                  <a:pt x="2512914" y="334071"/>
                </a:lnTo>
                <a:lnTo>
                  <a:pt x="2527524" y="344964"/>
                </a:lnTo>
                <a:lnTo>
                  <a:pt x="2542134" y="353628"/>
                </a:lnTo>
                <a:lnTo>
                  <a:pt x="2556744" y="360378"/>
                </a:lnTo>
                <a:lnTo>
                  <a:pt x="2571354" y="365532"/>
                </a:lnTo>
                <a:lnTo>
                  <a:pt x="2585964" y="369389"/>
                </a:lnTo>
                <a:lnTo>
                  <a:pt x="2600574" y="372220"/>
                </a:lnTo>
                <a:lnTo>
                  <a:pt x="2615184" y="374257"/>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m4"/>
          <p:cNvSpPr txBox="1"/>
          <p:nvPr/>
        </p:nvSpPr>
        <p:spPr>
          <a:xfrm>
            <a:off x="6025896" y="5455347"/>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前進波横幅・反射波振幅</a:t>
            </a:r>
            <a:endParaRPr sz="2200" b="1" dirty="0">
              <a:solidFill>
                <a:srgbClr val="262626"/>
              </a:solidFill>
              <a:latin typeface="Meiryo"/>
              <a:ea typeface="Meiryo"/>
              <a:cs typeface="Meiryo"/>
            </a:endParaRPr>
          </a:p>
        </p:txBody>
      </p:sp>
      <p:sp>
        <p:nvSpPr>
          <p:cNvPr id="49" name="g4"/>
          <p:cNvSpPr/>
          <p:nvPr/>
        </p:nvSpPr>
        <p:spPr>
          <a:xfrm>
            <a:off x="9454896" y="5286296"/>
            <a:ext cx="2112264" cy="676656"/>
          </a:xfrm>
          <a:prstGeom prst="roundRect">
            <a:avLst>
              <a:gd name="adj" fmla="val 40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モデル</a:t>
            </a:r>
          </a:p>
        </p:txBody>
      </p:sp>
      <p:sp>
        <p:nvSpPr>
          <p:cNvPr id="17" name="g4">
            <a:extLst>
              <a:ext uri="{FF2B5EF4-FFF2-40B4-BE49-F238E27FC236}">
                <a16:creationId xmlns:a16="http://schemas.microsoft.com/office/drawing/2014/main" id="{D3A909D8-DD59-169C-8FF0-1812ECEB36AC}"/>
              </a:ext>
            </a:extLst>
          </p:cNvPr>
          <p:cNvSpPr/>
          <p:nvPr/>
        </p:nvSpPr>
        <p:spPr>
          <a:xfrm>
            <a:off x="9454896" y="4536488"/>
            <a:ext cx="2112264" cy="676656"/>
          </a:xfrm>
          <a:prstGeom prst="roundRect">
            <a:avLst>
              <a:gd name="adj" fmla="val 40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モデル</a:t>
            </a:r>
          </a:p>
        </p:txBody>
      </p:sp>
      <p:sp>
        <p:nvSpPr>
          <p:cNvPr id="50"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10. Alian 2011　／　11. Chowienczyk 1999　／　13. Pagoulatou 2021　／　17. Charlton 2019</a:t>
            </a:r>
          </a:p>
        </p:txBody>
      </p:sp>
      <p:sp>
        <p:nvSpPr>
          <p:cNvPr id="5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25/72</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03" name="Off-page Connector 4">
            <a:extLst>
              <a:ext uri="{FF2B5EF4-FFF2-40B4-BE49-F238E27FC236}">
                <a16:creationId xmlns:a16="http://schemas.microsoft.com/office/drawing/2014/main" id="{74956F3D-E19A-EDD1-8019-2BEDCBF54DC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4" name="Off-page Connector 5">
            <a:extLst>
              <a:ext uri="{FF2B5EF4-FFF2-40B4-BE49-F238E27FC236}">
                <a16:creationId xmlns:a16="http://schemas.microsoft.com/office/drawing/2014/main" id="{70323696-E7DF-3856-E16B-DF7874ABAA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5" name="Off-page Connector 6">
            <a:extLst>
              <a:ext uri="{FF2B5EF4-FFF2-40B4-BE49-F238E27FC236}">
                <a16:creationId xmlns:a16="http://schemas.microsoft.com/office/drawing/2014/main" id="{DBE3ED70-EF18-AA7E-E12F-9A7FAB18A28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6" name="Off-page Connector 7">
            <a:extLst>
              <a:ext uri="{FF2B5EF4-FFF2-40B4-BE49-F238E27FC236}">
                <a16:creationId xmlns:a16="http://schemas.microsoft.com/office/drawing/2014/main" id="{620376B2-DB4A-3B9F-1142-2335FA12BFB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7" name="Off-page Connector 8">
            <a:extLst>
              <a:ext uri="{FF2B5EF4-FFF2-40B4-BE49-F238E27FC236}">
                <a16:creationId xmlns:a16="http://schemas.microsoft.com/office/drawing/2014/main" id="{6BFD8B17-10AA-A8B2-0F86-6AF9860541E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4956048"/>
          </a:xfrm>
          <a:prstGeom prst="rect">
            <a:avLst/>
          </a:prstGeom>
          <a:noFill/>
        </p:spPr>
        <p:txBody>
          <a:bodyPr wrap="square" lIns="0" tIns="0" rIns="0" bIns="0" anchor="t"/>
          <a:lstStyle/>
          <a:p>
            <a:pPr>
              <a:lnSpc>
                <a:spcPct val="142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42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42000"/>
              </a:lnSpc>
            </a:pPr>
            <a:r>
              <a:rPr sz="2700" b="1">
                <a:solidFill>
                  <a:srgbClr val="D9D9D9"/>
                </a:solidFill>
                <a:latin typeface="Meiryo"/>
                <a:ea typeface="Meiryo"/>
                <a:cs typeface="Meiryo"/>
              </a:rPr>
              <a:t>　2.1 </a:t>
            </a:r>
            <a:r>
              <a:rPr sz="2700" b="0">
                <a:solidFill>
                  <a:srgbClr val="808080"/>
                </a:solidFill>
                <a:latin typeface="Meiryo"/>
                <a:ea typeface="Meiryo"/>
                <a:cs typeface="Meiryo"/>
              </a:rPr>
              <a:t>加齢の影響</a:t>
            </a:r>
          </a:p>
          <a:p>
            <a:pPr>
              <a:lnSpc>
                <a:spcPct val="142000"/>
              </a:lnSpc>
            </a:pPr>
            <a:r>
              <a:rPr sz="2700" b="1">
                <a:solidFill>
                  <a:srgbClr val="D9D9D9"/>
                </a:solidFill>
                <a:latin typeface="Meiryo"/>
                <a:ea typeface="Meiryo"/>
                <a:cs typeface="Meiryo"/>
              </a:rPr>
              <a:t>　2.2 </a:t>
            </a:r>
            <a:r>
              <a:rPr sz="2700" b="0">
                <a:solidFill>
                  <a:srgbClr val="808080"/>
                </a:solidFill>
                <a:latin typeface="Meiryo"/>
                <a:ea typeface="Meiryo"/>
                <a:cs typeface="Meiryo"/>
              </a:rPr>
              <a:t>循環の変化</a:t>
            </a:r>
          </a:p>
          <a:p>
            <a:pPr>
              <a:lnSpc>
                <a:spcPct val="142000"/>
              </a:lnSpc>
            </a:pPr>
            <a:r>
              <a:rPr sz="2700" b="1">
                <a:solidFill>
                  <a:srgbClr val="BF9000"/>
                </a:solidFill>
                <a:latin typeface="Meiryo"/>
                <a:ea typeface="Meiryo"/>
                <a:cs typeface="Meiryo"/>
              </a:rPr>
              <a:t>　2.3 </a:t>
            </a:r>
            <a:r>
              <a:rPr sz="2700" b="1">
                <a:solidFill>
                  <a:srgbClr val="262626"/>
                </a:solidFill>
                <a:latin typeface="Meiryo"/>
                <a:ea typeface="Meiryo"/>
                <a:cs typeface="Meiryo"/>
              </a:rPr>
              <a:t>麻酔中の変化</a:t>
            </a:r>
          </a:p>
          <a:p>
            <a:pPr>
              <a:lnSpc>
                <a:spcPct val="142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42000"/>
              </a:lnSpc>
            </a:pPr>
            <a:r>
              <a:rPr sz="3000" b="1">
                <a:solidFill>
                  <a:srgbClr val="D9D9D9"/>
                </a:solidFill>
                <a:latin typeface="Meiryo"/>
                <a:ea typeface="Meiryo"/>
                <a:cs typeface="Meiryo"/>
              </a:rPr>
              <a:t>4. </a:t>
            </a:r>
            <a:r>
              <a:rPr sz="3000" b="0">
                <a:solidFill>
                  <a:srgbClr val="D9D9D9"/>
                </a:solidFill>
                <a:latin typeface="Meiryo"/>
                <a:ea typeface="Meiryo"/>
                <a:cs typeface="Meiryo"/>
              </a:rPr>
              <a:t>限界</a:t>
            </a:r>
          </a:p>
          <a:p>
            <a:pPr>
              <a:lnSpc>
                <a:spcPct val="142000"/>
              </a:lnSpc>
            </a:pPr>
            <a:r>
              <a:rPr sz="3000" b="1">
                <a:solidFill>
                  <a:srgbClr val="D9D9D9"/>
                </a:solidFill>
                <a:latin typeface="Meiryo"/>
                <a:ea typeface="Meiryo"/>
                <a:cs typeface="Meiryo"/>
              </a:rPr>
              <a:t>5. </a:t>
            </a:r>
            <a:r>
              <a:rPr sz="3000" b="0">
                <a:solidFill>
                  <a:srgbClr val="D9D9D9"/>
                </a:solidFill>
                <a:latin typeface="Meiryo"/>
                <a:ea typeface="Meiryo"/>
                <a:cs typeface="Meiryo"/>
              </a:rPr>
              <a:t>PDA（波形分解）</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2.3 </a:t>
            </a:r>
            <a:r>
              <a:rPr sz="3000" b="1">
                <a:solidFill>
                  <a:srgbClr val="262626"/>
                </a:solidFill>
                <a:latin typeface="Meiryo"/>
                <a:ea typeface="Meiryo"/>
                <a:cs typeface="Meiryo"/>
              </a:rPr>
              <a:t>麻酔中の変化</a:t>
            </a:r>
          </a:p>
          <a:p>
            <a:pPr>
              <a:lnSpc>
                <a:spcPct val="142000"/>
              </a:lnSpc>
            </a:pPr>
            <a:r>
              <a:rPr sz="2700" b="1">
                <a:solidFill>
                  <a:srgbClr val="BF9000"/>
                </a:solidFill>
                <a:latin typeface="Meiryo"/>
                <a:ea typeface="Meiryo"/>
                <a:cs typeface="Meiryo"/>
              </a:rPr>
              <a:t>2.3.1 </a:t>
            </a:r>
            <a:r>
              <a:rPr sz="2700" b="0">
                <a:solidFill>
                  <a:srgbClr val="262626"/>
                </a:solidFill>
                <a:latin typeface="Meiryo"/>
                <a:ea typeface="Meiryo"/>
                <a:cs typeface="Meiryo"/>
              </a:rPr>
              <a:t>切痕位置とトーヌス</a:t>
            </a:r>
          </a:p>
          <a:p>
            <a:pPr>
              <a:lnSpc>
                <a:spcPct val="142000"/>
              </a:lnSpc>
            </a:pPr>
            <a:r>
              <a:rPr sz="2700" b="1">
                <a:solidFill>
                  <a:srgbClr val="BF9000"/>
                </a:solidFill>
                <a:latin typeface="Meiryo"/>
                <a:ea typeface="Meiryo"/>
                <a:cs typeface="Meiryo"/>
              </a:rPr>
              <a:t>2.3.2 </a:t>
            </a:r>
            <a:r>
              <a:rPr sz="2700" b="0">
                <a:solidFill>
                  <a:srgbClr val="262626"/>
                </a:solidFill>
                <a:latin typeface="Meiryo"/>
                <a:ea typeface="Meiryo"/>
                <a:cs typeface="Meiryo"/>
              </a:rPr>
              <a:t>波形の6分類</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26/72</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2.3.1  切痕位置とトーヌス</a:t>
            </a:r>
          </a:p>
        </p:txBody>
      </p:sp>
      <p:sp>
        <p:nvSpPr>
          <p:cNvPr id="14"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3_murray.png"/>
          <p:cNvPicPr>
            <a:picLocks noChangeAspect="1"/>
          </p:cNvPicPr>
          <p:nvPr/>
        </p:nvPicPr>
        <p:blipFill>
          <a:blip r:embed="rId3"/>
          <a:stretch>
            <a:fillRect/>
          </a:stretch>
        </p:blipFill>
        <p:spPr>
          <a:xfrm>
            <a:off x="1555975" y="1185660"/>
            <a:ext cx="9384005" cy="5052926"/>
          </a:xfrm>
          <a:prstGeom prst="rect">
            <a:avLst/>
          </a:prstGeom>
        </p:spPr>
      </p:pic>
      <p:sp>
        <p:nvSpPr>
          <p:cNvPr id="240" name="t_g"/>
          <p:cNvSpPr txBox="1"/>
          <p:nvPr/>
        </p:nvSpPr>
        <p:spPr>
          <a:xfrm>
            <a:off x="1087393" y="1921645"/>
            <a:ext cx="3424088" cy="401087"/>
          </a:xfrm>
          <a:prstGeom prst="rect">
            <a:avLst/>
          </a:prstGeom>
          <a:noFill/>
        </p:spPr>
        <p:txBody>
          <a:bodyPr wrap="square" lIns="0" tIns="0" rIns="0" bIns="0" anchor="t">
            <a:noAutofit/>
          </a:bodyPr>
          <a:lstStyle/>
          <a:p>
            <a:pPr algn="ctr"/>
            <a:r>
              <a:rPr lang="ja-JP" altLang="en-US" sz="2200" b="1" dirty="0">
                <a:solidFill>
                  <a:srgbClr val="5FA83D"/>
                </a:solidFill>
                <a:latin typeface="Meiryo"/>
                <a:ea typeface="Meiryo"/>
                <a:cs typeface="Meiryo"/>
              </a:rPr>
              <a:t>正常トーヌス</a:t>
            </a:r>
          </a:p>
        </p:txBody>
      </p:sp>
      <p:sp>
        <p:nvSpPr>
          <p:cNvPr id="241" name="t_r"/>
          <p:cNvSpPr txBox="1"/>
          <p:nvPr/>
        </p:nvSpPr>
        <p:spPr>
          <a:xfrm>
            <a:off x="4081830" y="1903279"/>
            <a:ext cx="4028339" cy="401087"/>
          </a:xfrm>
          <a:prstGeom prst="rect">
            <a:avLst/>
          </a:prstGeom>
          <a:noFill/>
        </p:spPr>
        <p:txBody>
          <a:bodyPr wrap="square" lIns="0" tIns="0" rIns="0" bIns="0" anchor="t">
            <a:normAutofit/>
          </a:bodyPr>
          <a:lstStyle/>
          <a:p>
            <a:pPr algn="ctr"/>
            <a:r>
              <a:rPr lang="ja-JP" altLang="en-US" sz="2200" b="1" dirty="0">
                <a:solidFill>
                  <a:srgbClr val="C0121F"/>
                </a:solidFill>
                <a:latin typeface="Meiryo"/>
                <a:ea typeface="Meiryo"/>
                <a:cs typeface="Meiryo"/>
              </a:rPr>
              <a:t>血管収縮（浅麻酔・昇圧）</a:t>
            </a:r>
          </a:p>
        </p:txBody>
      </p:sp>
      <p:sp>
        <p:nvSpPr>
          <p:cNvPr id="242" name="t_b"/>
          <p:cNvSpPr txBox="1"/>
          <p:nvPr/>
        </p:nvSpPr>
        <p:spPr>
          <a:xfrm>
            <a:off x="7629416" y="1903279"/>
            <a:ext cx="4028339" cy="401087"/>
          </a:xfrm>
          <a:prstGeom prst="rect">
            <a:avLst/>
          </a:prstGeom>
          <a:noFill/>
        </p:spPr>
        <p:txBody>
          <a:bodyPr wrap="square" lIns="0" tIns="0" rIns="0" bIns="0" anchor="t">
            <a:normAutofit/>
          </a:bodyPr>
          <a:lstStyle/>
          <a:p>
            <a:pPr algn="ctr"/>
            <a:r>
              <a:rPr lang="ja-JP" altLang="en-US" sz="2200" b="1" dirty="0">
                <a:solidFill>
                  <a:srgbClr val="3F72C4"/>
                </a:solidFill>
                <a:latin typeface="Meiryo"/>
                <a:ea typeface="Meiryo"/>
                <a:cs typeface="Meiryo"/>
              </a:rPr>
              <a:t>血管拡張（深麻酔・降圧）</a:t>
            </a:r>
          </a:p>
        </p:txBody>
      </p:sp>
      <p:sp>
        <p:nvSpPr>
          <p:cNvPr id="243" name="s_g"/>
          <p:cNvSpPr txBox="1"/>
          <p:nvPr/>
        </p:nvSpPr>
        <p:spPr>
          <a:xfrm>
            <a:off x="1393547" y="5190144"/>
            <a:ext cx="2813979" cy="311957"/>
          </a:xfrm>
          <a:prstGeom prst="rect">
            <a:avLst/>
          </a:prstGeom>
          <a:noFill/>
        </p:spPr>
        <p:txBody>
          <a:bodyPr wrap="square" lIns="0" tIns="0" rIns="0" bIns="0" anchor="t">
            <a:normAutofit/>
          </a:bodyPr>
          <a:lstStyle/>
          <a:p>
            <a:pPr algn="ctr"/>
            <a:r>
              <a:rPr lang="ja-JP" altLang="en-US" b="1" dirty="0">
                <a:solidFill>
                  <a:srgbClr val="5FA83D"/>
                </a:solidFill>
                <a:latin typeface="Meiryo"/>
                <a:ea typeface="Meiryo"/>
                <a:cs typeface="Meiryo"/>
              </a:rPr>
              <a:t>切痕：中 ・ 振幅：中</a:t>
            </a:r>
          </a:p>
        </p:txBody>
      </p:sp>
      <p:sp>
        <p:nvSpPr>
          <p:cNvPr id="244" name="s_r"/>
          <p:cNvSpPr txBox="1"/>
          <p:nvPr/>
        </p:nvSpPr>
        <p:spPr>
          <a:xfrm>
            <a:off x="4440717" y="5190143"/>
            <a:ext cx="3310564" cy="311957"/>
          </a:xfrm>
          <a:prstGeom prst="rect">
            <a:avLst/>
          </a:prstGeom>
          <a:noFill/>
        </p:spPr>
        <p:txBody>
          <a:bodyPr wrap="square" lIns="0" tIns="0" rIns="0" bIns="0" anchor="t">
            <a:normAutofit/>
          </a:bodyPr>
          <a:lstStyle/>
          <a:p>
            <a:pPr algn="ctr"/>
            <a:r>
              <a:rPr lang="ja-JP" altLang="en-US" b="1" dirty="0">
                <a:solidFill>
                  <a:srgbClr val="C0121F"/>
                </a:solidFill>
                <a:latin typeface="Meiryo"/>
                <a:ea typeface="Meiryo"/>
                <a:cs typeface="Meiryo"/>
              </a:rPr>
              <a:t>切痕位置↑ ・ 振幅↓</a:t>
            </a:r>
          </a:p>
        </p:txBody>
      </p:sp>
      <p:sp>
        <p:nvSpPr>
          <p:cNvPr id="245" name="s_b"/>
          <p:cNvSpPr txBox="1"/>
          <p:nvPr/>
        </p:nvSpPr>
        <p:spPr>
          <a:xfrm>
            <a:off x="7529237" y="5190143"/>
            <a:ext cx="3310564" cy="311957"/>
          </a:xfrm>
          <a:prstGeom prst="rect">
            <a:avLst/>
          </a:prstGeom>
          <a:noFill/>
        </p:spPr>
        <p:txBody>
          <a:bodyPr wrap="square" lIns="0" tIns="0" rIns="0" bIns="0" anchor="t">
            <a:normAutofit/>
          </a:bodyPr>
          <a:lstStyle/>
          <a:p>
            <a:pPr algn="ctr"/>
            <a:r>
              <a:rPr lang="ja-JP" altLang="en-US" b="1" dirty="0">
                <a:solidFill>
                  <a:srgbClr val="3F72C4"/>
                </a:solidFill>
                <a:latin typeface="Meiryo"/>
                <a:ea typeface="Meiryo"/>
                <a:cs typeface="Meiryo"/>
              </a:rPr>
              <a:t>切痕位置↓ ・ 振幅↑</a:t>
            </a:r>
          </a:p>
        </p:txBody>
      </p:sp>
      <p:sp>
        <p:nvSpPr>
          <p:cNvPr id="24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19. Murray 1996</a:t>
            </a:r>
          </a:p>
        </p:txBody>
      </p:sp>
      <p:sp>
        <p:nvSpPr>
          <p:cNvPr id="24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27/72</a:t>
            </a:r>
          </a:p>
        </p:txBody>
      </p:sp>
    </p:spTree>
    <p:extLst>
      <p:ext uri="{BB962C8B-B14F-4D97-AF65-F5344CB8AC3E}">
        <p14:creationId xmlns:p14="http://schemas.microsoft.com/office/powerpoint/2010/main" val="7861759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52E25-3834-FFF5-C1F9-8915F22C33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11CE18-A000-3BE7-F918-94B3DFE349BF}"/>
              </a:ext>
            </a:extLst>
          </p:cNvPr>
          <p:cNvSpPr>
            <a:spLocks noGrp="1"/>
          </p:cNvSpPr>
          <p:nvPr>
            <p:ph type="title"/>
          </p:nvPr>
        </p:nvSpPr>
        <p:spPr/>
        <p:txBody>
          <a:bodyPr>
            <a:normAutofit/>
          </a:bodyPr>
          <a:lstStyle/>
          <a:p>
            <a:pPr algn="l"/>
            <a:r>
              <a:rPr sz="4600" dirty="0">
                <a:latin typeface="Meiryo"/>
                <a:ea typeface="Meiryo"/>
                <a:cs typeface="Meiryo"/>
              </a:rPr>
              <a:t>2.3.2  波形の6分類</a:t>
            </a:r>
          </a:p>
        </p:txBody>
      </p:sp>
      <p:sp>
        <p:nvSpPr>
          <p:cNvPr id="13" name="Off-page Connector 4">
            <a:extLst>
              <a:ext uri="{FF2B5EF4-FFF2-40B4-BE49-F238E27FC236}">
                <a16:creationId xmlns:a16="http://schemas.microsoft.com/office/drawing/2014/main" id="{49A4D507-BB9B-3AF5-BCF2-47C5A02DF53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55C2685D-08EF-D887-88C4-558BE54B19EF}"/>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9BC46FA6-A2A0-6D46-F748-A5C12DA8AA1A}"/>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AFFB54AC-B2B2-2999-329E-1B3A1DA6E286}"/>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669F7C6E-EF6A-F551-5CC0-25FD3ECC553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5_tusman.png">
            <a:extLst>
              <a:ext uri="{FF2B5EF4-FFF2-40B4-BE49-F238E27FC236}">
                <a16:creationId xmlns:a16="http://schemas.microsoft.com/office/drawing/2014/main" id="{5629390F-4A41-9297-E2B0-AF511FF69391}"/>
              </a:ext>
            </a:extLst>
          </p:cNvPr>
          <p:cNvPicPr>
            <a:picLocks noChangeAspect="1"/>
          </p:cNvPicPr>
          <p:nvPr/>
        </p:nvPicPr>
        <p:blipFill>
          <a:blip r:embed="rId3"/>
          <a:stretch>
            <a:fillRect/>
          </a:stretch>
        </p:blipFill>
        <p:spPr>
          <a:xfrm>
            <a:off x="720986" y="1800000"/>
            <a:ext cx="10726027" cy="4320000"/>
          </a:xfrm>
          <a:prstGeom prst="rect">
            <a:avLst/>
          </a:prstGeom>
        </p:spPr>
      </p:pic>
      <p:sp>
        <p:nvSpPr>
          <p:cNvPr id="18" name="TextBox 17">
            <a:extLst>
              <a:ext uri="{FF2B5EF4-FFF2-40B4-BE49-F238E27FC236}">
                <a16:creationId xmlns:a16="http://schemas.microsoft.com/office/drawing/2014/main" id="{9B8A685E-2720-EFFA-9D6C-ADFA47F6207D}"/>
              </a:ext>
            </a:extLst>
          </p:cNvPr>
          <p:cNvSpPr txBox="1"/>
          <p:nvPr/>
        </p:nvSpPr>
        <p:spPr>
          <a:xfrm>
            <a:off x="2156683" y="1783080"/>
            <a:ext cx="1487587" cy="456535"/>
          </a:xfrm>
          <a:prstGeom prst="rect">
            <a:avLst/>
          </a:prstGeom>
          <a:noFill/>
        </p:spPr>
        <p:txBody>
          <a:bodyPr wrap="none" lIns="25400" tIns="12700" rIns="25400" bIns="12700">
            <a:spAutoFit/>
          </a:bodyPr>
          <a:lstStyle/>
          <a:p>
            <a:pPr algn="ctr"/>
            <a:r>
              <a:rPr sz="2800" b="1">
                <a:solidFill>
                  <a:srgbClr val="4472C4"/>
                </a:solidFill>
                <a:latin typeface="Meiryo"/>
                <a:ea typeface="Meiryo"/>
                <a:cs typeface="Meiryo"/>
              </a:rPr>
              <a:t>血管収縮</a:t>
            </a:r>
          </a:p>
        </p:txBody>
      </p:sp>
      <p:sp>
        <p:nvSpPr>
          <p:cNvPr id="19" name="TextBox 18">
            <a:extLst>
              <a:ext uri="{FF2B5EF4-FFF2-40B4-BE49-F238E27FC236}">
                <a16:creationId xmlns:a16="http://schemas.microsoft.com/office/drawing/2014/main" id="{64964FFB-D78D-4944-7A45-68E9B13D4A6E}"/>
              </a:ext>
            </a:extLst>
          </p:cNvPr>
          <p:cNvSpPr txBox="1"/>
          <p:nvPr/>
        </p:nvSpPr>
        <p:spPr>
          <a:xfrm>
            <a:off x="5011153" y="1783080"/>
            <a:ext cx="769441" cy="456535"/>
          </a:xfrm>
          <a:prstGeom prst="rect">
            <a:avLst/>
          </a:prstGeom>
          <a:noFill/>
        </p:spPr>
        <p:txBody>
          <a:bodyPr wrap="none" lIns="25400" tIns="12700" rIns="25400" bIns="12700">
            <a:spAutoFit/>
          </a:bodyPr>
          <a:lstStyle/>
          <a:p>
            <a:pPr algn="ctr"/>
            <a:r>
              <a:rPr sz="2800" b="1">
                <a:solidFill>
                  <a:srgbClr val="70AD47"/>
                </a:solidFill>
                <a:latin typeface="Meiryo"/>
                <a:ea typeface="Meiryo"/>
                <a:cs typeface="Meiryo"/>
              </a:rPr>
              <a:t>正常</a:t>
            </a:r>
          </a:p>
        </p:txBody>
      </p:sp>
      <p:sp>
        <p:nvSpPr>
          <p:cNvPr id="20" name="TextBox 19">
            <a:extLst>
              <a:ext uri="{FF2B5EF4-FFF2-40B4-BE49-F238E27FC236}">
                <a16:creationId xmlns:a16="http://schemas.microsoft.com/office/drawing/2014/main" id="{6E421EF3-E9EF-67C8-BD8C-61A328D9FDC4}"/>
              </a:ext>
            </a:extLst>
          </p:cNvPr>
          <p:cNvSpPr txBox="1"/>
          <p:nvPr/>
        </p:nvSpPr>
        <p:spPr>
          <a:xfrm>
            <a:off x="8178007" y="1783080"/>
            <a:ext cx="1487587" cy="456535"/>
          </a:xfrm>
          <a:prstGeom prst="rect">
            <a:avLst/>
          </a:prstGeom>
          <a:noFill/>
        </p:spPr>
        <p:txBody>
          <a:bodyPr wrap="none" lIns="25400" tIns="12700" rIns="25400" bIns="12700">
            <a:spAutoFit/>
          </a:bodyPr>
          <a:lstStyle/>
          <a:p>
            <a:pPr algn="ctr"/>
            <a:r>
              <a:rPr sz="2800" b="1">
                <a:solidFill>
                  <a:srgbClr val="8A3B00"/>
                </a:solidFill>
                <a:latin typeface="Meiryo"/>
                <a:ea typeface="Meiryo"/>
                <a:cs typeface="Meiryo"/>
              </a:rPr>
              <a:t>血管拡張</a:t>
            </a:r>
          </a:p>
        </p:txBody>
      </p:sp>
      <p:sp>
        <p:nvSpPr>
          <p:cNvPr id="21" name="TextBox 20">
            <a:extLst>
              <a:ext uri="{FF2B5EF4-FFF2-40B4-BE49-F238E27FC236}">
                <a16:creationId xmlns:a16="http://schemas.microsoft.com/office/drawing/2014/main" id="{D72ADAEF-B48D-EB66-FE3A-AC3F3759E781}"/>
              </a:ext>
            </a:extLst>
          </p:cNvPr>
          <p:cNvSpPr txBox="1"/>
          <p:nvPr/>
        </p:nvSpPr>
        <p:spPr>
          <a:xfrm>
            <a:off x="1714683" y="2856879"/>
            <a:ext cx="788486" cy="302647"/>
          </a:xfrm>
          <a:prstGeom prst="rect">
            <a:avLst/>
          </a:prstGeom>
          <a:noFill/>
        </p:spPr>
        <p:txBody>
          <a:bodyPr wrap="none" lIns="25400" tIns="12700" rIns="25400" bIns="12700">
            <a:spAutoFit/>
          </a:bodyPr>
          <a:lstStyle/>
          <a:p>
            <a:pPr algn="ctr"/>
            <a:r>
              <a:rPr b="0" dirty="0">
                <a:solidFill>
                  <a:srgbClr val="8C8C8C"/>
                </a:solidFill>
                <a:latin typeface="Meiryo"/>
                <a:ea typeface="Meiryo"/>
                <a:cs typeface="Meiryo"/>
              </a:rPr>
              <a:t>severe</a:t>
            </a:r>
          </a:p>
        </p:txBody>
      </p:sp>
      <p:sp>
        <p:nvSpPr>
          <p:cNvPr id="22" name="TextBox 21">
            <a:extLst>
              <a:ext uri="{FF2B5EF4-FFF2-40B4-BE49-F238E27FC236}">
                <a16:creationId xmlns:a16="http://schemas.microsoft.com/office/drawing/2014/main" id="{DDB977FB-4CA6-27B9-81F4-DB06B8F3637C}"/>
              </a:ext>
            </a:extLst>
          </p:cNvPr>
          <p:cNvSpPr txBox="1"/>
          <p:nvPr/>
        </p:nvSpPr>
        <p:spPr>
          <a:xfrm>
            <a:off x="3220107" y="2856879"/>
            <a:ext cx="113165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moderate</a:t>
            </a:r>
          </a:p>
        </p:txBody>
      </p:sp>
      <p:sp>
        <p:nvSpPr>
          <p:cNvPr id="23" name="TextBox 22">
            <a:extLst>
              <a:ext uri="{FF2B5EF4-FFF2-40B4-BE49-F238E27FC236}">
                <a16:creationId xmlns:a16="http://schemas.microsoft.com/office/drawing/2014/main" id="{58C0E1E8-FFF3-34F9-C4A9-120D29685B1B}"/>
              </a:ext>
            </a:extLst>
          </p:cNvPr>
          <p:cNvSpPr txBox="1"/>
          <p:nvPr/>
        </p:nvSpPr>
        <p:spPr>
          <a:xfrm>
            <a:off x="6806653" y="2856879"/>
            <a:ext cx="655629"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slight</a:t>
            </a:r>
          </a:p>
        </p:txBody>
      </p:sp>
      <p:sp>
        <p:nvSpPr>
          <p:cNvPr id="24" name="TextBox 23">
            <a:extLst>
              <a:ext uri="{FF2B5EF4-FFF2-40B4-BE49-F238E27FC236}">
                <a16:creationId xmlns:a16="http://schemas.microsoft.com/office/drawing/2014/main" id="{1DB50F6C-A843-A198-923E-3D09134C7438}"/>
              </a:ext>
            </a:extLst>
          </p:cNvPr>
          <p:cNvSpPr txBox="1"/>
          <p:nvPr/>
        </p:nvSpPr>
        <p:spPr>
          <a:xfrm>
            <a:off x="8244735" y="2856879"/>
            <a:ext cx="113165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moderate</a:t>
            </a:r>
          </a:p>
        </p:txBody>
      </p:sp>
      <p:sp>
        <p:nvSpPr>
          <p:cNvPr id="25" name="TextBox 24">
            <a:extLst>
              <a:ext uri="{FF2B5EF4-FFF2-40B4-BE49-F238E27FC236}">
                <a16:creationId xmlns:a16="http://schemas.microsoft.com/office/drawing/2014/main" id="{8EE01CE3-12CB-24CA-9A06-8F6BAE405904}"/>
              </a:ext>
            </a:extLst>
          </p:cNvPr>
          <p:cNvSpPr txBox="1"/>
          <p:nvPr/>
        </p:nvSpPr>
        <p:spPr>
          <a:xfrm>
            <a:off x="10088758" y="2856879"/>
            <a:ext cx="78848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severe</a:t>
            </a:r>
          </a:p>
        </p:txBody>
      </p:sp>
      <p:sp>
        <p:nvSpPr>
          <p:cNvPr id="26" name="TextBox 25">
            <a:extLst>
              <a:ext uri="{FF2B5EF4-FFF2-40B4-BE49-F238E27FC236}">
                <a16:creationId xmlns:a16="http://schemas.microsoft.com/office/drawing/2014/main" id="{7935C084-AE8B-8914-6EB6-C95ADF998EFB}"/>
              </a:ext>
            </a:extLst>
          </p:cNvPr>
          <p:cNvSpPr txBox="1"/>
          <p:nvPr/>
        </p:nvSpPr>
        <p:spPr>
          <a:xfrm>
            <a:off x="1320393" y="5120640"/>
            <a:ext cx="1828800" cy="329184"/>
          </a:xfrm>
          <a:prstGeom prst="rect">
            <a:avLst/>
          </a:prstGeom>
          <a:noFill/>
        </p:spPr>
        <p:txBody>
          <a:bodyPr wrap="none" lIns="25400" tIns="12700" rIns="25400" bIns="12700">
            <a:spAutoFit/>
          </a:bodyPr>
          <a:lstStyle/>
          <a:p>
            <a:pPr algn="ctr"/>
            <a:r>
              <a:rPr sz="1500" b="1">
                <a:solidFill>
                  <a:srgbClr val="4472C4"/>
                </a:solidFill>
                <a:latin typeface="Meiryo"/>
                <a:ea typeface="Meiryo"/>
                <a:cs typeface="Meiryo"/>
              </a:rPr>
              <a:t>Class I</a:t>
            </a:r>
          </a:p>
        </p:txBody>
      </p:sp>
      <p:sp>
        <p:nvSpPr>
          <p:cNvPr id="27" name="TextBox 26">
            <a:extLst>
              <a:ext uri="{FF2B5EF4-FFF2-40B4-BE49-F238E27FC236}">
                <a16:creationId xmlns:a16="http://schemas.microsoft.com/office/drawing/2014/main" id="{7F32B748-9FD6-5E3D-A361-143B593F4D11}"/>
              </a:ext>
            </a:extLst>
          </p:cNvPr>
          <p:cNvSpPr txBox="1"/>
          <p:nvPr/>
        </p:nvSpPr>
        <p:spPr>
          <a:xfrm>
            <a:off x="2997403" y="5120640"/>
            <a:ext cx="1828800" cy="329184"/>
          </a:xfrm>
          <a:prstGeom prst="rect">
            <a:avLst/>
          </a:prstGeom>
          <a:noFill/>
        </p:spPr>
        <p:txBody>
          <a:bodyPr wrap="none" lIns="25400" tIns="12700" rIns="25400" bIns="12700">
            <a:spAutoFit/>
          </a:bodyPr>
          <a:lstStyle/>
          <a:p>
            <a:pPr algn="ctr"/>
            <a:r>
              <a:rPr sz="1500" b="1">
                <a:solidFill>
                  <a:srgbClr val="4472C4"/>
                </a:solidFill>
                <a:latin typeface="Meiryo"/>
                <a:ea typeface="Meiryo"/>
                <a:cs typeface="Meiryo"/>
              </a:rPr>
              <a:t>Class II</a:t>
            </a:r>
          </a:p>
        </p:txBody>
      </p:sp>
      <p:sp>
        <p:nvSpPr>
          <p:cNvPr id="28" name="TextBox 27">
            <a:extLst>
              <a:ext uri="{FF2B5EF4-FFF2-40B4-BE49-F238E27FC236}">
                <a16:creationId xmlns:a16="http://schemas.microsoft.com/office/drawing/2014/main" id="{EA55B207-9AA9-6EAD-4E57-5D5178E80E5A}"/>
              </a:ext>
            </a:extLst>
          </p:cNvPr>
          <p:cNvSpPr txBox="1"/>
          <p:nvPr/>
        </p:nvSpPr>
        <p:spPr>
          <a:xfrm>
            <a:off x="4674412" y="5120640"/>
            <a:ext cx="1828800" cy="329184"/>
          </a:xfrm>
          <a:prstGeom prst="rect">
            <a:avLst/>
          </a:prstGeom>
          <a:noFill/>
        </p:spPr>
        <p:txBody>
          <a:bodyPr wrap="none" lIns="25400" tIns="12700" rIns="25400" bIns="12700">
            <a:spAutoFit/>
          </a:bodyPr>
          <a:lstStyle/>
          <a:p>
            <a:pPr algn="ctr"/>
            <a:r>
              <a:rPr sz="1500" b="1">
                <a:solidFill>
                  <a:srgbClr val="70AD47"/>
                </a:solidFill>
                <a:latin typeface="Meiryo"/>
                <a:ea typeface="Meiryo"/>
                <a:cs typeface="Meiryo"/>
              </a:rPr>
              <a:t>Class III</a:t>
            </a:r>
          </a:p>
        </p:txBody>
      </p:sp>
      <p:sp>
        <p:nvSpPr>
          <p:cNvPr id="29" name="TextBox 28">
            <a:extLst>
              <a:ext uri="{FF2B5EF4-FFF2-40B4-BE49-F238E27FC236}">
                <a16:creationId xmlns:a16="http://schemas.microsoft.com/office/drawing/2014/main" id="{093ECF76-0F3E-2BF5-C081-48A28FE51A22}"/>
              </a:ext>
            </a:extLst>
          </p:cNvPr>
          <p:cNvSpPr txBox="1"/>
          <p:nvPr/>
        </p:nvSpPr>
        <p:spPr>
          <a:xfrm>
            <a:off x="6355994" y="5120640"/>
            <a:ext cx="1828800" cy="329184"/>
          </a:xfrm>
          <a:prstGeom prst="rect">
            <a:avLst/>
          </a:prstGeom>
          <a:noFill/>
        </p:spPr>
        <p:txBody>
          <a:bodyPr wrap="none" lIns="25400" tIns="12700" rIns="25400" bIns="12700">
            <a:spAutoFit/>
          </a:bodyPr>
          <a:lstStyle/>
          <a:p>
            <a:pPr algn="ctr"/>
            <a:r>
              <a:rPr sz="1500" b="1">
                <a:solidFill>
                  <a:srgbClr val="ED7D31"/>
                </a:solidFill>
                <a:latin typeface="Meiryo"/>
                <a:ea typeface="Meiryo"/>
                <a:cs typeface="Meiryo"/>
              </a:rPr>
              <a:t>Class IV</a:t>
            </a:r>
          </a:p>
        </p:txBody>
      </p:sp>
      <p:sp>
        <p:nvSpPr>
          <p:cNvPr id="30" name="TextBox 29">
            <a:extLst>
              <a:ext uri="{FF2B5EF4-FFF2-40B4-BE49-F238E27FC236}">
                <a16:creationId xmlns:a16="http://schemas.microsoft.com/office/drawing/2014/main" id="{2381C2C1-93BF-6D30-CEF5-AAA5E72F6642}"/>
              </a:ext>
            </a:extLst>
          </p:cNvPr>
          <p:cNvSpPr txBox="1"/>
          <p:nvPr/>
        </p:nvSpPr>
        <p:spPr>
          <a:xfrm>
            <a:off x="8032089" y="5120640"/>
            <a:ext cx="1828800" cy="329184"/>
          </a:xfrm>
          <a:prstGeom prst="rect">
            <a:avLst/>
          </a:prstGeom>
          <a:noFill/>
        </p:spPr>
        <p:txBody>
          <a:bodyPr wrap="none" lIns="25400" tIns="12700" rIns="25400" bIns="12700">
            <a:spAutoFit/>
          </a:bodyPr>
          <a:lstStyle/>
          <a:p>
            <a:pPr algn="ctr"/>
            <a:r>
              <a:rPr sz="1500" b="1">
                <a:solidFill>
                  <a:srgbClr val="ED7D31"/>
                </a:solidFill>
                <a:latin typeface="Meiryo"/>
                <a:ea typeface="Meiryo"/>
                <a:cs typeface="Meiryo"/>
              </a:rPr>
              <a:t>Class V</a:t>
            </a:r>
          </a:p>
        </p:txBody>
      </p:sp>
      <p:sp>
        <p:nvSpPr>
          <p:cNvPr id="31" name="TextBox 30">
            <a:extLst>
              <a:ext uri="{FF2B5EF4-FFF2-40B4-BE49-F238E27FC236}">
                <a16:creationId xmlns:a16="http://schemas.microsoft.com/office/drawing/2014/main" id="{F910EA68-CBFF-B379-3A8A-2D363A3B64D7}"/>
              </a:ext>
            </a:extLst>
          </p:cNvPr>
          <p:cNvSpPr txBox="1"/>
          <p:nvPr/>
        </p:nvSpPr>
        <p:spPr>
          <a:xfrm>
            <a:off x="9704527" y="5120640"/>
            <a:ext cx="1828800" cy="329184"/>
          </a:xfrm>
          <a:prstGeom prst="rect">
            <a:avLst/>
          </a:prstGeom>
          <a:noFill/>
        </p:spPr>
        <p:txBody>
          <a:bodyPr wrap="none" lIns="25400" tIns="12700" rIns="25400" bIns="12700">
            <a:spAutoFit/>
          </a:bodyPr>
          <a:lstStyle/>
          <a:p>
            <a:pPr algn="ctr"/>
            <a:r>
              <a:rPr sz="1500" b="1">
                <a:solidFill>
                  <a:srgbClr val="C00000"/>
                </a:solidFill>
                <a:latin typeface="Meiryo"/>
                <a:ea typeface="Meiryo"/>
                <a:cs typeface="Meiryo"/>
              </a:rPr>
              <a:t>Class VI</a:t>
            </a:r>
          </a:p>
        </p:txBody>
      </p:sp>
      <p:sp>
        <p:nvSpPr>
          <p:cNvPr id="32" name="TextBox 31">
            <a:extLst>
              <a:ext uri="{FF2B5EF4-FFF2-40B4-BE49-F238E27FC236}">
                <a16:creationId xmlns:a16="http://schemas.microsoft.com/office/drawing/2014/main" id="{AE24AB45-2B70-815A-7C05-CD0E978C4492}"/>
              </a:ext>
            </a:extLst>
          </p:cNvPr>
          <p:cNvSpPr txBox="1"/>
          <p:nvPr/>
        </p:nvSpPr>
        <p:spPr>
          <a:xfrm rot="16200000">
            <a:off x="104997" y="4002952"/>
            <a:ext cx="1200650" cy="333425"/>
          </a:xfrm>
          <a:prstGeom prst="rect">
            <a:avLst/>
          </a:prstGeom>
          <a:noFill/>
        </p:spPr>
        <p:txBody>
          <a:bodyPr wrap="none" lIns="25400" tIns="12700" rIns="25400" bIns="12700">
            <a:spAutoFit/>
          </a:bodyPr>
          <a:lstStyle/>
          <a:p>
            <a:pPr algn="ctr"/>
            <a:r>
              <a:rPr sz="2000" b="1">
                <a:solidFill>
                  <a:srgbClr val="272727"/>
                </a:solidFill>
                <a:latin typeface="Meiryo"/>
                <a:ea typeface="Meiryo"/>
                <a:cs typeface="Meiryo"/>
              </a:rPr>
              <a:t>PPG 振幅</a:t>
            </a:r>
          </a:p>
        </p:txBody>
      </p:sp>
      <p:sp>
        <p:nvSpPr>
          <p:cNvPr id="4" name="テキスト ボックス 3">
            <a:extLst>
              <a:ext uri="{FF2B5EF4-FFF2-40B4-BE49-F238E27FC236}">
                <a16:creationId xmlns:a16="http://schemas.microsoft.com/office/drawing/2014/main" id="{6D828D3A-5ACF-C19C-0C7E-81F1ABBA3109}"/>
              </a:ext>
            </a:extLst>
          </p:cNvPr>
          <p:cNvSpPr txBox="1"/>
          <p:nvPr/>
        </p:nvSpPr>
        <p:spPr>
          <a:xfrm>
            <a:off x="1951104" y="5559458"/>
            <a:ext cx="8676158" cy="895630"/>
          </a:xfrm>
          <a:prstGeom prst="rect">
            <a:avLst/>
          </a:prstGeom>
          <a:noFill/>
        </p:spPr>
        <p:txBody>
          <a:bodyPr wrap="none" rtlCol="0">
            <a:spAutoFit/>
          </a:bodyPr>
          <a:lstStyle/>
          <a:p>
            <a:pPr>
              <a:lnSpc>
                <a:spcPct val="110000"/>
              </a:lnSpc>
            </a:pPr>
            <a:r>
              <a:rPr lang="en-US" altLang="ja-JP" sz="2400" b="1" dirty="0">
                <a:latin typeface="Meiryo"/>
                <a:ea typeface="Meiryo"/>
                <a:cs typeface="Meiryo"/>
              </a:rPr>
              <a:t>CABG</a:t>
            </a:r>
            <a:r>
              <a:rPr lang="ja-JP" altLang="en-US" sz="2400" b="1">
                <a:latin typeface="Meiryo"/>
                <a:ea typeface="Meiryo"/>
                <a:cs typeface="Meiryo"/>
              </a:rPr>
              <a:t>症例で</a:t>
            </a:r>
            <a:r>
              <a:rPr lang="en-US" altLang="ja-JP" sz="2400" b="1" dirty="0">
                <a:latin typeface="Meiryo"/>
                <a:ea typeface="Meiryo"/>
                <a:cs typeface="Meiryo"/>
              </a:rPr>
              <a:t>PPG</a:t>
            </a:r>
            <a:r>
              <a:rPr lang="ja-JP" altLang="en-US" sz="2400" b="1">
                <a:latin typeface="Meiryo"/>
                <a:ea typeface="Meiryo"/>
                <a:cs typeface="Meiryo"/>
              </a:rPr>
              <a:t>波形を</a:t>
            </a:r>
            <a:r>
              <a:rPr lang="en-US" altLang="ja-JP" sz="2400" b="1" dirty="0">
                <a:latin typeface="Meiryo"/>
                <a:ea typeface="Meiryo"/>
                <a:cs typeface="Meiryo"/>
              </a:rPr>
              <a:t> </a:t>
            </a:r>
            <a:r>
              <a:rPr lang="ja-JP" altLang="en-US" sz="2400" b="1">
                <a:latin typeface="Meiryo"/>
                <a:ea typeface="Meiryo"/>
                <a:cs typeface="Meiryo"/>
              </a:rPr>
              <a:t>切痕位置</a:t>
            </a:r>
            <a:r>
              <a:rPr lang="en-US" altLang="ja-JP" sz="2400" b="1" dirty="0">
                <a:latin typeface="Meiryo"/>
                <a:ea typeface="Meiryo"/>
                <a:cs typeface="Meiryo"/>
              </a:rPr>
              <a:t> × </a:t>
            </a:r>
            <a:r>
              <a:rPr lang="ja-JP" altLang="en-US" sz="2400" b="1">
                <a:latin typeface="Meiryo"/>
                <a:ea typeface="Meiryo"/>
                <a:cs typeface="Meiryo"/>
              </a:rPr>
              <a:t>振幅 で</a:t>
            </a:r>
            <a:r>
              <a:rPr lang="en-US" altLang="ja-JP" sz="2400" b="1" dirty="0">
                <a:latin typeface="Meiryo"/>
                <a:ea typeface="Meiryo"/>
                <a:cs typeface="Meiryo"/>
              </a:rPr>
              <a:t>6</a:t>
            </a:r>
            <a:r>
              <a:rPr lang="ja-JP" altLang="en-US" sz="2400" b="1">
                <a:latin typeface="Meiryo"/>
                <a:ea typeface="Meiryo"/>
                <a:cs typeface="Meiryo"/>
              </a:rPr>
              <a:t>つに分類。　</a:t>
            </a:r>
            <a:endParaRPr lang="en-US" altLang="ja-JP" sz="2400" b="1" dirty="0">
              <a:latin typeface="Meiryo"/>
              <a:ea typeface="Meiryo"/>
              <a:cs typeface="Meiryo"/>
            </a:endParaRPr>
          </a:p>
          <a:p>
            <a:pPr>
              <a:lnSpc>
                <a:spcPct val="110000"/>
              </a:lnSpc>
            </a:pPr>
            <a:r>
              <a:rPr lang="ja-JP" altLang="en-US" sz="2400" b="1">
                <a:latin typeface="Meiryo"/>
                <a:ea typeface="Meiryo"/>
                <a:cs typeface="Meiryo"/>
              </a:rPr>
              <a:t>分類が血圧変化や循環パラメータと関連があるか調べた。</a:t>
            </a:r>
            <a:endParaRPr kumimoji="1" lang="ja-JP" altLang="en-US" sz="2400" b="1"/>
          </a:p>
        </p:txBody>
      </p:sp>
      <p:sp>
        <p:nvSpPr>
          <p:cNvPr id="3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3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28/72</a:t>
            </a:r>
          </a:p>
        </p:txBody>
      </p:sp>
    </p:spTree>
    <p:extLst>
      <p:ext uri="{BB962C8B-B14F-4D97-AF65-F5344CB8AC3E}">
        <p14:creationId xmlns:p14="http://schemas.microsoft.com/office/powerpoint/2010/main" val="18334007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21BB2-C3AC-D389-0079-C15A9126A8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0CFEC-44D8-2442-2332-E2F79E8A884C}"/>
              </a:ext>
            </a:extLst>
          </p:cNvPr>
          <p:cNvSpPr>
            <a:spLocks noGrp="1"/>
          </p:cNvSpPr>
          <p:nvPr>
            <p:ph type="title"/>
          </p:nvPr>
        </p:nvSpPr>
        <p:spPr/>
        <p:txBody>
          <a:bodyPr>
            <a:normAutofit/>
          </a:bodyPr>
          <a:lstStyle/>
          <a:p>
            <a:pPr algn="l"/>
            <a:r>
              <a:rPr sz="4600" dirty="0">
                <a:latin typeface="Meiryo"/>
                <a:ea typeface="Meiryo"/>
                <a:cs typeface="Meiryo"/>
              </a:rPr>
              <a:t>2.3.2  波形の6分類</a:t>
            </a:r>
          </a:p>
        </p:txBody>
      </p:sp>
      <p:sp>
        <p:nvSpPr>
          <p:cNvPr id="13" name="Off-page Connector 4">
            <a:extLst>
              <a:ext uri="{FF2B5EF4-FFF2-40B4-BE49-F238E27FC236}">
                <a16:creationId xmlns:a16="http://schemas.microsoft.com/office/drawing/2014/main" id="{934E9F3E-5064-B3E8-CB0F-6905C4297CE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523BEF27-76BB-81FA-1A7D-8F14768898A9}"/>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D723B94C-9217-9F4A-91DE-BF5AFA255F1F}"/>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39EC3082-930D-D3C0-51FF-267D58BF216E}"/>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4583A65C-CA72-2CB4-70BD-1B35910DF08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5_tusman.png">
            <a:extLst>
              <a:ext uri="{FF2B5EF4-FFF2-40B4-BE49-F238E27FC236}">
                <a16:creationId xmlns:a16="http://schemas.microsoft.com/office/drawing/2014/main" id="{17DF98B4-4112-E40F-4C68-F344E0D26A6B}"/>
              </a:ext>
            </a:extLst>
          </p:cNvPr>
          <p:cNvPicPr>
            <a:picLocks noChangeAspect="1"/>
          </p:cNvPicPr>
          <p:nvPr/>
        </p:nvPicPr>
        <p:blipFill>
          <a:blip r:embed="rId3"/>
          <a:stretch>
            <a:fillRect/>
          </a:stretch>
        </p:blipFill>
        <p:spPr>
          <a:xfrm>
            <a:off x="720986" y="1800000"/>
            <a:ext cx="10726027" cy="4320000"/>
          </a:xfrm>
          <a:prstGeom prst="rect">
            <a:avLst/>
          </a:prstGeom>
        </p:spPr>
      </p:pic>
      <p:pic>
        <p:nvPicPr>
          <p:cNvPr id="3" name="図 2">
            <a:extLst>
              <a:ext uri="{FF2B5EF4-FFF2-40B4-BE49-F238E27FC236}">
                <a16:creationId xmlns:a16="http://schemas.microsoft.com/office/drawing/2014/main" id="{A236D4E2-3099-F0FD-523C-93E225DCA580}"/>
              </a:ext>
            </a:extLst>
          </p:cNvPr>
          <p:cNvPicPr>
            <a:picLocks noChangeAspect="1"/>
          </p:cNvPicPr>
          <p:nvPr/>
        </p:nvPicPr>
        <p:blipFill>
          <a:blip r:embed="rId4"/>
          <a:stretch>
            <a:fillRect/>
          </a:stretch>
        </p:blipFill>
        <p:spPr>
          <a:xfrm>
            <a:off x="744987" y="1690688"/>
            <a:ext cx="11115624" cy="4050414"/>
          </a:xfrm>
          <a:prstGeom prst="rect">
            <a:avLst/>
          </a:prstGeom>
        </p:spPr>
      </p:pic>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28/72</a:t>
            </a:r>
          </a:p>
        </p:txBody>
      </p:sp>
    </p:spTree>
    <p:extLst>
      <p:ext uri="{BB962C8B-B14F-4D97-AF65-F5344CB8AC3E}">
        <p14:creationId xmlns:p14="http://schemas.microsoft.com/office/powerpoint/2010/main" val="6683892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0815C-2CC2-3F24-F6F3-6185A510B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72301-5AC6-3B3A-71EE-CC2222AA02BF}"/>
              </a:ext>
            </a:extLst>
          </p:cNvPr>
          <p:cNvSpPr>
            <a:spLocks noGrp="1"/>
          </p:cNvSpPr>
          <p:nvPr>
            <p:ph type="title"/>
          </p:nvPr>
        </p:nvSpPr>
        <p:spPr/>
        <p:txBody>
          <a:bodyPr/>
          <a:lstStyle/>
          <a:p>
            <a:pPr algn="l"/>
            <a:r>
              <a:rPr sz="4600" dirty="0">
                <a:latin typeface="Meiryo"/>
                <a:ea typeface="Meiryo"/>
                <a:cs typeface="Meiryo"/>
              </a:rPr>
              <a:t>2.3.2  6分類と血行動態</a:t>
            </a:r>
          </a:p>
        </p:txBody>
      </p:sp>
      <p:sp>
        <p:nvSpPr>
          <p:cNvPr id="12" name="Off-page Connector 4">
            <a:extLst>
              <a:ext uri="{FF2B5EF4-FFF2-40B4-BE49-F238E27FC236}">
                <a16:creationId xmlns:a16="http://schemas.microsoft.com/office/drawing/2014/main" id="{C4009E35-BB85-D0CA-44E6-8905B9D59A15}"/>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93209FE-98B2-0622-AFB2-ED8DDD424E8C}"/>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4" name="Off-page Connector 6">
            <a:extLst>
              <a:ext uri="{FF2B5EF4-FFF2-40B4-BE49-F238E27FC236}">
                <a16:creationId xmlns:a16="http://schemas.microsoft.com/office/drawing/2014/main" id="{53D5C8C7-03C9-3FD5-5085-51D16DA97410}"/>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BFD89725-E1CF-4E4A-3D78-94A042C0121E}"/>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67E5518A-5231-37E1-3F1D-2C1084D722E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3" name="図 2">
            <a:extLst>
              <a:ext uri="{FF2B5EF4-FFF2-40B4-BE49-F238E27FC236}">
                <a16:creationId xmlns:a16="http://schemas.microsoft.com/office/drawing/2014/main" id="{8DF31F8E-F11A-C9E0-1E9F-EDEE84B3DB8A}"/>
              </a:ext>
            </a:extLst>
          </p:cNvPr>
          <p:cNvPicPr>
            <a:picLocks noChangeAspect="1"/>
          </p:cNvPicPr>
          <p:nvPr/>
        </p:nvPicPr>
        <p:blipFill>
          <a:blip r:embed="rId3"/>
          <a:stretch>
            <a:fillRect/>
          </a:stretch>
        </p:blipFill>
        <p:spPr>
          <a:xfrm>
            <a:off x="1349391" y="1555420"/>
            <a:ext cx="9497786" cy="5086680"/>
          </a:xfrm>
          <a:prstGeom prst="rect">
            <a:avLst/>
          </a:prstGeom>
        </p:spPr>
      </p:pic>
      <p:sp>
        <p:nvSpPr>
          <p:cNvPr id="4" name="callout">
            <a:extLst>
              <a:ext uri="{FF2B5EF4-FFF2-40B4-BE49-F238E27FC236}">
                <a16:creationId xmlns:a16="http://schemas.microsoft.com/office/drawing/2014/main" id="{B5086CE6-A9B1-B237-A41A-55E5CFE6DB85}"/>
              </a:ext>
            </a:extLst>
          </p:cNvPr>
          <p:cNvSpPr/>
          <p:nvPr/>
        </p:nvSpPr>
        <p:spPr>
          <a:xfrm>
            <a:off x="1344822" y="5861538"/>
            <a:ext cx="9509697" cy="382641"/>
          </a:xfrm>
          <a:prstGeom prst="roundRect">
            <a:avLst>
              <a:gd name="adj" fmla="val 12000"/>
            </a:avLst>
          </a:prstGeom>
          <a:solidFill>
            <a:srgbClr val="F2E2B3">
              <a:alpha val="28000"/>
            </a:srgbClr>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endParaRPr sz="2400" b="1" dirty="0">
              <a:solidFill>
                <a:srgbClr val="262626"/>
              </a:solidFill>
              <a:latin typeface="Meiryo"/>
              <a:ea typeface="Meiryo"/>
              <a:cs typeface="Meiryo"/>
            </a:endParaRP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29/72</a:t>
            </a:r>
          </a:p>
        </p:txBody>
      </p:sp>
    </p:spTree>
    <p:extLst>
      <p:ext uri="{BB962C8B-B14F-4D97-AF65-F5344CB8AC3E}">
        <p14:creationId xmlns:p14="http://schemas.microsoft.com/office/powerpoint/2010/main" val="20339620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2.3.2  6分類と血行動態</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2019（心臓手術 15 名・190 エピソード）</a:t>
            </a:r>
          </a:p>
        </p:txBody>
      </p:sp>
      <p:sp>
        <p:nvSpPr>
          <p:cNvPr id="18" name="Rounded Rectangle 17"/>
          <p:cNvSpPr/>
          <p:nvPr/>
        </p:nvSpPr>
        <p:spPr>
          <a:xfrm>
            <a:off x="502920" y="1783080"/>
            <a:ext cx="3529584" cy="1234440"/>
          </a:xfrm>
          <a:prstGeom prst="round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I・II</a:t>
            </a:r>
          </a:p>
        </p:txBody>
      </p:sp>
      <p:sp>
        <p:nvSpPr>
          <p:cNvPr id="20" name="TextBox 19"/>
          <p:cNvSpPr txBox="1"/>
          <p:nvPr/>
        </p:nvSpPr>
        <p:spPr>
          <a:xfrm>
            <a:off x="594360"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血管収縮</a:t>
            </a:r>
          </a:p>
        </p:txBody>
      </p:sp>
      <p:sp>
        <p:nvSpPr>
          <p:cNvPr id="21" name="Rounded Rectangle 20"/>
          <p:cNvSpPr/>
          <p:nvPr/>
        </p:nvSpPr>
        <p:spPr>
          <a:xfrm>
            <a:off x="4306824" y="1783080"/>
            <a:ext cx="3529584" cy="1234440"/>
          </a:xfrm>
          <a:prstGeom prst="roundRect">
            <a:avLst/>
          </a:prstGeom>
          <a:solidFill>
            <a:srgbClr val="4E8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398264"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III</a:t>
            </a:r>
          </a:p>
        </p:txBody>
      </p:sp>
      <p:sp>
        <p:nvSpPr>
          <p:cNvPr id="23" name="TextBox 22"/>
          <p:cNvSpPr txBox="1"/>
          <p:nvPr/>
        </p:nvSpPr>
        <p:spPr>
          <a:xfrm>
            <a:off x="4398264"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正常</a:t>
            </a:r>
          </a:p>
        </p:txBody>
      </p:sp>
      <p:sp>
        <p:nvSpPr>
          <p:cNvPr id="24" name="Rounded Rectangle 23"/>
          <p:cNvSpPr/>
          <p:nvPr/>
        </p:nvSpPr>
        <p:spPr>
          <a:xfrm>
            <a:off x="8110728" y="1783080"/>
            <a:ext cx="3529584" cy="1234440"/>
          </a:xfrm>
          <a:prstGeom prst="roundRect">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202168"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IV〜VI</a:t>
            </a:r>
          </a:p>
        </p:txBody>
      </p:sp>
      <p:sp>
        <p:nvSpPr>
          <p:cNvPr id="26" name="TextBox 25"/>
          <p:cNvSpPr txBox="1"/>
          <p:nvPr/>
        </p:nvSpPr>
        <p:spPr>
          <a:xfrm>
            <a:off x="8202168"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血管拡張</a:t>
            </a:r>
          </a:p>
        </p:txBody>
      </p:sp>
      <p:sp>
        <p:nvSpPr>
          <p:cNvPr id="27" name="Rounded Rectangle 26"/>
          <p:cNvSpPr/>
          <p:nvPr/>
        </p:nvSpPr>
        <p:spPr>
          <a:xfrm>
            <a:off x="502920" y="3291840"/>
            <a:ext cx="11183112" cy="13258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85800" y="3493008"/>
            <a:ext cx="10789920" cy="541553"/>
          </a:xfrm>
          <a:prstGeom prst="rect">
            <a:avLst/>
          </a:prstGeom>
          <a:noFill/>
        </p:spPr>
        <p:txBody>
          <a:bodyPr wrap="square" lIns="0" tIns="0" rIns="0" bIns="0" anchor="t">
            <a:spAutoFit/>
          </a:bodyPr>
          <a:lstStyle/>
          <a:p>
            <a:pPr algn="ctr"/>
            <a:r>
              <a:rPr sz="2500" b="1">
                <a:solidFill>
                  <a:srgbClr val="262626"/>
                </a:solidFill>
                <a:latin typeface="Meiryo"/>
                <a:ea typeface="Meiryo"/>
                <a:cs typeface="Meiryo"/>
              </a:rPr>
              <a:t>収縮期血圧との相関</a:t>
            </a:r>
          </a:p>
        </p:txBody>
      </p:sp>
      <p:sp>
        <p:nvSpPr>
          <p:cNvPr id="29" name="TextBox 28"/>
          <p:cNvSpPr txBox="1"/>
          <p:nvPr/>
        </p:nvSpPr>
        <p:spPr>
          <a:xfrm>
            <a:off x="685800" y="3977640"/>
            <a:ext cx="10789920" cy="671212"/>
          </a:xfrm>
          <a:prstGeom prst="rect">
            <a:avLst/>
          </a:prstGeom>
          <a:noFill/>
        </p:spPr>
        <p:txBody>
          <a:bodyPr wrap="square" lIns="0" tIns="0" rIns="0" bIns="0" anchor="t">
            <a:spAutoFit/>
          </a:bodyPr>
          <a:lstStyle/>
          <a:p>
            <a:pPr algn="ctr"/>
            <a:r>
              <a:rPr sz="3200" b="1">
                <a:solidFill>
                  <a:srgbClr val="0072B2"/>
                </a:solidFill>
                <a:latin typeface="Meiryo"/>
                <a:ea typeface="Meiryo"/>
                <a:cs typeface="Meiryo"/>
              </a:rPr>
              <a:t>r ＝ −0.90　（P&lt;0.0001）</a:t>
            </a:r>
          </a:p>
        </p:txBody>
      </p:sp>
      <p:sp>
        <p:nvSpPr>
          <p:cNvPr id="30" name="Rounded Rectangle 29"/>
          <p:cNvSpPr/>
          <p:nvPr/>
        </p:nvSpPr>
        <p:spPr>
          <a:xfrm>
            <a:off x="502920" y="4846320"/>
            <a:ext cx="11183112" cy="12344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85800" y="5047488"/>
            <a:ext cx="10789920" cy="1067828"/>
          </a:xfrm>
          <a:prstGeom prst="rect">
            <a:avLst/>
          </a:prstGeom>
          <a:noFill/>
        </p:spPr>
        <p:txBody>
          <a:bodyPr wrap="square" lIns="0" tIns="0" rIns="0" bIns="0" anchor="t">
            <a:spAutoFit/>
          </a:bodyPr>
          <a:lstStyle/>
          <a:p>
            <a:pPr algn="ctr">
              <a:spcAft>
                <a:spcPts val="400"/>
              </a:spcAft>
            </a:pPr>
            <a:r>
              <a:rPr sz="2600" b="1">
                <a:solidFill>
                  <a:srgbClr val="262626"/>
                </a:solidFill>
                <a:latin typeface="Meiryo"/>
                <a:ea typeface="Meiryo"/>
                <a:cs typeface="Meiryo"/>
              </a:rPr>
              <a:t>低血圧の検出　感度 100%　・　特異度 97.9%</a:t>
            </a:r>
          </a:p>
          <a:p>
            <a:pPr algn="ctr">
              <a:spcAft>
                <a:spcPts val="400"/>
              </a:spcAft>
            </a:pPr>
            <a:r>
              <a:rPr sz="2600" b="1">
                <a:solidFill>
                  <a:srgbClr val="262626"/>
                </a:solidFill>
                <a:latin typeface="Meiryo"/>
                <a:ea typeface="Meiryo"/>
                <a:cs typeface="Meiryo"/>
              </a:rPr>
              <a:t>高血圧の検出　感度 94.9%　・　特異度 99.2%</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29/72</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2.3.3  導入時の低血圧</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7" name="deflabel"/>
          <p:cNvSpPr txBox="1"/>
          <p:nvPr/>
        </p:nvSpPr>
        <p:spPr>
          <a:xfrm>
            <a:off x="566928" y="1664208"/>
            <a:ext cx="5760720" cy="420624"/>
          </a:xfrm>
          <a:prstGeom prst="rect">
            <a:avLst/>
          </a:prstGeom>
          <a:noFill/>
        </p:spPr>
        <p:txBody>
          <a:bodyPr wrap="square" lIns="0" tIns="0" rIns="0" bIns="0" anchor="ctr">
            <a:spAutoFit/>
          </a:bodyPr>
          <a:lstStyle/>
          <a:p>
            <a:pPr algn="l"/>
            <a:r>
              <a:rPr sz="2200" b="1">
                <a:solidFill>
                  <a:srgbClr val="262626"/>
                </a:solidFill>
                <a:latin typeface="Meiryo"/>
                <a:ea typeface="Meiryo"/>
                <a:cs typeface="Meiryo"/>
              </a:rPr>
              <a:t>Dicpleth ＝ 切痕の高さ ÷ 脈波振幅</a:t>
            </a:r>
          </a:p>
        </p:txBody>
      </p:sp>
      <p:sp>
        <p:nvSpPr>
          <p:cNvPr id="18" name="pbox0"/>
          <p:cNvSpPr/>
          <p:nvPr/>
        </p:nvSpPr>
        <p:spPr>
          <a:xfrm>
            <a:off x="548640" y="2139696"/>
            <a:ext cx="2743200" cy="1828800"/>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pb0"/>
          <p:cNvCxnSpPr/>
          <p:nvPr/>
        </p:nvCxnSpPr>
        <p:spPr>
          <a:xfrm>
            <a:off x="676656" y="3895344"/>
            <a:ext cx="2487168"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pw0"/>
          <p:cNvSpPr/>
          <p:nvPr/>
        </p:nvSpPr>
        <p:spPr>
          <a:xfrm>
            <a:off x="676656" y="2770032"/>
            <a:ext cx="2487168" cy="1125312"/>
          </a:xfrm>
          <a:custGeom>
            <a:avLst/>
            <a:gdLst/>
            <a:ahLst/>
            <a:cxnLst/>
            <a:rect l="l" t="t" r="r" b="b"/>
            <a:pathLst>
              <a:path w="2487168" h="1125312">
                <a:moveTo>
                  <a:pt x="0" y="1124624"/>
                </a:moveTo>
                <a:lnTo>
                  <a:pt x="13895" y="1124278"/>
                </a:lnTo>
                <a:lnTo>
                  <a:pt x="27790" y="1123775"/>
                </a:lnTo>
                <a:lnTo>
                  <a:pt x="41684" y="1123055"/>
                </a:lnTo>
                <a:lnTo>
                  <a:pt x="55579" y="1122035"/>
                </a:lnTo>
                <a:lnTo>
                  <a:pt x="69474" y="1120609"/>
                </a:lnTo>
                <a:lnTo>
                  <a:pt x="83369" y="1118641"/>
                </a:lnTo>
                <a:lnTo>
                  <a:pt x="97264" y="1115956"/>
                </a:lnTo>
                <a:lnTo>
                  <a:pt x="111158" y="1112342"/>
                </a:lnTo>
                <a:lnTo>
                  <a:pt x="125053" y="1107538"/>
                </a:lnTo>
                <a:lnTo>
                  <a:pt x="138948" y="1101234"/>
                </a:lnTo>
                <a:lnTo>
                  <a:pt x="152843" y="1093068"/>
                </a:lnTo>
                <a:lnTo>
                  <a:pt x="166738" y="1082628"/>
                </a:lnTo>
                <a:lnTo>
                  <a:pt x="180632" y="1069457"/>
                </a:lnTo>
                <a:lnTo>
                  <a:pt x="194527" y="1053061"/>
                </a:lnTo>
                <a:lnTo>
                  <a:pt x="208422" y="1032923"/>
                </a:lnTo>
                <a:lnTo>
                  <a:pt x="222317" y="1008527"/>
                </a:lnTo>
                <a:lnTo>
                  <a:pt x="236211" y="979384"/>
                </a:lnTo>
                <a:lnTo>
                  <a:pt x="250106" y="945061"/>
                </a:lnTo>
                <a:lnTo>
                  <a:pt x="264001" y="905218"/>
                </a:lnTo>
                <a:lnTo>
                  <a:pt x="277896" y="859651"/>
                </a:lnTo>
                <a:lnTo>
                  <a:pt x="291791" y="808329"/>
                </a:lnTo>
                <a:lnTo>
                  <a:pt x="305685" y="751430"/>
                </a:lnTo>
                <a:lnTo>
                  <a:pt x="319580" y="689376"/>
                </a:lnTo>
                <a:lnTo>
                  <a:pt x="333475" y="622850"/>
                </a:lnTo>
                <a:lnTo>
                  <a:pt x="347370" y="552813"/>
                </a:lnTo>
                <a:lnTo>
                  <a:pt x="361265" y="480490"/>
                </a:lnTo>
                <a:lnTo>
                  <a:pt x="375159" y="407355"/>
                </a:lnTo>
                <a:lnTo>
                  <a:pt x="389054" y="335082"/>
                </a:lnTo>
                <a:lnTo>
                  <a:pt x="402949" y="265494"/>
                </a:lnTo>
                <a:lnTo>
                  <a:pt x="416844" y="200486"/>
                </a:lnTo>
                <a:lnTo>
                  <a:pt x="430739" y="141940"/>
                </a:lnTo>
                <a:lnTo>
                  <a:pt x="444633" y="91638"/>
                </a:lnTo>
                <a:lnTo>
                  <a:pt x="458528" y="51165"/>
                </a:lnTo>
                <a:lnTo>
                  <a:pt x="472423" y="21831"/>
                </a:lnTo>
                <a:lnTo>
                  <a:pt x="486318" y="4592"/>
                </a:lnTo>
                <a:lnTo>
                  <a:pt x="500213" y="0"/>
                </a:lnTo>
                <a:lnTo>
                  <a:pt x="514107" y="8168"/>
                </a:lnTo>
                <a:lnTo>
                  <a:pt x="528002" y="28764"/>
                </a:lnTo>
                <a:lnTo>
                  <a:pt x="541897" y="61027"/>
                </a:lnTo>
                <a:lnTo>
                  <a:pt x="555792" y="103809"/>
                </a:lnTo>
                <a:lnTo>
                  <a:pt x="569687" y="155638"/>
                </a:lnTo>
                <a:lnTo>
                  <a:pt x="583581" y="214796"/>
                </a:lnTo>
                <a:lnTo>
                  <a:pt x="597476" y="279404"/>
                </a:lnTo>
                <a:lnTo>
                  <a:pt x="611371" y="347519"/>
                </a:lnTo>
                <a:lnTo>
                  <a:pt x="625266" y="417220"/>
                </a:lnTo>
                <a:lnTo>
                  <a:pt x="639160" y="486687"/>
                </a:lnTo>
                <a:lnTo>
                  <a:pt x="653055" y="554272"/>
                </a:lnTo>
                <a:lnTo>
                  <a:pt x="666950" y="618552"/>
                </a:lnTo>
                <a:lnTo>
                  <a:pt x="680845" y="678358"/>
                </a:lnTo>
                <a:lnTo>
                  <a:pt x="694740" y="732797"/>
                </a:lnTo>
                <a:lnTo>
                  <a:pt x="708634" y="781249"/>
                </a:lnTo>
                <a:lnTo>
                  <a:pt x="722529" y="823356"/>
                </a:lnTo>
                <a:lnTo>
                  <a:pt x="736424" y="858991"/>
                </a:lnTo>
                <a:lnTo>
                  <a:pt x="750319" y="888232"/>
                </a:lnTo>
                <a:lnTo>
                  <a:pt x="764214" y="911320"/>
                </a:lnTo>
                <a:lnTo>
                  <a:pt x="778108" y="928621"/>
                </a:lnTo>
                <a:lnTo>
                  <a:pt x="792003" y="940590"/>
                </a:lnTo>
                <a:lnTo>
                  <a:pt x="805898" y="947736"/>
                </a:lnTo>
                <a:lnTo>
                  <a:pt x="819793" y="950594"/>
                </a:lnTo>
                <a:lnTo>
                  <a:pt x="833688" y="949702"/>
                </a:lnTo>
                <a:lnTo>
                  <a:pt x="847582" y="945582"/>
                </a:lnTo>
                <a:lnTo>
                  <a:pt x="861477" y="938730"/>
                </a:lnTo>
                <a:lnTo>
                  <a:pt x="875372" y="929607"/>
                </a:lnTo>
                <a:lnTo>
                  <a:pt x="889267" y="918637"/>
                </a:lnTo>
                <a:lnTo>
                  <a:pt x="903162" y="906206"/>
                </a:lnTo>
                <a:lnTo>
                  <a:pt x="917056" y="892665"/>
                </a:lnTo>
                <a:lnTo>
                  <a:pt x="930951" y="878333"/>
                </a:lnTo>
                <a:lnTo>
                  <a:pt x="944846" y="863500"/>
                </a:lnTo>
                <a:lnTo>
                  <a:pt x="958741" y="848433"/>
                </a:lnTo>
                <a:lnTo>
                  <a:pt x="972636" y="833377"/>
                </a:lnTo>
                <a:lnTo>
                  <a:pt x="986530" y="818560"/>
                </a:lnTo>
                <a:lnTo>
                  <a:pt x="1000425" y="804193"/>
                </a:lnTo>
                <a:lnTo>
                  <a:pt x="1014320" y="790476"/>
                </a:lnTo>
                <a:lnTo>
                  <a:pt x="1028215" y="777592"/>
                </a:lnTo>
                <a:lnTo>
                  <a:pt x="1042109" y="765712"/>
                </a:lnTo>
                <a:lnTo>
                  <a:pt x="1056004" y="754991"/>
                </a:lnTo>
                <a:lnTo>
                  <a:pt x="1069899" y="745570"/>
                </a:lnTo>
                <a:lnTo>
                  <a:pt x="1083794" y="737572"/>
                </a:lnTo>
                <a:lnTo>
                  <a:pt x="1097689" y="731102"/>
                </a:lnTo>
                <a:lnTo>
                  <a:pt x="1111583" y="726246"/>
                </a:lnTo>
                <a:lnTo>
                  <a:pt x="1125478" y="723067"/>
                </a:lnTo>
                <a:lnTo>
                  <a:pt x="1139373" y="721609"/>
                </a:lnTo>
                <a:lnTo>
                  <a:pt x="1153268" y="721890"/>
                </a:lnTo>
                <a:lnTo>
                  <a:pt x="1167163" y="723907"/>
                </a:lnTo>
                <a:lnTo>
                  <a:pt x="1181057" y="727636"/>
                </a:lnTo>
                <a:lnTo>
                  <a:pt x="1194952" y="733028"/>
                </a:lnTo>
                <a:lnTo>
                  <a:pt x="1208847" y="740015"/>
                </a:lnTo>
                <a:lnTo>
                  <a:pt x="1222742" y="748508"/>
                </a:lnTo>
                <a:lnTo>
                  <a:pt x="1236637" y="758402"/>
                </a:lnTo>
                <a:lnTo>
                  <a:pt x="1250531" y="769577"/>
                </a:lnTo>
                <a:lnTo>
                  <a:pt x="1264426" y="781898"/>
                </a:lnTo>
                <a:lnTo>
                  <a:pt x="1278321" y="795221"/>
                </a:lnTo>
                <a:lnTo>
                  <a:pt x="1292216" y="809395"/>
                </a:lnTo>
                <a:lnTo>
                  <a:pt x="1306111" y="824263"/>
                </a:lnTo>
                <a:lnTo>
                  <a:pt x="1320005" y="839669"/>
                </a:lnTo>
                <a:lnTo>
                  <a:pt x="1333900" y="855454"/>
                </a:lnTo>
                <a:lnTo>
                  <a:pt x="1347795" y="871466"/>
                </a:lnTo>
                <a:lnTo>
                  <a:pt x="1361690" y="887557"/>
                </a:lnTo>
                <a:lnTo>
                  <a:pt x="1375585" y="903588"/>
                </a:lnTo>
                <a:lnTo>
                  <a:pt x="1389479" y="919429"/>
                </a:lnTo>
                <a:lnTo>
                  <a:pt x="1403374" y="934962"/>
                </a:lnTo>
                <a:lnTo>
                  <a:pt x="1417269" y="950082"/>
                </a:lnTo>
                <a:lnTo>
                  <a:pt x="1431164" y="964697"/>
                </a:lnTo>
                <a:lnTo>
                  <a:pt x="1445059" y="978727"/>
                </a:lnTo>
                <a:lnTo>
                  <a:pt x="1458953" y="992108"/>
                </a:lnTo>
                <a:lnTo>
                  <a:pt x="1472848" y="1004790"/>
                </a:lnTo>
                <a:lnTo>
                  <a:pt x="1486743" y="1016734"/>
                </a:lnTo>
                <a:lnTo>
                  <a:pt x="1500638" y="1027916"/>
                </a:lnTo>
                <a:lnTo>
                  <a:pt x="1514532" y="1038323"/>
                </a:lnTo>
                <a:lnTo>
                  <a:pt x="1528427" y="1047953"/>
                </a:lnTo>
                <a:lnTo>
                  <a:pt x="1542322" y="1056813"/>
                </a:lnTo>
                <a:lnTo>
                  <a:pt x="1556217" y="1064920"/>
                </a:lnTo>
                <a:lnTo>
                  <a:pt x="1570112" y="1072297"/>
                </a:lnTo>
                <a:lnTo>
                  <a:pt x="1584006" y="1078974"/>
                </a:lnTo>
                <a:lnTo>
                  <a:pt x="1597901" y="1084984"/>
                </a:lnTo>
                <a:lnTo>
                  <a:pt x="1611796" y="1090366"/>
                </a:lnTo>
                <a:lnTo>
                  <a:pt x="1625691" y="1095160"/>
                </a:lnTo>
                <a:lnTo>
                  <a:pt x="1639586" y="1099409"/>
                </a:lnTo>
                <a:lnTo>
                  <a:pt x="1653480" y="1103155"/>
                </a:lnTo>
                <a:lnTo>
                  <a:pt x="1667375" y="1106441"/>
                </a:lnTo>
                <a:lnTo>
                  <a:pt x="1681270" y="1109309"/>
                </a:lnTo>
                <a:lnTo>
                  <a:pt x="1695165" y="1111799"/>
                </a:lnTo>
                <a:lnTo>
                  <a:pt x="1709060" y="1113951"/>
                </a:lnTo>
                <a:lnTo>
                  <a:pt x="1722954" y="1115802"/>
                </a:lnTo>
                <a:lnTo>
                  <a:pt x="1736849" y="1117385"/>
                </a:lnTo>
                <a:lnTo>
                  <a:pt x="1750744" y="1118734"/>
                </a:lnTo>
                <a:lnTo>
                  <a:pt x="1764639" y="1119876"/>
                </a:lnTo>
                <a:lnTo>
                  <a:pt x="1778534" y="1120839"/>
                </a:lnTo>
                <a:lnTo>
                  <a:pt x="1792428" y="1121648"/>
                </a:lnTo>
                <a:lnTo>
                  <a:pt x="1806323" y="1122323"/>
                </a:lnTo>
                <a:lnTo>
                  <a:pt x="1820218" y="1122885"/>
                </a:lnTo>
                <a:lnTo>
                  <a:pt x="1834113" y="1123349"/>
                </a:lnTo>
                <a:lnTo>
                  <a:pt x="1848008" y="1123731"/>
                </a:lnTo>
                <a:lnTo>
                  <a:pt x="1861902" y="1124045"/>
                </a:lnTo>
                <a:lnTo>
                  <a:pt x="1875797" y="1124300"/>
                </a:lnTo>
                <a:lnTo>
                  <a:pt x="1889692" y="1124508"/>
                </a:lnTo>
                <a:lnTo>
                  <a:pt x="1903587" y="1124676"/>
                </a:lnTo>
                <a:lnTo>
                  <a:pt x="1917481" y="1124811"/>
                </a:lnTo>
                <a:lnTo>
                  <a:pt x="1931376" y="1124919"/>
                </a:lnTo>
                <a:lnTo>
                  <a:pt x="1945271" y="1125005"/>
                </a:lnTo>
                <a:lnTo>
                  <a:pt x="1959166" y="1125073"/>
                </a:lnTo>
                <a:lnTo>
                  <a:pt x="1973061" y="1125127"/>
                </a:lnTo>
                <a:lnTo>
                  <a:pt x="1986955" y="1125169"/>
                </a:lnTo>
                <a:lnTo>
                  <a:pt x="2000850" y="1125202"/>
                </a:lnTo>
                <a:lnTo>
                  <a:pt x="2014745" y="1125228"/>
                </a:lnTo>
                <a:lnTo>
                  <a:pt x="2028640" y="1125248"/>
                </a:lnTo>
                <a:lnTo>
                  <a:pt x="2042535" y="1125264"/>
                </a:lnTo>
                <a:lnTo>
                  <a:pt x="2056429" y="1125276"/>
                </a:lnTo>
                <a:lnTo>
                  <a:pt x="2070324" y="1125285"/>
                </a:lnTo>
                <a:lnTo>
                  <a:pt x="2084219" y="1125291"/>
                </a:lnTo>
                <a:lnTo>
                  <a:pt x="2098114" y="1125297"/>
                </a:lnTo>
                <a:lnTo>
                  <a:pt x="2112009" y="1125301"/>
                </a:lnTo>
                <a:lnTo>
                  <a:pt x="2125903" y="1125304"/>
                </a:lnTo>
                <a:lnTo>
                  <a:pt x="2139798" y="1125306"/>
                </a:lnTo>
                <a:lnTo>
                  <a:pt x="2153693" y="1125307"/>
                </a:lnTo>
                <a:lnTo>
                  <a:pt x="2167588" y="1125309"/>
                </a:lnTo>
                <a:lnTo>
                  <a:pt x="2181483" y="1125310"/>
                </a:lnTo>
                <a:lnTo>
                  <a:pt x="2195377" y="1125310"/>
                </a:lnTo>
                <a:lnTo>
                  <a:pt x="2209272" y="1125311"/>
                </a:lnTo>
                <a:lnTo>
                  <a:pt x="2223167" y="1125311"/>
                </a:lnTo>
                <a:lnTo>
                  <a:pt x="2237062" y="1125311"/>
                </a:lnTo>
                <a:lnTo>
                  <a:pt x="2250957" y="1125312"/>
                </a:lnTo>
                <a:lnTo>
                  <a:pt x="2264851" y="1125312"/>
                </a:lnTo>
                <a:lnTo>
                  <a:pt x="2278746" y="1125312"/>
                </a:lnTo>
                <a:lnTo>
                  <a:pt x="2292641" y="1125312"/>
                </a:lnTo>
                <a:lnTo>
                  <a:pt x="2306536" y="1125312"/>
                </a:lnTo>
                <a:lnTo>
                  <a:pt x="2320430" y="1125312"/>
                </a:lnTo>
                <a:lnTo>
                  <a:pt x="2334325" y="1125312"/>
                </a:lnTo>
                <a:lnTo>
                  <a:pt x="2348220" y="1125312"/>
                </a:lnTo>
                <a:lnTo>
                  <a:pt x="2362115" y="1125312"/>
                </a:lnTo>
                <a:lnTo>
                  <a:pt x="2376010" y="1125312"/>
                </a:lnTo>
                <a:lnTo>
                  <a:pt x="2389904" y="1125312"/>
                </a:lnTo>
                <a:lnTo>
                  <a:pt x="2403799" y="1125312"/>
                </a:lnTo>
                <a:lnTo>
                  <a:pt x="2417694" y="1125312"/>
                </a:lnTo>
                <a:lnTo>
                  <a:pt x="2431589" y="1125312"/>
                </a:lnTo>
                <a:lnTo>
                  <a:pt x="2445484" y="1125312"/>
                </a:lnTo>
                <a:lnTo>
                  <a:pt x="2459378" y="1125312"/>
                </a:lnTo>
                <a:lnTo>
                  <a:pt x="2473273" y="1125312"/>
                </a:lnTo>
                <a:lnTo>
                  <a:pt x="2487168" y="1125312"/>
                </a:lnTo>
              </a:path>
            </a:pathLst>
          </a:custGeom>
          <a:noFill/>
          <a:ln w="317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pn0"/>
          <p:cNvCxnSpPr/>
          <p:nvPr/>
        </p:nvCxnSpPr>
        <p:spPr>
          <a:xfrm>
            <a:off x="676656" y="3720734"/>
            <a:ext cx="823253" cy="0"/>
          </a:xfrm>
          <a:prstGeom prst="line">
            <a:avLst/>
          </a:prstGeom>
          <a:ln w="12700">
            <a:solidFill>
              <a:srgbClr val="808080"/>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pd0"/>
          <p:cNvSpPr/>
          <p:nvPr/>
        </p:nvSpPr>
        <p:spPr>
          <a:xfrm>
            <a:off x="1440473" y="3661298"/>
            <a:ext cx="118872" cy="118872"/>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plab0"/>
          <p:cNvSpPr txBox="1"/>
          <p:nvPr/>
        </p:nvSpPr>
        <p:spPr>
          <a:xfrm>
            <a:off x="548640" y="3986784"/>
            <a:ext cx="2743200" cy="402336"/>
          </a:xfrm>
          <a:prstGeom prst="rect">
            <a:avLst/>
          </a:prstGeom>
          <a:noFill/>
        </p:spPr>
        <p:txBody>
          <a:bodyPr wrap="square" lIns="0" tIns="0" rIns="0" bIns="0" anchor="ctr">
            <a:spAutoFit/>
          </a:bodyPr>
          <a:lstStyle/>
          <a:p>
            <a:pPr algn="ctr"/>
            <a:r>
              <a:rPr sz="2200" b="1">
                <a:solidFill>
                  <a:srgbClr val="808080"/>
                </a:solidFill>
                <a:latin typeface="Meiryo"/>
                <a:ea typeface="Meiryo"/>
                <a:cs typeface="Meiryo"/>
              </a:rPr>
              <a:t>導入前</a:t>
            </a:r>
          </a:p>
        </p:txBody>
      </p:sp>
      <p:sp>
        <p:nvSpPr>
          <p:cNvPr id="23" name="pnote0"/>
          <p:cNvSpPr txBox="1"/>
          <p:nvPr/>
        </p:nvSpPr>
        <p:spPr>
          <a:xfrm>
            <a:off x="548640" y="4425696"/>
            <a:ext cx="2743200" cy="402336"/>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切痕 高い</a:t>
            </a:r>
          </a:p>
        </p:txBody>
      </p:sp>
      <p:sp>
        <p:nvSpPr>
          <p:cNvPr id="24" name="pbox1"/>
          <p:cNvSpPr/>
          <p:nvPr/>
        </p:nvSpPr>
        <p:spPr>
          <a:xfrm>
            <a:off x="3520440" y="2139696"/>
            <a:ext cx="2743200" cy="1828800"/>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pb1"/>
          <p:cNvCxnSpPr/>
          <p:nvPr/>
        </p:nvCxnSpPr>
        <p:spPr>
          <a:xfrm>
            <a:off x="3648456" y="3895344"/>
            <a:ext cx="2487168"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4" name="pw1"/>
          <p:cNvSpPr/>
          <p:nvPr/>
        </p:nvSpPr>
        <p:spPr>
          <a:xfrm>
            <a:off x="3648456" y="2414589"/>
            <a:ext cx="2487168" cy="1480755"/>
          </a:xfrm>
          <a:custGeom>
            <a:avLst/>
            <a:gdLst/>
            <a:ahLst/>
            <a:cxnLst/>
            <a:rect l="l" t="t" r="r" b="b"/>
            <a:pathLst>
              <a:path w="2487168" h="1480755">
                <a:moveTo>
                  <a:pt x="0" y="1479671"/>
                </a:moveTo>
                <a:lnTo>
                  <a:pt x="13895" y="1479109"/>
                </a:lnTo>
                <a:lnTo>
                  <a:pt x="27790" y="1478285"/>
                </a:lnTo>
                <a:lnTo>
                  <a:pt x="41684" y="1477094"/>
                </a:lnTo>
                <a:lnTo>
                  <a:pt x="55579" y="1475397"/>
                </a:lnTo>
                <a:lnTo>
                  <a:pt x="69474" y="1473010"/>
                </a:lnTo>
                <a:lnTo>
                  <a:pt x="83369" y="1469699"/>
                </a:lnTo>
                <a:lnTo>
                  <a:pt x="97264" y="1465168"/>
                </a:lnTo>
                <a:lnTo>
                  <a:pt x="111158" y="1459054"/>
                </a:lnTo>
                <a:lnTo>
                  <a:pt x="125053" y="1450916"/>
                </a:lnTo>
                <a:lnTo>
                  <a:pt x="138948" y="1440234"/>
                </a:lnTo>
                <a:lnTo>
                  <a:pt x="152843" y="1426412"/>
                </a:lnTo>
                <a:lnTo>
                  <a:pt x="166738" y="1408779"/>
                </a:lnTo>
                <a:lnTo>
                  <a:pt x="180632" y="1386608"/>
                </a:lnTo>
                <a:lnTo>
                  <a:pt x="194527" y="1359135"/>
                </a:lnTo>
                <a:lnTo>
                  <a:pt x="208422" y="1325593"/>
                </a:lnTo>
                <a:lnTo>
                  <a:pt x="222317" y="1285258"/>
                </a:lnTo>
                <a:lnTo>
                  <a:pt x="236211" y="1237492"/>
                </a:lnTo>
                <a:lnTo>
                  <a:pt x="250106" y="1181812"/>
                </a:lnTo>
                <a:lnTo>
                  <a:pt x="264001" y="1117944"/>
                </a:lnTo>
                <a:lnTo>
                  <a:pt x="277896" y="1045895"/>
                </a:lnTo>
                <a:lnTo>
                  <a:pt x="291791" y="966003"/>
                </a:lnTo>
                <a:lnTo>
                  <a:pt x="305685" y="878994"/>
                </a:lnTo>
                <a:lnTo>
                  <a:pt x="319580" y="786004"/>
                </a:lnTo>
                <a:lnTo>
                  <a:pt x="333475" y="688596"/>
                </a:lnTo>
                <a:lnTo>
                  <a:pt x="347370" y="588737"/>
                </a:lnTo>
                <a:lnTo>
                  <a:pt x="361265" y="488750"/>
                </a:lnTo>
                <a:lnTo>
                  <a:pt x="375159" y="391241"/>
                </a:lnTo>
                <a:lnTo>
                  <a:pt x="389054" y="298992"/>
                </a:lnTo>
                <a:lnTo>
                  <a:pt x="402949" y="214833"/>
                </a:lnTo>
                <a:lnTo>
                  <a:pt x="416844" y="141502"/>
                </a:lnTo>
                <a:lnTo>
                  <a:pt x="430739" y="81498"/>
                </a:lnTo>
                <a:lnTo>
                  <a:pt x="444633" y="36938"/>
                </a:lnTo>
                <a:lnTo>
                  <a:pt x="458528" y="9435"/>
                </a:lnTo>
                <a:lnTo>
                  <a:pt x="472423" y="0"/>
                </a:lnTo>
                <a:lnTo>
                  <a:pt x="486318" y="8980"/>
                </a:lnTo>
                <a:lnTo>
                  <a:pt x="500213" y="36037"/>
                </a:lnTo>
                <a:lnTo>
                  <a:pt x="514107" y="80167"/>
                </a:lnTo>
                <a:lnTo>
                  <a:pt x="528002" y="139763"/>
                </a:lnTo>
                <a:lnTo>
                  <a:pt x="541897" y="212709"/>
                </a:lnTo>
                <a:lnTo>
                  <a:pt x="555792" y="296507"/>
                </a:lnTo>
                <a:lnTo>
                  <a:pt x="569687" y="388414"/>
                </a:lnTo>
                <a:lnTo>
                  <a:pt x="583581" y="485592"/>
                </a:lnTo>
                <a:lnTo>
                  <a:pt x="597476" y="585245"/>
                </a:lnTo>
                <a:lnTo>
                  <a:pt x="611371" y="684751"/>
                </a:lnTo>
                <a:lnTo>
                  <a:pt x="625266" y="781767"/>
                </a:lnTo>
                <a:lnTo>
                  <a:pt x="639160" y="874301"/>
                </a:lnTo>
                <a:lnTo>
                  <a:pt x="653055" y="960767"/>
                </a:lnTo>
                <a:lnTo>
                  <a:pt x="666950" y="1039998"/>
                </a:lnTo>
                <a:lnTo>
                  <a:pt x="680845" y="1111240"/>
                </a:lnTo>
                <a:lnTo>
                  <a:pt x="694740" y="1174120"/>
                </a:lnTo>
                <a:lnTo>
                  <a:pt x="708634" y="1228602"/>
                </a:lnTo>
                <a:lnTo>
                  <a:pt x="722529" y="1274922"/>
                </a:lnTo>
                <a:lnTo>
                  <a:pt x="736424" y="1313530"/>
                </a:lnTo>
                <a:lnTo>
                  <a:pt x="750319" y="1345027"/>
                </a:lnTo>
                <a:lnTo>
                  <a:pt x="764214" y="1370101"/>
                </a:lnTo>
                <a:lnTo>
                  <a:pt x="778108" y="1389484"/>
                </a:lnTo>
                <a:lnTo>
                  <a:pt x="792003" y="1403900"/>
                </a:lnTo>
                <a:lnTo>
                  <a:pt x="805898" y="1414042"/>
                </a:lnTo>
                <a:lnTo>
                  <a:pt x="819793" y="1420546"/>
                </a:lnTo>
                <a:lnTo>
                  <a:pt x="833688" y="1423974"/>
                </a:lnTo>
                <a:lnTo>
                  <a:pt x="847582" y="1424817"/>
                </a:lnTo>
                <a:lnTo>
                  <a:pt x="861477" y="1423488"/>
                </a:lnTo>
                <a:lnTo>
                  <a:pt x="875372" y="1420328"/>
                </a:lnTo>
                <a:lnTo>
                  <a:pt x="889267" y="1415616"/>
                </a:lnTo>
                <a:lnTo>
                  <a:pt x="903162" y="1409580"/>
                </a:lnTo>
                <a:lnTo>
                  <a:pt x="917056" y="1402400"/>
                </a:lnTo>
                <a:lnTo>
                  <a:pt x="930951" y="1394226"/>
                </a:lnTo>
                <a:lnTo>
                  <a:pt x="944846" y="1385181"/>
                </a:lnTo>
                <a:lnTo>
                  <a:pt x="958741" y="1375375"/>
                </a:lnTo>
                <a:lnTo>
                  <a:pt x="972636" y="1364906"/>
                </a:lnTo>
                <a:lnTo>
                  <a:pt x="986530" y="1353871"/>
                </a:lnTo>
                <a:lnTo>
                  <a:pt x="1000425" y="1342364"/>
                </a:lnTo>
                <a:lnTo>
                  <a:pt x="1014320" y="1330487"/>
                </a:lnTo>
                <a:lnTo>
                  <a:pt x="1028215" y="1318346"/>
                </a:lnTo>
                <a:lnTo>
                  <a:pt x="1042109" y="1306053"/>
                </a:lnTo>
                <a:lnTo>
                  <a:pt x="1056004" y="1293729"/>
                </a:lnTo>
                <a:lnTo>
                  <a:pt x="1069899" y="1281500"/>
                </a:lnTo>
                <a:lnTo>
                  <a:pt x="1083794" y="1269499"/>
                </a:lnTo>
                <a:lnTo>
                  <a:pt x="1097689" y="1257861"/>
                </a:lnTo>
                <a:lnTo>
                  <a:pt x="1111583" y="1246724"/>
                </a:lnTo>
                <a:lnTo>
                  <a:pt x="1125478" y="1236226"/>
                </a:lnTo>
                <a:lnTo>
                  <a:pt x="1139373" y="1226498"/>
                </a:lnTo>
                <a:lnTo>
                  <a:pt x="1153268" y="1217669"/>
                </a:lnTo>
                <a:lnTo>
                  <a:pt x="1167163" y="1209858"/>
                </a:lnTo>
                <a:lnTo>
                  <a:pt x="1181057" y="1203172"/>
                </a:lnTo>
                <a:lnTo>
                  <a:pt x="1194952" y="1197704"/>
                </a:lnTo>
                <a:lnTo>
                  <a:pt x="1208847" y="1193533"/>
                </a:lnTo>
                <a:lnTo>
                  <a:pt x="1222742" y="1190718"/>
                </a:lnTo>
                <a:lnTo>
                  <a:pt x="1236637" y="1189300"/>
                </a:lnTo>
                <a:lnTo>
                  <a:pt x="1250531" y="1189300"/>
                </a:lnTo>
                <a:lnTo>
                  <a:pt x="1264426" y="1190718"/>
                </a:lnTo>
                <a:lnTo>
                  <a:pt x="1278321" y="1193533"/>
                </a:lnTo>
                <a:lnTo>
                  <a:pt x="1292216" y="1197704"/>
                </a:lnTo>
                <a:lnTo>
                  <a:pt x="1306111" y="1203172"/>
                </a:lnTo>
                <a:lnTo>
                  <a:pt x="1320005" y="1209858"/>
                </a:lnTo>
                <a:lnTo>
                  <a:pt x="1333900" y="1217670"/>
                </a:lnTo>
                <a:lnTo>
                  <a:pt x="1347795" y="1226499"/>
                </a:lnTo>
                <a:lnTo>
                  <a:pt x="1361690" y="1236227"/>
                </a:lnTo>
                <a:lnTo>
                  <a:pt x="1375585" y="1246727"/>
                </a:lnTo>
                <a:lnTo>
                  <a:pt x="1389479" y="1257866"/>
                </a:lnTo>
                <a:lnTo>
                  <a:pt x="1403374" y="1269507"/>
                </a:lnTo>
                <a:lnTo>
                  <a:pt x="1417269" y="1281514"/>
                </a:lnTo>
                <a:lnTo>
                  <a:pt x="1431164" y="1293753"/>
                </a:lnTo>
                <a:lnTo>
                  <a:pt x="1445059" y="1306094"/>
                </a:lnTo>
                <a:lnTo>
                  <a:pt x="1458953" y="1318414"/>
                </a:lnTo>
                <a:lnTo>
                  <a:pt x="1472848" y="1330599"/>
                </a:lnTo>
                <a:lnTo>
                  <a:pt x="1486743" y="1342545"/>
                </a:lnTo>
                <a:lnTo>
                  <a:pt x="1500638" y="1354160"/>
                </a:lnTo>
                <a:lnTo>
                  <a:pt x="1514532" y="1365363"/>
                </a:lnTo>
                <a:lnTo>
                  <a:pt x="1528427" y="1376086"/>
                </a:lnTo>
                <a:lnTo>
                  <a:pt x="1542322" y="1386274"/>
                </a:lnTo>
                <a:lnTo>
                  <a:pt x="1556217" y="1395886"/>
                </a:lnTo>
                <a:lnTo>
                  <a:pt x="1570112" y="1404890"/>
                </a:lnTo>
                <a:lnTo>
                  <a:pt x="1584006" y="1413269"/>
                </a:lnTo>
                <a:lnTo>
                  <a:pt x="1597901" y="1421015"/>
                </a:lnTo>
                <a:lnTo>
                  <a:pt x="1611796" y="1428129"/>
                </a:lnTo>
                <a:lnTo>
                  <a:pt x="1625691" y="1434621"/>
                </a:lnTo>
                <a:lnTo>
                  <a:pt x="1639586" y="1440509"/>
                </a:lnTo>
                <a:lnTo>
                  <a:pt x="1653480" y="1445817"/>
                </a:lnTo>
                <a:lnTo>
                  <a:pt x="1667375" y="1450572"/>
                </a:lnTo>
                <a:lnTo>
                  <a:pt x="1681270" y="1454807"/>
                </a:lnTo>
                <a:lnTo>
                  <a:pt x="1695165" y="1458556"/>
                </a:lnTo>
                <a:lnTo>
                  <a:pt x="1709060" y="1461856"/>
                </a:lnTo>
                <a:lnTo>
                  <a:pt x="1722954" y="1464743"/>
                </a:lnTo>
                <a:lnTo>
                  <a:pt x="1736849" y="1467256"/>
                </a:lnTo>
                <a:lnTo>
                  <a:pt x="1750744" y="1469429"/>
                </a:lnTo>
                <a:lnTo>
                  <a:pt x="1764639" y="1471299"/>
                </a:lnTo>
                <a:lnTo>
                  <a:pt x="1778534" y="1472898"/>
                </a:lnTo>
                <a:lnTo>
                  <a:pt x="1792428" y="1474259"/>
                </a:lnTo>
                <a:lnTo>
                  <a:pt x="1806323" y="1475410"/>
                </a:lnTo>
                <a:lnTo>
                  <a:pt x="1820218" y="1476379"/>
                </a:lnTo>
                <a:lnTo>
                  <a:pt x="1834113" y="1477189"/>
                </a:lnTo>
                <a:lnTo>
                  <a:pt x="1848008" y="1477864"/>
                </a:lnTo>
                <a:lnTo>
                  <a:pt x="1861902" y="1478422"/>
                </a:lnTo>
                <a:lnTo>
                  <a:pt x="1875797" y="1478882"/>
                </a:lnTo>
                <a:lnTo>
                  <a:pt x="1889692" y="1479258"/>
                </a:lnTo>
                <a:lnTo>
                  <a:pt x="1903587" y="1479565"/>
                </a:lnTo>
                <a:lnTo>
                  <a:pt x="1917481" y="1479813"/>
                </a:lnTo>
                <a:lnTo>
                  <a:pt x="1931376" y="1480013"/>
                </a:lnTo>
                <a:lnTo>
                  <a:pt x="1945271" y="1480174"/>
                </a:lnTo>
                <a:lnTo>
                  <a:pt x="1959166" y="1480302"/>
                </a:lnTo>
                <a:lnTo>
                  <a:pt x="1973061" y="1480403"/>
                </a:lnTo>
                <a:lnTo>
                  <a:pt x="1986955" y="1480483"/>
                </a:lnTo>
                <a:lnTo>
                  <a:pt x="2000850" y="1480546"/>
                </a:lnTo>
                <a:lnTo>
                  <a:pt x="2014745" y="1480595"/>
                </a:lnTo>
                <a:lnTo>
                  <a:pt x="2028640" y="1480634"/>
                </a:lnTo>
                <a:lnTo>
                  <a:pt x="2042535" y="1480663"/>
                </a:lnTo>
                <a:lnTo>
                  <a:pt x="2056429" y="1480686"/>
                </a:lnTo>
                <a:lnTo>
                  <a:pt x="2070324" y="1480703"/>
                </a:lnTo>
                <a:lnTo>
                  <a:pt x="2084219" y="1480716"/>
                </a:lnTo>
                <a:lnTo>
                  <a:pt x="2098114" y="1480726"/>
                </a:lnTo>
                <a:lnTo>
                  <a:pt x="2112009" y="1480734"/>
                </a:lnTo>
                <a:lnTo>
                  <a:pt x="2125903" y="1480739"/>
                </a:lnTo>
                <a:lnTo>
                  <a:pt x="2139798" y="1480744"/>
                </a:lnTo>
                <a:lnTo>
                  <a:pt x="2153693" y="1480747"/>
                </a:lnTo>
                <a:lnTo>
                  <a:pt x="2167588" y="1480749"/>
                </a:lnTo>
                <a:lnTo>
                  <a:pt x="2181483" y="1480751"/>
                </a:lnTo>
                <a:lnTo>
                  <a:pt x="2195377" y="1480752"/>
                </a:lnTo>
                <a:lnTo>
                  <a:pt x="2209272" y="1480753"/>
                </a:lnTo>
                <a:lnTo>
                  <a:pt x="2223167" y="1480753"/>
                </a:lnTo>
                <a:lnTo>
                  <a:pt x="2237062" y="1480754"/>
                </a:lnTo>
                <a:lnTo>
                  <a:pt x="2250957" y="1480754"/>
                </a:lnTo>
                <a:lnTo>
                  <a:pt x="2264851" y="1480754"/>
                </a:lnTo>
                <a:lnTo>
                  <a:pt x="2278746" y="1480755"/>
                </a:lnTo>
                <a:lnTo>
                  <a:pt x="2292641" y="1480755"/>
                </a:lnTo>
                <a:lnTo>
                  <a:pt x="2306536" y="1480755"/>
                </a:lnTo>
                <a:lnTo>
                  <a:pt x="2320430" y="1480755"/>
                </a:lnTo>
                <a:lnTo>
                  <a:pt x="2334325" y="1480755"/>
                </a:lnTo>
                <a:lnTo>
                  <a:pt x="2348220" y="1480755"/>
                </a:lnTo>
                <a:lnTo>
                  <a:pt x="2362115" y="1480755"/>
                </a:lnTo>
                <a:lnTo>
                  <a:pt x="2376010" y="1480755"/>
                </a:lnTo>
                <a:lnTo>
                  <a:pt x="2389904" y="1480755"/>
                </a:lnTo>
                <a:lnTo>
                  <a:pt x="2403799" y="1480755"/>
                </a:lnTo>
                <a:lnTo>
                  <a:pt x="2417694" y="1480755"/>
                </a:lnTo>
                <a:lnTo>
                  <a:pt x="2431589" y="1480755"/>
                </a:lnTo>
                <a:lnTo>
                  <a:pt x="2445484" y="1480755"/>
                </a:lnTo>
                <a:lnTo>
                  <a:pt x="2459378" y="1480755"/>
                </a:lnTo>
                <a:lnTo>
                  <a:pt x="2473273" y="1480755"/>
                </a:lnTo>
                <a:lnTo>
                  <a:pt x="2487168" y="1480755"/>
                </a:lnTo>
              </a:path>
            </a:pathLst>
          </a:custGeom>
          <a:noFill/>
          <a:ln w="317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pn1"/>
          <p:cNvCxnSpPr/>
          <p:nvPr/>
        </p:nvCxnSpPr>
        <p:spPr>
          <a:xfrm>
            <a:off x="3648456" y="3839428"/>
            <a:ext cx="845637" cy="0"/>
          </a:xfrm>
          <a:prstGeom prst="line">
            <a:avLst/>
          </a:prstGeom>
          <a:ln w="12700">
            <a:solidFill>
              <a:srgbClr val="D55E00"/>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pd1"/>
          <p:cNvSpPr/>
          <p:nvPr/>
        </p:nvSpPr>
        <p:spPr>
          <a:xfrm>
            <a:off x="4434657" y="3779992"/>
            <a:ext cx="118872" cy="118872"/>
          </a:xfrm>
          <a:prstGeom prst="ellipse">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plab1"/>
          <p:cNvSpPr txBox="1"/>
          <p:nvPr/>
        </p:nvSpPr>
        <p:spPr>
          <a:xfrm>
            <a:off x="3520440" y="3986784"/>
            <a:ext cx="2743200" cy="402336"/>
          </a:xfrm>
          <a:prstGeom prst="rect">
            <a:avLst/>
          </a:prstGeom>
          <a:noFill/>
        </p:spPr>
        <p:txBody>
          <a:bodyPr wrap="square" lIns="0" tIns="0" rIns="0" bIns="0" anchor="ctr">
            <a:spAutoFit/>
          </a:bodyPr>
          <a:lstStyle/>
          <a:p>
            <a:pPr algn="ctr"/>
            <a:r>
              <a:rPr sz="2200" b="1">
                <a:solidFill>
                  <a:srgbClr val="D55E00"/>
                </a:solidFill>
                <a:latin typeface="Meiryo"/>
                <a:ea typeface="Meiryo"/>
                <a:cs typeface="Meiryo"/>
              </a:rPr>
              <a:t>低血圧時</a:t>
            </a:r>
          </a:p>
        </p:txBody>
      </p:sp>
      <p:sp>
        <p:nvSpPr>
          <p:cNvPr id="29" name="pnote1"/>
          <p:cNvSpPr txBox="1"/>
          <p:nvPr/>
        </p:nvSpPr>
        <p:spPr>
          <a:xfrm>
            <a:off x="3520440" y="4425696"/>
            <a:ext cx="2743200" cy="402336"/>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切痕 低い・振幅↑</a:t>
            </a:r>
          </a:p>
        </p:txBody>
      </p:sp>
      <p:sp>
        <p:nvSpPr>
          <p:cNvPr id="30" name="auc0"/>
          <p:cNvSpPr/>
          <p:nvPr/>
        </p:nvSpPr>
        <p:spPr>
          <a:xfrm>
            <a:off x="6583680" y="1682496"/>
            <a:ext cx="495604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ΔDicpleth　AUC 0.86</a:t>
            </a:r>
          </a:p>
          <a:p>
            <a:pPr algn="ctr"/>
            <a:r>
              <a:rPr sz="2200" b="1">
                <a:solidFill>
                  <a:srgbClr val="262626"/>
                </a:solidFill>
                <a:latin typeface="Meiryo"/>
                <a:ea typeface="Meiryo"/>
                <a:cs typeface="Meiryo"/>
              </a:rPr>
              <a:t>閾値 −19%　感度79%・特異度84%</a:t>
            </a:r>
          </a:p>
        </p:txBody>
      </p:sp>
      <p:sp>
        <p:nvSpPr>
          <p:cNvPr id="31" name="auc1"/>
          <p:cNvSpPr/>
          <p:nvPr/>
        </p:nvSpPr>
        <p:spPr>
          <a:xfrm>
            <a:off x="6583680" y="2779776"/>
            <a:ext cx="495604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ΔPI　AUC 0.83</a:t>
            </a:r>
          </a:p>
          <a:p>
            <a:pPr algn="ctr"/>
            <a:r>
              <a:rPr sz="2200" b="1">
                <a:solidFill>
                  <a:srgbClr val="262626"/>
                </a:solidFill>
                <a:latin typeface="Meiryo"/>
                <a:ea typeface="Meiryo"/>
                <a:cs typeface="Meiryo"/>
              </a:rPr>
              <a:t>閾値 +51%　感度82%・特異度74%</a:t>
            </a:r>
          </a:p>
        </p:txBody>
      </p:sp>
      <p:sp>
        <p:nvSpPr>
          <p:cNvPr id="32" name="auc2"/>
          <p:cNvSpPr/>
          <p:nvPr/>
        </p:nvSpPr>
        <p:spPr>
          <a:xfrm>
            <a:off x="6583680" y="3877056"/>
            <a:ext cx="4956048" cy="969264"/>
          </a:xfrm>
          <a:prstGeom prst="roundRect">
            <a:avLst>
              <a:gd name="adj" fmla="val 16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2つを併用　AUC 0.91</a:t>
            </a:r>
          </a:p>
          <a:p>
            <a:pPr algn="ctr"/>
            <a:r>
              <a:rPr sz="2200" b="1">
                <a:solidFill>
                  <a:srgbClr val="262626"/>
                </a:solidFill>
                <a:latin typeface="Meiryo"/>
                <a:ea typeface="Meiryo"/>
                <a:cs typeface="Meiryo"/>
              </a:rPr>
              <a:t>感度・特異度 とも 84%</a:t>
            </a:r>
          </a:p>
        </p:txBody>
      </p:sp>
      <p:sp>
        <p:nvSpPr>
          <p:cNvPr id="33" name="callout"/>
          <p:cNvSpPr/>
          <p:nvPr/>
        </p:nvSpPr>
        <p:spPr>
          <a:xfrm>
            <a:off x="548640" y="5138928"/>
            <a:ext cx="10954512" cy="1042416"/>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600" b="1">
                <a:solidFill>
                  <a:srgbClr val="262626"/>
                </a:solidFill>
                <a:latin typeface="Meiryo"/>
                <a:ea typeface="Meiryo"/>
                <a:cs typeface="Meiryo"/>
              </a:rPr>
              <a:t>昇圧薬の投与中も MAP と連動して動く</a:t>
            </a:r>
          </a:p>
          <a:p>
            <a:pPr algn="ctr"/>
            <a:r>
              <a:rPr sz="2200" b="1">
                <a:solidFill>
                  <a:srgbClr val="262626"/>
                </a:solidFill>
                <a:latin typeface="Meiryo"/>
                <a:ea typeface="Meiryo"/>
                <a:cs typeface="Meiryo"/>
              </a:rPr>
              <a:t>ΔDicpleth  r = 0.73　／　ΔPI  r = −0.62（P&lt;0.001）</a:t>
            </a:r>
          </a:p>
        </p:txBody>
      </p:sp>
      <p:sp>
        <p:nvSpPr>
          <p:cNvPr id="34"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21. Coutrot 2019（全身麻酔導入 61 名）</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 波形の定量化</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BF9000"/>
                </a:solidFill>
                <a:latin typeface="Meiryo"/>
                <a:ea typeface="Meiryo"/>
                <a:cs typeface="Meiryo"/>
              </a:rPr>
              <a:t>3. </a:t>
            </a:r>
            <a:r>
              <a:rPr sz="3200" b="1">
                <a:solidFill>
                  <a:srgbClr val="262626"/>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3.1 </a:t>
            </a:r>
            <a:r>
              <a:rPr sz="2900" b="0">
                <a:solidFill>
                  <a:srgbClr val="262626"/>
                </a:solidFill>
                <a:latin typeface="Meiryo"/>
                <a:ea typeface="Meiryo"/>
                <a:cs typeface="Meiryo"/>
              </a:rPr>
              <a:t>Stiffness Index (SI)</a:t>
            </a:r>
          </a:p>
          <a:p>
            <a:pPr>
              <a:lnSpc>
                <a:spcPct val="145000"/>
              </a:lnSpc>
            </a:pPr>
            <a:r>
              <a:rPr sz="2900" b="1">
                <a:solidFill>
                  <a:srgbClr val="BF9000"/>
                </a:solidFill>
                <a:latin typeface="Meiryo"/>
                <a:ea typeface="Meiryo"/>
                <a:cs typeface="Meiryo"/>
              </a:rPr>
              <a:t>3.2 </a:t>
            </a:r>
            <a:r>
              <a:rPr sz="2900" b="0">
                <a:solidFill>
                  <a:srgbClr val="262626"/>
                </a:solidFill>
                <a:latin typeface="Meiryo"/>
                <a:ea typeface="Meiryo"/>
                <a:cs typeface="Meiryo"/>
              </a:rPr>
              <a:t>Reflection Index (RI)</a:t>
            </a:r>
          </a:p>
          <a:p>
            <a:pPr>
              <a:lnSpc>
                <a:spcPct val="145000"/>
              </a:lnSpc>
            </a:pPr>
            <a:r>
              <a:rPr sz="2900" b="1">
                <a:solidFill>
                  <a:srgbClr val="BF9000"/>
                </a:solidFill>
                <a:latin typeface="Meiryo"/>
                <a:ea typeface="Meiryo"/>
                <a:cs typeface="Meiryo"/>
              </a:rPr>
              <a:t>3.3 </a:t>
            </a:r>
            <a:r>
              <a:rPr sz="2900" b="0">
                <a:solidFill>
                  <a:srgbClr val="262626"/>
                </a:solidFill>
                <a:latin typeface="Meiryo"/>
                <a:ea typeface="Meiryo"/>
                <a:cs typeface="Meiryo"/>
              </a:rPr>
              <a:t>加速度脈波 SDPPG</a:t>
            </a:r>
          </a:p>
          <a:p>
            <a:pPr>
              <a:lnSpc>
                <a:spcPct val="145000"/>
              </a:lnSpc>
            </a:pPr>
            <a:r>
              <a:rPr sz="2900" b="1">
                <a:solidFill>
                  <a:srgbClr val="BF9000"/>
                </a:solidFill>
                <a:latin typeface="Meiryo"/>
                <a:ea typeface="Meiryo"/>
                <a:cs typeface="Meiryo"/>
              </a:rPr>
              <a:t>3.4 </a:t>
            </a:r>
            <a:r>
              <a:rPr sz="2900" b="0">
                <a:solidFill>
                  <a:srgbClr val="262626"/>
                </a:solidFill>
                <a:latin typeface="Meiryo"/>
                <a:ea typeface="Meiryo"/>
                <a:cs typeface="Meiryo"/>
              </a:rPr>
              <a:t>定量化指標まとめ</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30/72</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3.1. Stiffness Index</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8" name="fig_si" descr="f51_si.png"/>
          <p:cNvPicPr>
            <a:picLocks noChangeAspect="1"/>
          </p:cNvPicPr>
          <p:nvPr/>
        </p:nvPicPr>
        <p:blipFill>
          <a:blip r:embed="rId3"/>
          <a:stretch>
            <a:fillRect/>
          </a:stretch>
        </p:blipFill>
        <p:spPr>
          <a:xfrm>
            <a:off x="2340000" y="1872000"/>
            <a:ext cx="7521787" cy="3600000"/>
          </a:xfrm>
          <a:prstGeom prst="rect">
            <a:avLst/>
          </a:prstGeom>
        </p:spPr>
      </p:pic>
      <p:sp>
        <p:nvSpPr>
          <p:cNvPr id="19" name="TextBox 18"/>
          <p:cNvSpPr txBox="1"/>
          <p:nvPr/>
        </p:nvSpPr>
        <p:spPr>
          <a:xfrm>
            <a:off x="1584000" y="2052000"/>
            <a:ext cx="2160000" cy="378000"/>
          </a:xfrm>
          <a:prstGeom prst="rect">
            <a:avLst/>
          </a:prstGeom>
          <a:noFill/>
        </p:spPr>
        <p:txBody>
          <a:bodyPr wrap="none" lIns="0" tIns="0" rIns="0" bIns="0" anchor="ctr">
            <a:spAutoFit/>
          </a:bodyPr>
          <a:lstStyle/>
          <a:p>
            <a:pPr algn="r">
              <a:spcBef>
                <a:spcPts val="0"/>
              </a:spcBef>
              <a:spcAft>
                <a:spcPts val="0"/>
              </a:spcAft>
            </a:pPr>
            <a:r>
              <a:rPr sz="2200" b="1">
                <a:solidFill>
                  <a:srgbClr val="0072B2"/>
                </a:solidFill>
                <a:latin typeface="Meiryo"/>
                <a:ea typeface="Meiryo"/>
                <a:cs typeface="Meiryo"/>
              </a:rPr>
              <a:t>P1（前進波）</a:t>
            </a:r>
          </a:p>
        </p:txBody>
      </p:sp>
      <p:sp>
        <p:nvSpPr>
          <p:cNvPr id="20" name="TextBox 19"/>
          <p:cNvSpPr txBox="1"/>
          <p:nvPr/>
        </p:nvSpPr>
        <p:spPr>
          <a:xfrm>
            <a:off x="7632000" y="2412000"/>
            <a:ext cx="2520000" cy="378000"/>
          </a:xfrm>
          <a:prstGeom prst="rect">
            <a:avLst/>
          </a:prstGeom>
          <a:noFill/>
        </p:spPr>
        <p:txBody>
          <a:bodyPr wrap="non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TextBox 20"/>
          <p:cNvSpPr txBox="1"/>
          <p:nvPr/>
        </p:nvSpPr>
        <p:spPr>
          <a:xfrm>
            <a:off x="5112000" y="5004000"/>
            <a:ext cx="1152000" cy="378000"/>
          </a:xfrm>
          <a:prstGeom prst="rect">
            <a:avLst/>
          </a:prstGeom>
          <a:noFill/>
        </p:spPr>
        <p:txBody>
          <a:bodyPr wrap="none" lIns="0" tIns="0" rIns="0" bIns="0" anchor="ctr">
            <a:spAutoFit/>
          </a:bodyPr>
          <a:lstStyle/>
          <a:p>
            <a:pPr algn="ctr">
              <a:spcBef>
                <a:spcPts val="0"/>
              </a:spcBef>
              <a:spcAft>
                <a:spcPts val="0"/>
              </a:spcAft>
            </a:pPr>
            <a:r>
              <a:rPr sz="2400" b="1">
                <a:solidFill>
                  <a:srgbClr val="BF9000"/>
                </a:solidFill>
                <a:latin typeface="Meiryo"/>
                <a:ea typeface="Meiryo"/>
                <a:cs typeface="Meiryo"/>
              </a:rPr>
              <a:t>ΔT</a:t>
            </a:r>
          </a:p>
        </p:txBody>
      </p:sp>
      <p:sp>
        <p:nvSpPr>
          <p:cNvPr id="22" name="Rounded Rectangle 21"/>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dirty="0">
                <a:solidFill>
                  <a:srgbClr val="262626"/>
                </a:solidFill>
                <a:latin typeface="Meiryo"/>
                <a:ea typeface="Meiryo"/>
                <a:cs typeface="Meiryo"/>
              </a:rPr>
              <a:t>SI ＝ </a:t>
            </a:r>
            <a:r>
              <a:rPr sz="2600" b="1" dirty="0" err="1">
                <a:solidFill>
                  <a:srgbClr val="262626"/>
                </a:solidFill>
                <a:latin typeface="Meiryo"/>
                <a:ea typeface="Meiryo"/>
                <a:cs typeface="Meiryo"/>
              </a:rPr>
              <a:t>身長</a:t>
            </a:r>
            <a:r>
              <a:rPr sz="2600" b="1" dirty="0">
                <a:solidFill>
                  <a:srgbClr val="262626"/>
                </a:solidFill>
                <a:latin typeface="Meiryo"/>
                <a:ea typeface="Meiryo"/>
                <a:cs typeface="Meiryo"/>
              </a:rPr>
              <a:t> ÷ ΔT</a:t>
            </a:r>
          </a:p>
          <a:p>
            <a:pPr algn="ctr">
              <a:spcBef>
                <a:spcPts val="0"/>
              </a:spcBef>
              <a:spcAft>
                <a:spcPts val="0"/>
              </a:spcAft>
            </a:pPr>
            <a:r>
              <a:rPr sz="2200" b="1" dirty="0" err="1">
                <a:solidFill>
                  <a:srgbClr val="262626"/>
                </a:solidFill>
                <a:latin typeface="Meiryo"/>
                <a:ea typeface="Meiryo"/>
                <a:cs typeface="Meiryo"/>
              </a:rPr>
              <a:t>大動脈の硬さを反映</a:t>
            </a:r>
            <a:endParaRPr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31/72</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FA238-20C4-7D4C-7799-A9FB3EC89A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AF5D0B-40AF-A2F0-0DD2-80CC350F3BD0}"/>
              </a:ext>
            </a:extLst>
          </p:cNvPr>
          <p:cNvSpPr>
            <a:spLocks noGrp="1"/>
          </p:cNvSpPr>
          <p:nvPr>
            <p:ph type="title"/>
          </p:nvPr>
        </p:nvSpPr>
        <p:spPr/>
        <p:txBody>
          <a:bodyPr/>
          <a:lstStyle/>
          <a:p>
            <a:pPr algn="l"/>
            <a:r>
              <a:rPr sz="4600" dirty="0">
                <a:latin typeface="Meiryo"/>
                <a:ea typeface="Meiryo"/>
                <a:cs typeface="Meiryo"/>
              </a:rPr>
              <a:t>3.1. Stiffness Index</a:t>
            </a:r>
          </a:p>
        </p:txBody>
      </p:sp>
      <p:sp>
        <p:nvSpPr>
          <p:cNvPr id="13" name="Off-page Connector 4">
            <a:extLst>
              <a:ext uri="{FF2B5EF4-FFF2-40B4-BE49-F238E27FC236}">
                <a16:creationId xmlns:a16="http://schemas.microsoft.com/office/drawing/2014/main" id="{69355710-BBA3-115E-E2C7-A8DB4769F04D}"/>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CD9EFE41-777E-CF2B-430A-5D8360041083}"/>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A99947AF-BEB1-7A3D-0D60-0F8D393BEE31}"/>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A2AB76F2-CE51-776B-20C0-C0E39D591E6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CE4331C7-8C2C-C0B0-00DB-2D9F5906F12D}"/>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3" name="図 2">
            <a:extLst>
              <a:ext uri="{FF2B5EF4-FFF2-40B4-BE49-F238E27FC236}">
                <a16:creationId xmlns:a16="http://schemas.microsoft.com/office/drawing/2014/main" id="{F685F716-4BEB-6267-1B6E-136F25AE4C48}"/>
              </a:ext>
            </a:extLst>
          </p:cNvPr>
          <p:cNvPicPr>
            <a:picLocks noChangeAspect="1"/>
          </p:cNvPicPr>
          <p:nvPr/>
        </p:nvPicPr>
        <p:blipFill>
          <a:blip r:embed="rId3"/>
          <a:srcRect r="52357"/>
          <a:stretch>
            <a:fillRect/>
          </a:stretch>
        </p:blipFill>
        <p:spPr>
          <a:xfrm>
            <a:off x="741476" y="1700213"/>
            <a:ext cx="4686300" cy="4400448"/>
          </a:xfrm>
          <a:prstGeom prst="rect">
            <a:avLst/>
          </a:prstGeom>
        </p:spPr>
      </p:pic>
      <p:sp>
        <p:nvSpPr>
          <p:cNvPr id="4" name="テキスト ボックス 3">
            <a:extLst>
              <a:ext uri="{FF2B5EF4-FFF2-40B4-BE49-F238E27FC236}">
                <a16:creationId xmlns:a16="http://schemas.microsoft.com/office/drawing/2014/main" id="{3EE5EB3D-2DE0-7C24-5AD3-67C9530F495F}"/>
              </a:ext>
            </a:extLst>
          </p:cNvPr>
          <p:cNvSpPr txBox="1"/>
          <p:nvPr/>
        </p:nvSpPr>
        <p:spPr>
          <a:xfrm>
            <a:off x="6909208" y="2002868"/>
            <a:ext cx="3945311" cy="3108543"/>
          </a:xfrm>
          <a:prstGeom prst="rect">
            <a:avLst/>
          </a:prstGeom>
          <a:noFill/>
        </p:spPr>
        <p:txBody>
          <a:bodyPr wrap="none" rtlCol="0">
            <a:spAutoFit/>
          </a:bodyPr>
          <a:lstStyle/>
          <a:p>
            <a:r>
              <a:rPr lang="ja-JP" altLang="en-US" sz="2800"/>
              <a:t>健常成人</a:t>
            </a:r>
            <a:r>
              <a:rPr lang="en-US" altLang="ja-JP" sz="2800" dirty="0"/>
              <a:t>87</a:t>
            </a:r>
            <a:r>
              <a:rPr lang="ja-JP" altLang="en-US" sz="2800"/>
              <a:t>人で計測</a:t>
            </a:r>
            <a:endParaRPr lang="en-US" altLang="ja-JP" sz="2800" dirty="0"/>
          </a:p>
          <a:p>
            <a:endParaRPr lang="en-US" altLang="ja-JP" sz="2800" dirty="0"/>
          </a:p>
          <a:p>
            <a:r>
              <a:rPr lang="ja-JP" altLang="ja-JP" sz="2800" b="1"/>
              <a:t>SI</a:t>
            </a:r>
            <a:r>
              <a:rPr lang="ja-JP" altLang="en-US" sz="2800" b="1"/>
              <a:t>と</a:t>
            </a:r>
            <a:r>
              <a:rPr lang="ja-JP" altLang="ja-JP" sz="2800" b="1"/>
              <a:t>年齢</a:t>
            </a:r>
            <a:r>
              <a:rPr lang="ja-JP" altLang="en-US" sz="2800" b="1"/>
              <a:t>　</a:t>
            </a:r>
            <a:endParaRPr lang="en-US" altLang="ja-JP" sz="2800" b="1" dirty="0"/>
          </a:p>
          <a:p>
            <a:r>
              <a:rPr lang="en-US" altLang="ja-JP" sz="2800" dirty="0"/>
              <a:t>	</a:t>
            </a:r>
            <a:r>
              <a:rPr lang="ja-JP" altLang="ja-JP" sz="2800"/>
              <a:t>r = 0.67、P&lt;0.0001</a:t>
            </a:r>
            <a:endParaRPr lang="en-US" altLang="ja-JP" sz="2800" dirty="0"/>
          </a:p>
          <a:p>
            <a:endParaRPr lang="en-US" altLang="ja-JP" sz="2800" dirty="0"/>
          </a:p>
          <a:p>
            <a:r>
              <a:rPr lang="en-US" altLang="ja-JP" sz="2800" b="1" dirty="0"/>
              <a:t>S</a:t>
            </a:r>
            <a:r>
              <a:rPr lang="ja-JP" altLang="ja-JP" sz="2800" b="1"/>
              <a:t>I</a:t>
            </a:r>
            <a:r>
              <a:rPr lang="ja-JP" altLang="en-US" sz="2800" b="1"/>
              <a:t>と</a:t>
            </a:r>
            <a:r>
              <a:rPr lang="ja-JP" altLang="ja-JP" sz="2800" b="1"/>
              <a:t> PWVcf </a:t>
            </a:r>
            <a:r>
              <a:rPr lang="ja-JP" altLang="en-US" sz="2800" b="1"/>
              <a:t>　</a:t>
            </a:r>
            <a:endParaRPr lang="en-US" altLang="ja-JP" sz="2800" b="1" dirty="0"/>
          </a:p>
          <a:p>
            <a:r>
              <a:rPr lang="en-US" altLang="ja-JP" sz="2800" dirty="0"/>
              <a:t>	</a:t>
            </a:r>
            <a:r>
              <a:rPr lang="ja-JP" altLang="ja-JP" sz="2800"/>
              <a:t>r =0.65、P&lt;0.0001</a:t>
            </a:r>
            <a:endParaRPr lang="en-US" altLang="ja-JP" sz="2800" dirty="0"/>
          </a:p>
        </p:txBody>
      </p:sp>
      <p:sp>
        <p:nvSpPr>
          <p:cNvPr id="5" name="テキスト ボックス 4">
            <a:extLst>
              <a:ext uri="{FF2B5EF4-FFF2-40B4-BE49-F238E27FC236}">
                <a16:creationId xmlns:a16="http://schemas.microsoft.com/office/drawing/2014/main" id="{25577C28-11A3-C308-D54B-DDC1AEC1FCB2}"/>
              </a:ext>
            </a:extLst>
          </p:cNvPr>
          <p:cNvSpPr txBox="1"/>
          <p:nvPr/>
        </p:nvSpPr>
        <p:spPr>
          <a:xfrm>
            <a:off x="838200" y="6044593"/>
            <a:ext cx="4600105" cy="400110"/>
          </a:xfrm>
          <a:prstGeom prst="rect">
            <a:avLst/>
          </a:prstGeom>
          <a:noFill/>
        </p:spPr>
        <p:txBody>
          <a:bodyPr wrap="none" rtlCol="0">
            <a:spAutoFit/>
          </a:bodyPr>
          <a:lstStyle/>
          <a:p>
            <a:r>
              <a:rPr lang="ja-JP" altLang="ja-JP" sz="2000" b="1"/>
              <a:t>PWVcf</a:t>
            </a:r>
            <a:r>
              <a:rPr lang="ja-JP" altLang="en-US" sz="2000" b="1"/>
              <a:t>：</a:t>
            </a:r>
            <a:r>
              <a:rPr lang="ja-JP" altLang="ja-JP" sz="2000" b="1"/>
              <a:t>頸動脈–大腿動脈脈波伝播速度</a:t>
            </a:r>
          </a:p>
        </p:txBody>
      </p:sp>
      <p:sp>
        <p:nvSpPr>
          <p:cNvPr id="6" name="Rounded Rectangle 21">
            <a:extLst>
              <a:ext uri="{FF2B5EF4-FFF2-40B4-BE49-F238E27FC236}">
                <a16:creationId xmlns:a16="http://schemas.microsoft.com/office/drawing/2014/main" id="{81C8F315-7A19-16F7-6685-36BB9429E8EC}"/>
              </a:ext>
            </a:extLst>
          </p:cNvPr>
          <p:cNvSpPr/>
          <p:nvPr/>
        </p:nvSpPr>
        <p:spPr>
          <a:xfrm>
            <a:off x="5862603" y="5430241"/>
            <a:ext cx="6038519" cy="74449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dirty="0">
                <a:solidFill>
                  <a:srgbClr val="262626"/>
                </a:solidFill>
                <a:latin typeface="Meiryo"/>
                <a:ea typeface="Meiryo"/>
                <a:cs typeface="Meiryo"/>
              </a:rPr>
              <a:t>SI </a:t>
            </a:r>
            <a:r>
              <a:rPr lang="en-US" sz="2600" b="1" dirty="0" err="1">
                <a:solidFill>
                  <a:srgbClr val="262626"/>
                </a:solidFill>
                <a:latin typeface="Meiryo"/>
                <a:ea typeface="Meiryo"/>
                <a:cs typeface="Meiryo"/>
              </a:rPr>
              <a:t>は年齢や脈波伝播速度と関連する</a:t>
            </a:r>
            <a:endParaRPr sz="2200" b="1" dirty="0">
              <a:solidFill>
                <a:srgbClr val="262626"/>
              </a:solidFill>
              <a:latin typeface="Meiryo"/>
              <a:ea typeface="Meiryo"/>
              <a:cs typeface="Meiryo"/>
            </a:endParaRPr>
          </a:p>
        </p:txBody>
      </p:sp>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31/72</a:t>
            </a:r>
          </a:p>
        </p:txBody>
      </p:sp>
    </p:spTree>
    <p:extLst>
      <p:ext uri="{BB962C8B-B14F-4D97-AF65-F5344CB8AC3E}">
        <p14:creationId xmlns:p14="http://schemas.microsoft.com/office/powerpoint/2010/main" val="10086392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3.2  Reflection Index</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8" name="fig_ri" descr="f52_ri.png"/>
          <p:cNvPicPr>
            <a:picLocks noChangeAspect="1"/>
          </p:cNvPicPr>
          <p:nvPr/>
        </p:nvPicPr>
        <p:blipFill>
          <a:blip r:embed="rId3"/>
          <a:stretch>
            <a:fillRect/>
          </a:stretch>
        </p:blipFill>
        <p:spPr>
          <a:xfrm>
            <a:off x="2340000" y="1872000"/>
            <a:ext cx="7521787" cy="3600000"/>
          </a:xfrm>
          <a:prstGeom prst="rect">
            <a:avLst/>
          </a:prstGeom>
        </p:spPr>
      </p:pic>
      <p:sp>
        <p:nvSpPr>
          <p:cNvPr id="19" name="TextBox 18"/>
          <p:cNvSpPr txBox="1"/>
          <p:nvPr/>
        </p:nvSpPr>
        <p:spPr>
          <a:xfrm>
            <a:off x="1584000" y="2124000"/>
            <a:ext cx="2160000" cy="378000"/>
          </a:xfrm>
          <a:prstGeom prst="rect">
            <a:avLst/>
          </a:prstGeom>
          <a:noFill/>
        </p:spPr>
        <p:txBody>
          <a:bodyPr wrap="none" lIns="0" tIns="0" rIns="0" bIns="0" anchor="ctr">
            <a:spAutoFit/>
          </a:bodyPr>
          <a:lstStyle/>
          <a:p>
            <a:pPr algn="r">
              <a:spcBef>
                <a:spcPts val="0"/>
              </a:spcBef>
              <a:spcAft>
                <a:spcPts val="0"/>
              </a:spcAft>
            </a:pPr>
            <a:r>
              <a:rPr sz="2200" b="1">
                <a:solidFill>
                  <a:srgbClr val="0072B2"/>
                </a:solidFill>
                <a:latin typeface="Meiryo"/>
                <a:ea typeface="Meiryo"/>
                <a:cs typeface="Meiryo"/>
              </a:rPr>
              <a:t>P1（前進波）</a:t>
            </a:r>
          </a:p>
        </p:txBody>
      </p:sp>
      <p:sp>
        <p:nvSpPr>
          <p:cNvPr id="20" name="TextBox 19"/>
          <p:cNvSpPr txBox="1"/>
          <p:nvPr/>
        </p:nvSpPr>
        <p:spPr>
          <a:xfrm>
            <a:off x="7632000" y="2520000"/>
            <a:ext cx="2520000" cy="378000"/>
          </a:xfrm>
          <a:prstGeom prst="rect">
            <a:avLst/>
          </a:prstGeom>
          <a:noFill/>
        </p:spPr>
        <p:txBody>
          <a:bodyPr wrap="non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Rounded Rectangle 20"/>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a:solidFill>
                  <a:srgbClr val="262626"/>
                </a:solidFill>
                <a:latin typeface="Meiryo"/>
                <a:ea typeface="Meiryo"/>
                <a:cs typeface="Meiryo"/>
              </a:rPr>
              <a:t>RI ＝ P2 ÷ P1</a:t>
            </a:r>
          </a:p>
          <a:p>
            <a:pPr algn="ctr">
              <a:spcBef>
                <a:spcPts val="0"/>
              </a:spcBef>
              <a:spcAft>
                <a:spcPts val="0"/>
              </a:spcAft>
            </a:pPr>
            <a:r>
              <a:rPr sz="2200" b="1">
                <a:solidFill>
                  <a:srgbClr val="262626"/>
                </a:solidFill>
                <a:latin typeface="Meiryo"/>
                <a:ea typeface="Meiryo"/>
                <a:cs typeface="Meiryo"/>
              </a:rPr>
              <a:t>末梢血管トーヌス（反射の大きさ）を反映</a:t>
            </a:r>
          </a:p>
        </p:txBody>
      </p:sp>
      <p:sp>
        <p:nvSpPr>
          <p:cNvPr id="2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a:t>
            </a:r>
          </a:p>
        </p:txBody>
      </p:sp>
      <p:sp>
        <p:nvSpPr>
          <p:cNvPr id="2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32/72</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E19EF-DBC9-EB20-10C0-EC248698EE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B8725C-CB53-105E-8C3B-A9F29A5B0055}"/>
              </a:ext>
            </a:extLst>
          </p:cNvPr>
          <p:cNvSpPr>
            <a:spLocks noGrp="1"/>
          </p:cNvSpPr>
          <p:nvPr>
            <p:ph type="title"/>
          </p:nvPr>
        </p:nvSpPr>
        <p:spPr/>
        <p:txBody>
          <a:bodyPr/>
          <a:lstStyle/>
          <a:p>
            <a:pPr algn="l"/>
            <a:r>
              <a:rPr sz="4600" dirty="0">
                <a:latin typeface="Meiryo"/>
                <a:ea typeface="Meiryo"/>
                <a:cs typeface="Meiryo"/>
              </a:rPr>
              <a:t>3.2  Reflection Index</a:t>
            </a:r>
          </a:p>
        </p:txBody>
      </p:sp>
      <p:sp>
        <p:nvSpPr>
          <p:cNvPr id="13" name="Off-page Connector 4">
            <a:extLst>
              <a:ext uri="{FF2B5EF4-FFF2-40B4-BE49-F238E27FC236}">
                <a16:creationId xmlns:a16="http://schemas.microsoft.com/office/drawing/2014/main" id="{2C144E0A-3C51-DA3E-A0F1-BDA2BF58066D}"/>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173C3379-5C69-FB45-DFA3-9408AB29665A}"/>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A1B0C08A-4EA6-C6D5-FE63-E066B0ED9D0A}"/>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D9A04435-9816-C39B-3616-AAE3265F2CA3}"/>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7700E4AC-08F9-85FD-8F5B-A203E84C276F}"/>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3" name="図 2">
            <a:extLst>
              <a:ext uri="{FF2B5EF4-FFF2-40B4-BE49-F238E27FC236}">
                <a16:creationId xmlns:a16="http://schemas.microsoft.com/office/drawing/2014/main" id="{639150FC-4759-1D06-47BB-13778B76B92D}"/>
              </a:ext>
            </a:extLst>
          </p:cNvPr>
          <p:cNvPicPr>
            <a:picLocks noChangeAspect="1"/>
          </p:cNvPicPr>
          <p:nvPr/>
        </p:nvPicPr>
        <p:blipFill>
          <a:blip r:embed="rId3"/>
          <a:srcRect r="48043" b="54220"/>
          <a:stretch>
            <a:fillRect/>
          </a:stretch>
        </p:blipFill>
        <p:spPr>
          <a:xfrm>
            <a:off x="560616" y="2390494"/>
            <a:ext cx="4801419" cy="3100651"/>
          </a:xfrm>
          <a:prstGeom prst="rect">
            <a:avLst/>
          </a:prstGeom>
        </p:spPr>
      </p:pic>
      <p:pic>
        <p:nvPicPr>
          <p:cNvPr id="4" name="図 3">
            <a:extLst>
              <a:ext uri="{FF2B5EF4-FFF2-40B4-BE49-F238E27FC236}">
                <a16:creationId xmlns:a16="http://schemas.microsoft.com/office/drawing/2014/main" id="{962BB7AC-DA1C-BE16-D3C7-0E9FFD71C17D}"/>
              </a:ext>
            </a:extLst>
          </p:cNvPr>
          <p:cNvPicPr>
            <a:picLocks noChangeAspect="1"/>
          </p:cNvPicPr>
          <p:nvPr/>
        </p:nvPicPr>
        <p:blipFill>
          <a:blip r:embed="rId4"/>
          <a:srcRect r="47305" b="49958"/>
          <a:stretch>
            <a:fillRect/>
          </a:stretch>
        </p:blipFill>
        <p:spPr>
          <a:xfrm>
            <a:off x="6135826" y="2171223"/>
            <a:ext cx="4801419" cy="3419682"/>
          </a:xfrm>
          <a:prstGeom prst="rect">
            <a:avLst/>
          </a:prstGeom>
        </p:spPr>
      </p:pic>
      <p:sp>
        <p:nvSpPr>
          <p:cNvPr id="5" name="テキスト ボックス 4">
            <a:extLst>
              <a:ext uri="{FF2B5EF4-FFF2-40B4-BE49-F238E27FC236}">
                <a16:creationId xmlns:a16="http://schemas.microsoft.com/office/drawing/2014/main" id="{753EB817-69D7-0093-73A0-71C10EA3B760}"/>
              </a:ext>
            </a:extLst>
          </p:cNvPr>
          <p:cNvSpPr txBox="1"/>
          <p:nvPr/>
        </p:nvSpPr>
        <p:spPr>
          <a:xfrm>
            <a:off x="1975759" y="1820747"/>
            <a:ext cx="2749471" cy="400110"/>
          </a:xfrm>
          <a:prstGeom prst="rect">
            <a:avLst/>
          </a:prstGeom>
          <a:noFill/>
        </p:spPr>
        <p:txBody>
          <a:bodyPr wrap="none" rtlCol="0">
            <a:spAutoFit/>
          </a:bodyPr>
          <a:lstStyle/>
          <a:p>
            <a:r>
              <a:rPr kumimoji="1" lang="ja-JP" altLang="en-US" sz="2000" b="1"/>
              <a:t>アンジオテンシン投与</a:t>
            </a:r>
          </a:p>
        </p:txBody>
      </p:sp>
      <p:sp>
        <p:nvSpPr>
          <p:cNvPr id="6" name="テキスト ボックス 5">
            <a:extLst>
              <a:ext uri="{FF2B5EF4-FFF2-40B4-BE49-F238E27FC236}">
                <a16:creationId xmlns:a16="http://schemas.microsoft.com/office/drawing/2014/main" id="{EDE3662F-A2C0-DA98-F494-3AA126BCECEE}"/>
              </a:ext>
            </a:extLst>
          </p:cNvPr>
          <p:cNvSpPr txBox="1"/>
          <p:nvPr/>
        </p:nvSpPr>
        <p:spPr>
          <a:xfrm>
            <a:off x="7543533" y="1820747"/>
            <a:ext cx="2749471" cy="400110"/>
          </a:xfrm>
          <a:prstGeom prst="rect">
            <a:avLst/>
          </a:prstGeom>
          <a:noFill/>
        </p:spPr>
        <p:txBody>
          <a:bodyPr wrap="none" rtlCol="0">
            <a:spAutoFit/>
          </a:bodyPr>
          <a:lstStyle/>
          <a:p>
            <a:r>
              <a:rPr kumimoji="1" lang="ja-JP" altLang="en-US" sz="2000" b="1"/>
              <a:t>ニトログリセリン投与</a:t>
            </a:r>
          </a:p>
        </p:txBody>
      </p:sp>
      <p:sp>
        <p:nvSpPr>
          <p:cNvPr id="7" name="Rounded Rectangle 20">
            <a:extLst>
              <a:ext uri="{FF2B5EF4-FFF2-40B4-BE49-F238E27FC236}">
                <a16:creationId xmlns:a16="http://schemas.microsoft.com/office/drawing/2014/main" id="{A886D300-A0C7-4945-DFC8-15572E105CB1}"/>
              </a:ext>
            </a:extLst>
          </p:cNvPr>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altLang="ja-JP" sz="2400" b="1" dirty="0">
                <a:solidFill>
                  <a:srgbClr val="262626"/>
                </a:solidFill>
                <a:latin typeface="Meiryo"/>
                <a:ea typeface="Meiryo"/>
                <a:cs typeface="Meiryo"/>
              </a:rPr>
              <a:t>RI</a:t>
            </a:r>
            <a:r>
              <a:rPr lang="ja-JP" altLang="en-US" sz="2400" b="1">
                <a:solidFill>
                  <a:srgbClr val="262626"/>
                </a:solidFill>
                <a:latin typeface="Meiryo"/>
                <a:ea typeface="Meiryo"/>
                <a:cs typeface="Meiryo"/>
              </a:rPr>
              <a:t>は血管収縮・拡張薬と用量依存性に反応する</a:t>
            </a:r>
            <a:endParaRPr sz="2400" b="1" dirty="0">
              <a:solidFill>
                <a:srgbClr val="262626"/>
              </a:solidFill>
              <a:latin typeface="Meiryo"/>
              <a:ea typeface="Meiryo"/>
              <a:cs typeface="Meiryo"/>
            </a:endParaRPr>
          </a:p>
        </p:txBody>
      </p:sp>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32/72</a:t>
            </a:r>
          </a:p>
        </p:txBody>
      </p:sp>
    </p:spTree>
    <p:extLst>
      <p:ext uri="{BB962C8B-B14F-4D97-AF65-F5344CB8AC3E}">
        <p14:creationId xmlns:p14="http://schemas.microsoft.com/office/powerpoint/2010/main" val="31964551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63D79-A0ED-99D2-A804-31F5C81C9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0491EC-D70F-DD18-A8BB-8C48A3E5DB47}"/>
              </a:ext>
            </a:extLst>
          </p:cNvPr>
          <p:cNvSpPr>
            <a:spLocks noGrp="1"/>
          </p:cNvSpPr>
          <p:nvPr>
            <p:ph type="title"/>
          </p:nvPr>
        </p:nvSpPr>
        <p:spPr/>
        <p:txBody>
          <a:bodyPr/>
          <a:lstStyle/>
          <a:p>
            <a:pPr algn="l"/>
            <a:r>
              <a:rPr sz="4600" dirty="0">
                <a:latin typeface="Meiryo"/>
                <a:ea typeface="Meiryo"/>
                <a:cs typeface="Meiryo"/>
              </a:rPr>
              <a:t>3.2  Reflection Index</a:t>
            </a:r>
          </a:p>
        </p:txBody>
      </p:sp>
      <p:sp>
        <p:nvSpPr>
          <p:cNvPr id="13" name="Off-page Connector 4">
            <a:extLst>
              <a:ext uri="{FF2B5EF4-FFF2-40B4-BE49-F238E27FC236}">
                <a16:creationId xmlns:a16="http://schemas.microsoft.com/office/drawing/2014/main" id="{3B4A464C-D41B-8A70-9B6A-F8C7D77DA374}"/>
              </a:ext>
            </a:extLst>
          </p:cNvPr>
          <p:cNvSpPr/>
          <p:nvPr/>
        </p:nvSpPr>
        <p:spPr>
          <a:xfrm>
            <a:off x="9081719" y="50400"/>
            <a:ext cx="576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13D3B515-6204-82D0-BAC6-F007934E6F04}"/>
              </a:ext>
            </a:extLst>
          </p:cNvPr>
          <p:cNvSpPr/>
          <p:nvPr/>
        </p:nvSpPr>
        <p:spPr>
          <a:xfrm>
            <a:off x="9700919" y="50400"/>
            <a:ext cx="576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92D096EE-A4A9-02F4-9620-C4F2691BB487}"/>
              </a:ext>
            </a:extLst>
          </p:cNvPr>
          <p:cNvSpPr/>
          <p:nvPr/>
        </p:nvSpPr>
        <p:spPr>
          <a:xfrm>
            <a:off x="10320119" y="50400"/>
            <a:ext cx="576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4EC13131-6B2A-58CE-87C7-489AE5F06A33}"/>
              </a:ext>
            </a:extLst>
          </p:cNvPr>
          <p:cNvSpPr/>
          <p:nvPr/>
        </p:nvSpPr>
        <p:spPr>
          <a:xfrm>
            <a:off x="10939319" y="50400"/>
            <a:ext cx="576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4BFAF256-89BC-3031-019F-D4E5A1B7EC48}"/>
              </a:ext>
            </a:extLst>
          </p:cNvPr>
          <p:cNvSpPr/>
          <p:nvPr/>
        </p:nvSpPr>
        <p:spPr>
          <a:xfrm>
            <a:off x="11558519" y="50400"/>
            <a:ext cx="576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22" name="図 21">
            <a:extLst>
              <a:ext uri="{FF2B5EF4-FFF2-40B4-BE49-F238E27FC236}">
                <a16:creationId xmlns:a16="http://schemas.microsoft.com/office/drawing/2014/main" id="{4D09E345-A83C-BB82-B903-B4F55D561CCB}"/>
              </a:ext>
            </a:extLst>
          </p:cNvPr>
          <p:cNvPicPr>
            <a:picLocks noChangeAspect="1"/>
          </p:cNvPicPr>
          <p:nvPr/>
        </p:nvPicPr>
        <p:blipFill>
          <a:blip r:embed="rId3"/>
          <a:stretch>
            <a:fillRect/>
          </a:stretch>
        </p:blipFill>
        <p:spPr>
          <a:xfrm>
            <a:off x="540000" y="1728000"/>
            <a:ext cx="6480000" cy="3780000"/>
          </a:xfrm>
          <a:prstGeom prst="rect">
            <a:avLst/>
          </a:prstGeom>
        </p:spPr>
      </p:pic>
      <p:sp>
        <p:nvSpPr>
          <p:cNvPr id="23" name="テキスト ボックス 22">
            <a:extLst>
              <a:ext uri="{FF2B5EF4-FFF2-40B4-BE49-F238E27FC236}">
                <a16:creationId xmlns:a16="http://schemas.microsoft.com/office/drawing/2014/main" id="{67803B91-A8D8-913C-8686-EE0BC9521B48}"/>
              </a:ext>
            </a:extLst>
          </p:cNvPr>
          <p:cNvSpPr txBox="1"/>
          <p:nvPr/>
        </p:nvSpPr>
        <p:spPr>
          <a:xfrm>
            <a:off x="7307169" y="1800000"/>
            <a:ext cx="4680000" cy="3195747"/>
          </a:xfrm>
          <a:prstGeom prst="rect">
            <a:avLst/>
          </a:prstGeom>
          <a:noFill/>
        </p:spPr>
        <p:txBody>
          <a:bodyPr wrap="square" rtlCol="0">
            <a:spAutoFit/>
          </a:bodyPr>
          <a:lstStyle/>
          <a:p>
            <a:pPr>
              <a:spcAft>
                <a:spcPts val="200"/>
              </a:spcAft>
            </a:pPr>
            <a:r>
              <a:rPr kumimoji="1" lang="en-US" altLang="ja-JP" sz="2200" dirty="0">
                <a:latin typeface="+mn-ea"/>
              </a:rPr>
              <a:t>SVR </a:t>
            </a:r>
            <a:r>
              <a:rPr kumimoji="1" lang="ja-JP" altLang="en-US" sz="2200">
                <a:latin typeface="+mn-ea"/>
              </a:rPr>
              <a:t>で</a:t>
            </a:r>
            <a:r>
              <a:rPr kumimoji="1" lang="en-US" altLang="ja-JP" sz="2200" dirty="0">
                <a:latin typeface="+mn-ea"/>
              </a:rPr>
              <a:t> </a:t>
            </a:r>
            <a:r>
              <a:rPr kumimoji="1" lang="en-US" altLang="ja-JP" sz="2200" dirty="0" err="1">
                <a:latin typeface="+mn-ea"/>
              </a:rPr>
              <a:t>低・中・高</a:t>
            </a:r>
            <a:r>
              <a:rPr kumimoji="1" lang="en-US" altLang="ja-JP" sz="2200" dirty="0">
                <a:latin typeface="+mn-ea"/>
              </a:rPr>
              <a:t> </a:t>
            </a:r>
            <a:r>
              <a:rPr kumimoji="1" lang="ja-JP" altLang="en-US" sz="2200">
                <a:latin typeface="+mn-ea"/>
              </a:rPr>
              <a:t>の３群</a:t>
            </a:r>
            <a:r>
              <a:rPr kumimoji="1" lang="en-US" altLang="ja-JP" sz="2200" dirty="0" err="1">
                <a:latin typeface="+mn-ea"/>
              </a:rPr>
              <a:t>に分けて</a:t>
            </a:r>
            <a:endParaRPr kumimoji="1" lang="en-US" altLang="ja-JP" dirty="0">
              <a:latin typeface="+mn-ea"/>
            </a:endParaRPr>
          </a:p>
          <a:p>
            <a:pPr>
              <a:spcAft>
                <a:spcPts val="200"/>
              </a:spcAft>
            </a:pPr>
            <a:r>
              <a:rPr kumimoji="1" lang="en-US" altLang="ja-JP" sz="2200" dirty="0">
                <a:latin typeface="+mn-ea"/>
              </a:rPr>
              <a:t>PPG </a:t>
            </a:r>
            <a:r>
              <a:rPr kumimoji="1" lang="en-US" altLang="ja-JP" sz="2200" dirty="0" err="1">
                <a:latin typeface="+mn-ea"/>
              </a:rPr>
              <a:t>特徴量やバイタル</a:t>
            </a:r>
            <a:r>
              <a:rPr kumimoji="1" lang="ja-JP" altLang="en-US" sz="2200">
                <a:latin typeface="+mn-ea"/>
              </a:rPr>
              <a:t>サインで　分類可能か</a:t>
            </a:r>
            <a:r>
              <a:rPr kumimoji="1" lang="en-US" altLang="ja-JP" sz="2200" dirty="0" err="1">
                <a:latin typeface="+mn-ea"/>
              </a:rPr>
              <a:t>検討</a:t>
            </a:r>
            <a:r>
              <a:rPr kumimoji="1" lang="ja-JP" altLang="en-US" sz="2200">
                <a:latin typeface="+mn-ea"/>
              </a:rPr>
              <a:t>した。</a:t>
            </a:r>
            <a:endParaRPr kumimoji="1" lang="en-US" altLang="ja-JP" dirty="0">
              <a:latin typeface="+mn-ea"/>
            </a:endParaRPr>
          </a:p>
          <a:p>
            <a:pPr>
              <a:spcAft>
                <a:spcPts val="200"/>
              </a:spcAft>
            </a:pPr>
            <a:endParaRPr kumimoji="1" lang="en-US" altLang="ja-JP" dirty="0">
              <a:latin typeface="+mn-ea"/>
            </a:endParaRPr>
          </a:p>
          <a:p>
            <a:pPr>
              <a:spcAft>
                <a:spcPts val="200"/>
              </a:spcAft>
            </a:pPr>
            <a:r>
              <a:rPr kumimoji="1" lang="en-US" altLang="ja-JP" sz="2200" dirty="0">
                <a:latin typeface="+mn-ea"/>
              </a:rPr>
              <a:t>ICU 患者 48人</a:t>
            </a:r>
            <a:endParaRPr kumimoji="1" lang="en-US" altLang="ja-JP" dirty="0">
              <a:latin typeface="+mn-ea"/>
            </a:endParaRPr>
          </a:p>
          <a:p>
            <a:pPr>
              <a:spcAft>
                <a:spcPts val="200"/>
              </a:spcAft>
            </a:pPr>
            <a:endParaRPr kumimoji="1" lang="en-US" altLang="ja-JP" dirty="0">
              <a:latin typeface="+mn-ea"/>
            </a:endParaRPr>
          </a:p>
          <a:p>
            <a:pPr>
              <a:spcAft>
                <a:spcPts val="200"/>
              </a:spcAft>
            </a:pPr>
            <a:r>
              <a:rPr kumimoji="1" lang="en-US" altLang="ja-JP" sz="2200" dirty="0">
                <a:latin typeface="+mn-ea"/>
              </a:rPr>
              <a:t>・低SVR で RI は低下する</a:t>
            </a:r>
            <a:endParaRPr kumimoji="1" lang="en-US" altLang="ja-JP" dirty="0">
              <a:latin typeface="+mn-ea"/>
            </a:endParaRPr>
          </a:p>
          <a:p>
            <a:pPr>
              <a:spcAft>
                <a:spcPts val="200"/>
              </a:spcAft>
            </a:pPr>
            <a:r>
              <a:rPr kumimoji="1" lang="en-US" altLang="ja-JP" sz="2200" dirty="0">
                <a:latin typeface="+mn-ea"/>
              </a:rPr>
              <a:t>・</a:t>
            </a:r>
            <a:r>
              <a:rPr kumimoji="1" lang="en-US" altLang="ja-JP" sz="2200" dirty="0" err="1">
                <a:latin typeface="+mn-ea"/>
              </a:rPr>
              <a:t>単独の特徴量では識別能力が</a:t>
            </a:r>
            <a:r>
              <a:rPr kumimoji="1" lang="ja-JP" altLang="en-US" sz="2200">
                <a:latin typeface="+mn-ea"/>
              </a:rPr>
              <a:t>高め</a:t>
            </a:r>
            <a:endParaRPr kumimoji="1" lang="en-US" altLang="ja-JP" sz="2200" dirty="0">
              <a:latin typeface="+mn-ea"/>
            </a:endParaRPr>
          </a:p>
          <a:p>
            <a:pPr>
              <a:spcAft>
                <a:spcPts val="200"/>
              </a:spcAft>
            </a:pPr>
            <a:r>
              <a:rPr lang="ja-JP" altLang="en-US" sz="2200">
                <a:latin typeface="+mn-ea"/>
              </a:rPr>
              <a:t>・RI 単独 κ=0.33</a:t>
            </a:r>
            <a:endParaRPr kumimoji="1" lang="en-US" altLang="ja-JP" dirty="0">
              <a:latin typeface="+mn-ea"/>
            </a:endParaRPr>
          </a:p>
        </p:txBody>
      </p:sp>
      <p:sp>
        <p:nvSpPr>
          <p:cNvPr id="3" name="callout">
            <a:extLst>
              <a:ext uri="{FF2B5EF4-FFF2-40B4-BE49-F238E27FC236}">
                <a16:creationId xmlns:a16="http://schemas.microsoft.com/office/drawing/2014/main" id="{71DB1571-7D05-1607-6033-17C6704F9E20}"/>
              </a:ext>
            </a:extLst>
          </p:cNvPr>
          <p:cNvSpPr/>
          <p:nvPr/>
        </p:nvSpPr>
        <p:spPr>
          <a:xfrm>
            <a:off x="540001" y="4504179"/>
            <a:ext cx="6480000" cy="216000"/>
          </a:xfrm>
          <a:prstGeom prst="roundRect">
            <a:avLst>
              <a:gd name="adj" fmla="val 21191"/>
            </a:avLst>
          </a:prstGeom>
          <a:solidFill>
            <a:srgbClr val="F2E2B3">
              <a:alpha val="28000"/>
            </a:srgbClr>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endParaRPr sz="2400" b="1" dirty="0">
              <a:solidFill>
                <a:srgbClr val="262626"/>
              </a:solidFill>
              <a:latin typeface="Meiryo"/>
              <a:ea typeface="Meiryo"/>
              <a:cs typeface="Meiryo"/>
            </a:endParaRPr>
          </a:p>
        </p:txBody>
      </p:sp>
      <p:sp>
        <p:nvSpPr>
          <p:cNvPr id="24"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22. Lee 2011（ICU 48 名）</a:t>
            </a:r>
          </a:p>
        </p:txBody>
      </p:sp>
      <p:sp>
        <p:nvSpPr>
          <p:cNvPr id="2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32/72</a:t>
            </a:r>
          </a:p>
        </p:txBody>
      </p:sp>
    </p:spTree>
    <p:extLst>
      <p:ext uri="{BB962C8B-B14F-4D97-AF65-F5344CB8AC3E}">
        <p14:creationId xmlns:p14="http://schemas.microsoft.com/office/powerpoint/2010/main" val="7859751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621EB6-121F-AD4D-699D-FAE858E858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7A7913-E1A2-6038-1CFC-011E88F2F4B0}"/>
              </a:ext>
            </a:extLst>
          </p:cNvPr>
          <p:cNvSpPr>
            <a:spLocks noGrp="1"/>
          </p:cNvSpPr>
          <p:nvPr>
            <p:ph type="title"/>
          </p:nvPr>
        </p:nvSpPr>
        <p:spPr/>
        <p:txBody>
          <a:bodyPr/>
          <a:lstStyle/>
          <a:p>
            <a:pPr algn="l"/>
            <a:r>
              <a:rPr sz="4600" dirty="0">
                <a:latin typeface="Meiryo"/>
                <a:ea typeface="Meiryo"/>
                <a:cs typeface="Meiryo"/>
              </a:rPr>
              <a:t>3.2  RI と心拍数</a:t>
            </a:r>
          </a:p>
        </p:txBody>
      </p:sp>
      <p:sp>
        <p:nvSpPr>
          <p:cNvPr id="13" name="Off-page Connector 4">
            <a:extLst>
              <a:ext uri="{FF2B5EF4-FFF2-40B4-BE49-F238E27FC236}">
                <a16:creationId xmlns:a16="http://schemas.microsoft.com/office/drawing/2014/main" id="{1BA6D5A7-BC18-F2B2-F176-8988D990CA7A}"/>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8236811D-30B0-5D80-F614-1DF55396C8EB}"/>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E0440796-214F-A8DD-9634-78690288DEF4}"/>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00420769-5585-1A4A-A236-ECF033DA04F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EE3DD97E-2E2A-A71D-8837-2ED6C40DFFA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9" name="wbox"/>
          <p:cNvSpPr/>
          <p:nvPr/>
        </p:nvSpPr>
        <p:spPr>
          <a:xfrm>
            <a:off x="548640" y="2157984"/>
            <a:ext cx="5577840" cy="2139696"/>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wbase"/>
          <p:cNvCxnSpPr/>
          <p:nvPr/>
        </p:nvCxnSpPr>
        <p:spPr>
          <a:xfrm>
            <a:off x="731520" y="4023360"/>
            <a:ext cx="5212080"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w_low"/>
          <p:cNvSpPr/>
          <p:nvPr/>
        </p:nvSpPr>
        <p:spPr>
          <a:xfrm>
            <a:off x="731520" y="2232758"/>
            <a:ext cx="5212080" cy="1790602"/>
          </a:xfrm>
          <a:custGeom>
            <a:avLst/>
            <a:gdLst/>
            <a:ahLst/>
            <a:cxnLst/>
            <a:rect l="l" t="t" r="r" b="b"/>
            <a:pathLst>
              <a:path w="5212080" h="1790602">
                <a:moveTo>
                  <a:pt x="0" y="1788206"/>
                </a:moveTo>
                <a:lnTo>
                  <a:pt x="29118" y="1787153"/>
                </a:lnTo>
                <a:lnTo>
                  <a:pt x="58236" y="1785689"/>
                </a:lnTo>
                <a:lnTo>
                  <a:pt x="87353" y="1783675"/>
                </a:lnTo>
                <a:lnTo>
                  <a:pt x="116471" y="1780936"/>
                </a:lnTo>
                <a:lnTo>
                  <a:pt x="145589" y="1777251"/>
                </a:lnTo>
                <a:lnTo>
                  <a:pt x="174707" y="1772351"/>
                </a:lnTo>
                <a:lnTo>
                  <a:pt x="203824" y="1765910"/>
                </a:lnTo>
                <a:lnTo>
                  <a:pt x="232942" y="1757537"/>
                </a:lnTo>
                <a:lnTo>
                  <a:pt x="262060" y="1746780"/>
                </a:lnTo>
                <a:lnTo>
                  <a:pt x="291178" y="1733118"/>
                </a:lnTo>
                <a:lnTo>
                  <a:pt x="320295" y="1715972"/>
                </a:lnTo>
                <a:lnTo>
                  <a:pt x="349413" y="1694706"/>
                </a:lnTo>
                <a:lnTo>
                  <a:pt x="378531" y="1668644"/>
                </a:lnTo>
                <a:lnTo>
                  <a:pt x="407649" y="1637091"/>
                </a:lnTo>
                <a:lnTo>
                  <a:pt x="436766" y="1599358"/>
                </a:lnTo>
                <a:lnTo>
                  <a:pt x="465884" y="1554794"/>
                </a:lnTo>
                <a:lnTo>
                  <a:pt x="495002" y="1502828"/>
                </a:lnTo>
                <a:lnTo>
                  <a:pt x="524120" y="1443014"/>
                </a:lnTo>
                <a:lnTo>
                  <a:pt x="553238" y="1375073"/>
                </a:lnTo>
                <a:lnTo>
                  <a:pt x="582355" y="1298949"/>
                </a:lnTo>
                <a:lnTo>
                  <a:pt x="611473" y="1214844"/>
                </a:lnTo>
                <a:lnTo>
                  <a:pt x="640591" y="1123266"/>
                </a:lnTo>
                <a:lnTo>
                  <a:pt x="669709" y="1025052"/>
                </a:lnTo>
                <a:lnTo>
                  <a:pt x="698826" y="921386"/>
                </a:lnTo>
                <a:lnTo>
                  <a:pt x="727944" y="813794"/>
                </a:lnTo>
                <a:lnTo>
                  <a:pt x="757062" y="704130"/>
                </a:lnTo>
                <a:lnTo>
                  <a:pt x="786180" y="594527"/>
                </a:lnTo>
                <a:lnTo>
                  <a:pt x="815297" y="487342"/>
                </a:lnTo>
                <a:lnTo>
                  <a:pt x="844415" y="385074"/>
                </a:lnTo>
                <a:lnTo>
                  <a:pt x="873533" y="290269"/>
                </a:lnTo>
                <a:lnTo>
                  <a:pt x="902651" y="205415"/>
                </a:lnTo>
                <a:lnTo>
                  <a:pt x="931768" y="132834"/>
                </a:lnTo>
                <a:lnTo>
                  <a:pt x="960886" y="74568"/>
                </a:lnTo>
                <a:lnTo>
                  <a:pt x="990004" y="32288"/>
                </a:lnTo>
                <a:lnTo>
                  <a:pt x="1019122" y="7202"/>
                </a:lnTo>
                <a:lnTo>
                  <a:pt x="1048240" y="0"/>
                </a:lnTo>
                <a:lnTo>
                  <a:pt x="1077357" y="10810"/>
                </a:lnTo>
                <a:lnTo>
                  <a:pt x="1106475" y="39195"/>
                </a:lnTo>
                <a:lnTo>
                  <a:pt x="1135593" y="84168"/>
                </a:lnTo>
                <a:lnTo>
                  <a:pt x="1164711" y="144245"/>
                </a:lnTo>
                <a:lnTo>
                  <a:pt x="1193828" y="217511"/>
                </a:lnTo>
                <a:lnTo>
                  <a:pt x="1222946" y="301715"/>
                </a:lnTo>
                <a:lnTo>
                  <a:pt x="1252064" y="394372"/>
                </a:lnTo>
                <a:lnTo>
                  <a:pt x="1281182" y="492871"/>
                </a:lnTo>
                <a:lnTo>
                  <a:pt x="1310299" y="594588"/>
                </a:lnTo>
                <a:lnTo>
                  <a:pt x="1339417" y="696987"/>
                </a:lnTo>
                <a:lnTo>
                  <a:pt x="1368535" y="797707"/>
                </a:lnTo>
                <a:lnTo>
                  <a:pt x="1397653" y="894641"/>
                </a:lnTo>
                <a:lnTo>
                  <a:pt x="1426771" y="985985"/>
                </a:lnTo>
                <a:lnTo>
                  <a:pt x="1455888" y="1070275"/>
                </a:lnTo>
                <a:lnTo>
                  <a:pt x="1485006" y="1146400"/>
                </a:lnTo>
                <a:lnTo>
                  <a:pt x="1514124" y="1213600"/>
                </a:lnTo>
                <a:lnTo>
                  <a:pt x="1543242" y="1271442"/>
                </a:lnTo>
                <a:lnTo>
                  <a:pt x="1572359" y="1319794"/>
                </a:lnTo>
                <a:lnTo>
                  <a:pt x="1601477" y="1358783"/>
                </a:lnTo>
                <a:lnTo>
                  <a:pt x="1630595" y="1388748"/>
                </a:lnTo>
                <a:lnTo>
                  <a:pt x="1659713" y="1410198"/>
                </a:lnTo>
                <a:lnTo>
                  <a:pt x="1688830" y="1423764"/>
                </a:lnTo>
                <a:lnTo>
                  <a:pt x="1717948" y="1430160"/>
                </a:lnTo>
                <a:lnTo>
                  <a:pt x="1747066" y="1430147"/>
                </a:lnTo>
                <a:lnTo>
                  <a:pt x="1776184" y="1424501"/>
                </a:lnTo>
                <a:lnTo>
                  <a:pt x="1805301" y="1413993"/>
                </a:lnTo>
                <a:lnTo>
                  <a:pt x="1834419" y="1399369"/>
                </a:lnTo>
                <a:lnTo>
                  <a:pt x="1863537" y="1381338"/>
                </a:lnTo>
                <a:lnTo>
                  <a:pt x="1892655" y="1360571"/>
                </a:lnTo>
                <a:lnTo>
                  <a:pt x="1921773" y="1337690"/>
                </a:lnTo>
                <a:lnTo>
                  <a:pt x="1950890" y="1313273"/>
                </a:lnTo>
                <a:lnTo>
                  <a:pt x="1980008" y="1287854"/>
                </a:lnTo>
                <a:lnTo>
                  <a:pt x="2009126" y="1261925"/>
                </a:lnTo>
                <a:lnTo>
                  <a:pt x="2038244" y="1235943"/>
                </a:lnTo>
                <a:lnTo>
                  <a:pt x="2067361" y="1210327"/>
                </a:lnTo>
                <a:lnTo>
                  <a:pt x="2096479" y="1185467"/>
                </a:lnTo>
                <a:lnTo>
                  <a:pt x="2125597" y="1161721"/>
                </a:lnTo>
                <a:lnTo>
                  <a:pt x="2154715" y="1139418"/>
                </a:lnTo>
                <a:lnTo>
                  <a:pt x="2183832" y="1118861"/>
                </a:lnTo>
                <a:lnTo>
                  <a:pt x="2212950" y="1100319"/>
                </a:lnTo>
                <a:lnTo>
                  <a:pt x="2242068" y="1084036"/>
                </a:lnTo>
                <a:lnTo>
                  <a:pt x="2271186" y="1070222"/>
                </a:lnTo>
                <a:lnTo>
                  <a:pt x="2300303" y="1059054"/>
                </a:lnTo>
                <a:lnTo>
                  <a:pt x="2329421" y="1050677"/>
                </a:lnTo>
                <a:lnTo>
                  <a:pt x="2358539" y="1045198"/>
                </a:lnTo>
                <a:lnTo>
                  <a:pt x="2387657" y="1042688"/>
                </a:lnTo>
                <a:lnTo>
                  <a:pt x="2416775" y="1043181"/>
                </a:lnTo>
                <a:lnTo>
                  <a:pt x="2445892" y="1046675"/>
                </a:lnTo>
                <a:lnTo>
                  <a:pt x="2475010" y="1053127"/>
                </a:lnTo>
                <a:lnTo>
                  <a:pt x="2504128" y="1062462"/>
                </a:lnTo>
                <a:lnTo>
                  <a:pt x="2533246" y="1074570"/>
                </a:lnTo>
                <a:lnTo>
                  <a:pt x="2562363" y="1089307"/>
                </a:lnTo>
                <a:lnTo>
                  <a:pt x="2591481" y="1106504"/>
                </a:lnTo>
                <a:lnTo>
                  <a:pt x="2620599" y="1125963"/>
                </a:lnTo>
                <a:lnTo>
                  <a:pt x="2649717" y="1147465"/>
                </a:lnTo>
                <a:lnTo>
                  <a:pt x="2678834" y="1170775"/>
                </a:lnTo>
                <a:lnTo>
                  <a:pt x="2707952" y="1195642"/>
                </a:lnTo>
                <a:lnTo>
                  <a:pt x="2737070" y="1221809"/>
                </a:lnTo>
                <a:lnTo>
                  <a:pt x="2766188" y="1249012"/>
                </a:lnTo>
                <a:lnTo>
                  <a:pt x="2795305" y="1276989"/>
                </a:lnTo>
                <a:lnTo>
                  <a:pt x="2824423" y="1305479"/>
                </a:lnTo>
                <a:lnTo>
                  <a:pt x="2853541" y="1334232"/>
                </a:lnTo>
                <a:lnTo>
                  <a:pt x="2882659" y="1363007"/>
                </a:lnTo>
                <a:lnTo>
                  <a:pt x="2911777" y="1391579"/>
                </a:lnTo>
                <a:lnTo>
                  <a:pt x="2940894" y="1419740"/>
                </a:lnTo>
                <a:lnTo>
                  <a:pt x="2970012" y="1447300"/>
                </a:lnTo>
                <a:lnTo>
                  <a:pt x="2999130" y="1474090"/>
                </a:lnTo>
                <a:lnTo>
                  <a:pt x="3028248" y="1499963"/>
                </a:lnTo>
                <a:lnTo>
                  <a:pt x="3057365" y="1524795"/>
                </a:lnTo>
                <a:lnTo>
                  <a:pt x="3086483" y="1548482"/>
                </a:lnTo>
                <a:lnTo>
                  <a:pt x="3115601" y="1570946"/>
                </a:lnTo>
                <a:lnTo>
                  <a:pt x="3144719" y="1592127"/>
                </a:lnTo>
                <a:lnTo>
                  <a:pt x="3173836" y="1611987"/>
                </a:lnTo>
                <a:lnTo>
                  <a:pt x="3202954" y="1630506"/>
                </a:lnTo>
                <a:lnTo>
                  <a:pt x="3232072" y="1647683"/>
                </a:lnTo>
                <a:lnTo>
                  <a:pt x="3261190" y="1663529"/>
                </a:lnTo>
                <a:lnTo>
                  <a:pt x="3290307" y="1678073"/>
                </a:lnTo>
                <a:lnTo>
                  <a:pt x="3319425" y="1691354"/>
                </a:lnTo>
                <a:lnTo>
                  <a:pt x="3348543" y="1703419"/>
                </a:lnTo>
                <a:lnTo>
                  <a:pt x="3377661" y="1714325"/>
                </a:lnTo>
                <a:lnTo>
                  <a:pt x="3406779" y="1724135"/>
                </a:lnTo>
                <a:lnTo>
                  <a:pt x="3435896" y="1732917"/>
                </a:lnTo>
                <a:lnTo>
                  <a:pt x="3465014" y="1740740"/>
                </a:lnTo>
                <a:lnTo>
                  <a:pt x="3494132" y="1747675"/>
                </a:lnTo>
                <a:lnTo>
                  <a:pt x="3523250" y="1753794"/>
                </a:lnTo>
                <a:lnTo>
                  <a:pt x="3552367" y="1759168"/>
                </a:lnTo>
                <a:lnTo>
                  <a:pt x="3581485" y="1763865"/>
                </a:lnTo>
                <a:lnTo>
                  <a:pt x="3610603" y="1767952"/>
                </a:lnTo>
                <a:lnTo>
                  <a:pt x="3639721" y="1771492"/>
                </a:lnTo>
                <a:lnTo>
                  <a:pt x="3668838" y="1774543"/>
                </a:lnTo>
                <a:lnTo>
                  <a:pt x="3697956" y="1777161"/>
                </a:lnTo>
                <a:lnTo>
                  <a:pt x="3727074" y="1779398"/>
                </a:lnTo>
                <a:lnTo>
                  <a:pt x="3756192" y="1781300"/>
                </a:lnTo>
                <a:lnTo>
                  <a:pt x="3785309" y="1782910"/>
                </a:lnTo>
                <a:lnTo>
                  <a:pt x="3814427" y="1784267"/>
                </a:lnTo>
                <a:lnTo>
                  <a:pt x="3843545" y="1785405"/>
                </a:lnTo>
                <a:lnTo>
                  <a:pt x="3872663" y="1786357"/>
                </a:lnTo>
                <a:lnTo>
                  <a:pt x="3901781" y="1787148"/>
                </a:lnTo>
                <a:lnTo>
                  <a:pt x="3930898" y="1787803"/>
                </a:lnTo>
                <a:lnTo>
                  <a:pt x="3960016" y="1788342"/>
                </a:lnTo>
                <a:lnTo>
                  <a:pt x="3989134" y="1788786"/>
                </a:lnTo>
                <a:lnTo>
                  <a:pt x="4018252" y="1789148"/>
                </a:lnTo>
                <a:lnTo>
                  <a:pt x="4047369" y="1789442"/>
                </a:lnTo>
                <a:lnTo>
                  <a:pt x="4076487" y="1789681"/>
                </a:lnTo>
                <a:lnTo>
                  <a:pt x="4105605" y="1789873"/>
                </a:lnTo>
                <a:lnTo>
                  <a:pt x="4134723" y="1790028"/>
                </a:lnTo>
                <a:lnTo>
                  <a:pt x="4163840" y="1790151"/>
                </a:lnTo>
                <a:lnTo>
                  <a:pt x="4192958" y="1790250"/>
                </a:lnTo>
                <a:lnTo>
                  <a:pt x="4222076" y="1790328"/>
                </a:lnTo>
                <a:lnTo>
                  <a:pt x="4251194" y="1790390"/>
                </a:lnTo>
                <a:lnTo>
                  <a:pt x="4280312" y="1790438"/>
                </a:lnTo>
                <a:lnTo>
                  <a:pt x="4309429" y="1790476"/>
                </a:lnTo>
                <a:lnTo>
                  <a:pt x="4338547" y="1790505"/>
                </a:lnTo>
                <a:lnTo>
                  <a:pt x="4367665" y="1790528"/>
                </a:lnTo>
                <a:lnTo>
                  <a:pt x="4396783" y="1790546"/>
                </a:lnTo>
                <a:lnTo>
                  <a:pt x="4425900" y="1790560"/>
                </a:lnTo>
                <a:lnTo>
                  <a:pt x="4455018" y="1790570"/>
                </a:lnTo>
                <a:lnTo>
                  <a:pt x="4484136" y="1790578"/>
                </a:lnTo>
                <a:lnTo>
                  <a:pt x="4513254" y="1790584"/>
                </a:lnTo>
                <a:lnTo>
                  <a:pt x="4542371" y="1790589"/>
                </a:lnTo>
                <a:lnTo>
                  <a:pt x="4571489" y="1790592"/>
                </a:lnTo>
                <a:lnTo>
                  <a:pt x="4600607" y="1790595"/>
                </a:lnTo>
                <a:lnTo>
                  <a:pt x="4629725" y="1790597"/>
                </a:lnTo>
                <a:lnTo>
                  <a:pt x="4658842" y="1790598"/>
                </a:lnTo>
                <a:lnTo>
                  <a:pt x="4687960" y="1790599"/>
                </a:lnTo>
                <a:lnTo>
                  <a:pt x="4717078" y="1790600"/>
                </a:lnTo>
                <a:lnTo>
                  <a:pt x="4746196" y="1790600"/>
                </a:lnTo>
                <a:lnTo>
                  <a:pt x="4775314" y="1790601"/>
                </a:lnTo>
                <a:lnTo>
                  <a:pt x="4804431" y="1790601"/>
                </a:lnTo>
                <a:lnTo>
                  <a:pt x="4833549" y="1790601"/>
                </a:lnTo>
                <a:lnTo>
                  <a:pt x="4862667" y="1790602"/>
                </a:lnTo>
                <a:lnTo>
                  <a:pt x="4891785" y="1790602"/>
                </a:lnTo>
                <a:lnTo>
                  <a:pt x="4920902" y="1790602"/>
                </a:lnTo>
                <a:lnTo>
                  <a:pt x="4950020" y="1790602"/>
                </a:lnTo>
                <a:lnTo>
                  <a:pt x="4979138" y="1790602"/>
                </a:lnTo>
                <a:lnTo>
                  <a:pt x="5008256" y="1790602"/>
                </a:lnTo>
                <a:lnTo>
                  <a:pt x="5037373" y="1790602"/>
                </a:lnTo>
                <a:lnTo>
                  <a:pt x="5066491" y="1790602"/>
                </a:lnTo>
                <a:lnTo>
                  <a:pt x="5095609" y="1790602"/>
                </a:lnTo>
                <a:lnTo>
                  <a:pt x="5124727" y="1790602"/>
                </a:lnTo>
                <a:lnTo>
                  <a:pt x="5153844" y="1790602"/>
                </a:lnTo>
                <a:lnTo>
                  <a:pt x="5182962" y="1790602"/>
                </a:lnTo>
                <a:lnTo>
                  <a:pt x="5212080" y="1790602"/>
                </a:lnTo>
              </a:path>
            </a:pathLst>
          </a:custGeom>
          <a:noFill/>
          <a:ln w="3175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w_high"/>
          <p:cNvSpPr/>
          <p:nvPr/>
        </p:nvSpPr>
        <p:spPr>
          <a:xfrm>
            <a:off x="731520" y="2236453"/>
            <a:ext cx="5212080" cy="1786907"/>
          </a:xfrm>
          <a:custGeom>
            <a:avLst/>
            <a:gdLst/>
            <a:ahLst/>
            <a:cxnLst/>
            <a:rect l="l" t="t" r="r" b="b"/>
            <a:pathLst>
              <a:path w="5212080" h="1786907">
                <a:moveTo>
                  <a:pt x="0" y="1786604"/>
                </a:moveTo>
                <a:lnTo>
                  <a:pt x="29118" y="1786419"/>
                </a:lnTo>
                <a:lnTo>
                  <a:pt x="58236" y="1786130"/>
                </a:lnTo>
                <a:lnTo>
                  <a:pt x="87353" y="1785687"/>
                </a:lnTo>
                <a:lnTo>
                  <a:pt x="116471" y="1785018"/>
                </a:lnTo>
                <a:lnTo>
                  <a:pt x="145589" y="1784021"/>
                </a:lnTo>
                <a:lnTo>
                  <a:pt x="174707" y="1782556"/>
                </a:lnTo>
                <a:lnTo>
                  <a:pt x="203824" y="1780436"/>
                </a:lnTo>
                <a:lnTo>
                  <a:pt x="232942" y="1777413"/>
                </a:lnTo>
                <a:lnTo>
                  <a:pt x="262060" y="1773164"/>
                </a:lnTo>
                <a:lnTo>
                  <a:pt x="291178" y="1767283"/>
                </a:lnTo>
                <a:lnTo>
                  <a:pt x="320295" y="1759261"/>
                </a:lnTo>
                <a:lnTo>
                  <a:pt x="349413" y="1748484"/>
                </a:lnTo>
                <a:lnTo>
                  <a:pt x="378531" y="1734224"/>
                </a:lnTo>
                <a:lnTo>
                  <a:pt x="407649" y="1715644"/>
                </a:lnTo>
                <a:lnTo>
                  <a:pt x="436766" y="1691809"/>
                </a:lnTo>
                <a:lnTo>
                  <a:pt x="465884" y="1661708"/>
                </a:lnTo>
                <a:lnTo>
                  <a:pt x="495002" y="1624296"/>
                </a:lnTo>
                <a:lnTo>
                  <a:pt x="524120" y="1578547"/>
                </a:lnTo>
                <a:lnTo>
                  <a:pt x="553238" y="1523517"/>
                </a:lnTo>
                <a:lnTo>
                  <a:pt x="582355" y="1458432"/>
                </a:lnTo>
                <a:lnTo>
                  <a:pt x="611473" y="1382774"/>
                </a:lnTo>
                <a:lnTo>
                  <a:pt x="640591" y="1296377"/>
                </a:lnTo>
                <a:lnTo>
                  <a:pt x="669709" y="1199516"/>
                </a:lnTo>
                <a:lnTo>
                  <a:pt x="698826" y="1092987"/>
                </a:lnTo>
                <a:lnTo>
                  <a:pt x="727944" y="978158"/>
                </a:lnTo>
                <a:lnTo>
                  <a:pt x="757062" y="856998"/>
                </a:lnTo>
                <a:lnTo>
                  <a:pt x="786180" y="732056"/>
                </a:lnTo>
                <a:lnTo>
                  <a:pt x="815297" y="606402"/>
                </a:lnTo>
                <a:lnTo>
                  <a:pt x="844415" y="483523"/>
                </a:lnTo>
                <a:lnTo>
                  <a:pt x="873533" y="367169"/>
                </a:lnTo>
                <a:lnTo>
                  <a:pt x="902651" y="261172"/>
                </a:lnTo>
                <a:lnTo>
                  <a:pt x="931768" y="169238"/>
                </a:lnTo>
                <a:lnTo>
                  <a:pt x="960886" y="94725"/>
                </a:lnTo>
                <a:lnTo>
                  <a:pt x="990004" y="40443"/>
                </a:lnTo>
                <a:lnTo>
                  <a:pt x="1019122" y="8466"/>
                </a:lnTo>
                <a:lnTo>
                  <a:pt x="1048240" y="0"/>
                </a:lnTo>
                <a:lnTo>
                  <a:pt x="1077357" y="15297"/>
                </a:lnTo>
                <a:lnTo>
                  <a:pt x="1106475" y="53636"/>
                </a:lnTo>
                <a:lnTo>
                  <a:pt x="1135593" y="113367"/>
                </a:lnTo>
                <a:lnTo>
                  <a:pt x="1164711" y="192021"/>
                </a:lnTo>
                <a:lnTo>
                  <a:pt x="1193828" y="286461"/>
                </a:lnTo>
                <a:lnTo>
                  <a:pt x="1222946" y="393080"/>
                </a:lnTo>
                <a:lnTo>
                  <a:pt x="1252064" y="508014"/>
                </a:lnTo>
                <a:lnTo>
                  <a:pt x="1281182" y="627355"/>
                </a:lnTo>
                <a:lnTo>
                  <a:pt x="1310299" y="747358"/>
                </a:lnTo>
                <a:lnTo>
                  <a:pt x="1339417" y="864606"/>
                </a:lnTo>
                <a:lnTo>
                  <a:pt x="1368535" y="976154"/>
                </a:lnTo>
                <a:lnTo>
                  <a:pt x="1397653" y="1079609"/>
                </a:lnTo>
                <a:lnTo>
                  <a:pt x="1426771" y="1173182"/>
                </a:lnTo>
                <a:lnTo>
                  <a:pt x="1455888" y="1255685"/>
                </a:lnTo>
                <a:lnTo>
                  <a:pt x="1485006" y="1326499"/>
                </a:lnTo>
                <a:lnTo>
                  <a:pt x="1514124" y="1385508"/>
                </a:lnTo>
                <a:lnTo>
                  <a:pt x="1543242" y="1433020"/>
                </a:lnTo>
                <a:lnTo>
                  <a:pt x="1572359" y="1469678"/>
                </a:lnTo>
                <a:lnTo>
                  <a:pt x="1601477" y="1496364"/>
                </a:lnTo>
                <a:lnTo>
                  <a:pt x="1630595" y="1514117"/>
                </a:lnTo>
                <a:lnTo>
                  <a:pt x="1659713" y="1524056"/>
                </a:lnTo>
                <a:lnTo>
                  <a:pt x="1688830" y="1527321"/>
                </a:lnTo>
                <a:lnTo>
                  <a:pt x="1717948" y="1525023"/>
                </a:lnTo>
                <a:lnTo>
                  <a:pt x="1747066" y="1518215"/>
                </a:lnTo>
                <a:lnTo>
                  <a:pt x="1776184" y="1507868"/>
                </a:lnTo>
                <a:lnTo>
                  <a:pt x="1805301" y="1494864"/>
                </a:lnTo>
                <a:lnTo>
                  <a:pt x="1834419" y="1479993"/>
                </a:lnTo>
                <a:lnTo>
                  <a:pt x="1863537" y="1463953"/>
                </a:lnTo>
                <a:lnTo>
                  <a:pt x="1892655" y="1447362"/>
                </a:lnTo>
                <a:lnTo>
                  <a:pt x="1921773" y="1430763"/>
                </a:lnTo>
                <a:lnTo>
                  <a:pt x="1950890" y="1414632"/>
                </a:lnTo>
                <a:lnTo>
                  <a:pt x="1980008" y="1399384"/>
                </a:lnTo>
                <a:lnTo>
                  <a:pt x="2009126" y="1385379"/>
                </a:lnTo>
                <a:lnTo>
                  <a:pt x="2038244" y="1372930"/>
                </a:lnTo>
                <a:lnTo>
                  <a:pt x="2067361" y="1362299"/>
                </a:lnTo>
                <a:lnTo>
                  <a:pt x="2096479" y="1353703"/>
                </a:lnTo>
                <a:lnTo>
                  <a:pt x="2125597" y="1347315"/>
                </a:lnTo>
                <a:lnTo>
                  <a:pt x="2154715" y="1343260"/>
                </a:lnTo>
                <a:lnTo>
                  <a:pt x="2183832" y="1341620"/>
                </a:lnTo>
                <a:lnTo>
                  <a:pt x="2212950" y="1342432"/>
                </a:lnTo>
                <a:lnTo>
                  <a:pt x="2242068" y="1345689"/>
                </a:lnTo>
                <a:lnTo>
                  <a:pt x="2271186" y="1351340"/>
                </a:lnTo>
                <a:lnTo>
                  <a:pt x="2300303" y="1359294"/>
                </a:lnTo>
                <a:lnTo>
                  <a:pt x="2329421" y="1369424"/>
                </a:lnTo>
                <a:lnTo>
                  <a:pt x="2358539" y="1381569"/>
                </a:lnTo>
                <a:lnTo>
                  <a:pt x="2387657" y="1395537"/>
                </a:lnTo>
                <a:lnTo>
                  <a:pt x="2416775" y="1411114"/>
                </a:lnTo>
                <a:lnTo>
                  <a:pt x="2445892" y="1428068"/>
                </a:lnTo>
                <a:lnTo>
                  <a:pt x="2475010" y="1446152"/>
                </a:lnTo>
                <a:lnTo>
                  <a:pt x="2504128" y="1465116"/>
                </a:lnTo>
                <a:lnTo>
                  <a:pt x="2533246" y="1484705"/>
                </a:lnTo>
                <a:lnTo>
                  <a:pt x="2562363" y="1504673"/>
                </a:lnTo>
                <a:lnTo>
                  <a:pt x="2591481" y="1524779"/>
                </a:lnTo>
                <a:lnTo>
                  <a:pt x="2620599" y="1544800"/>
                </a:lnTo>
                <a:lnTo>
                  <a:pt x="2649717" y="1564530"/>
                </a:lnTo>
                <a:lnTo>
                  <a:pt x="2678834" y="1583781"/>
                </a:lnTo>
                <a:lnTo>
                  <a:pt x="2707952" y="1602393"/>
                </a:lnTo>
                <a:lnTo>
                  <a:pt x="2737070" y="1620226"/>
                </a:lnTo>
                <a:lnTo>
                  <a:pt x="2766188" y="1637170"/>
                </a:lnTo>
                <a:lnTo>
                  <a:pt x="2795305" y="1653135"/>
                </a:lnTo>
                <a:lnTo>
                  <a:pt x="2824423" y="1668059"/>
                </a:lnTo>
                <a:lnTo>
                  <a:pt x="2853541" y="1681902"/>
                </a:lnTo>
                <a:lnTo>
                  <a:pt x="2882659" y="1694647"/>
                </a:lnTo>
                <a:lnTo>
                  <a:pt x="2911777" y="1706293"/>
                </a:lnTo>
                <a:lnTo>
                  <a:pt x="2940894" y="1716858"/>
                </a:lnTo>
                <a:lnTo>
                  <a:pt x="2970012" y="1726376"/>
                </a:lnTo>
                <a:lnTo>
                  <a:pt x="2999130" y="1734890"/>
                </a:lnTo>
                <a:lnTo>
                  <a:pt x="3028248" y="1742454"/>
                </a:lnTo>
                <a:lnTo>
                  <a:pt x="3057365" y="1749128"/>
                </a:lnTo>
                <a:lnTo>
                  <a:pt x="3086483" y="1754978"/>
                </a:lnTo>
                <a:lnTo>
                  <a:pt x="3115601" y="1760071"/>
                </a:lnTo>
                <a:lnTo>
                  <a:pt x="3144719" y="1764476"/>
                </a:lnTo>
                <a:lnTo>
                  <a:pt x="3173836" y="1768262"/>
                </a:lnTo>
                <a:lnTo>
                  <a:pt x="3202954" y="1771495"/>
                </a:lnTo>
                <a:lnTo>
                  <a:pt x="3232072" y="1774238"/>
                </a:lnTo>
                <a:lnTo>
                  <a:pt x="3261190" y="1776550"/>
                </a:lnTo>
                <a:lnTo>
                  <a:pt x="3290307" y="1778487"/>
                </a:lnTo>
                <a:lnTo>
                  <a:pt x="3319425" y="1780100"/>
                </a:lnTo>
                <a:lnTo>
                  <a:pt x="3348543" y="1781434"/>
                </a:lnTo>
                <a:lnTo>
                  <a:pt x="3377661" y="1782531"/>
                </a:lnTo>
                <a:lnTo>
                  <a:pt x="3406779" y="1783428"/>
                </a:lnTo>
                <a:lnTo>
                  <a:pt x="3435896" y="1784156"/>
                </a:lnTo>
                <a:lnTo>
                  <a:pt x="3465014" y="1784744"/>
                </a:lnTo>
                <a:lnTo>
                  <a:pt x="3494132" y="1785215"/>
                </a:lnTo>
                <a:lnTo>
                  <a:pt x="3523250" y="1785591"/>
                </a:lnTo>
                <a:lnTo>
                  <a:pt x="3552367" y="1785890"/>
                </a:lnTo>
                <a:lnTo>
                  <a:pt x="3581485" y="1786125"/>
                </a:lnTo>
                <a:lnTo>
                  <a:pt x="3610603" y="1786309"/>
                </a:lnTo>
                <a:lnTo>
                  <a:pt x="3639721" y="1786452"/>
                </a:lnTo>
                <a:lnTo>
                  <a:pt x="3668838" y="1786563"/>
                </a:lnTo>
                <a:lnTo>
                  <a:pt x="3697956" y="1786648"/>
                </a:lnTo>
                <a:lnTo>
                  <a:pt x="3727074" y="1786713"/>
                </a:lnTo>
                <a:lnTo>
                  <a:pt x="3756192" y="1786763"/>
                </a:lnTo>
                <a:lnTo>
                  <a:pt x="3785309" y="1786800"/>
                </a:lnTo>
                <a:lnTo>
                  <a:pt x="3814427" y="1786829"/>
                </a:lnTo>
                <a:lnTo>
                  <a:pt x="3843545" y="1786850"/>
                </a:lnTo>
                <a:lnTo>
                  <a:pt x="3872663" y="1786865"/>
                </a:lnTo>
                <a:lnTo>
                  <a:pt x="3901781" y="1786877"/>
                </a:lnTo>
                <a:lnTo>
                  <a:pt x="3930898" y="1786885"/>
                </a:lnTo>
                <a:lnTo>
                  <a:pt x="3960016" y="1786891"/>
                </a:lnTo>
                <a:lnTo>
                  <a:pt x="3989134" y="1786896"/>
                </a:lnTo>
                <a:lnTo>
                  <a:pt x="4018252" y="1786899"/>
                </a:lnTo>
                <a:lnTo>
                  <a:pt x="4047369" y="1786901"/>
                </a:lnTo>
                <a:lnTo>
                  <a:pt x="4076487" y="1786903"/>
                </a:lnTo>
                <a:lnTo>
                  <a:pt x="4105605" y="1786904"/>
                </a:lnTo>
                <a:lnTo>
                  <a:pt x="4134723" y="1786905"/>
                </a:lnTo>
                <a:lnTo>
                  <a:pt x="4163840" y="1786906"/>
                </a:lnTo>
                <a:lnTo>
                  <a:pt x="4192958" y="1786906"/>
                </a:lnTo>
                <a:lnTo>
                  <a:pt x="4222076" y="1786906"/>
                </a:lnTo>
                <a:lnTo>
                  <a:pt x="4251194" y="1786907"/>
                </a:lnTo>
                <a:lnTo>
                  <a:pt x="4280312" y="1786907"/>
                </a:lnTo>
                <a:lnTo>
                  <a:pt x="4309429" y="1786907"/>
                </a:lnTo>
                <a:lnTo>
                  <a:pt x="4338547" y="1786907"/>
                </a:lnTo>
                <a:lnTo>
                  <a:pt x="4367665" y="1786907"/>
                </a:lnTo>
                <a:lnTo>
                  <a:pt x="4396783" y="1786907"/>
                </a:lnTo>
                <a:lnTo>
                  <a:pt x="4425900" y="1786907"/>
                </a:lnTo>
                <a:lnTo>
                  <a:pt x="4455018" y="1786907"/>
                </a:lnTo>
                <a:lnTo>
                  <a:pt x="4484136" y="1786907"/>
                </a:lnTo>
                <a:lnTo>
                  <a:pt x="4513254" y="1786907"/>
                </a:lnTo>
                <a:lnTo>
                  <a:pt x="4542371" y="1786907"/>
                </a:lnTo>
                <a:lnTo>
                  <a:pt x="4571489" y="1786907"/>
                </a:lnTo>
                <a:lnTo>
                  <a:pt x="4600607" y="1786907"/>
                </a:lnTo>
                <a:lnTo>
                  <a:pt x="4629725" y="1786907"/>
                </a:lnTo>
                <a:lnTo>
                  <a:pt x="4658842" y="1786907"/>
                </a:lnTo>
                <a:lnTo>
                  <a:pt x="4687960" y="1786907"/>
                </a:lnTo>
                <a:lnTo>
                  <a:pt x="4717078" y="1786907"/>
                </a:lnTo>
                <a:lnTo>
                  <a:pt x="4746196" y="1786907"/>
                </a:lnTo>
                <a:lnTo>
                  <a:pt x="4775314" y="1786907"/>
                </a:lnTo>
                <a:lnTo>
                  <a:pt x="4804431" y="1786907"/>
                </a:lnTo>
                <a:lnTo>
                  <a:pt x="4833549" y="1786907"/>
                </a:lnTo>
                <a:lnTo>
                  <a:pt x="4862667" y="1786907"/>
                </a:lnTo>
                <a:lnTo>
                  <a:pt x="4891785" y="1786907"/>
                </a:lnTo>
                <a:lnTo>
                  <a:pt x="4920902" y="1786907"/>
                </a:lnTo>
                <a:lnTo>
                  <a:pt x="4950020" y="1786907"/>
                </a:lnTo>
                <a:lnTo>
                  <a:pt x="4979138" y="1786907"/>
                </a:lnTo>
                <a:lnTo>
                  <a:pt x="5008256" y="1786907"/>
                </a:lnTo>
                <a:lnTo>
                  <a:pt x="5037373" y="1786907"/>
                </a:lnTo>
                <a:lnTo>
                  <a:pt x="5066491" y="1786907"/>
                </a:lnTo>
                <a:lnTo>
                  <a:pt x="5095609" y="1786907"/>
                </a:lnTo>
                <a:lnTo>
                  <a:pt x="5124727" y="1786907"/>
                </a:lnTo>
                <a:lnTo>
                  <a:pt x="5153844" y="1786907"/>
                </a:lnTo>
                <a:lnTo>
                  <a:pt x="5182962" y="1786907"/>
                </a:lnTo>
                <a:lnTo>
                  <a:pt x="5212080" y="1786907"/>
                </a:lnTo>
              </a:path>
            </a:pathLst>
          </a:custGeom>
          <a:noFill/>
          <a:ln w="317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d_low"/>
          <p:cNvSpPr/>
          <p:nvPr/>
        </p:nvSpPr>
        <p:spPr>
          <a:xfrm>
            <a:off x="3063505" y="3211272"/>
            <a:ext cx="128016" cy="12801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d_high"/>
          <p:cNvSpPr/>
          <p:nvPr/>
        </p:nvSpPr>
        <p:spPr>
          <a:xfrm>
            <a:off x="2855543" y="3514031"/>
            <a:ext cx="128016" cy="128016"/>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legend"/>
          <p:cNvSpPr txBox="1"/>
          <p:nvPr/>
        </p:nvSpPr>
        <p:spPr>
          <a:xfrm>
            <a:off x="3626617" y="4404673"/>
            <a:ext cx="3291840" cy="402336"/>
          </a:xfrm>
          <a:prstGeom prst="rect">
            <a:avLst/>
          </a:prstGeom>
          <a:noFill/>
        </p:spPr>
        <p:txBody>
          <a:bodyPr wrap="square" lIns="0" tIns="0" rIns="0" bIns="0" anchor="ctr">
            <a:spAutoFit/>
          </a:bodyPr>
          <a:lstStyle/>
          <a:p>
            <a:pPr algn="l"/>
            <a:r>
              <a:rPr sz="2200" b="1">
                <a:solidFill>
                  <a:srgbClr val="808080"/>
                </a:solidFill>
                <a:latin typeface="Meiryo"/>
                <a:ea typeface="Meiryo"/>
                <a:cs typeface="Meiryo"/>
              </a:rPr>
              <a:t>低心拍</a:t>
            </a:r>
            <a:r>
              <a:rPr sz="2200" b="1">
                <a:solidFill>
                  <a:srgbClr val="262626"/>
                </a:solidFill>
                <a:latin typeface="Meiryo"/>
                <a:ea typeface="Meiryo"/>
                <a:cs typeface="Meiryo"/>
              </a:rPr>
              <a:t>　／　</a:t>
            </a:r>
            <a:r>
              <a:rPr sz="2200" b="1">
                <a:solidFill>
                  <a:srgbClr val="0072B2"/>
                </a:solidFill>
                <a:latin typeface="Meiryo"/>
                <a:ea typeface="Meiryo"/>
                <a:cs typeface="Meiryo"/>
              </a:rPr>
              <a:t>高心拍</a:t>
            </a:r>
          </a:p>
        </p:txBody>
      </p:sp>
      <p:sp>
        <p:nvSpPr>
          <p:cNvPr id="24" name="rilab"/>
          <p:cNvSpPr txBox="1"/>
          <p:nvPr/>
        </p:nvSpPr>
        <p:spPr>
          <a:xfrm>
            <a:off x="3877056" y="2194560"/>
            <a:ext cx="2194560" cy="914400"/>
          </a:xfrm>
          <a:prstGeom prst="rect">
            <a:avLst/>
          </a:prstGeom>
          <a:noFill/>
        </p:spPr>
        <p:txBody>
          <a:bodyPr wrap="square" lIns="0" tIns="0" rIns="0" bIns="0" anchor="ctr">
            <a:spAutoFit/>
          </a:bodyPr>
          <a:lstStyle/>
          <a:p>
            <a:pPr algn="l"/>
            <a:r>
              <a:rPr sz="2200" b="1">
                <a:solidFill>
                  <a:srgbClr val="262626"/>
                </a:solidFill>
                <a:latin typeface="Meiryo"/>
                <a:ea typeface="Meiryo"/>
                <a:cs typeface="Meiryo"/>
              </a:rPr>
              <a:t>P2/P1 ＝ RI</a:t>
            </a:r>
          </a:p>
          <a:p>
            <a:pPr algn="l"/>
            <a:r>
              <a:rPr sz="2200" b="1">
                <a:solidFill>
                  <a:srgbClr val="262626"/>
                </a:solidFill>
                <a:latin typeface="Meiryo"/>
                <a:ea typeface="Meiryo"/>
                <a:cs typeface="Meiryo"/>
              </a:rPr>
              <a:t>HR↑ → RI↓</a:t>
            </a:r>
          </a:p>
        </p:txBody>
      </p:sp>
      <p:sp>
        <p:nvSpPr>
          <p:cNvPr id="25" name="pt0"/>
          <p:cNvSpPr/>
          <p:nvPr/>
        </p:nvSpPr>
        <p:spPr>
          <a:xfrm>
            <a:off x="6419088" y="2157984"/>
            <a:ext cx="5120640" cy="82296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262626"/>
                </a:solidFill>
                <a:latin typeface="Meiryo"/>
                <a:ea typeface="Meiryo"/>
                <a:cs typeface="Meiryo"/>
              </a:rPr>
              <a:t>RI は HR の影響を受ける</a:t>
            </a:r>
          </a:p>
        </p:txBody>
      </p:sp>
      <p:sp>
        <p:nvSpPr>
          <p:cNvPr id="27" name="pt2"/>
          <p:cNvSpPr/>
          <p:nvPr/>
        </p:nvSpPr>
        <p:spPr>
          <a:xfrm>
            <a:off x="6419088" y="3474720"/>
            <a:ext cx="5120640" cy="82296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262626"/>
                </a:solidFill>
                <a:latin typeface="Meiryo"/>
                <a:ea typeface="Meiryo"/>
                <a:cs typeface="Meiryo"/>
              </a:rPr>
              <a:t>PPG の RI に確立した補正式なし</a:t>
            </a:r>
          </a:p>
        </p:txBody>
      </p:sp>
      <p:sp>
        <p:nvSpPr>
          <p:cNvPr id="28" name="callout"/>
          <p:cNvSpPr/>
          <p:nvPr/>
        </p:nvSpPr>
        <p:spPr>
          <a:xfrm>
            <a:off x="548640" y="5120640"/>
            <a:ext cx="10991088" cy="1060704"/>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600" b="1">
                <a:solidFill>
                  <a:srgbClr val="C00000"/>
                </a:solidFill>
                <a:latin typeface="Meiryo"/>
                <a:ea typeface="Meiryo"/>
                <a:cs typeface="Meiryo"/>
              </a:rPr>
              <a:t>RI 単独で トーヌスを語らない</a:t>
            </a:r>
          </a:p>
          <a:p>
            <a:pPr algn="ctr"/>
            <a:r>
              <a:rPr sz="2200" b="1">
                <a:solidFill>
                  <a:srgbClr val="262626"/>
                </a:solidFill>
                <a:latin typeface="Meiryo"/>
                <a:ea typeface="Meiryo"/>
                <a:cs typeface="Meiryo"/>
              </a:rPr>
              <a:t>経時比較は HR をそろえる　／　RI は HR と併記して解釈</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15. Wilkinson 2000　／　16. Hashimoto 2002　／　17. Charlton 2019　／　18. Md Lazim 2020</a:t>
            </a:r>
          </a:p>
        </p:txBody>
      </p:sp>
    </p:spTree>
    <p:extLst>
      <p:ext uri="{BB962C8B-B14F-4D97-AF65-F5344CB8AC3E}">
        <p14:creationId xmlns:p14="http://schemas.microsoft.com/office/powerpoint/2010/main" val="1780773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85AB5-62E7-2957-C4A4-3C2B2E264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48B12D-4579-D621-91F6-FC3E2300A14E}"/>
              </a:ext>
            </a:extLst>
          </p:cNvPr>
          <p:cNvSpPr>
            <a:spLocks noGrp="1"/>
          </p:cNvSpPr>
          <p:nvPr>
            <p:ph type="title"/>
          </p:nvPr>
        </p:nvSpPr>
        <p:spPr/>
        <p:txBody>
          <a:bodyPr/>
          <a:lstStyle/>
          <a:p>
            <a:pPr algn="l"/>
            <a:r>
              <a:rPr sz="4600" dirty="0">
                <a:latin typeface="Meiryo"/>
                <a:ea typeface="Meiryo"/>
                <a:cs typeface="Meiryo"/>
              </a:rPr>
              <a:t>3.3  加速度脈波 SDPPG</a:t>
            </a:r>
          </a:p>
        </p:txBody>
      </p:sp>
      <p:sp>
        <p:nvSpPr>
          <p:cNvPr id="13" name="Off-page Connector 4">
            <a:extLst>
              <a:ext uri="{FF2B5EF4-FFF2-40B4-BE49-F238E27FC236}">
                <a16:creationId xmlns:a16="http://schemas.microsoft.com/office/drawing/2014/main" id="{4AE854FB-7763-74A3-33B4-EB15866EF5C0}"/>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35A21CFF-0263-8C66-F570-3EF27321C774}"/>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C017F691-B5DE-A682-AC9A-C061DAAF234F}"/>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168E6F26-1772-B5A4-645D-085E8A17C020}"/>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16C3531-BDC7-581D-EA06-A8B8571AFD0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8" name="fig_sdppg" descr="image.png">
            <a:extLst>
              <a:ext uri="{FF2B5EF4-FFF2-40B4-BE49-F238E27FC236}">
                <a16:creationId xmlns:a16="http://schemas.microsoft.com/office/drawing/2014/main" id="{8C4CFCCE-27B5-D2AF-0026-0D40D6B89C78}"/>
              </a:ext>
            </a:extLst>
          </p:cNvPr>
          <p:cNvPicPr>
            <a:picLocks noChangeAspect="1"/>
          </p:cNvPicPr>
          <p:nvPr/>
        </p:nvPicPr>
        <p:blipFill>
          <a:blip r:embed="rId3"/>
          <a:stretch>
            <a:fillRect/>
          </a:stretch>
        </p:blipFill>
        <p:spPr>
          <a:xfrm>
            <a:off x="1625105" y="1835999"/>
            <a:ext cx="6336000" cy="3960000"/>
          </a:xfrm>
          <a:prstGeom prst="rect">
            <a:avLst/>
          </a:prstGeom>
        </p:spPr>
      </p:pic>
      <p:sp>
        <p:nvSpPr>
          <p:cNvPr id="19" name="TextBox 18">
            <a:extLst>
              <a:ext uri="{FF2B5EF4-FFF2-40B4-BE49-F238E27FC236}">
                <a16:creationId xmlns:a16="http://schemas.microsoft.com/office/drawing/2014/main" id="{4BE9FE95-37E9-0E76-1D4A-BC6F614E59D7}"/>
              </a:ext>
            </a:extLst>
          </p:cNvPr>
          <p:cNvSpPr txBox="1"/>
          <p:nvPr/>
        </p:nvSpPr>
        <p:spPr>
          <a:xfrm>
            <a:off x="500549" y="1944000"/>
            <a:ext cx="3744000" cy="378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原波形 PPG</a:t>
            </a:r>
          </a:p>
        </p:txBody>
      </p:sp>
      <p:sp>
        <p:nvSpPr>
          <p:cNvPr id="21" name="TextBox 20">
            <a:extLst>
              <a:ext uri="{FF2B5EF4-FFF2-40B4-BE49-F238E27FC236}">
                <a16:creationId xmlns:a16="http://schemas.microsoft.com/office/drawing/2014/main" id="{F19B4D6B-BE3F-4AC3-35BB-35AA6E377D40}"/>
              </a:ext>
            </a:extLst>
          </p:cNvPr>
          <p:cNvSpPr txBox="1"/>
          <p:nvPr/>
        </p:nvSpPr>
        <p:spPr>
          <a:xfrm>
            <a:off x="500549" y="4086000"/>
            <a:ext cx="2240998"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A8AA"/>
                </a:solidFill>
                <a:latin typeface="Meiryo"/>
                <a:ea typeface="Meiryo"/>
                <a:cs typeface="Meiryo"/>
              </a:rPr>
              <a:t>二次微分</a:t>
            </a:r>
            <a:r>
              <a:rPr sz="2200" b="1" dirty="0">
                <a:solidFill>
                  <a:srgbClr val="00A8AA"/>
                </a:solidFill>
                <a:latin typeface="Meiryo"/>
                <a:ea typeface="Meiryo"/>
                <a:cs typeface="Meiryo"/>
              </a:rPr>
              <a:t> SDPPG</a:t>
            </a:r>
            <a:endParaRPr lang="en-US" sz="2200" b="1" dirty="0">
              <a:solidFill>
                <a:srgbClr val="00A8AA"/>
              </a:solidFill>
              <a:latin typeface="Meiryo"/>
              <a:ea typeface="Meiryo"/>
              <a:cs typeface="Meiryo"/>
            </a:endParaRPr>
          </a:p>
        </p:txBody>
      </p:sp>
      <p:sp>
        <p:nvSpPr>
          <p:cNvPr id="23" name="Rounded Rectangle 22">
            <a:extLst>
              <a:ext uri="{FF2B5EF4-FFF2-40B4-BE49-F238E27FC236}">
                <a16:creationId xmlns:a16="http://schemas.microsoft.com/office/drawing/2014/main" id="{22594183-3678-C70E-EED7-7361DFB0C4C5}"/>
              </a:ext>
            </a:extLst>
          </p:cNvPr>
          <p:cNvSpPr/>
          <p:nvPr/>
        </p:nvSpPr>
        <p:spPr>
          <a:xfrm>
            <a:off x="8174519" y="2390814"/>
            <a:ext cx="3644869" cy="129018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200" b="1" dirty="0" err="1">
                <a:solidFill>
                  <a:srgbClr val="262626"/>
                </a:solidFill>
                <a:latin typeface="Meiryo"/>
                <a:ea typeface="Meiryo"/>
                <a:cs typeface="Meiryo"/>
              </a:rPr>
              <a:t>原波形のわずかな変化を</a:t>
            </a:r>
            <a:endParaRPr lang="en-US" sz="2200" b="1" dirty="0">
              <a:solidFill>
                <a:srgbClr val="262626"/>
              </a:solidFill>
              <a:latin typeface="Meiryo"/>
              <a:ea typeface="Meiryo"/>
              <a:cs typeface="Meiryo"/>
            </a:endParaRPr>
          </a:p>
          <a:p>
            <a:pPr algn="ctr">
              <a:lnSpc>
                <a:spcPct val="150000"/>
              </a:lnSpc>
              <a:spcBef>
                <a:spcPts val="0"/>
              </a:spcBef>
              <a:spcAft>
                <a:spcPts val="0"/>
              </a:spcAft>
            </a:pPr>
            <a:r>
              <a:rPr lang="en-US" sz="2200" b="1" dirty="0" err="1">
                <a:solidFill>
                  <a:srgbClr val="262626"/>
                </a:solidFill>
                <a:latin typeface="Meiryo"/>
                <a:ea typeface="Meiryo"/>
                <a:cs typeface="Meiryo"/>
              </a:rPr>
              <a:t>極値に変換できる</a:t>
            </a:r>
            <a:endParaRPr sz="2200" b="1" dirty="0">
              <a:solidFill>
                <a:srgbClr val="262626"/>
              </a:solidFill>
              <a:latin typeface="Meiryo"/>
              <a:ea typeface="Meiryo"/>
              <a:cs typeface="Meiryo"/>
            </a:endParaRPr>
          </a:p>
        </p:txBody>
      </p:sp>
      <p:sp>
        <p:nvSpPr>
          <p:cNvPr id="24" name="TextBox 23">
            <a:extLst>
              <a:ext uri="{FF2B5EF4-FFF2-40B4-BE49-F238E27FC236}">
                <a16:creationId xmlns:a16="http://schemas.microsoft.com/office/drawing/2014/main" id="{A9B8F385-3709-EEE8-5E2E-752CA308BB4C}"/>
              </a:ext>
            </a:extLst>
          </p:cNvPr>
          <p:cNvSpPr txBox="1"/>
          <p:nvPr/>
        </p:nvSpPr>
        <p:spPr>
          <a:xfrm>
            <a:off x="2423624" y="5906529"/>
            <a:ext cx="6480000" cy="432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収縮期：a–d　／　拡張期：e（重複切痕）</a:t>
            </a:r>
          </a:p>
        </p:txBody>
      </p:sp>
      <p:sp>
        <p:nvSpPr>
          <p:cNvPr id="6" name="テキスト ボックス 5">
            <a:extLst>
              <a:ext uri="{FF2B5EF4-FFF2-40B4-BE49-F238E27FC236}">
                <a16:creationId xmlns:a16="http://schemas.microsoft.com/office/drawing/2014/main" id="{7EDD8D34-52AC-C545-1024-247767B86617}"/>
              </a:ext>
            </a:extLst>
          </p:cNvPr>
          <p:cNvSpPr txBox="1"/>
          <p:nvPr/>
        </p:nvSpPr>
        <p:spPr>
          <a:xfrm>
            <a:off x="8712749" y="4077341"/>
            <a:ext cx="2568408" cy="1785104"/>
          </a:xfrm>
          <a:prstGeom prst="rect">
            <a:avLst/>
          </a:prstGeom>
          <a:noFill/>
        </p:spPr>
        <p:txBody>
          <a:bodyPr wrap="square" rtlCol="0">
            <a:spAutoFit/>
          </a:bodyPr>
          <a:lstStyle/>
          <a:p>
            <a:pPr>
              <a:lnSpc>
                <a:spcPct val="150000"/>
              </a:lnSpc>
            </a:pPr>
            <a:r>
              <a:rPr kumimoji="1" lang="en-US" altLang="ja-JP" sz="2000" b="1" dirty="0">
                <a:latin typeface="+mj-ea"/>
                <a:ea typeface="+mj-ea"/>
              </a:rPr>
              <a:t>b/a : </a:t>
            </a:r>
            <a:r>
              <a:rPr kumimoji="1" lang="ja-JP" altLang="en-US" sz="2000" b="1">
                <a:latin typeface="+mj-ea"/>
                <a:ea typeface="+mj-ea"/>
              </a:rPr>
              <a:t>大血管の硬さ</a:t>
            </a:r>
            <a:endParaRPr kumimoji="1" lang="en-US" altLang="ja-JP" sz="2000" b="1" dirty="0">
              <a:latin typeface="+mj-ea"/>
              <a:ea typeface="+mj-ea"/>
            </a:endParaRPr>
          </a:p>
          <a:p>
            <a:pPr>
              <a:lnSpc>
                <a:spcPct val="150000"/>
              </a:lnSpc>
            </a:pPr>
            <a:r>
              <a:rPr lang="en-US" altLang="ja-JP" sz="2000" b="1" dirty="0">
                <a:latin typeface="+mj-ea"/>
                <a:ea typeface="+mj-ea"/>
              </a:rPr>
              <a:t>d/a : </a:t>
            </a:r>
            <a:r>
              <a:rPr lang="ja-JP" altLang="en-US" sz="2000" b="1">
                <a:latin typeface="+mj-ea"/>
                <a:ea typeface="+mj-ea"/>
              </a:rPr>
              <a:t>末梢トーヌス</a:t>
            </a:r>
            <a:endParaRPr lang="en-US" altLang="ja-JP" sz="2000" b="1" dirty="0">
              <a:latin typeface="+mj-ea"/>
              <a:ea typeface="+mj-ea"/>
            </a:endParaRPr>
          </a:p>
          <a:p>
            <a:pPr>
              <a:lnSpc>
                <a:spcPct val="150000"/>
              </a:lnSpc>
            </a:pPr>
            <a:r>
              <a:rPr kumimoji="1" lang="en-US" altLang="ja-JP" sz="2000" b="1" dirty="0">
                <a:latin typeface="+mj-ea"/>
                <a:ea typeface="+mj-ea"/>
              </a:rPr>
              <a:t>AGI : </a:t>
            </a:r>
            <a:r>
              <a:rPr kumimoji="1" lang="ja-JP" altLang="en-US" sz="2000" b="1">
                <a:latin typeface="+mj-ea"/>
                <a:ea typeface="+mj-ea"/>
              </a:rPr>
              <a:t>血管加齢指数</a:t>
            </a:r>
            <a:endParaRPr lang="en-US" altLang="ja-JP" sz="2000" b="1" dirty="0">
              <a:latin typeface="+mj-ea"/>
              <a:ea typeface="+mj-ea"/>
            </a:endParaRPr>
          </a:p>
          <a:p>
            <a:pPr algn="r"/>
            <a:r>
              <a:rPr lang="ja-JP" altLang="ja-JP" sz="2000"/>
              <a:t>(b–c–d–e)/a</a:t>
            </a:r>
          </a:p>
        </p:txBody>
      </p:sp>
      <p:sp>
        <p:nvSpPr>
          <p:cNvPr id="3" name="テキスト ボックス 2">
            <a:extLst>
              <a:ext uri="{FF2B5EF4-FFF2-40B4-BE49-F238E27FC236}">
                <a16:creationId xmlns:a16="http://schemas.microsoft.com/office/drawing/2014/main" id="{D90946D4-5E1D-11B6-E5C2-06A0D9567897}"/>
              </a:ext>
            </a:extLst>
          </p:cNvPr>
          <p:cNvSpPr txBox="1"/>
          <p:nvPr/>
        </p:nvSpPr>
        <p:spPr>
          <a:xfrm>
            <a:off x="5017477" y="5401745"/>
            <a:ext cx="2929905" cy="338554"/>
          </a:xfrm>
          <a:prstGeom prst="rect">
            <a:avLst/>
          </a:prstGeom>
          <a:noFill/>
        </p:spPr>
        <p:txBody>
          <a:bodyPr wrap="none" rtlCol="0">
            <a:spAutoFit/>
          </a:bodyPr>
          <a:lstStyle/>
          <a:p>
            <a:r>
              <a:rPr lang="en-US" altLang="ja-JP" sz="1600" b="1" dirty="0">
                <a:solidFill>
                  <a:srgbClr val="00A8AA"/>
                </a:solidFill>
                <a:latin typeface="Meiryo"/>
                <a:ea typeface="Meiryo"/>
                <a:cs typeface="Meiryo"/>
              </a:rPr>
              <a:t>Second Derivative of PPG</a:t>
            </a: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23. Elgendi 2012</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33/72</a:t>
            </a:r>
          </a:p>
        </p:txBody>
      </p:sp>
    </p:spTree>
    <p:extLst>
      <p:ext uri="{BB962C8B-B14F-4D97-AF65-F5344CB8AC3E}">
        <p14:creationId xmlns:p14="http://schemas.microsoft.com/office/powerpoint/2010/main" val="5183498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117EE-6908-300F-949E-A63FBBD27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4315EC-F06D-9088-6B2F-D537E8063CDB}"/>
              </a:ext>
            </a:extLst>
          </p:cNvPr>
          <p:cNvSpPr>
            <a:spLocks noGrp="1"/>
          </p:cNvSpPr>
          <p:nvPr>
            <p:ph type="title"/>
          </p:nvPr>
        </p:nvSpPr>
        <p:spPr/>
        <p:txBody>
          <a:bodyPr/>
          <a:lstStyle/>
          <a:p>
            <a:pPr algn="l"/>
            <a:r>
              <a:rPr sz="4600" dirty="0">
                <a:latin typeface="Meiryo"/>
                <a:ea typeface="Meiryo"/>
                <a:cs typeface="Meiryo"/>
              </a:rPr>
              <a:t>3.3  加速度脈波 SDPPG</a:t>
            </a:r>
          </a:p>
        </p:txBody>
      </p:sp>
      <p:sp>
        <p:nvSpPr>
          <p:cNvPr id="13" name="Off-page Connector 4">
            <a:extLst>
              <a:ext uri="{FF2B5EF4-FFF2-40B4-BE49-F238E27FC236}">
                <a16:creationId xmlns:a16="http://schemas.microsoft.com/office/drawing/2014/main" id="{F82859B7-7A8B-D6BA-99A5-6386B3561DAB}"/>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B15DFAAE-E79C-4B59-124F-EA9B54F59FFF}"/>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85C38581-8D3D-3E39-4649-60E4AB874185}"/>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BBE12F32-226A-723D-D428-721E42599F8A}"/>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5C0A1BD9-C8F0-F8A0-5884-C2A793CE817D}"/>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4" name="TextBox 23">
            <a:extLst>
              <a:ext uri="{FF2B5EF4-FFF2-40B4-BE49-F238E27FC236}">
                <a16:creationId xmlns:a16="http://schemas.microsoft.com/office/drawing/2014/main" id="{AACC6462-0E6D-5AFB-2805-B7029C62C4F1}"/>
              </a:ext>
            </a:extLst>
          </p:cNvPr>
          <p:cNvSpPr txBox="1"/>
          <p:nvPr/>
        </p:nvSpPr>
        <p:spPr>
          <a:xfrm>
            <a:off x="2423624" y="5906529"/>
            <a:ext cx="6480000" cy="432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収縮期：a–d　／　拡張期：e（重複切痕）</a:t>
            </a:r>
          </a:p>
        </p:txBody>
      </p:sp>
      <p:pic>
        <p:nvPicPr>
          <p:cNvPr id="3" name="図 2">
            <a:extLst>
              <a:ext uri="{FF2B5EF4-FFF2-40B4-BE49-F238E27FC236}">
                <a16:creationId xmlns:a16="http://schemas.microsoft.com/office/drawing/2014/main" id="{898F44B3-F197-127F-726A-0C5012339931}"/>
              </a:ext>
            </a:extLst>
          </p:cNvPr>
          <p:cNvPicPr>
            <a:picLocks noChangeAspect="1"/>
          </p:cNvPicPr>
          <p:nvPr/>
        </p:nvPicPr>
        <p:blipFill>
          <a:blip r:embed="rId3"/>
          <a:stretch>
            <a:fillRect/>
          </a:stretch>
        </p:blipFill>
        <p:spPr>
          <a:xfrm>
            <a:off x="2853303" y="1635761"/>
            <a:ext cx="3149931" cy="4210789"/>
          </a:xfrm>
          <a:prstGeom prst="rect">
            <a:avLst/>
          </a:prstGeom>
        </p:spPr>
      </p:pic>
      <p:sp>
        <p:nvSpPr>
          <p:cNvPr id="5" name="Rounded Rectangle 22">
            <a:extLst>
              <a:ext uri="{FF2B5EF4-FFF2-40B4-BE49-F238E27FC236}">
                <a16:creationId xmlns:a16="http://schemas.microsoft.com/office/drawing/2014/main" id="{8B88CFAA-7D53-AA63-03B5-6B1A8A021B53}"/>
              </a:ext>
            </a:extLst>
          </p:cNvPr>
          <p:cNvSpPr/>
          <p:nvPr/>
        </p:nvSpPr>
        <p:spPr>
          <a:xfrm>
            <a:off x="8174519" y="2390814"/>
            <a:ext cx="3644869" cy="129018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200" b="1" dirty="0" err="1">
                <a:solidFill>
                  <a:srgbClr val="262626"/>
                </a:solidFill>
                <a:latin typeface="Meiryo"/>
                <a:ea typeface="Meiryo"/>
                <a:cs typeface="Meiryo"/>
              </a:rPr>
              <a:t>原波形のわずかな変化を</a:t>
            </a:r>
            <a:endParaRPr lang="en-US" sz="2200" b="1" dirty="0">
              <a:solidFill>
                <a:srgbClr val="262626"/>
              </a:solidFill>
              <a:latin typeface="Meiryo"/>
              <a:ea typeface="Meiryo"/>
              <a:cs typeface="Meiryo"/>
            </a:endParaRPr>
          </a:p>
          <a:p>
            <a:pPr algn="ctr">
              <a:lnSpc>
                <a:spcPct val="150000"/>
              </a:lnSpc>
              <a:spcBef>
                <a:spcPts val="0"/>
              </a:spcBef>
              <a:spcAft>
                <a:spcPts val="0"/>
              </a:spcAft>
            </a:pPr>
            <a:r>
              <a:rPr lang="en-US" sz="2200" b="1" dirty="0" err="1">
                <a:solidFill>
                  <a:srgbClr val="262626"/>
                </a:solidFill>
                <a:latin typeface="Meiryo"/>
                <a:ea typeface="Meiryo"/>
                <a:cs typeface="Meiryo"/>
              </a:rPr>
              <a:t>極値に変換できる</a:t>
            </a:r>
            <a:endParaRPr sz="2200" b="1" dirty="0">
              <a:solidFill>
                <a:srgbClr val="262626"/>
              </a:solidFill>
              <a:latin typeface="Meiryo"/>
              <a:ea typeface="Meiryo"/>
              <a:cs typeface="Meiryo"/>
            </a:endParaRPr>
          </a:p>
        </p:txBody>
      </p:sp>
      <p:sp>
        <p:nvSpPr>
          <p:cNvPr id="6" name="テキスト ボックス 5">
            <a:extLst>
              <a:ext uri="{FF2B5EF4-FFF2-40B4-BE49-F238E27FC236}">
                <a16:creationId xmlns:a16="http://schemas.microsoft.com/office/drawing/2014/main" id="{899FC92F-C02C-C2A4-9231-72B4312A2C0C}"/>
              </a:ext>
            </a:extLst>
          </p:cNvPr>
          <p:cNvSpPr txBox="1"/>
          <p:nvPr/>
        </p:nvSpPr>
        <p:spPr>
          <a:xfrm>
            <a:off x="8712749" y="4077341"/>
            <a:ext cx="2568408" cy="1785104"/>
          </a:xfrm>
          <a:prstGeom prst="rect">
            <a:avLst/>
          </a:prstGeom>
          <a:noFill/>
        </p:spPr>
        <p:txBody>
          <a:bodyPr wrap="square" rtlCol="0">
            <a:spAutoFit/>
          </a:bodyPr>
          <a:lstStyle/>
          <a:p>
            <a:pPr>
              <a:lnSpc>
                <a:spcPct val="150000"/>
              </a:lnSpc>
            </a:pPr>
            <a:r>
              <a:rPr kumimoji="1" lang="en-US" altLang="ja-JP" sz="2000" b="1" dirty="0">
                <a:latin typeface="+mj-ea"/>
                <a:ea typeface="+mj-ea"/>
              </a:rPr>
              <a:t>b/a : </a:t>
            </a:r>
            <a:r>
              <a:rPr kumimoji="1" lang="ja-JP" altLang="en-US" sz="2000" b="1">
                <a:latin typeface="+mj-ea"/>
                <a:ea typeface="+mj-ea"/>
              </a:rPr>
              <a:t>大血管の硬さ</a:t>
            </a:r>
            <a:endParaRPr kumimoji="1" lang="en-US" altLang="ja-JP" sz="2000" b="1" dirty="0">
              <a:latin typeface="+mj-ea"/>
              <a:ea typeface="+mj-ea"/>
            </a:endParaRPr>
          </a:p>
          <a:p>
            <a:pPr>
              <a:lnSpc>
                <a:spcPct val="150000"/>
              </a:lnSpc>
            </a:pPr>
            <a:r>
              <a:rPr lang="en-US" altLang="ja-JP" sz="2000" b="1" dirty="0">
                <a:latin typeface="+mj-ea"/>
                <a:ea typeface="+mj-ea"/>
              </a:rPr>
              <a:t>d/a : </a:t>
            </a:r>
            <a:r>
              <a:rPr lang="ja-JP" altLang="en-US" sz="2000" b="1">
                <a:latin typeface="+mj-ea"/>
                <a:ea typeface="+mj-ea"/>
              </a:rPr>
              <a:t>末梢トーヌス</a:t>
            </a:r>
            <a:endParaRPr lang="en-US" altLang="ja-JP" sz="2000" b="1" dirty="0">
              <a:latin typeface="+mj-ea"/>
              <a:ea typeface="+mj-ea"/>
            </a:endParaRPr>
          </a:p>
          <a:p>
            <a:pPr>
              <a:lnSpc>
                <a:spcPct val="150000"/>
              </a:lnSpc>
            </a:pPr>
            <a:r>
              <a:rPr kumimoji="1" lang="en-US" altLang="ja-JP" sz="2000" b="1" dirty="0">
                <a:latin typeface="+mj-ea"/>
                <a:ea typeface="+mj-ea"/>
              </a:rPr>
              <a:t>AGI : </a:t>
            </a:r>
            <a:r>
              <a:rPr kumimoji="1" lang="ja-JP" altLang="en-US" sz="2000" b="1">
                <a:latin typeface="+mj-ea"/>
                <a:ea typeface="+mj-ea"/>
              </a:rPr>
              <a:t>血管加齢指数</a:t>
            </a:r>
            <a:endParaRPr lang="en-US" altLang="ja-JP" sz="2000" b="1" dirty="0">
              <a:latin typeface="+mj-ea"/>
              <a:ea typeface="+mj-ea"/>
            </a:endParaRPr>
          </a:p>
          <a:p>
            <a:pPr algn="r"/>
            <a:r>
              <a:rPr lang="ja-JP" altLang="ja-JP" sz="2000"/>
              <a:t>(b–c–d–e)/a</a:t>
            </a: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33/72</a:t>
            </a:r>
          </a:p>
        </p:txBody>
      </p:sp>
    </p:spTree>
    <p:extLst>
      <p:ext uri="{BB962C8B-B14F-4D97-AF65-F5344CB8AC3E}">
        <p14:creationId xmlns:p14="http://schemas.microsoft.com/office/powerpoint/2010/main" val="1811021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FF3DC-DBE2-F1CA-D509-1FDD4DD8A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3.3  SDPPG の主な知見</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0" name="st0">
            <a:extLst>
              <a:ext uri="{FF2B5EF4-FFF2-40B4-BE49-F238E27FC236}">
                <a16:creationId xmlns:a16="http://schemas.microsoft.com/office/drawing/2014/main" id="{A69AD9DE-FE15-D9A0-97CF-F74D33568E1A}"/>
              </a:ext>
            </a:extLst>
          </p:cNvPr>
          <p:cNvSpPr/>
          <p:nvPr/>
        </p:nvSpPr>
        <p:spPr>
          <a:xfrm>
            <a:off x="548640" y="1567988"/>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Takazawa</a:t>
            </a:r>
            <a:r>
              <a:rPr sz="2200" b="1" dirty="0">
                <a:solidFill>
                  <a:srgbClr val="262626"/>
                </a:solidFill>
                <a:latin typeface="Meiryo"/>
                <a:ea typeface="Meiryo"/>
                <a:cs typeface="Meiryo"/>
              </a:rPr>
              <a:t> 1998</a:t>
            </a:r>
          </a:p>
        </p:txBody>
      </p:sp>
      <p:sp>
        <p:nvSpPr>
          <p:cNvPr id="21" name="sr0">
            <a:extLst>
              <a:ext uri="{FF2B5EF4-FFF2-40B4-BE49-F238E27FC236}">
                <a16:creationId xmlns:a16="http://schemas.microsoft.com/office/drawing/2014/main" id="{3F5DD0A6-7558-4C70-A09F-D1C08996BE50}"/>
              </a:ext>
            </a:extLst>
          </p:cNvPr>
          <p:cNvSpPr txBox="1"/>
          <p:nvPr/>
        </p:nvSpPr>
        <p:spPr>
          <a:xfrm>
            <a:off x="3467151" y="1686634"/>
            <a:ext cx="8174736" cy="677108"/>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血管作動薬で</a:t>
            </a:r>
            <a:r>
              <a:rPr sz="2200" b="1" dirty="0">
                <a:solidFill>
                  <a:srgbClr val="262626"/>
                </a:solidFill>
                <a:latin typeface="Meiryo"/>
                <a:ea typeface="Meiryo"/>
                <a:cs typeface="Meiryo"/>
              </a:rPr>
              <a:t> d/a </a:t>
            </a:r>
            <a:r>
              <a:rPr sz="2200" b="1" dirty="0" err="1">
                <a:solidFill>
                  <a:srgbClr val="262626"/>
                </a:solidFill>
                <a:latin typeface="Meiryo"/>
                <a:ea typeface="Meiryo"/>
                <a:cs typeface="Meiryo"/>
              </a:rPr>
              <a:t>が変化：AT</a:t>
            </a:r>
            <a:r>
              <a:rPr sz="2200" b="1" dirty="0">
                <a:solidFill>
                  <a:srgbClr val="262626"/>
                </a:solidFill>
                <a:latin typeface="Meiryo"/>
                <a:ea typeface="Meiryo"/>
                <a:cs typeface="Meiryo"/>
              </a:rPr>
              <a:t> II −0.62 ／ NTG −0.25</a:t>
            </a:r>
          </a:p>
          <a:p>
            <a:pPr algn="l"/>
            <a:r>
              <a:rPr lang="ja-JP" altLang="en-US" sz="2200" b="1">
                <a:solidFill>
                  <a:srgbClr val="262626"/>
                </a:solidFill>
                <a:latin typeface="Meiryo"/>
                <a:ea typeface="Meiryo"/>
                <a:cs typeface="Meiryo"/>
              </a:rPr>
              <a:t>血管加齢指数</a:t>
            </a:r>
            <a:r>
              <a:rPr lang="en-US" altLang="ja-JP" sz="2200" b="1" dirty="0">
                <a:solidFill>
                  <a:srgbClr val="262626"/>
                </a:solidFill>
                <a:latin typeface="Meiryo"/>
                <a:ea typeface="Meiryo"/>
                <a:cs typeface="Meiryo"/>
              </a:rPr>
              <a:t> </a:t>
            </a:r>
            <a:r>
              <a:rPr sz="2200" b="1" dirty="0">
                <a:solidFill>
                  <a:srgbClr val="262626"/>
                </a:solidFill>
                <a:latin typeface="Meiryo"/>
                <a:ea typeface="Meiryo"/>
                <a:cs typeface="Meiryo"/>
              </a:rPr>
              <a:t>AGI </a:t>
            </a:r>
            <a:r>
              <a:rPr sz="2200" b="1" dirty="0" err="1">
                <a:solidFill>
                  <a:srgbClr val="262626"/>
                </a:solidFill>
                <a:latin typeface="Meiryo"/>
                <a:ea typeface="Meiryo"/>
                <a:cs typeface="Meiryo"/>
              </a:rPr>
              <a:t>と</a:t>
            </a: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年齢</a:t>
            </a:r>
            <a:r>
              <a:rPr sz="2200" b="1" dirty="0">
                <a:solidFill>
                  <a:srgbClr val="262626"/>
                </a:solidFill>
                <a:latin typeface="Meiryo"/>
                <a:ea typeface="Meiryo"/>
                <a:cs typeface="Meiryo"/>
              </a:rPr>
              <a:t> r=0.80</a:t>
            </a:r>
          </a:p>
        </p:txBody>
      </p:sp>
      <p:sp>
        <p:nvSpPr>
          <p:cNvPr id="22" name="st1">
            <a:extLst>
              <a:ext uri="{FF2B5EF4-FFF2-40B4-BE49-F238E27FC236}">
                <a16:creationId xmlns:a16="http://schemas.microsoft.com/office/drawing/2014/main" id="{A7CB9A96-465E-EEC4-39E3-AFE34E82455C}"/>
              </a:ext>
            </a:extLst>
          </p:cNvPr>
          <p:cNvSpPr/>
          <p:nvPr/>
        </p:nvSpPr>
        <p:spPr>
          <a:xfrm>
            <a:off x="548640" y="2543914"/>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Bortolotto</a:t>
            </a:r>
            <a:r>
              <a:rPr sz="2200" b="1" dirty="0">
                <a:solidFill>
                  <a:srgbClr val="262626"/>
                </a:solidFill>
                <a:latin typeface="Meiryo"/>
                <a:ea typeface="Meiryo"/>
                <a:cs typeface="Meiryo"/>
              </a:rPr>
              <a:t> 2000</a:t>
            </a:r>
          </a:p>
        </p:txBody>
      </p:sp>
      <p:sp>
        <p:nvSpPr>
          <p:cNvPr id="23" name="sr1">
            <a:extLst>
              <a:ext uri="{FF2B5EF4-FFF2-40B4-BE49-F238E27FC236}">
                <a16:creationId xmlns:a16="http://schemas.microsoft.com/office/drawing/2014/main" id="{956EC523-6A44-37E2-4B03-A7B1D576A436}"/>
              </a:ext>
            </a:extLst>
          </p:cNvPr>
          <p:cNvSpPr txBox="1"/>
          <p:nvPr/>
        </p:nvSpPr>
        <p:spPr>
          <a:xfrm>
            <a:off x="3467151" y="2662560"/>
            <a:ext cx="8174736" cy="677108"/>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動脈硬化あり</a:t>
            </a:r>
            <a:r>
              <a:rPr sz="2200" b="1" dirty="0">
                <a:solidFill>
                  <a:srgbClr val="262626"/>
                </a:solidFill>
                <a:latin typeface="Meiryo"/>
                <a:ea typeface="Meiryo"/>
                <a:cs typeface="Meiryo"/>
              </a:rPr>
              <a:t> AGI −0.093 ／ </a:t>
            </a:r>
            <a:r>
              <a:rPr sz="2200" b="1" dirty="0" err="1">
                <a:solidFill>
                  <a:srgbClr val="262626"/>
                </a:solidFill>
                <a:latin typeface="Meiryo"/>
                <a:ea typeface="Meiryo"/>
                <a:cs typeface="Meiryo"/>
              </a:rPr>
              <a:t>なし</a:t>
            </a:r>
            <a:r>
              <a:rPr sz="2200" b="1" dirty="0">
                <a:solidFill>
                  <a:srgbClr val="262626"/>
                </a:solidFill>
                <a:latin typeface="Meiryo"/>
                <a:ea typeface="Meiryo"/>
                <a:cs typeface="Meiryo"/>
              </a:rPr>
              <a:t> −0.271（P&lt;0.001）</a:t>
            </a:r>
          </a:p>
          <a:p>
            <a:pPr algn="l"/>
            <a:r>
              <a:rPr lang="ja-JP" altLang="en-US" sz="2200" b="1">
                <a:solidFill>
                  <a:srgbClr val="262626"/>
                </a:solidFill>
                <a:latin typeface="Meiryo"/>
                <a:ea typeface="Meiryo"/>
                <a:cs typeface="Meiryo"/>
              </a:rPr>
              <a:t>動脈硬化の</a:t>
            </a: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独立規定因子としては</a:t>
            </a:r>
            <a:r>
              <a:rPr sz="2200" b="1" dirty="0">
                <a:solidFill>
                  <a:srgbClr val="262626"/>
                </a:solidFill>
                <a:latin typeface="Meiryo"/>
                <a:ea typeface="Meiryo"/>
                <a:cs typeface="Meiryo"/>
              </a:rPr>
              <a:t> PWV </a:t>
            </a:r>
            <a:r>
              <a:rPr sz="2200" b="1" dirty="0" err="1">
                <a:solidFill>
                  <a:srgbClr val="262626"/>
                </a:solidFill>
                <a:latin typeface="Meiryo"/>
                <a:ea typeface="Meiryo"/>
                <a:cs typeface="Meiryo"/>
              </a:rPr>
              <a:t>が優位</a:t>
            </a:r>
            <a:r>
              <a:rPr lang="ja-JP" altLang="en-US" sz="2200" b="1">
                <a:solidFill>
                  <a:srgbClr val="262626"/>
                </a:solidFill>
                <a:latin typeface="Meiryo"/>
                <a:ea typeface="Meiryo"/>
                <a:cs typeface="Meiryo"/>
              </a:rPr>
              <a:t>。</a:t>
            </a:r>
            <a:endParaRPr sz="2200" b="1" dirty="0">
              <a:solidFill>
                <a:srgbClr val="262626"/>
              </a:solidFill>
              <a:latin typeface="Meiryo"/>
              <a:ea typeface="Meiryo"/>
              <a:cs typeface="Meiryo"/>
            </a:endParaRPr>
          </a:p>
        </p:txBody>
      </p:sp>
      <p:sp>
        <p:nvSpPr>
          <p:cNvPr id="24" name="st2">
            <a:extLst>
              <a:ext uri="{FF2B5EF4-FFF2-40B4-BE49-F238E27FC236}">
                <a16:creationId xmlns:a16="http://schemas.microsoft.com/office/drawing/2014/main" id="{DF5C56B1-7A32-A9A5-4FC0-BF2B52C46C27}"/>
              </a:ext>
            </a:extLst>
          </p:cNvPr>
          <p:cNvSpPr/>
          <p:nvPr/>
        </p:nvSpPr>
        <p:spPr>
          <a:xfrm>
            <a:off x="548640" y="3519840"/>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Hashimoto 2002</a:t>
            </a:r>
            <a:endParaRPr sz="2200" b="1" dirty="0">
              <a:solidFill>
                <a:srgbClr val="262626"/>
              </a:solidFill>
              <a:latin typeface="Meiryo"/>
              <a:ea typeface="Meiryo"/>
              <a:cs typeface="Meiryo"/>
            </a:endParaRPr>
          </a:p>
        </p:txBody>
      </p:sp>
      <p:sp>
        <p:nvSpPr>
          <p:cNvPr id="25" name="sr2">
            <a:extLst>
              <a:ext uri="{FF2B5EF4-FFF2-40B4-BE49-F238E27FC236}">
                <a16:creationId xmlns:a16="http://schemas.microsoft.com/office/drawing/2014/main" id="{4C889F4B-1141-A2B9-799E-CAA07C013806}"/>
              </a:ext>
            </a:extLst>
          </p:cNvPr>
          <p:cNvSpPr txBox="1"/>
          <p:nvPr/>
        </p:nvSpPr>
        <p:spPr>
          <a:xfrm>
            <a:off x="3467151" y="4614412"/>
            <a:ext cx="8174736" cy="677108"/>
          </a:xfrm>
          <a:prstGeom prst="rect">
            <a:avLst/>
          </a:prstGeom>
          <a:noFill/>
        </p:spPr>
        <p:txBody>
          <a:bodyPr wrap="square" lIns="0" tIns="0" rIns="0" bIns="0" anchor="ctr">
            <a:spAutoFit/>
          </a:bodyPr>
          <a:lstStyle/>
          <a:p>
            <a:r>
              <a:rPr lang="en" altLang="ja-JP" sz="2200" b="1" dirty="0">
                <a:latin typeface="+mj-ea"/>
                <a:ea typeface="+mj-ea"/>
              </a:rPr>
              <a:t>Framingham risk score </a:t>
            </a:r>
            <a:r>
              <a:rPr lang="ja-JP" altLang="en-US" sz="2200" b="1">
                <a:latin typeface="+mj-ea"/>
                <a:ea typeface="+mj-ea"/>
              </a:rPr>
              <a:t>との相関あり</a:t>
            </a:r>
            <a:endParaRPr lang="en-US" altLang="ja-JP" sz="2200" b="1" dirty="0">
              <a:latin typeface="+mj-ea"/>
              <a:ea typeface="+mj-ea"/>
            </a:endParaRPr>
          </a:p>
          <a:p>
            <a:r>
              <a:rPr lang="en" altLang="ja-JP" sz="2200" b="1" dirty="0">
                <a:latin typeface="+mj-ea"/>
                <a:ea typeface="+mj-ea"/>
              </a:rPr>
              <a:t>b/a</a:t>
            </a:r>
            <a:r>
              <a:rPr lang="ja-JP" altLang="en" sz="2200" b="1">
                <a:latin typeface="+mj-ea"/>
                <a:ea typeface="+mj-ea"/>
              </a:rPr>
              <a:t>：</a:t>
            </a:r>
            <a:r>
              <a:rPr lang="ja-JP" altLang="en-US" sz="2200" b="1">
                <a:latin typeface="+mj-ea"/>
                <a:ea typeface="+mj-ea"/>
              </a:rPr>
              <a:t> </a:t>
            </a:r>
            <a:r>
              <a:rPr lang="en" altLang="ja-JP" sz="2200" b="1" dirty="0">
                <a:latin typeface="+mj-ea"/>
                <a:ea typeface="+mj-ea"/>
              </a:rPr>
              <a:t>r=0.43</a:t>
            </a:r>
            <a:r>
              <a:rPr lang="ja-JP" altLang="en" sz="2200" b="1">
                <a:latin typeface="+mj-ea"/>
                <a:ea typeface="+mj-ea"/>
              </a:rPr>
              <a:t>／</a:t>
            </a:r>
            <a:r>
              <a:rPr lang="en" altLang="ja-JP" sz="2200" b="1" dirty="0">
                <a:latin typeface="+mj-ea"/>
                <a:ea typeface="+mj-ea"/>
              </a:rPr>
              <a:t>0.54 </a:t>
            </a:r>
            <a:r>
              <a:rPr lang="ja-JP" altLang="en" sz="2200" b="1">
                <a:latin typeface="+mj-ea"/>
                <a:ea typeface="+mj-ea"/>
              </a:rPr>
              <a:t>、</a:t>
            </a:r>
            <a:r>
              <a:rPr lang="en" altLang="ja-JP" sz="2200" b="1" dirty="0">
                <a:latin typeface="+mj-ea"/>
                <a:ea typeface="+mj-ea"/>
              </a:rPr>
              <a:t>d/a</a:t>
            </a:r>
            <a:r>
              <a:rPr lang="ja-JP" altLang="en" sz="2200" b="1">
                <a:latin typeface="+mj-ea"/>
                <a:ea typeface="+mj-ea"/>
              </a:rPr>
              <a:t>：</a:t>
            </a:r>
            <a:r>
              <a:rPr lang="en-US" altLang="ja-JP" sz="2200" b="1" dirty="0">
                <a:latin typeface="+mj-ea"/>
                <a:ea typeface="+mj-ea"/>
              </a:rPr>
              <a:t>r=</a:t>
            </a:r>
            <a:r>
              <a:rPr lang="ja-JP" altLang="en-US" sz="2200" b="1">
                <a:latin typeface="+mj-ea"/>
                <a:ea typeface="+mj-ea"/>
              </a:rPr>
              <a:t>−</a:t>
            </a:r>
            <a:r>
              <a:rPr lang="en-US" altLang="ja-JP" sz="2200" b="1" dirty="0">
                <a:latin typeface="+mj-ea"/>
                <a:ea typeface="+mj-ea"/>
              </a:rPr>
              <a:t>0.38</a:t>
            </a:r>
            <a:r>
              <a:rPr lang="ja-JP" altLang="en-US" sz="2200" b="1">
                <a:latin typeface="+mj-ea"/>
                <a:ea typeface="+mj-ea"/>
              </a:rPr>
              <a:t>／ −</a:t>
            </a:r>
            <a:r>
              <a:rPr lang="en-US" altLang="ja-JP" sz="2200" b="1" dirty="0">
                <a:latin typeface="+mj-ea"/>
                <a:ea typeface="+mj-ea"/>
              </a:rPr>
              <a:t>0.58  (</a:t>
            </a:r>
            <a:r>
              <a:rPr lang="ja-JP" altLang="en-US" sz="2200" b="1">
                <a:latin typeface="+mj-ea"/>
                <a:ea typeface="+mj-ea"/>
              </a:rPr>
              <a:t>男</a:t>
            </a:r>
            <a:r>
              <a:rPr lang="en-US" altLang="ja-JP" sz="2200" b="1" dirty="0">
                <a:latin typeface="+mj-ea"/>
                <a:ea typeface="+mj-ea"/>
              </a:rPr>
              <a:t>/</a:t>
            </a:r>
            <a:r>
              <a:rPr lang="ja-JP" altLang="en-US" sz="2200" b="1">
                <a:latin typeface="+mj-ea"/>
                <a:ea typeface="+mj-ea"/>
              </a:rPr>
              <a:t>女</a:t>
            </a:r>
            <a:r>
              <a:rPr lang="en-US" altLang="ja-JP" sz="2200" b="1" dirty="0">
                <a:latin typeface="+mj-ea"/>
                <a:ea typeface="+mj-ea"/>
              </a:rPr>
              <a:t>)</a:t>
            </a:r>
            <a:endParaRPr sz="2200" b="1" dirty="0">
              <a:solidFill>
                <a:srgbClr val="262626"/>
              </a:solidFill>
              <a:latin typeface="+mj-ea"/>
              <a:ea typeface="+mj-ea"/>
              <a:cs typeface="Meiryo"/>
            </a:endParaRPr>
          </a:p>
        </p:txBody>
      </p:sp>
      <p:sp>
        <p:nvSpPr>
          <p:cNvPr id="3" name="st2">
            <a:extLst>
              <a:ext uri="{FF2B5EF4-FFF2-40B4-BE49-F238E27FC236}">
                <a16:creationId xmlns:a16="http://schemas.microsoft.com/office/drawing/2014/main" id="{D01B300E-138B-711A-9BBC-DC39FEA03A42}"/>
              </a:ext>
            </a:extLst>
          </p:cNvPr>
          <p:cNvSpPr/>
          <p:nvPr/>
        </p:nvSpPr>
        <p:spPr>
          <a:xfrm>
            <a:off x="548640" y="4495766"/>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Otsuka</a:t>
            </a:r>
            <a:r>
              <a:rPr sz="2200" b="1" dirty="0">
                <a:solidFill>
                  <a:srgbClr val="262626"/>
                </a:solidFill>
                <a:latin typeface="Meiryo"/>
                <a:ea typeface="Meiryo"/>
                <a:cs typeface="Meiryo"/>
              </a:rPr>
              <a:t> 200</a:t>
            </a:r>
            <a:r>
              <a:rPr lang="en-US" sz="2200" b="1" dirty="0">
                <a:solidFill>
                  <a:srgbClr val="262626"/>
                </a:solidFill>
                <a:latin typeface="Meiryo"/>
                <a:ea typeface="Meiryo"/>
                <a:cs typeface="Meiryo"/>
              </a:rPr>
              <a:t>6</a:t>
            </a:r>
            <a:endParaRPr sz="2200" b="1" dirty="0">
              <a:solidFill>
                <a:srgbClr val="262626"/>
              </a:solidFill>
              <a:latin typeface="Meiryo"/>
              <a:ea typeface="Meiryo"/>
              <a:cs typeface="Meiryo"/>
            </a:endParaRPr>
          </a:p>
        </p:txBody>
      </p:sp>
      <p:sp>
        <p:nvSpPr>
          <p:cNvPr id="4" name="sr2">
            <a:extLst>
              <a:ext uri="{FF2B5EF4-FFF2-40B4-BE49-F238E27FC236}">
                <a16:creationId xmlns:a16="http://schemas.microsoft.com/office/drawing/2014/main" id="{9ACEB9CE-B3AB-61FD-6B96-748745BBBEE5}"/>
              </a:ext>
            </a:extLst>
          </p:cNvPr>
          <p:cNvSpPr txBox="1"/>
          <p:nvPr/>
        </p:nvSpPr>
        <p:spPr>
          <a:xfrm>
            <a:off x="3467151" y="5590338"/>
            <a:ext cx="8174736" cy="677108"/>
          </a:xfrm>
          <a:prstGeom prst="rect">
            <a:avLst/>
          </a:prstGeom>
          <a:noFill/>
        </p:spPr>
        <p:txBody>
          <a:bodyPr wrap="square" lIns="0" tIns="0" rIns="0" bIns="0" anchor="ctr">
            <a:spAutoFit/>
          </a:bodyPr>
          <a:lstStyle/>
          <a:p>
            <a:r>
              <a:rPr lang="ja-JP" altLang="en-US" sz="2200" b="1">
                <a:solidFill>
                  <a:srgbClr val="262626"/>
                </a:solidFill>
                <a:latin typeface="+mj-ea"/>
                <a:ea typeface="+mj-ea"/>
                <a:cs typeface="Meiryo"/>
              </a:rPr>
              <a:t>頸動脈 IMT など臓器障害との関連は弱いか有意でない。</a:t>
            </a:r>
            <a:endParaRPr lang="en-US" altLang="ja-JP" sz="2200" b="1" dirty="0">
              <a:solidFill>
                <a:srgbClr val="262626"/>
              </a:solidFill>
              <a:latin typeface="+mj-ea"/>
              <a:ea typeface="+mj-ea"/>
              <a:cs typeface="Meiryo"/>
            </a:endParaRPr>
          </a:p>
          <a:p>
            <a:r>
              <a:rPr lang="en-US" altLang="ja-JP" sz="2200" b="1" dirty="0">
                <a:solidFill>
                  <a:srgbClr val="262626"/>
                </a:solidFill>
                <a:latin typeface="+mj-ea"/>
                <a:ea typeface="+mj-ea"/>
                <a:cs typeface="Meiryo"/>
              </a:rPr>
              <a:t>b/a・d/</a:t>
            </a:r>
            <a:r>
              <a:rPr lang="en-US" altLang="ja-JP" sz="2200" b="1" dirty="0" err="1">
                <a:solidFill>
                  <a:srgbClr val="262626"/>
                </a:solidFill>
                <a:latin typeface="+mj-ea"/>
                <a:ea typeface="+mj-ea"/>
                <a:cs typeface="Meiryo"/>
              </a:rPr>
              <a:t>a・AGI</a:t>
            </a:r>
            <a:r>
              <a:rPr lang="en-US" altLang="ja-JP" sz="2200" b="1" dirty="0">
                <a:solidFill>
                  <a:srgbClr val="262626"/>
                </a:solidFill>
                <a:latin typeface="+mj-ea"/>
                <a:ea typeface="+mj-ea"/>
                <a:cs typeface="Meiryo"/>
              </a:rPr>
              <a:t> </a:t>
            </a:r>
            <a:r>
              <a:rPr lang="en-US" altLang="ja-JP" sz="2200" b="1" dirty="0" err="1">
                <a:solidFill>
                  <a:srgbClr val="262626"/>
                </a:solidFill>
                <a:latin typeface="+mj-ea"/>
                <a:ea typeface="+mj-ea"/>
                <a:cs typeface="Meiryo"/>
              </a:rPr>
              <a:t>の規定因子は</a:t>
            </a:r>
            <a:r>
              <a:rPr lang="en-US" altLang="ja-JP" sz="2200" b="1" dirty="0">
                <a:solidFill>
                  <a:srgbClr val="262626"/>
                </a:solidFill>
                <a:latin typeface="+mj-ea"/>
                <a:ea typeface="+mj-ea"/>
                <a:cs typeface="Meiryo"/>
              </a:rPr>
              <a:t> 年齢・性・収縮期血圧・心拍数</a:t>
            </a:r>
            <a:endParaRPr sz="2200" b="1" dirty="0">
              <a:solidFill>
                <a:srgbClr val="262626"/>
              </a:solidFill>
              <a:latin typeface="+mj-ea"/>
              <a:ea typeface="+mj-ea"/>
              <a:cs typeface="Meiryo"/>
            </a:endParaRPr>
          </a:p>
        </p:txBody>
      </p:sp>
      <p:sp>
        <p:nvSpPr>
          <p:cNvPr id="5" name="st2">
            <a:extLst>
              <a:ext uri="{FF2B5EF4-FFF2-40B4-BE49-F238E27FC236}">
                <a16:creationId xmlns:a16="http://schemas.microsoft.com/office/drawing/2014/main" id="{40F1D81F-94D4-8663-C39F-8B95EC37524F}"/>
              </a:ext>
            </a:extLst>
          </p:cNvPr>
          <p:cNvSpPr/>
          <p:nvPr/>
        </p:nvSpPr>
        <p:spPr>
          <a:xfrm>
            <a:off x="548640" y="5471692"/>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Tabara 2016 </a:t>
            </a:r>
            <a:endParaRPr sz="2200" b="1" dirty="0">
              <a:solidFill>
                <a:srgbClr val="262626"/>
              </a:solidFill>
              <a:latin typeface="Meiryo"/>
              <a:ea typeface="Meiryo"/>
              <a:cs typeface="Meiryo"/>
            </a:endParaRPr>
          </a:p>
        </p:txBody>
      </p:sp>
      <p:sp>
        <p:nvSpPr>
          <p:cNvPr id="6" name="sr2">
            <a:extLst>
              <a:ext uri="{FF2B5EF4-FFF2-40B4-BE49-F238E27FC236}">
                <a16:creationId xmlns:a16="http://schemas.microsoft.com/office/drawing/2014/main" id="{92697709-B3D9-1610-E7F2-68BAB82C7C1C}"/>
              </a:ext>
            </a:extLst>
          </p:cNvPr>
          <p:cNvSpPr txBox="1"/>
          <p:nvPr/>
        </p:nvSpPr>
        <p:spPr>
          <a:xfrm>
            <a:off x="3467151" y="3638486"/>
            <a:ext cx="8174736" cy="677108"/>
          </a:xfrm>
          <a:prstGeom prst="rect">
            <a:avLst/>
          </a:prstGeom>
          <a:noFill/>
        </p:spPr>
        <p:txBody>
          <a:bodyPr wrap="square" lIns="0" tIns="0" rIns="0" bIns="0" anchor="ctr">
            <a:spAutoFit/>
          </a:bodyPr>
          <a:lstStyle/>
          <a:p>
            <a:r>
              <a:rPr lang="en-US" altLang="ja-JP" sz="2200" b="1" dirty="0">
                <a:latin typeface="+mj-ea"/>
                <a:ea typeface="+mj-ea"/>
              </a:rPr>
              <a:t>PWV と SDPPG </a:t>
            </a:r>
            <a:r>
              <a:rPr lang="en-US" altLang="ja-JP" sz="2200" b="1" dirty="0" err="1">
                <a:latin typeface="+mj-ea"/>
                <a:ea typeface="+mj-ea"/>
              </a:rPr>
              <a:t>の相関は弱</a:t>
            </a:r>
            <a:r>
              <a:rPr lang="ja-JP" altLang="en-US" sz="2200" b="1">
                <a:latin typeface="+mj-ea"/>
                <a:ea typeface="+mj-ea"/>
              </a:rPr>
              <a:t>い。</a:t>
            </a:r>
            <a:endParaRPr lang="en-US" altLang="ja-JP" sz="2200" b="1" dirty="0">
              <a:latin typeface="+mj-ea"/>
              <a:ea typeface="+mj-ea"/>
            </a:endParaRPr>
          </a:p>
          <a:p>
            <a:r>
              <a:rPr lang="en-US" altLang="ja-JP" sz="2200" dirty="0">
                <a:solidFill>
                  <a:srgbClr val="262626"/>
                </a:solidFill>
                <a:latin typeface="Meiryo"/>
                <a:ea typeface="Meiryo"/>
                <a:cs typeface="Meiryo"/>
              </a:rPr>
              <a:t>HR</a:t>
            </a:r>
            <a:r>
              <a:rPr sz="2200" dirty="0">
                <a:solidFill>
                  <a:srgbClr val="262626"/>
                </a:solidFill>
                <a:latin typeface="Meiryo"/>
                <a:ea typeface="Meiryo"/>
                <a:cs typeface="Meiryo"/>
              </a:rPr>
              <a:t>は d/</a:t>
            </a:r>
            <a:r>
              <a:rPr sz="2200" dirty="0" err="1">
                <a:solidFill>
                  <a:srgbClr val="262626"/>
                </a:solidFill>
                <a:latin typeface="Meiryo"/>
                <a:ea typeface="Meiryo"/>
                <a:cs typeface="Meiryo"/>
              </a:rPr>
              <a:t>a・AGI</a:t>
            </a:r>
            <a:r>
              <a:rPr sz="2200" dirty="0">
                <a:solidFill>
                  <a:srgbClr val="262626"/>
                </a:solidFill>
                <a:latin typeface="Meiryo"/>
                <a:ea typeface="Meiryo"/>
                <a:cs typeface="Meiryo"/>
              </a:rPr>
              <a:t> </a:t>
            </a:r>
            <a:r>
              <a:rPr sz="2200" dirty="0" err="1">
                <a:solidFill>
                  <a:srgbClr val="262626"/>
                </a:solidFill>
                <a:latin typeface="Meiryo"/>
                <a:ea typeface="Meiryo"/>
                <a:cs typeface="Meiryo"/>
              </a:rPr>
              <a:t>と負、b</a:t>
            </a:r>
            <a:r>
              <a:rPr sz="2200" dirty="0">
                <a:solidFill>
                  <a:srgbClr val="262626"/>
                </a:solidFill>
                <a:latin typeface="Meiryo"/>
                <a:ea typeface="Meiryo"/>
                <a:cs typeface="Meiryo"/>
              </a:rPr>
              <a:t>/a </a:t>
            </a:r>
            <a:r>
              <a:rPr sz="2200" dirty="0" err="1">
                <a:solidFill>
                  <a:srgbClr val="262626"/>
                </a:solidFill>
                <a:latin typeface="Meiryo"/>
                <a:ea typeface="Meiryo"/>
                <a:cs typeface="Meiryo"/>
              </a:rPr>
              <a:t>と正に相関（治療中高血圧</a:t>
            </a:r>
            <a:r>
              <a:rPr sz="2200" dirty="0">
                <a:solidFill>
                  <a:srgbClr val="262626"/>
                </a:solidFill>
                <a:latin typeface="Meiryo"/>
                <a:ea typeface="Meiryo"/>
                <a:cs typeface="Meiryo"/>
              </a:rPr>
              <a:t> 294 </a:t>
            </a:r>
            <a:r>
              <a:rPr sz="2200" dirty="0" err="1">
                <a:solidFill>
                  <a:srgbClr val="262626"/>
                </a:solidFill>
                <a:latin typeface="Meiryo"/>
                <a:ea typeface="Meiryo"/>
                <a:cs typeface="Meiryo"/>
              </a:rPr>
              <a:t>名</a:t>
            </a:r>
            <a:r>
              <a:rPr sz="2200" dirty="0">
                <a:solidFill>
                  <a:srgbClr val="262626"/>
                </a:solidFill>
                <a:latin typeface="Meiryo"/>
                <a:ea typeface="Meiryo"/>
                <a:cs typeface="Meiryo"/>
              </a:rPr>
              <a:t>）</a:t>
            </a:r>
          </a:p>
        </p:txBody>
      </p:sp>
      <p:sp>
        <p:nvSpPr>
          <p:cNvPr id="7" name="Source">
            <a:extLst>
              <a:ext uri="{FF2B5EF4-FFF2-40B4-BE49-F238E27FC236}">
                <a16:creationId xmlns:a16="http://schemas.microsoft.com/office/drawing/2014/main" id="{6FF5DF5E-413E-E2F8-7727-6220DC8C4DEB}"/>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　／　25. Bortolotto 2000　／　26. Otsuka 2006　／　27. Tabara 2016</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34/72</a:t>
            </a:r>
          </a:p>
        </p:txBody>
      </p:sp>
    </p:spTree>
    <p:extLst>
      <p:ext uri="{BB962C8B-B14F-4D97-AF65-F5344CB8AC3E}">
        <p14:creationId xmlns:p14="http://schemas.microsoft.com/office/powerpoint/2010/main" val="42435178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3.3  SDPPG は何を測れたか</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　／　25. Bortolotto 2000　／　26. Otsuka 2006　／　27. Tabara 2016</a:t>
            </a:r>
          </a:p>
        </p:txBody>
      </p:sp>
      <p:sp>
        <p:nvSpPr>
          <p:cNvPr id="30" name="Rounded Rectangle 29"/>
          <p:cNvSpPr/>
          <p:nvPr/>
        </p:nvSpPr>
        <p:spPr>
          <a:xfrm>
            <a:off x="472440" y="2155801"/>
            <a:ext cx="3566160" cy="37033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582168" y="2320393"/>
            <a:ext cx="3346704" cy="457200"/>
          </a:xfrm>
          <a:prstGeom prst="rect">
            <a:avLst/>
          </a:prstGeom>
          <a:noFill/>
        </p:spPr>
        <p:txBody>
          <a:bodyPr wrap="square" lIns="0" tIns="0" rIns="0" bIns="0" anchor="t">
            <a:spAutoFit/>
          </a:bodyPr>
          <a:lstStyle/>
          <a:p>
            <a:pPr algn="ctr"/>
            <a:r>
              <a:rPr sz="2400" b="1">
                <a:solidFill>
                  <a:srgbClr val="0072B2"/>
                </a:solidFill>
                <a:latin typeface="Meiryo"/>
                <a:ea typeface="Meiryo"/>
                <a:cs typeface="Meiryo"/>
              </a:rPr>
              <a:t>急性のトーヌス</a:t>
            </a:r>
          </a:p>
        </p:txBody>
      </p:sp>
      <p:sp>
        <p:nvSpPr>
          <p:cNvPr id="32" name="TextBox 31"/>
          <p:cNvSpPr txBox="1"/>
          <p:nvPr/>
        </p:nvSpPr>
        <p:spPr>
          <a:xfrm>
            <a:off x="582168" y="2869033"/>
            <a:ext cx="3346704" cy="457200"/>
          </a:xfrm>
          <a:prstGeom prst="rect">
            <a:avLst/>
          </a:prstGeom>
          <a:noFill/>
        </p:spPr>
        <p:txBody>
          <a:bodyPr wrap="square" lIns="0" tIns="0" rIns="0" bIns="0" anchor="t">
            <a:spAutoFit/>
          </a:bodyPr>
          <a:lstStyle/>
          <a:p>
            <a:pPr algn="ctr"/>
            <a:r>
              <a:rPr sz="3000" b="1">
                <a:solidFill>
                  <a:srgbClr val="0072B2"/>
                </a:solidFill>
                <a:latin typeface="Meiryo"/>
                <a:ea typeface="Meiryo"/>
                <a:cs typeface="Meiryo"/>
              </a:rPr>
              <a:t>○</a:t>
            </a:r>
          </a:p>
        </p:txBody>
      </p:sp>
      <p:sp>
        <p:nvSpPr>
          <p:cNvPr id="33" name="TextBox 32"/>
          <p:cNvSpPr txBox="1"/>
          <p:nvPr/>
        </p:nvSpPr>
        <p:spPr>
          <a:xfrm>
            <a:off x="60960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24. Takazawa 1998</a:t>
            </a:r>
          </a:p>
        </p:txBody>
      </p:sp>
      <p:sp>
        <p:nvSpPr>
          <p:cNvPr id="34" name="TextBox 33"/>
          <p:cNvSpPr txBox="1"/>
          <p:nvPr/>
        </p:nvSpPr>
        <p:spPr>
          <a:xfrm>
            <a:off x="609600" y="3893161"/>
            <a:ext cx="3291840" cy="384048"/>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薬で d/a が動く</a:t>
            </a:r>
          </a:p>
        </p:txBody>
      </p:sp>
      <p:sp>
        <p:nvSpPr>
          <p:cNvPr id="35" name="TextBox 34"/>
          <p:cNvSpPr txBox="1"/>
          <p:nvPr/>
        </p:nvSpPr>
        <p:spPr>
          <a:xfrm>
            <a:off x="609600" y="4405225"/>
            <a:ext cx="3291840" cy="768096"/>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AT II −0.62</a:t>
            </a:r>
          </a:p>
          <a:p>
            <a:pPr algn="l">
              <a:spcAft>
                <a:spcPts val="100"/>
              </a:spcAft>
            </a:pPr>
            <a:r>
              <a:rPr sz="2200" b="0">
                <a:solidFill>
                  <a:srgbClr val="808080"/>
                </a:solidFill>
                <a:latin typeface="Meiryo"/>
                <a:ea typeface="Meiryo"/>
                <a:cs typeface="Meiryo"/>
              </a:rPr>
              <a:t>NTG −0.25</a:t>
            </a:r>
          </a:p>
        </p:txBody>
      </p:sp>
      <p:sp>
        <p:nvSpPr>
          <p:cNvPr id="36" name="Rounded Rectangle 35"/>
          <p:cNvSpPr/>
          <p:nvPr/>
        </p:nvSpPr>
        <p:spPr>
          <a:xfrm>
            <a:off x="4312920" y="2155801"/>
            <a:ext cx="3566160" cy="37033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4422648" y="2320393"/>
            <a:ext cx="3346704" cy="457200"/>
          </a:xfrm>
          <a:prstGeom prst="rect">
            <a:avLst/>
          </a:prstGeom>
          <a:noFill/>
        </p:spPr>
        <p:txBody>
          <a:bodyPr wrap="square" lIns="0" tIns="0" rIns="0" bIns="0" anchor="t">
            <a:spAutoFit/>
          </a:bodyPr>
          <a:lstStyle/>
          <a:p>
            <a:pPr algn="ctr"/>
            <a:r>
              <a:rPr sz="2400" b="1">
                <a:solidFill>
                  <a:srgbClr val="00A8AA"/>
                </a:solidFill>
                <a:latin typeface="Meiryo"/>
                <a:ea typeface="Meiryo"/>
                <a:cs typeface="Meiryo"/>
              </a:rPr>
              <a:t>慢性の加齢</a:t>
            </a:r>
          </a:p>
        </p:txBody>
      </p:sp>
      <p:sp>
        <p:nvSpPr>
          <p:cNvPr id="38" name="TextBox 37"/>
          <p:cNvSpPr txBox="1"/>
          <p:nvPr/>
        </p:nvSpPr>
        <p:spPr>
          <a:xfrm>
            <a:off x="4422648" y="2869033"/>
            <a:ext cx="3346704" cy="457200"/>
          </a:xfrm>
          <a:prstGeom prst="rect">
            <a:avLst/>
          </a:prstGeom>
          <a:noFill/>
        </p:spPr>
        <p:txBody>
          <a:bodyPr wrap="square" lIns="0" tIns="0" rIns="0" bIns="0" anchor="t">
            <a:spAutoFit/>
          </a:bodyPr>
          <a:lstStyle/>
          <a:p>
            <a:pPr algn="ctr"/>
            <a:r>
              <a:rPr sz="3000" b="1">
                <a:solidFill>
                  <a:srgbClr val="00A8AA"/>
                </a:solidFill>
                <a:latin typeface="Meiryo"/>
                <a:ea typeface="Meiryo"/>
                <a:cs typeface="Meiryo"/>
              </a:rPr>
              <a:t>○</a:t>
            </a:r>
          </a:p>
        </p:txBody>
      </p:sp>
      <p:sp>
        <p:nvSpPr>
          <p:cNvPr id="39" name="TextBox 38"/>
          <p:cNvSpPr txBox="1"/>
          <p:nvPr/>
        </p:nvSpPr>
        <p:spPr>
          <a:xfrm>
            <a:off x="445008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24. Takazawa 1998</a:t>
            </a:r>
          </a:p>
        </p:txBody>
      </p:sp>
      <p:sp>
        <p:nvSpPr>
          <p:cNvPr id="40" name="TextBox 39"/>
          <p:cNvSpPr txBox="1"/>
          <p:nvPr/>
        </p:nvSpPr>
        <p:spPr>
          <a:xfrm>
            <a:off x="4450080" y="3893161"/>
            <a:ext cx="3291840" cy="384048"/>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AGI と年齢 r=0.80</a:t>
            </a:r>
          </a:p>
        </p:txBody>
      </p:sp>
      <p:sp>
        <p:nvSpPr>
          <p:cNvPr id="41" name="TextBox 40"/>
          <p:cNvSpPr txBox="1"/>
          <p:nvPr/>
        </p:nvSpPr>
        <p:spPr>
          <a:xfrm>
            <a:off x="4450080" y="44052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26. Otsuka 2006</a:t>
            </a:r>
          </a:p>
        </p:txBody>
      </p:sp>
      <p:sp>
        <p:nvSpPr>
          <p:cNvPr id="42" name="TextBox 41"/>
          <p:cNvSpPr txBox="1"/>
          <p:nvPr/>
        </p:nvSpPr>
        <p:spPr>
          <a:xfrm>
            <a:off x="4450080" y="4807561"/>
            <a:ext cx="3291840" cy="768096"/>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Framingham risk</a:t>
            </a:r>
          </a:p>
          <a:p>
            <a:pPr algn="l">
              <a:spcAft>
                <a:spcPts val="100"/>
              </a:spcAft>
            </a:pPr>
            <a:r>
              <a:rPr sz="2200" b="0">
                <a:solidFill>
                  <a:srgbClr val="808080"/>
                </a:solidFill>
                <a:latin typeface="Meiryo"/>
                <a:ea typeface="Meiryo"/>
                <a:cs typeface="Meiryo"/>
              </a:rPr>
              <a:t>score と相関</a:t>
            </a:r>
          </a:p>
        </p:txBody>
      </p:sp>
      <p:sp>
        <p:nvSpPr>
          <p:cNvPr id="43" name="Rounded Rectangle 42"/>
          <p:cNvSpPr/>
          <p:nvPr/>
        </p:nvSpPr>
        <p:spPr>
          <a:xfrm>
            <a:off x="8153400" y="2155801"/>
            <a:ext cx="3566160" cy="37033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8263128" y="2320393"/>
            <a:ext cx="3346704" cy="457200"/>
          </a:xfrm>
          <a:prstGeom prst="rect">
            <a:avLst/>
          </a:prstGeom>
          <a:noFill/>
        </p:spPr>
        <p:txBody>
          <a:bodyPr wrap="square" lIns="0" tIns="0" rIns="0" bIns="0" anchor="t">
            <a:spAutoFit/>
          </a:bodyPr>
          <a:lstStyle/>
          <a:p>
            <a:pPr algn="ctr"/>
            <a:r>
              <a:rPr sz="2400" b="1">
                <a:solidFill>
                  <a:srgbClr val="D55E00"/>
                </a:solidFill>
                <a:latin typeface="Meiryo"/>
                <a:ea typeface="Meiryo"/>
                <a:cs typeface="Meiryo"/>
              </a:rPr>
              <a:t>臓器障害・動脈硬化</a:t>
            </a:r>
          </a:p>
        </p:txBody>
      </p:sp>
      <p:sp>
        <p:nvSpPr>
          <p:cNvPr id="45" name="TextBox 44"/>
          <p:cNvSpPr txBox="1"/>
          <p:nvPr/>
        </p:nvSpPr>
        <p:spPr>
          <a:xfrm>
            <a:off x="8263128" y="2869033"/>
            <a:ext cx="3346704" cy="457200"/>
          </a:xfrm>
          <a:prstGeom prst="rect">
            <a:avLst/>
          </a:prstGeom>
          <a:noFill/>
        </p:spPr>
        <p:txBody>
          <a:bodyPr wrap="square" lIns="0" tIns="0" rIns="0" bIns="0" anchor="t">
            <a:spAutoFit/>
          </a:bodyPr>
          <a:lstStyle/>
          <a:p>
            <a:pPr algn="ctr"/>
            <a:r>
              <a:rPr sz="3000" b="1">
                <a:solidFill>
                  <a:srgbClr val="D55E00"/>
                </a:solidFill>
                <a:latin typeface="Meiryo"/>
                <a:ea typeface="Meiryo"/>
                <a:cs typeface="Meiryo"/>
              </a:rPr>
              <a:t>×</a:t>
            </a:r>
          </a:p>
        </p:txBody>
      </p:sp>
      <p:sp>
        <p:nvSpPr>
          <p:cNvPr id="46" name="TextBox 45"/>
          <p:cNvSpPr txBox="1"/>
          <p:nvPr/>
        </p:nvSpPr>
        <p:spPr>
          <a:xfrm>
            <a:off x="829056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25. Bortolotto 2000</a:t>
            </a:r>
          </a:p>
        </p:txBody>
      </p:sp>
      <p:sp>
        <p:nvSpPr>
          <p:cNvPr id="47" name="TextBox 46"/>
          <p:cNvSpPr txBox="1"/>
          <p:nvPr/>
        </p:nvSpPr>
        <p:spPr>
          <a:xfrm>
            <a:off x="8290560" y="3893161"/>
            <a:ext cx="3291840" cy="338554"/>
          </a:xfrm>
          <a:prstGeom prst="rect">
            <a:avLst/>
          </a:prstGeom>
          <a:noFill/>
        </p:spPr>
        <p:txBody>
          <a:bodyPr wrap="square" lIns="0" tIns="0" rIns="0" bIns="0" anchor="t">
            <a:spAutoFit/>
          </a:bodyPr>
          <a:lstStyle/>
          <a:p>
            <a:pPr algn="l">
              <a:spcAft>
                <a:spcPts val="100"/>
              </a:spcAft>
            </a:pPr>
            <a:r>
              <a:rPr sz="2200" b="0" dirty="0" err="1">
                <a:solidFill>
                  <a:srgbClr val="808080"/>
                </a:solidFill>
                <a:latin typeface="Meiryo"/>
                <a:ea typeface="Meiryo"/>
                <a:cs typeface="Meiryo"/>
              </a:rPr>
              <a:t>規定因子はPWV</a:t>
            </a:r>
            <a:r>
              <a:rPr sz="2200" b="0" dirty="0">
                <a:solidFill>
                  <a:srgbClr val="808080"/>
                </a:solidFill>
                <a:latin typeface="Meiryo"/>
                <a:ea typeface="Meiryo"/>
                <a:cs typeface="Meiryo"/>
              </a:rPr>
              <a:t> </a:t>
            </a:r>
            <a:r>
              <a:rPr sz="2200" b="0" dirty="0" err="1">
                <a:solidFill>
                  <a:srgbClr val="808080"/>
                </a:solidFill>
                <a:latin typeface="Meiryo"/>
                <a:ea typeface="Meiryo"/>
                <a:cs typeface="Meiryo"/>
              </a:rPr>
              <a:t>が優位</a:t>
            </a:r>
            <a:endParaRPr sz="2200" b="0" dirty="0">
              <a:solidFill>
                <a:srgbClr val="808080"/>
              </a:solidFill>
              <a:latin typeface="Meiryo"/>
              <a:ea typeface="Meiryo"/>
              <a:cs typeface="Meiryo"/>
            </a:endParaRPr>
          </a:p>
        </p:txBody>
      </p:sp>
      <p:sp>
        <p:nvSpPr>
          <p:cNvPr id="48" name="TextBox 47"/>
          <p:cNvSpPr txBox="1"/>
          <p:nvPr/>
        </p:nvSpPr>
        <p:spPr>
          <a:xfrm>
            <a:off x="8290560" y="4404133"/>
            <a:ext cx="3291840" cy="384048"/>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27. Tabara 2016</a:t>
            </a:r>
          </a:p>
        </p:txBody>
      </p:sp>
      <p:sp>
        <p:nvSpPr>
          <p:cNvPr id="49" name="TextBox 48"/>
          <p:cNvSpPr txBox="1"/>
          <p:nvPr/>
        </p:nvSpPr>
        <p:spPr>
          <a:xfrm>
            <a:off x="8290560" y="4806469"/>
            <a:ext cx="3291840" cy="384048"/>
          </a:xfrm>
          <a:prstGeom prst="rect">
            <a:avLst/>
          </a:prstGeom>
          <a:noFill/>
        </p:spPr>
        <p:txBody>
          <a:bodyPr wrap="square" lIns="0" tIns="0" rIns="0" bIns="0" anchor="t">
            <a:spAutoFit/>
          </a:bodyPr>
          <a:lstStyle/>
          <a:p>
            <a:pPr algn="l">
              <a:spcAft>
                <a:spcPts val="100"/>
              </a:spcAft>
            </a:pPr>
            <a:r>
              <a:rPr sz="2200" b="0" dirty="0" err="1">
                <a:solidFill>
                  <a:srgbClr val="808080"/>
                </a:solidFill>
                <a:latin typeface="Meiryo"/>
                <a:ea typeface="Meiryo"/>
                <a:cs typeface="Meiryo"/>
              </a:rPr>
              <a:t>関連は弱い</a:t>
            </a:r>
            <a:endParaRPr sz="2200" b="0" dirty="0">
              <a:solidFill>
                <a:srgbClr val="808080"/>
              </a:solidFill>
              <a:latin typeface="Meiryo"/>
              <a:ea typeface="Meiryo"/>
              <a:cs typeface="Meiryo"/>
            </a:endParaRPr>
          </a:p>
        </p:txBody>
      </p:sp>
      <p:sp>
        <p:nvSpPr>
          <p:cNvPr id="5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35/72</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42A5A-F54E-2A96-5C0C-CDC7E47BE8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59EFC-B386-F317-2F15-3C6CEDA9BD27}"/>
              </a:ext>
            </a:extLst>
          </p:cNvPr>
          <p:cNvSpPr>
            <a:spLocks noGrp="1"/>
          </p:cNvSpPr>
          <p:nvPr>
            <p:ph type="title"/>
          </p:nvPr>
        </p:nvSpPr>
        <p:spPr/>
        <p:txBody>
          <a:bodyPr/>
          <a:lstStyle/>
          <a:p>
            <a:pPr algn="l"/>
            <a:r>
              <a:rPr sz="4600" dirty="0">
                <a:latin typeface="Meiryo"/>
                <a:ea typeface="Meiryo"/>
                <a:cs typeface="Meiryo"/>
              </a:rPr>
              <a:t>3.3  b/a と SI</a:t>
            </a:r>
          </a:p>
        </p:txBody>
      </p:sp>
      <p:sp>
        <p:nvSpPr>
          <p:cNvPr id="12" name="Off-page Connector 4">
            <a:extLst>
              <a:ext uri="{FF2B5EF4-FFF2-40B4-BE49-F238E27FC236}">
                <a16:creationId xmlns:a16="http://schemas.microsoft.com/office/drawing/2014/main" id="{1A6D44E0-9C70-A806-FDC9-9EB5FDF14280}"/>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17EC24F4-CACD-616A-3BD2-0926E1860CC0}"/>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7507A708-B891-3804-47A9-01F652BC4933}"/>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0A840E67-0AC1-5787-BEC9-02E9BC875430}"/>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6D797FB8-1913-10AF-6541-098470D4D9DB}"/>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5" name="表 4">
            <a:extLst>
              <a:ext uri="{FF2B5EF4-FFF2-40B4-BE49-F238E27FC236}">
                <a16:creationId xmlns:a16="http://schemas.microsoft.com/office/drawing/2014/main" id="{5EA9EBCB-6381-8641-46BD-D4F4E87DFAFD}"/>
              </a:ext>
            </a:extLst>
          </p:cNvPr>
          <p:cNvGraphicFramePr>
            <a:graphicFrameLocks noGrp="1"/>
          </p:cNvGraphicFramePr>
          <p:nvPr>
            <p:extLst>
              <p:ext uri="{D42A27DB-BD31-4B8C-83A1-F6EECF244321}">
                <p14:modId xmlns:p14="http://schemas.microsoft.com/office/powerpoint/2010/main" val="1457008109"/>
              </p:ext>
            </p:extLst>
          </p:nvPr>
        </p:nvGraphicFramePr>
        <p:xfrm>
          <a:off x="248659" y="1690688"/>
          <a:ext cx="11694681" cy="3566160"/>
        </p:xfrm>
        <a:graphic>
          <a:graphicData uri="http://schemas.openxmlformats.org/drawingml/2006/table">
            <a:tbl>
              <a:tblPr firstRow="1" bandRow="1">
                <a:tableStyleId>{74C1A8A3-306A-4EB7-A6B1-4F7E0EB9C5D6}</a:tableStyleId>
              </a:tblPr>
              <a:tblGrid>
                <a:gridCol w="3118655">
                  <a:extLst>
                    <a:ext uri="{9D8B030D-6E8A-4147-A177-3AD203B41FA5}">
                      <a16:colId xmlns:a16="http://schemas.microsoft.com/office/drawing/2014/main" val="1747660977"/>
                    </a:ext>
                  </a:extLst>
                </a:gridCol>
                <a:gridCol w="4354286">
                  <a:extLst>
                    <a:ext uri="{9D8B030D-6E8A-4147-A177-3AD203B41FA5}">
                      <a16:colId xmlns:a16="http://schemas.microsoft.com/office/drawing/2014/main" val="3064939031"/>
                    </a:ext>
                  </a:extLst>
                </a:gridCol>
                <a:gridCol w="4221740">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b/a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SI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年齢との相関</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0.51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0.63</a:t>
                      </a:r>
                      <a:r>
                        <a:rPr kumimoji="1" lang="ja-JP" altLang="en-US" sz="2400">
                          <a:latin typeface="+mj-ea"/>
                          <a:ea typeface="+mj-ea"/>
                        </a:rPr>
                        <a:t>）</a:t>
                      </a:r>
                    </a:p>
                  </a:txBody>
                  <a:tcPr/>
                </a:tc>
                <a:extLst>
                  <a:ext uri="{0D108BD9-81ED-4DB2-BD59-A6C34878D82A}">
                    <a16:rowId xmlns:a16="http://schemas.microsoft.com/office/drawing/2014/main" val="284507999"/>
                  </a:ext>
                </a:extLst>
              </a:tr>
              <a:tr h="533276">
                <a:tc>
                  <a:txBody>
                    <a:bodyPr/>
                    <a:lstStyle/>
                    <a:p>
                      <a:pPr>
                        <a:lnSpc>
                          <a:spcPct val="150000"/>
                        </a:lnSpc>
                      </a:pPr>
                      <a:r>
                        <a:rPr kumimoji="1" lang="en-US" altLang="ja-JP" sz="2400" dirty="0">
                          <a:latin typeface="+mj-ea"/>
                          <a:ea typeface="+mj-ea"/>
                        </a:rPr>
                        <a:t>PWV</a:t>
                      </a:r>
                      <a:r>
                        <a:rPr kumimoji="1" lang="ja-JP" altLang="en-US" sz="2400">
                          <a:latin typeface="+mj-ea"/>
                          <a:ea typeface="+mj-ea"/>
                        </a:rPr>
                        <a:t>との相関</a:t>
                      </a: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0.65</a:t>
                      </a:r>
                      <a:r>
                        <a:rPr kumimoji="1" lang="ja-JP" altLang="en-US" sz="2400">
                          <a:latin typeface="+mj-ea"/>
                          <a:ea typeface="+mj-ea"/>
                        </a:rPr>
                        <a:t>）</a:t>
                      </a:r>
                    </a:p>
                  </a:txBody>
                  <a:tcPr/>
                </a:tc>
                <a:extLst>
                  <a:ext uri="{0D108BD9-81ED-4DB2-BD59-A6C34878D82A}">
                    <a16:rowId xmlns:a16="http://schemas.microsoft.com/office/drawing/2014/main" val="4154383642"/>
                  </a:ext>
                </a:extLst>
              </a:tr>
              <a:tr h="532175">
                <a:tc>
                  <a:txBody>
                    <a:bodyPr/>
                    <a:lstStyle/>
                    <a:p>
                      <a:pPr>
                        <a:lnSpc>
                          <a:spcPct val="150000"/>
                        </a:lnSpc>
                      </a:pPr>
                      <a:r>
                        <a:rPr kumimoji="1" lang="ja-JP" altLang="en-US" sz="2400">
                          <a:latin typeface="+mj-ea"/>
                          <a:ea typeface="+mj-ea"/>
                        </a:rPr>
                        <a:t>血圧との相関</a:t>
                      </a:r>
                    </a:p>
                  </a:txBody>
                  <a:tcPr/>
                </a:tc>
                <a:tc>
                  <a:txBody>
                    <a:bodyPr/>
                    <a:lstStyle/>
                    <a:p>
                      <a:pPr>
                        <a:lnSpc>
                          <a:spcPct val="150000"/>
                        </a:lnSpc>
                      </a:pPr>
                      <a:r>
                        <a:rPr kumimoji="1" lang="en-US" altLang="ja-JP" sz="2400" dirty="0">
                          <a:latin typeface="+mj-ea"/>
                          <a:ea typeface="+mj-ea"/>
                        </a:rPr>
                        <a:t>×</a:t>
                      </a:r>
                      <a:r>
                        <a:rPr kumimoji="1" lang="ja-JP" altLang="en-US" sz="2400">
                          <a:latin typeface="+mj-ea"/>
                          <a:ea typeface="+mj-ea"/>
                        </a:rPr>
                        <a:t>（</a:t>
                      </a:r>
                      <a:r>
                        <a:rPr kumimoji="1" lang="en-US" altLang="ja-JP" sz="2400" dirty="0">
                          <a:latin typeface="+mj-ea"/>
                          <a:ea typeface="+mj-ea"/>
                        </a:rPr>
                        <a:t>0.19</a:t>
                      </a:r>
                      <a:r>
                        <a:rPr kumimoji="1" lang="ja-JP" altLang="en-US" sz="2400">
                          <a:latin typeface="+mj-ea"/>
                          <a:ea typeface="+mj-ea"/>
                        </a:rPr>
                        <a:t>）</a:t>
                      </a:r>
                    </a:p>
                  </a:txBody>
                  <a:tcPr/>
                </a:tc>
                <a:tc>
                  <a:txBody>
                    <a:bodyPr/>
                    <a:lstStyle/>
                    <a:p>
                      <a:pPr>
                        <a:lnSpc>
                          <a:spcPct val="150000"/>
                        </a:lnSpc>
                      </a:pPr>
                      <a:r>
                        <a:rPr kumimoji="1" lang="ja-JP" altLang="en-US" sz="2400">
                          <a:latin typeface="+mj-ea"/>
                          <a:ea typeface="+mj-ea"/>
                        </a:rPr>
                        <a:t>あり（特に</a:t>
                      </a:r>
                      <a:r>
                        <a:rPr kumimoji="1" lang="en-US" altLang="ja-JP" sz="2400" dirty="0">
                          <a:latin typeface="+mj-ea"/>
                          <a:ea typeface="+mj-ea"/>
                        </a:rPr>
                        <a:t>DBP</a:t>
                      </a:r>
                      <a:r>
                        <a:rPr kumimoji="1" lang="ja-JP" altLang="en-US" sz="2400">
                          <a:latin typeface="+mj-ea"/>
                          <a:ea typeface="+mj-ea"/>
                        </a:rPr>
                        <a:t>で</a:t>
                      </a:r>
                      <a:r>
                        <a:rPr kumimoji="1" lang="en-US" altLang="ja-JP" sz="2400" dirty="0">
                          <a:latin typeface="+mj-ea"/>
                          <a:ea typeface="+mj-ea"/>
                        </a:rPr>
                        <a:t>0.68</a:t>
                      </a:r>
                      <a:r>
                        <a:rPr kumimoji="1" lang="ja-JP" altLang="en-US" sz="2400">
                          <a:latin typeface="+mj-ea"/>
                          <a:ea typeface="+mj-ea"/>
                        </a:rPr>
                        <a:t>）</a:t>
                      </a:r>
                    </a:p>
                  </a:txBody>
                  <a:tcPr/>
                </a:tc>
                <a:extLst>
                  <a:ext uri="{0D108BD9-81ED-4DB2-BD59-A6C34878D82A}">
                    <a16:rowId xmlns:a16="http://schemas.microsoft.com/office/drawing/2014/main" val="1477270729"/>
                  </a:ext>
                </a:extLst>
              </a:tr>
              <a:tr h="533276">
                <a:tc>
                  <a:txBody>
                    <a:bodyPr/>
                    <a:lstStyle/>
                    <a:p>
                      <a:pPr>
                        <a:lnSpc>
                          <a:spcPct val="150000"/>
                        </a:lnSpc>
                      </a:pPr>
                      <a:r>
                        <a:rPr kumimoji="1" lang="ja-JP" altLang="en-US" sz="2400">
                          <a:latin typeface="+mj-ea"/>
                          <a:ea typeface="+mj-ea"/>
                        </a:rPr>
                        <a:t>利点</a:t>
                      </a:r>
                    </a:p>
                  </a:txBody>
                  <a:tcPr/>
                </a:tc>
                <a:tc>
                  <a:txBody>
                    <a:bodyPr/>
                    <a:lstStyle/>
                    <a:p>
                      <a:pPr>
                        <a:lnSpc>
                          <a:spcPct val="150000"/>
                        </a:lnSpc>
                      </a:pPr>
                      <a:r>
                        <a:rPr kumimoji="1" lang="ja-JP" altLang="en-US" sz="2400">
                          <a:latin typeface="+mj-ea"/>
                          <a:ea typeface="+mj-ea"/>
                        </a:rPr>
                        <a:t>検出が頑健</a:t>
                      </a:r>
                    </a:p>
                  </a:txBody>
                  <a:tcPr/>
                </a:tc>
                <a:tc>
                  <a:txBody>
                    <a:bodyPr/>
                    <a:lstStyle/>
                    <a:p>
                      <a:pPr>
                        <a:lnSpc>
                          <a:spcPct val="150000"/>
                        </a:lnSpc>
                      </a:pPr>
                      <a:r>
                        <a:rPr kumimoji="1" lang="ja-JP" altLang="en-US" sz="2400">
                          <a:latin typeface="+mj-ea"/>
                          <a:ea typeface="+mj-ea"/>
                        </a:rPr>
                        <a:t>大動脈弾性と強い相関</a:t>
                      </a:r>
                    </a:p>
                  </a:txBody>
                  <a:tcPr/>
                </a:tc>
                <a:extLst>
                  <a:ext uri="{0D108BD9-81ED-4DB2-BD59-A6C34878D82A}">
                    <a16:rowId xmlns:a16="http://schemas.microsoft.com/office/drawing/2014/main" val="980721823"/>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臓器障害との関連がない</a:t>
                      </a:r>
                    </a:p>
                  </a:txBody>
                  <a:tcPr/>
                </a:tc>
                <a:tc>
                  <a:txBody>
                    <a:bodyPr/>
                    <a:lstStyle/>
                    <a:p>
                      <a:pPr>
                        <a:lnSpc>
                          <a:spcPct val="150000"/>
                        </a:lnSpc>
                      </a:pPr>
                      <a:r>
                        <a:rPr kumimoji="1" lang="ja-JP" altLang="en-US" sz="2400">
                          <a:latin typeface="+mj-ea"/>
                          <a:ea typeface="+mj-ea"/>
                        </a:rPr>
                        <a:t>前向きアウトカム研究がない</a:t>
                      </a:r>
                    </a:p>
                  </a:txBody>
                  <a:tcPr/>
                </a:tc>
                <a:extLst>
                  <a:ext uri="{0D108BD9-81ED-4DB2-BD59-A6C34878D82A}">
                    <a16:rowId xmlns:a16="http://schemas.microsoft.com/office/drawing/2014/main" val="2897397817"/>
                  </a:ext>
                </a:extLst>
              </a:tr>
            </a:tbl>
          </a:graphicData>
        </a:graphic>
      </p:graphicFrame>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12. Millasseau 2003　／　27. Tabara 2016　／　28. von Wowern 2015　／　29. Elgendi 2014</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36/72</a:t>
            </a:r>
          </a:p>
        </p:txBody>
      </p:sp>
    </p:spTree>
    <p:extLst>
      <p:ext uri="{BB962C8B-B14F-4D97-AF65-F5344CB8AC3E}">
        <p14:creationId xmlns:p14="http://schemas.microsoft.com/office/powerpoint/2010/main" val="1026032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0E450-F5BA-B811-63EC-6E48220ABC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FD4FB-72BD-74DC-D03C-696E61566395}"/>
              </a:ext>
            </a:extLst>
          </p:cNvPr>
          <p:cNvSpPr>
            <a:spLocks noGrp="1"/>
          </p:cNvSpPr>
          <p:nvPr>
            <p:ph type="title"/>
          </p:nvPr>
        </p:nvSpPr>
        <p:spPr/>
        <p:txBody>
          <a:bodyPr/>
          <a:lstStyle/>
          <a:p>
            <a:pPr algn="l"/>
            <a:r>
              <a:rPr sz="4600" dirty="0">
                <a:latin typeface="Meiryo"/>
                <a:ea typeface="Meiryo"/>
                <a:cs typeface="Meiryo"/>
              </a:rPr>
              <a:t>3.3  b/a と SI</a:t>
            </a:r>
          </a:p>
        </p:txBody>
      </p:sp>
      <p:sp>
        <p:nvSpPr>
          <p:cNvPr id="12" name="Off-page Connector 4">
            <a:extLst>
              <a:ext uri="{FF2B5EF4-FFF2-40B4-BE49-F238E27FC236}">
                <a16:creationId xmlns:a16="http://schemas.microsoft.com/office/drawing/2014/main" id="{9063AB0A-C61E-9098-D072-192F4A1E3A1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70CB13B5-F3EA-5563-3466-60B5F6816F5B}"/>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1DA8C7D5-CD9E-A5CA-6434-81A7AB94FE84}"/>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5901C1CA-3510-321C-5C05-F2842345771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1A231BE-60F1-2D79-FFE7-07D3C3C46FB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5" name="表 4">
            <a:extLst>
              <a:ext uri="{FF2B5EF4-FFF2-40B4-BE49-F238E27FC236}">
                <a16:creationId xmlns:a16="http://schemas.microsoft.com/office/drawing/2014/main" id="{4F010993-BC2F-F701-3624-F2DB11E24D85}"/>
              </a:ext>
            </a:extLst>
          </p:cNvPr>
          <p:cNvGraphicFramePr>
            <a:graphicFrameLocks noGrp="1"/>
          </p:cNvGraphicFramePr>
          <p:nvPr/>
        </p:nvGraphicFramePr>
        <p:xfrm>
          <a:off x="248659" y="1690688"/>
          <a:ext cx="11694681" cy="3566160"/>
        </p:xfrm>
        <a:graphic>
          <a:graphicData uri="http://schemas.openxmlformats.org/drawingml/2006/table">
            <a:tbl>
              <a:tblPr firstRow="1" bandRow="1">
                <a:tableStyleId>{74C1A8A3-306A-4EB7-A6B1-4F7E0EB9C5D6}</a:tableStyleId>
              </a:tblPr>
              <a:tblGrid>
                <a:gridCol w="3118655">
                  <a:extLst>
                    <a:ext uri="{9D8B030D-6E8A-4147-A177-3AD203B41FA5}">
                      <a16:colId xmlns:a16="http://schemas.microsoft.com/office/drawing/2014/main" val="1747660977"/>
                    </a:ext>
                  </a:extLst>
                </a:gridCol>
                <a:gridCol w="4354286">
                  <a:extLst>
                    <a:ext uri="{9D8B030D-6E8A-4147-A177-3AD203B41FA5}">
                      <a16:colId xmlns:a16="http://schemas.microsoft.com/office/drawing/2014/main" val="3064939031"/>
                    </a:ext>
                  </a:extLst>
                </a:gridCol>
                <a:gridCol w="4221740">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b/a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SI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年齢との相関</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0.51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0.63</a:t>
                      </a:r>
                      <a:r>
                        <a:rPr kumimoji="1" lang="ja-JP" altLang="en-US" sz="2400">
                          <a:latin typeface="+mj-ea"/>
                          <a:ea typeface="+mj-ea"/>
                        </a:rPr>
                        <a:t>）</a:t>
                      </a:r>
                    </a:p>
                  </a:txBody>
                  <a:tcPr/>
                </a:tc>
                <a:extLst>
                  <a:ext uri="{0D108BD9-81ED-4DB2-BD59-A6C34878D82A}">
                    <a16:rowId xmlns:a16="http://schemas.microsoft.com/office/drawing/2014/main" val="284507999"/>
                  </a:ext>
                </a:extLst>
              </a:tr>
              <a:tr h="533276">
                <a:tc>
                  <a:txBody>
                    <a:bodyPr/>
                    <a:lstStyle/>
                    <a:p>
                      <a:pPr>
                        <a:lnSpc>
                          <a:spcPct val="150000"/>
                        </a:lnSpc>
                      </a:pPr>
                      <a:r>
                        <a:rPr kumimoji="1" lang="en-US" altLang="ja-JP" sz="2400" dirty="0">
                          <a:latin typeface="+mj-ea"/>
                          <a:ea typeface="+mj-ea"/>
                        </a:rPr>
                        <a:t>PWV</a:t>
                      </a:r>
                      <a:r>
                        <a:rPr kumimoji="1" lang="ja-JP" altLang="en-US" sz="2400">
                          <a:latin typeface="+mj-ea"/>
                          <a:ea typeface="+mj-ea"/>
                        </a:rPr>
                        <a:t>との相関</a:t>
                      </a: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0.65</a:t>
                      </a:r>
                      <a:r>
                        <a:rPr kumimoji="1" lang="ja-JP" altLang="en-US" sz="2400">
                          <a:latin typeface="+mj-ea"/>
                          <a:ea typeface="+mj-ea"/>
                        </a:rPr>
                        <a:t>）</a:t>
                      </a:r>
                    </a:p>
                  </a:txBody>
                  <a:tcPr/>
                </a:tc>
                <a:extLst>
                  <a:ext uri="{0D108BD9-81ED-4DB2-BD59-A6C34878D82A}">
                    <a16:rowId xmlns:a16="http://schemas.microsoft.com/office/drawing/2014/main" val="4154383642"/>
                  </a:ext>
                </a:extLst>
              </a:tr>
              <a:tr h="532175">
                <a:tc>
                  <a:txBody>
                    <a:bodyPr/>
                    <a:lstStyle/>
                    <a:p>
                      <a:pPr>
                        <a:lnSpc>
                          <a:spcPct val="150000"/>
                        </a:lnSpc>
                      </a:pPr>
                      <a:r>
                        <a:rPr kumimoji="1" lang="ja-JP" altLang="en-US" sz="2400">
                          <a:latin typeface="+mj-ea"/>
                          <a:ea typeface="+mj-ea"/>
                        </a:rPr>
                        <a:t>血圧との相関</a:t>
                      </a:r>
                    </a:p>
                  </a:txBody>
                  <a:tcPr/>
                </a:tc>
                <a:tc>
                  <a:txBody>
                    <a:bodyPr/>
                    <a:lstStyle/>
                    <a:p>
                      <a:pPr>
                        <a:lnSpc>
                          <a:spcPct val="150000"/>
                        </a:lnSpc>
                      </a:pPr>
                      <a:r>
                        <a:rPr kumimoji="1" lang="en-US" altLang="ja-JP" sz="2400" dirty="0">
                          <a:latin typeface="+mj-ea"/>
                          <a:ea typeface="+mj-ea"/>
                        </a:rPr>
                        <a:t>×</a:t>
                      </a:r>
                      <a:r>
                        <a:rPr kumimoji="1" lang="ja-JP" altLang="en-US" sz="2400">
                          <a:latin typeface="+mj-ea"/>
                          <a:ea typeface="+mj-ea"/>
                        </a:rPr>
                        <a:t>（</a:t>
                      </a:r>
                      <a:r>
                        <a:rPr kumimoji="1" lang="en-US" altLang="ja-JP" sz="2400" dirty="0">
                          <a:latin typeface="+mj-ea"/>
                          <a:ea typeface="+mj-ea"/>
                        </a:rPr>
                        <a:t>0.19</a:t>
                      </a:r>
                      <a:r>
                        <a:rPr kumimoji="1" lang="ja-JP" altLang="en-US" sz="2400">
                          <a:latin typeface="+mj-ea"/>
                          <a:ea typeface="+mj-ea"/>
                        </a:rPr>
                        <a:t>）</a:t>
                      </a:r>
                    </a:p>
                  </a:txBody>
                  <a:tcPr/>
                </a:tc>
                <a:tc>
                  <a:txBody>
                    <a:bodyPr/>
                    <a:lstStyle/>
                    <a:p>
                      <a:pPr>
                        <a:lnSpc>
                          <a:spcPct val="150000"/>
                        </a:lnSpc>
                      </a:pPr>
                      <a:r>
                        <a:rPr kumimoji="1" lang="ja-JP" altLang="en-US" sz="2400">
                          <a:latin typeface="+mj-ea"/>
                          <a:ea typeface="+mj-ea"/>
                        </a:rPr>
                        <a:t>あり（特に</a:t>
                      </a:r>
                      <a:r>
                        <a:rPr kumimoji="1" lang="en-US" altLang="ja-JP" sz="2400" dirty="0">
                          <a:latin typeface="+mj-ea"/>
                          <a:ea typeface="+mj-ea"/>
                        </a:rPr>
                        <a:t>DBP</a:t>
                      </a:r>
                      <a:r>
                        <a:rPr kumimoji="1" lang="ja-JP" altLang="en-US" sz="2400">
                          <a:latin typeface="+mj-ea"/>
                          <a:ea typeface="+mj-ea"/>
                        </a:rPr>
                        <a:t>で</a:t>
                      </a:r>
                      <a:r>
                        <a:rPr kumimoji="1" lang="en-US" altLang="ja-JP" sz="2400" dirty="0">
                          <a:latin typeface="+mj-ea"/>
                          <a:ea typeface="+mj-ea"/>
                        </a:rPr>
                        <a:t>0.68</a:t>
                      </a:r>
                      <a:r>
                        <a:rPr kumimoji="1" lang="ja-JP" altLang="en-US" sz="2400">
                          <a:latin typeface="+mj-ea"/>
                          <a:ea typeface="+mj-ea"/>
                        </a:rPr>
                        <a:t>）</a:t>
                      </a:r>
                    </a:p>
                  </a:txBody>
                  <a:tcPr/>
                </a:tc>
                <a:extLst>
                  <a:ext uri="{0D108BD9-81ED-4DB2-BD59-A6C34878D82A}">
                    <a16:rowId xmlns:a16="http://schemas.microsoft.com/office/drawing/2014/main" val="1477270729"/>
                  </a:ext>
                </a:extLst>
              </a:tr>
              <a:tr h="533276">
                <a:tc>
                  <a:txBody>
                    <a:bodyPr/>
                    <a:lstStyle/>
                    <a:p>
                      <a:pPr>
                        <a:lnSpc>
                          <a:spcPct val="150000"/>
                        </a:lnSpc>
                      </a:pPr>
                      <a:r>
                        <a:rPr kumimoji="1" lang="ja-JP" altLang="en-US" sz="2400">
                          <a:latin typeface="+mj-ea"/>
                          <a:ea typeface="+mj-ea"/>
                        </a:rPr>
                        <a:t>利点</a:t>
                      </a:r>
                    </a:p>
                  </a:txBody>
                  <a:tcPr/>
                </a:tc>
                <a:tc>
                  <a:txBody>
                    <a:bodyPr/>
                    <a:lstStyle/>
                    <a:p>
                      <a:pPr>
                        <a:lnSpc>
                          <a:spcPct val="150000"/>
                        </a:lnSpc>
                      </a:pPr>
                      <a:r>
                        <a:rPr kumimoji="1" lang="ja-JP" altLang="en-US" sz="2400">
                          <a:latin typeface="+mj-ea"/>
                          <a:ea typeface="+mj-ea"/>
                        </a:rPr>
                        <a:t>検出が頑健</a:t>
                      </a:r>
                    </a:p>
                  </a:txBody>
                  <a:tcPr/>
                </a:tc>
                <a:tc>
                  <a:txBody>
                    <a:bodyPr/>
                    <a:lstStyle/>
                    <a:p>
                      <a:pPr>
                        <a:lnSpc>
                          <a:spcPct val="150000"/>
                        </a:lnSpc>
                      </a:pPr>
                      <a:r>
                        <a:rPr kumimoji="1" lang="ja-JP" altLang="en-US" sz="2400">
                          <a:latin typeface="+mj-ea"/>
                          <a:ea typeface="+mj-ea"/>
                        </a:rPr>
                        <a:t>大動脈弾性と強い相関</a:t>
                      </a:r>
                    </a:p>
                  </a:txBody>
                  <a:tcPr/>
                </a:tc>
                <a:extLst>
                  <a:ext uri="{0D108BD9-81ED-4DB2-BD59-A6C34878D82A}">
                    <a16:rowId xmlns:a16="http://schemas.microsoft.com/office/drawing/2014/main" val="980721823"/>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臓器障害との関連がない</a:t>
                      </a:r>
                    </a:p>
                  </a:txBody>
                  <a:tcPr/>
                </a:tc>
                <a:tc>
                  <a:txBody>
                    <a:bodyPr/>
                    <a:lstStyle/>
                    <a:p>
                      <a:pPr>
                        <a:lnSpc>
                          <a:spcPct val="150000"/>
                        </a:lnSpc>
                      </a:pPr>
                      <a:r>
                        <a:rPr kumimoji="1" lang="ja-JP" altLang="en-US" sz="2400">
                          <a:latin typeface="+mj-ea"/>
                          <a:ea typeface="+mj-ea"/>
                        </a:rPr>
                        <a:t>前向きアウトカム研究がない</a:t>
                      </a:r>
                    </a:p>
                  </a:txBody>
                  <a:tcPr/>
                </a:tc>
                <a:extLst>
                  <a:ext uri="{0D108BD9-81ED-4DB2-BD59-A6C34878D82A}">
                    <a16:rowId xmlns:a16="http://schemas.microsoft.com/office/drawing/2014/main" val="2897397817"/>
                  </a:ext>
                </a:extLst>
              </a:tr>
            </a:tbl>
          </a:graphicData>
        </a:graphic>
      </p:graphicFrame>
      <p:sp>
        <p:nvSpPr>
          <p:cNvPr id="17" name="Source">
            <a:extLst>
              <a:ext uri="{FF2B5EF4-FFF2-40B4-BE49-F238E27FC236}">
                <a16:creationId xmlns:a16="http://schemas.microsoft.com/office/drawing/2014/main" id="{7EB3939B-817A-0AE9-C71C-BA2B09A3DB38}"/>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12. Millasseau 2003　／　27. Tabara 2016　／　28. von Wowern 2015　／　29. Elgendi 2014</a:t>
            </a:r>
          </a:p>
        </p:txBody>
      </p:sp>
      <p:sp>
        <p:nvSpPr>
          <p:cNvPr id="18" name="PageNo">
            <a:extLst>
              <a:ext uri="{FF2B5EF4-FFF2-40B4-BE49-F238E27FC236}">
                <a16:creationId xmlns:a16="http://schemas.microsoft.com/office/drawing/2014/main" id="{4D3C528E-186E-B544-54DD-2CF5DB467DB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36/72</a:t>
            </a:r>
          </a:p>
        </p:txBody>
      </p:sp>
      <p:sp>
        <p:nvSpPr>
          <p:cNvPr id="3" name="Rounded Rectangle 49">
            <a:extLst>
              <a:ext uri="{FF2B5EF4-FFF2-40B4-BE49-F238E27FC236}">
                <a16:creationId xmlns:a16="http://schemas.microsoft.com/office/drawing/2014/main" id="{1CBEFFFE-D48D-011E-52C6-EC4FC8FA18D9}"/>
              </a:ext>
            </a:extLst>
          </p:cNvPr>
          <p:cNvSpPr/>
          <p:nvPr/>
        </p:nvSpPr>
        <p:spPr>
          <a:xfrm>
            <a:off x="472439" y="3429000"/>
            <a:ext cx="11247120" cy="7772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3200" b="1">
                <a:solidFill>
                  <a:schemeClr val="tx1"/>
                </a:solidFill>
                <a:latin typeface="+mn-ea"/>
              </a:rPr>
              <a:t>動脈硬化の指標としては</a:t>
            </a:r>
            <a:r>
              <a:rPr lang="en-US" altLang="ja-JP" sz="3200" b="1" dirty="0">
                <a:solidFill>
                  <a:schemeClr val="tx1"/>
                </a:solidFill>
                <a:latin typeface="+mn-ea"/>
              </a:rPr>
              <a:t>SI</a:t>
            </a:r>
            <a:r>
              <a:rPr lang="ja-JP" altLang="en-US" sz="3200" b="1">
                <a:solidFill>
                  <a:schemeClr val="tx1"/>
                </a:solidFill>
                <a:latin typeface="+mn-ea"/>
              </a:rPr>
              <a:t>が有利</a:t>
            </a:r>
            <a:endParaRPr sz="3200" b="1" dirty="0">
              <a:solidFill>
                <a:schemeClr val="tx1"/>
              </a:solidFill>
              <a:latin typeface="+mn-ea"/>
            </a:endParaRPr>
          </a:p>
        </p:txBody>
      </p:sp>
    </p:spTree>
    <p:extLst>
      <p:ext uri="{BB962C8B-B14F-4D97-AF65-F5344CB8AC3E}">
        <p14:creationId xmlns:p14="http://schemas.microsoft.com/office/powerpoint/2010/main" val="22810381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F3C04-3644-8CAA-2A00-DA61634C8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08F11-8283-08BE-58A9-332E53339E22}"/>
              </a:ext>
            </a:extLst>
          </p:cNvPr>
          <p:cNvSpPr>
            <a:spLocks noGrp="1"/>
          </p:cNvSpPr>
          <p:nvPr>
            <p:ph type="title"/>
          </p:nvPr>
        </p:nvSpPr>
        <p:spPr/>
        <p:txBody>
          <a:bodyPr/>
          <a:lstStyle/>
          <a:p>
            <a:pPr algn="l"/>
            <a:r>
              <a:rPr sz="4600" dirty="0">
                <a:latin typeface="Meiryo"/>
                <a:ea typeface="Meiryo"/>
                <a:cs typeface="Meiryo"/>
              </a:rPr>
              <a:t>3.3  d/a と RI</a:t>
            </a:r>
          </a:p>
        </p:txBody>
      </p:sp>
      <p:sp>
        <p:nvSpPr>
          <p:cNvPr id="12" name="Off-page Connector 4">
            <a:extLst>
              <a:ext uri="{FF2B5EF4-FFF2-40B4-BE49-F238E27FC236}">
                <a16:creationId xmlns:a16="http://schemas.microsoft.com/office/drawing/2014/main" id="{259A016A-8E0E-8D4C-35C4-64C9BE13B5E2}"/>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35736BF2-6A2D-8A12-2687-DE4AAAE5E634}"/>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69E7E4A2-C128-5272-2FC9-0195AD02F959}"/>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444914FA-1CD2-95DD-4B74-DE7BFA47777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AF8EF7DC-7AF5-471B-21FD-63C1A911635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5" name="表 4">
            <a:extLst>
              <a:ext uri="{FF2B5EF4-FFF2-40B4-BE49-F238E27FC236}">
                <a16:creationId xmlns:a16="http://schemas.microsoft.com/office/drawing/2014/main" id="{2364539F-58C8-53A8-3467-FB73BD3962B2}"/>
              </a:ext>
            </a:extLst>
          </p:cNvPr>
          <p:cNvGraphicFramePr>
            <a:graphicFrameLocks noGrp="1"/>
          </p:cNvGraphicFramePr>
          <p:nvPr>
            <p:extLst>
              <p:ext uri="{D42A27DB-BD31-4B8C-83A1-F6EECF244321}">
                <p14:modId xmlns:p14="http://schemas.microsoft.com/office/powerpoint/2010/main" val="837418225"/>
              </p:ext>
            </p:extLst>
          </p:nvPr>
        </p:nvGraphicFramePr>
        <p:xfrm>
          <a:off x="248659" y="1690688"/>
          <a:ext cx="11694681" cy="4495800"/>
        </p:xfrm>
        <a:graphic>
          <a:graphicData uri="http://schemas.openxmlformats.org/drawingml/2006/table">
            <a:tbl>
              <a:tblPr firstRow="1" bandRow="1">
                <a:tableStyleId>{74C1A8A3-306A-4EB7-A6B1-4F7E0EB9C5D6}</a:tableStyleId>
              </a:tblPr>
              <a:tblGrid>
                <a:gridCol w="3678572">
                  <a:extLst>
                    <a:ext uri="{9D8B030D-6E8A-4147-A177-3AD203B41FA5}">
                      <a16:colId xmlns:a16="http://schemas.microsoft.com/office/drawing/2014/main" val="1747660977"/>
                    </a:ext>
                  </a:extLst>
                </a:gridCol>
                <a:gridCol w="4117882">
                  <a:extLst>
                    <a:ext uri="{9D8B030D-6E8A-4147-A177-3AD203B41FA5}">
                      <a16:colId xmlns:a16="http://schemas.microsoft.com/office/drawing/2014/main" val="3064939031"/>
                    </a:ext>
                  </a:extLst>
                </a:gridCol>
                <a:gridCol w="3898227">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d/a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RI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昇圧薬</a:t>
                      </a:r>
                      <a:r>
                        <a:rPr kumimoji="1" lang="en-US" altLang="ja-JP" sz="2400" dirty="0">
                          <a:latin typeface="+mj-ea"/>
                          <a:ea typeface="+mj-ea"/>
                        </a:rPr>
                        <a:t>(</a:t>
                      </a:r>
                      <a:r>
                        <a:rPr kumimoji="1" lang="en-US" altLang="ja-JP" sz="2400" dirty="0" err="1">
                          <a:latin typeface="+mj-ea"/>
                          <a:ea typeface="+mj-ea"/>
                        </a:rPr>
                        <a:t>ATⅡ</a:t>
                      </a:r>
                      <a:r>
                        <a:rPr kumimoji="1" lang="en-US" altLang="ja-JP" sz="2400" dirty="0">
                          <a:latin typeface="+mj-ea"/>
                          <a:ea typeface="+mj-ea"/>
                        </a:rPr>
                        <a:t>)</a:t>
                      </a:r>
                      <a:r>
                        <a:rPr kumimoji="1" lang="ja-JP" altLang="en-US" sz="2400">
                          <a:latin typeface="+mj-ea"/>
                          <a:ea typeface="+mj-ea"/>
                        </a:rPr>
                        <a:t>への反応</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p>
                  </a:txBody>
                  <a:tcPr/>
                </a:tc>
                <a:extLst>
                  <a:ext uri="{0D108BD9-81ED-4DB2-BD59-A6C34878D82A}">
                    <a16:rowId xmlns:a16="http://schemas.microsoft.com/office/drawing/2014/main" val="284507999"/>
                  </a:ext>
                </a:extLst>
              </a:tr>
              <a:tr h="533276">
                <a:tc>
                  <a:txBody>
                    <a:bodyPr/>
                    <a:lstStyle/>
                    <a:p>
                      <a:pPr>
                        <a:lnSpc>
                          <a:spcPct val="150000"/>
                        </a:lnSpc>
                      </a:pPr>
                      <a:r>
                        <a:rPr kumimoji="1" lang="ja-JP" altLang="en-US" sz="2400">
                          <a:latin typeface="+mj-ea"/>
                          <a:ea typeface="+mj-ea"/>
                        </a:rPr>
                        <a:t>降圧薬</a:t>
                      </a:r>
                      <a:r>
                        <a:rPr kumimoji="1" lang="en-US" altLang="ja-JP" sz="2400" dirty="0">
                          <a:latin typeface="+mj-ea"/>
                          <a:ea typeface="+mj-ea"/>
                        </a:rPr>
                        <a:t>(GTN)</a:t>
                      </a:r>
                      <a:r>
                        <a:rPr kumimoji="1" lang="ja-JP" altLang="en-US" sz="2400">
                          <a:latin typeface="+mj-ea"/>
                          <a:ea typeface="+mj-ea"/>
                        </a:rPr>
                        <a:t>への反応</a:t>
                      </a:r>
                    </a:p>
                  </a:txBody>
                  <a:tcPr/>
                </a:tc>
                <a:tc>
                  <a:txBody>
                    <a:bodyPr/>
                    <a:lstStyle/>
                    <a:p>
                      <a:pPr>
                        <a:lnSpc>
                          <a:spcPct val="150000"/>
                        </a:lnSpc>
                      </a:pP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○（上昇）</a:t>
                      </a:r>
                    </a:p>
                  </a:txBody>
                  <a:tcPr/>
                </a:tc>
                <a:extLst>
                  <a:ext uri="{0D108BD9-81ED-4DB2-BD59-A6C34878D82A}">
                    <a16:rowId xmlns:a16="http://schemas.microsoft.com/office/drawing/2014/main" val="4154383642"/>
                  </a:ext>
                </a:extLst>
              </a:tr>
              <a:tr h="1244310">
                <a:tc>
                  <a:txBody>
                    <a:bodyPr/>
                    <a:lstStyle/>
                    <a:p>
                      <a:pPr>
                        <a:lnSpc>
                          <a:spcPct val="150000"/>
                        </a:lnSpc>
                      </a:pPr>
                      <a:r>
                        <a:rPr kumimoji="1" lang="ja-JP" altLang="en-US" sz="2400">
                          <a:latin typeface="+mj-ea"/>
                          <a:ea typeface="+mj-ea"/>
                        </a:rPr>
                        <a:t>術中の変化</a:t>
                      </a:r>
                    </a:p>
                  </a:txBody>
                  <a:tcPr/>
                </a:tc>
                <a:tc>
                  <a:txBody>
                    <a:bodyPr/>
                    <a:lstStyle/>
                    <a:p>
                      <a:pPr>
                        <a:lnSpc>
                          <a:spcPct val="150000"/>
                        </a:lnSpc>
                      </a:pPr>
                      <a:r>
                        <a:rPr kumimoji="1" lang="ja-JP" altLang="en-US" sz="2400">
                          <a:latin typeface="+mj-ea"/>
                          <a:ea typeface="+mj-ea"/>
                        </a:rPr>
                        <a:t>挿管時高血圧で低下</a:t>
                      </a:r>
                    </a:p>
                  </a:txBody>
                  <a:tcPr/>
                </a:tc>
                <a:tc>
                  <a:txBody>
                    <a:bodyPr/>
                    <a:lstStyle/>
                    <a:p>
                      <a:pPr>
                        <a:lnSpc>
                          <a:spcPct val="150000"/>
                        </a:lnSpc>
                      </a:pPr>
                      <a:r>
                        <a:rPr kumimoji="1" lang="ja-JP" altLang="en-US" sz="2400">
                          <a:latin typeface="+mj-ea"/>
                          <a:ea typeface="+mj-ea"/>
                        </a:rPr>
                        <a:t>麻酔中の低血圧検出</a:t>
                      </a:r>
                      <a:endParaRPr kumimoji="1" lang="en-US" altLang="ja-JP" sz="2400" dirty="0">
                        <a:latin typeface="+mj-ea"/>
                        <a:ea typeface="+mj-ea"/>
                      </a:endParaRPr>
                    </a:p>
                    <a:p>
                      <a:pPr>
                        <a:lnSpc>
                          <a:spcPct val="150000"/>
                        </a:lnSpc>
                      </a:pPr>
                      <a:r>
                        <a:rPr kumimoji="1" lang="ja-JP" altLang="en-US" sz="2400">
                          <a:latin typeface="+mj-ea"/>
                          <a:ea typeface="+mj-ea"/>
                        </a:rPr>
                        <a:t>血管収縮薬に反応</a:t>
                      </a:r>
                      <a:endParaRPr kumimoji="1" lang="en-US" altLang="ja-JP" sz="2400" dirty="0">
                        <a:latin typeface="+mj-ea"/>
                        <a:ea typeface="+mj-ea"/>
                      </a:endParaRPr>
                    </a:p>
                    <a:p>
                      <a:pPr>
                        <a:lnSpc>
                          <a:spcPct val="150000"/>
                        </a:lnSpc>
                      </a:pPr>
                      <a:r>
                        <a:rPr kumimoji="1" lang="ja-JP" altLang="en-US" sz="1600">
                          <a:latin typeface="+mj-ea"/>
                          <a:ea typeface="+mj-ea"/>
                        </a:rPr>
                        <a:t>（厳密には重複切痕</a:t>
                      </a:r>
                      <a:r>
                        <a:rPr kumimoji="1" lang="en-US" altLang="ja-JP" sz="1600" dirty="0">
                          <a:latin typeface="+mj-ea"/>
                          <a:ea typeface="+mj-ea"/>
                        </a:rPr>
                        <a:t>/</a:t>
                      </a:r>
                      <a:r>
                        <a:rPr kumimoji="1" lang="ja-JP" altLang="en-US" sz="1600">
                          <a:latin typeface="+mj-ea"/>
                          <a:ea typeface="+mj-ea"/>
                        </a:rPr>
                        <a:t>前進波ピーク）</a:t>
                      </a:r>
                    </a:p>
                  </a:txBody>
                  <a:tcPr/>
                </a:tc>
                <a:extLst>
                  <a:ext uri="{0D108BD9-81ED-4DB2-BD59-A6C34878D82A}">
                    <a16:rowId xmlns:a16="http://schemas.microsoft.com/office/drawing/2014/main" val="1477270729"/>
                  </a:ext>
                </a:extLst>
              </a:tr>
              <a:tr h="533276">
                <a:tc>
                  <a:txBody>
                    <a:bodyPr/>
                    <a:lstStyle/>
                    <a:p>
                      <a:pPr>
                        <a:lnSpc>
                          <a:spcPct val="150000"/>
                        </a:lnSpc>
                      </a:pPr>
                      <a:r>
                        <a:rPr kumimoji="1" lang="en-US" altLang="ja-JP" sz="2400" dirty="0">
                          <a:latin typeface="+mj-ea"/>
                          <a:ea typeface="+mj-ea"/>
                        </a:rPr>
                        <a:t>SVR</a:t>
                      </a:r>
                      <a:r>
                        <a:rPr kumimoji="1" lang="ja-JP" altLang="en-US" sz="2400">
                          <a:latin typeface="+mj-ea"/>
                          <a:ea typeface="+mj-ea"/>
                        </a:rPr>
                        <a:t>との比較</a:t>
                      </a:r>
                    </a:p>
                  </a:txBody>
                  <a:tcPr/>
                </a:tc>
                <a:tc>
                  <a:txBody>
                    <a:bodyPr/>
                    <a:lstStyle/>
                    <a:p>
                      <a:pPr>
                        <a:lnSpc>
                          <a:spcPct val="150000"/>
                        </a:lnSpc>
                      </a:pPr>
                      <a:r>
                        <a:rPr kumimoji="1" lang="ja-JP" altLang="en-US" sz="2400">
                          <a:latin typeface="+mj-ea"/>
                          <a:ea typeface="+mj-ea"/>
                        </a:rPr>
                        <a:t>なし</a:t>
                      </a:r>
                    </a:p>
                  </a:txBody>
                  <a:tcPr/>
                </a:tc>
                <a:tc>
                  <a:txBody>
                    <a:bodyPr/>
                    <a:lstStyle/>
                    <a:p>
                      <a:pPr>
                        <a:lnSpc>
                          <a:spcPct val="150000"/>
                        </a:lnSpc>
                      </a:pPr>
                      <a:r>
                        <a:rPr kumimoji="1" lang="ja-JP" altLang="en-US" sz="2400">
                          <a:latin typeface="+mj-ea"/>
                          <a:ea typeface="+mj-ea"/>
                        </a:rPr>
                        <a:t>あり（まずまず）</a:t>
                      </a:r>
                    </a:p>
                  </a:txBody>
                  <a:tcPr/>
                </a:tc>
                <a:extLst>
                  <a:ext uri="{0D108BD9-81ED-4DB2-BD59-A6C34878D82A}">
                    <a16:rowId xmlns:a16="http://schemas.microsoft.com/office/drawing/2014/main" val="4185263036"/>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物理的な意味が明白でない</a:t>
                      </a:r>
                    </a:p>
                  </a:txBody>
                  <a:tcPr/>
                </a:tc>
                <a:tc>
                  <a:txBody>
                    <a:bodyPr/>
                    <a:lstStyle/>
                    <a:p>
                      <a:pPr>
                        <a:lnSpc>
                          <a:spcPct val="150000"/>
                        </a:lnSpc>
                      </a:pPr>
                      <a:r>
                        <a:rPr kumimoji="1" lang="en-US" altLang="ja-JP" sz="2400" dirty="0">
                          <a:latin typeface="+mj-ea"/>
                          <a:ea typeface="+mj-ea"/>
                        </a:rPr>
                        <a:t>HR</a:t>
                      </a:r>
                      <a:r>
                        <a:rPr kumimoji="1" lang="ja-JP" altLang="en-US" sz="2400">
                          <a:latin typeface="+mj-ea"/>
                          <a:ea typeface="+mj-ea"/>
                        </a:rPr>
                        <a:t>との交絡がある</a:t>
                      </a:r>
                    </a:p>
                  </a:txBody>
                  <a:tcPr/>
                </a:tc>
                <a:extLst>
                  <a:ext uri="{0D108BD9-81ED-4DB2-BD59-A6C34878D82A}">
                    <a16:rowId xmlns:a16="http://schemas.microsoft.com/office/drawing/2014/main" val="2897397817"/>
                  </a:ext>
                </a:extLst>
              </a:tr>
            </a:tbl>
          </a:graphicData>
        </a:graphic>
      </p:graphicFrame>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12. Millasseau 2003　／　18. Md Lazim 2020　／　21. Coutrot 2019　／　24. Takazawa 1998　／　30. Kohjitani 2012</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37/72</a:t>
            </a:r>
          </a:p>
        </p:txBody>
      </p:sp>
    </p:spTree>
    <p:extLst>
      <p:ext uri="{BB962C8B-B14F-4D97-AF65-F5344CB8AC3E}">
        <p14:creationId xmlns:p14="http://schemas.microsoft.com/office/powerpoint/2010/main" val="35206919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CBD4D-727E-4E00-27F1-04E703BE3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968E8-3D82-6A35-6165-1D53AB28225B}"/>
              </a:ext>
            </a:extLst>
          </p:cNvPr>
          <p:cNvSpPr>
            <a:spLocks noGrp="1"/>
          </p:cNvSpPr>
          <p:nvPr>
            <p:ph type="title"/>
          </p:nvPr>
        </p:nvSpPr>
        <p:spPr/>
        <p:txBody>
          <a:bodyPr/>
          <a:lstStyle/>
          <a:p>
            <a:pPr algn="l"/>
            <a:r>
              <a:rPr sz="4600" dirty="0">
                <a:latin typeface="Meiryo"/>
                <a:ea typeface="Meiryo"/>
                <a:cs typeface="Meiryo"/>
              </a:rPr>
              <a:t>3.3  d/a と RI</a:t>
            </a:r>
          </a:p>
        </p:txBody>
      </p:sp>
      <p:sp>
        <p:nvSpPr>
          <p:cNvPr id="12" name="Off-page Connector 4">
            <a:extLst>
              <a:ext uri="{FF2B5EF4-FFF2-40B4-BE49-F238E27FC236}">
                <a16:creationId xmlns:a16="http://schemas.microsoft.com/office/drawing/2014/main" id="{BF2A21EE-9438-5337-6E35-B466C338B582}"/>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3FBC431C-12CE-1EB2-618E-DC4D3ED05B61}"/>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1C5B16FE-0C40-6E08-3173-F72C1E6570B6}"/>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44716399-2CBF-5A0F-903E-8954F90DF4F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1F139F85-A147-D4EE-A18D-164498B273D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5" name="表 4">
            <a:extLst>
              <a:ext uri="{FF2B5EF4-FFF2-40B4-BE49-F238E27FC236}">
                <a16:creationId xmlns:a16="http://schemas.microsoft.com/office/drawing/2014/main" id="{01536987-B580-321E-5A4E-75502F767AD3}"/>
              </a:ext>
            </a:extLst>
          </p:cNvPr>
          <p:cNvGraphicFramePr>
            <a:graphicFrameLocks noGrp="1"/>
          </p:cNvGraphicFramePr>
          <p:nvPr/>
        </p:nvGraphicFramePr>
        <p:xfrm>
          <a:off x="248659" y="1690688"/>
          <a:ext cx="11694681" cy="4495800"/>
        </p:xfrm>
        <a:graphic>
          <a:graphicData uri="http://schemas.openxmlformats.org/drawingml/2006/table">
            <a:tbl>
              <a:tblPr firstRow="1" bandRow="1">
                <a:tableStyleId>{74C1A8A3-306A-4EB7-A6B1-4F7E0EB9C5D6}</a:tableStyleId>
              </a:tblPr>
              <a:tblGrid>
                <a:gridCol w="3678572">
                  <a:extLst>
                    <a:ext uri="{9D8B030D-6E8A-4147-A177-3AD203B41FA5}">
                      <a16:colId xmlns:a16="http://schemas.microsoft.com/office/drawing/2014/main" val="1747660977"/>
                    </a:ext>
                  </a:extLst>
                </a:gridCol>
                <a:gridCol w="4117882">
                  <a:extLst>
                    <a:ext uri="{9D8B030D-6E8A-4147-A177-3AD203B41FA5}">
                      <a16:colId xmlns:a16="http://schemas.microsoft.com/office/drawing/2014/main" val="3064939031"/>
                    </a:ext>
                  </a:extLst>
                </a:gridCol>
                <a:gridCol w="3898227">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d/a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RI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昇圧薬</a:t>
                      </a:r>
                      <a:r>
                        <a:rPr kumimoji="1" lang="en-US" altLang="ja-JP" sz="2400" dirty="0">
                          <a:latin typeface="+mj-ea"/>
                          <a:ea typeface="+mj-ea"/>
                        </a:rPr>
                        <a:t>(</a:t>
                      </a:r>
                      <a:r>
                        <a:rPr kumimoji="1" lang="en-US" altLang="ja-JP" sz="2400" dirty="0" err="1">
                          <a:latin typeface="+mj-ea"/>
                          <a:ea typeface="+mj-ea"/>
                        </a:rPr>
                        <a:t>ATⅡ</a:t>
                      </a:r>
                      <a:r>
                        <a:rPr kumimoji="1" lang="en-US" altLang="ja-JP" sz="2400" dirty="0">
                          <a:latin typeface="+mj-ea"/>
                          <a:ea typeface="+mj-ea"/>
                        </a:rPr>
                        <a:t>)</a:t>
                      </a:r>
                      <a:r>
                        <a:rPr kumimoji="1" lang="ja-JP" altLang="en-US" sz="2400">
                          <a:latin typeface="+mj-ea"/>
                          <a:ea typeface="+mj-ea"/>
                        </a:rPr>
                        <a:t>への反応</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p>
                  </a:txBody>
                  <a:tcPr/>
                </a:tc>
                <a:extLst>
                  <a:ext uri="{0D108BD9-81ED-4DB2-BD59-A6C34878D82A}">
                    <a16:rowId xmlns:a16="http://schemas.microsoft.com/office/drawing/2014/main" val="284507999"/>
                  </a:ext>
                </a:extLst>
              </a:tr>
              <a:tr h="533276">
                <a:tc>
                  <a:txBody>
                    <a:bodyPr/>
                    <a:lstStyle/>
                    <a:p>
                      <a:pPr>
                        <a:lnSpc>
                          <a:spcPct val="150000"/>
                        </a:lnSpc>
                      </a:pPr>
                      <a:r>
                        <a:rPr kumimoji="1" lang="ja-JP" altLang="en-US" sz="2400">
                          <a:latin typeface="+mj-ea"/>
                          <a:ea typeface="+mj-ea"/>
                        </a:rPr>
                        <a:t>降圧薬</a:t>
                      </a:r>
                      <a:r>
                        <a:rPr kumimoji="1" lang="en-US" altLang="ja-JP" sz="2400" dirty="0">
                          <a:latin typeface="+mj-ea"/>
                          <a:ea typeface="+mj-ea"/>
                        </a:rPr>
                        <a:t>(GTN)</a:t>
                      </a:r>
                      <a:r>
                        <a:rPr kumimoji="1" lang="ja-JP" altLang="en-US" sz="2400">
                          <a:latin typeface="+mj-ea"/>
                          <a:ea typeface="+mj-ea"/>
                        </a:rPr>
                        <a:t>への反応</a:t>
                      </a:r>
                    </a:p>
                  </a:txBody>
                  <a:tcPr/>
                </a:tc>
                <a:tc>
                  <a:txBody>
                    <a:bodyPr/>
                    <a:lstStyle/>
                    <a:p>
                      <a:pPr>
                        <a:lnSpc>
                          <a:spcPct val="150000"/>
                        </a:lnSpc>
                      </a:pP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○（上昇）</a:t>
                      </a:r>
                    </a:p>
                  </a:txBody>
                  <a:tcPr/>
                </a:tc>
                <a:extLst>
                  <a:ext uri="{0D108BD9-81ED-4DB2-BD59-A6C34878D82A}">
                    <a16:rowId xmlns:a16="http://schemas.microsoft.com/office/drawing/2014/main" val="4154383642"/>
                  </a:ext>
                </a:extLst>
              </a:tr>
              <a:tr h="1244310">
                <a:tc>
                  <a:txBody>
                    <a:bodyPr/>
                    <a:lstStyle/>
                    <a:p>
                      <a:pPr>
                        <a:lnSpc>
                          <a:spcPct val="150000"/>
                        </a:lnSpc>
                      </a:pPr>
                      <a:r>
                        <a:rPr kumimoji="1" lang="ja-JP" altLang="en-US" sz="2400">
                          <a:latin typeface="+mj-ea"/>
                          <a:ea typeface="+mj-ea"/>
                        </a:rPr>
                        <a:t>術中の変化</a:t>
                      </a:r>
                    </a:p>
                  </a:txBody>
                  <a:tcPr/>
                </a:tc>
                <a:tc>
                  <a:txBody>
                    <a:bodyPr/>
                    <a:lstStyle/>
                    <a:p>
                      <a:pPr>
                        <a:lnSpc>
                          <a:spcPct val="150000"/>
                        </a:lnSpc>
                      </a:pPr>
                      <a:r>
                        <a:rPr kumimoji="1" lang="ja-JP" altLang="en-US" sz="2400">
                          <a:latin typeface="+mj-ea"/>
                          <a:ea typeface="+mj-ea"/>
                        </a:rPr>
                        <a:t>挿管時高血圧で低下</a:t>
                      </a:r>
                    </a:p>
                  </a:txBody>
                  <a:tcPr/>
                </a:tc>
                <a:tc>
                  <a:txBody>
                    <a:bodyPr/>
                    <a:lstStyle/>
                    <a:p>
                      <a:pPr>
                        <a:lnSpc>
                          <a:spcPct val="150000"/>
                        </a:lnSpc>
                      </a:pPr>
                      <a:r>
                        <a:rPr kumimoji="1" lang="ja-JP" altLang="en-US" sz="2400">
                          <a:latin typeface="+mj-ea"/>
                          <a:ea typeface="+mj-ea"/>
                        </a:rPr>
                        <a:t>麻酔中の低血圧検出</a:t>
                      </a:r>
                      <a:endParaRPr kumimoji="1" lang="en-US" altLang="ja-JP" sz="2400" dirty="0">
                        <a:latin typeface="+mj-ea"/>
                        <a:ea typeface="+mj-ea"/>
                      </a:endParaRPr>
                    </a:p>
                    <a:p>
                      <a:pPr>
                        <a:lnSpc>
                          <a:spcPct val="150000"/>
                        </a:lnSpc>
                      </a:pPr>
                      <a:r>
                        <a:rPr kumimoji="1" lang="ja-JP" altLang="en-US" sz="2400">
                          <a:latin typeface="+mj-ea"/>
                          <a:ea typeface="+mj-ea"/>
                        </a:rPr>
                        <a:t>血管収縮薬に反応</a:t>
                      </a:r>
                      <a:endParaRPr kumimoji="1" lang="en-US" altLang="ja-JP" sz="2400" dirty="0">
                        <a:latin typeface="+mj-ea"/>
                        <a:ea typeface="+mj-ea"/>
                      </a:endParaRPr>
                    </a:p>
                    <a:p>
                      <a:pPr>
                        <a:lnSpc>
                          <a:spcPct val="150000"/>
                        </a:lnSpc>
                      </a:pPr>
                      <a:r>
                        <a:rPr kumimoji="1" lang="ja-JP" altLang="en-US" sz="1600">
                          <a:latin typeface="+mj-ea"/>
                          <a:ea typeface="+mj-ea"/>
                        </a:rPr>
                        <a:t>（厳密には重複切痕</a:t>
                      </a:r>
                      <a:r>
                        <a:rPr kumimoji="1" lang="en-US" altLang="ja-JP" sz="1600" dirty="0">
                          <a:latin typeface="+mj-ea"/>
                          <a:ea typeface="+mj-ea"/>
                        </a:rPr>
                        <a:t>/</a:t>
                      </a:r>
                      <a:r>
                        <a:rPr kumimoji="1" lang="ja-JP" altLang="en-US" sz="1600">
                          <a:latin typeface="+mj-ea"/>
                          <a:ea typeface="+mj-ea"/>
                        </a:rPr>
                        <a:t>前進波ピーク）</a:t>
                      </a:r>
                    </a:p>
                  </a:txBody>
                  <a:tcPr/>
                </a:tc>
                <a:extLst>
                  <a:ext uri="{0D108BD9-81ED-4DB2-BD59-A6C34878D82A}">
                    <a16:rowId xmlns:a16="http://schemas.microsoft.com/office/drawing/2014/main" val="1477270729"/>
                  </a:ext>
                </a:extLst>
              </a:tr>
              <a:tr h="533276">
                <a:tc>
                  <a:txBody>
                    <a:bodyPr/>
                    <a:lstStyle/>
                    <a:p>
                      <a:pPr>
                        <a:lnSpc>
                          <a:spcPct val="150000"/>
                        </a:lnSpc>
                      </a:pPr>
                      <a:r>
                        <a:rPr kumimoji="1" lang="en-US" altLang="ja-JP" sz="2400" dirty="0">
                          <a:latin typeface="+mj-ea"/>
                          <a:ea typeface="+mj-ea"/>
                        </a:rPr>
                        <a:t>SVR</a:t>
                      </a:r>
                      <a:r>
                        <a:rPr kumimoji="1" lang="ja-JP" altLang="en-US" sz="2400">
                          <a:latin typeface="+mj-ea"/>
                          <a:ea typeface="+mj-ea"/>
                        </a:rPr>
                        <a:t>との比較</a:t>
                      </a:r>
                    </a:p>
                  </a:txBody>
                  <a:tcPr/>
                </a:tc>
                <a:tc>
                  <a:txBody>
                    <a:bodyPr/>
                    <a:lstStyle/>
                    <a:p>
                      <a:pPr>
                        <a:lnSpc>
                          <a:spcPct val="150000"/>
                        </a:lnSpc>
                      </a:pPr>
                      <a:r>
                        <a:rPr kumimoji="1" lang="ja-JP" altLang="en-US" sz="2400">
                          <a:latin typeface="+mj-ea"/>
                          <a:ea typeface="+mj-ea"/>
                        </a:rPr>
                        <a:t>なし</a:t>
                      </a:r>
                    </a:p>
                  </a:txBody>
                  <a:tcPr/>
                </a:tc>
                <a:tc>
                  <a:txBody>
                    <a:bodyPr/>
                    <a:lstStyle/>
                    <a:p>
                      <a:pPr>
                        <a:lnSpc>
                          <a:spcPct val="150000"/>
                        </a:lnSpc>
                      </a:pPr>
                      <a:r>
                        <a:rPr kumimoji="1" lang="ja-JP" altLang="en-US" sz="2400">
                          <a:latin typeface="+mj-ea"/>
                          <a:ea typeface="+mj-ea"/>
                        </a:rPr>
                        <a:t>あり（まずまず）</a:t>
                      </a:r>
                    </a:p>
                  </a:txBody>
                  <a:tcPr/>
                </a:tc>
                <a:extLst>
                  <a:ext uri="{0D108BD9-81ED-4DB2-BD59-A6C34878D82A}">
                    <a16:rowId xmlns:a16="http://schemas.microsoft.com/office/drawing/2014/main" val="4185263036"/>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物理的な意味が明白でない</a:t>
                      </a:r>
                    </a:p>
                  </a:txBody>
                  <a:tcPr/>
                </a:tc>
                <a:tc>
                  <a:txBody>
                    <a:bodyPr/>
                    <a:lstStyle/>
                    <a:p>
                      <a:pPr>
                        <a:lnSpc>
                          <a:spcPct val="150000"/>
                        </a:lnSpc>
                      </a:pPr>
                      <a:r>
                        <a:rPr kumimoji="1" lang="en-US" altLang="ja-JP" sz="2400" dirty="0">
                          <a:latin typeface="+mj-ea"/>
                          <a:ea typeface="+mj-ea"/>
                        </a:rPr>
                        <a:t>HR</a:t>
                      </a:r>
                      <a:r>
                        <a:rPr kumimoji="1" lang="ja-JP" altLang="en-US" sz="2400">
                          <a:latin typeface="+mj-ea"/>
                          <a:ea typeface="+mj-ea"/>
                        </a:rPr>
                        <a:t>との交絡がある</a:t>
                      </a:r>
                    </a:p>
                  </a:txBody>
                  <a:tcPr/>
                </a:tc>
                <a:extLst>
                  <a:ext uri="{0D108BD9-81ED-4DB2-BD59-A6C34878D82A}">
                    <a16:rowId xmlns:a16="http://schemas.microsoft.com/office/drawing/2014/main" val="2897397817"/>
                  </a:ext>
                </a:extLst>
              </a:tr>
            </a:tbl>
          </a:graphicData>
        </a:graphic>
      </p:graphicFrame>
      <p:sp>
        <p:nvSpPr>
          <p:cNvPr id="17" name="Source">
            <a:extLst>
              <a:ext uri="{FF2B5EF4-FFF2-40B4-BE49-F238E27FC236}">
                <a16:creationId xmlns:a16="http://schemas.microsoft.com/office/drawing/2014/main" id="{1CBC7279-5768-DF14-495E-AF7948B34689}"/>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12. Millasseau 2003　／　18. Md Lazim 2020　／　21. Coutrot 2019　／　24. Takazawa 1998　／　30. Kohjitani 2012</a:t>
            </a:r>
          </a:p>
        </p:txBody>
      </p:sp>
      <p:sp>
        <p:nvSpPr>
          <p:cNvPr id="18" name="PageNo">
            <a:extLst>
              <a:ext uri="{FF2B5EF4-FFF2-40B4-BE49-F238E27FC236}">
                <a16:creationId xmlns:a16="http://schemas.microsoft.com/office/drawing/2014/main" id="{27F77403-9685-5E7C-27C4-B4DBF94705C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37/72</a:t>
            </a:r>
          </a:p>
        </p:txBody>
      </p:sp>
      <p:sp>
        <p:nvSpPr>
          <p:cNvPr id="3" name="Rounded Rectangle 49">
            <a:extLst>
              <a:ext uri="{FF2B5EF4-FFF2-40B4-BE49-F238E27FC236}">
                <a16:creationId xmlns:a16="http://schemas.microsoft.com/office/drawing/2014/main" id="{61FE4FAC-B7F3-AD30-5B94-C997111BE8AB}"/>
              </a:ext>
            </a:extLst>
          </p:cNvPr>
          <p:cNvSpPr/>
          <p:nvPr/>
        </p:nvSpPr>
        <p:spPr>
          <a:xfrm>
            <a:off x="472439" y="3429000"/>
            <a:ext cx="11247120" cy="7772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3200" b="1">
                <a:solidFill>
                  <a:schemeClr val="tx1"/>
                </a:solidFill>
                <a:latin typeface="+mj-ea"/>
                <a:ea typeface="+mj-ea"/>
              </a:rPr>
              <a:t>末梢血管トーヌスの指標としては</a:t>
            </a:r>
            <a:r>
              <a:rPr lang="en-US" altLang="ja-JP" sz="3200" b="1" dirty="0">
                <a:solidFill>
                  <a:schemeClr val="tx1"/>
                </a:solidFill>
                <a:latin typeface="+mj-ea"/>
                <a:ea typeface="+mj-ea"/>
              </a:rPr>
              <a:t>RI</a:t>
            </a:r>
            <a:r>
              <a:rPr lang="ja-JP" altLang="en-US" sz="3200" b="1">
                <a:solidFill>
                  <a:schemeClr val="tx1"/>
                </a:solidFill>
                <a:latin typeface="+mj-ea"/>
                <a:ea typeface="+mj-ea"/>
              </a:rPr>
              <a:t>が有利</a:t>
            </a:r>
            <a:endParaRPr sz="3200" b="1" dirty="0">
              <a:solidFill>
                <a:schemeClr val="tx1"/>
              </a:solidFill>
              <a:latin typeface="+mj-ea"/>
              <a:ea typeface="+mj-ea"/>
            </a:endParaRPr>
          </a:p>
        </p:txBody>
      </p:sp>
    </p:spTree>
    <p:extLst>
      <p:ext uri="{BB962C8B-B14F-4D97-AF65-F5344CB8AC3E}">
        <p14:creationId xmlns:p14="http://schemas.microsoft.com/office/powerpoint/2010/main" val="39428572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83AA6-895A-DE94-FE9D-DE65225C90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9DB9C-CAED-236C-06FC-5283A9213EA6}"/>
              </a:ext>
            </a:extLst>
          </p:cNvPr>
          <p:cNvSpPr>
            <a:spLocks noGrp="1"/>
          </p:cNvSpPr>
          <p:nvPr>
            <p:ph type="title"/>
          </p:nvPr>
        </p:nvSpPr>
        <p:spPr/>
        <p:txBody>
          <a:bodyPr>
            <a:normAutofit/>
          </a:bodyPr>
          <a:lstStyle/>
          <a:p>
            <a:pPr algn="l"/>
            <a:r>
              <a:rPr sz="4600" dirty="0">
                <a:latin typeface="Meiryo"/>
                <a:ea typeface="Meiryo"/>
                <a:cs typeface="Meiryo"/>
              </a:rPr>
              <a:t>3.4  定量化指標まとめ</a:t>
            </a:r>
          </a:p>
        </p:txBody>
      </p:sp>
      <p:sp>
        <p:nvSpPr>
          <p:cNvPr id="13" name="Off-page Connector 4">
            <a:extLst>
              <a:ext uri="{FF2B5EF4-FFF2-40B4-BE49-F238E27FC236}">
                <a16:creationId xmlns:a16="http://schemas.microsoft.com/office/drawing/2014/main" id="{149917C2-2B39-F4AB-4E06-D7C300EFAA1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lnSpc>
                <a:spcPct val="100000"/>
              </a:lnSpc>
              <a:spcBef>
                <a:spcPts val="100"/>
              </a:spcBef>
            </a:pP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BEE701F9-5341-1992-5F64-95AB392C2A30}"/>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lnSpc>
                <a:spcPct val="100000"/>
              </a:lnSpc>
              <a:spcBef>
                <a:spcPts val="100"/>
              </a:spcBef>
            </a:pP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7173B31B-3338-1D75-4D66-BC9CCE911001}"/>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lnSpc>
                <a:spcPct val="100000"/>
              </a:lnSpc>
              <a:spcBef>
                <a:spcPts val="100"/>
              </a:spcBef>
            </a:pP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DC845168-E5E9-3AAF-39FA-385B0163339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lnSpc>
                <a:spcPct val="100000"/>
              </a:lnSpc>
              <a:spcBef>
                <a:spcPts val="100"/>
              </a:spcBef>
            </a:pP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3681E52B-4BF1-A99F-9FFB-BA7AB32ADAF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lnSpc>
                <a:spcPct val="100000"/>
              </a:lnSpc>
              <a:spcBef>
                <a:spcPts val="100"/>
              </a:spcBef>
            </a:pPr>
            <a:r>
              <a:rPr sz="1050" b="1">
                <a:solidFill>
                  <a:srgbClr val="808080"/>
                </a:solidFill>
                <a:latin typeface="Meiryo"/>
                <a:ea typeface="Meiryo"/>
                <a:cs typeface="Meiryo"/>
              </a:rPr>
              <a:t>PDA</a:t>
            </a:r>
          </a:p>
        </p:txBody>
      </p:sp>
      <p:sp>
        <p:nvSpPr>
          <p:cNvPr id="540" name="lbg">
            <a:extLst>
              <a:ext uri="{FF2B5EF4-FFF2-40B4-BE49-F238E27FC236}">
                <a16:creationId xmlns:a16="http://schemas.microsoft.com/office/drawing/2014/main" id="{76739A53-E56E-45CC-3F22-5C7909DBDAB3}"/>
              </a:ext>
            </a:extLst>
          </p:cNvPr>
          <p:cNvSpPr/>
          <p:nvPr/>
        </p:nvSpPr>
        <p:spPr>
          <a:xfrm>
            <a:off x="1544025" y="1976839"/>
            <a:ext cx="4284000" cy="2784951"/>
          </a:xfrm>
          <a:prstGeom prst="roundRect">
            <a:avLst>
              <a:gd name="adj" fmla="val 6000"/>
            </a:avLst>
          </a:prstGeom>
          <a:solidFill>
            <a:srgbClr val="EAF0F8"/>
          </a:solidFill>
          <a:ln w="19050">
            <a:solidFill>
              <a:srgbClr val="2E5395"/>
            </a:solidFill>
          </a:ln>
        </p:spPr>
        <p:txBody>
          <a:bodyPr wrap="square" lIns="45720" tIns="27432" rIns="45720" bIns="27432" anchor="ctr">
            <a:normAutofit/>
          </a:bodyPr>
          <a:lstStyle/>
          <a:p>
            <a:pPr algn="ctr"/>
            <a:r>
              <a:rPr lang="ja-JP" altLang="en-US" sz="2000" b="1" dirty="0">
                <a:solidFill>
                  <a:srgbClr val="262626"/>
                </a:solidFill>
                <a:latin typeface="Meiryo"/>
                <a:ea typeface="Meiryo"/>
                <a:cs typeface="Meiryo"/>
              </a:rPr>
              <a:t> </a:t>
            </a:r>
          </a:p>
        </p:txBody>
      </p:sp>
      <p:sp>
        <p:nvSpPr>
          <p:cNvPr id="541" name="ltitle">
            <a:extLst>
              <a:ext uri="{FF2B5EF4-FFF2-40B4-BE49-F238E27FC236}">
                <a16:creationId xmlns:a16="http://schemas.microsoft.com/office/drawing/2014/main" id="{42763D8D-96D8-C2E6-41FC-AA22D953D18C}"/>
              </a:ext>
            </a:extLst>
          </p:cNvPr>
          <p:cNvSpPr txBox="1"/>
          <p:nvPr/>
        </p:nvSpPr>
        <p:spPr>
          <a:xfrm>
            <a:off x="1715018" y="2311605"/>
            <a:ext cx="3942015" cy="357746"/>
          </a:xfrm>
          <a:prstGeom prst="rect">
            <a:avLst/>
          </a:prstGeom>
          <a:noFill/>
        </p:spPr>
        <p:txBody>
          <a:bodyPr wrap="square" lIns="0" tIns="0" rIns="0" bIns="0" anchor="t">
            <a:noAutofit/>
          </a:bodyPr>
          <a:lstStyle/>
          <a:p>
            <a:pPr algn="ctr"/>
            <a:r>
              <a:rPr lang="ja-JP" altLang="en-US" sz="2400" b="1" dirty="0">
                <a:solidFill>
                  <a:srgbClr val="2E5395"/>
                </a:solidFill>
                <a:latin typeface="Meiryo"/>
                <a:ea typeface="Meiryo"/>
                <a:cs typeface="Meiryo"/>
              </a:rPr>
              <a:t>慢性</a:t>
            </a:r>
            <a:r>
              <a:rPr lang="ja-JP" altLang="en-US" sz="2400" b="1">
                <a:solidFill>
                  <a:srgbClr val="2E5395"/>
                </a:solidFill>
                <a:latin typeface="Meiryo"/>
                <a:ea typeface="Meiryo"/>
                <a:cs typeface="Meiryo"/>
              </a:rPr>
              <a:t>変化＝スティフネス軸</a:t>
            </a:r>
            <a:endParaRPr lang="ja-JP" altLang="en-US" sz="2400" b="1" dirty="0">
              <a:solidFill>
                <a:srgbClr val="2E5395"/>
              </a:solidFill>
              <a:latin typeface="Meiryo"/>
              <a:ea typeface="Meiryo"/>
              <a:cs typeface="Meiryo"/>
            </a:endParaRPr>
          </a:p>
        </p:txBody>
      </p:sp>
      <p:sp>
        <p:nvSpPr>
          <p:cNvPr id="543" name="lbul">
            <a:extLst>
              <a:ext uri="{FF2B5EF4-FFF2-40B4-BE49-F238E27FC236}">
                <a16:creationId xmlns:a16="http://schemas.microsoft.com/office/drawing/2014/main" id="{58737256-E75F-EF1C-057C-9C815B422AEE}"/>
              </a:ext>
            </a:extLst>
          </p:cNvPr>
          <p:cNvSpPr txBox="1"/>
          <p:nvPr/>
        </p:nvSpPr>
        <p:spPr>
          <a:xfrm>
            <a:off x="1972106" y="3102386"/>
            <a:ext cx="3427839" cy="1422000"/>
          </a:xfrm>
          <a:prstGeom prst="rect">
            <a:avLst/>
          </a:prstGeom>
          <a:noFill/>
        </p:spPr>
        <p:txBody>
          <a:bodyPr wrap="square" lIns="0" tIns="0" rIns="0" bIns="0" anchor="t">
            <a:noAutofit/>
          </a:bodyPr>
          <a:lstStyle/>
          <a:p>
            <a:pPr algn="l"/>
            <a:r>
              <a:rPr lang="ja-JP" altLang="en-US" sz="2000" b="1">
                <a:solidFill>
                  <a:srgbClr val="262626"/>
                </a:solidFill>
                <a:latin typeface="Meiryo"/>
                <a:ea typeface="Meiryo"/>
                <a:cs typeface="Meiryo"/>
              </a:rPr>
              <a:t>・切痕の平滑さ</a:t>
            </a:r>
            <a:endParaRPr lang="en-US" altLang="ja-JP" sz="2000" b="1" dirty="0">
              <a:solidFill>
                <a:srgbClr val="262626"/>
              </a:solidFill>
              <a:latin typeface="Meiryo"/>
              <a:ea typeface="Meiryo"/>
              <a:cs typeface="Meiryo"/>
            </a:endParaRPr>
          </a:p>
          <a:p>
            <a:pPr algn="l"/>
            <a:endParaRPr lang="en-US" altLang="ja-JP" sz="2000" b="1" dirty="0">
              <a:solidFill>
                <a:srgbClr val="262626"/>
              </a:solidFill>
              <a:latin typeface="Meiryo"/>
              <a:ea typeface="Meiryo"/>
              <a:cs typeface="Meiryo"/>
            </a:endParaRPr>
          </a:p>
          <a:p>
            <a:pPr algn="l"/>
            <a:r>
              <a:rPr lang="ja-JP" altLang="en-US" sz="2000" b="1">
                <a:solidFill>
                  <a:srgbClr val="262626"/>
                </a:solidFill>
                <a:latin typeface="Meiryo"/>
                <a:ea typeface="Meiryo"/>
                <a:cs typeface="Meiryo"/>
              </a:rPr>
              <a:t>・SI</a:t>
            </a:r>
            <a:br>
              <a:rPr lang="ja-JP" altLang="en-US" sz="2000" b="1">
                <a:solidFill>
                  <a:srgbClr val="262626"/>
                </a:solidFill>
                <a:latin typeface="Meiryo"/>
                <a:ea typeface="Meiryo"/>
                <a:cs typeface="Meiryo"/>
              </a:rPr>
            </a:br>
            <a:br>
              <a:rPr lang="ja-JP" altLang="en-US" sz="2000" b="1" dirty="0">
                <a:solidFill>
                  <a:srgbClr val="262626"/>
                </a:solidFill>
                <a:latin typeface="Meiryo"/>
                <a:ea typeface="Meiryo"/>
                <a:cs typeface="Meiryo"/>
              </a:rPr>
            </a:br>
            <a:r>
              <a:rPr lang="ja-JP" altLang="en-US" sz="2000" b="1" dirty="0">
                <a:solidFill>
                  <a:srgbClr val="262626"/>
                </a:solidFill>
                <a:latin typeface="Meiryo"/>
                <a:ea typeface="Meiryo"/>
                <a:cs typeface="Meiryo"/>
              </a:rPr>
              <a:t>・SDPPG 加齢指数 AGI</a:t>
            </a:r>
          </a:p>
        </p:txBody>
      </p:sp>
      <p:sp>
        <p:nvSpPr>
          <p:cNvPr id="544" name="rbg">
            <a:extLst>
              <a:ext uri="{FF2B5EF4-FFF2-40B4-BE49-F238E27FC236}">
                <a16:creationId xmlns:a16="http://schemas.microsoft.com/office/drawing/2014/main" id="{14F6B24A-8BEA-9492-6857-9FC82B9DAD79}"/>
              </a:ext>
            </a:extLst>
          </p:cNvPr>
          <p:cNvSpPr/>
          <p:nvPr/>
        </p:nvSpPr>
        <p:spPr>
          <a:xfrm>
            <a:off x="6339971" y="1976839"/>
            <a:ext cx="4284000" cy="2784951"/>
          </a:xfrm>
          <a:prstGeom prst="roundRect">
            <a:avLst>
              <a:gd name="adj" fmla="val 6000"/>
            </a:avLst>
          </a:prstGeom>
          <a:solidFill>
            <a:srgbClr val="FDF0E6"/>
          </a:solidFill>
          <a:ln w="19050">
            <a:solidFill>
              <a:srgbClr val="C55A11"/>
            </a:solidFill>
          </a:ln>
        </p:spPr>
        <p:txBody>
          <a:bodyPr wrap="square" lIns="45720" tIns="27432" rIns="45720" bIns="27432" anchor="ctr">
            <a:normAutofit/>
          </a:bodyPr>
          <a:lstStyle/>
          <a:p>
            <a:pPr algn="ctr"/>
            <a:r>
              <a:rPr lang="ja-JP" altLang="en-US" sz="2000" b="1" dirty="0">
                <a:solidFill>
                  <a:srgbClr val="262626"/>
                </a:solidFill>
                <a:latin typeface="Meiryo"/>
                <a:ea typeface="Meiryo"/>
                <a:cs typeface="Meiryo"/>
              </a:rPr>
              <a:t> </a:t>
            </a:r>
          </a:p>
        </p:txBody>
      </p:sp>
      <p:sp>
        <p:nvSpPr>
          <p:cNvPr id="545" name="rtitle">
            <a:extLst>
              <a:ext uri="{FF2B5EF4-FFF2-40B4-BE49-F238E27FC236}">
                <a16:creationId xmlns:a16="http://schemas.microsoft.com/office/drawing/2014/main" id="{777326C6-04E1-8C1C-9B02-14BFBD5F1F72}"/>
              </a:ext>
            </a:extLst>
          </p:cNvPr>
          <p:cNvSpPr txBox="1"/>
          <p:nvPr/>
        </p:nvSpPr>
        <p:spPr>
          <a:xfrm>
            <a:off x="6510964" y="2311605"/>
            <a:ext cx="3942015" cy="357746"/>
          </a:xfrm>
          <a:prstGeom prst="rect">
            <a:avLst/>
          </a:prstGeom>
          <a:noFill/>
        </p:spPr>
        <p:txBody>
          <a:bodyPr wrap="square" lIns="0" tIns="0" rIns="0" bIns="0" anchor="t">
            <a:normAutofit lnSpcReduction="10000"/>
          </a:bodyPr>
          <a:lstStyle/>
          <a:p>
            <a:pPr algn="ctr"/>
            <a:r>
              <a:rPr lang="ja-JP" altLang="en-US" sz="2400" b="1" dirty="0">
                <a:solidFill>
                  <a:srgbClr val="C55A11"/>
                </a:solidFill>
                <a:latin typeface="Meiryo"/>
                <a:ea typeface="Meiryo"/>
                <a:cs typeface="Meiryo"/>
              </a:rPr>
              <a:t>急性変化＝血管トーヌス軸</a:t>
            </a:r>
          </a:p>
        </p:txBody>
      </p:sp>
      <p:sp>
        <p:nvSpPr>
          <p:cNvPr id="547" name="rbul">
            <a:extLst>
              <a:ext uri="{FF2B5EF4-FFF2-40B4-BE49-F238E27FC236}">
                <a16:creationId xmlns:a16="http://schemas.microsoft.com/office/drawing/2014/main" id="{E870DC5E-CBA4-5443-94C2-1875EAFFE0E8}"/>
              </a:ext>
            </a:extLst>
          </p:cNvPr>
          <p:cNvSpPr txBox="1"/>
          <p:nvPr/>
        </p:nvSpPr>
        <p:spPr>
          <a:xfrm>
            <a:off x="6768052" y="3102386"/>
            <a:ext cx="3427839" cy="1878165"/>
          </a:xfrm>
          <a:prstGeom prst="rect">
            <a:avLst/>
          </a:prstGeom>
          <a:noFill/>
        </p:spPr>
        <p:txBody>
          <a:bodyPr wrap="square" lIns="0" tIns="0" rIns="0" bIns="0" anchor="t">
            <a:normAutofit/>
          </a:bodyPr>
          <a:lstStyle/>
          <a:p>
            <a:pPr algn="l"/>
            <a:r>
              <a:rPr lang="ja-JP" altLang="en-US" sz="2000" b="1" dirty="0">
                <a:solidFill>
                  <a:srgbClr val="262626"/>
                </a:solidFill>
                <a:latin typeface="Meiryo"/>
                <a:ea typeface="Meiryo"/>
                <a:cs typeface="Meiryo"/>
              </a:rPr>
              <a:t>・切痕</a:t>
            </a:r>
            <a:r>
              <a:rPr lang="ja-JP" altLang="en-US" sz="2000" b="1">
                <a:solidFill>
                  <a:srgbClr val="262626"/>
                </a:solidFill>
                <a:latin typeface="Meiryo"/>
                <a:ea typeface="Meiryo"/>
                <a:cs typeface="Meiryo"/>
              </a:rPr>
              <a:t>の位置、反射波高さ</a:t>
            </a:r>
            <a:endParaRPr lang="en-US" altLang="ja-JP" sz="2000" b="1" dirty="0">
              <a:solidFill>
                <a:srgbClr val="262626"/>
              </a:solidFill>
              <a:latin typeface="Meiryo"/>
              <a:ea typeface="Meiryo"/>
              <a:cs typeface="Meiryo"/>
            </a:endParaRPr>
          </a:p>
          <a:p>
            <a:pPr algn="l"/>
            <a:endParaRPr lang="en-US" altLang="ja-JP" sz="2000" b="1" dirty="0">
              <a:solidFill>
                <a:srgbClr val="262626"/>
              </a:solidFill>
              <a:latin typeface="Meiryo"/>
              <a:ea typeface="Meiryo"/>
              <a:cs typeface="Meiryo"/>
            </a:endParaRPr>
          </a:p>
          <a:p>
            <a:r>
              <a:rPr lang="ja-JP" altLang="en-US" sz="2000" b="1">
                <a:solidFill>
                  <a:srgbClr val="262626"/>
                </a:solidFill>
                <a:latin typeface="Meiryo"/>
                <a:ea typeface="Meiryo"/>
                <a:cs typeface="Meiryo"/>
              </a:rPr>
              <a:t>・RI</a:t>
            </a:r>
            <a:br>
              <a:rPr lang="ja-JP" altLang="en-US" sz="2000" b="1" dirty="0">
                <a:solidFill>
                  <a:srgbClr val="262626"/>
                </a:solidFill>
                <a:latin typeface="Meiryo"/>
                <a:ea typeface="Meiryo"/>
                <a:cs typeface="Meiryo"/>
              </a:rPr>
            </a:br>
            <a:br>
              <a:rPr lang="ja-JP" altLang="en-US" sz="2000" b="1" dirty="0">
                <a:solidFill>
                  <a:srgbClr val="262626"/>
                </a:solidFill>
                <a:latin typeface="Meiryo"/>
                <a:ea typeface="Meiryo"/>
                <a:cs typeface="Meiryo"/>
              </a:rPr>
            </a:br>
            <a:r>
              <a:rPr lang="ja-JP" altLang="en-US" sz="2000" b="1" dirty="0">
                <a:solidFill>
                  <a:srgbClr val="262626"/>
                </a:solidFill>
                <a:latin typeface="Meiryo"/>
                <a:ea typeface="Meiryo"/>
                <a:cs typeface="Meiryo"/>
              </a:rPr>
              <a:t>・SDPPG の d</a:t>
            </a:r>
            <a:r>
              <a:rPr lang="ja-JP" altLang="en-US" sz="2000" b="1">
                <a:solidFill>
                  <a:srgbClr val="262626"/>
                </a:solidFill>
                <a:latin typeface="Meiryo"/>
                <a:ea typeface="Meiryo"/>
                <a:cs typeface="Meiryo"/>
              </a:rPr>
              <a:t>/a</a:t>
            </a:r>
            <a:endParaRPr lang="en-US" altLang="ja-JP" sz="2000" b="1" dirty="0">
              <a:solidFill>
                <a:srgbClr val="262626"/>
              </a:solidFill>
              <a:latin typeface="Meiryo"/>
              <a:ea typeface="Meiryo"/>
              <a:cs typeface="Meiryo"/>
            </a:endParaRPr>
          </a:p>
          <a:p>
            <a:pPr algn="l"/>
            <a:endParaRPr lang="ja-JP" altLang="en-US" sz="2000" b="1" dirty="0">
              <a:solidFill>
                <a:srgbClr val="262626"/>
              </a:solidFill>
              <a:latin typeface="Meiryo"/>
              <a:ea typeface="Meiryo"/>
              <a:cs typeface="Meiryo"/>
            </a:endParaRPr>
          </a:p>
        </p:txBody>
      </p:sp>
      <p:sp>
        <p:nvSpPr>
          <p:cNvPr id="54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24. Takazawa 1998　／　31. Joachim 2021　／　32. Padilla 2009</a:t>
            </a:r>
          </a:p>
        </p:txBody>
      </p:sp>
      <p:sp>
        <p:nvSpPr>
          <p:cNvPr id="55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38/72</a:t>
            </a:r>
          </a:p>
        </p:txBody>
      </p:sp>
      <p:sp>
        <p:nvSpPr>
          <p:cNvPr id="3" name="Rounded Rectangle 49">
            <a:extLst>
              <a:ext uri="{FF2B5EF4-FFF2-40B4-BE49-F238E27FC236}">
                <a16:creationId xmlns:a16="http://schemas.microsoft.com/office/drawing/2014/main" id="{6E083A77-EEA4-2709-889E-EE5C149EAB1E}"/>
              </a:ext>
            </a:extLst>
          </p:cNvPr>
          <p:cNvSpPr/>
          <p:nvPr/>
        </p:nvSpPr>
        <p:spPr>
          <a:xfrm>
            <a:off x="1544025" y="5266702"/>
            <a:ext cx="9079947" cy="6638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r>
              <a:rPr lang="en-US" sz="2400" b="1" dirty="0" err="1">
                <a:solidFill>
                  <a:schemeClr val="tx1"/>
                </a:solidFill>
                <a:latin typeface="Meiryo" panose="020B0604030504040204" pitchFamily="34" charset="-128"/>
                <a:ea typeface="Meiryo" panose="020B0604030504040204" pitchFamily="34" charset="-128"/>
              </a:rPr>
              <a:t>波形が明瞭でSDPPGが不要なら、SDPPG関連指標</a:t>
            </a:r>
            <a:r>
              <a:rPr lang="en-US" sz="2400" b="1" dirty="0">
                <a:solidFill>
                  <a:schemeClr val="tx1"/>
                </a:solidFill>
                <a:latin typeface="Meiryo" panose="020B0604030504040204" pitchFamily="34" charset="-128"/>
                <a:ea typeface="Meiryo" panose="020B0604030504040204" pitchFamily="34" charset="-128"/>
              </a:rPr>
              <a:t> &lt; SI、RI</a:t>
            </a:r>
            <a:endParaRPr sz="2400" b="1"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6107498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4. </a:t>
            </a:r>
            <a:r>
              <a:rPr lang="ja-JP" altLang="en-US" sz="4600">
                <a:latin typeface="Meiryo"/>
                <a:ea typeface="Meiryo"/>
                <a:cs typeface="Meiryo"/>
              </a:rPr>
              <a:t>限界</a:t>
            </a:r>
            <a:endParaRPr sz="4600" dirty="0">
              <a:latin typeface="Meiryo"/>
              <a:ea typeface="Meiryo"/>
              <a:cs typeface="Meiryo"/>
            </a:endParaRP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BF9000"/>
                </a:solidFill>
                <a:latin typeface="Meiryo"/>
                <a:ea typeface="Meiryo"/>
                <a:cs typeface="Meiryo"/>
              </a:rPr>
              <a:t>4. </a:t>
            </a:r>
            <a:r>
              <a:rPr sz="3200" b="1">
                <a:solidFill>
                  <a:srgbClr val="262626"/>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4.1 </a:t>
            </a:r>
            <a:r>
              <a:rPr sz="2900" b="0">
                <a:solidFill>
                  <a:srgbClr val="262626"/>
                </a:solidFill>
                <a:latin typeface="Meiryo"/>
                <a:ea typeface="Meiryo"/>
                <a:cs typeface="Meiryo"/>
              </a:rPr>
              <a:t>自動解析の壁</a:t>
            </a:r>
          </a:p>
          <a:p>
            <a:pPr>
              <a:lnSpc>
                <a:spcPct val="145000"/>
              </a:lnSpc>
            </a:pPr>
            <a:r>
              <a:rPr sz="2900" b="1">
                <a:solidFill>
                  <a:srgbClr val="BF9000"/>
                </a:solidFill>
                <a:latin typeface="Meiryo"/>
                <a:ea typeface="Meiryo"/>
                <a:cs typeface="Meiryo"/>
              </a:rPr>
              <a:t>4.2 </a:t>
            </a:r>
            <a:r>
              <a:rPr sz="2900" b="0">
                <a:solidFill>
                  <a:srgbClr val="262626"/>
                </a:solidFill>
                <a:latin typeface="Meiryo"/>
                <a:ea typeface="Meiryo"/>
                <a:cs typeface="Meiryo"/>
              </a:rPr>
              <a:t>極端な動脈硬化</a:t>
            </a:r>
          </a:p>
          <a:p>
            <a:pPr>
              <a:lnSpc>
                <a:spcPct val="145000"/>
              </a:lnSpc>
            </a:pPr>
            <a:r>
              <a:rPr sz="2900" b="1">
                <a:solidFill>
                  <a:srgbClr val="BF9000"/>
                </a:solidFill>
                <a:latin typeface="Meiryo"/>
                <a:ea typeface="Meiryo"/>
                <a:cs typeface="Meiryo"/>
              </a:rPr>
              <a:t>4.3 </a:t>
            </a:r>
            <a:r>
              <a:rPr sz="2900" b="0">
                <a:solidFill>
                  <a:srgbClr val="262626"/>
                </a:solidFill>
                <a:latin typeface="Meiryo"/>
                <a:ea typeface="Meiryo"/>
                <a:cs typeface="Meiryo"/>
              </a:rPr>
              <a:t>DN-less 信号対策</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39/72</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4.1  自動解析の壁</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9" name="fig_limits" descr="f71_limits.png"/>
          <p:cNvPicPr>
            <a:picLocks noChangeAspect="1"/>
          </p:cNvPicPr>
          <p:nvPr/>
        </p:nvPicPr>
        <p:blipFill>
          <a:blip r:embed="rId3"/>
          <a:stretch>
            <a:fillRect/>
          </a:stretch>
        </p:blipFill>
        <p:spPr>
          <a:xfrm>
            <a:off x="864000" y="2628000"/>
            <a:ext cx="10440000" cy="2141279"/>
          </a:xfrm>
          <a:prstGeom prst="rect">
            <a:avLst/>
          </a:prstGeom>
        </p:spPr>
      </p:pic>
      <p:sp>
        <p:nvSpPr>
          <p:cNvPr id="20" name="TextBox 19"/>
          <p:cNvSpPr txBox="1"/>
          <p:nvPr/>
        </p:nvSpPr>
        <p:spPr>
          <a:xfrm>
            <a:off x="864000" y="21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反射波が2つ</a:t>
            </a:r>
          </a:p>
        </p:txBody>
      </p:sp>
      <p:sp>
        <p:nvSpPr>
          <p:cNvPr id="21" name="TextBox 20"/>
          <p:cNvSpPr txBox="1"/>
          <p:nvPr/>
        </p:nvSpPr>
        <p:spPr>
          <a:xfrm>
            <a:off x="864000" y="48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BF9000"/>
                </a:solidFill>
                <a:latin typeface="Meiryo"/>
                <a:ea typeface="Meiryo"/>
                <a:cs typeface="Meiryo"/>
              </a:rPr>
              <a:t>どちらが P2 ?</a:t>
            </a:r>
          </a:p>
        </p:txBody>
      </p:sp>
      <p:sp>
        <p:nvSpPr>
          <p:cNvPr id="22" name="TextBox 21"/>
          <p:cNvSpPr txBox="1"/>
          <p:nvPr/>
        </p:nvSpPr>
        <p:spPr>
          <a:xfrm>
            <a:off x="3474000" y="21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反射波が1つ</a:t>
            </a:r>
          </a:p>
        </p:txBody>
      </p:sp>
      <p:sp>
        <p:nvSpPr>
          <p:cNvPr id="23" name="TextBox 22"/>
          <p:cNvSpPr txBox="1"/>
          <p:nvPr/>
        </p:nvSpPr>
        <p:spPr>
          <a:xfrm>
            <a:off x="3474000" y="48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P2 は明瞭</a:t>
            </a:r>
          </a:p>
        </p:txBody>
      </p:sp>
      <p:sp>
        <p:nvSpPr>
          <p:cNvPr id="24" name="TextBox 23"/>
          <p:cNvSpPr txBox="1"/>
          <p:nvPr/>
        </p:nvSpPr>
        <p:spPr>
          <a:xfrm>
            <a:off x="6083999" y="21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収縮期に融合</a:t>
            </a:r>
          </a:p>
        </p:txBody>
      </p:sp>
      <p:sp>
        <p:nvSpPr>
          <p:cNvPr id="25" name="TextBox 24"/>
          <p:cNvSpPr txBox="1"/>
          <p:nvPr/>
        </p:nvSpPr>
        <p:spPr>
          <a:xfrm>
            <a:off x="6083999" y="48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BF9000"/>
                </a:solidFill>
                <a:latin typeface="Meiryo"/>
                <a:ea typeface="Meiryo"/>
                <a:cs typeface="Meiryo"/>
              </a:rPr>
              <a:t>P2 が無い</a:t>
            </a:r>
          </a:p>
        </p:txBody>
      </p:sp>
      <p:sp>
        <p:nvSpPr>
          <p:cNvPr id="26" name="TextBox 25"/>
          <p:cNvSpPr txBox="1"/>
          <p:nvPr/>
        </p:nvSpPr>
        <p:spPr>
          <a:xfrm>
            <a:off x="8694000" y="21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切痕が消失</a:t>
            </a:r>
          </a:p>
        </p:txBody>
      </p:sp>
      <p:sp>
        <p:nvSpPr>
          <p:cNvPr id="27" name="TextBox 26"/>
          <p:cNvSpPr txBox="1"/>
          <p:nvPr/>
        </p:nvSpPr>
        <p:spPr>
          <a:xfrm>
            <a:off x="8694000" y="48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C00000"/>
                </a:solidFill>
                <a:latin typeface="Meiryo"/>
                <a:ea typeface="Meiryo"/>
                <a:cs typeface="Meiryo"/>
              </a:rPr>
              <a:t>候補なし</a:t>
            </a:r>
          </a:p>
        </p:txBody>
      </p:sp>
      <p:sp>
        <p:nvSpPr>
          <p:cNvPr id="28" name="Rounded Rectangle 27"/>
          <p:cNvSpPr/>
          <p:nvPr/>
        </p:nvSpPr>
        <p:spPr>
          <a:xfrm>
            <a:off x="864000" y="5508000"/>
            <a:ext cx="10440000" cy="1007999"/>
          </a:xfrm>
          <a:prstGeom prst="roundRect">
            <a:avLst>
              <a:gd name="adj" fmla="val 12000"/>
            </a:avLst>
          </a:prstGeom>
          <a:noFill/>
          <a:ln w="31750">
            <a:solidFill>
              <a:srgbClr val="C00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400" b="1" dirty="0">
                <a:solidFill>
                  <a:srgbClr val="C00000"/>
                </a:solidFill>
                <a:latin typeface="Meiryo"/>
                <a:ea typeface="Meiryo"/>
                <a:cs typeface="Meiryo"/>
              </a:rPr>
              <a:t>同じ定義（P2・切痕）が全部には当てはまらない</a:t>
            </a:r>
          </a:p>
          <a:p>
            <a:pPr algn="ctr">
              <a:spcBef>
                <a:spcPts val="0"/>
              </a:spcBef>
              <a:spcAft>
                <a:spcPts val="0"/>
              </a:spcAft>
            </a:pPr>
            <a:r>
              <a:rPr sz="2400" b="1" dirty="0">
                <a:solidFill>
                  <a:srgbClr val="262626"/>
                </a:solidFill>
                <a:latin typeface="Meiryo"/>
                <a:ea typeface="Meiryo"/>
                <a:cs typeface="Meiryo"/>
              </a:rPr>
              <a:t>＝ </a:t>
            </a:r>
            <a:r>
              <a:rPr sz="2400" b="1" dirty="0" err="1">
                <a:solidFill>
                  <a:srgbClr val="262626"/>
                </a:solidFill>
                <a:latin typeface="Meiryo"/>
                <a:ea typeface="Meiryo"/>
                <a:cs typeface="Meiryo"/>
              </a:rPr>
              <a:t>自動で一律に解析することが</a:t>
            </a:r>
            <a:r>
              <a:rPr lang="ja-JP" altLang="en-US" sz="2400" b="1">
                <a:solidFill>
                  <a:srgbClr val="262626"/>
                </a:solidFill>
                <a:latin typeface="Meiryo"/>
                <a:ea typeface="Meiryo"/>
                <a:cs typeface="Meiryo"/>
              </a:rPr>
              <a:t>難しい</a:t>
            </a:r>
            <a:endParaRPr sz="2400" b="1" dirty="0">
              <a:solidFill>
                <a:srgbClr val="262626"/>
              </a:solidFill>
              <a:latin typeface="Meiryo"/>
              <a:ea typeface="Meiryo"/>
              <a:cs typeface="Meiryo"/>
            </a:endParaRP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23. Elgendi 2012</a:t>
            </a:r>
          </a:p>
        </p:txBody>
      </p:sp>
      <p:sp>
        <p:nvSpPr>
          <p:cNvPr id="3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40/72</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7392572-0B25-0AF1-6C00-4AE6580A1D5A}"/>
              </a:ext>
            </a:extLst>
          </p:cNvPr>
          <p:cNvSpPr>
            <a:spLocks noGrp="1"/>
          </p:cNvSpPr>
          <p:nvPr>
            <p:ph idx="1"/>
          </p:nvPr>
        </p:nvSpPr>
        <p:spPr/>
        <p:txBody>
          <a:bodyPr>
            <a:normAutofit/>
          </a:bodyPr>
          <a:lstStyle/>
          <a:p>
            <a:pPr>
              <a:lnSpc>
                <a:spcPct val="150000"/>
              </a:lnSpc>
            </a:pPr>
            <a:r>
              <a:rPr kumimoji="1" lang="ja-JP" altLang="en-US"/>
              <a:t>動脈硬化が強いと</a:t>
            </a:r>
            <a:r>
              <a:rPr kumimoji="1" lang="en-US" altLang="ja-JP" dirty="0"/>
              <a:t>SI</a:t>
            </a:r>
            <a:r>
              <a:rPr kumimoji="1" lang="ja-JP" altLang="en-US"/>
              <a:t>や</a:t>
            </a:r>
            <a:r>
              <a:rPr kumimoji="1" lang="en-US" altLang="ja-JP" dirty="0"/>
              <a:t>RI</a:t>
            </a:r>
            <a:r>
              <a:rPr kumimoji="1" lang="ja-JP" altLang="en-US"/>
              <a:t>の正確な決定が妨げられる</a:t>
            </a:r>
            <a:r>
              <a:rPr lang="ja-JP" altLang="en-US"/>
              <a:t>。</a:t>
            </a:r>
            <a:endParaRPr kumimoji="1" lang="en-US" altLang="ja-JP" dirty="0"/>
          </a:p>
          <a:p>
            <a:pPr>
              <a:lnSpc>
                <a:spcPct val="150000"/>
              </a:lnSpc>
            </a:pPr>
            <a:r>
              <a:rPr kumimoji="1" lang="ja-JP" altLang="en-US"/>
              <a:t>前進波の下降脚が平滑なほどの動脈硬化では</a:t>
            </a:r>
            <a:r>
              <a:rPr kumimoji="1" lang="en-US" altLang="ja-JP" dirty="0"/>
              <a:t>SDPPG</a:t>
            </a:r>
            <a:r>
              <a:rPr kumimoji="1" lang="ja-JP" altLang="en-US"/>
              <a:t>も不安定。</a:t>
            </a:r>
            <a:endParaRPr kumimoji="1" lang="en-US" altLang="ja-JP" dirty="0"/>
          </a:p>
          <a:p>
            <a:pPr>
              <a:lnSpc>
                <a:spcPct val="150000"/>
              </a:lnSpc>
            </a:pPr>
            <a:r>
              <a:rPr lang="en" altLang="ja-JP" dirty="0"/>
              <a:t>PPG </a:t>
            </a:r>
            <a:r>
              <a:rPr lang="ja-JP" altLang="en-US"/>
              <a:t>情報がある</a:t>
            </a:r>
            <a:r>
              <a:rPr lang="en-US" altLang="ja-JP" dirty="0"/>
              <a:t>169,787</a:t>
            </a:r>
            <a:r>
              <a:rPr lang="ja-JP" altLang="en-US"/>
              <a:t>人のうち、切痕不明瞭なのは</a:t>
            </a:r>
            <a:r>
              <a:rPr lang="en-US" altLang="ja-JP" dirty="0"/>
              <a:t>25,286</a:t>
            </a:r>
            <a:r>
              <a:rPr lang="ja-JP" altLang="en-US"/>
              <a:t>人。（</a:t>
            </a:r>
            <a:r>
              <a:rPr lang="en-US" altLang="ja-JP" dirty="0"/>
              <a:t>14%  UK Biobank</a:t>
            </a:r>
            <a:r>
              <a:rPr lang="ja-JP" altLang="en-US"/>
              <a:t>）</a:t>
            </a:r>
            <a:endParaRPr lang="en-US" altLang="ja-JP" dirty="0"/>
          </a:p>
          <a:p>
            <a:pPr>
              <a:lnSpc>
                <a:spcPct val="150000"/>
              </a:lnSpc>
            </a:pPr>
            <a:r>
              <a:rPr lang="ja-JP" altLang="en-US"/>
              <a:t>切痕が不明瞭な</a:t>
            </a:r>
            <a:r>
              <a:rPr lang="en-US" altLang="ja-JP" dirty="0"/>
              <a:t>PPG</a:t>
            </a:r>
            <a:r>
              <a:rPr lang="ja-JP" altLang="en-US"/>
              <a:t>信号を</a:t>
            </a:r>
            <a:r>
              <a:rPr lang="en-US" altLang="ja-JP" dirty="0"/>
              <a:t>DN-less signal</a:t>
            </a:r>
            <a:r>
              <a:rPr lang="ja-JP" altLang="en-US"/>
              <a:t>という。</a:t>
            </a:r>
          </a:p>
          <a:p>
            <a:pPr>
              <a:lnSpc>
                <a:spcPct val="150000"/>
              </a:lnSpc>
            </a:pPr>
            <a:endParaRPr kumimoji="1" lang="en-US" altLang="ja-JP" dirty="0"/>
          </a:p>
          <a:p>
            <a:pPr>
              <a:lnSpc>
                <a:spcPct val="150000"/>
              </a:lnSpc>
            </a:pPr>
            <a:endParaRPr kumimoji="1" lang="ja-JP" altLang="en-US"/>
          </a:p>
        </p:txBody>
      </p:sp>
      <p:sp>
        <p:nvSpPr>
          <p:cNvPr id="12" name="Title 1">
            <a:extLst>
              <a:ext uri="{FF2B5EF4-FFF2-40B4-BE49-F238E27FC236}">
                <a16:creationId xmlns:a16="http://schemas.microsoft.com/office/drawing/2014/main" id="{A8336E59-A444-1AA3-5626-6E3BF53BCDB2}"/>
              </a:ext>
            </a:extLst>
          </p:cNvPr>
          <p:cNvSpPr>
            <a:spLocks noGrp="1"/>
          </p:cNvSpPr>
          <p:nvPr>
            <p:ph type="title"/>
          </p:nvPr>
        </p:nvSpPr>
        <p:spPr>
          <a:xfrm>
            <a:off x="838200" y="365125"/>
            <a:ext cx="10515600" cy="1325563"/>
          </a:xfrm>
        </p:spPr>
        <p:txBody>
          <a:bodyPr/>
          <a:lstStyle/>
          <a:p>
            <a:pPr algn="l"/>
            <a:r>
              <a:rPr sz="4600" dirty="0">
                <a:latin typeface="Meiryo"/>
                <a:ea typeface="Meiryo"/>
                <a:cs typeface="Meiryo"/>
              </a:rPr>
              <a:t>4.2  極端な動脈硬化</a:t>
            </a:r>
          </a:p>
        </p:txBody>
      </p:sp>
      <p:sp>
        <p:nvSpPr>
          <p:cNvPr id="15" name="Off-page Connector 4">
            <a:extLst>
              <a:ext uri="{FF2B5EF4-FFF2-40B4-BE49-F238E27FC236}">
                <a16:creationId xmlns:a16="http://schemas.microsoft.com/office/drawing/2014/main" id="{4E43B2F5-7A94-9CF4-625F-2CD4B5BD95C1}"/>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6" name="Off-page Connector 5">
            <a:extLst>
              <a:ext uri="{FF2B5EF4-FFF2-40B4-BE49-F238E27FC236}">
                <a16:creationId xmlns:a16="http://schemas.microsoft.com/office/drawing/2014/main" id="{F0248E4B-9189-267A-5F94-7F85BBD18A0A}"/>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7" name="Off-page Connector 6">
            <a:extLst>
              <a:ext uri="{FF2B5EF4-FFF2-40B4-BE49-F238E27FC236}">
                <a16:creationId xmlns:a16="http://schemas.microsoft.com/office/drawing/2014/main" id="{7E41AC3A-EA76-E86A-DA03-FA061B4C67BF}"/>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8" name="Off-page Connector 7">
            <a:extLst>
              <a:ext uri="{FF2B5EF4-FFF2-40B4-BE49-F238E27FC236}">
                <a16:creationId xmlns:a16="http://schemas.microsoft.com/office/drawing/2014/main" id="{E7C403D1-F5DE-3364-B35D-76F3B949A3EE}"/>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9" name="Off-page Connector 8">
            <a:extLst>
              <a:ext uri="{FF2B5EF4-FFF2-40B4-BE49-F238E27FC236}">
                <a16:creationId xmlns:a16="http://schemas.microsoft.com/office/drawing/2014/main" id="{5D7B35B3-070B-CB8B-114C-31C420641FF8}"/>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0" name="Source"/>
          <p:cNvSpPr txBox="1"/>
          <p:nvPr/>
        </p:nvSpPr>
        <p:spPr>
          <a:xfrm>
            <a:off x="720000" y="6606000"/>
            <a:ext cx="10881360" cy="161583"/>
          </a:xfrm>
          <a:prstGeom prst="rect">
            <a:avLst/>
          </a:prstGeom>
          <a:noFill/>
        </p:spPr>
        <p:txBody>
          <a:bodyPr wrap="square" lIns="0" tIns="0" rIns="0" bIns="0" anchor="t">
            <a:spAutoFit/>
          </a:bodyPr>
          <a:lstStyle/>
          <a:p>
            <a:r>
              <a:rPr sz="1050" b="0" dirty="0">
                <a:solidFill>
                  <a:srgbClr val="808080"/>
                </a:solidFill>
                <a:latin typeface="Meiryo"/>
                <a:ea typeface="Meiryo"/>
                <a:cs typeface="Meiryo"/>
              </a:rPr>
              <a:t>8. Cunningham 2023　／　23. Elgendi 2012　／　33. Wu 2010　／　34. Pal 2024</a:t>
            </a:r>
          </a:p>
        </p:txBody>
      </p:sp>
      <p:sp>
        <p:nvSpPr>
          <p:cNvPr id="4" name="Rounded Rectangle 29">
            <a:extLst>
              <a:ext uri="{FF2B5EF4-FFF2-40B4-BE49-F238E27FC236}">
                <a16:creationId xmlns:a16="http://schemas.microsoft.com/office/drawing/2014/main" id="{30979800-63B4-BEA8-4536-DEE5986A2B3B}"/>
              </a:ext>
            </a:extLst>
          </p:cNvPr>
          <p:cNvSpPr/>
          <p:nvPr/>
        </p:nvSpPr>
        <p:spPr>
          <a:xfrm>
            <a:off x="838200" y="5708328"/>
            <a:ext cx="10440000" cy="60357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en-US" altLang="ja-JP" sz="2400" b="1" dirty="0">
                <a:solidFill>
                  <a:schemeClr val="tx1"/>
                </a:solidFill>
              </a:rPr>
              <a:t>D-N less signal</a:t>
            </a:r>
            <a:r>
              <a:rPr lang="ja-JP" altLang="en-US" sz="2400" b="1">
                <a:solidFill>
                  <a:schemeClr val="tx1"/>
                </a:solidFill>
              </a:rPr>
              <a:t>でも</a:t>
            </a:r>
            <a:r>
              <a:rPr lang="en-US" altLang="ja-JP" sz="2400" b="1" dirty="0">
                <a:solidFill>
                  <a:schemeClr val="tx1"/>
                </a:solidFill>
              </a:rPr>
              <a:t>PPG</a:t>
            </a:r>
            <a:r>
              <a:rPr lang="ja-JP" altLang="en-US" sz="2400" b="1">
                <a:solidFill>
                  <a:schemeClr val="tx1"/>
                </a:solidFill>
              </a:rPr>
              <a:t>から特徴量を抽出し解析できないか？？</a:t>
            </a:r>
            <a:endParaRPr lang="en-US" altLang="ja-JP" sz="2400" b="1" dirty="0">
              <a:solidFill>
                <a:schemeClr val="tx1"/>
              </a:solidFill>
            </a:endParaRPr>
          </a:p>
        </p:txBody>
      </p:sp>
      <p:sp>
        <p:nvSpPr>
          <p:cNvPr id="2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41/72</a:t>
            </a:r>
          </a:p>
        </p:txBody>
      </p:sp>
    </p:spTree>
    <p:extLst>
      <p:ext uri="{BB962C8B-B14F-4D97-AF65-F5344CB8AC3E}">
        <p14:creationId xmlns:p14="http://schemas.microsoft.com/office/powerpoint/2010/main" val="242668866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BBB73-783B-E8E4-8365-C8155A6201B8}"/>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4087CD51-FC20-156F-F681-25D93AF3EAF6}"/>
              </a:ext>
            </a:extLst>
          </p:cNvPr>
          <p:cNvSpPr>
            <a:spLocks noGrp="1"/>
          </p:cNvSpPr>
          <p:nvPr>
            <p:ph type="title"/>
          </p:nvPr>
        </p:nvSpPr>
        <p:spPr>
          <a:xfrm>
            <a:off x="838200" y="365125"/>
            <a:ext cx="10515600" cy="1325563"/>
          </a:xfrm>
        </p:spPr>
        <p:txBody>
          <a:bodyPr/>
          <a:lstStyle/>
          <a:p>
            <a:pPr algn="l"/>
            <a:r>
              <a:rPr sz="4600" dirty="0">
                <a:latin typeface="Meiryo"/>
                <a:ea typeface="Meiryo"/>
                <a:cs typeface="Meiryo"/>
              </a:rPr>
              <a:t>4.3  DN-less 信号対策</a:t>
            </a:r>
          </a:p>
        </p:txBody>
      </p:sp>
      <p:sp>
        <p:nvSpPr>
          <p:cNvPr id="15" name="Off-page Connector 4">
            <a:extLst>
              <a:ext uri="{FF2B5EF4-FFF2-40B4-BE49-F238E27FC236}">
                <a16:creationId xmlns:a16="http://schemas.microsoft.com/office/drawing/2014/main" id="{202B3C79-3BBF-BBB9-B0E6-622A738141B5}"/>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6" name="Off-page Connector 5">
            <a:extLst>
              <a:ext uri="{FF2B5EF4-FFF2-40B4-BE49-F238E27FC236}">
                <a16:creationId xmlns:a16="http://schemas.microsoft.com/office/drawing/2014/main" id="{B61C9A81-B053-2EF9-0315-D753E1A083A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7" name="Off-page Connector 6">
            <a:extLst>
              <a:ext uri="{FF2B5EF4-FFF2-40B4-BE49-F238E27FC236}">
                <a16:creationId xmlns:a16="http://schemas.microsoft.com/office/drawing/2014/main" id="{2C21C98E-DEF0-E00D-DFBC-545446CABBFE}"/>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8" name="Off-page Connector 7">
            <a:extLst>
              <a:ext uri="{FF2B5EF4-FFF2-40B4-BE49-F238E27FC236}">
                <a16:creationId xmlns:a16="http://schemas.microsoft.com/office/drawing/2014/main" id="{7C7B672A-AB61-A39C-1120-2019054EADD9}"/>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9" name="Off-page Connector 8">
            <a:extLst>
              <a:ext uri="{FF2B5EF4-FFF2-40B4-BE49-F238E27FC236}">
                <a16:creationId xmlns:a16="http://schemas.microsoft.com/office/drawing/2014/main" id="{F48CA1FF-C620-650C-A196-62515736E798}"/>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3" name="表 2">
            <a:extLst>
              <a:ext uri="{FF2B5EF4-FFF2-40B4-BE49-F238E27FC236}">
                <a16:creationId xmlns:a16="http://schemas.microsoft.com/office/drawing/2014/main" id="{CE7D4D29-D054-3381-57CF-9CD85BA5559C}"/>
              </a:ext>
            </a:extLst>
          </p:cNvPr>
          <p:cNvGraphicFramePr>
            <a:graphicFrameLocks noGrp="1"/>
          </p:cNvGraphicFramePr>
          <p:nvPr/>
        </p:nvGraphicFramePr>
        <p:xfrm>
          <a:off x="352425" y="1562100"/>
          <a:ext cx="11487150" cy="4699554"/>
        </p:xfrm>
        <a:graphic>
          <a:graphicData uri="http://schemas.openxmlformats.org/drawingml/2006/table">
            <a:tbl>
              <a:tblPr firstRow="1" bandRow="1">
                <a:tableStyleId>{1FECB4D8-DB02-4DC6-A0A2-4F2EBAE1DC90}</a:tableStyleId>
              </a:tblPr>
              <a:tblGrid>
                <a:gridCol w="2668995">
                  <a:extLst>
                    <a:ext uri="{9D8B030D-6E8A-4147-A177-3AD203B41FA5}">
                      <a16:colId xmlns:a16="http://schemas.microsoft.com/office/drawing/2014/main" val="881284321"/>
                    </a:ext>
                  </a:extLst>
                </a:gridCol>
                <a:gridCol w="4989104">
                  <a:extLst>
                    <a:ext uri="{9D8B030D-6E8A-4147-A177-3AD203B41FA5}">
                      <a16:colId xmlns:a16="http://schemas.microsoft.com/office/drawing/2014/main" val="2024379729"/>
                    </a:ext>
                  </a:extLst>
                </a:gridCol>
                <a:gridCol w="3829051">
                  <a:extLst>
                    <a:ext uri="{9D8B030D-6E8A-4147-A177-3AD203B41FA5}">
                      <a16:colId xmlns:a16="http://schemas.microsoft.com/office/drawing/2014/main" val="3994138474"/>
                    </a:ext>
                  </a:extLst>
                </a:gridCol>
              </a:tblGrid>
              <a:tr h="582874">
                <a:tc>
                  <a:txBody>
                    <a:bodyPr/>
                    <a:lstStyle/>
                    <a:p>
                      <a:pPr algn="ctr">
                        <a:lnSpc>
                          <a:spcPct val="150000"/>
                        </a:lnSpc>
                      </a:pPr>
                      <a:r>
                        <a:rPr kumimoji="1" lang="ja-JP" altLang="en-US" sz="2200">
                          <a:solidFill>
                            <a:schemeClr val="tx1"/>
                          </a:solidFill>
                          <a:latin typeface="+mj-ea"/>
                          <a:ea typeface="+mj-ea"/>
                        </a:rPr>
                        <a:t>対策の分類</a:t>
                      </a:r>
                    </a:p>
                  </a:txBody>
                  <a:tcPr>
                    <a:lnL w="12700" cmpd="sng">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方法</a:t>
                      </a:r>
                    </a:p>
                  </a:txBody>
                  <a:tcPr>
                    <a:lnL>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内容</a:t>
                      </a:r>
                    </a:p>
                  </a:txBody>
                  <a:tcP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48711975"/>
                  </a:ext>
                </a:extLst>
              </a:tr>
              <a:tr h="600075">
                <a:tc>
                  <a:txBody>
                    <a:bodyPr/>
                    <a:lstStyle/>
                    <a:p>
                      <a:pPr>
                        <a:lnSpc>
                          <a:spcPct val="150000"/>
                        </a:lnSpc>
                      </a:pPr>
                      <a:r>
                        <a:rPr kumimoji="1" lang="ja-JP" altLang="en-US" sz="2000">
                          <a:latin typeface="+mj-ea"/>
                          <a:ea typeface="+mj-ea"/>
                        </a:rPr>
                        <a:t>ノッチの直接検出</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SDPPG</a:t>
                      </a:r>
                      <a:r>
                        <a:rPr kumimoji="1" lang="ja-JP" altLang="en-US" sz="2000">
                          <a:latin typeface="+mj-ea"/>
                          <a:ea typeface="+mj-ea"/>
                        </a:rPr>
                        <a:t>、</a:t>
                      </a:r>
                      <a:r>
                        <a:rPr kumimoji="1" lang="en-US" altLang="ja-JP" sz="2000" dirty="0">
                          <a:latin typeface="+mj-ea"/>
                          <a:ea typeface="+mj-ea"/>
                        </a:rPr>
                        <a:t>IEM (</a:t>
                      </a:r>
                      <a:r>
                        <a:rPr kumimoji="1" lang="ja-JP" altLang="en-US" sz="2000">
                          <a:latin typeface="+mj-ea"/>
                          <a:ea typeface="+mj-ea"/>
                        </a:rPr>
                        <a:t>反復エンベロープ平均</a:t>
                      </a:r>
                      <a:r>
                        <a:rPr kumimoji="1" lang="en-US" altLang="ja-JP" sz="2000" dirty="0">
                          <a:latin typeface="+mj-ea"/>
                          <a:ea typeface="+mj-ea"/>
                        </a:rPr>
                        <a:t>)</a:t>
                      </a:r>
                      <a:endParaRPr kumimoji="1" lang="ja-JP" altLang="en-US" sz="2000">
                        <a:latin typeface="+mj-ea"/>
                        <a:ea typeface="+mj-ea"/>
                      </a:endParaRP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重複切痕の直接検出。</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76303986"/>
                  </a:ext>
                </a:extLst>
              </a:tr>
              <a:tr h="926898">
                <a:tc>
                  <a:txBody>
                    <a:bodyPr/>
                    <a:lstStyle/>
                    <a:p>
                      <a:pPr>
                        <a:lnSpc>
                          <a:spcPct val="150000"/>
                        </a:lnSpc>
                      </a:pPr>
                      <a:r>
                        <a:rPr kumimoji="1" lang="ja-JP" altLang="en-US" sz="2000">
                          <a:latin typeface="+mj-ea"/>
                          <a:ea typeface="+mj-ea"/>
                        </a:rPr>
                        <a:t>信号強調</a:t>
                      </a:r>
                      <a:endParaRPr kumimoji="1" lang="en-US" altLang="ja-JP" sz="2000" dirty="0">
                        <a:latin typeface="+mj-ea"/>
                        <a:ea typeface="+mj-ea"/>
                      </a:endParaRP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MODWT</a:t>
                      </a:r>
                      <a:r>
                        <a:rPr kumimoji="1" lang="ja-JP" altLang="en-US" sz="2000">
                          <a:latin typeface="+mj-ea"/>
                          <a:ea typeface="+mj-ea"/>
                        </a:rPr>
                        <a:t>ウェーブレット強調</a:t>
                      </a:r>
                      <a:endParaRPr kumimoji="1" lang="en-US" altLang="ja-JP" sz="2000" dirty="0">
                        <a:latin typeface="+mj-ea"/>
                        <a:ea typeface="+mj-ea"/>
                      </a:endParaRPr>
                    </a:p>
                    <a:p>
                      <a:pPr>
                        <a:lnSpc>
                          <a:spcPct val="150000"/>
                        </a:lnSpc>
                        <a:buNone/>
                      </a:pPr>
                      <a:r>
                        <a:rPr lang="en" altLang="ja-JP" sz="2000" dirty="0">
                          <a:latin typeface="+mj-ea"/>
                          <a:ea typeface="+mj-ea"/>
                        </a:rPr>
                        <a:t>Harmonic-selective Gaussian </a:t>
                      </a:r>
                      <a:r>
                        <a:rPr lang="ja-JP" altLang="en-US" sz="2000">
                          <a:latin typeface="+mj-ea"/>
                          <a:ea typeface="+mj-ea"/>
                        </a:rPr>
                        <a:t>フィルタ</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ノイズを削って重複切痕を強調。</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70517196"/>
                  </a:ext>
                </a:extLst>
              </a:tr>
              <a:tr h="926898">
                <a:tc>
                  <a:txBody>
                    <a:bodyPr/>
                    <a:lstStyle/>
                    <a:p>
                      <a:pPr>
                        <a:lnSpc>
                          <a:spcPct val="150000"/>
                        </a:lnSpc>
                      </a:pPr>
                      <a:r>
                        <a:rPr kumimoji="1" lang="ja-JP" altLang="en-US" sz="2000">
                          <a:latin typeface="+mj-ea"/>
                          <a:ea typeface="+mj-ea"/>
                        </a:rPr>
                        <a:t>パルス分解分析</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モデル別で数種類</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PPG</a:t>
                      </a:r>
                      <a:r>
                        <a:rPr kumimoji="1" lang="ja-JP" altLang="en-US" sz="2000">
                          <a:latin typeface="+mj-ea"/>
                          <a:ea typeface="+mj-ea"/>
                        </a:rPr>
                        <a:t>の合成波を分解して、各波を推定する。</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93143561"/>
                  </a:ext>
                </a:extLst>
              </a:tr>
              <a:tr h="926898">
                <a:tc>
                  <a:txBody>
                    <a:bodyPr/>
                    <a:lstStyle/>
                    <a:p>
                      <a:pPr>
                        <a:lnSpc>
                          <a:spcPct val="150000"/>
                        </a:lnSpc>
                      </a:pPr>
                      <a:r>
                        <a:rPr kumimoji="1" lang="ja-JP" altLang="en-US" sz="2000">
                          <a:latin typeface="+mj-ea"/>
                          <a:ea typeface="+mj-ea"/>
                        </a:rPr>
                        <a:t>機械学習・深層学習</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CNN</a:t>
                      </a:r>
                      <a:r>
                        <a:rPr kumimoji="1" lang="ja-JP" altLang="en-US" sz="2000">
                          <a:latin typeface="+mj-ea"/>
                          <a:ea typeface="+mj-ea"/>
                        </a:rPr>
                        <a:t>による直接推定</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重複切痕に非依存。</a:t>
                      </a:r>
                      <a:endParaRPr kumimoji="1" lang="en-US" altLang="ja-JP" sz="2000" dirty="0">
                        <a:latin typeface="+mj-ea"/>
                        <a:ea typeface="+mj-ea"/>
                      </a:endParaRPr>
                    </a:p>
                    <a:p>
                      <a:pPr>
                        <a:lnSpc>
                          <a:spcPct val="150000"/>
                        </a:lnSpc>
                      </a:pPr>
                      <a:r>
                        <a:rPr kumimoji="1" lang="ja-JP" altLang="en-US" sz="2000">
                          <a:latin typeface="+mj-ea"/>
                          <a:ea typeface="+mj-ea"/>
                        </a:rPr>
                        <a:t>生理学的な理由は不明。</a:t>
                      </a:r>
                      <a:endParaRPr kumimoji="1" lang="en-US" altLang="ja-JP" sz="2000" dirty="0">
                        <a:latin typeface="+mj-ea"/>
                        <a:ea typeface="+mj-ea"/>
                      </a:endParaRP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23142675"/>
                  </a:ext>
                </a:extLst>
              </a:tr>
              <a:tr h="613385">
                <a:tc>
                  <a:txBody>
                    <a:bodyPr/>
                    <a:lstStyle/>
                    <a:p>
                      <a:pPr>
                        <a:lnSpc>
                          <a:spcPct val="150000"/>
                        </a:lnSpc>
                      </a:pPr>
                      <a:r>
                        <a:rPr kumimoji="1" lang="ja-JP" altLang="en-US" sz="2000">
                          <a:latin typeface="+mj-ea"/>
                          <a:ea typeface="+mj-ea"/>
                        </a:rPr>
                        <a:t>グラフ理論</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 altLang="ja-JP" sz="2000" dirty="0">
                          <a:latin typeface="+mj-ea"/>
                          <a:ea typeface="+mj-ea"/>
                        </a:rPr>
                        <a:t>Visibility Graph</a:t>
                      </a:r>
                      <a:r>
                        <a:rPr lang="ja-JP" altLang="en-US" sz="2000">
                          <a:latin typeface="+mj-ea"/>
                          <a:ea typeface="+mj-ea"/>
                        </a:rPr>
                        <a:t>特徴量</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波形を図形として数値化</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04044554"/>
                  </a:ext>
                </a:extLst>
              </a:tr>
            </a:tbl>
          </a:graphicData>
        </a:graphic>
      </p:graphicFrame>
      <p:sp>
        <p:nvSpPr>
          <p:cNvPr id="2" name="Source">
            <a:extLst>
              <a:ext uri="{FF2B5EF4-FFF2-40B4-BE49-F238E27FC236}">
                <a16:creationId xmlns:a16="http://schemas.microsoft.com/office/drawing/2014/main" id="{CA62D685-2543-C2A5-28B6-BB9D3072FDE0}"/>
              </a:ext>
            </a:extLst>
          </p:cNvPr>
          <p:cNvSpPr txBox="1"/>
          <p:nvPr/>
        </p:nvSpPr>
        <p:spPr>
          <a:xfrm>
            <a:off x="472440" y="6606000"/>
            <a:ext cx="10881360" cy="200000"/>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34. Pal 2024　／　35. Fleischhauer 2020　／　36. Attivissimo 2023　／　37. Domínguez-Hernández 2026　／　38. Shin 2022　／　39. Vargas 2025</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43/72</a:t>
            </a:r>
          </a:p>
        </p:txBody>
      </p:sp>
    </p:spTree>
    <p:extLst>
      <p:ext uri="{BB962C8B-B14F-4D97-AF65-F5344CB8AC3E}">
        <p14:creationId xmlns:p14="http://schemas.microsoft.com/office/powerpoint/2010/main" val="374964878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C2C86-11C8-43AF-38D4-266F9FEB9C3A}"/>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176D710D-46ED-BA22-7899-01AD435D9D4D}"/>
              </a:ext>
            </a:extLst>
          </p:cNvPr>
          <p:cNvSpPr>
            <a:spLocks noGrp="1"/>
          </p:cNvSpPr>
          <p:nvPr>
            <p:ph type="title"/>
          </p:nvPr>
        </p:nvSpPr>
        <p:spPr>
          <a:xfrm>
            <a:off x="838200" y="365125"/>
            <a:ext cx="10515600" cy="1325563"/>
          </a:xfrm>
        </p:spPr>
        <p:txBody>
          <a:bodyPr/>
          <a:lstStyle/>
          <a:p>
            <a:pPr algn="l"/>
            <a:r>
              <a:rPr sz="4600" dirty="0">
                <a:latin typeface="Meiryo"/>
                <a:ea typeface="Meiryo"/>
                <a:cs typeface="Meiryo"/>
              </a:rPr>
              <a:t>4.3  DN-less 信号対策</a:t>
            </a:r>
          </a:p>
        </p:txBody>
      </p:sp>
      <p:sp>
        <p:nvSpPr>
          <p:cNvPr id="15" name="Off-page Connector 4">
            <a:extLst>
              <a:ext uri="{FF2B5EF4-FFF2-40B4-BE49-F238E27FC236}">
                <a16:creationId xmlns:a16="http://schemas.microsoft.com/office/drawing/2014/main" id="{1D666880-7CB3-12E3-E9FB-F0B14D24F09D}"/>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6" name="Off-page Connector 5">
            <a:extLst>
              <a:ext uri="{FF2B5EF4-FFF2-40B4-BE49-F238E27FC236}">
                <a16:creationId xmlns:a16="http://schemas.microsoft.com/office/drawing/2014/main" id="{427C8111-9B64-E411-C3C2-5351CBBC312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7" name="Off-page Connector 6">
            <a:extLst>
              <a:ext uri="{FF2B5EF4-FFF2-40B4-BE49-F238E27FC236}">
                <a16:creationId xmlns:a16="http://schemas.microsoft.com/office/drawing/2014/main" id="{5D1BC14E-2ED1-D0F6-8AB1-BDF4B7C33153}"/>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8" name="Off-page Connector 7">
            <a:extLst>
              <a:ext uri="{FF2B5EF4-FFF2-40B4-BE49-F238E27FC236}">
                <a16:creationId xmlns:a16="http://schemas.microsoft.com/office/drawing/2014/main" id="{D0D795BB-EA41-E136-B66D-89672E3E5DD3}"/>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9" name="Off-page Connector 8">
            <a:extLst>
              <a:ext uri="{FF2B5EF4-FFF2-40B4-BE49-F238E27FC236}">
                <a16:creationId xmlns:a16="http://schemas.microsoft.com/office/drawing/2014/main" id="{8DFBE63E-2238-E72F-CC37-89CBA791FE6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3" name="表 2">
            <a:extLst>
              <a:ext uri="{FF2B5EF4-FFF2-40B4-BE49-F238E27FC236}">
                <a16:creationId xmlns:a16="http://schemas.microsoft.com/office/drawing/2014/main" id="{3CBFC6E6-0790-4298-1FD2-3BEAC224C453}"/>
              </a:ext>
            </a:extLst>
          </p:cNvPr>
          <p:cNvGraphicFramePr>
            <a:graphicFrameLocks noGrp="1"/>
          </p:cNvGraphicFramePr>
          <p:nvPr/>
        </p:nvGraphicFramePr>
        <p:xfrm>
          <a:off x="352425" y="1562100"/>
          <a:ext cx="11487150" cy="4699554"/>
        </p:xfrm>
        <a:graphic>
          <a:graphicData uri="http://schemas.openxmlformats.org/drawingml/2006/table">
            <a:tbl>
              <a:tblPr firstRow="1" bandRow="1">
                <a:tableStyleId>{1FECB4D8-DB02-4DC6-A0A2-4F2EBAE1DC90}</a:tableStyleId>
              </a:tblPr>
              <a:tblGrid>
                <a:gridCol w="2668995">
                  <a:extLst>
                    <a:ext uri="{9D8B030D-6E8A-4147-A177-3AD203B41FA5}">
                      <a16:colId xmlns:a16="http://schemas.microsoft.com/office/drawing/2014/main" val="881284321"/>
                    </a:ext>
                  </a:extLst>
                </a:gridCol>
                <a:gridCol w="4989104">
                  <a:extLst>
                    <a:ext uri="{9D8B030D-6E8A-4147-A177-3AD203B41FA5}">
                      <a16:colId xmlns:a16="http://schemas.microsoft.com/office/drawing/2014/main" val="2024379729"/>
                    </a:ext>
                  </a:extLst>
                </a:gridCol>
                <a:gridCol w="3829051">
                  <a:extLst>
                    <a:ext uri="{9D8B030D-6E8A-4147-A177-3AD203B41FA5}">
                      <a16:colId xmlns:a16="http://schemas.microsoft.com/office/drawing/2014/main" val="3994138474"/>
                    </a:ext>
                  </a:extLst>
                </a:gridCol>
              </a:tblGrid>
              <a:tr h="582874">
                <a:tc>
                  <a:txBody>
                    <a:bodyPr/>
                    <a:lstStyle/>
                    <a:p>
                      <a:pPr algn="ctr">
                        <a:lnSpc>
                          <a:spcPct val="150000"/>
                        </a:lnSpc>
                      </a:pPr>
                      <a:r>
                        <a:rPr kumimoji="1" lang="ja-JP" altLang="en-US" sz="2200">
                          <a:solidFill>
                            <a:schemeClr val="tx1"/>
                          </a:solidFill>
                          <a:latin typeface="+mj-ea"/>
                          <a:ea typeface="+mj-ea"/>
                        </a:rPr>
                        <a:t>対策の分類</a:t>
                      </a:r>
                    </a:p>
                  </a:txBody>
                  <a:tcPr>
                    <a:lnL w="12700" cmpd="sng">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方法</a:t>
                      </a:r>
                    </a:p>
                  </a:txBody>
                  <a:tcPr>
                    <a:lnL>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内容</a:t>
                      </a:r>
                    </a:p>
                  </a:txBody>
                  <a:tcP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48711975"/>
                  </a:ext>
                </a:extLst>
              </a:tr>
              <a:tr h="600075">
                <a:tc>
                  <a:txBody>
                    <a:bodyPr/>
                    <a:lstStyle/>
                    <a:p>
                      <a:pPr>
                        <a:lnSpc>
                          <a:spcPct val="150000"/>
                        </a:lnSpc>
                      </a:pPr>
                      <a:r>
                        <a:rPr kumimoji="1" lang="ja-JP" altLang="en-US" sz="2000">
                          <a:latin typeface="+mj-ea"/>
                          <a:ea typeface="+mj-ea"/>
                        </a:rPr>
                        <a:t>ノッチの直接検出</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SDPPG</a:t>
                      </a:r>
                      <a:r>
                        <a:rPr kumimoji="1" lang="ja-JP" altLang="en-US" sz="2000">
                          <a:latin typeface="+mj-ea"/>
                          <a:ea typeface="+mj-ea"/>
                        </a:rPr>
                        <a:t>、</a:t>
                      </a:r>
                      <a:r>
                        <a:rPr kumimoji="1" lang="en-US" altLang="ja-JP" sz="2000" dirty="0">
                          <a:latin typeface="+mj-ea"/>
                          <a:ea typeface="+mj-ea"/>
                        </a:rPr>
                        <a:t>IEM (</a:t>
                      </a:r>
                      <a:r>
                        <a:rPr kumimoji="1" lang="ja-JP" altLang="en-US" sz="2000">
                          <a:latin typeface="+mj-ea"/>
                          <a:ea typeface="+mj-ea"/>
                        </a:rPr>
                        <a:t>反復エンベロープ平均</a:t>
                      </a:r>
                      <a:r>
                        <a:rPr kumimoji="1" lang="en-US" altLang="ja-JP" sz="2000" dirty="0">
                          <a:latin typeface="+mj-ea"/>
                          <a:ea typeface="+mj-ea"/>
                        </a:rPr>
                        <a:t>)</a:t>
                      </a:r>
                      <a:endParaRPr kumimoji="1" lang="ja-JP" altLang="en-US" sz="2000">
                        <a:latin typeface="+mj-ea"/>
                        <a:ea typeface="+mj-ea"/>
                      </a:endParaRP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重複切痕の直接検出。</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76303986"/>
                  </a:ext>
                </a:extLst>
              </a:tr>
              <a:tr h="926898">
                <a:tc>
                  <a:txBody>
                    <a:bodyPr/>
                    <a:lstStyle/>
                    <a:p>
                      <a:pPr>
                        <a:lnSpc>
                          <a:spcPct val="150000"/>
                        </a:lnSpc>
                      </a:pPr>
                      <a:r>
                        <a:rPr kumimoji="1" lang="ja-JP" altLang="en-US" sz="2000">
                          <a:latin typeface="+mj-ea"/>
                          <a:ea typeface="+mj-ea"/>
                        </a:rPr>
                        <a:t>信号強調</a:t>
                      </a:r>
                      <a:endParaRPr kumimoji="1" lang="en-US" altLang="ja-JP" sz="2000" dirty="0">
                        <a:latin typeface="+mj-ea"/>
                        <a:ea typeface="+mj-ea"/>
                      </a:endParaRP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MODWT</a:t>
                      </a:r>
                      <a:r>
                        <a:rPr kumimoji="1" lang="ja-JP" altLang="en-US" sz="2000">
                          <a:latin typeface="+mj-ea"/>
                          <a:ea typeface="+mj-ea"/>
                        </a:rPr>
                        <a:t>ウェーブレット強調</a:t>
                      </a:r>
                      <a:endParaRPr kumimoji="1" lang="en-US" altLang="ja-JP" sz="2000" dirty="0">
                        <a:latin typeface="+mj-ea"/>
                        <a:ea typeface="+mj-ea"/>
                      </a:endParaRPr>
                    </a:p>
                    <a:p>
                      <a:pPr>
                        <a:lnSpc>
                          <a:spcPct val="150000"/>
                        </a:lnSpc>
                        <a:buNone/>
                      </a:pPr>
                      <a:r>
                        <a:rPr lang="en" altLang="ja-JP" sz="2000" dirty="0">
                          <a:latin typeface="+mj-ea"/>
                          <a:ea typeface="+mj-ea"/>
                        </a:rPr>
                        <a:t>Harmonic-selective Gaussian </a:t>
                      </a:r>
                      <a:r>
                        <a:rPr lang="ja-JP" altLang="en-US" sz="2000">
                          <a:latin typeface="+mj-ea"/>
                          <a:ea typeface="+mj-ea"/>
                        </a:rPr>
                        <a:t>フィルタ</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ノイズを削って重複切痕を強調。</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70517196"/>
                  </a:ext>
                </a:extLst>
              </a:tr>
              <a:tr h="926898">
                <a:tc>
                  <a:txBody>
                    <a:bodyPr/>
                    <a:lstStyle/>
                    <a:p>
                      <a:pPr>
                        <a:lnSpc>
                          <a:spcPct val="150000"/>
                        </a:lnSpc>
                      </a:pPr>
                      <a:r>
                        <a:rPr kumimoji="1" lang="ja-JP" altLang="en-US" sz="2000" b="1">
                          <a:latin typeface="+mj-ea"/>
                          <a:ea typeface="+mj-ea"/>
                        </a:rPr>
                        <a:t>パルス分解分析</a:t>
                      </a:r>
                    </a:p>
                  </a:txBody>
                  <a:tcPr>
                    <a:lnL w="12700" cmpd="sng">
                      <a:noFill/>
                    </a:lnL>
                    <a:lnR>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nSpc>
                          <a:spcPct val="150000"/>
                        </a:lnSpc>
                      </a:pPr>
                      <a:r>
                        <a:rPr kumimoji="1" lang="ja-JP" altLang="en-US" sz="2000" b="1">
                          <a:latin typeface="+mj-ea"/>
                          <a:ea typeface="+mj-ea"/>
                        </a:rPr>
                        <a:t>モデル別で数種類</a:t>
                      </a:r>
                    </a:p>
                  </a:txBody>
                  <a:tcPr>
                    <a:lnL>
                      <a:noFill/>
                    </a:lnL>
                    <a:lnR>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nSpc>
                          <a:spcPct val="150000"/>
                        </a:lnSpc>
                      </a:pPr>
                      <a:r>
                        <a:rPr kumimoji="1" lang="en-US" altLang="ja-JP" sz="2000" b="1" dirty="0">
                          <a:latin typeface="+mj-ea"/>
                          <a:ea typeface="+mj-ea"/>
                        </a:rPr>
                        <a:t>PPG</a:t>
                      </a:r>
                      <a:r>
                        <a:rPr kumimoji="1" lang="ja-JP" altLang="en-US" sz="2000" b="1">
                          <a:latin typeface="+mj-ea"/>
                          <a:ea typeface="+mj-ea"/>
                        </a:rPr>
                        <a:t>の合成波を分解して、各波を推定する。</a:t>
                      </a:r>
                    </a:p>
                  </a:txBody>
                  <a:tcPr>
                    <a:lnL>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893143561"/>
                  </a:ext>
                </a:extLst>
              </a:tr>
              <a:tr h="926898">
                <a:tc>
                  <a:txBody>
                    <a:bodyPr/>
                    <a:lstStyle/>
                    <a:p>
                      <a:pPr>
                        <a:lnSpc>
                          <a:spcPct val="150000"/>
                        </a:lnSpc>
                      </a:pPr>
                      <a:r>
                        <a:rPr kumimoji="1" lang="ja-JP" altLang="en-US" sz="2000">
                          <a:latin typeface="+mj-ea"/>
                          <a:ea typeface="+mj-ea"/>
                        </a:rPr>
                        <a:t>機械学習・深層学習</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CNN</a:t>
                      </a:r>
                      <a:r>
                        <a:rPr kumimoji="1" lang="ja-JP" altLang="en-US" sz="2000">
                          <a:latin typeface="+mj-ea"/>
                          <a:ea typeface="+mj-ea"/>
                        </a:rPr>
                        <a:t>による直接推定</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重複切痕に非依存。</a:t>
                      </a:r>
                      <a:endParaRPr kumimoji="1" lang="en-US" altLang="ja-JP" sz="2000" dirty="0">
                        <a:latin typeface="+mj-ea"/>
                        <a:ea typeface="+mj-ea"/>
                      </a:endParaRPr>
                    </a:p>
                    <a:p>
                      <a:pPr>
                        <a:lnSpc>
                          <a:spcPct val="150000"/>
                        </a:lnSpc>
                      </a:pPr>
                      <a:r>
                        <a:rPr kumimoji="1" lang="ja-JP" altLang="en-US" sz="2000">
                          <a:latin typeface="+mj-ea"/>
                          <a:ea typeface="+mj-ea"/>
                        </a:rPr>
                        <a:t>生理学的な理由は不明。</a:t>
                      </a:r>
                      <a:endParaRPr kumimoji="1" lang="en-US" altLang="ja-JP" sz="2000" dirty="0">
                        <a:latin typeface="+mj-ea"/>
                        <a:ea typeface="+mj-ea"/>
                      </a:endParaRP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23142675"/>
                  </a:ext>
                </a:extLst>
              </a:tr>
              <a:tr h="613385">
                <a:tc>
                  <a:txBody>
                    <a:bodyPr/>
                    <a:lstStyle/>
                    <a:p>
                      <a:pPr>
                        <a:lnSpc>
                          <a:spcPct val="150000"/>
                        </a:lnSpc>
                      </a:pPr>
                      <a:r>
                        <a:rPr kumimoji="1" lang="ja-JP" altLang="en-US" sz="2000">
                          <a:latin typeface="+mj-ea"/>
                          <a:ea typeface="+mj-ea"/>
                        </a:rPr>
                        <a:t>グラフ理論</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 altLang="ja-JP" sz="2000" dirty="0">
                          <a:latin typeface="+mj-ea"/>
                          <a:ea typeface="+mj-ea"/>
                        </a:rPr>
                        <a:t>Visibility Graph</a:t>
                      </a:r>
                      <a:r>
                        <a:rPr lang="ja-JP" altLang="en-US" sz="2000">
                          <a:latin typeface="+mj-ea"/>
                          <a:ea typeface="+mj-ea"/>
                        </a:rPr>
                        <a:t>特徴量</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波形を図形として数値化</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04044554"/>
                  </a:ext>
                </a:extLst>
              </a:tr>
            </a:tbl>
          </a:graphicData>
        </a:graphic>
      </p:graphicFrame>
      <p:sp>
        <p:nvSpPr>
          <p:cNvPr id="2" name="Source">
            <a:extLst>
              <a:ext uri="{FF2B5EF4-FFF2-40B4-BE49-F238E27FC236}">
                <a16:creationId xmlns:a16="http://schemas.microsoft.com/office/drawing/2014/main" id="{4D36DBBC-C376-D9E0-BC45-7F268A42F7DE}"/>
              </a:ext>
            </a:extLst>
          </p:cNvPr>
          <p:cNvSpPr txBox="1"/>
          <p:nvPr/>
        </p:nvSpPr>
        <p:spPr>
          <a:xfrm>
            <a:off x="472440" y="6606000"/>
            <a:ext cx="10881360" cy="200000"/>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34. Pal 2024　／　35. Fleischhauer 2020　／　36. Attivissimo 2023　／　37. Domínguez-Hernández 2026　／　38. Shin 2022　／　39. Vargas 2025</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43/72</a:t>
            </a:r>
          </a:p>
        </p:txBody>
      </p:sp>
    </p:spTree>
    <p:extLst>
      <p:ext uri="{BB962C8B-B14F-4D97-AF65-F5344CB8AC3E}">
        <p14:creationId xmlns:p14="http://schemas.microsoft.com/office/powerpoint/2010/main" val="207505641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 PDA（波形分解）</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BF9000"/>
                </a:solidFill>
                <a:latin typeface="Meiryo"/>
                <a:ea typeface="Meiryo"/>
                <a:cs typeface="Meiryo"/>
              </a:rPr>
              <a:t>5. </a:t>
            </a:r>
            <a:r>
              <a:rPr sz="3200" b="1">
                <a:solidFill>
                  <a:srgbClr val="262626"/>
                </a:solidFill>
                <a:latin typeface="Meiryo"/>
                <a:ea typeface="Meiryo"/>
                <a:cs typeface="Meiryo"/>
              </a:rPr>
              <a:t>PDA（波形分解）</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5.1 </a:t>
            </a:r>
            <a:r>
              <a:rPr sz="2900" b="0">
                <a:solidFill>
                  <a:srgbClr val="262626"/>
                </a:solidFill>
                <a:latin typeface="Meiryo"/>
                <a:ea typeface="Meiryo"/>
                <a:cs typeface="Meiryo"/>
              </a:rPr>
              <a:t>PDA とは・歴史</a:t>
            </a:r>
          </a:p>
          <a:p>
            <a:pPr>
              <a:lnSpc>
                <a:spcPct val="145000"/>
              </a:lnSpc>
            </a:pPr>
            <a:r>
              <a:rPr sz="2900" b="1">
                <a:solidFill>
                  <a:srgbClr val="BF9000"/>
                </a:solidFill>
                <a:latin typeface="Meiryo"/>
                <a:ea typeface="Meiryo"/>
                <a:cs typeface="Meiryo"/>
              </a:rPr>
              <a:t>5.2 </a:t>
            </a:r>
            <a:r>
              <a:rPr sz="2900" b="0">
                <a:solidFill>
                  <a:srgbClr val="262626"/>
                </a:solidFill>
                <a:latin typeface="Meiryo"/>
                <a:ea typeface="Meiryo"/>
                <a:cs typeface="Meiryo"/>
              </a:rPr>
              <a:t>分解のしくみ</a:t>
            </a:r>
          </a:p>
          <a:p>
            <a:pPr>
              <a:lnSpc>
                <a:spcPct val="145000"/>
              </a:lnSpc>
            </a:pPr>
            <a:r>
              <a:rPr sz="2900" b="1">
                <a:solidFill>
                  <a:srgbClr val="BF9000"/>
                </a:solidFill>
                <a:latin typeface="Meiryo"/>
                <a:ea typeface="Meiryo"/>
                <a:cs typeface="Meiryo"/>
              </a:rPr>
              <a:t>5.3 </a:t>
            </a:r>
            <a:r>
              <a:rPr sz="2900" b="0">
                <a:solidFill>
                  <a:srgbClr val="262626"/>
                </a:solidFill>
                <a:latin typeface="Meiryo"/>
                <a:ea typeface="Meiryo"/>
                <a:cs typeface="Meiryo"/>
              </a:rPr>
              <a:t>当てはめ方</a:t>
            </a:r>
          </a:p>
          <a:p>
            <a:pPr>
              <a:lnSpc>
                <a:spcPct val="145000"/>
              </a:lnSpc>
            </a:pPr>
            <a:r>
              <a:rPr sz="2900" b="1">
                <a:solidFill>
                  <a:srgbClr val="BF9000"/>
                </a:solidFill>
                <a:latin typeface="Meiryo"/>
                <a:ea typeface="Meiryo"/>
                <a:cs typeface="Meiryo"/>
              </a:rPr>
              <a:t>5.4 </a:t>
            </a:r>
            <a:r>
              <a:rPr sz="2900" b="0">
                <a:solidFill>
                  <a:srgbClr val="262626"/>
                </a:solidFill>
                <a:latin typeface="Meiryo"/>
                <a:ea typeface="Meiryo"/>
                <a:cs typeface="Meiryo"/>
              </a:rPr>
              <a:t>得られる指標</a:t>
            </a:r>
          </a:p>
          <a:p>
            <a:pPr>
              <a:lnSpc>
                <a:spcPct val="145000"/>
              </a:lnSpc>
            </a:pPr>
            <a:r>
              <a:rPr sz="2900" b="1">
                <a:solidFill>
                  <a:srgbClr val="BF9000"/>
                </a:solidFill>
                <a:latin typeface="Meiryo"/>
                <a:ea typeface="Meiryo"/>
                <a:cs typeface="Meiryo"/>
              </a:rPr>
              <a:t>5.5 </a:t>
            </a:r>
            <a:r>
              <a:rPr sz="2900" b="0">
                <a:solidFill>
                  <a:srgbClr val="262626"/>
                </a:solidFill>
                <a:latin typeface="Meiryo"/>
                <a:ea typeface="Meiryo"/>
                <a:cs typeface="Meiryo"/>
              </a:rPr>
              <a:t>重要文献</a:t>
            </a:r>
          </a:p>
          <a:p>
            <a:pPr>
              <a:lnSpc>
                <a:spcPct val="145000"/>
              </a:lnSpc>
            </a:pPr>
            <a:r>
              <a:rPr sz="2900" b="1">
                <a:solidFill>
                  <a:srgbClr val="BF9000"/>
                </a:solidFill>
                <a:latin typeface="Meiryo"/>
                <a:ea typeface="Meiryo"/>
                <a:cs typeface="Meiryo"/>
              </a:rPr>
              <a:t>5.6 </a:t>
            </a:r>
            <a:r>
              <a:rPr sz="2900" b="0">
                <a:solidFill>
                  <a:srgbClr val="262626"/>
                </a:solidFill>
                <a:latin typeface="Meiryo"/>
                <a:ea typeface="Meiryo"/>
                <a:cs typeface="Meiryo"/>
              </a:rPr>
              <a:t>限界</a:t>
            </a:r>
          </a:p>
          <a:p>
            <a:pPr>
              <a:lnSpc>
                <a:spcPct val="145000"/>
              </a:lnSpc>
            </a:pPr>
            <a:r>
              <a:rPr sz="2900" b="1">
                <a:solidFill>
                  <a:srgbClr val="BF9000"/>
                </a:solidFill>
                <a:latin typeface="Meiryo"/>
                <a:ea typeface="Meiryo"/>
                <a:cs typeface="Meiryo"/>
              </a:rPr>
              <a:t>5.7 </a:t>
            </a:r>
            <a:r>
              <a:rPr sz="2900" b="0">
                <a:solidFill>
                  <a:srgbClr val="262626"/>
                </a:solidFill>
                <a:latin typeface="Meiryo"/>
                <a:ea typeface="Meiryo"/>
                <a:cs typeface="Meiryo"/>
              </a:rPr>
              <a:t>残された問い</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44/72</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5.1  PDA とは</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　／　41. Goswami 2010　／　42. Couceiro 2015</a:t>
            </a:r>
          </a:p>
        </p:txBody>
      </p:sp>
      <p:sp>
        <p:nvSpPr>
          <p:cNvPr id="18" name="TextBox 17"/>
          <p:cNvSpPr txBox="1"/>
          <p:nvPr/>
        </p:nvSpPr>
        <p:spPr>
          <a:xfrm>
            <a:off x="720630" y="1923864"/>
            <a:ext cx="5486400" cy="52303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見えている波（実測）</a:t>
            </a:r>
          </a:p>
        </p:txBody>
      </p:sp>
      <p:sp>
        <p:nvSpPr>
          <p:cNvPr id="3" name="Freeform 2"/>
          <p:cNvSpPr/>
          <p:nvPr/>
        </p:nvSpPr>
        <p:spPr>
          <a:xfrm>
            <a:off x="766350" y="2335344"/>
            <a:ext cx="4846320" cy="1462022"/>
          </a:xfrm>
          <a:custGeom>
            <a:avLst/>
            <a:gdLst/>
            <a:ahLst/>
            <a:cxnLst/>
            <a:rect l="l" t="t" r="r" b="b"/>
            <a:pathLst>
              <a:path w="4846320" h="1462022">
                <a:moveTo>
                  <a:pt x="0" y="1412367"/>
                </a:moveTo>
                <a:lnTo>
                  <a:pt x="28508" y="1402571"/>
                </a:lnTo>
                <a:lnTo>
                  <a:pt x="57016" y="1391225"/>
                </a:lnTo>
                <a:lnTo>
                  <a:pt x="85523" y="1378158"/>
                </a:lnTo>
                <a:lnTo>
                  <a:pt x="114031" y="1363192"/>
                </a:lnTo>
                <a:lnTo>
                  <a:pt x="142539" y="1346147"/>
                </a:lnTo>
                <a:lnTo>
                  <a:pt x="171047" y="1326847"/>
                </a:lnTo>
                <a:lnTo>
                  <a:pt x="199554" y="1305117"/>
                </a:lnTo>
                <a:lnTo>
                  <a:pt x="228062" y="1280794"/>
                </a:lnTo>
                <a:lnTo>
                  <a:pt x="256570" y="1253729"/>
                </a:lnTo>
                <a:lnTo>
                  <a:pt x="285078" y="1223792"/>
                </a:lnTo>
                <a:lnTo>
                  <a:pt x="313585" y="1190877"/>
                </a:lnTo>
                <a:lnTo>
                  <a:pt x="342093" y="1154911"/>
                </a:lnTo>
                <a:lnTo>
                  <a:pt x="370601" y="1115856"/>
                </a:lnTo>
                <a:lnTo>
                  <a:pt x="399109" y="1073716"/>
                </a:lnTo>
                <a:lnTo>
                  <a:pt x="427616" y="1028542"/>
                </a:lnTo>
                <a:lnTo>
                  <a:pt x="456124" y="980438"/>
                </a:lnTo>
                <a:lnTo>
                  <a:pt x="484632" y="929563"/>
                </a:lnTo>
                <a:lnTo>
                  <a:pt x="513140" y="876133"/>
                </a:lnTo>
                <a:lnTo>
                  <a:pt x="541648" y="820427"/>
                </a:lnTo>
                <a:lnTo>
                  <a:pt x="570155" y="762781"/>
                </a:lnTo>
                <a:lnTo>
                  <a:pt x="598663" y="703595"/>
                </a:lnTo>
                <a:lnTo>
                  <a:pt x="627171" y="643321"/>
                </a:lnTo>
                <a:lnTo>
                  <a:pt x="655679" y="582466"/>
                </a:lnTo>
                <a:lnTo>
                  <a:pt x="684186" y="521584"/>
                </a:lnTo>
                <a:lnTo>
                  <a:pt x="712694" y="461266"/>
                </a:lnTo>
                <a:lnTo>
                  <a:pt x="741202" y="402133"/>
                </a:lnTo>
                <a:lnTo>
                  <a:pt x="769710" y="344825"/>
                </a:lnTo>
                <a:lnTo>
                  <a:pt x="798217" y="289991"/>
                </a:lnTo>
                <a:lnTo>
                  <a:pt x="826725" y="238271"/>
                </a:lnTo>
                <a:lnTo>
                  <a:pt x="855233" y="190291"/>
                </a:lnTo>
                <a:lnTo>
                  <a:pt x="883741" y="146643"/>
                </a:lnTo>
                <a:lnTo>
                  <a:pt x="912248" y="107876"/>
                </a:lnTo>
                <a:lnTo>
                  <a:pt x="940756" y="74480"/>
                </a:lnTo>
                <a:lnTo>
                  <a:pt x="969264" y="46881"/>
                </a:lnTo>
                <a:lnTo>
                  <a:pt x="997772" y="25421"/>
                </a:lnTo>
                <a:lnTo>
                  <a:pt x="1026280" y="10361"/>
                </a:lnTo>
                <a:lnTo>
                  <a:pt x="1054787" y="1865"/>
                </a:lnTo>
                <a:lnTo>
                  <a:pt x="1083295" y="0"/>
                </a:lnTo>
                <a:lnTo>
                  <a:pt x="1111803" y="4734"/>
                </a:lnTo>
                <a:lnTo>
                  <a:pt x="1140311" y="15937"/>
                </a:lnTo>
                <a:lnTo>
                  <a:pt x="1168818" y="33378"/>
                </a:lnTo>
                <a:lnTo>
                  <a:pt x="1197326" y="56739"/>
                </a:lnTo>
                <a:lnTo>
                  <a:pt x="1225834" y="85615"/>
                </a:lnTo>
                <a:lnTo>
                  <a:pt x="1254342" y="119526"/>
                </a:lnTo>
                <a:lnTo>
                  <a:pt x="1282849" y="157927"/>
                </a:lnTo>
                <a:lnTo>
                  <a:pt x="1311357" y="200218"/>
                </a:lnTo>
                <a:lnTo>
                  <a:pt x="1339865" y="245761"/>
                </a:lnTo>
                <a:lnTo>
                  <a:pt x="1368373" y="293889"/>
                </a:lnTo>
                <a:lnTo>
                  <a:pt x="1396880" y="343924"/>
                </a:lnTo>
                <a:lnTo>
                  <a:pt x="1425388" y="395183"/>
                </a:lnTo>
                <a:lnTo>
                  <a:pt x="1453896" y="447000"/>
                </a:lnTo>
                <a:lnTo>
                  <a:pt x="1482404" y="498730"/>
                </a:lnTo>
                <a:lnTo>
                  <a:pt x="1510912" y="549763"/>
                </a:lnTo>
                <a:lnTo>
                  <a:pt x="1539419" y="599533"/>
                </a:lnTo>
                <a:lnTo>
                  <a:pt x="1567927" y="647525"/>
                </a:lnTo>
                <a:lnTo>
                  <a:pt x="1596435" y="693281"/>
                </a:lnTo>
                <a:lnTo>
                  <a:pt x="1624943" y="736407"/>
                </a:lnTo>
                <a:lnTo>
                  <a:pt x="1653450" y="776570"/>
                </a:lnTo>
                <a:lnTo>
                  <a:pt x="1681958" y="813505"/>
                </a:lnTo>
                <a:lnTo>
                  <a:pt x="1710466" y="847013"/>
                </a:lnTo>
                <a:lnTo>
                  <a:pt x="1738974" y="876955"/>
                </a:lnTo>
                <a:lnTo>
                  <a:pt x="1767481" y="903256"/>
                </a:lnTo>
                <a:lnTo>
                  <a:pt x="1795989" y="925897"/>
                </a:lnTo>
                <a:lnTo>
                  <a:pt x="1824497" y="944909"/>
                </a:lnTo>
                <a:lnTo>
                  <a:pt x="1853005" y="960374"/>
                </a:lnTo>
                <a:lnTo>
                  <a:pt x="1881512" y="972413"/>
                </a:lnTo>
                <a:lnTo>
                  <a:pt x="1910020" y="981182"/>
                </a:lnTo>
                <a:lnTo>
                  <a:pt x="1938528" y="986870"/>
                </a:lnTo>
                <a:lnTo>
                  <a:pt x="1967036" y="989688"/>
                </a:lnTo>
                <a:lnTo>
                  <a:pt x="1995544" y="989867"/>
                </a:lnTo>
                <a:lnTo>
                  <a:pt x="2024051" y="987652"/>
                </a:lnTo>
                <a:lnTo>
                  <a:pt x="2052559" y="983297"/>
                </a:lnTo>
                <a:lnTo>
                  <a:pt x="2081067" y="977061"/>
                </a:lnTo>
                <a:lnTo>
                  <a:pt x="2109575" y="969205"/>
                </a:lnTo>
                <a:lnTo>
                  <a:pt x="2138082" y="959987"/>
                </a:lnTo>
                <a:lnTo>
                  <a:pt x="2166590" y="949663"/>
                </a:lnTo>
                <a:lnTo>
                  <a:pt x="2195098" y="938479"/>
                </a:lnTo>
                <a:lnTo>
                  <a:pt x="2223606" y="926673"/>
                </a:lnTo>
                <a:lnTo>
                  <a:pt x="2252113" y="914474"/>
                </a:lnTo>
                <a:lnTo>
                  <a:pt x="2280621" y="902097"/>
                </a:lnTo>
                <a:lnTo>
                  <a:pt x="2309129" y="889747"/>
                </a:lnTo>
                <a:lnTo>
                  <a:pt x="2337637" y="877613"/>
                </a:lnTo>
                <a:lnTo>
                  <a:pt x="2366144" y="865873"/>
                </a:lnTo>
                <a:lnTo>
                  <a:pt x="2394652" y="854689"/>
                </a:lnTo>
                <a:lnTo>
                  <a:pt x="2423160" y="844209"/>
                </a:lnTo>
                <a:lnTo>
                  <a:pt x="2451668" y="834568"/>
                </a:lnTo>
                <a:lnTo>
                  <a:pt x="2480176" y="825886"/>
                </a:lnTo>
                <a:lnTo>
                  <a:pt x="2508683" y="818267"/>
                </a:lnTo>
                <a:lnTo>
                  <a:pt x="2537191" y="811804"/>
                </a:lnTo>
                <a:lnTo>
                  <a:pt x="2565699" y="806573"/>
                </a:lnTo>
                <a:lnTo>
                  <a:pt x="2594207" y="802640"/>
                </a:lnTo>
                <a:lnTo>
                  <a:pt x="2622714" y="800054"/>
                </a:lnTo>
                <a:lnTo>
                  <a:pt x="2651222" y="798852"/>
                </a:lnTo>
                <a:lnTo>
                  <a:pt x="2679730" y="799059"/>
                </a:lnTo>
                <a:lnTo>
                  <a:pt x="2708238" y="800687"/>
                </a:lnTo>
                <a:lnTo>
                  <a:pt x="2736745" y="803736"/>
                </a:lnTo>
                <a:lnTo>
                  <a:pt x="2765253" y="808195"/>
                </a:lnTo>
                <a:lnTo>
                  <a:pt x="2793761" y="814040"/>
                </a:lnTo>
                <a:lnTo>
                  <a:pt x="2822269" y="821240"/>
                </a:lnTo>
                <a:lnTo>
                  <a:pt x="2850776" y="829751"/>
                </a:lnTo>
                <a:lnTo>
                  <a:pt x="2879284" y="839522"/>
                </a:lnTo>
                <a:lnTo>
                  <a:pt x="2907792" y="850493"/>
                </a:lnTo>
                <a:lnTo>
                  <a:pt x="2936300" y="862597"/>
                </a:lnTo>
                <a:lnTo>
                  <a:pt x="2964808" y="875760"/>
                </a:lnTo>
                <a:lnTo>
                  <a:pt x="2993315" y="889902"/>
                </a:lnTo>
                <a:lnTo>
                  <a:pt x="3021823" y="904939"/>
                </a:lnTo>
                <a:lnTo>
                  <a:pt x="3050331" y="920782"/>
                </a:lnTo>
                <a:lnTo>
                  <a:pt x="3078839" y="937339"/>
                </a:lnTo>
                <a:lnTo>
                  <a:pt x="3107346" y="954517"/>
                </a:lnTo>
                <a:lnTo>
                  <a:pt x="3135854" y="972222"/>
                </a:lnTo>
                <a:lnTo>
                  <a:pt x="3164362" y="990357"/>
                </a:lnTo>
                <a:lnTo>
                  <a:pt x="3192870" y="1008830"/>
                </a:lnTo>
                <a:lnTo>
                  <a:pt x="3221377" y="1027545"/>
                </a:lnTo>
                <a:lnTo>
                  <a:pt x="3249885" y="1046413"/>
                </a:lnTo>
                <a:lnTo>
                  <a:pt x="3278393" y="1065345"/>
                </a:lnTo>
                <a:lnTo>
                  <a:pt x="3306901" y="1084256"/>
                </a:lnTo>
                <a:lnTo>
                  <a:pt x="3335408" y="1103066"/>
                </a:lnTo>
                <a:lnTo>
                  <a:pt x="3363916" y="1121699"/>
                </a:lnTo>
                <a:lnTo>
                  <a:pt x="3392424" y="1140083"/>
                </a:lnTo>
                <a:lnTo>
                  <a:pt x="3420932" y="1158153"/>
                </a:lnTo>
                <a:lnTo>
                  <a:pt x="3449440" y="1175849"/>
                </a:lnTo>
                <a:lnTo>
                  <a:pt x="3477947" y="1193116"/>
                </a:lnTo>
                <a:lnTo>
                  <a:pt x="3506455" y="1209906"/>
                </a:lnTo>
                <a:lnTo>
                  <a:pt x="3534963" y="1226177"/>
                </a:lnTo>
                <a:lnTo>
                  <a:pt x="3563471" y="1241892"/>
                </a:lnTo>
                <a:lnTo>
                  <a:pt x="3591978" y="1257021"/>
                </a:lnTo>
                <a:lnTo>
                  <a:pt x="3620486" y="1271540"/>
                </a:lnTo>
                <a:lnTo>
                  <a:pt x="3648994" y="1285429"/>
                </a:lnTo>
                <a:lnTo>
                  <a:pt x="3677502" y="1298676"/>
                </a:lnTo>
                <a:lnTo>
                  <a:pt x="3706009" y="1311271"/>
                </a:lnTo>
                <a:lnTo>
                  <a:pt x="3734517" y="1323210"/>
                </a:lnTo>
                <a:lnTo>
                  <a:pt x="3763025" y="1334496"/>
                </a:lnTo>
                <a:lnTo>
                  <a:pt x="3791533" y="1345132"/>
                </a:lnTo>
                <a:lnTo>
                  <a:pt x="3820040" y="1355127"/>
                </a:lnTo>
                <a:lnTo>
                  <a:pt x="3848548" y="1364494"/>
                </a:lnTo>
                <a:lnTo>
                  <a:pt x="3877056" y="1373246"/>
                </a:lnTo>
                <a:lnTo>
                  <a:pt x="3905564" y="1381402"/>
                </a:lnTo>
                <a:lnTo>
                  <a:pt x="3934072" y="1388982"/>
                </a:lnTo>
                <a:lnTo>
                  <a:pt x="3962579" y="1396006"/>
                </a:lnTo>
                <a:lnTo>
                  <a:pt x="3991087" y="1402498"/>
                </a:lnTo>
                <a:lnTo>
                  <a:pt x="4019595" y="1408483"/>
                </a:lnTo>
                <a:lnTo>
                  <a:pt x="4048103" y="1413985"/>
                </a:lnTo>
                <a:lnTo>
                  <a:pt x="4076610" y="1419029"/>
                </a:lnTo>
                <a:lnTo>
                  <a:pt x="4105118" y="1423642"/>
                </a:lnTo>
                <a:lnTo>
                  <a:pt x="4133626" y="1427850"/>
                </a:lnTo>
                <a:lnTo>
                  <a:pt x="4162134" y="1431677"/>
                </a:lnTo>
                <a:lnTo>
                  <a:pt x="4190641" y="1435151"/>
                </a:lnTo>
                <a:lnTo>
                  <a:pt x="4219149" y="1438294"/>
                </a:lnTo>
                <a:lnTo>
                  <a:pt x="4247657" y="1441132"/>
                </a:lnTo>
                <a:lnTo>
                  <a:pt x="4276165" y="1443687"/>
                </a:lnTo>
                <a:lnTo>
                  <a:pt x="4304672" y="1445982"/>
                </a:lnTo>
                <a:lnTo>
                  <a:pt x="4333180" y="1448038"/>
                </a:lnTo>
                <a:lnTo>
                  <a:pt x="4361688" y="1449876"/>
                </a:lnTo>
                <a:lnTo>
                  <a:pt x="4390196" y="1451514"/>
                </a:lnTo>
                <a:lnTo>
                  <a:pt x="4418704" y="1452970"/>
                </a:lnTo>
                <a:lnTo>
                  <a:pt x="4447211" y="1454262"/>
                </a:lnTo>
                <a:lnTo>
                  <a:pt x="4475719" y="1455405"/>
                </a:lnTo>
                <a:lnTo>
                  <a:pt x="4504227" y="1456414"/>
                </a:lnTo>
                <a:lnTo>
                  <a:pt x="4532735" y="1457302"/>
                </a:lnTo>
                <a:lnTo>
                  <a:pt x="4561242" y="1458082"/>
                </a:lnTo>
                <a:lnTo>
                  <a:pt x="4589750" y="1458766"/>
                </a:lnTo>
                <a:lnTo>
                  <a:pt x="4618258" y="1459364"/>
                </a:lnTo>
                <a:lnTo>
                  <a:pt x="4646766" y="1459885"/>
                </a:lnTo>
                <a:lnTo>
                  <a:pt x="4675273" y="1460338"/>
                </a:lnTo>
                <a:lnTo>
                  <a:pt x="4703781" y="1460731"/>
                </a:lnTo>
                <a:lnTo>
                  <a:pt x="4732289" y="1461071"/>
                </a:lnTo>
                <a:lnTo>
                  <a:pt x="4760797" y="1461365"/>
                </a:lnTo>
                <a:lnTo>
                  <a:pt x="4789304" y="1461618"/>
                </a:lnTo>
                <a:lnTo>
                  <a:pt x="4817812" y="1461836"/>
                </a:lnTo>
                <a:lnTo>
                  <a:pt x="4846320" y="1462022"/>
                </a:lnTo>
              </a:path>
            </a:pathLst>
          </a:custGeom>
          <a:noFill/>
          <a:ln w="381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813271" y="3833840"/>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252750" y="1940080"/>
            <a:ext cx="5486400" cy="369332"/>
          </a:xfrm>
          <a:prstGeom prst="rect">
            <a:avLst/>
          </a:prstGeom>
          <a:noFill/>
        </p:spPr>
        <p:txBody>
          <a:bodyPr wrap="square" lIns="0" tIns="0" rIns="0" bIns="0" anchor="t">
            <a:spAutoFit/>
          </a:bodyPr>
          <a:lstStyle/>
          <a:p>
            <a:pPr algn="l"/>
            <a:r>
              <a:rPr sz="2400" b="1" dirty="0">
                <a:solidFill>
                  <a:srgbClr val="262626"/>
                </a:solidFill>
                <a:latin typeface="Meiryo"/>
                <a:ea typeface="Meiryo"/>
                <a:cs typeface="Meiryo"/>
              </a:rPr>
              <a:t> </a:t>
            </a:r>
            <a:r>
              <a:rPr sz="2400" b="1" dirty="0" err="1">
                <a:solidFill>
                  <a:srgbClr val="262626"/>
                </a:solidFill>
                <a:latin typeface="Meiryo"/>
                <a:ea typeface="Meiryo"/>
                <a:cs typeface="Meiryo"/>
              </a:rPr>
              <a:t>成分波</a:t>
            </a:r>
            <a:r>
              <a:rPr lang="ja-JP" altLang="en-US" sz="2400" b="1">
                <a:solidFill>
                  <a:srgbClr val="262626"/>
                </a:solidFill>
                <a:latin typeface="Meiryo"/>
                <a:ea typeface="Meiryo"/>
                <a:cs typeface="Meiryo"/>
              </a:rPr>
              <a:t>に分解する（推測）</a:t>
            </a:r>
            <a:endParaRPr sz="2400" b="1" dirty="0">
              <a:solidFill>
                <a:srgbClr val="262626"/>
              </a:solidFill>
              <a:latin typeface="Meiryo"/>
              <a:ea typeface="Meiryo"/>
              <a:cs typeface="Meiryo"/>
            </a:endParaRPr>
          </a:p>
        </p:txBody>
      </p:sp>
      <p:sp>
        <p:nvSpPr>
          <p:cNvPr id="4" name="Freeform 3"/>
          <p:cNvSpPr/>
          <p:nvPr/>
        </p:nvSpPr>
        <p:spPr>
          <a:xfrm>
            <a:off x="6298470" y="2399547"/>
            <a:ext cx="4846320" cy="1396765"/>
          </a:xfrm>
          <a:custGeom>
            <a:avLst/>
            <a:gdLst/>
            <a:ahLst/>
            <a:cxnLst/>
            <a:rect l="l" t="t" r="r" b="b"/>
            <a:pathLst>
              <a:path w="4846320" h="1396765">
                <a:moveTo>
                  <a:pt x="0" y="1347716"/>
                </a:moveTo>
                <a:lnTo>
                  <a:pt x="28508" y="1338235"/>
                </a:lnTo>
                <a:lnTo>
                  <a:pt x="57016" y="1327255"/>
                </a:lnTo>
                <a:lnTo>
                  <a:pt x="85523" y="1314609"/>
                </a:lnTo>
                <a:lnTo>
                  <a:pt x="114031" y="1300127"/>
                </a:lnTo>
                <a:lnTo>
                  <a:pt x="142539" y="1283635"/>
                </a:lnTo>
                <a:lnTo>
                  <a:pt x="171047" y="1264962"/>
                </a:lnTo>
                <a:lnTo>
                  <a:pt x="199554" y="1243939"/>
                </a:lnTo>
                <a:lnTo>
                  <a:pt x="228062" y="1220411"/>
                </a:lnTo>
                <a:lnTo>
                  <a:pt x="256570" y="1194232"/>
                </a:lnTo>
                <a:lnTo>
                  <a:pt x="285078" y="1165278"/>
                </a:lnTo>
                <a:lnTo>
                  <a:pt x="313585" y="1133450"/>
                </a:lnTo>
                <a:lnTo>
                  <a:pt x="342093" y="1098676"/>
                </a:lnTo>
                <a:lnTo>
                  <a:pt x="370601" y="1060922"/>
                </a:lnTo>
                <a:lnTo>
                  <a:pt x="399109" y="1020194"/>
                </a:lnTo>
                <a:lnTo>
                  <a:pt x="427616" y="976545"/>
                </a:lnTo>
                <a:lnTo>
                  <a:pt x="456124" y="930076"/>
                </a:lnTo>
                <a:lnTo>
                  <a:pt x="484632" y="880945"/>
                </a:lnTo>
                <a:lnTo>
                  <a:pt x="513140" y="829366"/>
                </a:lnTo>
                <a:lnTo>
                  <a:pt x="541648" y="775611"/>
                </a:lnTo>
                <a:lnTo>
                  <a:pt x="570155" y="720012"/>
                </a:lnTo>
                <a:lnTo>
                  <a:pt x="598663" y="662960"/>
                </a:lnTo>
                <a:lnTo>
                  <a:pt x="627171" y="604899"/>
                </a:lnTo>
                <a:lnTo>
                  <a:pt x="655679" y="546327"/>
                </a:lnTo>
                <a:lnTo>
                  <a:pt x="684186" y="487786"/>
                </a:lnTo>
                <a:lnTo>
                  <a:pt x="712694" y="429858"/>
                </a:lnTo>
                <a:lnTo>
                  <a:pt x="741202" y="373152"/>
                </a:lnTo>
                <a:lnTo>
                  <a:pt x="769710" y="318297"/>
                </a:lnTo>
                <a:lnTo>
                  <a:pt x="798217" y="265932"/>
                </a:lnTo>
                <a:lnTo>
                  <a:pt x="826725" y="216689"/>
                </a:lnTo>
                <a:lnTo>
                  <a:pt x="855233" y="171186"/>
                </a:lnTo>
                <a:lnTo>
                  <a:pt x="883741" y="130009"/>
                </a:lnTo>
                <a:lnTo>
                  <a:pt x="912248" y="93705"/>
                </a:lnTo>
                <a:lnTo>
                  <a:pt x="940756" y="62764"/>
                </a:lnTo>
                <a:lnTo>
                  <a:pt x="969264" y="37614"/>
                </a:lnTo>
                <a:lnTo>
                  <a:pt x="997772" y="18605"/>
                </a:lnTo>
                <a:lnTo>
                  <a:pt x="1026280" y="6007"/>
                </a:lnTo>
                <a:lnTo>
                  <a:pt x="1054787" y="0"/>
                </a:lnTo>
                <a:lnTo>
                  <a:pt x="1083295" y="669"/>
                </a:lnTo>
                <a:lnTo>
                  <a:pt x="1111803" y="8004"/>
                </a:lnTo>
                <a:lnTo>
                  <a:pt x="1140311" y="21901"/>
                </a:lnTo>
                <a:lnTo>
                  <a:pt x="1168818" y="42163"/>
                </a:lnTo>
                <a:lnTo>
                  <a:pt x="1197326" y="68502"/>
                </a:lnTo>
                <a:lnTo>
                  <a:pt x="1225834" y="100552"/>
                </a:lnTo>
                <a:lnTo>
                  <a:pt x="1254342" y="137872"/>
                </a:lnTo>
                <a:lnTo>
                  <a:pt x="1282849" y="179959"/>
                </a:lnTo>
                <a:lnTo>
                  <a:pt x="1311357" y="226258"/>
                </a:lnTo>
                <a:lnTo>
                  <a:pt x="1339865" y="276175"/>
                </a:lnTo>
                <a:lnTo>
                  <a:pt x="1368373" y="329089"/>
                </a:lnTo>
                <a:lnTo>
                  <a:pt x="1396880" y="384365"/>
                </a:lnTo>
                <a:lnTo>
                  <a:pt x="1425388" y="441366"/>
                </a:lnTo>
                <a:lnTo>
                  <a:pt x="1453896" y="499464"/>
                </a:lnTo>
                <a:lnTo>
                  <a:pt x="1482404" y="558057"/>
                </a:lnTo>
                <a:lnTo>
                  <a:pt x="1510912" y="616569"/>
                </a:lnTo>
                <a:lnTo>
                  <a:pt x="1539419" y="674466"/>
                </a:lnTo>
                <a:lnTo>
                  <a:pt x="1567927" y="731262"/>
                </a:lnTo>
                <a:lnTo>
                  <a:pt x="1596435" y="786521"/>
                </a:lnTo>
                <a:lnTo>
                  <a:pt x="1624943" y="839865"/>
                </a:lnTo>
                <a:lnTo>
                  <a:pt x="1653450" y="890975"/>
                </a:lnTo>
                <a:lnTo>
                  <a:pt x="1681958" y="939589"/>
                </a:lnTo>
                <a:lnTo>
                  <a:pt x="1710466" y="985504"/>
                </a:lnTo>
                <a:lnTo>
                  <a:pt x="1738974" y="1028576"/>
                </a:lnTo>
                <a:lnTo>
                  <a:pt x="1767481" y="1068711"/>
                </a:lnTo>
                <a:lnTo>
                  <a:pt x="1795989" y="1105868"/>
                </a:lnTo>
                <a:lnTo>
                  <a:pt x="1824497" y="1140049"/>
                </a:lnTo>
                <a:lnTo>
                  <a:pt x="1853005" y="1171296"/>
                </a:lnTo>
                <a:lnTo>
                  <a:pt x="1881512" y="1199686"/>
                </a:lnTo>
                <a:lnTo>
                  <a:pt x="1910020" y="1225324"/>
                </a:lnTo>
                <a:lnTo>
                  <a:pt x="1938528" y="1248340"/>
                </a:lnTo>
                <a:lnTo>
                  <a:pt x="1967036" y="1268879"/>
                </a:lnTo>
                <a:lnTo>
                  <a:pt x="1995544" y="1287103"/>
                </a:lnTo>
                <a:lnTo>
                  <a:pt x="2024051" y="1303179"/>
                </a:lnTo>
                <a:lnTo>
                  <a:pt x="2052559" y="1317280"/>
                </a:lnTo>
                <a:lnTo>
                  <a:pt x="2081067" y="1329579"/>
                </a:lnTo>
                <a:lnTo>
                  <a:pt x="2109575" y="1340246"/>
                </a:lnTo>
                <a:lnTo>
                  <a:pt x="2138082" y="1349447"/>
                </a:lnTo>
                <a:lnTo>
                  <a:pt x="2166590" y="1357339"/>
                </a:lnTo>
                <a:lnTo>
                  <a:pt x="2195098" y="1364072"/>
                </a:lnTo>
                <a:lnTo>
                  <a:pt x="2223606" y="1369784"/>
                </a:lnTo>
                <a:lnTo>
                  <a:pt x="2252113" y="1374605"/>
                </a:lnTo>
                <a:lnTo>
                  <a:pt x="2280621" y="1378651"/>
                </a:lnTo>
                <a:lnTo>
                  <a:pt x="2309129" y="1382030"/>
                </a:lnTo>
                <a:lnTo>
                  <a:pt x="2337637" y="1384835"/>
                </a:lnTo>
                <a:lnTo>
                  <a:pt x="2366144" y="1387153"/>
                </a:lnTo>
                <a:lnTo>
                  <a:pt x="2394652" y="1389057"/>
                </a:lnTo>
                <a:lnTo>
                  <a:pt x="2423160" y="1390614"/>
                </a:lnTo>
                <a:lnTo>
                  <a:pt x="2451668" y="1391879"/>
                </a:lnTo>
                <a:lnTo>
                  <a:pt x="2480176" y="1392903"/>
                </a:lnTo>
                <a:lnTo>
                  <a:pt x="2508683" y="1393727"/>
                </a:lnTo>
                <a:lnTo>
                  <a:pt x="2537191" y="1394386"/>
                </a:lnTo>
                <a:lnTo>
                  <a:pt x="2565699" y="1394912"/>
                </a:lnTo>
                <a:lnTo>
                  <a:pt x="2594207" y="1395328"/>
                </a:lnTo>
                <a:lnTo>
                  <a:pt x="2622714" y="1395656"/>
                </a:lnTo>
                <a:lnTo>
                  <a:pt x="2651222" y="1395913"/>
                </a:lnTo>
                <a:lnTo>
                  <a:pt x="2679730" y="1396114"/>
                </a:lnTo>
                <a:lnTo>
                  <a:pt x="2708238" y="1396270"/>
                </a:lnTo>
                <a:lnTo>
                  <a:pt x="2736745" y="1396390"/>
                </a:lnTo>
                <a:lnTo>
                  <a:pt x="2765253" y="1396482"/>
                </a:lnTo>
                <a:lnTo>
                  <a:pt x="2793761" y="1396553"/>
                </a:lnTo>
                <a:lnTo>
                  <a:pt x="2822269" y="1396607"/>
                </a:lnTo>
                <a:lnTo>
                  <a:pt x="2850776" y="1396648"/>
                </a:lnTo>
                <a:lnTo>
                  <a:pt x="2879284" y="1396678"/>
                </a:lnTo>
                <a:lnTo>
                  <a:pt x="2907792" y="1396701"/>
                </a:lnTo>
                <a:lnTo>
                  <a:pt x="2936300" y="1396718"/>
                </a:lnTo>
                <a:lnTo>
                  <a:pt x="2964808" y="1396731"/>
                </a:lnTo>
                <a:lnTo>
                  <a:pt x="2993315" y="1396740"/>
                </a:lnTo>
                <a:lnTo>
                  <a:pt x="3021823" y="1396747"/>
                </a:lnTo>
                <a:lnTo>
                  <a:pt x="3050331" y="1396752"/>
                </a:lnTo>
                <a:lnTo>
                  <a:pt x="3078839" y="1396756"/>
                </a:lnTo>
                <a:lnTo>
                  <a:pt x="3107346" y="1396758"/>
                </a:lnTo>
                <a:lnTo>
                  <a:pt x="3135854" y="1396760"/>
                </a:lnTo>
                <a:lnTo>
                  <a:pt x="3164362" y="1396762"/>
                </a:lnTo>
                <a:lnTo>
                  <a:pt x="3192870" y="1396763"/>
                </a:lnTo>
                <a:lnTo>
                  <a:pt x="3221377" y="1396763"/>
                </a:lnTo>
                <a:lnTo>
                  <a:pt x="3249885" y="1396764"/>
                </a:lnTo>
                <a:lnTo>
                  <a:pt x="3278393" y="1396764"/>
                </a:lnTo>
                <a:lnTo>
                  <a:pt x="3306901" y="1396764"/>
                </a:lnTo>
                <a:lnTo>
                  <a:pt x="3335408" y="1396765"/>
                </a:lnTo>
                <a:lnTo>
                  <a:pt x="3363916" y="1396765"/>
                </a:lnTo>
                <a:lnTo>
                  <a:pt x="3392424" y="1396765"/>
                </a:lnTo>
                <a:lnTo>
                  <a:pt x="3420932" y="1396765"/>
                </a:lnTo>
                <a:lnTo>
                  <a:pt x="3449440" y="1396765"/>
                </a:lnTo>
                <a:lnTo>
                  <a:pt x="3477947" y="1396765"/>
                </a:lnTo>
                <a:lnTo>
                  <a:pt x="3506455" y="1396765"/>
                </a:lnTo>
                <a:lnTo>
                  <a:pt x="3534963" y="1396765"/>
                </a:lnTo>
                <a:lnTo>
                  <a:pt x="3563471" y="1396765"/>
                </a:lnTo>
                <a:lnTo>
                  <a:pt x="3591978" y="1396765"/>
                </a:lnTo>
                <a:lnTo>
                  <a:pt x="3620486" y="1396765"/>
                </a:lnTo>
                <a:lnTo>
                  <a:pt x="3648994" y="1396765"/>
                </a:lnTo>
                <a:lnTo>
                  <a:pt x="3677502" y="1396765"/>
                </a:lnTo>
                <a:lnTo>
                  <a:pt x="3706009" y="1396765"/>
                </a:lnTo>
                <a:lnTo>
                  <a:pt x="3734517" y="1396765"/>
                </a:lnTo>
                <a:lnTo>
                  <a:pt x="3763025" y="1396765"/>
                </a:lnTo>
                <a:lnTo>
                  <a:pt x="3791533" y="1396765"/>
                </a:lnTo>
                <a:lnTo>
                  <a:pt x="3820040" y="1396765"/>
                </a:lnTo>
                <a:lnTo>
                  <a:pt x="3848548" y="1396765"/>
                </a:lnTo>
                <a:lnTo>
                  <a:pt x="3877056" y="1396765"/>
                </a:lnTo>
                <a:lnTo>
                  <a:pt x="3905564" y="1396765"/>
                </a:lnTo>
                <a:lnTo>
                  <a:pt x="3934072" y="1396765"/>
                </a:lnTo>
                <a:lnTo>
                  <a:pt x="3962579" y="1396765"/>
                </a:lnTo>
                <a:lnTo>
                  <a:pt x="3991087" y="1396765"/>
                </a:lnTo>
                <a:lnTo>
                  <a:pt x="4019595" y="1396765"/>
                </a:lnTo>
                <a:lnTo>
                  <a:pt x="4048103" y="1396765"/>
                </a:lnTo>
                <a:lnTo>
                  <a:pt x="4076610" y="1396765"/>
                </a:lnTo>
                <a:lnTo>
                  <a:pt x="4105118" y="1396765"/>
                </a:lnTo>
                <a:lnTo>
                  <a:pt x="4133626" y="1396765"/>
                </a:lnTo>
                <a:lnTo>
                  <a:pt x="4162134" y="1396765"/>
                </a:lnTo>
                <a:lnTo>
                  <a:pt x="4190641" y="1396765"/>
                </a:lnTo>
                <a:lnTo>
                  <a:pt x="4219149" y="1396765"/>
                </a:lnTo>
                <a:lnTo>
                  <a:pt x="4247657" y="1396765"/>
                </a:lnTo>
                <a:lnTo>
                  <a:pt x="4276165" y="1396765"/>
                </a:lnTo>
                <a:lnTo>
                  <a:pt x="4304672" y="1396765"/>
                </a:lnTo>
                <a:lnTo>
                  <a:pt x="4333180" y="1396765"/>
                </a:lnTo>
                <a:lnTo>
                  <a:pt x="4361688" y="1396765"/>
                </a:lnTo>
                <a:lnTo>
                  <a:pt x="4390196" y="1396765"/>
                </a:lnTo>
                <a:lnTo>
                  <a:pt x="4418704" y="1396765"/>
                </a:lnTo>
                <a:lnTo>
                  <a:pt x="4447211" y="1396765"/>
                </a:lnTo>
                <a:lnTo>
                  <a:pt x="4475719" y="1396765"/>
                </a:lnTo>
                <a:lnTo>
                  <a:pt x="4504227" y="1396765"/>
                </a:lnTo>
                <a:lnTo>
                  <a:pt x="4532735" y="1396765"/>
                </a:lnTo>
                <a:lnTo>
                  <a:pt x="4561242" y="1396765"/>
                </a:lnTo>
                <a:lnTo>
                  <a:pt x="4589750" y="1396765"/>
                </a:lnTo>
                <a:lnTo>
                  <a:pt x="4618258" y="1396765"/>
                </a:lnTo>
                <a:lnTo>
                  <a:pt x="4646766" y="1396765"/>
                </a:lnTo>
                <a:lnTo>
                  <a:pt x="4675273" y="1396765"/>
                </a:lnTo>
                <a:lnTo>
                  <a:pt x="4703781" y="1396765"/>
                </a:lnTo>
                <a:lnTo>
                  <a:pt x="4732289" y="1396765"/>
                </a:lnTo>
                <a:lnTo>
                  <a:pt x="4760797" y="1396765"/>
                </a:lnTo>
                <a:lnTo>
                  <a:pt x="4789304" y="1396765"/>
                </a:lnTo>
                <a:lnTo>
                  <a:pt x="4817812" y="1396765"/>
                </a:lnTo>
                <a:lnTo>
                  <a:pt x="4846320" y="1396765"/>
                </a:lnTo>
              </a:path>
            </a:pathLst>
          </a:custGeom>
          <a:noFill/>
          <a:ln w="317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p:cNvSpPr/>
          <p:nvPr/>
        </p:nvSpPr>
        <p:spPr>
          <a:xfrm>
            <a:off x="6298470" y="3153732"/>
            <a:ext cx="4846320" cy="642540"/>
          </a:xfrm>
          <a:custGeom>
            <a:avLst/>
            <a:gdLst/>
            <a:ahLst/>
            <a:cxnLst/>
            <a:rect l="l" t="t" r="r" b="b"/>
            <a:pathLst>
              <a:path w="4846320" h="642540">
                <a:moveTo>
                  <a:pt x="0" y="642540"/>
                </a:moveTo>
                <a:lnTo>
                  <a:pt x="28508" y="642531"/>
                </a:lnTo>
                <a:lnTo>
                  <a:pt x="57016" y="642519"/>
                </a:lnTo>
                <a:lnTo>
                  <a:pt x="85523" y="642506"/>
                </a:lnTo>
                <a:lnTo>
                  <a:pt x="114031" y="642490"/>
                </a:lnTo>
                <a:lnTo>
                  <a:pt x="142539" y="642470"/>
                </a:lnTo>
                <a:lnTo>
                  <a:pt x="171047" y="642446"/>
                </a:lnTo>
                <a:lnTo>
                  <a:pt x="199554" y="642418"/>
                </a:lnTo>
                <a:lnTo>
                  <a:pt x="228062" y="642384"/>
                </a:lnTo>
                <a:lnTo>
                  <a:pt x="256570" y="642343"/>
                </a:lnTo>
                <a:lnTo>
                  <a:pt x="285078" y="642295"/>
                </a:lnTo>
                <a:lnTo>
                  <a:pt x="313585" y="642237"/>
                </a:lnTo>
                <a:lnTo>
                  <a:pt x="342093" y="642169"/>
                </a:lnTo>
                <a:lnTo>
                  <a:pt x="370601" y="642088"/>
                </a:lnTo>
                <a:lnTo>
                  <a:pt x="399109" y="641993"/>
                </a:lnTo>
                <a:lnTo>
                  <a:pt x="427616" y="641881"/>
                </a:lnTo>
                <a:lnTo>
                  <a:pt x="456124" y="641749"/>
                </a:lnTo>
                <a:lnTo>
                  <a:pt x="484632" y="641594"/>
                </a:lnTo>
                <a:lnTo>
                  <a:pt x="513140" y="641413"/>
                </a:lnTo>
                <a:lnTo>
                  <a:pt x="541648" y="641203"/>
                </a:lnTo>
                <a:lnTo>
                  <a:pt x="570155" y="640957"/>
                </a:lnTo>
                <a:lnTo>
                  <a:pt x="598663" y="640673"/>
                </a:lnTo>
                <a:lnTo>
                  <a:pt x="627171" y="640343"/>
                </a:lnTo>
                <a:lnTo>
                  <a:pt x="655679" y="639962"/>
                </a:lnTo>
                <a:lnTo>
                  <a:pt x="684186" y="639523"/>
                </a:lnTo>
                <a:lnTo>
                  <a:pt x="712694" y="639018"/>
                </a:lnTo>
                <a:lnTo>
                  <a:pt x="741202" y="638440"/>
                </a:lnTo>
                <a:lnTo>
                  <a:pt x="769710" y="637777"/>
                </a:lnTo>
                <a:lnTo>
                  <a:pt x="798217" y="637022"/>
                </a:lnTo>
                <a:lnTo>
                  <a:pt x="826725" y="636161"/>
                </a:lnTo>
                <a:lnTo>
                  <a:pt x="855233" y="635184"/>
                </a:lnTo>
                <a:lnTo>
                  <a:pt x="883741" y="634076"/>
                </a:lnTo>
                <a:lnTo>
                  <a:pt x="912248" y="632825"/>
                </a:lnTo>
                <a:lnTo>
                  <a:pt x="940756" y="631414"/>
                </a:lnTo>
                <a:lnTo>
                  <a:pt x="969264" y="629827"/>
                </a:lnTo>
                <a:lnTo>
                  <a:pt x="997772" y="628047"/>
                </a:lnTo>
                <a:lnTo>
                  <a:pt x="1026280" y="626055"/>
                </a:lnTo>
                <a:lnTo>
                  <a:pt x="1054787" y="623832"/>
                </a:lnTo>
                <a:lnTo>
                  <a:pt x="1083295" y="621356"/>
                </a:lnTo>
                <a:lnTo>
                  <a:pt x="1111803" y="618607"/>
                </a:lnTo>
                <a:lnTo>
                  <a:pt x="1140311" y="615562"/>
                </a:lnTo>
                <a:lnTo>
                  <a:pt x="1168818" y="612198"/>
                </a:lnTo>
                <a:lnTo>
                  <a:pt x="1197326" y="608489"/>
                </a:lnTo>
                <a:lnTo>
                  <a:pt x="1225834" y="604413"/>
                </a:lnTo>
                <a:lnTo>
                  <a:pt x="1254342" y="599944"/>
                </a:lnTo>
                <a:lnTo>
                  <a:pt x="1282849" y="595058"/>
                </a:lnTo>
                <a:lnTo>
                  <a:pt x="1311357" y="589728"/>
                </a:lnTo>
                <a:lnTo>
                  <a:pt x="1339865" y="583930"/>
                </a:lnTo>
                <a:lnTo>
                  <a:pt x="1368373" y="577641"/>
                </a:lnTo>
                <a:lnTo>
                  <a:pt x="1396880" y="570836"/>
                </a:lnTo>
                <a:lnTo>
                  <a:pt x="1425388" y="563493"/>
                </a:lnTo>
                <a:lnTo>
                  <a:pt x="1453896" y="555592"/>
                </a:lnTo>
                <a:lnTo>
                  <a:pt x="1482404" y="547113"/>
                </a:lnTo>
                <a:lnTo>
                  <a:pt x="1510912" y="538039"/>
                </a:lnTo>
                <a:lnTo>
                  <a:pt x="1539419" y="528357"/>
                </a:lnTo>
                <a:lnTo>
                  <a:pt x="1567927" y="518053"/>
                </a:lnTo>
                <a:lnTo>
                  <a:pt x="1596435" y="507120"/>
                </a:lnTo>
                <a:lnTo>
                  <a:pt x="1624943" y="495553"/>
                </a:lnTo>
                <a:lnTo>
                  <a:pt x="1653450" y="483352"/>
                </a:lnTo>
                <a:lnTo>
                  <a:pt x="1681958" y="470520"/>
                </a:lnTo>
                <a:lnTo>
                  <a:pt x="1710466" y="457064"/>
                </a:lnTo>
                <a:lnTo>
                  <a:pt x="1738974" y="442999"/>
                </a:lnTo>
                <a:lnTo>
                  <a:pt x="1767481" y="428343"/>
                </a:lnTo>
                <a:lnTo>
                  <a:pt x="1795989" y="413119"/>
                </a:lnTo>
                <a:lnTo>
                  <a:pt x="1824497" y="397357"/>
                </a:lnTo>
                <a:lnTo>
                  <a:pt x="1853005" y="381091"/>
                </a:lnTo>
                <a:lnTo>
                  <a:pt x="1881512" y="364364"/>
                </a:lnTo>
                <a:lnTo>
                  <a:pt x="1910020" y="347221"/>
                </a:lnTo>
                <a:lnTo>
                  <a:pt x="1938528" y="329716"/>
                </a:lnTo>
                <a:lnTo>
                  <a:pt x="1967036" y="311906"/>
                </a:lnTo>
                <a:lnTo>
                  <a:pt x="1995544" y="293856"/>
                </a:lnTo>
                <a:lnTo>
                  <a:pt x="2024051" y="275634"/>
                </a:lnTo>
                <a:lnTo>
                  <a:pt x="2052559" y="257314"/>
                </a:lnTo>
                <a:lnTo>
                  <a:pt x="2081067" y="238974"/>
                </a:lnTo>
                <a:lnTo>
                  <a:pt x="2109575" y="220696"/>
                </a:lnTo>
                <a:lnTo>
                  <a:pt x="2138082" y="202566"/>
                </a:lnTo>
                <a:lnTo>
                  <a:pt x="2166590" y="184672"/>
                </a:lnTo>
                <a:lnTo>
                  <a:pt x="2195098" y="167104"/>
                </a:lnTo>
                <a:lnTo>
                  <a:pt x="2223606" y="149955"/>
                </a:lnTo>
                <a:lnTo>
                  <a:pt x="2252113" y="133316"/>
                </a:lnTo>
                <a:lnTo>
                  <a:pt x="2280621" y="117280"/>
                </a:lnTo>
                <a:lnTo>
                  <a:pt x="2309129" y="101937"/>
                </a:lnTo>
                <a:lnTo>
                  <a:pt x="2337637" y="87378"/>
                </a:lnTo>
                <a:lnTo>
                  <a:pt x="2366144" y="73687"/>
                </a:lnTo>
                <a:lnTo>
                  <a:pt x="2394652" y="60948"/>
                </a:lnTo>
                <a:lnTo>
                  <a:pt x="2423160" y="49239"/>
                </a:lnTo>
                <a:lnTo>
                  <a:pt x="2451668" y="38634"/>
                </a:lnTo>
                <a:lnTo>
                  <a:pt x="2480176" y="29199"/>
                </a:lnTo>
                <a:lnTo>
                  <a:pt x="2508683" y="20994"/>
                </a:lnTo>
                <a:lnTo>
                  <a:pt x="2537191" y="14073"/>
                </a:lnTo>
                <a:lnTo>
                  <a:pt x="2565699" y="8481"/>
                </a:lnTo>
                <a:lnTo>
                  <a:pt x="2594207" y="4255"/>
                </a:lnTo>
                <a:lnTo>
                  <a:pt x="2622714" y="1421"/>
                </a:lnTo>
                <a:lnTo>
                  <a:pt x="2651222" y="0"/>
                </a:lnTo>
                <a:lnTo>
                  <a:pt x="2679730" y="0"/>
                </a:lnTo>
                <a:lnTo>
                  <a:pt x="2708238" y="1421"/>
                </a:lnTo>
                <a:lnTo>
                  <a:pt x="2736745" y="4255"/>
                </a:lnTo>
                <a:lnTo>
                  <a:pt x="2765253" y="8481"/>
                </a:lnTo>
                <a:lnTo>
                  <a:pt x="2793761" y="14073"/>
                </a:lnTo>
                <a:lnTo>
                  <a:pt x="2822269" y="20994"/>
                </a:lnTo>
                <a:lnTo>
                  <a:pt x="2850776" y="29199"/>
                </a:lnTo>
                <a:lnTo>
                  <a:pt x="2879284" y="38634"/>
                </a:lnTo>
                <a:lnTo>
                  <a:pt x="2907792" y="49239"/>
                </a:lnTo>
                <a:lnTo>
                  <a:pt x="2936300" y="60948"/>
                </a:lnTo>
                <a:lnTo>
                  <a:pt x="2964808" y="73687"/>
                </a:lnTo>
                <a:lnTo>
                  <a:pt x="2993315" y="87378"/>
                </a:lnTo>
                <a:lnTo>
                  <a:pt x="3021823" y="101937"/>
                </a:lnTo>
                <a:lnTo>
                  <a:pt x="3050331" y="117280"/>
                </a:lnTo>
                <a:lnTo>
                  <a:pt x="3078839" y="133316"/>
                </a:lnTo>
                <a:lnTo>
                  <a:pt x="3107346" y="149955"/>
                </a:lnTo>
                <a:lnTo>
                  <a:pt x="3135854" y="167104"/>
                </a:lnTo>
                <a:lnTo>
                  <a:pt x="3164362" y="184672"/>
                </a:lnTo>
                <a:lnTo>
                  <a:pt x="3192870" y="202566"/>
                </a:lnTo>
                <a:lnTo>
                  <a:pt x="3221377" y="220696"/>
                </a:lnTo>
                <a:lnTo>
                  <a:pt x="3249885" y="238974"/>
                </a:lnTo>
                <a:lnTo>
                  <a:pt x="3278393" y="257314"/>
                </a:lnTo>
                <a:lnTo>
                  <a:pt x="3306901" y="275634"/>
                </a:lnTo>
                <a:lnTo>
                  <a:pt x="3335408" y="293856"/>
                </a:lnTo>
                <a:lnTo>
                  <a:pt x="3363916" y="311906"/>
                </a:lnTo>
                <a:lnTo>
                  <a:pt x="3392424" y="329716"/>
                </a:lnTo>
                <a:lnTo>
                  <a:pt x="3420932" y="347221"/>
                </a:lnTo>
                <a:lnTo>
                  <a:pt x="3449440" y="364364"/>
                </a:lnTo>
                <a:lnTo>
                  <a:pt x="3477947" y="381091"/>
                </a:lnTo>
                <a:lnTo>
                  <a:pt x="3506455" y="397357"/>
                </a:lnTo>
                <a:lnTo>
                  <a:pt x="3534963" y="413119"/>
                </a:lnTo>
                <a:lnTo>
                  <a:pt x="3563471" y="428343"/>
                </a:lnTo>
                <a:lnTo>
                  <a:pt x="3591978" y="442999"/>
                </a:lnTo>
                <a:lnTo>
                  <a:pt x="3620486" y="457064"/>
                </a:lnTo>
                <a:lnTo>
                  <a:pt x="3648994" y="470520"/>
                </a:lnTo>
                <a:lnTo>
                  <a:pt x="3677502" y="483352"/>
                </a:lnTo>
                <a:lnTo>
                  <a:pt x="3706009" y="495553"/>
                </a:lnTo>
                <a:lnTo>
                  <a:pt x="3734517" y="507120"/>
                </a:lnTo>
                <a:lnTo>
                  <a:pt x="3763025" y="518053"/>
                </a:lnTo>
                <a:lnTo>
                  <a:pt x="3791533" y="528357"/>
                </a:lnTo>
                <a:lnTo>
                  <a:pt x="3820040" y="538039"/>
                </a:lnTo>
                <a:lnTo>
                  <a:pt x="3848548" y="547113"/>
                </a:lnTo>
                <a:lnTo>
                  <a:pt x="3877056" y="555592"/>
                </a:lnTo>
                <a:lnTo>
                  <a:pt x="3905564" y="563493"/>
                </a:lnTo>
                <a:lnTo>
                  <a:pt x="3934072" y="570836"/>
                </a:lnTo>
                <a:lnTo>
                  <a:pt x="3962579" y="577641"/>
                </a:lnTo>
                <a:lnTo>
                  <a:pt x="3991087" y="583930"/>
                </a:lnTo>
                <a:lnTo>
                  <a:pt x="4019595" y="589728"/>
                </a:lnTo>
                <a:lnTo>
                  <a:pt x="4048103" y="595058"/>
                </a:lnTo>
                <a:lnTo>
                  <a:pt x="4076610" y="599944"/>
                </a:lnTo>
                <a:lnTo>
                  <a:pt x="4105118" y="604413"/>
                </a:lnTo>
                <a:lnTo>
                  <a:pt x="4133626" y="608489"/>
                </a:lnTo>
                <a:lnTo>
                  <a:pt x="4162134" y="612198"/>
                </a:lnTo>
                <a:lnTo>
                  <a:pt x="4190641" y="615562"/>
                </a:lnTo>
                <a:lnTo>
                  <a:pt x="4219149" y="618607"/>
                </a:lnTo>
                <a:lnTo>
                  <a:pt x="4247657" y="621356"/>
                </a:lnTo>
                <a:lnTo>
                  <a:pt x="4276165" y="623832"/>
                </a:lnTo>
                <a:lnTo>
                  <a:pt x="4304672" y="626055"/>
                </a:lnTo>
                <a:lnTo>
                  <a:pt x="4333180" y="628047"/>
                </a:lnTo>
                <a:lnTo>
                  <a:pt x="4361688" y="629827"/>
                </a:lnTo>
                <a:lnTo>
                  <a:pt x="4390196" y="631414"/>
                </a:lnTo>
                <a:lnTo>
                  <a:pt x="4418704" y="632825"/>
                </a:lnTo>
                <a:lnTo>
                  <a:pt x="4447211" y="634076"/>
                </a:lnTo>
                <a:lnTo>
                  <a:pt x="4475719" y="635184"/>
                </a:lnTo>
                <a:lnTo>
                  <a:pt x="4504227" y="636161"/>
                </a:lnTo>
                <a:lnTo>
                  <a:pt x="4532735" y="637022"/>
                </a:lnTo>
                <a:lnTo>
                  <a:pt x="4561242" y="637777"/>
                </a:lnTo>
                <a:lnTo>
                  <a:pt x="4589750" y="638440"/>
                </a:lnTo>
                <a:lnTo>
                  <a:pt x="4618258" y="639018"/>
                </a:lnTo>
                <a:lnTo>
                  <a:pt x="4646766" y="639523"/>
                </a:lnTo>
                <a:lnTo>
                  <a:pt x="4675273" y="639962"/>
                </a:lnTo>
                <a:lnTo>
                  <a:pt x="4703781" y="640343"/>
                </a:lnTo>
                <a:lnTo>
                  <a:pt x="4732289" y="640673"/>
                </a:lnTo>
                <a:lnTo>
                  <a:pt x="4760797" y="640957"/>
                </a:lnTo>
                <a:lnTo>
                  <a:pt x="4789304" y="641203"/>
                </a:lnTo>
                <a:lnTo>
                  <a:pt x="4817812" y="641413"/>
                </a:lnTo>
                <a:lnTo>
                  <a:pt x="4846320" y="641594"/>
                </a:lnTo>
              </a:path>
            </a:pathLst>
          </a:custGeom>
          <a:noFill/>
          <a:ln w="3175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a:off x="6285771" y="3796391"/>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298470" y="3896896"/>
            <a:ext cx="2377440" cy="485985"/>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前進波</a:t>
            </a:r>
          </a:p>
        </p:txBody>
      </p:sp>
      <p:sp>
        <p:nvSpPr>
          <p:cNvPr id="23" name="TextBox 22"/>
          <p:cNvSpPr txBox="1"/>
          <p:nvPr/>
        </p:nvSpPr>
        <p:spPr>
          <a:xfrm>
            <a:off x="8767350" y="3896896"/>
            <a:ext cx="2377440" cy="485985"/>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反射波</a:t>
            </a:r>
          </a:p>
        </p:txBody>
      </p:sp>
      <p:sp>
        <p:nvSpPr>
          <p:cNvPr id="26" name="Rounded Rectangle 25"/>
          <p:cNvSpPr/>
          <p:nvPr/>
        </p:nvSpPr>
        <p:spPr>
          <a:xfrm>
            <a:off x="720000" y="4459410"/>
            <a:ext cx="10412092" cy="1829935"/>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420111" y="4522805"/>
            <a:ext cx="9617397" cy="1671611"/>
          </a:xfrm>
          <a:prstGeom prst="rect">
            <a:avLst/>
          </a:prstGeom>
          <a:noFill/>
        </p:spPr>
        <p:txBody>
          <a:bodyPr wrap="square" lIns="0" tIns="0" rIns="0" bIns="0" anchor="t">
            <a:spAutoFit/>
          </a:bodyPr>
          <a:lstStyle/>
          <a:p>
            <a:pPr algn="l">
              <a:lnSpc>
                <a:spcPct val="150000"/>
              </a:lnSpc>
              <a:spcAft>
                <a:spcPts val="300"/>
              </a:spcAft>
            </a:pPr>
            <a:r>
              <a:rPr lang="en" sz="2500" b="1" dirty="0">
                <a:solidFill>
                  <a:srgbClr val="BF9000"/>
                </a:solidFill>
                <a:latin typeface="Meiryo"/>
                <a:ea typeface="Meiryo"/>
                <a:cs typeface="Meiryo"/>
              </a:rPr>
              <a:t>PDA</a:t>
            </a:r>
            <a:r>
              <a:rPr lang="ja-JP" altLang="en-US" sz="2500" b="1">
                <a:solidFill>
                  <a:srgbClr val="BF9000"/>
                </a:solidFill>
                <a:latin typeface="Meiryo"/>
                <a:ea typeface="Meiryo"/>
                <a:cs typeface="Meiryo"/>
              </a:rPr>
              <a:t>　</a:t>
            </a:r>
            <a:r>
              <a:rPr sz="2100" b="0" dirty="0">
                <a:solidFill>
                  <a:srgbClr val="BF9000"/>
                </a:solidFill>
                <a:latin typeface="Meiryo"/>
                <a:ea typeface="Meiryo"/>
                <a:cs typeface="Meiryo"/>
              </a:rPr>
              <a:t>Pulse Decomposition Analysis</a:t>
            </a:r>
          </a:p>
          <a:p>
            <a:pPr algn="l">
              <a:lnSpc>
                <a:spcPct val="150000"/>
              </a:lnSpc>
              <a:spcAft>
                <a:spcPts val="300"/>
              </a:spcAft>
            </a:pPr>
            <a:r>
              <a:rPr sz="2300" b="0" dirty="0" err="1">
                <a:solidFill>
                  <a:srgbClr val="262626"/>
                </a:solidFill>
                <a:latin typeface="Meiryo"/>
                <a:ea typeface="Meiryo"/>
                <a:cs typeface="Meiryo"/>
              </a:rPr>
              <a:t>波形を成分波の重ね合わせに当てはめ</a:t>
            </a:r>
            <a:r>
              <a:rPr sz="2300" b="1" dirty="0" err="1">
                <a:solidFill>
                  <a:srgbClr val="262626"/>
                </a:solidFill>
                <a:latin typeface="Meiryo"/>
                <a:ea typeface="Meiryo"/>
                <a:cs typeface="Meiryo"/>
              </a:rPr>
              <a:t>反射波の</a:t>
            </a:r>
            <a:r>
              <a:rPr sz="2300" b="1" dirty="0">
                <a:solidFill>
                  <a:srgbClr val="262626"/>
                </a:solidFill>
                <a:latin typeface="Meiryo"/>
                <a:ea typeface="Meiryo"/>
                <a:cs typeface="Meiryo"/>
              </a:rPr>
              <a:t> </a:t>
            </a:r>
            <a:r>
              <a:rPr sz="2300" b="1" dirty="0" err="1">
                <a:solidFill>
                  <a:srgbClr val="262626"/>
                </a:solidFill>
                <a:latin typeface="Meiryo"/>
                <a:ea typeface="Meiryo"/>
                <a:cs typeface="Meiryo"/>
              </a:rPr>
              <a:t>時刻と高さ</a:t>
            </a:r>
            <a:r>
              <a:rPr sz="2300" b="1" dirty="0">
                <a:solidFill>
                  <a:srgbClr val="262626"/>
                </a:solidFill>
                <a:latin typeface="Meiryo"/>
                <a:ea typeface="Meiryo"/>
                <a:cs typeface="Meiryo"/>
              </a:rPr>
              <a:t> </a:t>
            </a:r>
            <a:r>
              <a:rPr sz="2300" b="1" dirty="0" err="1">
                <a:solidFill>
                  <a:srgbClr val="262626"/>
                </a:solidFill>
                <a:latin typeface="Meiryo"/>
                <a:ea typeface="Meiryo"/>
                <a:cs typeface="Meiryo"/>
              </a:rPr>
              <a:t>を推定する</a:t>
            </a:r>
            <a:endParaRPr sz="2300" b="1" dirty="0">
              <a:solidFill>
                <a:srgbClr val="262626"/>
              </a:solidFill>
              <a:latin typeface="Meiryo"/>
              <a:ea typeface="Meiryo"/>
              <a:cs typeface="Meiryo"/>
            </a:endParaRPr>
          </a:p>
          <a:p>
            <a:pPr algn="l">
              <a:lnSpc>
                <a:spcPct val="150000"/>
              </a:lnSpc>
              <a:spcAft>
                <a:spcPts val="300"/>
              </a:spcAft>
            </a:pPr>
            <a:r>
              <a:rPr sz="2300" b="1" dirty="0">
                <a:solidFill>
                  <a:srgbClr val="BF9000"/>
                </a:solidFill>
                <a:latin typeface="Meiryo"/>
                <a:ea typeface="Meiryo"/>
                <a:cs typeface="Meiryo"/>
              </a:rPr>
              <a:t>→ </a:t>
            </a:r>
            <a:r>
              <a:rPr sz="2300" b="1" dirty="0" err="1">
                <a:solidFill>
                  <a:srgbClr val="BF9000"/>
                </a:solidFill>
                <a:latin typeface="Meiryo"/>
                <a:ea typeface="Meiryo"/>
                <a:cs typeface="Meiryo"/>
              </a:rPr>
              <a:t>切痕が消えていても値が出せる</a:t>
            </a:r>
            <a:endParaRPr sz="2300" b="1" dirty="0">
              <a:solidFill>
                <a:srgbClr val="BF9000"/>
              </a:solidFill>
              <a:latin typeface="Meiryo"/>
              <a:ea typeface="Meiryo"/>
              <a:cs typeface="Meiryo"/>
            </a:endParaRPr>
          </a:p>
        </p:txBody>
      </p:sp>
      <p:sp>
        <p:nvSpPr>
          <p:cNvPr id="3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45/72</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5.1  源流は医学の外</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48. Legendre 1805　／　49. Fourier 1822　／　50. Robinson 1957　／　51. Fraser &amp; Suzuki 1966</a:t>
            </a:r>
          </a:p>
        </p:txBody>
      </p:sp>
      <p:sp>
        <p:nvSpPr>
          <p:cNvPr id="4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46/72</a:t>
            </a:r>
          </a:p>
        </p:txBody>
      </p:sp>
      <p:sp>
        <p:nvSpPr>
          <p:cNvPr id="47" name="Rounded Rectangle 46"/>
          <p:cNvSpPr/>
          <p:nvPr/>
        </p:nvSpPr>
        <p:spPr>
          <a:xfrm>
            <a:off x="502920" y="1810512"/>
            <a:ext cx="5440680" cy="17830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6245352" y="1810512"/>
            <a:ext cx="5440680" cy="17830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ounded Rectangle 48"/>
          <p:cNvSpPr/>
          <p:nvPr/>
        </p:nvSpPr>
        <p:spPr>
          <a:xfrm>
            <a:off x="502920" y="3822191"/>
            <a:ext cx="5440680" cy="17830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ounded Rectangle 49"/>
          <p:cNvSpPr/>
          <p:nvPr/>
        </p:nvSpPr>
        <p:spPr>
          <a:xfrm>
            <a:off x="6245352" y="3822191"/>
            <a:ext cx="5440680" cy="17830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85800" y="2011680"/>
            <a:ext cx="5074920" cy="467563"/>
          </a:xfrm>
          <a:prstGeom prst="rect">
            <a:avLst/>
          </a:prstGeom>
          <a:noFill/>
        </p:spPr>
        <p:txBody>
          <a:bodyPr wrap="square" lIns="0" tIns="0" rIns="0" bIns="0" anchor="t">
            <a:spAutoFit/>
          </a:bodyPr>
          <a:lstStyle/>
          <a:p>
            <a:pPr algn="l">
              <a:spcAft>
                <a:spcPts val="0"/>
              </a:spcAft>
            </a:pPr>
            <a:r>
              <a:rPr sz="2600" b="1" dirty="0">
                <a:solidFill>
                  <a:srgbClr val="0072B2"/>
                </a:solidFill>
                <a:latin typeface="Meiryo"/>
                <a:ea typeface="Meiryo"/>
                <a:cs typeface="Meiryo"/>
              </a:rPr>
              <a:t>1805年　Legendre</a:t>
            </a:r>
          </a:p>
        </p:txBody>
      </p:sp>
      <p:sp>
        <p:nvSpPr>
          <p:cNvPr id="52" name="TextBox 51"/>
          <p:cNvSpPr txBox="1"/>
          <p:nvPr/>
        </p:nvSpPr>
        <p:spPr>
          <a:xfrm>
            <a:off x="685800" y="2496312"/>
            <a:ext cx="5074920" cy="449579"/>
          </a:xfrm>
          <a:prstGeom prst="rect">
            <a:avLst/>
          </a:prstGeom>
          <a:noFill/>
        </p:spPr>
        <p:txBody>
          <a:bodyPr wrap="square" lIns="0" tIns="0" rIns="0" bIns="0" anchor="t">
            <a:spAutoFit/>
          </a:bodyPr>
          <a:lstStyle/>
          <a:p>
            <a:pPr algn="l">
              <a:spcAft>
                <a:spcPts val="0"/>
              </a:spcAft>
            </a:pPr>
            <a:r>
              <a:rPr sz="2500" b="1" dirty="0">
                <a:solidFill>
                  <a:srgbClr val="262626"/>
                </a:solidFill>
                <a:latin typeface="Meiryo"/>
                <a:ea typeface="Meiryo"/>
                <a:cs typeface="Meiryo"/>
              </a:rPr>
              <a:t>数学：最小二乗法</a:t>
            </a:r>
          </a:p>
        </p:txBody>
      </p:sp>
      <p:sp>
        <p:nvSpPr>
          <p:cNvPr id="53" name="TextBox 52"/>
          <p:cNvSpPr txBox="1"/>
          <p:nvPr/>
        </p:nvSpPr>
        <p:spPr>
          <a:xfrm>
            <a:off x="685800" y="2971800"/>
            <a:ext cx="5074920" cy="395630"/>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実測に最もよく合う数値を選ぶ</a:t>
            </a:r>
          </a:p>
        </p:txBody>
      </p:sp>
      <p:sp>
        <p:nvSpPr>
          <p:cNvPr id="54" name="TextBox 53"/>
          <p:cNvSpPr txBox="1"/>
          <p:nvPr/>
        </p:nvSpPr>
        <p:spPr>
          <a:xfrm>
            <a:off x="6428232" y="2011680"/>
            <a:ext cx="5074920" cy="467563"/>
          </a:xfrm>
          <a:prstGeom prst="rect">
            <a:avLst/>
          </a:prstGeom>
          <a:noFill/>
        </p:spPr>
        <p:txBody>
          <a:bodyPr wrap="square" lIns="0" tIns="0" rIns="0" bIns="0" anchor="t">
            <a:spAutoFit/>
          </a:bodyPr>
          <a:lstStyle/>
          <a:p>
            <a:pPr algn="l">
              <a:spcAft>
                <a:spcPts val="0"/>
              </a:spcAft>
            </a:pPr>
            <a:r>
              <a:rPr sz="2600" b="1" dirty="0">
                <a:solidFill>
                  <a:srgbClr val="0072B2"/>
                </a:solidFill>
                <a:latin typeface="Meiryo"/>
                <a:ea typeface="Meiryo"/>
                <a:cs typeface="Meiryo"/>
              </a:rPr>
              <a:t>1822年　Fourier</a:t>
            </a:r>
          </a:p>
        </p:txBody>
      </p:sp>
      <p:sp>
        <p:nvSpPr>
          <p:cNvPr id="55" name="TextBox 54"/>
          <p:cNvSpPr txBox="1"/>
          <p:nvPr/>
        </p:nvSpPr>
        <p:spPr>
          <a:xfrm>
            <a:off x="6428232" y="2496312"/>
            <a:ext cx="5074920" cy="449579"/>
          </a:xfrm>
          <a:prstGeom prst="rect">
            <a:avLst/>
          </a:prstGeom>
          <a:noFill/>
        </p:spPr>
        <p:txBody>
          <a:bodyPr wrap="square" lIns="0" tIns="0" rIns="0" bIns="0" anchor="t">
            <a:spAutoFit/>
          </a:bodyPr>
          <a:lstStyle/>
          <a:p>
            <a:pPr algn="l">
              <a:spcAft>
                <a:spcPts val="0"/>
              </a:spcAft>
            </a:pPr>
            <a:r>
              <a:rPr sz="2500" b="1" dirty="0">
                <a:solidFill>
                  <a:srgbClr val="262626"/>
                </a:solidFill>
                <a:latin typeface="Meiryo"/>
                <a:ea typeface="Meiryo"/>
                <a:cs typeface="Meiryo"/>
              </a:rPr>
              <a:t>物理：フーリエ解析</a:t>
            </a:r>
          </a:p>
        </p:txBody>
      </p:sp>
      <p:sp>
        <p:nvSpPr>
          <p:cNvPr id="56" name="TextBox 55"/>
          <p:cNvSpPr txBox="1"/>
          <p:nvPr/>
        </p:nvSpPr>
        <p:spPr>
          <a:xfrm>
            <a:off x="6428232" y="2971800"/>
            <a:ext cx="5074920" cy="395630"/>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波は単純な波の足し算で表せる</a:t>
            </a:r>
          </a:p>
        </p:txBody>
      </p:sp>
      <p:sp>
        <p:nvSpPr>
          <p:cNvPr id="57" name="TextBox 56"/>
          <p:cNvSpPr txBox="1"/>
          <p:nvPr/>
        </p:nvSpPr>
        <p:spPr>
          <a:xfrm>
            <a:off x="685800" y="4023359"/>
            <a:ext cx="5074920" cy="467563"/>
          </a:xfrm>
          <a:prstGeom prst="rect">
            <a:avLst/>
          </a:prstGeom>
          <a:noFill/>
        </p:spPr>
        <p:txBody>
          <a:bodyPr wrap="square" lIns="0" tIns="0" rIns="0" bIns="0" anchor="t">
            <a:spAutoFit/>
          </a:bodyPr>
          <a:lstStyle/>
          <a:p>
            <a:pPr algn="l">
              <a:spcAft>
                <a:spcPts val="0"/>
              </a:spcAft>
            </a:pPr>
            <a:r>
              <a:rPr sz="2600" b="1" dirty="0">
                <a:solidFill>
                  <a:srgbClr val="0072B2"/>
                </a:solidFill>
                <a:latin typeface="Meiryo"/>
                <a:ea typeface="Meiryo"/>
                <a:cs typeface="Meiryo"/>
              </a:rPr>
              <a:t>1957年　Robinson</a:t>
            </a:r>
          </a:p>
        </p:txBody>
      </p:sp>
      <p:sp>
        <p:nvSpPr>
          <p:cNvPr id="58" name="TextBox 57"/>
          <p:cNvSpPr txBox="1"/>
          <p:nvPr/>
        </p:nvSpPr>
        <p:spPr>
          <a:xfrm>
            <a:off x="685800" y="4507992"/>
            <a:ext cx="5074920" cy="449579"/>
          </a:xfrm>
          <a:prstGeom prst="rect">
            <a:avLst/>
          </a:prstGeom>
          <a:noFill/>
        </p:spPr>
        <p:txBody>
          <a:bodyPr wrap="square" lIns="0" tIns="0" rIns="0" bIns="0" anchor="t">
            <a:spAutoFit/>
          </a:bodyPr>
          <a:lstStyle/>
          <a:p>
            <a:pPr algn="l">
              <a:spcAft>
                <a:spcPts val="0"/>
              </a:spcAft>
            </a:pPr>
            <a:r>
              <a:rPr sz="2500" b="1" dirty="0">
                <a:solidFill>
                  <a:srgbClr val="262626"/>
                </a:solidFill>
                <a:latin typeface="Meiryo"/>
                <a:ea typeface="Meiryo"/>
                <a:cs typeface="Meiryo"/>
              </a:rPr>
              <a:t>地球物理：地震波の分解</a:t>
            </a:r>
          </a:p>
        </p:txBody>
      </p:sp>
      <p:sp>
        <p:nvSpPr>
          <p:cNvPr id="59" name="TextBox 58"/>
          <p:cNvSpPr txBox="1"/>
          <p:nvPr/>
        </p:nvSpPr>
        <p:spPr>
          <a:xfrm>
            <a:off x="685800" y="4983479"/>
            <a:ext cx="5074920" cy="395630"/>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記録を反射の重ね合わせと読む</a:t>
            </a:r>
          </a:p>
        </p:txBody>
      </p:sp>
      <p:sp>
        <p:nvSpPr>
          <p:cNvPr id="60" name="TextBox 59"/>
          <p:cNvSpPr txBox="1"/>
          <p:nvPr/>
        </p:nvSpPr>
        <p:spPr>
          <a:xfrm>
            <a:off x="6428232" y="4023359"/>
            <a:ext cx="5074920" cy="467563"/>
          </a:xfrm>
          <a:prstGeom prst="rect">
            <a:avLst/>
          </a:prstGeom>
          <a:noFill/>
        </p:spPr>
        <p:txBody>
          <a:bodyPr wrap="square" lIns="0" tIns="0" rIns="0" bIns="0" anchor="t">
            <a:spAutoFit/>
          </a:bodyPr>
          <a:lstStyle/>
          <a:p>
            <a:pPr algn="l">
              <a:spcAft>
                <a:spcPts val="0"/>
              </a:spcAft>
            </a:pPr>
            <a:r>
              <a:rPr sz="2600" b="1" dirty="0">
                <a:solidFill>
                  <a:srgbClr val="0072B2"/>
                </a:solidFill>
                <a:latin typeface="Meiryo"/>
                <a:ea typeface="Meiryo"/>
                <a:cs typeface="Meiryo"/>
              </a:rPr>
              <a:t>1966年　Fraser・Suzuki</a:t>
            </a:r>
          </a:p>
        </p:txBody>
      </p:sp>
      <p:sp>
        <p:nvSpPr>
          <p:cNvPr id="61" name="TextBox 60"/>
          <p:cNvSpPr txBox="1"/>
          <p:nvPr/>
        </p:nvSpPr>
        <p:spPr>
          <a:xfrm>
            <a:off x="6428232" y="4507992"/>
            <a:ext cx="5074920" cy="449579"/>
          </a:xfrm>
          <a:prstGeom prst="rect">
            <a:avLst/>
          </a:prstGeom>
          <a:noFill/>
        </p:spPr>
        <p:txBody>
          <a:bodyPr wrap="square" lIns="0" tIns="0" rIns="0" bIns="0" anchor="t">
            <a:spAutoFit/>
          </a:bodyPr>
          <a:lstStyle/>
          <a:p>
            <a:pPr algn="l">
              <a:spcAft>
                <a:spcPts val="0"/>
              </a:spcAft>
            </a:pPr>
            <a:r>
              <a:rPr sz="2500" b="1" dirty="0">
                <a:solidFill>
                  <a:srgbClr val="262626"/>
                </a:solidFill>
                <a:latin typeface="Meiryo"/>
                <a:ea typeface="Meiryo"/>
                <a:cs typeface="Meiryo"/>
              </a:rPr>
              <a:t>分析化学：重なった山の分離</a:t>
            </a:r>
          </a:p>
        </p:txBody>
      </p:sp>
      <p:sp>
        <p:nvSpPr>
          <p:cNvPr id="62" name="TextBox 61"/>
          <p:cNvSpPr txBox="1"/>
          <p:nvPr/>
        </p:nvSpPr>
        <p:spPr>
          <a:xfrm>
            <a:off x="6428232" y="4983479"/>
            <a:ext cx="5074920" cy="395630"/>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分光のピークを成分に分ける</a:t>
            </a:r>
          </a:p>
        </p:txBody>
      </p:sp>
      <p:sp>
        <p:nvSpPr>
          <p:cNvPr id="63" name="Rounded Rectangle 62"/>
          <p:cNvSpPr/>
          <p:nvPr/>
        </p:nvSpPr>
        <p:spPr>
          <a:xfrm>
            <a:off x="502920" y="5870448"/>
            <a:ext cx="11183112" cy="64008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685800" y="5971032"/>
            <a:ext cx="10817352" cy="413613"/>
          </a:xfrm>
          <a:prstGeom prst="rect">
            <a:avLst/>
          </a:prstGeom>
          <a:noFill/>
        </p:spPr>
        <p:txBody>
          <a:bodyPr wrap="square" lIns="0" tIns="0" rIns="0" bIns="0" anchor="t">
            <a:spAutoFit/>
          </a:bodyPr>
          <a:lstStyle/>
          <a:p>
            <a:pPr algn="ctr">
              <a:spcAft>
                <a:spcPts val="0"/>
              </a:spcAft>
            </a:pPr>
            <a:r>
              <a:rPr sz="2300" b="1" dirty="0">
                <a:solidFill>
                  <a:srgbClr val="262626"/>
                </a:solidFill>
                <a:latin typeface="Meiryo"/>
                <a:ea typeface="Meiryo"/>
                <a:cs typeface="Meiryo"/>
              </a:rPr>
              <a:t>「波を成分の山に分ける」道具は 医学の外で完成していた</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5.1  当てはめの道具</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52. Levenberg 1944　／　53. Marquardt 1963　／　54. Akaike 1974　／　43. Tigges 2017</a:t>
            </a:r>
          </a:p>
        </p:txBody>
      </p:sp>
      <p:sp>
        <p:nvSpPr>
          <p:cNvPr id="4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47/72</a:t>
            </a:r>
          </a:p>
        </p:txBody>
      </p:sp>
      <p:sp>
        <p:nvSpPr>
          <p:cNvPr id="47" name="Rounded Rectangle 46"/>
          <p:cNvSpPr/>
          <p:nvPr/>
        </p:nvSpPr>
        <p:spPr>
          <a:xfrm>
            <a:off x="502920" y="1810512"/>
            <a:ext cx="5440680" cy="214884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6245352" y="1810512"/>
            <a:ext cx="5440680" cy="214884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685800" y="2029967"/>
            <a:ext cx="5074920" cy="467563"/>
          </a:xfrm>
          <a:prstGeom prst="rect">
            <a:avLst/>
          </a:prstGeom>
          <a:noFill/>
        </p:spPr>
        <p:txBody>
          <a:bodyPr wrap="square" lIns="0" tIns="0" rIns="0" bIns="0" anchor="t">
            <a:spAutoFit/>
          </a:bodyPr>
          <a:lstStyle/>
          <a:p>
            <a:pPr algn="l">
              <a:spcAft>
                <a:spcPts val="0"/>
              </a:spcAft>
            </a:pPr>
            <a:r>
              <a:rPr sz="2600" b="1" dirty="0">
                <a:solidFill>
                  <a:srgbClr val="00A8AA"/>
                </a:solidFill>
                <a:latin typeface="Meiryo"/>
                <a:ea typeface="Meiryo"/>
                <a:cs typeface="Meiryo"/>
              </a:rPr>
              <a:t>1944・1963年</a:t>
            </a:r>
          </a:p>
        </p:txBody>
      </p:sp>
      <p:sp>
        <p:nvSpPr>
          <p:cNvPr id="50" name="TextBox 49"/>
          <p:cNvSpPr txBox="1"/>
          <p:nvPr/>
        </p:nvSpPr>
        <p:spPr>
          <a:xfrm>
            <a:off x="685800" y="2496312"/>
            <a:ext cx="5074920" cy="449579"/>
          </a:xfrm>
          <a:prstGeom prst="rect">
            <a:avLst/>
          </a:prstGeom>
          <a:noFill/>
        </p:spPr>
        <p:txBody>
          <a:bodyPr wrap="square" lIns="0" tIns="0" rIns="0" bIns="0" anchor="t">
            <a:spAutoFit/>
          </a:bodyPr>
          <a:lstStyle/>
          <a:p>
            <a:pPr algn="l">
              <a:spcAft>
                <a:spcPts val="0"/>
              </a:spcAft>
            </a:pPr>
            <a:r>
              <a:rPr sz="2500" b="1" dirty="0">
                <a:solidFill>
                  <a:srgbClr val="262626"/>
                </a:solidFill>
                <a:latin typeface="Meiryo"/>
                <a:ea typeface="Meiryo"/>
                <a:cs typeface="Meiryo"/>
              </a:rPr>
              <a:t>Levenberg–Marquardt 法</a:t>
            </a:r>
          </a:p>
        </p:txBody>
      </p:sp>
      <p:sp>
        <p:nvSpPr>
          <p:cNvPr id="51" name="TextBox 50"/>
          <p:cNvSpPr txBox="1"/>
          <p:nvPr/>
        </p:nvSpPr>
        <p:spPr>
          <a:xfrm>
            <a:off x="685800" y="2953512"/>
            <a:ext cx="5074920" cy="395630"/>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非線形の当てはめを反復で解く</a:t>
            </a:r>
          </a:p>
        </p:txBody>
      </p:sp>
      <p:sp>
        <p:nvSpPr>
          <p:cNvPr id="52" name="TextBox 51"/>
          <p:cNvSpPr txBox="1"/>
          <p:nvPr/>
        </p:nvSpPr>
        <p:spPr>
          <a:xfrm>
            <a:off x="685800" y="3346704"/>
            <a:ext cx="5074920" cy="395630"/>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高さ・位置・幅 を自動で決める</a:t>
            </a:r>
          </a:p>
        </p:txBody>
      </p:sp>
      <p:sp>
        <p:nvSpPr>
          <p:cNvPr id="53" name="TextBox 52"/>
          <p:cNvSpPr txBox="1"/>
          <p:nvPr/>
        </p:nvSpPr>
        <p:spPr>
          <a:xfrm>
            <a:off x="6428232" y="2029967"/>
            <a:ext cx="5074920" cy="467563"/>
          </a:xfrm>
          <a:prstGeom prst="rect">
            <a:avLst/>
          </a:prstGeom>
          <a:noFill/>
        </p:spPr>
        <p:txBody>
          <a:bodyPr wrap="square" lIns="0" tIns="0" rIns="0" bIns="0" anchor="t">
            <a:spAutoFit/>
          </a:bodyPr>
          <a:lstStyle/>
          <a:p>
            <a:pPr algn="l">
              <a:spcAft>
                <a:spcPts val="0"/>
              </a:spcAft>
            </a:pPr>
            <a:r>
              <a:rPr sz="2600" b="1" dirty="0">
                <a:solidFill>
                  <a:srgbClr val="00A8AA"/>
                </a:solidFill>
                <a:latin typeface="Meiryo"/>
                <a:ea typeface="Meiryo"/>
                <a:cs typeface="Meiryo"/>
              </a:rPr>
              <a:t>1974年</a:t>
            </a:r>
          </a:p>
        </p:txBody>
      </p:sp>
      <p:sp>
        <p:nvSpPr>
          <p:cNvPr id="54" name="TextBox 53"/>
          <p:cNvSpPr txBox="1"/>
          <p:nvPr/>
        </p:nvSpPr>
        <p:spPr>
          <a:xfrm>
            <a:off x="6428232" y="2496312"/>
            <a:ext cx="5074920" cy="449579"/>
          </a:xfrm>
          <a:prstGeom prst="rect">
            <a:avLst/>
          </a:prstGeom>
          <a:noFill/>
        </p:spPr>
        <p:txBody>
          <a:bodyPr wrap="square" lIns="0" tIns="0" rIns="0" bIns="0" anchor="t">
            <a:spAutoFit/>
          </a:bodyPr>
          <a:lstStyle/>
          <a:p>
            <a:pPr algn="l">
              <a:spcAft>
                <a:spcPts val="0"/>
              </a:spcAft>
            </a:pPr>
            <a:r>
              <a:rPr sz="2500" b="1" dirty="0">
                <a:solidFill>
                  <a:srgbClr val="262626"/>
                </a:solidFill>
                <a:latin typeface="Meiryo"/>
                <a:ea typeface="Meiryo"/>
                <a:cs typeface="Meiryo"/>
              </a:rPr>
              <a:t>赤池情報量規準 AIC</a:t>
            </a:r>
          </a:p>
        </p:txBody>
      </p:sp>
      <p:sp>
        <p:nvSpPr>
          <p:cNvPr id="55" name="TextBox 54"/>
          <p:cNvSpPr txBox="1"/>
          <p:nvPr/>
        </p:nvSpPr>
        <p:spPr>
          <a:xfrm>
            <a:off x="6428232" y="2953512"/>
            <a:ext cx="5074920" cy="395630"/>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成分波を何本使うかを選ぶ</a:t>
            </a:r>
          </a:p>
        </p:txBody>
      </p:sp>
      <p:sp>
        <p:nvSpPr>
          <p:cNvPr id="56" name="TextBox 55"/>
          <p:cNvSpPr txBox="1"/>
          <p:nvPr/>
        </p:nvSpPr>
        <p:spPr>
          <a:xfrm>
            <a:off x="6428232" y="3346704"/>
            <a:ext cx="5074920" cy="395630"/>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モデル選択の一般的な基準</a:t>
            </a:r>
          </a:p>
        </p:txBody>
      </p:sp>
      <p:sp>
        <p:nvSpPr>
          <p:cNvPr id="57" name="Rounded Rectangle 56"/>
          <p:cNvSpPr/>
          <p:nvPr/>
        </p:nvSpPr>
        <p:spPr>
          <a:xfrm>
            <a:off x="502920" y="4251960"/>
            <a:ext cx="11183112" cy="12344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685800" y="4416552"/>
            <a:ext cx="10817352" cy="863193"/>
          </a:xfrm>
          <a:prstGeom prst="rect">
            <a:avLst/>
          </a:prstGeom>
          <a:noFill/>
        </p:spPr>
        <p:txBody>
          <a:bodyPr wrap="square" lIns="0" tIns="0" rIns="0" bIns="0" anchor="t">
            <a:spAutoFit/>
          </a:bodyPr>
          <a:lstStyle/>
          <a:p>
            <a:pPr algn="ctr">
              <a:spcAft>
                <a:spcPts val="0"/>
              </a:spcAft>
            </a:pPr>
            <a:r>
              <a:rPr sz="2500" b="1" dirty="0">
                <a:solidFill>
                  <a:srgbClr val="262626"/>
                </a:solidFill>
                <a:latin typeface="Meiryo"/>
                <a:ea typeface="Meiryo"/>
                <a:cs typeface="Meiryo"/>
              </a:rPr>
              <a:t>この2つで 山の高さ・位置・幅 が機械的に求まる</a:t>
            </a:r>
          </a:p>
          <a:p>
            <a:pPr algn="ctr">
              <a:spcAft>
                <a:spcPts val="0"/>
              </a:spcAft>
            </a:pPr>
            <a:r>
              <a:rPr sz="2300" b="0" dirty="0">
                <a:solidFill>
                  <a:srgbClr val="262626"/>
                </a:solidFill>
                <a:latin typeface="Meiryo"/>
                <a:ea typeface="Meiryo"/>
                <a:cs typeface="Meiryo"/>
              </a:rPr>
              <a:t>PPG の PDA も この一般的な道具立ての上に成り立つ</a:t>
            </a:r>
          </a:p>
        </p:txBody>
      </p:sp>
      <p:sp>
        <p:nvSpPr>
          <p:cNvPr id="59" name="TextBox 58"/>
          <p:cNvSpPr txBox="1"/>
          <p:nvPr/>
        </p:nvSpPr>
        <p:spPr>
          <a:xfrm>
            <a:off x="685800" y="5760720"/>
            <a:ext cx="10817352" cy="413613"/>
          </a:xfrm>
          <a:prstGeom prst="rect">
            <a:avLst/>
          </a:prstGeom>
          <a:noFill/>
        </p:spPr>
        <p:txBody>
          <a:bodyPr wrap="square" lIns="0" tIns="0" rIns="0" bIns="0" anchor="t">
            <a:spAutoFit/>
          </a:bodyPr>
          <a:lstStyle/>
          <a:p>
            <a:pPr algn="ctr">
              <a:spcAft>
                <a:spcPts val="0"/>
              </a:spcAft>
            </a:pPr>
            <a:r>
              <a:rPr sz="2300" b="0" dirty="0">
                <a:solidFill>
                  <a:srgbClr val="595959"/>
                </a:solidFill>
                <a:latin typeface="Meiryo"/>
                <a:ea typeface="Meiryo"/>
                <a:cs typeface="Meiryo"/>
              </a:rPr>
              <a:t>5.2 の基底関数・5.3 の当てはめは この延長線上にある</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5.1  医療応用の歴史</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55. Frank 1899　／　56. Westerhof 1972　／　57. Parker 1990　／　40. Rubins 2008　／　58. Baruch 2011　／　46. Baruch 2014</a:t>
            </a:r>
          </a:p>
        </p:txBody>
      </p:sp>
      <p:sp>
        <p:nvSpPr>
          <p:cNvPr id="4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48/72</a:t>
            </a:r>
          </a:p>
        </p:txBody>
      </p:sp>
      <p:sp>
        <p:nvSpPr>
          <p:cNvPr id="47" name="Rounded Rectangle 46"/>
          <p:cNvSpPr/>
          <p:nvPr/>
        </p:nvSpPr>
        <p:spPr>
          <a:xfrm>
            <a:off x="502920" y="1737360"/>
            <a:ext cx="11183112" cy="54864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2331720" y="1810512"/>
            <a:ext cx="1234440" cy="402336"/>
          </a:xfrm>
          <a:prstGeom prst="roundRect">
            <a:avLst/>
          </a:prstGeom>
          <a:solidFill>
            <a:srgbClr val="0072B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ounded Rectangle 48"/>
          <p:cNvSpPr/>
          <p:nvPr/>
        </p:nvSpPr>
        <p:spPr>
          <a:xfrm>
            <a:off x="502920" y="2395728"/>
            <a:ext cx="11183112" cy="54864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ounded Rectangle 49"/>
          <p:cNvSpPr/>
          <p:nvPr/>
        </p:nvSpPr>
        <p:spPr>
          <a:xfrm>
            <a:off x="2331720" y="2468880"/>
            <a:ext cx="1234440" cy="402336"/>
          </a:xfrm>
          <a:prstGeom prst="roundRect">
            <a:avLst/>
          </a:prstGeom>
          <a:solidFill>
            <a:srgbClr val="0072B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502920" y="3054096"/>
            <a:ext cx="11183112" cy="54864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p:cNvSpPr/>
          <p:nvPr/>
        </p:nvSpPr>
        <p:spPr>
          <a:xfrm>
            <a:off x="2331720" y="3127248"/>
            <a:ext cx="1234440" cy="402336"/>
          </a:xfrm>
          <a:prstGeom prst="roundRect">
            <a:avLst/>
          </a:prstGeom>
          <a:solidFill>
            <a:srgbClr val="0072B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ounded Rectangle 52"/>
          <p:cNvSpPr/>
          <p:nvPr/>
        </p:nvSpPr>
        <p:spPr>
          <a:xfrm>
            <a:off x="502920" y="3712464"/>
            <a:ext cx="11183112" cy="54864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2331720" y="3785616"/>
            <a:ext cx="1234440" cy="402336"/>
          </a:xfrm>
          <a:prstGeom prst="roundRect">
            <a:avLst/>
          </a:prstGeom>
          <a:solidFill>
            <a:srgbClr val="D55E00"/>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ounded Rectangle 54"/>
          <p:cNvSpPr/>
          <p:nvPr/>
        </p:nvSpPr>
        <p:spPr>
          <a:xfrm>
            <a:off x="502920" y="4370831"/>
            <a:ext cx="11183112" cy="54864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p:cNvSpPr/>
          <p:nvPr/>
        </p:nvSpPr>
        <p:spPr>
          <a:xfrm>
            <a:off x="2331720" y="4443983"/>
            <a:ext cx="1234440" cy="402336"/>
          </a:xfrm>
          <a:prstGeom prst="roundRect">
            <a:avLst/>
          </a:prstGeom>
          <a:solidFill>
            <a:srgbClr val="D55E00"/>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ounded Rectangle 56"/>
          <p:cNvSpPr/>
          <p:nvPr/>
        </p:nvSpPr>
        <p:spPr>
          <a:xfrm>
            <a:off x="502920" y="5029200"/>
            <a:ext cx="11183112" cy="54864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ounded Rectangle 57"/>
          <p:cNvSpPr/>
          <p:nvPr/>
        </p:nvSpPr>
        <p:spPr>
          <a:xfrm>
            <a:off x="2331720" y="5102352"/>
            <a:ext cx="1234440" cy="402336"/>
          </a:xfrm>
          <a:prstGeom prst="roundRect">
            <a:avLst/>
          </a:prstGeom>
          <a:solidFill>
            <a:srgbClr val="D55E00"/>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58368" y="1801368"/>
            <a:ext cx="1600200" cy="431596"/>
          </a:xfrm>
          <a:prstGeom prst="rect">
            <a:avLst/>
          </a:prstGeom>
          <a:noFill/>
        </p:spPr>
        <p:txBody>
          <a:bodyPr wrap="square" lIns="0" tIns="0" rIns="0" bIns="0" anchor="t">
            <a:spAutoFit/>
          </a:bodyPr>
          <a:lstStyle/>
          <a:p>
            <a:pPr algn="l">
              <a:spcAft>
                <a:spcPts val="0"/>
              </a:spcAft>
            </a:pPr>
            <a:r>
              <a:rPr sz="2400" b="1" dirty="0">
                <a:solidFill>
                  <a:srgbClr val="0072B2"/>
                </a:solidFill>
                <a:latin typeface="Meiryo"/>
                <a:ea typeface="Meiryo"/>
                <a:cs typeface="Meiryo"/>
              </a:rPr>
              <a:t>1899年</a:t>
            </a:r>
          </a:p>
        </p:txBody>
      </p:sp>
      <p:sp>
        <p:nvSpPr>
          <p:cNvPr id="60" name="TextBox 59"/>
          <p:cNvSpPr txBox="1"/>
          <p:nvPr/>
        </p:nvSpPr>
        <p:spPr>
          <a:xfrm>
            <a:off x="2395728" y="1815084"/>
            <a:ext cx="1106424" cy="395630"/>
          </a:xfrm>
          <a:prstGeom prst="rect">
            <a:avLst/>
          </a:prstGeom>
          <a:noFill/>
        </p:spPr>
        <p:txBody>
          <a:bodyPr wrap="square" lIns="0" tIns="0" rIns="0" bIns="0" anchor="t">
            <a:spAutoFit/>
          </a:bodyPr>
          <a:lstStyle/>
          <a:p>
            <a:pPr algn="ctr">
              <a:spcAft>
                <a:spcPts val="0"/>
              </a:spcAft>
            </a:pPr>
            <a:r>
              <a:rPr sz="2200" b="1" dirty="0">
                <a:solidFill>
                  <a:srgbClr val="FFFFFF"/>
                </a:solidFill>
                <a:latin typeface="Meiryo"/>
                <a:ea typeface="Meiryo"/>
                <a:cs typeface="Meiryo"/>
              </a:rPr>
              <a:t>圧波形</a:t>
            </a:r>
          </a:p>
        </p:txBody>
      </p:sp>
      <p:sp>
        <p:nvSpPr>
          <p:cNvPr id="61" name="TextBox 60"/>
          <p:cNvSpPr txBox="1"/>
          <p:nvPr/>
        </p:nvSpPr>
        <p:spPr>
          <a:xfrm>
            <a:off x="3749039" y="1805939"/>
            <a:ext cx="7818120" cy="413613"/>
          </a:xfrm>
          <a:prstGeom prst="rect">
            <a:avLst/>
          </a:prstGeom>
          <a:noFill/>
        </p:spPr>
        <p:txBody>
          <a:bodyPr wrap="square" lIns="0" tIns="0" rIns="0" bIns="0" anchor="t">
            <a:spAutoFit/>
          </a:bodyPr>
          <a:lstStyle/>
          <a:p>
            <a:pPr algn="l">
              <a:spcAft>
                <a:spcPts val="0"/>
              </a:spcAft>
            </a:pPr>
            <a:r>
              <a:rPr sz="2300" b="0" dirty="0">
                <a:solidFill>
                  <a:srgbClr val="262626"/>
                </a:solidFill>
                <a:latin typeface="Meiryo"/>
                <a:ea typeface="Meiryo"/>
                <a:cs typeface="Meiryo"/>
              </a:rPr>
              <a:t>Frank：動脈系を Windkessel で数式化</a:t>
            </a:r>
          </a:p>
        </p:txBody>
      </p:sp>
      <p:sp>
        <p:nvSpPr>
          <p:cNvPr id="62" name="TextBox 61"/>
          <p:cNvSpPr txBox="1"/>
          <p:nvPr/>
        </p:nvSpPr>
        <p:spPr>
          <a:xfrm>
            <a:off x="658368" y="2459736"/>
            <a:ext cx="1600200" cy="431596"/>
          </a:xfrm>
          <a:prstGeom prst="rect">
            <a:avLst/>
          </a:prstGeom>
          <a:noFill/>
        </p:spPr>
        <p:txBody>
          <a:bodyPr wrap="square" lIns="0" tIns="0" rIns="0" bIns="0" anchor="t">
            <a:spAutoFit/>
          </a:bodyPr>
          <a:lstStyle/>
          <a:p>
            <a:pPr algn="l">
              <a:spcAft>
                <a:spcPts val="0"/>
              </a:spcAft>
            </a:pPr>
            <a:r>
              <a:rPr sz="2400" b="1" dirty="0">
                <a:solidFill>
                  <a:srgbClr val="0072B2"/>
                </a:solidFill>
                <a:latin typeface="Meiryo"/>
                <a:ea typeface="Meiryo"/>
                <a:cs typeface="Meiryo"/>
              </a:rPr>
              <a:t>1972年</a:t>
            </a:r>
          </a:p>
        </p:txBody>
      </p:sp>
      <p:sp>
        <p:nvSpPr>
          <p:cNvPr id="63" name="TextBox 62"/>
          <p:cNvSpPr txBox="1"/>
          <p:nvPr/>
        </p:nvSpPr>
        <p:spPr>
          <a:xfrm>
            <a:off x="2395728" y="2473452"/>
            <a:ext cx="1106424" cy="395630"/>
          </a:xfrm>
          <a:prstGeom prst="rect">
            <a:avLst/>
          </a:prstGeom>
          <a:noFill/>
        </p:spPr>
        <p:txBody>
          <a:bodyPr wrap="square" lIns="0" tIns="0" rIns="0" bIns="0" anchor="t">
            <a:spAutoFit/>
          </a:bodyPr>
          <a:lstStyle/>
          <a:p>
            <a:pPr algn="ctr">
              <a:spcAft>
                <a:spcPts val="0"/>
              </a:spcAft>
            </a:pPr>
            <a:r>
              <a:rPr sz="2200" b="1" dirty="0">
                <a:solidFill>
                  <a:srgbClr val="FFFFFF"/>
                </a:solidFill>
                <a:latin typeface="Meiryo"/>
                <a:ea typeface="Meiryo"/>
                <a:cs typeface="Meiryo"/>
              </a:rPr>
              <a:t>圧波形</a:t>
            </a:r>
          </a:p>
        </p:txBody>
      </p:sp>
      <p:sp>
        <p:nvSpPr>
          <p:cNvPr id="64" name="TextBox 63"/>
          <p:cNvSpPr txBox="1"/>
          <p:nvPr/>
        </p:nvSpPr>
        <p:spPr>
          <a:xfrm>
            <a:off x="3749039" y="2464308"/>
            <a:ext cx="7818120" cy="413613"/>
          </a:xfrm>
          <a:prstGeom prst="rect">
            <a:avLst/>
          </a:prstGeom>
          <a:noFill/>
        </p:spPr>
        <p:txBody>
          <a:bodyPr wrap="square" lIns="0" tIns="0" rIns="0" bIns="0" anchor="t">
            <a:spAutoFit/>
          </a:bodyPr>
          <a:lstStyle/>
          <a:p>
            <a:pPr algn="l">
              <a:spcAft>
                <a:spcPts val="0"/>
              </a:spcAft>
            </a:pPr>
            <a:r>
              <a:rPr sz="2300" b="0" dirty="0">
                <a:solidFill>
                  <a:srgbClr val="262626"/>
                </a:solidFill>
                <a:latin typeface="Meiryo"/>
                <a:ea typeface="Meiryo"/>
                <a:cs typeface="Meiryo"/>
              </a:rPr>
              <a:t>Westerhof：圧波形を 前進波と後退波に分離</a:t>
            </a:r>
          </a:p>
        </p:txBody>
      </p:sp>
      <p:sp>
        <p:nvSpPr>
          <p:cNvPr id="65" name="TextBox 64"/>
          <p:cNvSpPr txBox="1"/>
          <p:nvPr/>
        </p:nvSpPr>
        <p:spPr>
          <a:xfrm>
            <a:off x="658368" y="3118103"/>
            <a:ext cx="1600200" cy="431596"/>
          </a:xfrm>
          <a:prstGeom prst="rect">
            <a:avLst/>
          </a:prstGeom>
          <a:noFill/>
        </p:spPr>
        <p:txBody>
          <a:bodyPr wrap="square" lIns="0" tIns="0" rIns="0" bIns="0" anchor="t">
            <a:spAutoFit/>
          </a:bodyPr>
          <a:lstStyle/>
          <a:p>
            <a:pPr algn="l">
              <a:spcAft>
                <a:spcPts val="0"/>
              </a:spcAft>
            </a:pPr>
            <a:r>
              <a:rPr sz="2400" b="1" dirty="0">
                <a:solidFill>
                  <a:srgbClr val="0072B2"/>
                </a:solidFill>
                <a:latin typeface="Meiryo"/>
                <a:ea typeface="Meiryo"/>
                <a:cs typeface="Meiryo"/>
              </a:rPr>
              <a:t>1990年</a:t>
            </a:r>
          </a:p>
        </p:txBody>
      </p:sp>
      <p:sp>
        <p:nvSpPr>
          <p:cNvPr id="66" name="TextBox 65"/>
          <p:cNvSpPr txBox="1"/>
          <p:nvPr/>
        </p:nvSpPr>
        <p:spPr>
          <a:xfrm>
            <a:off x="2395728" y="3131820"/>
            <a:ext cx="1106424" cy="395630"/>
          </a:xfrm>
          <a:prstGeom prst="rect">
            <a:avLst/>
          </a:prstGeom>
          <a:noFill/>
        </p:spPr>
        <p:txBody>
          <a:bodyPr wrap="square" lIns="0" tIns="0" rIns="0" bIns="0" anchor="t">
            <a:spAutoFit/>
          </a:bodyPr>
          <a:lstStyle/>
          <a:p>
            <a:pPr algn="ctr">
              <a:spcAft>
                <a:spcPts val="0"/>
              </a:spcAft>
            </a:pPr>
            <a:r>
              <a:rPr sz="2200" b="1" dirty="0">
                <a:solidFill>
                  <a:srgbClr val="FFFFFF"/>
                </a:solidFill>
                <a:latin typeface="Meiryo"/>
                <a:ea typeface="Meiryo"/>
                <a:cs typeface="Meiryo"/>
              </a:rPr>
              <a:t>圧波形</a:t>
            </a:r>
          </a:p>
        </p:txBody>
      </p:sp>
      <p:sp>
        <p:nvSpPr>
          <p:cNvPr id="67" name="TextBox 66"/>
          <p:cNvSpPr txBox="1"/>
          <p:nvPr/>
        </p:nvSpPr>
        <p:spPr>
          <a:xfrm>
            <a:off x="3749039" y="3122676"/>
            <a:ext cx="7818120" cy="413613"/>
          </a:xfrm>
          <a:prstGeom prst="rect">
            <a:avLst/>
          </a:prstGeom>
          <a:noFill/>
        </p:spPr>
        <p:txBody>
          <a:bodyPr wrap="square" lIns="0" tIns="0" rIns="0" bIns="0" anchor="t">
            <a:spAutoFit/>
          </a:bodyPr>
          <a:lstStyle/>
          <a:p>
            <a:pPr algn="l">
              <a:spcAft>
                <a:spcPts val="0"/>
              </a:spcAft>
            </a:pPr>
            <a:r>
              <a:rPr sz="2300" b="0" dirty="0">
                <a:solidFill>
                  <a:srgbClr val="262626"/>
                </a:solidFill>
                <a:latin typeface="Meiryo"/>
                <a:ea typeface="Meiryo"/>
                <a:cs typeface="Meiryo"/>
              </a:rPr>
              <a:t>Parker：波の強さから 反射の時刻を解析</a:t>
            </a:r>
          </a:p>
        </p:txBody>
      </p:sp>
      <p:sp>
        <p:nvSpPr>
          <p:cNvPr id="68" name="TextBox 67"/>
          <p:cNvSpPr txBox="1"/>
          <p:nvPr/>
        </p:nvSpPr>
        <p:spPr>
          <a:xfrm>
            <a:off x="658368" y="3776472"/>
            <a:ext cx="1600200" cy="431596"/>
          </a:xfrm>
          <a:prstGeom prst="rect">
            <a:avLst/>
          </a:prstGeom>
          <a:noFill/>
        </p:spPr>
        <p:txBody>
          <a:bodyPr wrap="square" lIns="0" tIns="0" rIns="0" bIns="0" anchor="t">
            <a:spAutoFit/>
          </a:bodyPr>
          <a:lstStyle/>
          <a:p>
            <a:pPr algn="l">
              <a:spcAft>
                <a:spcPts val="0"/>
              </a:spcAft>
            </a:pPr>
            <a:r>
              <a:rPr sz="2400" b="1" dirty="0">
                <a:solidFill>
                  <a:srgbClr val="D55E00"/>
                </a:solidFill>
                <a:latin typeface="Meiryo"/>
                <a:ea typeface="Meiryo"/>
                <a:cs typeface="Meiryo"/>
              </a:rPr>
              <a:t>2008年</a:t>
            </a:r>
          </a:p>
        </p:txBody>
      </p:sp>
      <p:sp>
        <p:nvSpPr>
          <p:cNvPr id="69" name="TextBox 68"/>
          <p:cNvSpPr txBox="1"/>
          <p:nvPr/>
        </p:nvSpPr>
        <p:spPr>
          <a:xfrm>
            <a:off x="2395728" y="3790188"/>
            <a:ext cx="1106424" cy="395630"/>
          </a:xfrm>
          <a:prstGeom prst="rect">
            <a:avLst/>
          </a:prstGeom>
          <a:noFill/>
        </p:spPr>
        <p:txBody>
          <a:bodyPr wrap="square" lIns="0" tIns="0" rIns="0" bIns="0" anchor="t">
            <a:spAutoFit/>
          </a:bodyPr>
          <a:lstStyle/>
          <a:p>
            <a:pPr algn="ctr">
              <a:spcAft>
                <a:spcPts val="0"/>
              </a:spcAft>
            </a:pPr>
            <a:r>
              <a:rPr sz="2200" b="1" dirty="0">
                <a:solidFill>
                  <a:srgbClr val="FFFFFF"/>
                </a:solidFill>
                <a:latin typeface="Meiryo"/>
                <a:ea typeface="Meiryo"/>
                <a:cs typeface="Meiryo"/>
              </a:rPr>
              <a:t>PPG</a:t>
            </a:r>
          </a:p>
        </p:txBody>
      </p:sp>
      <p:sp>
        <p:nvSpPr>
          <p:cNvPr id="70" name="TextBox 69"/>
          <p:cNvSpPr txBox="1"/>
          <p:nvPr/>
        </p:nvSpPr>
        <p:spPr>
          <a:xfrm>
            <a:off x="3749039" y="3781044"/>
            <a:ext cx="7818120" cy="413613"/>
          </a:xfrm>
          <a:prstGeom prst="rect">
            <a:avLst/>
          </a:prstGeom>
          <a:noFill/>
        </p:spPr>
        <p:txBody>
          <a:bodyPr wrap="square" lIns="0" tIns="0" rIns="0" bIns="0" anchor="t">
            <a:spAutoFit/>
          </a:bodyPr>
          <a:lstStyle/>
          <a:p>
            <a:pPr algn="l">
              <a:spcAft>
                <a:spcPts val="0"/>
              </a:spcAft>
            </a:pPr>
            <a:r>
              <a:rPr sz="2300" b="0" dirty="0">
                <a:solidFill>
                  <a:srgbClr val="262626"/>
                </a:solidFill>
                <a:latin typeface="Meiryo"/>
                <a:ea typeface="Meiryo"/>
                <a:cs typeface="Meiryo"/>
              </a:rPr>
              <a:t>Rubins：PPG をガウス関数の和に当てはめ</a:t>
            </a:r>
          </a:p>
        </p:txBody>
      </p:sp>
      <p:sp>
        <p:nvSpPr>
          <p:cNvPr id="71" name="TextBox 70"/>
          <p:cNvSpPr txBox="1"/>
          <p:nvPr/>
        </p:nvSpPr>
        <p:spPr>
          <a:xfrm>
            <a:off x="658368" y="4434840"/>
            <a:ext cx="1600200" cy="431596"/>
          </a:xfrm>
          <a:prstGeom prst="rect">
            <a:avLst/>
          </a:prstGeom>
          <a:noFill/>
        </p:spPr>
        <p:txBody>
          <a:bodyPr wrap="square" lIns="0" tIns="0" rIns="0" bIns="0" anchor="t">
            <a:spAutoFit/>
          </a:bodyPr>
          <a:lstStyle/>
          <a:p>
            <a:pPr algn="l">
              <a:spcAft>
                <a:spcPts val="0"/>
              </a:spcAft>
            </a:pPr>
            <a:r>
              <a:rPr sz="2400" b="1" dirty="0">
                <a:solidFill>
                  <a:srgbClr val="D55E00"/>
                </a:solidFill>
                <a:latin typeface="Meiryo"/>
                <a:ea typeface="Meiryo"/>
                <a:cs typeface="Meiryo"/>
              </a:rPr>
              <a:t>2011年</a:t>
            </a:r>
          </a:p>
        </p:txBody>
      </p:sp>
      <p:sp>
        <p:nvSpPr>
          <p:cNvPr id="72" name="TextBox 71"/>
          <p:cNvSpPr txBox="1"/>
          <p:nvPr/>
        </p:nvSpPr>
        <p:spPr>
          <a:xfrm>
            <a:off x="2395728" y="4448555"/>
            <a:ext cx="1106424" cy="395630"/>
          </a:xfrm>
          <a:prstGeom prst="rect">
            <a:avLst/>
          </a:prstGeom>
          <a:noFill/>
        </p:spPr>
        <p:txBody>
          <a:bodyPr wrap="square" lIns="0" tIns="0" rIns="0" bIns="0" anchor="t">
            <a:spAutoFit/>
          </a:bodyPr>
          <a:lstStyle/>
          <a:p>
            <a:pPr algn="ctr">
              <a:spcAft>
                <a:spcPts val="0"/>
              </a:spcAft>
            </a:pPr>
            <a:r>
              <a:rPr sz="2200" b="1" dirty="0">
                <a:solidFill>
                  <a:srgbClr val="FFFFFF"/>
                </a:solidFill>
                <a:latin typeface="Meiryo"/>
                <a:ea typeface="Meiryo"/>
                <a:cs typeface="Meiryo"/>
              </a:rPr>
              <a:t>PPG</a:t>
            </a:r>
          </a:p>
        </p:txBody>
      </p:sp>
      <p:sp>
        <p:nvSpPr>
          <p:cNvPr id="73" name="TextBox 72"/>
          <p:cNvSpPr txBox="1"/>
          <p:nvPr/>
        </p:nvSpPr>
        <p:spPr>
          <a:xfrm>
            <a:off x="3749039" y="4439412"/>
            <a:ext cx="7818120" cy="413613"/>
          </a:xfrm>
          <a:prstGeom prst="rect">
            <a:avLst/>
          </a:prstGeom>
          <a:noFill/>
        </p:spPr>
        <p:txBody>
          <a:bodyPr wrap="square" lIns="0" tIns="0" rIns="0" bIns="0" anchor="t">
            <a:spAutoFit/>
          </a:bodyPr>
          <a:lstStyle/>
          <a:p>
            <a:pPr algn="l">
              <a:spcAft>
                <a:spcPts val="0"/>
              </a:spcAft>
            </a:pPr>
            <a:r>
              <a:rPr sz="2300" b="0" dirty="0">
                <a:solidFill>
                  <a:srgbClr val="262626"/>
                </a:solidFill>
                <a:latin typeface="Meiryo"/>
                <a:ea typeface="Meiryo"/>
                <a:cs typeface="Meiryo"/>
              </a:rPr>
              <a:t>Baruch：動脈脈波を 5 つの成分波に分解</a:t>
            </a:r>
          </a:p>
        </p:txBody>
      </p:sp>
      <p:sp>
        <p:nvSpPr>
          <p:cNvPr id="74" name="TextBox 73"/>
          <p:cNvSpPr txBox="1"/>
          <p:nvPr/>
        </p:nvSpPr>
        <p:spPr>
          <a:xfrm>
            <a:off x="658368" y="5093208"/>
            <a:ext cx="1600200" cy="431596"/>
          </a:xfrm>
          <a:prstGeom prst="rect">
            <a:avLst/>
          </a:prstGeom>
          <a:noFill/>
        </p:spPr>
        <p:txBody>
          <a:bodyPr wrap="square" lIns="0" tIns="0" rIns="0" bIns="0" anchor="t">
            <a:spAutoFit/>
          </a:bodyPr>
          <a:lstStyle/>
          <a:p>
            <a:pPr algn="l">
              <a:spcAft>
                <a:spcPts val="0"/>
              </a:spcAft>
            </a:pPr>
            <a:r>
              <a:rPr sz="2400" b="1" dirty="0">
                <a:solidFill>
                  <a:srgbClr val="D55E00"/>
                </a:solidFill>
                <a:latin typeface="Meiryo"/>
                <a:ea typeface="Meiryo"/>
                <a:cs typeface="Meiryo"/>
              </a:rPr>
              <a:t>2012年〜</a:t>
            </a:r>
          </a:p>
        </p:txBody>
      </p:sp>
      <p:sp>
        <p:nvSpPr>
          <p:cNvPr id="75" name="TextBox 74"/>
          <p:cNvSpPr txBox="1"/>
          <p:nvPr/>
        </p:nvSpPr>
        <p:spPr>
          <a:xfrm>
            <a:off x="2395728" y="5106924"/>
            <a:ext cx="1106424" cy="395630"/>
          </a:xfrm>
          <a:prstGeom prst="rect">
            <a:avLst/>
          </a:prstGeom>
          <a:noFill/>
        </p:spPr>
        <p:txBody>
          <a:bodyPr wrap="square" lIns="0" tIns="0" rIns="0" bIns="0" anchor="t">
            <a:spAutoFit/>
          </a:bodyPr>
          <a:lstStyle/>
          <a:p>
            <a:pPr algn="ctr">
              <a:spcAft>
                <a:spcPts val="0"/>
              </a:spcAft>
            </a:pPr>
            <a:r>
              <a:rPr sz="2200" b="1" dirty="0">
                <a:solidFill>
                  <a:srgbClr val="FFFFFF"/>
                </a:solidFill>
                <a:latin typeface="Meiryo"/>
                <a:ea typeface="Meiryo"/>
                <a:cs typeface="Meiryo"/>
              </a:rPr>
              <a:t>PPG</a:t>
            </a:r>
          </a:p>
        </p:txBody>
      </p:sp>
      <p:sp>
        <p:nvSpPr>
          <p:cNvPr id="76" name="TextBox 75"/>
          <p:cNvSpPr txBox="1"/>
          <p:nvPr/>
        </p:nvSpPr>
        <p:spPr>
          <a:xfrm>
            <a:off x="3749039" y="5097780"/>
            <a:ext cx="7818120" cy="413613"/>
          </a:xfrm>
          <a:prstGeom prst="rect">
            <a:avLst/>
          </a:prstGeom>
          <a:noFill/>
        </p:spPr>
        <p:txBody>
          <a:bodyPr wrap="square" lIns="0" tIns="0" rIns="0" bIns="0" anchor="t">
            <a:spAutoFit/>
          </a:bodyPr>
          <a:lstStyle/>
          <a:p>
            <a:pPr algn="l">
              <a:spcAft>
                <a:spcPts val="0"/>
              </a:spcAft>
            </a:pPr>
            <a:r>
              <a:rPr sz="2300" b="0" dirty="0">
                <a:solidFill>
                  <a:srgbClr val="262626"/>
                </a:solidFill>
                <a:latin typeface="Meiryo"/>
                <a:ea typeface="Meiryo"/>
                <a:cs typeface="Meiryo"/>
              </a:rPr>
              <a:t>Couceiro・Tigges ら：PPG での PDA が本格化</a:t>
            </a:r>
          </a:p>
        </p:txBody>
      </p:sp>
      <p:sp>
        <p:nvSpPr>
          <p:cNvPr id="77" name="Rounded Rectangle 76"/>
          <p:cNvSpPr/>
          <p:nvPr/>
        </p:nvSpPr>
        <p:spPr>
          <a:xfrm>
            <a:off x="502920" y="5779008"/>
            <a:ext cx="11183112" cy="603504"/>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685800" y="5870448"/>
            <a:ext cx="10817352" cy="413613"/>
          </a:xfrm>
          <a:prstGeom prst="rect">
            <a:avLst/>
          </a:prstGeom>
          <a:noFill/>
        </p:spPr>
        <p:txBody>
          <a:bodyPr wrap="square" lIns="0" tIns="0" rIns="0" bIns="0" anchor="t">
            <a:spAutoFit/>
          </a:bodyPr>
          <a:lstStyle/>
          <a:p>
            <a:pPr algn="ctr">
              <a:spcAft>
                <a:spcPts val="0"/>
              </a:spcAft>
            </a:pPr>
            <a:r>
              <a:rPr sz="2300" b="1" dirty="0">
                <a:solidFill>
                  <a:srgbClr val="262626"/>
                </a:solidFill>
                <a:latin typeface="Meiryo"/>
                <a:ea typeface="Meiryo"/>
                <a:cs typeface="Meiryo"/>
              </a:rPr>
              <a:t>圧と流量の実測が要った分離を PPG 1 本で行うのが PDA</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5.2  合成波と成分波</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　／　42. Couceiro 2015</a:t>
            </a:r>
          </a:p>
        </p:txBody>
      </p:sp>
      <p:sp>
        <p:nvSpPr>
          <p:cNvPr id="30" name="TextBox 29"/>
          <p:cNvSpPr txBox="1"/>
          <p:nvPr/>
        </p:nvSpPr>
        <p:spPr>
          <a:xfrm>
            <a:off x="502920" y="1691640"/>
            <a:ext cx="5394960" cy="41148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合成波（実際に見える波）</a:t>
            </a:r>
          </a:p>
        </p:txBody>
      </p:sp>
      <p:sp>
        <p:nvSpPr>
          <p:cNvPr id="3" name="Freeform 2"/>
          <p:cNvSpPr/>
          <p:nvPr/>
        </p:nvSpPr>
        <p:spPr>
          <a:xfrm>
            <a:off x="548640" y="2148840"/>
            <a:ext cx="4846320" cy="1324958"/>
          </a:xfrm>
          <a:custGeom>
            <a:avLst/>
            <a:gdLst/>
            <a:ahLst/>
            <a:cxnLst/>
            <a:rect l="l" t="t" r="r" b="b"/>
            <a:pathLst>
              <a:path w="4846320" h="1324958">
                <a:moveTo>
                  <a:pt x="0" y="1279958"/>
                </a:moveTo>
                <a:lnTo>
                  <a:pt x="28508" y="1271080"/>
                </a:lnTo>
                <a:lnTo>
                  <a:pt x="57016" y="1260798"/>
                </a:lnTo>
                <a:lnTo>
                  <a:pt x="85523" y="1248955"/>
                </a:lnTo>
                <a:lnTo>
                  <a:pt x="114031" y="1235392"/>
                </a:lnTo>
                <a:lnTo>
                  <a:pt x="142539" y="1219946"/>
                </a:lnTo>
                <a:lnTo>
                  <a:pt x="171047" y="1202455"/>
                </a:lnTo>
                <a:lnTo>
                  <a:pt x="199554" y="1182762"/>
                </a:lnTo>
                <a:lnTo>
                  <a:pt x="228062" y="1160720"/>
                </a:lnTo>
                <a:lnTo>
                  <a:pt x="256570" y="1136192"/>
                </a:lnTo>
                <a:lnTo>
                  <a:pt x="285078" y="1109061"/>
                </a:lnTo>
                <a:lnTo>
                  <a:pt x="313585" y="1079232"/>
                </a:lnTo>
                <a:lnTo>
                  <a:pt x="342093" y="1046638"/>
                </a:lnTo>
                <a:lnTo>
                  <a:pt x="370601" y="1011244"/>
                </a:lnTo>
                <a:lnTo>
                  <a:pt x="399109" y="973055"/>
                </a:lnTo>
                <a:lnTo>
                  <a:pt x="427616" y="932116"/>
                </a:lnTo>
                <a:lnTo>
                  <a:pt x="456124" y="888522"/>
                </a:lnTo>
                <a:lnTo>
                  <a:pt x="484632" y="842417"/>
                </a:lnTo>
                <a:lnTo>
                  <a:pt x="513140" y="793996"/>
                </a:lnTo>
                <a:lnTo>
                  <a:pt x="541648" y="743512"/>
                </a:lnTo>
                <a:lnTo>
                  <a:pt x="570155" y="691271"/>
                </a:lnTo>
                <a:lnTo>
                  <a:pt x="598663" y="637633"/>
                </a:lnTo>
                <a:lnTo>
                  <a:pt x="627171" y="583009"/>
                </a:lnTo>
                <a:lnTo>
                  <a:pt x="655679" y="527860"/>
                </a:lnTo>
                <a:lnTo>
                  <a:pt x="684186" y="472685"/>
                </a:lnTo>
                <a:lnTo>
                  <a:pt x="712694" y="418022"/>
                </a:lnTo>
                <a:lnTo>
                  <a:pt x="741202" y="364433"/>
                </a:lnTo>
                <a:lnTo>
                  <a:pt x="769710" y="312498"/>
                </a:lnTo>
                <a:lnTo>
                  <a:pt x="798217" y="262804"/>
                </a:lnTo>
                <a:lnTo>
                  <a:pt x="826725" y="215933"/>
                </a:lnTo>
                <a:lnTo>
                  <a:pt x="855233" y="172451"/>
                </a:lnTo>
                <a:lnTo>
                  <a:pt x="883741" y="132895"/>
                </a:lnTo>
                <a:lnTo>
                  <a:pt x="912248" y="97762"/>
                </a:lnTo>
                <a:lnTo>
                  <a:pt x="940756" y="67498"/>
                </a:lnTo>
                <a:lnTo>
                  <a:pt x="969264" y="42486"/>
                </a:lnTo>
                <a:lnTo>
                  <a:pt x="997772" y="23038"/>
                </a:lnTo>
                <a:lnTo>
                  <a:pt x="1026280" y="9390"/>
                </a:lnTo>
                <a:lnTo>
                  <a:pt x="1054787" y="1690"/>
                </a:lnTo>
                <a:lnTo>
                  <a:pt x="1083295" y="0"/>
                </a:lnTo>
                <a:lnTo>
                  <a:pt x="1111803" y="4291"/>
                </a:lnTo>
                <a:lnTo>
                  <a:pt x="1140311" y="14442"/>
                </a:lnTo>
                <a:lnTo>
                  <a:pt x="1168818" y="30249"/>
                </a:lnTo>
                <a:lnTo>
                  <a:pt x="1197326" y="51420"/>
                </a:lnTo>
                <a:lnTo>
                  <a:pt x="1225834" y="77589"/>
                </a:lnTo>
                <a:lnTo>
                  <a:pt x="1254342" y="108321"/>
                </a:lnTo>
                <a:lnTo>
                  <a:pt x="1282849" y="143121"/>
                </a:lnTo>
                <a:lnTo>
                  <a:pt x="1311357" y="181447"/>
                </a:lnTo>
                <a:lnTo>
                  <a:pt x="1339865" y="222721"/>
                </a:lnTo>
                <a:lnTo>
                  <a:pt x="1368373" y="266337"/>
                </a:lnTo>
                <a:lnTo>
                  <a:pt x="1396880" y="311681"/>
                </a:lnTo>
                <a:lnTo>
                  <a:pt x="1425388" y="358135"/>
                </a:lnTo>
                <a:lnTo>
                  <a:pt x="1453896" y="405094"/>
                </a:lnTo>
                <a:lnTo>
                  <a:pt x="1482404" y="451974"/>
                </a:lnTo>
                <a:lnTo>
                  <a:pt x="1510912" y="498223"/>
                </a:lnTo>
                <a:lnTo>
                  <a:pt x="1539419" y="543327"/>
                </a:lnTo>
                <a:lnTo>
                  <a:pt x="1567927" y="586819"/>
                </a:lnTo>
                <a:lnTo>
                  <a:pt x="1596435" y="628286"/>
                </a:lnTo>
                <a:lnTo>
                  <a:pt x="1624943" y="667368"/>
                </a:lnTo>
                <a:lnTo>
                  <a:pt x="1653450" y="703766"/>
                </a:lnTo>
                <a:lnTo>
                  <a:pt x="1681958" y="737239"/>
                </a:lnTo>
                <a:lnTo>
                  <a:pt x="1710466" y="767605"/>
                </a:lnTo>
                <a:lnTo>
                  <a:pt x="1738974" y="794740"/>
                </a:lnTo>
                <a:lnTo>
                  <a:pt x="1767481" y="818576"/>
                </a:lnTo>
                <a:lnTo>
                  <a:pt x="1795989" y="839094"/>
                </a:lnTo>
                <a:lnTo>
                  <a:pt x="1824497" y="856324"/>
                </a:lnTo>
                <a:lnTo>
                  <a:pt x="1853005" y="870339"/>
                </a:lnTo>
                <a:lnTo>
                  <a:pt x="1881512" y="881249"/>
                </a:lnTo>
                <a:lnTo>
                  <a:pt x="1910020" y="889196"/>
                </a:lnTo>
                <a:lnTo>
                  <a:pt x="1938528" y="894351"/>
                </a:lnTo>
                <a:lnTo>
                  <a:pt x="1967036" y="896905"/>
                </a:lnTo>
                <a:lnTo>
                  <a:pt x="1995544" y="897067"/>
                </a:lnTo>
                <a:lnTo>
                  <a:pt x="2024051" y="895060"/>
                </a:lnTo>
                <a:lnTo>
                  <a:pt x="2052559" y="891113"/>
                </a:lnTo>
                <a:lnTo>
                  <a:pt x="2081067" y="885461"/>
                </a:lnTo>
                <a:lnTo>
                  <a:pt x="2109575" y="878342"/>
                </a:lnTo>
                <a:lnTo>
                  <a:pt x="2138082" y="869988"/>
                </a:lnTo>
                <a:lnTo>
                  <a:pt x="2166590" y="860632"/>
                </a:lnTo>
                <a:lnTo>
                  <a:pt x="2195098" y="850496"/>
                </a:lnTo>
                <a:lnTo>
                  <a:pt x="2223606" y="839797"/>
                </a:lnTo>
                <a:lnTo>
                  <a:pt x="2252113" y="828742"/>
                </a:lnTo>
                <a:lnTo>
                  <a:pt x="2280621" y="817525"/>
                </a:lnTo>
                <a:lnTo>
                  <a:pt x="2309129" y="806333"/>
                </a:lnTo>
                <a:lnTo>
                  <a:pt x="2337637" y="795337"/>
                </a:lnTo>
                <a:lnTo>
                  <a:pt x="2366144" y="784698"/>
                </a:lnTo>
                <a:lnTo>
                  <a:pt x="2394652" y="774562"/>
                </a:lnTo>
                <a:lnTo>
                  <a:pt x="2423160" y="765065"/>
                </a:lnTo>
                <a:lnTo>
                  <a:pt x="2451668" y="756328"/>
                </a:lnTo>
                <a:lnTo>
                  <a:pt x="2480176" y="748459"/>
                </a:lnTo>
                <a:lnTo>
                  <a:pt x="2508683" y="741554"/>
                </a:lnTo>
                <a:lnTo>
                  <a:pt x="2537191" y="735697"/>
                </a:lnTo>
                <a:lnTo>
                  <a:pt x="2565699" y="730957"/>
                </a:lnTo>
                <a:lnTo>
                  <a:pt x="2594207" y="727392"/>
                </a:lnTo>
                <a:lnTo>
                  <a:pt x="2622714" y="725049"/>
                </a:lnTo>
                <a:lnTo>
                  <a:pt x="2651222" y="723960"/>
                </a:lnTo>
                <a:lnTo>
                  <a:pt x="2679730" y="724147"/>
                </a:lnTo>
                <a:lnTo>
                  <a:pt x="2708238" y="725623"/>
                </a:lnTo>
                <a:lnTo>
                  <a:pt x="2736745" y="728386"/>
                </a:lnTo>
                <a:lnTo>
                  <a:pt x="2765253" y="732427"/>
                </a:lnTo>
                <a:lnTo>
                  <a:pt x="2793761" y="737724"/>
                </a:lnTo>
                <a:lnTo>
                  <a:pt x="2822269" y="744249"/>
                </a:lnTo>
                <a:lnTo>
                  <a:pt x="2850776" y="751962"/>
                </a:lnTo>
                <a:lnTo>
                  <a:pt x="2879284" y="760817"/>
                </a:lnTo>
                <a:lnTo>
                  <a:pt x="2907792" y="770760"/>
                </a:lnTo>
                <a:lnTo>
                  <a:pt x="2936300" y="781729"/>
                </a:lnTo>
                <a:lnTo>
                  <a:pt x="2964808" y="793658"/>
                </a:lnTo>
                <a:lnTo>
                  <a:pt x="2993315" y="806474"/>
                </a:lnTo>
                <a:lnTo>
                  <a:pt x="3021823" y="820101"/>
                </a:lnTo>
                <a:lnTo>
                  <a:pt x="3050331" y="834458"/>
                </a:lnTo>
                <a:lnTo>
                  <a:pt x="3078839" y="849463"/>
                </a:lnTo>
                <a:lnTo>
                  <a:pt x="3107346" y="865031"/>
                </a:lnTo>
                <a:lnTo>
                  <a:pt x="3135854" y="881076"/>
                </a:lnTo>
                <a:lnTo>
                  <a:pt x="3164362" y="897511"/>
                </a:lnTo>
                <a:lnTo>
                  <a:pt x="3192870" y="914252"/>
                </a:lnTo>
                <a:lnTo>
                  <a:pt x="3221377" y="931213"/>
                </a:lnTo>
                <a:lnTo>
                  <a:pt x="3249885" y="948312"/>
                </a:lnTo>
                <a:lnTo>
                  <a:pt x="3278393" y="965469"/>
                </a:lnTo>
                <a:lnTo>
                  <a:pt x="3306901" y="982607"/>
                </a:lnTo>
                <a:lnTo>
                  <a:pt x="3335408" y="999654"/>
                </a:lnTo>
                <a:lnTo>
                  <a:pt x="3363916" y="1016540"/>
                </a:lnTo>
                <a:lnTo>
                  <a:pt x="3392424" y="1033201"/>
                </a:lnTo>
                <a:lnTo>
                  <a:pt x="3420932" y="1049577"/>
                </a:lnTo>
                <a:lnTo>
                  <a:pt x="3449440" y="1065613"/>
                </a:lnTo>
                <a:lnTo>
                  <a:pt x="3477947" y="1081261"/>
                </a:lnTo>
                <a:lnTo>
                  <a:pt x="3506455" y="1096477"/>
                </a:lnTo>
                <a:lnTo>
                  <a:pt x="3534963" y="1111223"/>
                </a:lnTo>
                <a:lnTo>
                  <a:pt x="3563471" y="1125465"/>
                </a:lnTo>
                <a:lnTo>
                  <a:pt x="3591978" y="1139176"/>
                </a:lnTo>
                <a:lnTo>
                  <a:pt x="3620486" y="1152333"/>
                </a:lnTo>
                <a:lnTo>
                  <a:pt x="3648994" y="1164920"/>
                </a:lnTo>
                <a:lnTo>
                  <a:pt x="3677502" y="1176925"/>
                </a:lnTo>
                <a:lnTo>
                  <a:pt x="3706009" y="1188339"/>
                </a:lnTo>
                <a:lnTo>
                  <a:pt x="3734517" y="1199160"/>
                </a:lnTo>
                <a:lnTo>
                  <a:pt x="3763025" y="1209387"/>
                </a:lnTo>
                <a:lnTo>
                  <a:pt x="3791533" y="1219026"/>
                </a:lnTo>
                <a:lnTo>
                  <a:pt x="3820040" y="1228084"/>
                </a:lnTo>
                <a:lnTo>
                  <a:pt x="3848548" y="1236572"/>
                </a:lnTo>
                <a:lnTo>
                  <a:pt x="3877056" y="1244504"/>
                </a:lnTo>
                <a:lnTo>
                  <a:pt x="3905564" y="1251896"/>
                </a:lnTo>
                <a:lnTo>
                  <a:pt x="3934072" y="1258765"/>
                </a:lnTo>
                <a:lnTo>
                  <a:pt x="3962579" y="1265130"/>
                </a:lnTo>
                <a:lnTo>
                  <a:pt x="3991087" y="1271014"/>
                </a:lnTo>
                <a:lnTo>
                  <a:pt x="4019595" y="1276438"/>
                </a:lnTo>
                <a:lnTo>
                  <a:pt x="4048103" y="1281424"/>
                </a:lnTo>
                <a:lnTo>
                  <a:pt x="4076610" y="1285995"/>
                </a:lnTo>
                <a:lnTo>
                  <a:pt x="4105118" y="1290176"/>
                </a:lnTo>
                <a:lnTo>
                  <a:pt x="4133626" y="1293989"/>
                </a:lnTo>
                <a:lnTo>
                  <a:pt x="4162134" y="1297458"/>
                </a:lnTo>
                <a:lnTo>
                  <a:pt x="4190641" y="1300605"/>
                </a:lnTo>
                <a:lnTo>
                  <a:pt x="4219149" y="1303454"/>
                </a:lnTo>
                <a:lnTo>
                  <a:pt x="4247657" y="1306026"/>
                </a:lnTo>
                <a:lnTo>
                  <a:pt x="4276165" y="1308341"/>
                </a:lnTo>
                <a:lnTo>
                  <a:pt x="4304672" y="1310421"/>
                </a:lnTo>
                <a:lnTo>
                  <a:pt x="4333180" y="1312285"/>
                </a:lnTo>
                <a:lnTo>
                  <a:pt x="4361688" y="1313950"/>
                </a:lnTo>
                <a:lnTo>
                  <a:pt x="4390196" y="1315434"/>
                </a:lnTo>
                <a:lnTo>
                  <a:pt x="4418704" y="1316754"/>
                </a:lnTo>
                <a:lnTo>
                  <a:pt x="4447211" y="1317925"/>
                </a:lnTo>
                <a:lnTo>
                  <a:pt x="4475719" y="1318961"/>
                </a:lnTo>
                <a:lnTo>
                  <a:pt x="4504227" y="1319875"/>
                </a:lnTo>
                <a:lnTo>
                  <a:pt x="4532735" y="1320680"/>
                </a:lnTo>
                <a:lnTo>
                  <a:pt x="4561242" y="1321387"/>
                </a:lnTo>
                <a:lnTo>
                  <a:pt x="4589750" y="1322007"/>
                </a:lnTo>
                <a:lnTo>
                  <a:pt x="4618258" y="1322548"/>
                </a:lnTo>
                <a:lnTo>
                  <a:pt x="4646766" y="1323020"/>
                </a:lnTo>
                <a:lnTo>
                  <a:pt x="4675273" y="1323431"/>
                </a:lnTo>
                <a:lnTo>
                  <a:pt x="4703781" y="1323787"/>
                </a:lnTo>
                <a:lnTo>
                  <a:pt x="4732289" y="1324096"/>
                </a:lnTo>
                <a:lnTo>
                  <a:pt x="4760797" y="1324362"/>
                </a:lnTo>
                <a:lnTo>
                  <a:pt x="4789304" y="1324592"/>
                </a:lnTo>
                <a:lnTo>
                  <a:pt x="4817812" y="1324789"/>
                </a:lnTo>
                <a:lnTo>
                  <a:pt x="4846320" y="1324958"/>
                </a:lnTo>
              </a:path>
            </a:pathLst>
          </a:custGeom>
          <a:noFill/>
          <a:ln w="381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30"/>
          <p:cNvCxnSpPr/>
          <p:nvPr/>
        </p:nvCxnSpPr>
        <p:spPr>
          <a:xfrm>
            <a:off x="548640" y="3493008"/>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02920" y="3703320"/>
            <a:ext cx="5394960" cy="41148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成分波（分けて考えた波）</a:t>
            </a:r>
          </a:p>
        </p:txBody>
      </p:sp>
      <p:sp>
        <p:nvSpPr>
          <p:cNvPr id="4" name="Freeform 3"/>
          <p:cNvSpPr/>
          <p:nvPr/>
        </p:nvSpPr>
        <p:spPr>
          <a:xfrm>
            <a:off x="548640" y="4179086"/>
            <a:ext cx="4846320" cy="1261594"/>
          </a:xfrm>
          <a:custGeom>
            <a:avLst/>
            <a:gdLst/>
            <a:ahLst/>
            <a:cxnLst/>
            <a:rect l="l" t="t" r="r" b="b"/>
            <a:pathLst>
              <a:path w="4846320" h="1261594">
                <a:moveTo>
                  <a:pt x="0" y="1217292"/>
                </a:moveTo>
                <a:lnTo>
                  <a:pt x="28508" y="1208728"/>
                </a:lnTo>
                <a:lnTo>
                  <a:pt x="57016" y="1198811"/>
                </a:lnTo>
                <a:lnTo>
                  <a:pt x="85523" y="1187389"/>
                </a:lnTo>
                <a:lnTo>
                  <a:pt x="114031" y="1174308"/>
                </a:lnTo>
                <a:lnTo>
                  <a:pt x="142539" y="1159412"/>
                </a:lnTo>
                <a:lnTo>
                  <a:pt x="171047" y="1142546"/>
                </a:lnTo>
                <a:lnTo>
                  <a:pt x="199554" y="1123558"/>
                </a:lnTo>
                <a:lnTo>
                  <a:pt x="228062" y="1102306"/>
                </a:lnTo>
                <a:lnTo>
                  <a:pt x="256570" y="1078661"/>
                </a:lnTo>
                <a:lnTo>
                  <a:pt x="285078" y="1052509"/>
                </a:lnTo>
                <a:lnTo>
                  <a:pt x="313585" y="1023761"/>
                </a:lnTo>
                <a:lnTo>
                  <a:pt x="342093" y="992352"/>
                </a:lnTo>
                <a:lnTo>
                  <a:pt x="370601" y="958252"/>
                </a:lnTo>
                <a:lnTo>
                  <a:pt x="399109" y="921465"/>
                </a:lnTo>
                <a:lnTo>
                  <a:pt x="427616" y="882040"/>
                </a:lnTo>
                <a:lnTo>
                  <a:pt x="456124" y="840068"/>
                </a:lnTo>
                <a:lnTo>
                  <a:pt x="484632" y="795692"/>
                </a:lnTo>
                <a:lnTo>
                  <a:pt x="513140" y="749104"/>
                </a:lnTo>
                <a:lnTo>
                  <a:pt x="541648" y="700552"/>
                </a:lnTo>
                <a:lnTo>
                  <a:pt x="570155" y="650333"/>
                </a:lnTo>
                <a:lnTo>
                  <a:pt x="598663" y="598802"/>
                </a:lnTo>
                <a:lnTo>
                  <a:pt x="627171" y="546360"/>
                </a:lnTo>
                <a:lnTo>
                  <a:pt x="655679" y="493456"/>
                </a:lnTo>
                <a:lnTo>
                  <a:pt x="684186" y="440581"/>
                </a:lnTo>
                <a:lnTo>
                  <a:pt x="712694" y="388258"/>
                </a:lnTo>
                <a:lnTo>
                  <a:pt x="741202" y="337040"/>
                </a:lnTo>
                <a:lnTo>
                  <a:pt x="769710" y="287494"/>
                </a:lnTo>
                <a:lnTo>
                  <a:pt x="798217" y="240196"/>
                </a:lnTo>
                <a:lnTo>
                  <a:pt x="826725" y="195719"/>
                </a:lnTo>
                <a:lnTo>
                  <a:pt x="855233" y="154619"/>
                </a:lnTo>
                <a:lnTo>
                  <a:pt x="883741" y="117428"/>
                </a:lnTo>
                <a:lnTo>
                  <a:pt x="912248" y="84637"/>
                </a:lnTo>
                <a:lnTo>
                  <a:pt x="940756" y="56690"/>
                </a:lnTo>
                <a:lnTo>
                  <a:pt x="969264" y="33973"/>
                </a:lnTo>
                <a:lnTo>
                  <a:pt x="997772" y="16804"/>
                </a:lnTo>
                <a:lnTo>
                  <a:pt x="1026280" y="5426"/>
                </a:lnTo>
                <a:lnTo>
                  <a:pt x="1054787" y="0"/>
                </a:lnTo>
                <a:lnTo>
                  <a:pt x="1083295" y="604"/>
                </a:lnTo>
                <a:lnTo>
                  <a:pt x="1111803" y="7229"/>
                </a:lnTo>
                <a:lnTo>
                  <a:pt x="1140311" y="19782"/>
                </a:lnTo>
                <a:lnTo>
                  <a:pt x="1168818" y="38082"/>
                </a:lnTo>
                <a:lnTo>
                  <a:pt x="1197326" y="61872"/>
                </a:lnTo>
                <a:lnTo>
                  <a:pt x="1225834" y="90821"/>
                </a:lnTo>
                <a:lnTo>
                  <a:pt x="1254342" y="124529"/>
                </a:lnTo>
                <a:lnTo>
                  <a:pt x="1282849" y="162543"/>
                </a:lnTo>
                <a:lnTo>
                  <a:pt x="1311357" y="204362"/>
                </a:lnTo>
                <a:lnTo>
                  <a:pt x="1339865" y="249448"/>
                </a:lnTo>
                <a:lnTo>
                  <a:pt x="1368373" y="297242"/>
                </a:lnTo>
                <a:lnTo>
                  <a:pt x="1396880" y="347168"/>
                </a:lnTo>
                <a:lnTo>
                  <a:pt x="1425388" y="398653"/>
                </a:lnTo>
                <a:lnTo>
                  <a:pt x="1453896" y="451129"/>
                </a:lnTo>
                <a:lnTo>
                  <a:pt x="1482404" y="504051"/>
                </a:lnTo>
                <a:lnTo>
                  <a:pt x="1510912" y="556900"/>
                </a:lnTo>
                <a:lnTo>
                  <a:pt x="1539419" y="609195"/>
                </a:lnTo>
                <a:lnTo>
                  <a:pt x="1567927" y="660494"/>
                </a:lnTo>
                <a:lnTo>
                  <a:pt x="1596435" y="710406"/>
                </a:lnTo>
                <a:lnTo>
                  <a:pt x="1624943" y="758588"/>
                </a:lnTo>
                <a:lnTo>
                  <a:pt x="1653450" y="804751"/>
                </a:lnTo>
                <a:lnTo>
                  <a:pt x="1681958" y="848660"/>
                </a:lnTo>
                <a:lnTo>
                  <a:pt x="1710466" y="890133"/>
                </a:lnTo>
                <a:lnTo>
                  <a:pt x="1738974" y="929036"/>
                </a:lnTo>
                <a:lnTo>
                  <a:pt x="1767481" y="965288"/>
                </a:lnTo>
                <a:lnTo>
                  <a:pt x="1795989" y="998849"/>
                </a:lnTo>
                <a:lnTo>
                  <a:pt x="1824497" y="1029722"/>
                </a:lnTo>
                <a:lnTo>
                  <a:pt x="1853005" y="1057945"/>
                </a:lnTo>
                <a:lnTo>
                  <a:pt x="1881512" y="1083587"/>
                </a:lnTo>
                <a:lnTo>
                  <a:pt x="1910020" y="1106744"/>
                </a:lnTo>
                <a:lnTo>
                  <a:pt x="1938528" y="1127532"/>
                </a:lnTo>
                <a:lnTo>
                  <a:pt x="1967036" y="1146084"/>
                </a:lnTo>
                <a:lnTo>
                  <a:pt x="1995544" y="1162544"/>
                </a:lnTo>
                <a:lnTo>
                  <a:pt x="2024051" y="1177065"/>
                </a:lnTo>
                <a:lnTo>
                  <a:pt x="2052559" y="1189801"/>
                </a:lnTo>
                <a:lnTo>
                  <a:pt x="2081067" y="1200910"/>
                </a:lnTo>
                <a:lnTo>
                  <a:pt x="2109575" y="1210545"/>
                </a:lnTo>
                <a:lnTo>
                  <a:pt x="2138082" y="1218855"/>
                </a:lnTo>
                <a:lnTo>
                  <a:pt x="2166590" y="1225983"/>
                </a:lnTo>
                <a:lnTo>
                  <a:pt x="2195098" y="1232065"/>
                </a:lnTo>
                <a:lnTo>
                  <a:pt x="2223606" y="1237224"/>
                </a:lnTo>
                <a:lnTo>
                  <a:pt x="2252113" y="1241579"/>
                </a:lnTo>
                <a:lnTo>
                  <a:pt x="2280621" y="1245233"/>
                </a:lnTo>
                <a:lnTo>
                  <a:pt x="2309129" y="1248285"/>
                </a:lnTo>
                <a:lnTo>
                  <a:pt x="2337637" y="1250819"/>
                </a:lnTo>
                <a:lnTo>
                  <a:pt x="2366144" y="1252912"/>
                </a:lnTo>
                <a:lnTo>
                  <a:pt x="2394652" y="1254632"/>
                </a:lnTo>
                <a:lnTo>
                  <a:pt x="2423160" y="1256038"/>
                </a:lnTo>
                <a:lnTo>
                  <a:pt x="2451668" y="1257181"/>
                </a:lnTo>
                <a:lnTo>
                  <a:pt x="2480176" y="1258106"/>
                </a:lnTo>
                <a:lnTo>
                  <a:pt x="2508683" y="1258850"/>
                </a:lnTo>
                <a:lnTo>
                  <a:pt x="2537191" y="1259446"/>
                </a:lnTo>
                <a:lnTo>
                  <a:pt x="2565699" y="1259920"/>
                </a:lnTo>
                <a:lnTo>
                  <a:pt x="2594207" y="1260296"/>
                </a:lnTo>
                <a:lnTo>
                  <a:pt x="2622714" y="1260592"/>
                </a:lnTo>
                <a:lnTo>
                  <a:pt x="2651222" y="1260825"/>
                </a:lnTo>
                <a:lnTo>
                  <a:pt x="2679730" y="1261006"/>
                </a:lnTo>
                <a:lnTo>
                  <a:pt x="2708238" y="1261147"/>
                </a:lnTo>
                <a:lnTo>
                  <a:pt x="2736745" y="1261255"/>
                </a:lnTo>
                <a:lnTo>
                  <a:pt x="2765253" y="1261339"/>
                </a:lnTo>
                <a:lnTo>
                  <a:pt x="2793761" y="1261403"/>
                </a:lnTo>
                <a:lnTo>
                  <a:pt x="2822269" y="1261451"/>
                </a:lnTo>
                <a:lnTo>
                  <a:pt x="2850776" y="1261488"/>
                </a:lnTo>
                <a:lnTo>
                  <a:pt x="2879284" y="1261516"/>
                </a:lnTo>
                <a:lnTo>
                  <a:pt x="2907792" y="1261536"/>
                </a:lnTo>
                <a:lnTo>
                  <a:pt x="2936300" y="1261552"/>
                </a:lnTo>
                <a:lnTo>
                  <a:pt x="2964808" y="1261563"/>
                </a:lnTo>
                <a:lnTo>
                  <a:pt x="2993315" y="1261572"/>
                </a:lnTo>
                <a:lnTo>
                  <a:pt x="3021823" y="1261578"/>
                </a:lnTo>
                <a:lnTo>
                  <a:pt x="3050331" y="1261582"/>
                </a:lnTo>
                <a:lnTo>
                  <a:pt x="3078839" y="1261586"/>
                </a:lnTo>
                <a:lnTo>
                  <a:pt x="3107346" y="1261588"/>
                </a:lnTo>
                <a:lnTo>
                  <a:pt x="3135854" y="1261590"/>
                </a:lnTo>
                <a:lnTo>
                  <a:pt x="3164362" y="1261591"/>
                </a:lnTo>
                <a:lnTo>
                  <a:pt x="3192870" y="1261592"/>
                </a:lnTo>
                <a:lnTo>
                  <a:pt x="3221377" y="1261593"/>
                </a:lnTo>
                <a:lnTo>
                  <a:pt x="3249885" y="1261593"/>
                </a:lnTo>
                <a:lnTo>
                  <a:pt x="3278393" y="1261593"/>
                </a:lnTo>
                <a:lnTo>
                  <a:pt x="3306901" y="1261594"/>
                </a:lnTo>
                <a:lnTo>
                  <a:pt x="3335408" y="1261594"/>
                </a:lnTo>
                <a:lnTo>
                  <a:pt x="3363916" y="1261594"/>
                </a:lnTo>
                <a:lnTo>
                  <a:pt x="3392424" y="1261594"/>
                </a:lnTo>
                <a:lnTo>
                  <a:pt x="3420932" y="1261594"/>
                </a:lnTo>
                <a:lnTo>
                  <a:pt x="3449440" y="1261594"/>
                </a:lnTo>
                <a:lnTo>
                  <a:pt x="3477947" y="1261594"/>
                </a:lnTo>
                <a:lnTo>
                  <a:pt x="3506455" y="1261594"/>
                </a:lnTo>
                <a:lnTo>
                  <a:pt x="3534963" y="1261594"/>
                </a:lnTo>
                <a:lnTo>
                  <a:pt x="3563471" y="1261594"/>
                </a:lnTo>
                <a:lnTo>
                  <a:pt x="3591978" y="1261594"/>
                </a:lnTo>
                <a:lnTo>
                  <a:pt x="3620486" y="1261594"/>
                </a:lnTo>
                <a:lnTo>
                  <a:pt x="3648994" y="1261594"/>
                </a:lnTo>
                <a:lnTo>
                  <a:pt x="3677502" y="1261594"/>
                </a:lnTo>
                <a:lnTo>
                  <a:pt x="3706009" y="1261594"/>
                </a:lnTo>
                <a:lnTo>
                  <a:pt x="3734517" y="1261594"/>
                </a:lnTo>
                <a:lnTo>
                  <a:pt x="3763025" y="1261594"/>
                </a:lnTo>
                <a:lnTo>
                  <a:pt x="3791533" y="1261594"/>
                </a:lnTo>
                <a:lnTo>
                  <a:pt x="3820040" y="1261594"/>
                </a:lnTo>
                <a:lnTo>
                  <a:pt x="3848548" y="1261594"/>
                </a:lnTo>
                <a:lnTo>
                  <a:pt x="3877056" y="1261594"/>
                </a:lnTo>
                <a:lnTo>
                  <a:pt x="3905564" y="1261594"/>
                </a:lnTo>
                <a:lnTo>
                  <a:pt x="3934072" y="1261594"/>
                </a:lnTo>
                <a:lnTo>
                  <a:pt x="3962579" y="1261594"/>
                </a:lnTo>
                <a:lnTo>
                  <a:pt x="3991087" y="1261594"/>
                </a:lnTo>
                <a:lnTo>
                  <a:pt x="4019595" y="1261594"/>
                </a:lnTo>
                <a:lnTo>
                  <a:pt x="4048103" y="1261594"/>
                </a:lnTo>
                <a:lnTo>
                  <a:pt x="4076610" y="1261594"/>
                </a:lnTo>
                <a:lnTo>
                  <a:pt x="4105118" y="1261594"/>
                </a:lnTo>
                <a:lnTo>
                  <a:pt x="4133626" y="1261594"/>
                </a:lnTo>
                <a:lnTo>
                  <a:pt x="4162134" y="1261594"/>
                </a:lnTo>
                <a:lnTo>
                  <a:pt x="4190641" y="1261594"/>
                </a:lnTo>
                <a:lnTo>
                  <a:pt x="4219149" y="1261594"/>
                </a:lnTo>
                <a:lnTo>
                  <a:pt x="4247657" y="1261594"/>
                </a:lnTo>
                <a:lnTo>
                  <a:pt x="4276165" y="1261594"/>
                </a:lnTo>
                <a:lnTo>
                  <a:pt x="4304672" y="1261594"/>
                </a:lnTo>
                <a:lnTo>
                  <a:pt x="4333180" y="1261594"/>
                </a:lnTo>
                <a:lnTo>
                  <a:pt x="4361688" y="1261594"/>
                </a:lnTo>
                <a:lnTo>
                  <a:pt x="4390196" y="1261594"/>
                </a:lnTo>
                <a:lnTo>
                  <a:pt x="4418704" y="1261594"/>
                </a:lnTo>
                <a:lnTo>
                  <a:pt x="4447211" y="1261594"/>
                </a:lnTo>
                <a:lnTo>
                  <a:pt x="4475719" y="1261594"/>
                </a:lnTo>
                <a:lnTo>
                  <a:pt x="4504227" y="1261594"/>
                </a:lnTo>
                <a:lnTo>
                  <a:pt x="4532735" y="1261594"/>
                </a:lnTo>
                <a:lnTo>
                  <a:pt x="4561242" y="1261594"/>
                </a:lnTo>
                <a:lnTo>
                  <a:pt x="4589750" y="1261594"/>
                </a:lnTo>
                <a:lnTo>
                  <a:pt x="4618258" y="1261594"/>
                </a:lnTo>
                <a:lnTo>
                  <a:pt x="4646766" y="1261594"/>
                </a:lnTo>
                <a:lnTo>
                  <a:pt x="4675273" y="1261594"/>
                </a:lnTo>
                <a:lnTo>
                  <a:pt x="4703781" y="1261594"/>
                </a:lnTo>
                <a:lnTo>
                  <a:pt x="4732289" y="1261594"/>
                </a:lnTo>
                <a:lnTo>
                  <a:pt x="4760797" y="1261594"/>
                </a:lnTo>
                <a:lnTo>
                  <a:pt x="4789304" y="1261594"/>
                </a:lnTo>
                <a:lnTo>
                  <a:pt x="4817812" y="1261594"/>
                </a:lnTo>
                <a:lnTo>
                  <a:pt x="4846320" y="1261594"/>
                </a:lnTo>
              </a:path>
            </a:pathLst>
          </a:custGeom>
          <a:noFill/>
          <a:ln w="317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p:cNvSpPr/>
          <p:nvPr/>
        </p:nvSpPr>
        <p:spPr>
          <a:xfrm>
            <a:off x="548640" y="4860285"/>
            <a:ext cx="4846320" cy="580359"/>
          </a:xfrm>
          <a:custGeom>
            <a:avLst/>
            <a:gdLst/>
            <a:ahLst/>
            <a:cxnLst/>
            <a:rect l="l" t="t" r="r" b="b"/>
            <a:pathLst>
              <a:path w="4846320" h="580359">
                <a:moveTo>
                  <a:pt x="0" y="580359"/>
                </a:moveTo>
                <a:lnTo>
                  <a:pt x="28508" y="580350"/>
                </a:lnTo>
                <a:lnTo>
                  <a:pt x="57016" y="580340"/>
                </a:lnTo>
                <a:lnTo>
                  <a:pt x="85523" y="580328"/>
                </a:lnTo>
                <a:lnTo>
                  <a:pt x="114031" y="580313"/>
                </a:lnTo>
                <a:lnTo>
                  <a:pt x="142539" y="580296"/>
                </a:lnTo>
                <a:lnTo>
                  <a:pt x="171047" y="580274"/>
                </a:lnTo>
                <a:lnTo>
                  <a:pt x="199554" y="580249"/>
                </a:lnTo>
                <a:lnTo>
                  <a:pt x="228062" y="580218"/>
                </a:lnTo>
                <a:lnTo>
                  <a:pt x="256570" y="580181"/>
                </a:lnTo>
                <a:lnTo>
                  <a:pt x="285078" y="580137"/>
                </a:lnTo>
                <a:lnTo>
                  <a:pt x="313585" y="580085"/>
                </a:lnTo>
                <a:lnTo>
                  <a:pt x="342093" y="580024"/>
                </a:lnTo>
                <a:lnTo>
                  <a:pt x="370601" y="579951"/>
                </a:lnTo>
                <a:lnTo>
                  <a:pt x="399109" y="579865"/>
                </a:lnTo>
                <a:lnTo>
                  <a:pt x="427616" y="579763"/>
                </a:lnTo>
                <a:lnTo>
                  <a:pt x="456124" y="579644"/>
                </a:lnTo>
                <a:lnTo>
                  <a:pt x="484632" y="579505"/>
                </a:lnTo>
                <a:lnTo>
                  <a:pt x="513140" y="579341"/>
                </a:lnTo>
                <a:lnTo>
                  <a:pt x="541648" y="579151"/>
                </a:lnTo>
                <a:lnTo>
                  <a:pt x="570155" y="578929"/>
                </a:lnTo>
                <a:lnTo>
                  <a:pt x="598663" y="578672"/>
                </a:lnTo>
                <a:lnTo>
                  <a:pt x="627171" y="578374"/>
                </a:lnTo>
                <a:lnTo>
                  <a:pt x="655679" y="578030"/>
                </a:lnTo>
                <a:lnTo>
                  <a:pt x="684186" y="577634"/>
                </a:lnTo>
                <a:lnTo>
                  <a:pt x="712694" y="577178"/>
                </a:lnTo>
                <a:lnTo>
                  <a:pt x="741202" y="576655"/>
                </a:lnTo>
                <a:lnTo>
                  <a:pt x="769710" y="576057"/>
                </a:lnTo>
                <a:lnTo>
                  <a:pt x="798217" y="575374"/>
                </a:lnTo>
                <a:lnTo>
                  <a:pt x="826725" y="574597"/>
                </a:lnTo>
                <a:lnTo>
                  <a:pt x="855233" y="573714"/>
                </a:lnTo>
                <a:lnTo>
                  <a:pt x="883741" y="572714"/>
                </a:lnTo>
                <a:lnTo>
                  <a:pt x="912248" y="571584"/>
                </a:lnTo>
                <a:lnTo>
                  <a:pt x="940756" y="570309"/>
                </a:lnTo>
                <a:lnTo>
                  <a:pt x="969264" y="568876"/>
                </a:lnTo>
                <a:lnTo>
                  <a:pt x="997772" y="567268"/>
                </a:lnTo>
                <a:lnTo>
                  <a:pt x="1026280" y="565469"/>
                </a:lnTo>
                <a:lnTo>
                  <a:pt x="1054787" y="563461"/>
                </a:lnTo>
                <a:lnTo>
                  <a:pt x="1083295" y="561225"/>
                </a:lnTo>
                <a:lnTo>
                  <a:pt x="1111803" y="558742"/>
                </a:lnTo>
                <a:lnTo>
                  <a:pt x="1140311" y="555992"/>
                </a:lnTo>
                <a:lnTo>
                  <a:pt x="1168818" y="552953"/>
                </a:lnTo>
                <a:lnTo>
                  <a:pt x="1197326" y="549604"/>
                </a:lnTo>
                <a:lnTo>
                  <a:pt x="1225834" y="545922"/>
                </a:lnTo>
                <a:lnTo>
                  <a:pt x="1254342" y="541885"/>
                </a:lnTo>
                <a:lnTo>
                  <a:pt x="1282849" y="537472"/>
                </a:lnTo>
                <a:lnTo>
                  <a:pt x="1311357" y="532658"/>
                </a:lnTo>
                <a:lnTo>
                  <a:pt x="1339865" y="527421"/>
                </a:lnTo>
                <a:lnTo>
                  <a:pt x="1368373" y="521740"/>
                </a:lnTo>
                <a:lnTo>
                  <a:pt x="1396880" y="515594"/>
                </a:lnTo>
                <a:lnTo>
                  <a:pt x="1425388" y="508962"/>
                </a:lnTo>
                <a:lnTo>
                  <a:pt x="1453896" y="501825"/>
                </a:lnTo>
                <a:lnTo>
                  <a:pt x="1482404" y="494167"/>
                </a:lnTo>
                <a:lnTo>
                  <a:pt x="1510912" y="485971"/>
                </a:lnTo>
                <a:lnTo>
                  <a:pt x="1539419" y="477225"/>
                </a:lnTo>
                <a:lnTo>
                  <a:pt x="1567927" y="467919"/>
                </a:lnTo>
                <a:lnTo>
                  <a:pt x="1596435" y="458044"/>
                </a:lnTo>
                <a:lnTo>
                  <a:pt x="1624943" y="447597"/>
                </a:lnTo>
                <a:lnTo>
                  <a:pt x="1653450" y="436576"/>
                </a:lnTo>
                <a:lnTo>
                  <a:pt x="1681958" y="424986"/>
                </a:lnTo>
                <a:lnTo>
                  <a:pt x="1710466" y="412833"/>
                </a:lnTo>
                <a:lnTo>
                  <a:pt x="1738974" y="400129"/>
                </a:lnTo>
                <a:lnTo>
                  <a:pt x="1767481" y="386890"/>
                </a:lnTo>
                <a:lnTo>
                  <a:pt x="1795989" y="373140"/>
                </a:lnTo>
                <a:lnTo>
                  <a:pt x="1824497" y="358903"/>
                </a:lnTo>
                <a:lnTo>
                  <a:pt x="1853005" y="344212"/>
                </a:lnTo>
                <a:lnTo>
                  <a:pt x="1881512" y="329103"/>
                </a:lnTo>
                <a:lnTo>
                  <a:pt x="1910020" y="313619"/>
                </a:lnTo>
                <a:lnTo>
                  <a:pt x="1938528" y="297808"/>
                </a:lnTo>
                <a:lnTo>
                  <a:pt x="1967036" y="281722"/>
                </a:lnTo>
                <a:lnTo>
                  <a:pt x="1995544" y="265418"/>
                </a:lnTo>
                <a:lnTo>
                  <a:pt x="2024051" y="248960"/>
                </a:lnTo>
                <a:lnTo>
                  <a:pt x="2052559" y="232413"/>
                </a:lnTo>
                <a:lnTo>
                  <a:pt x="2081067" y="215847"/>
                </a:lnTo>
                <a:lnTo>
                  <a:pt x="2109575" y="199338"/>
                </a:lnTo>
                <a:lnTo>
                  <a:pt x="2138082" y="182963"/>
                </a:lnTo>
                <a:lnTo>
                  <a:pt x="2166590" y="166801"/>
                </a:lnTo>
                <a:lnTo>
                  <a:pt x="2195098" y="150933"/>
                </a:lnTo>
                <a:lnTo>
                  <a:pt x="2223606" y="135444"/>
                </a:lnTo>
                <a:lnTo>
                  <a:pt x="2252113" y="120415"/>
                </a:lnTo>
                <a:lnTo>
                  <a:pt x="2280621" y="105931"/>
                </a:lnTo>
                <a:lnTo>
                  <a:pt x="2309129" y="92073"/>
                </a:lnTo>
                <a:lnTo>
                  <a:pt x="2337637" y="78922"/>
                </a:lnTo>
                <a:lnTo>
                  <a:pt x="2366144" y="66556"/>
                </a:lnTo>
                <a:lnTo>
                  <a:pt x="2394652" y="55050"/>
                </a:lnTo>
                <a:lnTo>
                  <a:pt x="2423160" y="44474"/>
                </a:lnTo>
                <a:lnTo>
                  <a:pt x="2451668" y="34895"/>
                </a:lnTo>
                <a:lnTo>
                  <a:pt x="2480176" y="26373"/>
                </a:lnTo>
                <a:lnTo>
                  <a:pt x="2508683" y="18963"/>
                </a:lnTo>
                <a:lnTo>
                  <a:pt x="2537191" y="12712"/>
                </a:lnTo>
                <a:lnTo>
                  <a:pt x="2565699" y="7661"/>
                </a:lnTo>
                <a:lnTo>
                  <a:pt x="2594207" y="3843"/>
                </a:lnTo>
                <a:lnTo>
                  <a:pt x="2622714" y="1284"/>
                </a:lnTo>
                <a:lnTo>
                  <a:pt x="2651222" y="0"/>
                </a:lnTo>
                <a:lnTo>
                  <a:pt x="2679730" y="0"/>
                </a:lnTo>
                <a:lnTo>
                  <a:pt x="2708238" y="1284"/>
                </a:lnTo>
                <a:lnTo>
                  <a:pt x="2736745" y="3843"/>
                </a:lnTo>
                <a:lnTo>
                  <a:pt x="2765253" y="7661"/>
                </a:lnTo>
                <a:lnTo>
                  <a:pt x="2793761" y="12712"/>
                </a:lnTo>
                <a:lnTo>
                  <a:pt x="2822269" y="18963"/>
                </a:lnTo>
                <a:lnTo>
                  <a:pt x="2850776" y="26373"/>
                </a:lnTo>
                <a:lnTo>
                  <a:pt x="2879284" y="34895"/>
                </a:lnTo>
                <a:lnTo>
                  <a:pt x="2907792" y="44474"/>
                </a:lnTo>
                <a:lnTo>
                  <a:pt x="2936300" y="55050"/>
                </a:lnTo>
                <a:lnTo>
                  <a:pt x="2964808" y="66556"/>
                </a:lnTo>
                <a:lnTo>
                  <a:pt x="2993315" y="78922"/>
                </a:lnTo>
                <a:lnTo>
                  <a:pt x="3021823" y="92073"/>
                </a:lnTo>
                <a:lnTo>
                  <a:pt x="3050331" y="105931"/>
                </a:lnTo>
                <a:lnTo>
                  <a:pt x="3078839" y="120415"/>
                </a:lnTo>
                <a:lnTo>
                  <a:pt x="3107346" y="135444"/>
                </a:lnTo>
                <a:lnTo>
                  <a:pt x="3135854" y="150933"/>
                </a:lnTo>
                <a:lnTo>
                  <a:pt x="3164362" y="166801"/>
                </a:lnTo>
                <a:lnTo>
                  <a:pt x="3192870" y="182963"/>
                </a:lnTo>
                <a:lnTo>
                  <a:pt x="3221377" y="199338"/>
                </a:lnTo>
                <a:lnTo>
                  <a:pt x="3249885" y="215847"/>
                </a:lnTo>
                <a:lnTo>
                  <a:pt x="3278393" y="232413"/>
                </a:lnTo>
                <a:lnTo>
                  <a:pt x="3306901" y="248960"/>
                </a:lnTo>
                <a:lnTo>
                  <a:pt x="3335408" y="265418"/>
                </a:lnTo>
                <a:lnTo>
                  <a:pt x="3363916" y="281722"/>
                </a:lnTo>
                <a:lnTo>
                  <a:pt x="3392424" y="297808"/>
                </a:lnTo>
                <a:lnTo>
                  <a:pt x="3420932" y="313619"/>
                </a:lnTo>
                <a:lnTo>
                  <a:pt x="3449440" y="329103"/>
                </a:lnTo>
                <a:lnTo>
                  <a:pt x="3477947" y="344212"/>
                </a:lnTo>
                <a:lnTo>
                  <a:pt x="3506455" y="358903"/>
                </a:lnTo>
                <a:lnTo>
                  <a:pt x="3534963" y="373140"/>
                </a:lnTo>
                <a:lnTo>
                  <a:pt x="3563471" y="386890"/>
                </a:lnTo>
                <a:lnTo>
                  <a:pt x="3591978" y="400129"/>
                </a:lnTo>
                <a:lnTo>
                  <a:pt x="3620486" y="412833"/>
                </a:lnTo>
                <a:lnTo>
                  <a:pt x="3648994" y="424986"/>
                </a:lnTo>
                <a:lnTo>
                  <a:pt x="3677502" y="436576"/>
                </a:lnTo>
                <a:lnTo>
                  <a:pt x="3706009" y="447597"/>
                </a:lnTo>
                <a:lnTo>
                  <a:pt x="3734517" y="458044"/>
                </a:lnTo>
                <a:lnTo>
                  <a:pt x="3763025" y="467919"/>
                </a:lnTo>
                <a:lnTo>
                  <a:pt x="3791533" y="477225"/>
                </a:lnTo>
                <a:lnTo>
                  <a:pt x="3820040" y="485971"/>
                </a:lnTo>
                <a:lnTo>
                  <a:pt x="3848548" y="494167"/>
                </a:lnTo>
                <a:lnTo>
                  <a:pt x="3877056" y="501825"/>
                </a:lnTo>
                <a:lnTo>
                  <a:pt x="3905564" y="508962"/>
                </a:lnTo>
                <a:lnTo>
                  <a:pt x="3934072" y="515594"/>
                </a:lnTo>
                <a:lnTo>
                  <a:pt x="3962579" y="521740"/>
                </a:lnTo>
                <a:lnTo>
                  <a:pt x="3991087" y="527421"/>
                </a:lnTo>
                <a:lnTo>
                  <a:pt x="4019595" y="532658"/>
                </a:lnTo>
                <a:lnTo>
                  <a:pt x="4048103" y="537472"/>
                </a:lnTo>
                <a:lnTo>
                  <a:pt x="4076610" y="541885"/>
                </a:lnTo>
                <a:lnTo>
                  <a:pt x="4105118" y="545922"/>
                </a:lnTo>
                <a:lnTo>
                  <a:pt x="4133626" y="549604"/>
                </a:lnTo>
                <a:lnTo>
                  <a:pt x="4162134" y="552953"/>
                </a:lnTo>
                <a:lnTo>
                  <a:pt x="4190641" y="555992"/>
                </a:lnTo>
                <a:lnTo>
                  <a:pt x="4219149" y="558742"/>
                </a:lnTo>
                <a:lnTo>
                  <a:pt x="4247657" y="561225"/>
                </a:lnTo>
                <a:lnTo>
                  <a:pt x="4276165" y="563461"/>
                </a:lnTo>
                <a:lnTo>
                  <a:pt x="4304672" y="565469"/>
                </a:lnTo>
                <a:lnTo>
                  <a:pt x="4333180" y="567268"/>
                </a:lnTo>
                <a:lnTo>
                  <a:pt x="4361688" y="568876"/>
                </a:lnTo>
                <a:lnTo>
                  <a:pt x="4390196" y="570309"/>
                </a:lnTo>
                <a:lnTo>
                  <a:pt x="4418704" y="571584"/>
                </a:lnTo>
                <a:lnTo>
                  <a:pt x="4447211" y="572714"/>
                </a:lnTo>
                <a:lnTo>
                  <a:pt x="4475719" y="573714"/>
                </a:lnTo>
                <a:lnTo>
                  <a:pt x="4504227" y="574597"/>
                </a:lnTo>
                <a:lnTo>
                  <a:pt x="4532735" y="575374"/>
                </a:lnTo>
                <a:lnTo>
                  <a:pt x="4561242" y="576057"/>
                </a:lnTo>
                <a:lnTo>
                  <a:pt x="4589750" y="576655"/>
                </a:lnTo>
                <a:lnTo>
                  <a:pt x="4618258" y="577178"/>
                </a:lnTo>
                <a:lnTo>
                  <a:pt x="4646766" y="577634"/>
                </a:lnTo>
                <a:lnTo>
                  <a:pt x="4675273" y="578030"/>
                </a:lnTo>
                <a:lnTo>
                  <a:pt x="4703781" y="578374"/>
                </a:lnTo>
                <a:lnTo>
                  <a:pt x="4732289" y="578672"/>
                </a:lnTo>
                <a:lnTo>
                  <a:pt x="4760797" y="578929"/>
                </a:lnTo>
                <a:lnTo>
                  <a:pt x="4789304" y="579151"/>
                </a:lnTo>
                <a:lnTo>
                  <a:pt x="4817812" y="579341"/>
                </a:lnTo>
                <a:lnTo>
                  <a:pt x="4846320" y="579505"/>
                </a:lnTo>
              </a:path>
            </a:pathLst>
          </a:custGeom>
          <a:noFill/>
          <a:ln w="3175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p:cNvCxnSpPr/>
          <p:nvPr/>
        </p:nvCxnSpPr>
        <p:spPr>
          <a:xfrm>
            <a:off x="548640" y="5458968"/>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48640" y="5559552"/>
            <a:ext cx="2377440" cy="411480"/>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第1成分波</a:t>
            </a:r>
          </a:p>
        </p:txBody>
      </p:sp>
      <p:sp>
        <p:nvSpPr>
          <p:cNvPr id="35" name="TextBox 34"/>
          <p:cNvSpPr txBox="1"/>
          <p:nvPr/>
        </p:nvSpPr>
        <p:spPr>
          <a:xfrm>
            <a:off x="3017520" y="5559552"/>
            <a:ext cx="2377440" cy="411480"/>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第2成分波</a:t>
            </a:r>
          </a:p>
        </p:txBody>
      </p:sp>
      <p:sp>
        <p:nvSpPr>
          <p:cNvPr id="36" name="Rounded Rectangle 35"/>
          <p:cNvSpPr/>
          <p:nvPr/>
        </p:nvSpPr>
        <p:spPr>
          <a:xfrm>
            <a:off x="6126480" y="1737360"/>
            <a:ext cx="5623560" cy="1078992"/>
          </a:xfrm>
          <a:prstGeom prst="roundRect">
            <a:avLst/>
          </a:prstGeom>
          <a:solidFill>
            <a:srgbClr val="F2F2F2"/>
          </a:solidFill>
          <a:ln w="285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6309360" y="1847088"/>
            <a:ext cx="5257800" cy="384048"/>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合成波</a:t>
            </a:r>
          </a:p>
        </p:txBody>
      </p:sp>
      <p:sp>
        <p:nvSpPr>
          <p:cNvPr id="38" name="TextBox 37"/>
          <p:cNvSpPr txBox="1"/>
          <p:nvPr/>
        </p:nvSpPr>
        <p:spPr>
          <a:xfrm>
            <a:off x="6309360" y="230428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実際に記録された 1 拍の波形</a:t>
            </a:r>
          </a:p>
        </p:txBody>
      </p:sp>
      <p:sp>
        <p:nvSpPr>
          <p:cNvPr id="39" name="Rounded Rectangle 38"/>
          <p:cNvSpPr/>
          <p:nvPr/>
        </p:nvSpPr>
        <p:spPr>
          <a:xfrm>
            <a:off x="6126480" y="2926080"/>
            <a:ext cx="5623560" cy="1078992"/>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6309360" y="3035808"/>
            <a:ext cx="5257800" cy="384048"/>
          </a:xfrm>
          <a:prstGeom prst="rect">
            <a:avLst/>
          </a:prstGeom>
          <a:noFill/>
        </p:spPr>
        <p:txBody>
          <a:bodyPr wrap="square" lIns="0" tIns="0" rIns="0" bIns="0" anchor="t">
            <a:spAutoFit/>
          </a:bodyPr>
          <a:lstStyle/>
          <a:p>
            <a:pPr algn="l"/>
            <a:r>
              <a:rPr sz="2400" b="1">
                <a:solidFill>
                  <a:srgbClr val="0072B2"/>
                </a:solidFill>
                <a:latin typeface="Meiryo"/>
                <a:ea typeface="Meiryo"/>
                <a:cs typeface="Meiryo"/>
              </a:rPr>
              <a:t>成分波</a:t>
            </a:r>
          </a:p>
        </p:txBody>
      </p:sp>
      <p:sp>
        <p:nvSpPr>
          <p:cNvPr id="41" name="TextBox 40"/>
          <p:cNvSpPr txBox="1"/>
          <p:nvPr/>
        </p:nvSpPr>
        <p:spPr>
          <a:xfrm>
            <a:off x="6309360" y="349300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合成波を作っているとみなす個々の波</a:t>
            </a:r>
          </a:p>
        </p:txBody>
      </p:sp>
      <p:sp>
        <p:nvSpPr>
          <p:cNvPr id="42" name="Rounded Rectangle 41"/>
          <p:cNvSpPr/>
          <p:nvPr/>
        </p:nvSpPr>
        <p:spPr>
          <a:xfrm>
            <a:off x="6126480" y="4114800"/>
            <a:ext cx="5623560" cy="1078992"/>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6309360" y="4224528"/>
            <a:ext cx="5257800" cy="384048"/>
          </a:xfrm>
          <a:prstGeom prst="rect">
            <a:avLst/>
          </a:prstGeom>
          <a:noFill/>
        </p:spPr>
        <p:txBody>
          <a:bodyPr wrap="square" lIns="0" tIns="0" rIns="0" bIns="0" anchor="t">
            <a:spAutoFit/>
          </a:bodyPr>
          <a:lstStyle/>
          <a:p>
            <a:pPr algn="l"/>
            <a:r>
              <a:rPr sz="2400" b="1">
                <a:solidFill>
                  <a:srgbClr val="00A8AA"/>
                </a:solidFill>
                <a:latin typeface="Meiryo"/>
                <a:ea typeface="Meiryo"/>
                <a:cs typeface="Meiryo"/>
              </a:rPr>
              <a:t>基底関数</a:t>
            </a:r>
          </a:p>
        </p:txBody>
      </p:sp>
      <p:sp>
        <p:nvSpPr>
          <p:cNvPr id="44" name="TextBox 43"/>
          <p:cNvSpPr txBox="1"/>
          <p:nvPr/>
        </p:nvSpPr>
        <p:spPr>
          <a:xfrm>
            <a:off x="6309360" y="468172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成分波の形を表す数式のひな型</a:t>
            </a:r>
          </a:p>
        </p:txBody>
      </p:sp>
      <p:sp>
        <p:nvSpPr>
          <p:cNvPr id="45" name="Rounded Rectangle 44"/>
          <p:cNvSpPr/>
          <p:nvPr/>
        </p:nvSpPr>
        <p:spPr>
          <a:xfrm>
            <a:off x="6126480" y="5303520"/>
            <a:ext cx="5623560" cy="96012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6291072" y="5477256"/>
            <a:ext cx="5294376" cy="640080"/>
          </a:xfrm>
          <a:prstGeom prst="rect">
            <a:avLst/>
          </a:prstGeom>
          <a:noFill/>
        </p:spPr>
        <p:txBody>
          <a:bodyPr wrap="square" lIns="0" tIns="0" rIns="0" bIns="0" anchor="t">
            <a:spAutoFit/>
          </a:bodyPr>
          <a:lstStyle/>
          <a:p>
            <a:pPr algn="ctr">
              <a:spcAft>
                <a:spcPts val="300"/>
              </a:spcAft>
            </a:pPr>
            <a:r>
              <a:rPr sz="2300" b="1">
                <a:solidFill>
                  <a:srgbClr val="262626"/>
                </a:solidFill>
                <a:latin typeface="Meiryo"/>
                <a:ea typeface="Meiryo"/>
                <a:cs typeface="Meiryo"/>
              </a:rPr>
              <a:t>第1成分波 ＝ 前進波</a:t>
            </a:r>
          </a:p>
          <a:p>
            <a:pPr algn="ctr">
              <a:spcAft>
                <a:spcPts val="300"/>
              </a:spcAft>
            </a:pPr>
            <a:r>
              <a:rPr sz="2300" b="1">
                <a:solidFill>
                  <a:srgbClr val="262626"/>
                </a:solidFill>
                <a:latin typeface="Meiryo"/>
                <a:ea typeface="Meiryo"/>
                <a:cs typeface="Meiryo"/>
              </a:rPr>
              <a:t>第2成分波 ＝ 反射波 とみなす</a:t>
            </a:r>
          </a:p>
        </p:txBody>
      </p:sp>
      <p:sp>
        <p:nvSpPr>
          <p:cNvPr id="4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49/72</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5.2  基底関数とは</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　／　43. Tigges 2017</a:t>
            </a:r>
          </a:p>
        </p:txBody>
      </p:sp>
      <p:sp>
        <p:nvSpPr>
          <p:cNvPr id="30" name="Rounded Rectangle 29"/>
          <p:cNvSpPr/>
          <p:nvPr/>
        </p:nvSpPr>
        <p:spPr>
          <a:xfrm>
            <a:off x="502920" y="1719072"/>
            <a:ext cx="11201400" cy="118872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85800" y="1920240"/>
            <a:ext cx="10835640" cy="822960"/>
          </a:xfrm>
          <a:prstGeom prst="rect">
            <a:avLst/>
          </a:prstGeom>
          <a:noFill/>
        </p:spPr>
        <p:txBody>
          <a:bodyPr wrap="square" lIns="0" tIns="0" rIns="0" bIns="0" anchor="t">
            <a:spAutoFit/>
          </a:bodyPr>
          <a:lstStyle/>
          <a:p>
            <a:pPr algn="ctr">
              <a:spcAft>
                <a:spcPts val="400"/>
              </a:spcAft>
            </a:pPr>
            <a:r>
              <a:rPr sz="2500" b="1">
                <a:solidFill>
                  <a:srgbClr val="262626"/>
                </a:solidFill>
                <a:latin typeface="Meiryo"/>
                <a:ea typeface="Meiryo"/>
                <a:cs typeface="Meiryo"/>
              </a:rPr>
              <a:t>基底関数 ＝ 成分波の形を表す </a:t>
            </a:r>
            <a:r>
              <a:rPr sz="2500" b="1">
                <a:solidFill>
                  <a:srgbClr val="BF9000"/>
                </a:solidFill>
                <a:latin typeface="Meiryo"/>
                <a:ea typeface="Meiryo"/>
                <a:cs typeface="Meiryo"/>
              </a:rPr>
              <a:t>数式のひな型</a:t>
            </a:r>
          </a:p>
          <a:p>
            <a:pPr algn="ctr">
              <a:spcAft>
                <a:spcPts val="400"/>
              </a:spcAft>
            </a:pPr>
            <a:r>
              <a:rPr sz="2300" b="1">
                <a:solidFill>
                  <a:srgbClr val="262626"/>
                </a:solidFill>
                <a:latin typeface="Meiryo"/>
                <a:ea typeface="Meiryo"/>
                <a:cs typeface="Meiryo"/>
              </a:rPr>
              <a:t>1本の成分波は 高さ・位置・幅 の3つの数字で決まる</a:t>
            </a:r>
          </a:p>
        </p:txBody>
      </p:sp>
      <p:sp>
        <p:nvSpPr>
          <p:cNvPr id="32" name="Rounded Rectangle 31"/>
          <p:cNvSpPr/>
          <p:nvPr/>
        </p:nvSpPr>
        <p:spPr>
          <a:xfrm>
            <a:off x="502920" y="3127248"/>
            <a:ext cx="3529584" cy="17830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640080" y="3310128"/>
            <a:ext cx="3255264" cy="45720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高さ  a</a:t>
            </a:r>
          </a:p>
        </p:txBody>
      </p:sp>
      <p:sp>
        <p:nvSpPr>
          <p:cNvPr id="34" name="TextBox 33"/>
          <p:cNvSpPr txBox="1"/>
          <p:nvPr/>
        </p:nvSpPr>
        <p:spPr>
          <a:xfrm>
            <a:off x="640080" y="3840480"/>
            <a:ext cx="3255264" cy="411480"/>
          </a:xfrm>
          <a:prstGeom prst="rect">
            <a:avLst/>
          </a:prstGeom>
          <a:noFill/>
        </p:spPr>
        <p:txBody>
          <a:bodyPr wrap="square" lIns="0" tIns="0" rIns="0" bIns="0" anchor="t">
            <a:spAutoFit/>
          </a:bodyPr>
          <a:lstStyle/>
          <a:p>
            <a:pPr algn="ctr"/>
            <a:r>
              <a:rPr sz="2300" b="1">
                <a:solidFill>
                  <a:srgbClr val="0072B2"/>
                </a:solidFill>
                <a:latin typeface="Meiryo"/>
                <a:ea typeface="Meiryo"/>
                <a:cs typeface="Meiryo"/>
              </a:rPr>
              <a:t>振幅</a:t>
            </a:r>
          </a:p>
        </p:txBody>
      </p:sp>
      <p:sp>
        <p:nvSpPr>
          <p:cNvPr id="35" name="TextBox 34"/>
          <p:cNvSpPr txBox="1"/>
          <p:nvPr/>
        </p:nvSpPr>
        <p:spPr>
          <a:xfrm>
            <a:off x="594360" y="4315968"/>
            <a:ext cx="3346704" cy="411480"/>
          </a:xfrm>
          <a:prstGeom prst="rect">
            <a:avLst/>
          </a:prstGeom>
          <a:noFill/>
        </p:spPr>
        <p:txBody>
          <a:bodyPr wrap="square" lIns="0" tIns="0" rIns="0" bIns="0" anchor="t">
            <a:spAutoFit/>
          </a:bodyPr>
          <a:lstStyle/>
          <a:p>
            <a:pPr algn="ctr"/>
            <a:r>
              <a:rPr sz="2200" b="0">
                <a:solidFill>
                  <a:srgbClr val="262626"/>
                </a:solidFill>
                <a:latin typeface="Meiryo"/>
                <a:ea typeface="Meiryo"/>
                <a:cs typeface="Meiryo"/>
              </a:rPr>
              <a:t>どれだけ大きいか</a:t>
            </a:r>
          </a:p>
        </p:txBody>
      </p:sp>
      <p:sp>
        <p:nvSpPr>
          <p:cNvPr id="36" name="Rounded Rectangle 35"/>
          <p:cNvSpPr/>
          <p:nvPr/>
        </p:nvSpPr>
        <p:spPr>
          <a:xfrm>
            <a:off x="4306824" y="3127248"/>
            <a:ext cx="3529584" cy="178308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4443984" y="3310128"/>
            <a:ext cx="3255264" cy="457200"/>
          </a:xfrm>
          <a:prstGeom prst="rect">
            <a:avLst/>
          </a:prstGeom>
          <a:noFill/>
        </p:spPr>
        <p:txBody>
          <a:bodyPr wrap="square" lIns="0" tIns="0" rIns="0" bIns="0" anchor="t">
            <a:spAutoFit/>
          </a:bodyPr>
          <a:lstStyle/>
          <a:p>
            <a:pPr algn="ctr"/>
            <a:r>
              <a:rPr sz="2700" b="1">
                <a:solidFill>
                  <a:srgbClr val="D55E00"/>
                </a:solidFill>
                <a:latin typeface="Meiryo"/>
                <a:ea typeface="Meiryo"/>
                <a:cs typeface="Meiryo"/>
              </a:rPr>
              <a:t>位置  μ</a:t>
            </a:r>
          </a:p>
        </p:txBody>
      </p:sp>
      <p:sp>
        <p:nvSpPr>
          <p:cNvPr id="38" name="TextBox 37"/>
          <p:cNvSpPr txBox="1"/>
          <p:nvPr/>
        </p:nvSpPr>
        <p:spPr>
          <a:xfrm>
            <a:off x="4443984" y="3840480"/>
            <a:ext cx="3255264" cy="411480"/>
          </a:xfrm>
          <a:prstGeom prst="rect">
            <a:avLst/>
          </a:prstGeom>
          <a:noFill/>
        </p:spPr>
        <p:txBody>
          <a:bodyPr wrap="square" lIns="0" tIns="0" rIns="0" bIns="0" anchor="t">
            <a:spAutoFit/>
          </a:bodyPr>
          <a:lstStyle/>
          <a:p>
            <a:pPr algn="ctr"/>
            <a:r>
              <a:rPr sz="2300" b="1">
                <a:solidFill>
                  <a:srgbClr val="D55E00"/>
                </a:solidFill>
                <a:latin typeface="Meiryo"/>
                <a:ea typeface="Meiryo"/>
                <a:cs typeface="Meiryo"/>
              </a:rPr>
              <a:t>時刻</a:t>
            </a:r>
          </a:p>
        </p:txBody>
      </p:sp>
      <p:sp>
        <p:nvSpPr>
          <p:cNvPr id="39" name="TextBox 38"/>
          <p:cNvSpPr txBox="1"/>
          <p:nvPr/>
        </p:nvSpPr>
        <p:spPr>
          <a:xfrm>
            <a:off x="4398264" y="4315968"/>
            <a:ext cx="3346704" cy="411480"/>
          </a:xfrm>
          <a:prstGeom prst="rect">
            <a:avLst/>
          </a:prstGeom>
          <a:noFill/>
        </p:spPr>
        <p:txBody>
          <a:bodyPr wrap="square" lIns="0" tIns="0" rIns="0" bIns="0" anchor="t">
            <a:spAutoFit/>
          </a:bodyPr>
          <a:lstStyle/>
          <a:p>
            <a:pPr algn="ctr"/>
            <a:r>
              <a:rPr sz="2200" b="0">
                <a:solidFill>
                  <a:srgbClr val="262626"/>
                </a:solidFill>
                <a:latin typeface="Meiryo"/>
                <a:ea typeface="Meiryo"/>
                <a:cs typeface="Meiryo"/>
              </a:rPr>
              <a:t>いつ頂点が来るか</a:t>
            </a:r>
          </a:p>
        </p:txBody>
      </p:sp>
      <p:sp>
        <p:nvSpPr>
          <p:cNvPr id="40" name="Rounded Rectangle 39"/>
          <p:cNvSpPr/>
          <p:nvPr/>
        </p:nvSpPr>
        <p:spPr>
          <a:xfrm>
            <a:off x="8110728" y="3127248"/>
            <a:ext cx="3529584" cy="17830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8247888" y="3310128"/>
            <a:ext cx="3255264" cy="45720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幅  σ</a:t>
            </a:r>
          </a:p>
        </p:txBody>
      </p:sp>
      <p:sp>
        <p:nvSpPr>
          <p:cNvPr id="42" name="TextBox 41"/>
          <p:cNvSpPr txBox="1"/>
          <p:nvPr/>
        </p:nvSpPr>
        <p:spPr>
          <a:xfrm>
            <a:off x="8247888" y="3840480"/>
            <a:ext cx="3255264" cy="411480"/>
          </a:xfrm>
          <a:prstGeom prst="rect">
            <a:avLst/>
          </a:prstGeom>
          <a:noFill/>
        </p:spPr>
        <p:txBody>
          <a:bodyPr wrap="square" lIns="0" tIns="0" rIns="0" bIns="0" anchor="t">
            <a:spAutoFit/>
          </a:bodyPr>
          <a:lstStyle/>
          <a:p>
            <a:pPr algn="ctr"/>
            <a:r>
              <a:rPr sz="2300" b="1">
                <a:solidFill>
                  <a:srgbClr val="00A8AA"/>
                </a:solidFill>
                <a:latin typeface="Meiryo"/>
                <a:ea typeface="Meiryo"/>
                <a:cs typeface="Meiryo"/>
              </a:rPr>
              <a:t>広がり</a:t>
            </a:r>
          </a:p>
        </p:txBody>
      </p:sp>
      <p:sp>
        <p:nvSpPr>
          <p:cNvPr id="43" name="TextBox 42"/>
          <p:cNvSpPr txBox="1"/>
          <p:nvPr/>
        </p:nvSpPr>
        <p:spPr>
          <a:xfrm>
            <a:off x="8202168" y="4315968"/>
            <a:ext cx="3346704" cy="411480"/>
          </a:xfrm>
          <a:prstGeom prst="rect">
            <a:avLst/>
          </a:prstGeom>
          <a:noFill/>
        </p:spPr>
        <p:txBody>
          <a:bodyPr wrap="square" lIns="0" tIns="0" rIns="0" bIns="0" anchor="t">
            <a:spAutoFit/>
          </a:bodyPr>
          <a:lstStyle/>
          <a:p>
            <a:pPr algn="ctr"/>
            <a:r>
              <a:rPr sz="2200" b="0">
                <a:solidFill>
                  <a:srgbClr val="262626"/>
                </a:solidFill>
                <a:latin typeface="Meiryo"/>
                <a:ea typeface="Meiryo"/>
                <a:cs typeface="Meiryo"/>
              </a:rPr>
              <a:t>どれだけ長く続くか</a:t>
            </a:r>
          </a:p>
        </p:txBody>
      </p:sp>
      <p:sp>
        <p:nvSpPr>
          <p:cNvPr id="44" name="Rounded Rectangle 43"/>
          <p:cNvSpPr/>
          <p:nvPr/>
        </p:nvSpPr>
        <p:spPr>
          <a:xfrm>
            <a:off x="502920" y="5138928"/>
            <a:ext cx="11201400" cy="100584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685800" y="5340096"/>
            <a:ext cx="10835640" cy="640080"/>
          </a:xfrm>
          <a:prstGeom prst="rect">
            <a:avLst/>
          </a:prstGeom>
          <a:noFill/>
        </p:spPr>
        <p:txBody>
          <a:bodyPr wrap="square" lIns="0" tIns="0" rIns="0" bIns="0" anchor="t">
            <a:spAutoFit/>
          </a:bodyPr>
          <a:lstStyle/>
          <a:p>
            <a:pPr algn="ctr">
              <a:spcAft>
                <a:spcPts val="300"/>
              </a:spcAft>
            </a:pPr>
            <a:r>
              <a:rPr sz="2400" b="1">
                <a:solidFill>
                  <a:srgbClr val="262626"/>
                </a:solidFill>
                <a:latin typeface="Meiryo"/>
                <a:ea typeface="Meiryo"/>
                <a:cs typeface="Meiryo"/>
              </a:rPr>
              <a:t>合成波 ≒ 成分波1 ＋ 成分波2 ＋ …</a:t>
            </a:r>
          </a:p>
          <a:p>
            <a:pPr algn="ctr">
              <a:spcAft>
                <a:spcPts val="300"/>
              </a:spcAft>
            </a:pPr>
            <a:r>
              <a:rPr sz="2400" b="1">
                <a:solidFill>
                  <a:srgbClr val="262626"/>
                </a:solidFill>
                <a:latin typeface="Meiryo"/>
                <a:ea typeface="Meiryo"/>
                <a:cs typeface="Meiryo"/>
              </a:rPr>
              <a:t>点を探すのではなく、この足し算が実測に一番合う数字を探す</a:t>
            </a:r>
          </a:p>
        </p:txBody>
      </p:sp>
      <p:sp>
        <p:nvSpPr>
          <p:cNvPr id="4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50/72</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5.2  基底関数の形</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　／　43. Tigges 2017　／　44. Basso 2024</a:t>
            </a:r>
          </a:p>
        </p:txBody>
      </p:sp>
      <p:sp>
        <p:nvSpPr>
          <p:cNvPr id="18" name="TextBox 17"/>
          <p:cNvSpPr txBox="1"/>
          <p:nvPr/>
        </p:nvSpPr>
        <p:spPr>
          <a:xfrm>
            <a:off x="548640" y="1737360"/>
            <a:ext cx="3383280" cy="541553"/>
          </a:xfrm>
          <a:prstGeom prst="rect">
            <a:avLst/>
          </a:prstGeom>
          <a:noFill/>
        </p:spPr>
        <p:txBody>
          <a:bodyPr wrap="square" lIns="0" tIns="0" rIns="0" bIns="0" anchor="t">
            <a:spAutoFit/>
          </a:bodyPr>
          <a:lstStyle/>
          <a:p>
            <a:pPr algn="ctr"/>
            <a:r>
              <a:rPr sz="2500" b="1">
                <a:solidFill>
                  <a:srgbClr val="0072B2"/>
                </a:solidFill>
                <a:latin typeface="Meiryo"/>
                <a:ea typeface="Meiryo"/>
                <a:cs typeface="Meiryo"/>
              </a:rPr>
              <a:t>Gaussian</a:t>
            </a:r>
          </a:p>
        </p:txBody>
      </p:sp>
      <p:sp>
        <p:nvSpPr>
          <p:cNvPr id="3" name="Freeform 2"/>
          <p:cNvSpPr/>
          <p:nvPr/>
        </p:nvSpPr>
        <p:spPr>
          <a:xfrm>
            <a:off x="777240" y="2212848"/>
            <a:ext cx="2926080" cy="1320754"/>
          </a:xfrm>
          <a:custGeom>
            <a:avLst/>
            <a:gdLst/>
            <a:ahLst/>
            <a:cxnLst/>
            <a:rect l="l" t="t" r="r" b="b"/>
            <a:pathLst>
              <a:path w="2926080" h="1320754">
                <a:moveTo>
                  <a:pt x="0" y="1320754"/>
                </a:moveTo>
                <a:lnTo>
                  <a:pt x="20901" y="1319879"/>
                </a:lnTo>
                <a:lnTo>
                  <a:pt x="41801" y="1318871"/>
                </a:lnTo>
                <a:lnTo>
                  <a:pt x="62702" y="1317712"/>
                </a:lnTo>
                <a:lnTo>
                  <a:pt x="83602" y="1316382"/>
                </a:lnTo>
                <a:lnTo>
                  <a:pt x="104503" y="1314861"/>
                </a:lnTo>
                <a:lnTo>
                  <a:pt x="125403" y="1313126"/>
                </a:lnTo>
                <a:lnTo>
                  <a:pt x="146304" y="1311151"/>
                </a:lnTo>
                <a:lnTo>
                  <a:pt x="167205" y="1308908"/>
                </a:lnTo>
                <a:lnTo>
                  <a:pt x="188105" y="1306368"/>
                </a:lnTo>
                <a:lnTo>
                  <a:pt x="209006" y="1303499"/>
                </a:lnTo>
                <a:lnTo>
                  <a:pt x="229906" y="1300266"/>
                </a:lnTo>
                <a:lnTo>
                  <a:pt x="250807" y="1296633"/>
                </a:lnTo>
                <a:lnTo>
                  <a:pt x="271707" y="1292560"/>
                </a:lnTo>
                <a:lnTo>
                  <a:pt x="292608" y="1288006"/>
                </a:lnTo>
                <a:lnTo>
                  <a:pt x="313509" y="1282926"/>
                </a:lnTo>
                <a:lnTo>
                  <a:pt x="334409" y="1277276"/>
                </a:lnTo>
                <a:lnTo>
                  <a:pt x="355310" y="1271007"/>
                </a:lnTo>
                <a:lnTo>
                  <a:pt x="376210" y="1264070"/>
                </a:lnTo>
                <a:lnTo>
                  <a:pt x="397111" y="1256413"/>
                </a:lnTo>
                <a:lnTo>
                  <a:pt x="418011" y="1247985"/>
                </a:lnTo>
                <a:lnTo>
                  <a:pt x="438912" y="1238732"/>
                </a:lnTo>
                <a:lnTo>
                  <a:pt x="459813" y="1228601"/>
                </a:lnTo>
                <a:lnTo>
                  <a:pt x="480713" y="1217538"/>
                </a:lnTo>
                <a:lnTo>
                  <a:pt x="501614" y="1205490"/>
                </a:lnTo>
                <a:lnTo>
                  <a:pt x="522514" y="1192405"/>
                </a:lnTo>
                <a:lnTo>
                  <a:pt x="543415" y="1178234"/>
                </a:lnTo>
                <a:lnTo>
                  <a:pt x="564315" y="1162927"/>
                </a:lnTo>
                <a:lnTo>
                  <a:pt x="585216" y="1146442"/>
                </a:lnTo>
                <a:lnTo>
                  <a:pt x="606117" y="1128736"/>
                </a:lnTo>
                <a:lnTo>
                  <a:pt x="627017" y="1109773"/>
                </a:lnTo>
                <a:lnTo>
                  <a:pt x="647918" y="1089523"/>
                </a:lnTo>
                <a:lnTo>
                  <a:pt x="668818" y="1067962"/>
                </a:lnTo>
                <a:lnTo>
                  <a:pt x="689719" y="1045070"/>
                </a:lnTo>
                <a:lnTo>
                  <a:pt x="710619" y="1020840"/>
                </a:lnTo>
                <a:lnTo>
                  <a:pt x="731520" y="995269"/>
                </a:lnTo>
                <a:lnTo>
                  <a:pt x="752421" y="968366"/>
                </a:lnTo>
                <a:lnTo>
                  <a:pt x="773321" y="940150"/>
                </a:lnTo>
                <a:lnTo>
                  <a:pt x="794222" y="910649"/>
                </a:lnTo>
                <a:lnTo>
                  <a:pt x="815122" y="879905"/>
                </a:lnTo>
                <a:lnTo>
                  <a:pt x="836023" y="847969"/>
                </a:lnTo>
                <a:lnTo>
                  <a:pt x="856923" y="814907"/>
                </a:lnTo>
                <a:lnTo>
                  <a:pt x="877824" y="780794"/>
                </a:lnTo>
                <a:lnTo>
                  <a:pt x="898725" y="745722"/>
                </a:lnTo>
                <a:lnTo>
                  <a:pt x="919625" y="709791"/>
                </a:lnTo>
                <a:lnTo>
                  <a:pt x="940526" y="673117"/>
                </a:lnTo>
                <a:lnTo>
                  <a:pt x="961426" y="635826"/>
                </a:lnTo>
                <a:lnTo>
                  <a:pt x="982327" y="598057"/>
                </a:lnTo>
                <a:lnTo>
                  <a:pt x="1003227" y="559959"/>
                </a:lnTo>
                <a:lnTo>
                  <a:pt x="1024128" y="521693"/>
                </a:lnTo>
                <a:lnTo>
                  <a:pt x="1045029" y="483428"/>
                </a:lnTo>
                <a:lnTo>
                  <a:pt x="1065929" y="445341"/>
                </a:lnTo>
                <a:lnTo>
                  <a:pt x="1086830" y="407616"/>
                </a:lnTo>
                <a:lnTo>
                  <a:pt x="1107730" y="370444"/>
                </a:lnTo>
                <a:lnTo>
                  <a:pt x="1128631" y="334020"/>
                </a:lnTo>
                <a:lnTo>
                  <a:pt x="1149531" y="298539"/>
                </a:lnTo>
                <a:lnTo>
                  <a:pt x="1170432" y="264198"/>
                </a:lnTo>
                <a:lnTo>
                  <a:pt x="1191333" y="231195"/>
                </a:lnTo>
                <a:lnTo>
                  <a:pt x="1212233" y="199723"/>
                </a:lnTo>
                <a:lnTo>
                  <a:pt x="1233134" y="169970"/>
                </a:lnTo>
                <a:lnTo>
                  <a:pt x="1254034" y="142118"/>
                </a:lnTo>
                <a:lnTo>
                  <a:pt x="1274935" y="116341"/>
                </a:lnTo>
                <a:lnTo>
                  <a:pt x="1295835" y="92801"/>
                </a:lnTo>
                <a:lnTo>
                  <a:pt x="1316736" y="71651"/>
                </a:lnTo>
                <a:lnTo>
                  <a:pt x="1337637" y="53028"/>
                </a:lnTo>
                <a:lnTo>
                  <a:pt x="1358537" y="37054"/>
                </a:lnTo>
                <a:lnTo>
                  <a:pt x="1379438" y="23835"/>
                </a:lnTo>
                <a:lnTo>
                  <a:pt x="1400338" y="13461"/>
                </a:lnTo>
                <a:lnTo>
                  <a:pt x="1421239" y="5999"/>
                </a:lnTo>
                <a:lnTo>
                  <a:pt x="1442139" y="1502"/>
                </a:lnTo>
                <a:lnTo>
                  <a:pt x="1463040" y="0"/>
                </a:lnTo>
                <a:lnTo>
                  <a:pt x="1483941" y="1502"/>
                </a:lnTo>
                <a:lnTo>
                  <a:pt x="1504841" y="5999"/>
                </a:lnTo>
                <a:lnTo>
                  <a:pt x="1525742" y="13461"/>
                </a:lnTo>
                <a:lnTo>
                  <a:pt x="1546642" y="23835"/>
                </a:lnTo>
                <a:lnTo>
                  <a:pt x="1567543" y="37054"/>
                </a:lnTo>
                <a:lnTo>
                  <a:pt x="1588443" y="53028"/>
                </a:lnTo>
                <a:lnTo>
                  <a:pt x="1609344" y="71651"/>
                </a:lnTo>
                <a:lnTo>
                  <a:pt x="1630245" y="92801"/>
                </a:lnTo>
                <a:lnTo>
                  <a:pt x="1651145" y="116341"/>
                </a:lnTo>
                <a:lnTo>
                  <a:pt x="1672046" y="142118"/>
                </a:lnTo>
                <a:lnTo>
                  <a:pt x="1692946" y="169970"/>
                </a:lnTo>
                <a:lnTo>
                  <a:pt x="1713847" y="199723"/>
                </a:lnTo>
                <a:lnTo>
                  <a:pt x="1734747" y="231195"/>
                </a:lnTo>
                <a:lnTo>
                  <a:pt x="1755648" y="264198"/>
                </a:lnTo>
                <a:lnTo>
                  <a:pt x="1776549" y="298539"/>
                </a:lnTo>
                <a:lnTo>
                  <a:pt x="1797449" y="334020"/>
                </a:lnTo>
                <a:lnTo>
                  <a:pt x="1818350" y="370444"/>
                </a:lnTo>
                <a:lnTo>
                  <a:pt x="1839250" y="407616"/>
                </a:lnTo>
                <a:lnTo>
                  <a:pt x="1860151" y="445341"/>
                </a:lnTo>
                <a:lnTo>
                  <a:pt x="1881051" y="483428"/>
                </a:lnTo>
                <a:lnTo>
                  <a:pt x="1901952" y="521693"/>
                </a:lnTo>
                <a:lnTo>
                  <a:pt x="1922853" y="559959"/>
                </a:lnTo>
                <a:lnTo>
                  <a:pt x="1943753" y="598057"/>
                </a:lnTo>
                <a:lnTo>
                  <a:pt x="1964654" y="635826"/>
                </a:lnTo>
                <a:lnTo>
                  <a:pt x="1985554" y="673117"/>
                </a:lnTo>
                <a:lnTo>
                  <a:pt x="2006455" y="709791"/>
                </a:lnTo>
                <a:lnTo>
                  <a:pt x="2027355" y="745722"/>
                </a:lnTo>
                <a:lnTo>
                  <a:pt x="2048256" y="780794"/>
                </a:lnTo>
                <a:lnTo>
                  <a:pt x="2069157" y="814907"/>
                </a:lnTo>
                <a:lnTo>
                  <a:pt x="2090057" y="847969"/>
                </a:lnTo>
                <a:lnTo>
                  <a:pt x="2110958" y="879905"/>
                </a:lnTo>
                <a:lnTo>
                  <a:pt x="2131858" y="910649"/>
                </a:lnTo>
                <a:lnTo>
                  <a:pt x="2152759" y="940150"/>
                </a:lnTo>
                <a:lnTo>
                  <a:pt x="2173659" y="968366"/>
                </a:lnTo>
                <a:lnTo>
                  <a:pt x="2194560" y="995269"/>
                </a:lnTo>
                <a:lnTo>
                  <a:pt x="2215461" y="1020840"/>
                </a:lnTo>
                <a:lnTo>
                  <a:pt x="2236361" y="1045070"/>
                </a:lnTo>
                <a:lnTo>
                  <a:pt x="2257262" y="1067962"/>
                </a:lnTo>
                <a:lnTo>
                  <a:pt x="2278162" y="1089523"/>
                </a:lnTo>
                <a:lnTo>
                  <a:pt x="2299063" y="1109773"/>
                </a:lnTo>
                <a:lnTo>
                  <a:pt x="2319963" y="1128736"/>
                </a:lnTo>
                <a:lnTo>
                  <a:pt x="2340864" y="1146442"/>
                </a:lnTo>
                <a:lnTo>
                  <a:pt x="2361765" y="1162927"/>
                </a:lnTo>
                <a:lnTo>
                  <a:pt x="2382665" y="1178234"/>
                </a:lnTo>
                <a:lnTo>
                  <a:pt x="2403566" y="1192405"/>
                </a:lnTo>
                <a:lnTo>
                  <a:pt x="2424466" y="1205490"/>
                </a:lnTo>
                <a:lnTo>
                  <a:pt x="2445367" y="1217538"/>
                </a:lnTo>
                <a:lnTo>
                  <a:pt x="2466267" y="1228601"/>
                </a:lnTo>
                <a:lnTo>
                  <a:pt x="2487168" y="1238732"/>
                </a:lnTo>
                <a:lnTo>
                  <a:pt x="2508069" y="1247985"/>
                </a:lnTo>
                <a:lnTo>
                  <a:pt x="2528969" y="1256413"/>
                </a:lnTo>
                <a:lnTo>
                  <a:pt x="2549870" y="1264070"/>
                </a:lnTo>
                <a:lnTo>
                  <a:pt x="2570770" y="1271007"/>
                </a:lnTo>
                <a:lnTo>
                  <a:pt x="2591671" y="1277276"/>
                </a:lnTo>
                <a:lnTo>
                  <a:pt x="2612571" y="1282926"/>
                </a:lnTo>
                <a:lnTo>
                  <a:pt x="2633472" y="1288006"/>
                </a:lnTo>
                <a:lnTo>
                  <a:pt x="2654373" y="1292560"/>
                </a:lnTo>
                <a:lnTo>
                  <a:pt x="2675273" y="1296633"/>
                </a:lnTo>
                <a:lnTo>
                  <a:pt x="2696174" y="1300266"/>
                </a:lnTo>
                <a:lnTo>
                  <a:pt x="2717074" y="1303499"/>
                </a:lnTo>
                <a:lnTo>
                  <a:pt x="2737975" y="1306368"/>
                </a:lnTo>
                <a:lnTo>
                  <a:pt x="2758875" y="1308908"/>
                </a:lnTo>
                <a:lnTo>
                  <a:pt x="2779776" y="1311151"/>
                </a:lnTo>
                <a:lnTo>
                  <a:pt x="2800677" y="1313126"/>
                </a:lnTo>
                <a:lnTo>
                  <a:pt x="2821577" y="1314861"/>
                </a:lnTo>
                <a:lnTo>
                  <a:pt x="2842478" y="1316382"/>
                </a:lnTo>
                <a:lnTo>
                  <a:pt x="2863378" y="1317712"/>
                </a:lnTo>
                <a:lnTo>
                  <a:pt x="2884279" y="1318871"/>
                </a:lnTo>
                <a:lnTo>
                  <a:pt x="2905179" y="1319879"/>
                </a:lnTo>
                <a:lnTo>
                  <a:pt x="2926080" y="1320754"/>
                </a:lnTo>
              </a:path>
            </a:pathLst>
          </a:custGeom>
          <a:noFill/>
          <a:ln w="349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777240" y="3557016"/>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 y="3703320"/>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左右対称の釣鐘</a:t>
            </a:r>
          </a:p>
          <a:p>
            <a:pPr algn="ctr">
              <a:spcAft>
                <a:spcPts val="500"/>
              </a:spcAft>
            </a:pPr>
            <a:r>
              <a:rPr sz="2200" b="0">
                <a:solidFill>
                  <a:srgbClr val="262626"/>
                </a:solidFill>
                <a:latin typeface="Meiryo"/>
                <a:ea typeface="Meiryo"/>
                <a:cs typeface="Meiryo"/>
              </a:rPr>
              <a:t>扱いやすいが</a:t>
            </a:r>
          </a:p>
          <a:p>
            <a:pPr algn="ctr">
              <a:spcAft>
                <a:spcPts val="500"/>
              </a:spcAft>
            </a:pPr>
            <a:r>
              <a:rPr sz="2200" b="0">
                <a:solidFill>
                  <a:srgbClr val="262626"/>
                </a:solidFill>
                <a:latin typeface="Meiryo"/>
                <a:ea typeface="Meiryo"/>
                <a:cs typeface="Meiryo"/>
              </a:rPr>
              <a:t>実波形は非対称</a:t>
            </a:r>
          </a:p>
        </p:txBody>
      </p:sp>
      <p:sp>
        <p:nvSpPr>
          <p:cNvPr id="21" name="TextBox 20"/>
          <p:cNvSpPr txBox="1"/>
          <p:nvPr/>
        </p:nvSpPr>
        <p:spPr>
          <a:xfrm>
            <a:off x="4389120" y="1737360"/>
            <a:ext cx="3383280" cy="541553"/>
          </a:xfrm>
          <a:prstGeom prst="rect">
            <a:avLst/>
          </a:prstGeom>
          <a:noFill/>
        </p:spPr>
        <p:txBody>
          <a:bodyPr wrap="square" lIns="0" tIns="0" rIns="0" bIns="0" anchor="t">
            <a:spAutoFit/>
          </a:bodyPr>
          <a:lstStyle/>
          <a:p>
            <a:pPr algn="ctr"/>
            <a:r>
              <a:rPr sz="2500" b="1">
                <a:solidFill>
                  <a:srgbClr val="00A8AA"/>
                </a:solidFill>
                <a:latin typeface="Meiryo"/>
                <a:ea typeface="Meiryo"/>
                <a:cs typeface="Meiryo"/>
              </a:rPr>
              <a:t>Gamma</a:t>
            </a:r>
          </a:p>
        </p:txBody>
      </p:sp>
      <p:sp>
        <p:nvSpPr>
          <p:cNvPr id="4" name="Freeform 3"/>
          <p:cNvSpPr/>
          <p:nvPr/>
        </p:nvSpPr>
        <p:spPr>
          <a:xfrm>
            <a:off x="4617720" y="2212848"/>
            <a:ext cx="2926080" cy="1325880"/>
          </a:xfrm>
          <a:custGeom>
            <a:avLst/>
            <a:gdLst/>
            <a:ahLst/>
            <a:cxnLst/>
            <a:rect l="l" t="t" r="r" b="b"/>
            <a:pathLst>
              <a:path w="2926080" h="1325880">
                <a:moveTo>
                  <a:pt x="0" y="1325880"/>
                </a:moveTo>
                <a:lnTo>
                  <a:pt x="20901" y="1323901"/>
                </a:lnTo>
                <a:lnTo>
                  <a:pt x="41801" y="1317168"/>
                </a:lnTo>
                <a:lnTo>
                  <a:pt x="62702" y="1305513"/>
                </a:lnTo>
                <a:lnTo>
                  <a:pt x="83602" y="1289137"/>
                </a:lnTo>
                <a:lnTo>
                  <a:pt x="104503" y="1268367"/>
                </a:lnTo>
                <a:lnTo>
                  <a:pt x="125403" y="1243589"/>
                </a:lnTo>
                <a:lnTo>
                  <a:pt x="146304" y="1215212"/>
                </a:lnTo>
                <a:lnTo>
                  <a:pt x="167205" y="1183650"/>
                </a:lnTo>
                <a:lnTo>
                  <a:pt x="188105" y="1149311"/>
                </a:lnTo>
                <a:lnTo>
                  <a:pt x="209006" y="1112592"/>
                </a:lnTo>
                <a:lnTo>
                  <a:pt x="229906" y="1073870"/>
                </a:lnTo>
                <a:lnTo>
                  <a:pt x="250807" y="1033505"/>
                </a:lnTo>
                <a:lnTo>
                  <a:pt x="271707" y="991835"/>
                </a:lnTo>
                <a:lnTo>
                  <a:pt x="292608" y="949178"/>
                </a:lnTo>
                <a:lnTo>
                  <a:pt x="313509" y="905826"/>
                </a:lnTo>
                <a:lnTo>
                  <a:pt x="334409" y="862054"/>
                </a:lnTo>
                <a:lnTo>
                  <a:pt x="355310" y="818111"/>
                </a:lnTo>
                <a:lnTo>
                  <a:pt x="376210" y="774227"/>
                </a:lnTo>
                <a:lnTo>
                  <a:pt x="397111" y="730613"/>
                </a:lnTo>
                <a:lnTo>
                  <a:pt x="418011" y="687459"/>
                </a:lnTo>
                <a:lnTo>
                  <a:pt x="438912" y="644937"/>
                </a:lnTo>
                <a:lnTo>
                  <a:pt x="459813" y="603201"/>
                </a:lnTo>
                <a:lnTo>
                  <a:pt x="480713" y="562388"/>
                </a:lnTo>
                <a:lnTo>
                  <a:pt x="501614" y="522622"/>
                </a:lnTo>
                <a:lnTo>
                  <a:pt x="522514" y="484008"/>
                </a:lnTo>
                <a:lnTo>
                  <a:pt x="543415" y="446641"/>
                </a:lnTo>
                <a:lnTo>
                  <a:pt x="564315" y="410602"/>
                </a:lnTo>
                <a:lnTo>
                  <a:pt x="585216" y="375958"/>
                </a:lnTo>
                <a:lnTo>
                  <a:pt x="606117" y="342768"/>
                </a:lnTo>
                <a:lnTo>
                  <a:pt x="627017" y="311077"/>
                </a:lnTo>
                <a:lnTo>
                  <a:pt x="647918" y="280924"/>
                </a:lnTo>
                <a:lnTo>
                  <a:pt x="668818" y="252337"/>
                </a:lnTo>
                <a:lnTo>
                  <a:pt x="689719" y="225335"/>
                </a:lnTo>
                <a:lnTo>
                  <a:pt x="710619" y="199933"/>
                </a:lnTo>
                <a:lnTo>
                  <a:pt x="731520" y="176135"/>
                </a:lnTo>
                <a:lnTo>
                  <a:pt x="752421" y="153942"/>
                </a:lnTo>
                <a:lnTo>
                  <a:pt x="773321" y="133347"/>
                </a:lnTo>
                <a:lnTo>
                  <a:pt x="794222" y="114340"/>
                </a:lnTo>
                <a:lnTo>
                  <a:pt x="815122" y="96904"/>
                </a:lnTo>
                <a:lnTo>
                  <a:pt x="836023" y="81020"/>
                </a:lnTo>
                <a:lnTo>
                  <a:pt x="856923" y="66663"/>
                </a:lnTo>
                <a:lnTo>
                  <a:pt x="877824" y="53808"/>
                </a:lnTo>
                <a:lnTo>
                  <a:pt x="898725" y="42423"/>
                </a:lnTo>
                <a:lnTo>
                  <a:pt x="919625" y="32476"/>
                </a:lnTo>
                <a:lnTo>
                  <a:pt x="940526" y="23934"/>
                </a:lnTo>
                <a:lnTo>
                  <a:pt x="961426" y="16758"/>
                </a:lnTo>
                <a:lnTo>
                  <a:pt x="982327" y="10911"/>
                </a:lnTo>
                <a:lnTo>
                  <a:pt x="1003227" y="6353"/>
                </a:lnTo>
                <a:lnTo>
                  <a:pt x="1024128" y="3043"/>
                </a:lnTo>
                <a:lnTo>
                  <a:pt x="1045029" y="939"/>
                </a:lnTo>
                <a:lnTo>
                  <a:pt x="1065929" y="0"/>
                </a:lnTo>
                <a:lnTo>
                  <a:pt x="1086830" y="182"/>
                </a:lnTo>
                <a:lnTo>
                  <a:pt x="1107730" y="1442"/>
                </a:lnTo>
                <a:lnTo>
                  <a:pt x="1128631" y="3738"/>
                </a:lnTo>
                <a:lnTo>
                  <a:pt x="1149531" y="7024"/>
                </a:lnTo>
                <a:lnTo>
                  <a:pt x="1170432" y="11260"/>
                </a:lnTo>
                <a:lnTo>
                  <a:pt x="1191333" y="16400"/>
                </a:lnTo>
                <a:lnTo>
                  <a:pt x="1212233" y="22404"/>
                </a:lnTo>
                <a:lnTo>
                  <a:pt x="1233134" y="29228"/>
                </a:lnTo>
                <a:lnTo>
                  <a:pt x="1254034" y="36832"/>
                </a:lnTo>
                <a:lnTo>
                  <a:pt x="1274935" y="45175"/>
                </a:lnTo>
                <a:lnTo>
                  <a:pt x="1295835" y="54215"/>
                </a:lnTo>
                <a:lnTo>
                  <a:pt x="1316736" y="63914"/>
                </a:lnTo>
                <a:lnTo>
                  <a:pt x="1337637" y="74233"/>
                </a:lnTo>
                <a:lnTo>
                  <a:pt x="1358537" y="85135"/>
                </a:lnTo>
                <a:lnTo>
                  <a:pt x="1379438" y="96582"/>
                </a:lnTo>
                <a:lnTo>
                  <a:pt x="1400338" y="108538"/>
                </a:lnTo>
                <a:lnTo>
                  <a:pt x="1421239" y="120969"/>
                </a:lnTo>
                <a:lnTo>
                  <a:pt x="1442139" y="133840"/>
                </a:lnTo>
                <a:lnTo>
                  <a:pt x="1463040" y="147119"/>
                </a:lnTo>
                <a:lnTo>
                  <a:pt x="1483941" y="160773"/>
                </a:lnTo>
                <a:lnTo>
                  <a:pt x="1504841" y="174771"/>
                </a:lnTo>
                <a:lnTo>
                  <a:pt x="1525742" y="189084"/>
                </a:lnTo>
                <a:lnTo>
                  <a:pt x="1546642" y="203682"/>
                </a:lnTo>
                <a:lnTo>
                  <a:pt x="1567543" y="218538"/>
                </a:lnTo>
                <a:lnTo>
                  <a:pt x="1588443" y="233625"/>
                </a:lnTo>
                <a:lnTo>
                  <a:pt x="1609344" y="248916"/>
                </a:lnTo>
                <a:lnTo>
                  <a:pt x="1630245" y="264387"/>
                </a:lnTo>
                <a:lnTo>
                  <a:pt x="1651145" y="280014"/>
                </a:lnTo>
                <a:lnTo>
                  <a:pt x="1672046" y="295774"/>
                </a:lnTo>
                <a:lnTo>
                  <a:pt x="1692946" y="311646"/>
                </a:lnTo>
                <a:lnTo>
                  <a:pt x="1713847" y="327608"/>
                </a:lnTo>
                <a:lnTo>
                  <a:pt x="1734747" y="343640"/>
                </a:lnTo>
                <a:lnTo>
                  <a:pt x="1755648" y="359723"/>
                </a:lnTo>
                <a:lnTo>
                  <a:pt x="1776549" y="375839"/>
                </a:lnTo>
                <a:lnTo>
                  <a:pt x="1797449" y="391971"/>
                </a:lnTo>
                <a:lnTo>
                  <a:pt x="1818350" y="408102"/>
                </a:lnTo>
                <a:lnTo>
                  <a:pt x="1839250" y="424216"/>
                </a:lnTo>
                <a:lnTo>
                  <a:pt x="1860151" y="440299"/>
                </a:lnTo>
                <a:lnTo>
                  <a:pt x="1881051" y="456337"/>
                </a:lnTo>
                <a:lnTo>
                  <a:pt x="1901952" y="472316"/>
                </a:lnTo>
                <a:lnTo>
                  <a:pt x="1922853" y="488224"/>
                </a:lnTo>
                <a:lnTo>
                  <a:pt x="1943753" y="504050"/>
                </a:lnTo>
                <a:lnTo>
                  <a:pt x="1964654" y="519781"/>
                </a:lnTo>
                <a:lnTo>
                  <a:pt x="1985554" y="535408"/>
                </a:lnTo>
                <a:lnTo>
                  <a:pt x="2006455" y="550921"/>
                </a:lnTo>
                <a:lnTo>
                  <a:pt x="2027355" y="566311"/>
                </a:lnTo>
                <a:lnTo>
                  <a:pt x="2048256" y="581570"/>
                </a:lnTo>
                <a:lnTo>
                  <a:pt x="2069157" y="596689"/>
                </a:lnTo>
                <a:lnTo>
                  <a:pt x="2090057" y="611661"/>
                </a:lnTo>
                <a:lnTo>
                  <a:pt x="2110958" y="626480"/>
                </a:lnTo>
                <a:lnTo>
                  <a:pt x="2131858" y="641139"/>
                </a:lnTo>
                <a:lnTo>
                  <a:pt x="2152759" y="655632"/>
                </a:lnTo>
                <a:lnTo>
                  <a:pt x="2173659" y="669955"/>
                </a:lnTo>
                <a:lnTo>
                  <a:pt x="2194560" y="684102"/>
                </a:lnTo>
                <a:lnTo>
                  <a:pt x="2215461" y="698069"/>
                </a:lnTo>
                <a:lnTo>
                  <a:pt x="2236361" y="711853"/>
                </a:lnTo>
                <a:lnTo>
                  <a:pt x="2257262" y="725450"/>
                </a:lnTo>
                <a:lnTo>
                  <a:pt x="2278162" y="738856"/>
                </a:lnTo>
                <a:lnTo>
                  <a:pt x="2299063" y="752069"/>
                </a:lnTo>
                <a:lnTo>
                  <a:pt x="2319963" y="765086"/>
                </a:lnTo>
                <a:lnTo>
                  <a:pt x="2340864" y="777906"/>
                </a:lnTo>
                <a:lnTo>
                  <a:pt x="2361765" y="790527"/>
                </a:lnTo>
                <a:lnTo>
                  <a:pt x="2382665" y="802948"/>
                </a:lnTo>
                <a:lnTo>
                  <a:pt x="2403566" y="815166"/>
                </a:lnTo>
                <a:lnTo>
                  <a:pt x="2424466" y="827183"/>
                </a:lnTo>
                <a:lnTo>
                  <a:pt x="2445367" y="838996"/>
                </a:lnTo>
                <a:lnTo>
                  <a:pt x="2466267" y="850605"/>
                </a:lnTo>
                <a:lnTo>
                  <a:pt x="2487168" y="862011"/>
                </a:lnTo>
                <a:lnTo>
                  <a:pt x="2508069" y="873214"/>
                </a:lnTo>
                <a:lnTo>
                  <a:pt x="2528969" y="884214"/>
                </a:lnTo>
                <a:lnTo>
                  <a:pt x="2549870" y="895011"/>
                </a:lnTo>
                <a:lnTo>
                  <a:pt x="2570770" y="905606"/>
                </a:lnTo>
                <a:lnTo>
                  <a:pt x="2591671" y="916000"/>
                </a:lnTo>
                <a:lnTo>
                  <a:pt x="2612571" y="926195"/>
                </a:lnTo>
                <a:lnTo>
                  <a:pt x="2633472" y="936191"/>
                </a:lnTo>
                <a:lnTo>
                  <a:pt x="2654373" y="945989"/>
                </a:lnTo>
                <a:lnTo>
                  <a:pt x="2675273" y="955592"/>
                </a:lnTo>
                <a:lnTo>
                  <a:pt x="2696174" y="965000"/>
                </a:lnTo>
                <a:lnTo>
                  <a:pt x="2717074" y="974216"/>
                </a:lnTo>
                <a:lnTo>
                  <a:pt x="2737975" y="983241"/>
                </a:lnTo>
                <a:lnTo>
                  <a:pt x="2758875" y="992077"/>
                </a:lnTo>
                <a:lnTo>
                  <a:pt x="2779776" y="1000726"/>
                </a:lnTo>
                <a:lnTo>
                  <a:pt x="2800677" y="1009191"/>
                </a:lnTo>
                <a:lnTo>
                  <a:pt x="2821577" y="1017473"/>
                </a:lnTo>
                <a:lnTo>
                  <a:pt x="2842478" y="1025575"/>
                </a:lnTo>
                <a:lnTo>
                  <a:pt x="2863378" y="1033499"/>
                </a:lnTo>
                <a:lnTo>
                  <a:pt x="2884279" y="1041247"/>
                </a:lnTo>
                <a:lnTo>
                  <a:pt x="2905179" y="1048821"/>
                </a:lnTo>
                <a:lnTo>
                  <a:pt x="2926080" y="1056225"/>
                </a:lnTo>
              </a:path>
            </a:pathLst>
          </a:custGeom>
          <a:noFill/>
          <a:ln w="349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a:off x="4617720" y="3557016"/>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480560" y="3703320"/>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立ち上がりが急で</a:t>
            </a:r>
          </a:p>
          <a:p>
            <a:pPr algn="ctr">
              <a:spcAft>
                <a:spcPts val="500"/>
              </a:spcAft>
            </a:pPr>
            <a:r>
              <a:rPr sz="2200" b="0">
                <a:solidFill>
                  <a:srgbClr val="262626"/>
                </a:solidFill>
                <a:latin typeface="Meiryo"/>
                <a:ea typeface="Meiryo"/>
                <a:cs typeface="Meiryo"/>
              </a:rPr>
              <a:t>下りが緩やか</a:t>
            </a:r>
          </a:p>
          <a:p>
            <a:pPr algn="ctr">
              <a:spcAft>
                <a:spcPts val="500"/>
              </a:spcAft>
            </a:pPr>
            <a:r>
              <a:rPr sz="2200" b="0">
                <a:solidFill>
                  <a:srgbClr val="262626"/>
                </a:solidFill>
                <a:latin typeface="Meiryo"/>
                <a:ea typeface="Meiryo"/>
                <a:cs typeface="Meiryo"/>
              </a:rPr>
              <a:t>実波形に近い</a:t>
            </a:r>
          </a:p>
        </p:txBody>
      </p:sp>
      <p:sp>
        <p:nvSpPr>
          <p:cNvPr id="24" name="TextBox 23"/>
          <p:cNvSpPr txBox="1"/>
          <p:nvPr/>
        </p:nvSpPr>
        <p:spPr>
          <a:xfrm>
            <a:off x="8229600" y="1737360"/>
            <a:ext cx="3383280" cy="541553"/>
          </a:xfrm>
          <a:prstGeom prst="rect">
            <a:avLst/>
          </a:prstGeom>
          <a:noFill/>
        </p:spPr>
        <p:txBody>
          <a:bodyPr wrap="square" lIns="0" tIns="0" rIns="0" bIns="0" anchor="t">
            <a:spAutoFit/>
          </a:bodyPr>
          <a:lstStyle/>
          <a:p>
            <a:pPr algn="ctr"/>
            <a:r>
              <a:rPr sz="2500" b="1">
                <a:solidFill>
                  <a:srgbClr val="D55E00"/>
                </a:solidFill>
                <a:latin typeface="Meiryo"/>
                <a:ea typeface="Meiryo"/>
                <a:cs typeface="Meiryo"/>
              </a:rPr>
              <a:t>skewed-Gaussian</a:t>
            </a:r>
          </a:p>
        </p:txBody>
      </p:sp>
      <p:sp>
        <p:nvSpPr>
          <p:cNvPr id="5" name="Freeform 4"/>
          <p:cNvSpPr/>
          <p:nvPr/>
        </p:nvSpPr>
        <p:spPr>
          <a:xfrm>
            <a:off x="8458200" y="2212848"/>
            <a:ext cx="2926080" cy="1325879"/>
          </a:xfrm>
          <a:custGeom>
            <a:avLst/>
            <a:gdLst/>
            <a:ahLst/>
            <a:cxnLst/>
            <a:rect l="l" t="t" r="r" b="b"/>
            <a:pathLst>
              <a:path w="2926080" h="1325879">
                <a:moveTo>
                  <a:pt x="0" y="1325879"/>
                </a:moveTo>
                <a:lnTo>
                  <a:pt x="20901" y="1325879"/>
                </a:lnTo>
                <a:lnTo>
                  <a:pt x="41801" y="1325878"/>
                </a:lnTo>
                <a:lnTo>
                  <a:pt x="62702" y="1325877"/>
                </a:lnTo>
                <a:lnTo>
                  <a:pt x="83602" y="1325874"/>
                </a:lnTo>
                <a:lnTo>
                  <a:pt x="104503" y="1325870"/>
                </a:lnTo>
                <a:lnTo>
                  <a:pt x="125403" y="1325863"/>
                </a:lnTo>
                <a:lnTo>
                  <a:pt x="146304" y="1325852"/>
                </a:lnTo>
                <a:lnTo>
                  <a:pt x="167205" y="1325833"/>
                </a:lnTo>
                <a:lnTo>
                  <a:pt x="188105" y="1325802"/>
                </a:lnTo>
                <a:lnTo>
                  <a:pt x="209006" y="1325755"/>
                </a:lnTo>
                <a:lnTo>
                  <a:pt x="229906" y="1325680"/>
                </a:lnTo>
                <a:lnTo>
                  <a:pt x="250807" y="1325564"/>
                </a:lnTo>
                <a:lnTo>
                  <a:pt x="271707" y="1325389"/>
                </a:lnTo>
                <a:lnTo>
                  <a:pt x="292608" y="1325126"/>
                </a:lnTo>
                <a:lnTo>
                  <a:pt x="313509" y="1324738"/>
                </a:lnTo>
                <a:lnTo>
                  <a:pt x="334409" y="1324173"/>
                </a:lnTo>
                <a:lnTo>
                  <a:pt x="355310" y="1323361"/>
                </a:lnTo>
                <a:lnTo>
                  <a:pt x="376210" y="1322210"/>
                </a:lnTo>
                <a:lnTo>
                  <a:pt x="397111" y="1320603"/>
                </a:lnTo>
                <a:lnTo>
                  <a:pt x="418011" y="1318388"/>
                </a:lnTo>
                <a:lnTo>
                  <a:pt x="438912" y="1315380"/>
                </a:lnTo>
                <a:lnTo>
                  <a:pt x="459813" y="1311350"/>
                </a:lnTo>
                <a:lnTo>
                  <a:pt x="480713" y="1306028"/>
                </a:lnTo>
                <a:lnTo>
                  <a:pt x="501614" y="1299095"/>
                </a:lnTo>
                <a:lnTo>
                  <a:pt x="522514" y="1290192"/>
                </a:lnTo>
                <a:lnTo>
                  <a:pt x="543415" y="1278916"/>
                </a:lnTo>
                <a:lnTo>
                  <a:pt x="564315" y="1264837"/>
                </a:lnTo>
                <a:lnTo>
                  <a:pt x="585216" y="1247501"/>
                </a:lnTo>
                <a:lnTo>
                  <a:pt x="606117" y="1226456"/>
                </a:lnTo>
                <a:lnTo>
                  <a:pt x="627017" y="1201266"/>
                </a:lnTo>
                <a:lnTo>
                  <a:pt x="647918" y="1171538"/>
                </a:lnTo>
                <a:lnTo>
                  <a:pt x="668818" y="1136950"/>
                </a:lnTo>
                <a:lnTo>
                  <a:pt x="689719" y="1097277"/>
                </a:lnTo>
                <a:lnTo>
                  <a:pt x="710619" y="1052416"/>
                </a:lnTo>
                <a:lnTo>
                  <a:pt x="731520" y="1002412"/>
                </a:lnTo>
                <a:lnTo>
                  <a:pt x="752421" y="947475"/>
                </a:lnTo>
                <a:lnTo>
                  <a:pt x="773321" y="887988"/>
                </a:lnTo>
                <a:lnTo>
                  <a:pt x="794222" y="824512"/>
                </a:lnTo>
                <a:lnTo>
                  <a:pt x="815122" y="757776"/>
                </a:lnTo>
                <a:lnTo>
                  <a:pt x="836023" y="688655"/>
                </a:lnTo>
                <a:lnTo>
                  <a:pt x="856923" y="618149"/>
                </a:lnTo>
                <a:lnTo>
                  <a:pt x="877824" y="547338"/>
                </a:lnTo>
                <a:lnTo>
                  <a:pt x="898725" y="477347"/>
                </a:lnTo>
                <a:lnTo>
                  <a:pt x="919625" y="409299"/>
                </a:lnTo>
                <a:lnTo>
                  <a:pt x="940526" y="344268"/>
                </a:lnTo>
                <a:lnTo>
                  <a:pt x="961426" y="283239"/>
                </a:lnTo>
                <a:lnTo>
                  <a:pt x="982327" y="227070"/>
                </a:lnTo>
                <a:lnTo>
                  <a:pt x="1003227" y="176467"/>
                </a:lnTo>
                <a:lnTo>
                  <a:pt x="1024128" y="131962"/>
                </a:lnTo>
                <a:lnTo>
                  <a:pt x="1045029" y="93908"/>
                </a:lnTo>
                <a:lnTo>
                  <a:pt x="1065929" y="62475"/>
                </a:lnTo>
                <a:lnTo>
                  <a:pt x="1086830" y="37669"/>
                </a:lnTo>
                <a:lnTo>
                  <a:pt x="1107730" y="19341"/>
                </a:lnTo>
                <a:lnTo>
                  <a:pt x="1128631" y="7216"/>
                </a:lnTo>
                <a:lnTo>
                  <a:pt x="1149531" y="918"/>
                </a:lnTo>
                <a:lnTo>
                  <a:pt x="1170432" y="0"/>
                </a:lnTo>
                <a:lnTo>
                  <a:pt x="1191333" y="3965"/>
                </a:lnTo>
                <a:lnTo>
                  <a:pt x="1212233" y="12299"/>
                </a:lnTo>
                <a:lnTo>
                  <a:pt x="1233134" y="24483"/>
                </a:lnTo>
                <a:lnTo>
                  <a:pt x="1254034" y="40019"/>
                </a:lnTo>
                <a:lnTo>
                  <a:pt x="1274935" y="58437"/>
                </a:lnTo>
                <a:lnTo>
                  <a:pt x="1295835" y="79306"/>
                </a:lnTo>
                <a:lnTo>
                  <a:pt x="1316736" y="102236"/>
                </a:lnTo>
                <a:lnTo>
                  <a:pt x="1337637" y="126884"/>
                </a:lnTo>
                <a:lnTo>
                  <a:pt x="1358537" y="152949"/>
                </a:lnTo>
                <a:lnTo>
                  <a:pt x="1379438" y="180170"/>
                </a:lnTo>
                <a:lnTo>
                  <a:pt x="1400338" y="208324"/>
                </a:lnTo>
                <a:lnTo>
                  <a:pt x="1421239" y="237219"/>
                </a:lnTo>
                <a:lnTo>
                  <a:pt x="1442139" y="266691"/>
                </a:lnTo>
                <a:lnTo>
                  <a:pt x="1463040" y="296599"/>
                </a:lnTo>
                <a:lnTo>
                  <a:pt x="1483941" y="326822"/>
                </a:lnTo>
                <a:lnTo>
                  <a:pt x="1504841" y="357251"/>
                </a:lnTo>
                <a:lnTo>
                  <a:pt x="1525742" y="387793"/>
                </a:lnTo>
                <a:lnTo>
                  <a:pt x="1546642" y="418363"/>
                </a:lnTo>
                <a:lnTo>
                  <a:pt x="1567543" y="448884"/>
                </a:lnTo>
                <a:lnTo>
                  <a:pt x="1588443" y="479286"/>
                </a:lnTo>
                <a:lnTo>
                  <a:pt x="1609344" y="509504"/>
                </a:lnTo>
                <a:lnTo>
                  <a:pt x="1630245" y="539480"/>
                </a:lnTo>
                <a:lnTo>
                  <a:pt x="1651145" y="569156"/>
                </a:lnTo>
                <a:lnTo>
                  <a:pt x="1672046" y="598482"/>
                </a:lnTo>
                <a:lnTo>
                  <a:pt x="1692946" y="627410"/>
                </a:lnTo>
                <a:lnTo>
                  <a:pt x="1713847" y="655895"/>
                </a:lnTo>
                <a:lnTo>
                  <a:pt x="1734747" y="683896"/>
                </a:lnTo>
                <a:lnTo>
                  <a:pt x="1755648" y="711375"/>
                </a:lnTo>
                <a:lnTo>
                  <a:pt x="1776549" y="738297"/>
                </a:lnTo>
                <a:lnTo>
                  <a:pt x="1797449" y="764632"/>
                </a:lnTo>
                <a:lnTo>
                  <a:pt x="1818350" y="790352"/>
                </a:lnTo>
                <a:lnTo>
                  <a:pt x="1839250" y="815432"/>
                </a:lnTo>
                <a:lnTo>
                  <a:pt x="1860151" y="839849"/>
                </a:lnTo>
                <a:lnTo>
                  <a:pt x="1881051" y="863586"/>
                </a:lnTo>
                <a:lnTo>
                  <a:pt x="1901952" y="886627"/>
                </a:lnTo>
                <a:lnTo>
                  <a:pt x="1922853" y="908960"/>
                </a:lnTo>
                <a:lnTo>
                  <a:pt x="1943753" y="930574"/>
                </a:lnTo>
                <a:lnTo>
                  <a:pt x="1964654" y="951462"/>
                </a:lnTo>
                <a:lnTo>
                  <a:pt x="1985554" y="971620"/>
                </a:lnTo>
                <a:lnTo>
                  <a:pt x="2006455" y="991046"/>
                </a:lnTo>
                <a:lnTo>
                  <a:pt x="2027355" y="1009741"/>
                </a:lnTo>
                <a:lnTo>
                  <a:pt x="2048256" y="1027706"/>
                </a:lnTo>
                <a:lnTo>
                  <a:pt x="2069157" y="1044946"/>
                </a:lnTo>
                <a:lnTo>
                  <a:pt x="2090057" y="1061469"/>
                </a:lnTo>
                <a:lnTo>
                  <a:pt x="2110958" y="1077282"/>
                </a:lnTo>
                <a:lnTo>
                  <a:pt x="2131858" y="1092395"/>
                </a:lnTo>
                <a:lnTo>
                  <a:pt x="2152759" y="1106821"/>
                </a:lnTo>
                <a:lnTo>
                  <a:pt x="2173659" y="1120572"/>
                </a:lnTo>
                <a:lnTo>
                  <a:pt x="2194560" y="1133662"/>
                </a:lnTo>
                <a:lnTo>
                  <a:pt x="2215461" y="1146108"/>
                </a:lnTo>
                <a:lnTo>
                  <a:pt x="2236361" y="1157925"/>
                </a:lnTo>
                <a:lnTo>
                  <a:pt x="2257262" y="1169130"/>
                </a:lnTo>
                <a:lnTo>
                  <a:pt x="2278162" y="1179742"/>
                </a:lnTo>
                <a:lnTo>
                  <a:pt x="2299063" y="1189779"/>
                </a:lnTo>
                <a:lnTo>
                  <a:pt x="2319963" y="1199260"/>
                </a:lnTo>
                <a:lnTo>
                  <a:pt x="2340864" y="1208205"/>
                </a:lnTo>
                <a:lnTo>
                  <a:pt x="2361765" y="1216633"/>
                </a:lnTo>
                <a:lnTo>
                  <a:pt x="2382665" y="1224565"/>
                </a:lnTo>
                <a:lnTo>
                  <a:pt x="2403566" y="1232019"/>
                </a:lnTo>
                <a:lnTo>
                  <a:pt x="2424466" y="1239017"/>
                </a:lnTo>
                <a:lnTo>
                  <a:pt x="2445367" y="1245578"/>
                </a:lnTo>
                <a:lnTo>
                  <a:pt x="2466267" y="1251721"/>
                </a:lnTo>
                <a:lnTo>
                  <a:pt x="2487168" y="1257466"/>
                </a:lnTo>
                <a:lnTo>
                  <a:pt x="2508069" y="1262833"/>
                </a:lnTo>
                <a:lnTo>
                  <a:pt x="2528969" y="1267840"/>
                </a:lnTo>
                <a:lnTo>
                  <a:pt x="2549870" y="1272506"/>
                </a:lnTo>
                <a:lnTo>
                  <a:pt x="2570770" y="1276849"/>
                </a:lnTo>
                <a:lnTo>
                  <a:pt x="2591671" y="1280885"/>
                </a:lnTo>
                <a:lnTo>
                  <a:pt x="2612571" y="1284633"/>
                </a:lnTo>
                <a:lnTo>
                  <a:pt x="2633472" y="1288108"/>
                </a:lnTo>
                <a:lnTo>
                  <a:pt x="2654373" y="1291327"/>
                </a:lnTo>
                <a:lnTo>
                  <a:pt x="2675273" y="1294305"/>
                </a:lnTo>
                <a:lnTo>
                  <a:pt x="2696174" y="1297057"/>
                </a:lnTo>
                <a:lnTo>
                  <a:pt x="2717074" y="1299597"/>
                </a:lnTo>
                <a:lnTo>
                  <a:pt x="2737975" y="1301938"/>
                </a:lnTo>
                <a:lnTo>
                  <a:pt x="2758875" y="1304093"/>
                </a:lnTo>
                <a:lnTo>
                  <a:pt x="2779776" y="1306076"/>
                </a:lnTo>
                <a:lnTo>
                  <a:pt x="2800677" y="1307897"/>
                </a:lnTo>
                <a:lnTo>
                  <a:pt x="2821577" y="1309567"/>
                </a:lnTo>
                <a:lnTo>
                  <a:pt x="2842478" y="1311098"/>
                </a:lnTo>
                <a:lnTo>
                  <a:pt x="2863378" y="1312500"/>
                </a:lnTo>
                <a:lnTo>
                  <a:pt x="2884279" y="1313781"/>
                </a:lnTo>
                <a:lnTo>
                  <a:pt x="2905179" y="1314952"/>
                </a:lnTo>
                <a:lnTo>
                  <a:pt x="2926080" y="1316019"/>
                </a:lnTo>
              </a:path>
            </a:pathLst>
          </a:custGeom>
          <a:noFill/>
          <a:ln w="349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a:off x="8458200" y="3557016"/>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321040" y="3703320"/>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対称形に歪みを</a:t>
            </a:r>
          </a:p>
          <a:p>
            <a:pPr algn="ctr">
              <a:spcAft>
                <a:spcPts val="500"/>
              </a:spcAft>
            </a:pPr>
            <a:r>
              <a:rPr sz="2200" b="0">
                <a:solidFill>
                  <a:srgbClr val="262626"/>
                </a:solidFill>
                <a:latin typeface="Meiryo"/>
                <a:ea typeface="Meiryo"/>
                <a:cs typeface="Meiryo"/>
              </a:rPr>
              <a:t>1つ足しただけ</a:t>
            </a:r>
          </a:p>
          <a:p>
            <a:pPr algn="ctr">
              <a:spcAft>
                <a:spcPts val="500"/>
              </a:spcAft>
            </a:pPr>
            <a:r>
              <a:rPr sz="2200" b="0">
                <a:solidFill>
                  <a:srgbClr val="262626"/>
                </a:solidFill>
                <a:latin typeface="Meiryo"/>
                <a:ea typeface="Meiryo"/>
                <a:cs typeface="Meiryo"/>
              </a:rPr>
              <a:t>意味が保たれる</a:t>
            </a:r>
          </a:p>
        </p:txBody>
      </p:sp>
      <p:sp>
        <p:nvSpPr>
          <p:cNvPr id="27" name="Rounded Rectangle 26"/>
          <p:cNvSpPr/>
          <p:nvPr/>
        </p:nvSpPr>
        <p:spPr>
          <a:xfrm>
            <a:off x="411480" y="5074920"/>
            <a:ext cx="11356848" cy="1188720"/>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594360" y="5257800"/>
            <a:ext cx="10991088" cy="1030782"/>
          </a:xfrm>
          <a:prstGeom prst="rect">
            <a:avLst/>
          </a:prstGeom>
          <a:noFill/>
        </p:spPr>
        <p:txBody>
          <a:bodyPr wrap="square" lIns="0" tIns="0" rIns="0" bIns="0" anchor="t">
            <a:spAutoFit/>
          </a:bodyPr>
          <a:lstStyle/>
          <a:p>
            <a:pPr algn="ctr">
              <a:spcAft>
                <a:spcPts val="400"/>
              </a:spcAft>
            </a:pPr>
            <a:r>
              <a:rPr sz="2500" b="1">
                <a:solidFill>
                  <a:srgbClr val="262626"/>
                </a:solidFill>
                <a:latin typeface="Meiryo"/>
                <a:ea typeface="Meiryo"/>
                <a:cs typeface="Meiryo"/>
              </a:rPr>
              <a:t>7,805 拍で総当たりしても正解の形は決まらない</a:t>
            </a:r>
          </a:p>
          <a:p>
            <a:pPr algn="ctr">
              <a:spcAft>
                <a:spcPts val="400"/>
              </a:spcAft>
            </a:pPr>
            <a:r>
              <a:rPr sz="2500" b="1">
                <a:solidFill>
                  <a:srgbClr val="262626"/>
                </a:solidFill>
                <a:latin typeface="Meiryo"/>
                <a:ea typeface="Meiryo"/>
                <a:cs typeface="Meiryo"/>
              </a:rPr>
              <a:t>最頻の Gamma 3 個でも 28.1% どまり（Tigges 2017）</a:t>
            </a:r>
          </a:p>
        </p:txBody>
      </p:sp>
      <p:sp>
        <p:nvSpPr>
          <p:cNvPr id="2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51/72</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5.2  成分波を何本使うか</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　／　43. Tigges 2017</a:t>
            </a:r>
          </a:p>
        </p:txBody>
      </p:sp>
      <p:sp>
        <p:nvSpPr>
          <p:cNvPr id="30" name="TextBox 29"/>
          <p:cNvSpPr txBox="1"/>
          <p:nvPr/>
        </p:nvSpPr>
        <p:spPr>
          <a:xfrm>
            <a:off x="502920" y="1691640"/>
            <a:ext cx="11201400" cy="411480"/>
          </a:xfrm>
          <a:prstGeom prst="rect">
            <a:avLst/>
          </a:prstGeom>
          <a:noFill/>
        </p:spPr>
        <p:txBody>
          <a:bodyPr wrap="square" lIns="0" tIns="0" rIns="0" bIns="0" anchor="t">
            <a:spAutoFit/>
          </a:bodyPr>
          <a:lstStyle/>
          <a:p>
            <a:pPr algn="l"/>
            <a:r>
              <a:rPr sz="2400" b="1">
                <a:solidFill>
                  <a:srgbClr val="808080"/>
                </a:solidFill>
                <a:latin typeface="Meiryo"/>
                <a:ea typeface="Meiryo"/>
                <a:cs typeface="Meiryo"/>
              </a:rPr>
              <a:t>カーネル ＝ 当てはめに使う成分波 1 本 1 本</a:t>
            </a:r>
          </a:p>
        </p:txBody>
      </p:sp>
      <p:sp>
        <p:nvSpPr>
          <p:cNvPr id="31" name="Rounded Rectangle 30"/>
          <p:cNvSpPr/>
          <p:nvPr/>
        </p:nvSpPr>
        <p:spPr>
          <a:xfrm>
            <a:off x="502920" y="2240280"/>
            <a:ext cx="3529584" cy="25603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40080" y="2423160"/>
            <a:ext cx="3255264" cy="45720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2 本</a:t>
            </a:r>
          </a:p>
        </p:txBody>
      </p:sp>
      <p:sp>
        <p:nvSpPr>
          <p:cNvPr id="33" name="TextBox 32"/>
          <p:cNvSpPr txBox="1"/>
          <p:nvPr/>
        </p:nvSpPr>
        <p:spPr>
          <a:xfrm>
            <a:off x="612648" y="2999232"/>
            <a:ext cx="3310128" cy="132588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前進波 ＋ 反射波</a:t>
            </a:r>
          </a:p>
          <a:p>
            <a:pPr algn="ctr">
              <a:spcAft>
                <a:spcPts val="400"/>
              </a:spcAft>
            </a:pPr>
            <a:r>
              <a:rPr sz="2200" b="0">
                <a:solidFill>
                  <a:srgbClr val="262626"/>
                </a:solidFill>
                <a:latin typeface="Meiryo"/>
                <a:ea typeface="Meiryo"/>
                <a:cs typeface="Meiryo"/>
              </a:rPr>
              <a:t>解釈がはっきりする</a:t>
            </a:r>
          </a:p>
          <a:p>
            <a:pPr algn="ctr">
              <a:spcAft>
                <a:spcPts val="400"/>
              </a:spcAft>
            </a:pPr>
            <a:r>
              <a:rPr sz="2200" b="0">
                <a:solidFill>
                  <a:srgbClr val="262626"/>
                </a:solidFill>
                <a:latin typeface="Meiryo"/>
                <a:ea typeface="Meiryo"/>
                <a:cs typeface="Meiryo"/>
              </a:rPr>
              <a:t>ノイズに強い</a:t>
            </a:r>
          </a:p>
        </p:txBody>
      </p:sp>
      <p:sp>
        <p:nvSpPr>
          <p:cNvPr id="34" name="TextBox 33"/>
          <p:cNvSpPr txBox="1"/>
          <p:nvPr/>
        </p:nvSpPr>
        <p:spPr>
          <a:xfrm>
            <a:off x="640080" y="4315968"/>
            <a:ext cx="3255264" cy="41148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a:t>
            </a:r>
          </a:p>
        </p:txBody>
      </p:sp>
      <p:sp>
        <p:nvSpPr>
          <p:cNvPr id="35" name="Rounded Rectangle 34"/>
          <p:cNvSpPr/>
          <p:nvPr/>
        </p:nvSpPr>
        <p:spPr>
          <a:xfrm>
            <a:off x="4306824" y="2240280"/>
            <a:ext cx="3529584" cy="25603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4443984" y="2423160"/>
            <a:ext cx="3255264" cy="45720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3〜5 本</a:t>
            </a:r>
          </a:p>
        </p:txBody>
      </p:sp>
      <p:sp>
        <p:nvSpPr>
          <p:cNvPr id="37" name="TextBox 36"/>
          <p:cNvSpPr txBox="1"/>
          <p:nvPr/>
        </p:nvSpPr>
        <p:spPr>
          <a:xfrm>
            <a:off x="4416552" y="2999232"/>
            <a:ext cx="3310128" cy="132588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反射が複数回戻ると</a:t>
            </a:r>
          </a:p>
          <a:p>
            <a:pPr algn="ctr">
              <a:spcAft>
                <a:spcPts val="400"/>
              </a:spcAft>
            </a:pPr>
            <a:r>
              <a:rPr sz="2200" b="0">
                <a:solidFill>
                  <a:srgbClr val="262626"/>
                </a:solidFill>
                <a:latin typeface="Meiryo"/>
                <a:ea typeface="Meiryo"/>
                <a:cs typeface="Meiryo"/>
              </a:rPr>
              <a:t>みなす</a:t>
            </a:r>
          </a:p>
          <a:p>
            <a:pPr algn="ctr">
              <a:spcAft>
                <a:spcPts val="400"/>
              </a:spcAft>
            </a:pPr>
            <a:r>
              <a:rPr sz="2200" b="0">
                <a:solidFill>
                  <a:srgbClr val="262626"/>
                </a:solidFill>
                <a:latin typeface="Meiryo"/>
                <a:ea typeface="Meiryo"/>
                <a:cs typeface="Meiryo"/>
              </a:rPr>
              <a:t>当てはまりは良い</a:t>
            </a:r>
          </a:p>
        </p:txBody>
      </p:sp>
      <p:sp>
        <p:nvSpPr>
          <p:cNvPr id="38" name="TextBox 37"/>
          <p:cNvSpPr txBox="1"/>
          <p:nvPr/>
        </p:nvSpPr>
        <p:spPr>
          <a:xfrm>
            <a:off x="4443984" y="4315968"/>
            <a:ext cx="3255264" cy="41148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a:t>
            </a:r>
          </a:p>
        </p:txBody>
      </p:sp>
      <p:sp>
        <p:nvSpPr>
          <p:cNvPr id="39" name="Rounded Rectangle 38"/>
          <p:cNvSpPr/>
          <p:nvPr/>
        </p:nvSpPr>
        <p:spPr>
          <a:xfrm>
            <a:off x="8110728" y="2240280"/>
            <a:ext cx="3529584" cy="25603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8247888" y="2423160"/>
            <a:ext cx="3255264" cy="457200"/>
          </a:xfrm>
          <a:prstGeom prst="rect">
            <a:avLst/>
          </a:prstGeom>
          <a:noFill/>
        </p:spPr>
        <p:txBody>
          <a:bodyPr wrap="square" lIns="0" tIns="0" rIns="0" bIns="0" anchor="t">
            <a:spAutoFit/>
          </a:bodyPr>
          <a:lstStyle/>
          <a:p>
            <a:pPr algn="ctr"/>
            <a:r>
              <a:rPr sz="2700" b="1">
                <a:solidFill>
                  <a:srgbClr val="D55E00"/>
                </a:solidFill>
                <a:latin typeface="Meiryo"/>
                <a:ea typeface="Meiryo"/>
                <a:cs typeface="Meiryo"/>
              </a:rPr>
              <a:t>もっと多い</a:t>
            </a:r>
          </a:p>
        </p:txBody>
      </p:sp>
      <p:sp>
        <p:nvSpPr>
          <p:cNvPr id="41" name="TextBox 40"/>
          <p:cNvSpPr txBox="1"/>
          <p:nvPr/>
        </p:nvSpPr>
        <p:spPr>
          <a:xfrm>
            <a:off x="8220456" y="2999232"/>
            <a:ext cx="3310128" cy="132588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残差はいくらでも</a:t>
            </a:r>
          </a:p>
          <a:p>
            <a:pPr algn="ctr">
              <a:spcAft>
                <a:spcPts val="400"/>
              </a:spcAft>
            </a:pPr>
            <a:r>
              <a:rPr sz="2200" b="0">
                <a:solidFill>
                  <a:srgbClr val="262626"/>
                </a:solidFill>
                <a:latin typeface="Meiryo"/>
                <a:ea typeface="Meiryo"/>
                <a:cs typeface="Meiryo"/>
              </a:rPr>
              <a:t>小さくできるが</a:t>
            </a:r>
          </a:p>
          <a:p>
            <a:pPr algn="ctr">
              <a:spcAft>
                <a:spcPts val="400"/>
              </a:spcAft>
            </a:pPr>
            <a:r>
              <a:rPr sz="2200" b="0">
                <a:solidFill>
                  <a:srgbClr val="262626"/>
                </a:solidFill>
                <a:latin typeface="Meiryo"/>
                <a:ea typeface="Meiryo"/>
                <a:cs typeface="Meiryo"/>
              </a:rPr>
              <a:t>解が定まらない</a:t>
            </a:r>
          </a:p>
        </p:txBody>
      </p:sp>
      <p:sp>
        <p:nvSpPr>
          <p:cNvPr id="42" name="TextBox 41"/>
          <p:cNvSpPr txBox="1"/>
          <p:nvPr/>
        </p:nvSpPr>
        <p:spPr>
          <a:xfrm>
            <a:off x="8247888" y="4315968"/>
            <a:ext cx="3255264" cy="411480"/>
          </a:xfrm>
          <a:prstGeom prst="rect">
            <a:avLst/>
          </a:prstGeom>
          <a:noFill/>
        </p:spPr>
        <p:txBody>
          <a:bodyPr wrap="square" lIns="0" tIns="0" rIns="0" bIns="0" anchor="t">
            <a:spAutoFit/>
          </a:bodyPr>
          <a:lstStyle/>
          <a:p>
            <a:pPr algn="ctr"/>
            <a:r>
              <a:rPr sz="2700" b="1">
                <a:solidFill>
                  <a:srgbClr val="D55E00"/>
                </a:solidFill>
                <a:latin typeface="Meiryo"/>
                <a:ea typeface="Meiryo"/>
                <a:cs typeface="Meiryo"/>
              </a:rPr>
              <a:t>×</a:t>
            </a:r>
          </a:p>
        </p:txBody>
      </p:sp>
      <p:sp>
        <p:nvSpPr>
          <p:cNvPr id="43" name="Rounded Rectangle 42"/>
          <p:cNvSpPr/>
          <p:nvPr/>
        </p:nvSpPr>
        <p:spPr>
          <a:xfrm>
            <a:off x="502920" y="5047488"/>
            <a:ext cx="11201400" cy="109728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685800" y="5248656"/>
            <a:ext cx="10835640" cy="731520"/>
          </a:xfrm>
          <a:prstGeom prst="rect">
            <a:avLst/>
          </a:prstGeom>
          <a:noFill/>
        </p:spPr>
        <p:txBody>
          <a:bodyPr wrap="square" lIns="0" tIns="0" rIns="0" bIns="0" anchor="t">
            <a:spAutoFit/>
          </a:bodyPr>
          <a:lstStyle/>
          <a:p>
            <a:pPr algn="ctr">
              <a:spcAft>
                <a:spcPts val="300"/>
              </a:spcAft>
            </a:pPr>
            <a:r>
              <a:rPr sz="2400" b="1">
                <a:solidFill>
                  <a:srgbClr val="262626"/>
                </a:solidFill>
                <a:latin typeface="Meiryo"/>
                <a:ea typeface="Meiryo"/>
                <a:cs typeface="Meiryo"/>
              </a:rPr>
              <a:t>本数を増やせば残差は小さくなるが、解が一意でなくなる</a:t>
            </a:r>
          </a:p>
          <a:p>
            <a:pPr algn="ctr">
              <a:spcAft>
                <a:spcPts val="300"/>
              </a:spcAft>
            </a:pPr>
            <a:r>
              <a:rPr sz="2400" b="1">
                <a:solidFill>
                  <a:srgbClr val="262626"/>
                </a:solidFill>
                <a:latin typeface="Meiryo"/>
                <a:ea typeface="Meiryo"/>
                <a:cs typeface="Meiryo"/>
              </a:rPr>
              <a:t>カーネル 2 本がもっとも頑健という報告が複数ある</a:t>
            </a:r>
          </a:p>
        </p:txBody>
      </p:sp>
      <p:sp>
        <p:nvSpPr>
          <p:cNvPr id="4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52/72</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5.3  当てはめの手順</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　／　42. Couceiro 2015　／　43. Tigges 2017</a:t>
            </a:r>
          </a:p>
        </p:txBody>
      </p:sp>
      <p:sp>
        <p:nvSpPr>
          <p:cNvPr id="18" name="Rounded Rectangle 17"/>
          <p:cNvSpPr/>
          <p:nvPr/>
        </p:nvSpPr>
        <p:spPr>
          <a:xfrm>
            <a:off x="411480" y="1783080"/>
            <a:ext cx="2761488" cy="32461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48640" y="1938528"/>
            <a:ext cx="2487168" cy="597121"/>
          </a:xfrm>
          <a:prstGeom prst="rect">
            <a:avLst/>
          </a:prstGeom>
          <a:noFill/>
        </p:spPr>
        <p:txBody>
          <a:bodyPr wrap="square" lIns="0" tIns="0" rIns="0" bIns="0" anchor="t">
            <a:spAutoFit/>
          </a:bodyPr>
          <a:lstStyle/>
          <a:p>
            <a:pPr algn="ctr"/>
            <a:r>
              <a:rPr sz="2800" b="1">
                <a:solidFill>
                  <a:srgbClr val="0072B2"/>
                </a:solidFill>
                <a:latin typeface="Meiryo"/>
                <a:ea typeface="Meiryo"/>
                <a:cs typeface="Meiryo"/>
              </a:rPr>
              <a:t>①</a:t>
            </a:r>
          </a:p>
        </p:txBody>
      </p:sp>
      <p:sp>
        <p:nvSpPr>
          <p:cNvPr id="20" name="TextBox 19"/>
          <p:cNvSpPr txBox="1"/>
          <p:nvPr/>
        </p:nvSpPr>
        <p:spPr>
          <a:xfrm>
            <a:off x="548640" y="2468880"/>
            <a:ext cx="2487168" cy="523030"/>
          </a:xfrm>
          <a:prstGeom prst="rect">
            <a:avLst/>
          </a:prstGeom>
          <a:noFill/>
        </p:spPr>
        <p:txBody>
          <a:bodyPr wrap="square" lIns="0" tIns="0" rIns="0" bIns="0" anchor="t">
            <a:spAutoFit/>
          </a:bodyPr>
          <a:lstStyle/>
          <a:p>
            <a:pPr algn="ctr"/>
            <a:r>
              <a:rPr sz="2400" b="1">
                <a:solidFill>
                  <a:srgbClr val="0072B2"/>
                </a:solidFill>
                <a:latin typeface="Meiryo"/>
                <a:ea typeface="Meiryo"/>
                <a:cs typeface="Meiryo"/>
              </a:rPr>
              <a:t>波を切り出す</a:t>
            </a:r>
          </a:p>
        </p:txBody>
      </p:sp>
      <p:sp>
        <p:nvSpPr>
          <p:cNvPr id="21" name="TextBox 20"/>
          <p:cNvSpPr txBox="1"/>
          <p:nvPr/>
        </p:nvSpPr>
        <p:spPr>
          <a:xfrm>
            <a:off x="502920" y="3063240"/>
            <a:ext cx="2578608" cy="1783080"/>
          </a:xfrm>
          <a:prstGeom prst="rect">
            <a:avLst/>
          </a:prstGeom>
          <a:noFill/>
        </p:spPr>
        <p:txBody>
          <a:bodyPr wrap="square" lIns="0" tIns="0" rIns="0" bIns="0" anchor="t">
            <a:spAutoFit/>
          </a:bodyPr>
          <a:lstStyle/>
          <a:p>
            <a:pPr algn="ctr">
              <a:spcAft>
                <a:spcPts val="600"/>
              </a:spcAft>
            </a:pPr>
            <a:r>
              <a:rPr sz="2200" b="0">
                <a:solidFill>
                  <a:srgbClr val="262626"/>
                </a:solidFill>
                <a:latin typeface="Meiryo"/>
                <a:ea typeface="Meiryo"/>
                <a:cs typeface="Meiryo"/>
              </a:rPr>
              <a:t>一拍ごとに</a:t>
            </a:r>
          </a:p>
          <a:p>
            <a:pPr algn="ctr">
              <a:spcAft>
                <a:spcPts val="600"/>
              </a:spcAft>
            </a:pPr>
            <a:r>
              <a:rPr sz="2200" b="0">
                <a:solidFill>
                  <a:srgbClr val="262626"/>
                </a:solidFill>
                <a:latin typeface="Meiryo"/>
                <a:ea typeface="Meiryo"/>
                <a:cs typeface="Meiryo"/>
              </a:rPr>
              <a:t>取り出して</a:t>
            </a:r>
          </a:p>
          <a:p>
            <a:pPr algn="ctr">
              <a:spcAft>
                <a:spcPts val="600"/>
              </a:spcAft>
            </a:pPr>
            <a:r>
              <a:rPr sz="2200" b="0">
                <a:solidFill>
                  <a:srgbClr val="262626"/>
                </a:solidFill>
                <a:latin typeface="Meiryo"/>
                <a:ea typeface="Meiryo"/>
                <a:cs typeface="Meiryo"/>
              </a:rPr>
              <a:t>正規化する</a:t>
            </a:r>
          </a:p>
        </p:txBody>
      </p:sp>
      <p:sp>
        <p:nvSpPr>
          <p:cNvPr id="22" name="Right Arrow 21"/>
          <p:cNvSpPr/>
          <p:nvPr/>
        </p:nvSpPr>
        <p:spPr>
          <a:xfrm>
            <a:off x="3209544" y="3063240"/>
            <a:ext cx="91440"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3300984" y="1783080"/>
            <a:ext cx="2761488" cy="32461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3438144" y="1938528"/>
            <a:ext cx="2487168" cy="597121"/>
          </a:xfrm>
          <a:prstGeom prst="rect">
            <a:avLst/>
          </a:prstGeom>
          <a:noFill/>
        </p:spPr>
        <p:txBody>
          <a:bodyPr wrap="square" lIns="0" tIns="0" rIns="0" bIns="0" anchor="t">
            <a:spAutoFit/>
          </a:bodyPr>
          <a:lstStyle/>
          <a:p>
            <a:pPr algn="ctr"/>
            <a:r>
              <a:rPr sz="2800" b="1">
                <a:solidFill>
                  <a:srgbClr val="00A8AA"/>
                </a:solidFill>
                <a:latin typeface="Meiryo"/>
                <a:ea typeface="Meiryo"/>
                <a:cs typeface="Meiryo"/>
              </a:rPr>
              <a:t>②</a:t>
            </a:r>
          </a:p>
        </p:txBody>
      </p:sp>
      <p:sp>
        <p:nvSpPr>
          <p:cNvPr id="25" name="TextBox 24"/>
          <p:cNvSpPr txBox="1"/>
          <p:nvPr/>
        </p:nvSpPr>
        <p:spPr>
          <a:xfrm>
            <a:off x="3438144" y="2468880"/>
            <a:ext cx="2487168" cy="523030"/>
          </a:xfrm>
          <a:prstGeom prst="rect">
            <a:avLst/>
          </a:prstGeom>
          <a:noFill/>
        </p:spPr>
        <p:txBody>
          <a:bodyPr wrap="square" lIns="0" tIns="0" rIns="0" bIns="0" anchor="t">
            <a:spAutoFit/>
          </a:bodyPr>
          <a:lstStyle/>
          <a:p>
            <a:pPr algn="ctr"/>
            <a:r>
              <a:rPr sz="2400" b="1">
                <a:solidFill>
                  <a:srgbClr val="00A8AA"/>
                </a:solidFill>
                <a:latin typeface="Meiryo"/>
                <a:ea typeface="Meiryo"/>
                <a:cs typeface="Meiryo"/>
              </a:rPr>
              <a:t>成分波の形を決める</a:t>
            </a:r>
          </a:p>
        </p:txBody>
      </p:sp>
      <p:sp>
        <p:nvSpPr>
          <p:cNvPr id="26" name="TextBox 25"/>
          <p:cNvSpPr txBox="1"/>
          <p:nvPr/>
        </p:nvSpPr>
        <p:spPr>
          <a:xfrm>
            <a:off x="3392424" y="3063240"/>
            <a:ext cx="2578608" cy="1783080"/>
          </a:xfrm>
          <a:prstGeom prst="rect">
            <a:avLst/>
          </a:prstGeom>
          <a:noFill/>
        </p:spPr>
        <p:txBody>
          <a:bodyPr wrap="square" lIns="0" tIns="0" rIns="0" bIns="0" anchor="t">
            <a:spAutoFit/>
          </a:bodyPr>
          <a:lstStyle/>
          <a:p>
            <a:pPr algn="ctr">
              <a:spcAft>
                <a:spcPts val="600"/>
              </a:spcAft>
            </a:pPr>
            <a:r>
              <a:rPr sz="2200" b="0">
                <a:solidFill>
                  <a:srgbClr val="262626"/>
                </a:solidFill>
                <a:latin typeface="Meiryo"/>
                <a:ea typeface="Meiryo"/>
                <a:cs typeface="Meiryo"/>
              </a:rPr>
              <a:t>ガウス関数など</a:t>
            </a:r>
          </a:p>
          <a:p>
            <a:pPr algn="ctr">
              <a:spcAft>
                <a:spcPts val="600"/>
              </a:spcAft>
            </a:pPr>
            <a:r>
              <a:rPr sz="2200" b="0">
                <a:solidFill>
                  <a:srgbClr val="262626"/>
                </a:solidFill>
                <a:latin typeface="Meiryo"/>
                <a:ea typeface="Meiryo"/>
                <a:cs typeface="Meiryo"/>
              </a:rPr>
              <a:t>基底関数の</a:t>
            </a:r>
          </a:p>
          <a:p>
            <a:pPr algn="ctr">
              <a:spcAft>
                <a:spcPts val="600"/>
              </a:spcAft>
            </a:pPr>
            <a:r>
              <a:rPr sz="2200" b="0">
                <a:solidFill>
                  <a:srgbClr val="262626"/>
                </a:solidFill>
                <a:latin typeface="Meiryo"/>
                <a:ea typeface="Meiryo"/>
                <a:cs typeface="Meiryo"/>
              </a:rPr>
              <a:t>種類と個数</a:t>
            </a:r>
          </a:p>
        </p:txBody>
      </p:sp>
      <p:sp>
        <p:nvSpPr>
          <p:cNvPr id="27" name="Right Arrow 26"/>
          <p:cNvSpPr/>
          <p:nvPr/>
        </p:nvSpPr>
        <p:spPr>
          <a:xfrm>
            <a:off x="6099048" y="3063240"/>
            <a:ext cx="91440"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6190488" y="1783080"/>
            <a:ext cx="2761488" cy="324612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327648" y="1938528"/>
            <a:ext cx="2487168" cy="597121"/>
          </a:xfrm>
          <a:prstGeom prst="rect">
            <a:avLst/>
          </a:prstGeom>
          <a:noFill/>
        </p:spPr>
        <p:txBody>
          <a:bodyPr wrap="square" lIns="0" tIns="0" rIns="0" bIns="0" anchor="t">
            <a:spAutoFit/>
          </a:bodyPr>
          <a:lstStyle/>
          <a:p>
            <a:pPr algn="ctr"/>
            <a:r>
              <a:rPr sz="2800" b="1">
                <a:solidFill>
                  <a:srgbClr val="BF9000"/>
                </a:solidFill>
                <a:latin typeface="Meiryo"/>
                <a:ea typeface="Meiryo"/>
                <a:cs typeface="Meiryo"/>
              </a:rPr>
              <a:t>③</a:t>
            </a:r>
          </a:p>
        </p:txBody>
      </p:sp>
      <p:sp>
        <p:nvSpPr>
          <p:cNvPr id="30" name="TextBox 29"/>
          <p:cNvSpPr txBox="1"/>
          <p:nvPr/>
        </p:nvSpPr>
        <p:spPr>
          <a:xfrm>
            <a:off x="6327648" y="2468880"/>
            <a:ext cx="2487168" cy="523030"/>
          </a:xfrm>
          <a:prstGeom prst="rect">
            <a:avLst/>
          </a:prstGeom>
          <a:noFill/>
        </p:spPr>
        <p:txBody>
          <a:bodyPr wrap="square" lIns="0" tIns="0" rIns="0" bIns="0" anchor="t">
            <a:spAutoFit/>
          </a:bodyPr>
          <a:lstStyle/>
          <a:p>
            <a:pPr algn="ctr"/>
            <a:r>
              <a:rPr sz="2400" b="1">
                <a:solidFill>
                  <a:srgbClr val="BF9000"/>
                </a:solidFill>
                <a:latin typeface="Meiryo"/>
                <a:ea typeface="Meiryo"/>
                <a:cs typeface="Meiryo"/>
              </a:rPr>
              <a:t>当てはめる</a:t>
            </a:r>
          </a:p>
        </p:txBody>
      </p:sp>
      <p:sp>
        <p:nvSpPr>
          <p:cNvPr id="31" name="TextBox 30"/>
          <p:cNvSpPr txBox="1"/>
          <p:nvPr/>
        </p:nvSpPr>
        <p:spPr>
          <a:xfrm>
            <a:off x="6281928" y="3063240"/>
            <a:ext cx="2578608" cy="1783080"/>
          </a:xfrm>
          <a:prstGeom prst="rect">
            <a:avLst/>
          </a:prstGeom>
          <a:noFill/>
        </p:spPr>
        <p:txBody>
          <a:bodyPr wrap="square" lIns="0" tIns="0" rIns="0" bIns="0" anchor="t">
            <a:spAutoFit/>
          </a:bodyPr>
          <a:lstStyle/>
          <a:p>
            <a:pPr algn="ctr">
              <a:spcAft>
                <a:spcPts val="600"/>
              </a:spcAft>
            </a:pPr>
            <a:r>
              <a:rPr sz="2200" b="0">
                <a:solidFill>
                  <a:srgbClr val="262626"/>
                </a:solidFill>
                <a:latin typeface="Meiryo"/>
                <a:ea typeface="Meiryo"/>
                <a:cs typeface="Meiryo"/>
              </a:rPr>
              <a:t>最小二乗などで</a:t>
            </a:r>
          </a:p>
          <a:p>
            <a:pPr algn="ctr">
              <a:spcAft>
                <a:spcPts val="600"/>
              </a:spcAft>
            </a:pPr>
            <a:r>
              <a:rPr sz="2200" b="0">
                <a:solidFill>
                  <a:srgbClr val="262626"/>
                </a:solidFill>
                <a:latin typeface="Meiryo"/>
                <a:ea typeface="Meiryo"/>
                <a:cs typeface="Meiryo"/>
              </a:rPr>
              <a:t>成分波の位置・高さ</a:t>
            </a:r>
          </a:p>
          <a:p>
            <a:pPr algn="ctr">
              <a:spcAft>
                <a:spcPts val="600"/>
              </a:spcAft>
            </a:pPr>
            <a:r>
              <a:rPr sz="2200" b="0">
                <a:solidFill>
                  <a:srgbClr val="262626"/>
                </a:solidFill>
                <a:latin typeface="Meiryo"/>
                <a:ea typeface="Meiryo"/>
                <a:cs typeface="Meiryo"/>
              </a:rPr>
              <a:t>幅を推定する</a:t>
            </a:r>
          </a:p>
        </p:txBody>
      </p:sp>
      <p:sp>
        <p:nvSpPr>
          <p:cNvPr id="32" name="Right Arrow 31"/>
          <p:cNvSpPr/>
          <p:nvPr/>
        </p:nvSpPr>
        <p:spPr>
          <a:xfrm>
            <a:off x="8988552" y="3063240"/>
            <a:ext cx="91440"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ounded Rectangle 32"/>
          <p:cNvSpPr/>
          <p:nvPr/>
        </p:nvSpPr>
        <p:spPr>
          <a:xfrm>
            <a:off x="9079992" y="1783080"/>
            <a:ext cx="2761488" cy="32461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9217152" y="1938528"/>
            <a:ext cx="2487168" cy="597121"/>
          </a:xfrm>
          <a:prstGeom prst="rect">
            <a:avLst/>
          </a:prstGeom>
          <a:noFill/>
        </p:spPr>
        <p:txBody>
          <a:bodyPr wrap="square" lIns="0" tIns="0" rIns="0" bIns="0" anchor="t">
            <a:spAutoFit/>
          </a:bodyPr>
          <a:lstStyle/>
          <a:p>
            <a:pPr algn="ctr"/>
            <a:r>
              <a:rPr sz="2800" b="1">
                <a:solidFill>
                  <a:srgbClr val="D55E00"/>
                </a:solidFill>
                <a:latin typeface="Meiryo"/>
                <a:ea typeface="Meiryo"/>
                <a:cs typeface="Meiryo"/>
              </a:rPr>
              <a:t>④</a:t>
            </a:r>
          </a:p>
        </p:txBody>
      </p:sp>
      <p:sp>
        <p:nvSpPr>
          <p:cNvPr id="35" name="TextBox 34"/>
          <p:cNvSpPr txBox="1"/>
          <p:nvPr/>
        </p:nvSpPr>
        <p:spPr>
          <a:xfrm>
            <a:off x="9217152" y="2468880"/>
            <a:ext cx="2487168" cy="523030"/>
          </a:xfrm>
          <a:prstGeom prst="rect">
            <a:avLst/>
          </a:prstGeom>
          <a:noFill/>
        </p:spPr>
        <p:txBody>
          <a:bodyPr wrap="square" lIns="0" tIns="0" rIns="0" bIns="0" anchor="t">
            <a:spAutoFit/>
          </a:bodyPr>
          <a:lstStyle/>
          <a:p>
            <a:pPr algn="ctr"/>
            <a:r>
              <a:rPr sz="2400" b="1">
                <a:solidFill>
                  <a:srgbClr val="D55E00"/>
                </a:solidFill>
                <a:latin typeface="Meiryo"/>
                <a:ea typeface="Meiryo"/>
                <a:cs typeface="Meiryo"/>
              </a:rPr>
              <a:t>指標を作る</a:t>
            </a:r>
          </a:p>
        </p:txBody>
      </p:sp>
      <p:sp>
        <p:nvSpPr>
          <p:cNvPr id="36" name="TextBox 35"/>
          <p:cNvSpPr txBox="1"/>
          <p:nvPr/>
        </p:nvSpPr>
        <p:spPr>
          <a:xfrm>
            <a:off x="9171432" y="3063240"/>
            <a:ext cx="2578608" cy="1783080"/>
          </a:xfrm>
          <a:prstGeom prst="rect">
            <a:avLst/>
          </a:prstGeom>
          <a:noFill/>
        </p:spPr>
        <p:txBody>
          <a:bodyPr wrap="square" lIns="0" tIns="0" rIns="0" bIns="0" anchor="t">
            <a:spAutoFit/>
          </a:bodyPr>
          <a:lstStyle/>
          <a:p>
            <a:pPr algn="ctr">
              <a:spcAft>
                <a:spcPts val="600"/>
              </a:spcAft>
            </a:pPr>
            <a:r>
              <a:rPr sz="2200" b="0">
                <a:solidFill>
                  <a:srgbClr val="262626"/>
                </a:solidFill>
                <a:latin typeface="Meiryo"/>
                <a:ea typeface="Meiryo"/>
                <a:cs typeface="Meiryo"/>
              </a:rPr>
              <a:t>成分波どうしの</a:t>
            </a:r>
          </a:p>
          <a:p>
            <a:pPr algn="ctr">
              <a:spcAft>
                <a:spcPts val="600"/>
              </a:spcAft>
            </a:pPr>
            <a:r>
              <a:rPr sz="2200" b="0">
                <a:solidFill>
                  <a:srgbClr val="262626"/>
                </a:solidFill>
                <a:latin typeface="Meiryo"/>
                <a:ea typeface="Meiryo"/>
                <a:cs typeface="Meiryo"/>
              </a:rPr>
              <a:t>時間差と振幅比が</a:t>
            </a:r>
          </a:p>
          <a:p>
            <a:pPr algn="ctr">
              <a:spcAft>
                <a:spcPts val="600"/>
              </a:spcAft>
            </a:pPr>
            <a:r>
              <a:rPr sz="2200" b="0">
                <a:solidFill>
                  <a:srgbClr val="262626"/>
                </a:solidFill>
                <a:latin typeface="Meiryo"/>
                <a:ea typeface="Meiryo"/>
                <a:cs typeface="Meiryo"/>
              </a:rPr>
              <a:t>SI・RI になる</a:t>
            </a:r>
          </a:p>
        </p:txBody>
      </p:sp>
      <p:sp>
        <p:nvSpPr>
          <p:cNvPr id="37" name="Rounded Rectangle 36"/>
          <p:cNvSpPr/>
          <p:nvPr/>
        </p:nvSpPr>
        <p:spPr>
          <a:xfrm>
            <a:off x="411480" y="5257800"/>
            <a:ext cx="11356848" cy="10058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594360" y="5440680"/>
            <a:ext cx="10991088" cy="1030782"/>
          </a:xfrm>
          <a:prstGeom prst="rect">
            <a:avLst/>
          </a:prstGeom>
          <a:noFill/>
        </p:spPr>
        <p:txBody>
          <a:bodyPr wrap="square" lIns="0" tIns="0" rIns="0" bIns="0" anchor="t">
            <a:spAutoFit/>
          </a:bodyPr>
          <a:lstStyle/>
          <a:p>
            <a:pPr algn="ctr">
              <a:spcAft>
                <a:spcPts val="400"/>
              </a:spcAft>
            </a:pPr>
            <a:r>
              <a:rPr sz="2500" b="1">
                <a:solidFill>
                  <a:srgbClr val="262626"/>
                </a:solidFill>
                <a:latin typeface="Meiryo"/>
                <a:ea typeface="Meiryo"/>
                <a:cs typeface="Meiryo"/>
              </a:rPr>
              <a:t>むずかしいのは ② ： 「どの形の成分波を何個使うか」が決まっていない</a:t>
            </a:r>
          </a:p>
          <a:p>
            <a:pPr algn="ctr">
              <a:spcAft>
                <a:spcPts val="400"/>
              </a:spcAft>
            </a:pPr>
            <a:r>
              <a:rPr sz="2500" b="1">
                <a:solidFill>
                  <a:srgbClr val="262626"/>
                </a:solidFill>
                <a:latin typeface="Meiryo"/>
                <a:ea typeface="Meiryo"/>
                <a:cs typeface="Meiryo"/>
              </a:rPr>
              <a:t>同じ波形でも、選び方しだいで答えが変わる</a:t>
            </a:r>
          </a:p>
        </p:txBody>
      </p:sp>
      <p:sp>
        <p:nvSpPr>
          <p:cNvPr id="3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53/72</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当てはめの計算</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　／　44. Basso 2024</a:t>
            </a:r>
          </a:p>
        </p:txBody>
      </p:sp>
      <p:sp>
        <p:nvSpPr>
          <p:cNvPr id="30" name="Rounded Rectangle 29"/>
          <p:cNvSpPr/>
          <p:nvPr/>
        </p:nvSpPr>
        <p:spPr>
          <a:xfrm>
            <a:off x="502920" y="1737360"/>
            <a:ext cx="3529584" cy="242316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12648" y="1920240"/>
            <a:ext cx="3310128" cy="457200"/>
          </a:xfrm>
          <a:prstGeom prst="rect">
            <a:avLst/>
          </a:prstGeom>
          <a:noFill/>
        </p:spPr>
        <p:txBody>
          <a:bodyPr wrap="square" lIns="0" tIns="0" rIns="0" bIns="0" anchor="t">
            <a:spAutoFit/>
          </a:bodyPr>
          <a:lstStyle/>
          <a:p>
            <a:pPr algn="ctr"/>
            <a:r>
              <a:rPr sz="2400" b="1">
                <a:solidFill>
                  <a:srgbClr val="0072B2"/>
                </a:solidFill>
                <a:latin typeface="Meiryo"/>
                <a:ea typeface="Meiryo"/>
                <a:cs typeface="Meiryo"/>
              </a:rPr>
              <a:t>残差を測る</a:t>
            </a:r>
          </a:p>
        </p:txBody>
      </p:sp>
      <p:sp>
        <p:nvSpPr>
          <p:cNvPr id="32" name="TextBox 31"/>
          <p:cNvSpPr txBox="1"/>
          <p:nvPr/>
        </p:nvSpPr>
        <p:spPr>
          <a:xfrm>
            <a:off x="612648" y="2514600"/>
            <a:ext cx="3310128" cy="141732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実測 と モデルの差を</a:t>
            </a:r>
          </a:p>
          <a:p>
            <a:pPr algn="ctr">
              <a:spcAft>
                <a:spcPts val="400"/>
              </a:spcAft>
            </a:pPr>
            <a:r>
              <a:rPr sz="2200" b="0">
                <a:solidFill>
                  <a:srgbClr val="262626"/>
                </a:solidFill>
                <a:latin typeface="Meiryo"/>
                <a:ea typeface="Meiryo"/>
                <a:cs typeface="Meiryo"/>
              </a:rPr>
              <a:t>二乗して足し合わせる</a:t>
            </a:r>
          </a:p>
          <a:p>
            <a:pPr algn="ctr">
              <a:spcAft>
                <a:spcPts val="400"/>
              </a:spcAft>
            </a:pPr>
            <a:r>
              <a:rPr sz="2200" b="0">
                <a:solidFill>
                  <a:srgbClr val="262626"/>
                </a:solidFill>
                <a:latin typeface="Meiryo"/>
                <a:ea typeface="Meiryo"/>
                <a:cs typeface="Meiryo"/>
              </a:rPr>
              <a:t>（残差平方和）</a:t>
            </a:r>
          </a:p>
        </p:txBody>
      </p:sp>
      <p:sp>
        <p:nvSpPr>
          <p:cNvPr id="33" name="Right Arrow 32"/>
          <p:cNvSpPr/>
          <p:nvPr/>
        </p:nvSpPr>
        <p:spPr>
          <a:xfrm>
            <a:off x="4078224" y="2743200"/>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ounded Rectangle 33"/>
          <p:cNvSpPr/>
          <p:nvPr/>
        </p:nvSpPr>
        <p:spPr>
          <a:xfrm>
            <a:off x="4306824" y="1737360"/>
            <a:ext cx="3529584" cy="242316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4416552" y="1920240"/>
            <a:ext cx="3310128" cy="457200"/>
          </a:xfrm>
          <a:prstGeom prst="rect">
            <a:avLst/>
          </a:prstGeom>
          <a:noFill/>
        </p:spPr>
        <p:txBody>
          <a:bodyPr wrap="square" lIns="0" tIns="0" rIns="0" bIns="0" anchor="t">
            <a:spAutoFit/>
          </a:bodyPr>
          <a:lstStyle/>
          <a:p>
            <a:pPr algn="ctr"/>
            <a:r>
              <a:rPr sz="2400" b="1">
                <a:solidFill>
                  <a:srgbClr val="00A8AA"/>
                </a:solidFill>
                <a:latin typeface="Meiryo"/>
                <a:ea typeface="Meiryo"/>
                <a:cs typeface="Meiryo"/>
              </a:rPr>
              <a:t>少しずつ動かす</a:t>
            </a:r>
          </a:p>
        </p:txBody>
      </p:sp>
      <p:sp>
        <p:nvSpPr>
          <p:cNvPr id="36" name="TextBox 35"/>
          <p:cNvSpPr txBox="1"/>
          <p:nvPr/>
        </p:nvSpPr>
        <p:spPr>
          <a:xfrm>
            <a:off x="4416552" y="2514600"/>
            <a:ext cx="3310128" cy="141732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初期値から反復計算で</a:t>
            </a:r>
          </a:p>
          <a:p>
            <a:pPr algn="ctr">
              <a:spcAft>
                <a:spcPts val="400"/>
              </a:spcAft>
            </a:pPr>
            <a:r>
              <a:rPr sz="2200" b="0">
                <a:solidFill>
                  <a:srgbClr val="262626"/>
                </a:solidFill>
                <a:latin typeface="Meiryo"/>
                <a:ea typeface="Meiryo"/>
                <a:cs typeface="Meiryo"/>
              </a:rPr>
              <a:t>残差が最小になる</a:t>
            </a:r>
          </a:p>
          <a:p>
            <a:pPr algn="ctr">
              <a:spcAft>
                <a:spcPts val="400"/>
              </a:spcAft>
            </a:pPr>
            <a:r>
              <a:rPr sz="2200" b="0">
                <a:solidFill>
                  <a:srgbClr val="262626"/>
                </a:solidFill>
                <a:latin typeface="Meiryo"/>
                <a:ea typeface="Meiryo"/>
                <a:cs typeface="Meiryo"/>
              </a:rPr>
              <a:t>パラメータを探す</a:t>
            </a:r>
          </a:p>
        </p:txBody>
      </p:sp>
      <p:sp>
        <p:nvSpPr>
          <p:cNvPr id="37" name="Right Arrow 36"/>
          <p:cNvSpPr/>
          <p:nvPr/>
        </p:nvSpPr>
        <p:spPr>
          <a:xfrm>
            <a:off x="7882128" y="2743200"/>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ounded Rectangle 37"/>
          <p:cNvSpPr/>
          <p:nvPr/>
        </p:nvSpPr>
        <p:spPr>
          <a:xfrm>
            <a:off x="8110728" y="1737360"/>
            <a:ext cx="3529584" cy="242316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8220456" y="1920240"/>
            <a:ext cx="3310128" cy="457200"/>
          </a:xfrm>
          <a:prstGeom prst="rect">
            <a:avLst/>
          </a:prstGeom>
          <a:noFill/>
        </p:spPr>
        <p:txBody>
          <a:bodyPr wrap="square" lIns="0" tIns="0" rIns="0" bIns="0" anchor="t">
            <a:spAutoFit/>
          </a:bodyPr>
          <a:lstStyle/>
          <a:p>
            <a:pPr algn="ctr"/>
            <a:r>
              <a:rPr sz="2400" b="1">
                <a:solidFill>
                  <a:srgbClr val="BF9000"/>
                </a:solidFill>
                <a:latin typeface="Meiryo"/>
                <a:ea typeface="Meiryo"/>
                <a:cs typeface="Meiryo"/>
              </a:rPr>
              <a:t>当てはまりを見る</a:t>
            </a:r>
          </a:p>
        </p:txBody>
      </p:sp>
      <p:sp>
        <p:nvSpPr>
          <p:cNvPr id="40" name="TextBox 39"/>
          <p:cNvSpPr txBox="1"/>
          <p:nvPr/>
        </p:nvSpPr>
        <p:spPr>
          <a:xfrm>
            <a:off x="8220456" y="2514600"/>
            <a:ext cx="3310128" cy="141732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R² や AICc で</a:t>
            </a:r>
          </a:p>
          <a:p>
            <a:pPr algn="ctr">
              <a:spcAft>
                <a:spcPts val="400"/>
              </a:spcAft>
            </a:pPr>
            <a:r>
              <a:rPr sz="2200" b="0">
                <a:solidFill>
                  <a:srgbClr val="262626"/>
                </a:solidFill>
                <a:latin typeface="Meiryo"/>
                <a:ea typeface="Meiryo"/>
                <a:cs typeface="Meiryo"/>
              </a:rPr>
              <a:t>当てはまりと</a:t>
            </a:r>
          </a:p>
          <a:p>
            <a:pPr algn="ctr">
              <a:spcAft>
                <a:spcPts val="400"/>
              </a:spcAft>
            </a:pPr>
            <a:r>
              <a:rPr sz="2200" b="0">
                <a:solidFill>
                  <a:srgbClr val="262626"/>
                </a:solidFill>
                <a:latin typeface="Meiryo"/>
                <a:ea typeface="Meiryo"/>
                <a:cs typeface="Meiryo"/>
              </a:rPr>
              <a:t>パラメータ数を比べる</a:t>
            </a:r>
          </a:p>
        </p:txBody>
      </p:sp>
      <p:sp>
        <p:nvSpPr>
          <p:cNvPr id="41" name="Rounded Rectangle 40"/>
          <p:cNvSpPr/>
          <p:nvPr/>
        </p:nvSpPr>
        <p:spPr>
          <a:xfrm>
            <a:off x="502920" y="4407408"/>
            <a:ext cx="11201400" cy="1737360"/>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685800" y="4590288"/>
            <a:ext cx="10835640" cy="1371600"/>
          </a:xfrm>
          <a:prstGeom prst="rect">
            <a:avLst/>
          </a:prstGeom>
          <a:noFill/>
        </p:spPr>
        <p:txBody>
          <a:bodyPr wrap="square" lIns="0" tIns="0" rIns="0" bIns="0" anchor="t">
            <a:spAutoFit/>
          </a:bodyPr>
          <a:lstStyle/>
          <a:p>
            <a:pPr algn="l">
              <a:spcAft>
                <a:spcPts val="600"/>
              </a:spcAft>
            </a:pPr>
            <a:r>
              <a:rPr sz="2500" b="1">
                <a:solidFill>
                  <a:srgbClr val="C00000"/>
                </a:solidFill>
                <a:latin typeface="Meiryo"/>
                <a:ea typeface="Meiryo"/>
                <a:cs typeface="Meiryo"/>
              </a:rPr>
              <a:t>落とし穴：初期値で答えが変わる</a:t>
            </a:r>
          </a:p>
          <a:p>
            <a:pPr algn="l">
              <a:spcAft>
                <a:spcPts val="600"/>
              </a:spcAft>
            </a:pPr>
            <a:r>
              <a:rPr sz="2300" b="0">
                <a:solidFill>
                  <a:srgbClr val="262626"/>
                </a:solidFill>
                <a:latin typeface="Meiryo"/>
                <a:ea typeface="Meiryo"/>
                <a:cs typeface="Meiryo"/>
              </a:rPr>
              <a:t>反復計算は初期値の近くの谷にはまる（局所解）</a:t>
            </a:r>
          </a:p>
          <a:p>
            <a:pPr algn="l">
              <a:spcAft>
                <a:spcPts val="600"/>
              </a:spcAft>
            </a:pPr>
            <a:r>
              <a:rPr sz="2300" b="0">
                <a:solidFill>
                  <a:srgbClr val="262626"/>
                </a:solidFill>
                <a:latin typeface="Meiryo"/>
                <a:ea typeface="Meiryo"/>
                <a:cs typeface="Meiryo"/>
              </a:rPr>
              <a:t>同じ波形・同じモデルでも、初期値しだいで別の値が出ることがある</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54/72</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5.4  得られる指標</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41. Goswami 2010　／　42. Couceiro 2015　／　45. Couceiro 2012</a:t>
            </a:r>
          </a:p>
        </p:txBody>
      </p:sp>
      <p:sp>
        <p:nvSpPr>
          <p:cNvPr id="30" name="TextBox 29"/>
          <p:cNvSpPr txBox="1"/>
          <p:nvPr/>
        </p:nvSpPr>
        <p:spPr>
          <a:xfrm>
            <a:off x="502920" y="1691640"/>
            <a:ext cx="5486400" cy="41148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分解して得られる数値</a:t>
            </a:r>
          </a:p>
        </p:txBody>
      </p:sp>
      <p:sp>
        <p:nvSpPr>
          <p:cNvPr id="3" name="Freeform 2"/>
          <p:cNvSpPr/>
          <p:nvPr/>
        </p:nvSpPr>
        <p:spPr>
          <a:xfrm>
            <a:off x="548640" y="2169395"/>
            <a:ext cx="4846320" cy="1396765"/>
          </a:xfrm>
          <a:custGeom>
            <a:avLst/>
            <a:gdLst/>
            <a:ahLst/>
            <a:cxnLst/>
            <a:rect l="l" t="t" r="r" b="b"/>
            <a:pathLst>
              <a:path w="4846320" h="1396765">
                <a:moveTo>
                  <a:pt x="0" y="1347716"/>
                </a:moveTo>
                <a:lnTo>
                  <a:pt x="28508" y="1338235"/>
                </a:lnTo>
                <a:lnTo>
                  <a:pt x="57016" y="1327255"/>
                </a:lnTo>
                <a:lnTo>
                  <a:pt x="85523" y="1314609"/>
                </a:lnTo>
                <a:lnTo>
                  <a:pt x="114031" y="1300127"/>
                </a:lnTo>
                <a:lnTo>
                  <a:pt x="142539" y="1283635"/>
                </a:lnTo>
                <a:lnTo>
                  <a:pt x="171047" y="1264962"/>
                </a:lnTo>
                <a:lnTo>
                  <a:pt x="199554" y="1243939"/>
                </a:lnTo>
                <a:lnTo>
                  <a:pt x="228062" y="1220411"/>
                </a:lnTo>
                <a:lnTo>
                  <a:pt x="256570" y="1194232"/>
                </a:lnTo>
                <a:lnTo>
                  <a:pt x="285078" y="1165278"/>
                </a:lnTo>
                <a:lnTo>
                  <a:pt x="313585" y="1133450"/>
                </a:lnTo>
                <a:lnTo>
                  <a:pt x="342093" y="1098676"/>
                </a:lnTo>
                <a:lnTo>
                  <a:pt x="370601" y="1060922"/>
                </a:lnTo>
                <a:lnTo>
                  <a:pt x="399109" y="1020194"/>
                </a:lnTo>
                <a:lnTo>
                  <a:pt x="427616" y="976545"/>
                </a:lnTo>
                <a:lnTo>
                  <a:pt x="456124" y="930076"/>
                </a:lnTo>
                <a:lnTo>
                  <a:pt x="484632" y="880945"/>
                </a:lnTo>
                <a:lnTo>
                  <a:pt x="513140" y="829366"/>
                </a:lnTo>
                <a:lnTo>
                  <a:pt x="541648" y="775611"/>
                </a:lnTo>
                <a:lnTo>
                  <a:pt x="570155" y="720012"/>
                </a:lnTo>
                <a:lnTo>
                  <a:pt x="598663" y="662960"/>
                </a:lnTo>
                <a:lnTo>
                  <a:pt x="627171" y="604899"/>
                </a:lnTo>
                <a:lnTo>
                  <a:pt x="655679" y="546327"/>
                </a:lnTo>
                <a:lnTo>
                  <a:pt x="684186" y="487786"/>
                </a:lnTo>
                <a:lnTo>
                  <a:pt x="712694" y="429858"/>
                </a:lnTo>
                <a:lnTo>
                  <a:pt x="741202" y="373152"/>
                </a:lnTo>
                <a:lnTo>
                  <a:pt x="769710" y="318297"/>
                </a:lnTo>
                <a:lnTo>
                  <a:pt x="798217" y="265932"/>
                </a:lnTo>
                <a:lnTo>
                  <a:pt x="826725" y="216689"/>
                </a:lnTo>
                <a:lnTo>
                  <a:pt x="855233" y="171186"/>
                </a:lnTo>
                <a:lnTo>
                  <a:pt x="883741" y="130009"/>
                </a:lnTo>
                <a:lnTo>
                  <a:pt x="912248" y="93705"/>
                </a:lnTo>
                <a:lnTo>
                  <a:pt x="940756" y="62764"/>
                </a:lnTo>
                <a:lnTo>
                  <a:pt x="969264" y="37614"/>
                </a:lnTo>
                <a:lnTo>
                  <a:pt x="997772" y="18605"/>
                </a:lnTo>
                <a:lnTo>
                  <a:pt x="1026280" y="6007"/>
                </a:lnTo>
                <a:lnTo>
                  <a:pt x="1054787" y="0"/>
                </a:lnTo>
                <a:lnTo>
                  <a:pt x="1083295" y="669"/>
                </a:lnTo>
                <a:lnTo>
                  <a:pt x="1111803" y="8004"/>
                </a:lnTo>
                <a:lnTo>
                  <a:pt x="1140311" y="21901"/>
                </a:lnTo>
                <a:lnTo>
                  <a:pt x="1168818" y="42163"/>
                </a:lnTo>
                <a:lnTo>
                  <a:pt x="1197326" y="68502"/>
                </a:lnTo>
                <a:lnTo>
                  <a:pt x="1225834" y="100552"/>
                </a:lnTo>
                <a:lnTo>
                  <a:pt x="1254342" y="137872"/>
                </a:lnTo>
                <a:lnTo>
                  <a:pt x="1282849" y="179959"/>
                </a:lnTo>
                <a:lnTo>
                  <a:pt x="1311357" y="226258"/>
                </a:lnTo>
                <a:lnTo>
                  <a:pt x="1339865" y="276175"/>
                </a:lnTo>
                <a:lnTo>
                  <a:pt x="1368373" y="329089"/>
                </a:lnTo>
                <a:lnTo>
                  <a:pt x="1396880" y="384365"/>
                </a:lnTo>
                <a:lnTo>
                  <a:pt x="1425388" y="441366"/>
                </a:lnTo>
                <a:lnTo>
                  <a:pt x="1453896" y="499464"/>
                </a:lnTo>
                <a:lnTo>
                  <a:pt x="1482404" y="558057"/>
                </a:lnTo>
                <a:lnTo>
                  <a:pt x="1510912" y="616569"/>
                </a:lnTo>
                <a:lnTo>
                  <a:pt x="1539419" y="674466"/>
                </a:lnTo>
                <a:lnTo>
                  <a:pt x="1567927" y="731262"/>
                </a:lnTo>
                <a:lnTo>
                  <a:pt x="1596435" y="786521"/>
                </a:lnTo>
                <a:lnTo>
                  <a:pt x="1624943" y="839865"/>
                </a:lnTo>
                <a:lnTo>
                  <a:pt x="1653450" y="890975"/>
                </a:lnTo>
                <a:lnTo>
                  <a:pt x="1681958" y="939589"/>
                </a:lnTo>
                <a:lnTo>
                  <a:pt x="1710466" y="985504"/>
                </a:lnTo>
                <a:lnTo>
                  <a:pt x="1738974" y="1028576"/>
                </a:lnTo>
                <a:lnTo>
                  <a:pt x="1767481" y="1068711"/>
                </a:lnTo>
                <a:lnTo>
                  <a:pt x="1795989" y="1105868"/>
                </a:lnTo>
                <a:lnTo>
                  <a:pt x="1824497" y="1140049"/>
                </a:lnTo>
                <a:lnTo>
                  <a:pt x="1853005" y="1171296"/>
                </a:lnTo>
                <a:lnTo>
                  <a:pt x="1881512" y="1199686"/>
                </a:lnTo>
                <a:lnTo>
                  <a:pt x="1910020" y="1225324"/>
                </a:lnTo>
                <a:lnTo>
                  <a:pt x="1938528" y="1248340"/>
                </a:lnTo>
                <a:lnTo>
                  <a:pt x="1967036" y="1268879"/>
                </a:lnTo>
                <a:lnTo>
                  <a:pt x="1995544" y="1287103"/>
                </a:lnTo>
                <a:lnTo>
                  <a:pt x="2024051" y="1303179"/>
                </a:lnTo>
                <a:lnTo>
                  <a:pt x="2052559" y="1317280"/>
                </a:lnTo>
                <a:lnTo>
                  <a:pt x="2081067" y="1329579"/>
                </a:lnTo>
                <a:lnTo>
                  <a:pt x="2109575" y="1340246"/>
                </a:lnTo>
                <a:lnTo>
                  <a:pt x="2138082" y="1349447"/>
                </a:lnTo>
                <a:lnTo>
                  <a:pt x="2166590" y="1357339"/>
                </a:lnTo>
                <a:lnTo>
                  <a:pt x="2195098" y="1364072"/>
                </a:lnTo>
                <a:lnTo>
                  <a:pt x="2223606" y="1369784"/>
                </a:lnTo>
                <a:lnTo>
                  <a:pt x="2252113" y="1374605"/>
                </a:lnTo>
                <a:lnTo>
                  <a:pt x="2280621" y="1378651"/>
                </a:lnTo>
                <a:lnTo>
                  <a:pt x="2309129" y="1382030"/>
                </a:lnTo>
                <a:lnTo>
                  <a:pt x="2337637" y="1384835"/>
                </a:lnTo>
                <a:lnTo>
                  <a:pt x="2366144" y="1387153"/>
                </a:lnTo>
                <a:lnTo>
                  <a:pt x="2394652" y="1389057"/>
                </a:lnTo>
                <a:lnTo>
                  <a:pt x="2423160" y="1390614"/>
                </a:lnTo>
                <a:lnTo>
                  <a:pt x="2451668" y="1391879"/>
                </a:lnTo>
                <a:lnTo>
                  <a:pt x="2480176" y="1392903"/>
                </a:lnTo>
                <a:lnTo>
                  <a:pt x="2508683" y="1393727"/>
                </a:lnTo>
                <a:lnTo>
                  <a:pt x="2537191" y="1394386"/>
                </a:lnTo>
                <a:lnTo>
                  <a:pt x="2565699" y="1394912"/>
                </a:lnTo>
                <a:lnTo>
                  <a:pt x="2594207" y="1395328"/>
                </a:lnTo>
                <a:lnTo>
                  <a:pt x="2622714" y="1395656"/>
                </a:lnTo>
                <a:lnTo>
                  <a:pt x="2651222" y="1395913"/>
                </a:lnTo>
                <a:lnTo>
                  <a:pt x="2679730" y="1396114"/>
                </a:lnTo>
                <a:lnTo>
                  <a:pt x="2708238" y="1396270"/>
                </a:lnTo>
                <a:lnTo>
                  <a:pt x="2736745" y="1396390"/>
                </a:lnTo>
                <a:lnTo>
                  <a:pt x="2765253" y="1396482"/>
                </a:lnTo>
                <a:lnTo>
                  <a:pt x="2793761" y="1396553"/>
                </a:lnTo>
                <a:lnTo>
                  <a:pt x="2822269" y="1396607"/>
                </a:lnTo>
                <a:lnTo>
                  <a:pt x="2850776" y="1396648"/>
                </a:lnTo>
                <a:lnTo>
                  <a:pt x="2879284" y="1396678"/>
                </a:lnTo>
                <a:lnTo>
                  <a:pt x="2907792" y="1396701"/>
                </a:lnTo>
                <a:lnTo>
                  <a:pt x="2936300" y="1396718"/>
                </a:lnTo>
                <a:lnTo>
                  <a:pt x="2964808" y="1396731"/>
                </a:lnTo>
                <a:lnTo>
                  <a:pt x="2993315" y="1396740"/>
                </a:lnTo>
                <a:lnTo>
                  <a:pt x="3021823" y="1396747"/>
                </a:lnTo>
                <a:lnTo>
                  <a:pt x="3050331" y="1396752"/>
                </a:lnTo>
                <a:lnTo>
                  <a:pt x="3078839" y="1396756"/>
                </a:lnTo>
                <a:lnTo>
                  <a:pt x="3107346" y="1396758"/>
                </a:lnTo>
                <a:lnTo>
                  <a:pt x="3135854" y="1396760"/>
                </a:lnTo>
                <a:lnTo>
                  <a:pt x="3164362" y="1396762"/>
                </a:lnTo>
                <a:lnTo>
                  <a:pt x="3192870" y="1396763"/>
                </a:lnTo>
                <a:lnTo>
                  <a:pt x="3221377" y="1396763"/>
                </a:lnTo>
                <a:lnTo>
                  <a:pt x="3249885" y="1396764"/>
                </a:lnTo>
                <a:lnTo>
                  <a:pt x="3278393" y="1396764"/>
                </a:lnTo>
                <a:lnTo>
                  <a:pt x="3306901" y="1396764"/>
                </a:lnTo>
                <a:lnTo>
                  <a:pt x="3335408" y="1396765"/>
                </a:lnTo>
                <a:lnTo>
                  <a:pt x="3363916" y="1396765"/>
                </a:lnTo>
                <a:lnTo>
                  <a:pt x="3392424" y="1396765"/>
                </a:lnTo>
                <a:lnTo>
                  <a:pt x="3420932" y="1396765"/>
                </a:lnTo>
                <a:lnTo>
                  <a:pt x="3449440" y="1396765"/>
                </a:lnTo>
                <a:lnTo>
                  <a:pt x="3477947" y="1396765"/>
                </a:lnTo>
                <a:lnTo>
                  <a:pt x="3506455" y="1396765"/>
                </a:lnTo>
                <a:lnTo>
                  <a:pt x="3534963" y="1396765"/>
                </a:lnTo>
                <a:lnTo>
                  <a:pt x="3563471" y="1396765"/>
                </a:lnTo>
                <a:lnTo>
                  <a:pt x="3591978" y="1396765"/>
                </a:lnTo>
                <a:lnTo>
                  <a:pt x="3620486" y="1396765"/>
                </a:lnTo>
                <a:lnTo>
                  <a:pt x="3648994" y="1396765"/>
                </a:lnTo>
                <a:lnTo>
                  <a:pt x="3677502" y="1396765"/>
                </a:lnTo>
                <a:lnTo>
                  <a:pt x="3706009" y="1396765"/>
                </a:lnTo>
                <a:lnTo>
                  <a:pt x="3734517" y="1396765"/>
                </a:lnTo>
                <a:lnTo>
                  <a:pt x="3763025" y="1396765"/>
                </a:lnTo>
                <a:lnTo>
                  <a:pt x="3791533" y="1396765"/>
                </a:lnTo>
                <a:lnTo>
                  <a:pt x="3820040" y="1396765"/>
                </a:lnTo>
                <a:lnTo>
                  <a:pt x="3848548" y="1396765"/>
                </a:lnTo>
                <a:lnTo>
                  <a:pt x="3877056" y="1396765"/>
                </a:lnTo>
                <a:lnTo>
                  <a:pt x="3905564" y="1396765"/>
                </a:lnTo>
                <a:lnTo>
                  <a:pt x="3934072" y="1396765"/>
                </a:lnTo>
                <a:lnTo>
                  <a:pt x="3962579" y="1396765"/>
                </a:lnTo>
                <a:lnTo>
                  <a:pt x="3991087" y="1396765"/>
                </a:lnTo>
                <a:lnTo>
                  <a:pt x="4019595" y="1396765"/>
                </a:lnTo>
                <a:lnTo>
                  <a:pt x="4048103" y="1396765"/>
                </a:lnTo>
                <a:lnTo>
                  <a:pt x="4076610" y="1396765"/>
                </a:lnTo>
                <a:lnTo>
                  <a:pt x="4105118" y="1396765"/>
                </a:lnTo>
                <a:lnTo>
                  <a:pt x="4133626" y="1396765"/>
                </a:lnTo>
                <a:lnTo>
                  <a:pt x="4162134" y="1396765"/>
                </a:lnTo>
                <a:lnTo>
                  <a:pt x="4190641" y="1396765"/>
                </a:lnTo>
                <a:lnTo>
                  <a:pt x="4219149" y="1396765"/>
                </a:lnTo>
                <a:lnTo>
                  <a:pt x="4247657" y="1396765"/>
                </a:lnTo>
                <a:lnTo>
                  <a:pt x="4276165" y="1396765"/>
                </a:lnTo>
                <a:lnTo>
                  <a:pt x="4304672" y="1396765"/>
                </a:lnTo>
                <a:lnTo>
                  <a:pt x="4333180" y="1396765"/>
                </a:lnTo>
                <a:lnTo>
                  <a:pt x="4361688" y="1396765"/>
                </a:lnTo>
                <a:lnTo>
                  <a:pt x="4390196" y="1396765"/>
                </a:lnTo>
                <a:lnTo>
                  <a:pt x="4418704" y="1396765"/>
                </a:lnTo>
                <a:lnTo>
                  <a:pt x="4447211" y="1396765"/>
                </a:lnTo>
                <a:lnTo>
                  <a:pt x="4475719" y="1396765"/>
                </a:lnTo>
                <a:lnTo>
                  <a:pt x="4504227" y="1396765"/>
                </a:lnTo>
                <a:lnTo>
                  <a:pt x="4532735" y="1396765"/>
                </a:lnTo>
                <a:lnTo>
                  <a:pt x="4561242" y="1396765"/>
                </a:lnTo>
                <a:lnTo>
                  <a:pt x="4589750" y="1396765"/>
                </a:lnTo>
                <a:lnTo>
                  <a:pt x="4618258" y="1396765"/>
                </a:lnTo>
                <a:lnTo>
                  <a:pt x="4646766" y="1396765"/>
                </a:lnTo>
                <a:lnTo>
                  <a:pt x="4675273" y="1396765"/>
                </a:lnTo>
                <a:lnTo>
                  <a:pt x="4703781" y="1396765"/>
                </a:lnTo>
                <a:lnTo>
                  <a:pt x="4732289" y="1396765"/>
                </a:lnTo>
                <a:lnTo>
                  <a:pt x="4760797" y="1396765"/>
                </a:lnTo>
                <a:lnTo>
                  <a:pt x="4789304" y="1396765"/>
                </a:lnTo>
                <a:lnTo>
                  <a:pt x="4817812" y="1396765"/>
                </a:lnTo>
                <a:lnTo>
                  <a:pt x="4846320" y="1396765"/>
                </a:lnTo>
              </a:path>
            </a:pathLst>
          </a:custGeom>
          <a:noFill/>
          <a:ln w="317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548640" y="2923580"/>
            <a:ext cx="4846320" cy="642540"/>
          </a:xfrm>
          <a:custGeom>
            <a:avLst/>
            <a:gdLst/>
            <a:ahLst/>
            <a:cxnLst/>
            <a:rect l="l" t="t" r="r" b="b"/>
            <a:pathLst>
              <a:path w="4846320" h="642540">
                <a:moveTo>
                  <a:pt x="0" y="642540"/>
                </a:moveTo>
                <a:lnTo>
                  <a:pt x="28508" y="642531"/>
                </a:lnTo>
                <a:lnTo>
                  <a:pt x="57016" y="642519"/>
                </a:lnTo>
                <a:lnTo>
                  <a:pt x="85523" y="642506"/>
                </a:lnTo>
                <a:lnTo>
                  <a:pt x="114031" y="642490"/>
                </a:lnTo>
                <a:lnTo>
                  <a:pt x="142539" y="642470"/>
                </a:lnTo>
                <a:lnTo>
                  <a:pt x="171047" y="642446"/>
                </a:lnTo>
                <a:lnTo>
                  <a:pt x="199554" y="642418"/>
                </a:lnTo>
                <a:lnTo>
                  <a:pt x="228062" y="642384"/>
                </a:lnTo>
                <a:lnTo>
                  <a:pt x="256570" y="642343"/>
                </a:lnTo>
                <a:lnTo>
                  <a:pt x="285078" y="642295"/>
                </a:lnTo>
                <a:lnTo>
                  <a:pt x="313585" y="642237"/>
                </a:lnTo>
                <a:lnTo>
                  <a:pt x="342093" y="642169"/>
                </a:lnTo>
                <a:lnTo>
                  <a:pt x="370601" y="642088"/>
                </a:lnTo>
                <a:lnTo>
                  <a:pt x="399109" y="641993"/>
                </a:lnTo>
                <a:lnTo>
                  <a:pt x="427616" y="641881"/>
                </a:lnTo>
                <a:lnTo>
                  <a:pt x="456124" y="641749"/>
                </a:lnTo>
                <a:lnTo>
                  <a:pt x="484632" y="641594"/>
                </a:lnTo>
                <a:lnTo>
                  <a:pt x="513140" y="641413"/>
                </a:lnTo>
                <a:lnTo>
                  <a:pt x="541648" y="641203"/>
                </a:lnTo>
                <a:lnTo>
                  <a:pt x="570155" y="640957"/>
                </a:lnTo>
                <a:lnTo>
                  <a:pt x="598663" y="640673"/>
                </a:lnTo>
                <a:lnTo>
                  <a:pt x="627171" y="640343"/>
                </a:lnTo>
                <a:lnTo>
                  <a:pt x="655679" y="639962"/>
                </a:lnTo>
                <a:lnTo>
                  <a:pt x="684186" y="639523"/>
                </a:lnTo>
                <a:lnTo>
                  <a:pt x="712694" y="639018"/>
                </a:lnTo>
                <a:lnTo>
                  <a:pt x="741202" y="638440"/>
                </a:lnTo>
                <a:lnTo>
                  <a:pt x="769710" y="637777"/>
                </a:lnTo>
                <a:lnTo>
                  <a:pt x="798217" y="637022"/>
                </a:lnTo>
                <a:lnTo>
                  <a:pt x="826725" y="636161"/>
                </a:lnTo>
                <a:lnTo>
                  <a:pt x="855233" y="635184"/>
                </a:lnTo>
                <a:lnTo>
                  <a:pt x="883741" y="634076"/>
                </a:lnTo>
                <a:lnTo>
                  <a:pt x="912248" y="632825"/>
                </a:lnTo>
                <a:lnTo>
                  <a:pt x="940756" y="631414"/>
                </a:lnTo>
                <a:lnTo>
                  <a:pt x="969264" y="629827"/>
                </a:lnTo>
                <a:lnTo>
                  <a:pt x="997772" y="628047"/>
                </a:lnTo>
                <a:lnTo>
                  <a:pt x="1026280" y="626055"/>
                </a:lnTo>
                <a:lnTo>
                  <a:pt x="1054787" y="623832"/>
                </a:lnTo>
                <a:lnTo>
                  <a:pt x="1083295" y="621356"/>
                </a:lnTo>
                <a:lnTo>
                  <a:pt x="1111803" y="618607"/>
                </a:lnTo>
                <a:lnTo>
                  <a:pt x="1140311" y="615562"/>
                </a:lnTo>
                <a:lnTo>
                  <a:pt x="1168818" y="612198"/>
                </a:lnTo>
                <a:lnTo>
                  <a:pt x="1197326" y="608489"/>
                </a:lnTo>
                <a:lnTo>
                  <a:pt x="1225834" y="604413"/>
                </a:lnTo>
                <a:lnTo>
                  <a:pt x="1254342" y="599944"/>
                </a:lnTo>
                <a:lnTo>
                  <a:pt x="1282849" y="595058"/>
                </a:lnTo>
                <a:lnTo>
                  <a:pt x="1311357" y="589728"/>
                </a:lnTo>
                <a:lnTo>
                  <a:pt x="1339865" y="583930"/>
                </a:lnTo>
                <a:lnTo>
                  <a:pt x="1368373" y="577641"/>
                </a:lnTo>
                <a:lnTo>
                  <a:pt x="1396880" y="570836"/>
                </a:lnTo>
                <a:lnTo>
                  <a:pt x="1425388" y="563493"/>
                </a:lnTo>
                <a:lnTo>
                  <a:pt x="1453896" y="555592"/>
                </a:lnTo>
                <a:lnTo>
                  <a:pt x="1482404" y="547113"/>
                </a:lnTo>
                <a:lnTo>
                  <a:pt x="1510912" y="538039"/>
                </a:lnTo>
                <a:lnTo>
                  <a:pt x="1539419" y="528357"/>
                </a:lnTo>
                <a:lnTo>
                  <a:pt x="1567927" y="518053"/>
                </a:lnTo>
                <a:lnTo>
                  <a:pt x="1596435" y="507120"/>
                </a:lnTo>
                <a:lnTo>
                  <a:pt x="1624943" y="495553"/>
                </a:lnTo>
                <a:lnTo>
                  <a:pt x="1653450" y="483352"/>
                </a:lnTo>
                <a:lnTo>
                  <a:pt x="1681958" y="470520"/>
                </a:lnTo>
                <a:lnTo>
                  <a:pt x="1710466" y="457064"/>
                </a:lnTo>
                <a:lnTo>
                  <a:pt x="1738974" y="442999"/>
                </a:lnTo>
                <a:lnTo>
                  <a:pt x="1767481" y="428343"/>
                </a:lnTo>
                <a:lnTo>
                  <a:pt x="1795989" y="413119"/>
                </a:lnTo>
                <a:lnTo>
                  <a:pt x="1824497" y="397357"/>
                </a:lnTo>
                <a:lnTo>
                  <a:pt x="1853005" y="381091"/>
                </a:lnTo>
                <a:lnTo>
                  <a:pt x="1881512" y="364364"/>
                </a:lnTo>
                <a:lnTo>
                  <a:pt x="1910020" y="347221"/>
                </a:lnTo>
                <a:lnTo>
                  <a:pt x="1938528" y="329716"/>
                </a:lnTo>
                <a:lnTo>
                  <a:pt x="1967036" y="311906"/>
                </a:lnTo>
                <a:lnTo>
                  <a:pt x="1995544" y="293856"/>
                </a:lnTo>
                <a:lnTo>
                  <a:pt x="2024051" y="275634"/>
                </a:lnTo>
                <a:lnTo>
                  <a:pt x="2052559" y="257314"/>
                </a:lnTo>
                <a:lnTo>
                  <a:pt x="2081067" y="238974"/>
                </a:lnTo>
                <a:lnTo>
                  <a:pt x="2109575" y="220696"/>
                </a:lnTo>
                <a:lnTo>
                  <a:pt x="2138082" y="202566"/>
                </a:lnTo>
                <a:lnTo>
                  <a:pt x="2166590" y="184672"/>
                </a:lnTo>
                <a:lnTo>
                  <a:pt x="2195098" y="167104"/>
                </a:lnTo>
                <a:lnTo>
                  <a:pt x="2223606" y="149955"/>
                </a:lnTo>
                <a:lnTo>
                  <a:pt x="2252113" y="133316"/>
                </a:lnTo>
                <a:lnTo>
                  <a:pt x="2280621" y="117280"/>
                </a:lnTo>
                <a:lnTo>
                  <a:pt x="2309129" y="101937"/>
                </a:lnTo>
                <a:lnTo>
                  <a:pt x="2337637" y="87378"/>
                </a:lnTo>
                <a:lnTo>
                  <a:pt x="2366144" y="73687"/>
                </a:lnTo>
                <a:lnTo>
                  <a:pt x="2394652" y="60948"/>
                </a:lnTo>
                <a:lnTo>
                  <a:pt x="2423160" y="49239"/>
                </a:lnTo>
                <a:lnTo>
                  <a:pt x="2451668" y="38634"/>
                </a:lnTo>
                <a:lnTo>
                  <a:pt x="2480176" y="29199"/>
                </a:lnTo>
                <a:lnTo>
                  <a:pt x="2508683" y="20994"/>
                </a:lnTo>
                <a:lnTo>
                  <a:pt x="2537191" y="14073"/>
                </a:lnTo>
                <a:lnTo>
                  <a:pt x="2565699" y="8481"/>
                </a:lnTo>
                <a:lnTo>
                  <a:pt x="2594207" y="4255"/>
                </a:lnTo>
                <a:lnTo>
                  <a:pt x="2622714" y="1421"/>
                </a:lnTo>
                <a:lnTo>
                  <a:pt x="2651222" y="0"/>
                </a:lnTo>
                <a:lnTo>
                  <a:pt x="2679730" y="0"/>
                </a:lnTo>
                <a:lnTo>
                  <a:pt x="2708238" y="1421"/>
                </a:lnTo>
                <a:lnTo>
                  <a:pt x="2736745" y="4255"/>
                </a:lnTo>
                <a:lnTo>
                  <a:pt x="2765253" y="8481"/>
                </a:lnTo>
                <a:lnTo>
                  <a:pt x="2793761" y="14073"/>
                </a:lnTo>
                <a:lnTo>
                  <a:pt x="2822269" y="20994"/>
                </a:lnTo>
                <a:lnTo>
                  <a:pt x="2850776" y="29199"/>
                </a:lnTo>
                <a:lnTo>
                  <a:pt x="2879284" y="38634"/>
                </a:lnTo>
                <a:lnTo>
                  <a:pt x="2907792" y="49239"/>
                </a:lnTo>
                <a:lnTo>
                  <a:pt x="2936300" y="60948"/>
                </a:lnTo>
                <a:lnTo>
                  <a:pt x="2964808" y="73687"/>
                </a:lnTo>
                <a:lnTo>
                  <a:pt x="2993315" y="87378"/>
                </a:lnTo>
                <a:lnTo>
                  <a:pt x="3021823" y="101937"/>
                </a:lnTo>
                <a:lnTo>
                  <a:pt x="3050331" y="117280"/>
                </a:lnTo>
                <a:lnTo>
                  <a:pt x="3078839" y="133316"/>
                </a:lnTo>
                <a:lnTo>
                  <a:pt x="3107346" y="149955"/>
                </a:lnTo>
                <a:lnTo>
                  <a:pt x="3135854" y="167104"/>
                </a:lnTo>
                <a:lnTo>
                  <a:pt x="3164362" y="184672"/>
                </a:lnTo>
                <a:lnTo>
                  <a:pt x="3192870" y="202566"/>
                </a:lnTo>
                <a:lnTo>
                  <a:pt x="3221377" y="220696"/>
                </a:lnTo>
                <a:lnTo>
                  <a:pt x="3249885" y="238974"/>
                </a:lnTo>
                <a:lnTo>
                  <a:pt x="3278393" y="257314"/>
                </a:lnTo>
                <a:lnTo>
                  <a:pt x="3306901" y="275634"/>
                </a:lnTo>
                <a:lnTo>
                  <a:pt x="3335408" y="293856"/>
                </a:lnTo>
                <a:lnTo>
                  <a:pt x="3363916" y="311906"/>
                </a:lnTo>
                <a:lnTo>
                  <a:pt x="3392424" y="329716"/>
                </a:lnTo>
                <a:lnTo>
                  <a:pt x="3420932" y="347221"/>
                </a:lnTo>
                <a:lnTo>
                  <a:pt x="3449440" y="364364"/>
                </a:lnTo>
                <a:lnTo>
                  <a:pt x="3477947" y="381091"/>
                </a:lnTo>
                <a:lnTo>
                  <a:pt x="3506455" y="397357"/>
                </a:lnTo>
                <a:lnTo>
                  <a:pt x="3534963" y="413119"/>
                </a:lnTo>
                <a:lnTo>
                  <a:pt x="3563471" y="428343"/>
                </a:lnTo>
                <a:lnTo>
                  <a:pt x="3591978" y="442999"/>
                </a:lnTo>
                <a:lnTo>
                  <a:pt x="3620486" y="457064"/>
                </a:lnTo>
                <a:lnTo>
                  <a:pt x="3648994" y="470520"/>
                </a:lnTo>
                <a:lnTo>
                  <a:pt x="3677502" y="483352"/>
                </a:lnTo>
                <a:lnTo>
                  <a:pt x="3706009" y="495553"/>
                </a:lnTo>
                <a:lnTo>
                  <a:pt x="3734517" y="507120"/>
                </a:lnTo>
                <a:lnTo>
                  <a:pt x="3763025" y="518053"/>
                </a:lnTo>
                <a:lnTo>
                  <a:pt x="3791533" y="528357"/>
                </a:lnTo>
                <a:lnTo>
                  <a:pt x="3820040" y="538039"/>
                </a:lnTo>
                <a:lnTo>
                  <a:pt x="3848548" y="547113"/>
                </a:lnTo>
                <a:lnTo>
                  <a:pt x="3877056" y="555592"/>
                </a:lnTo>
                <a:lnTo>
                  <a:pt x="3905564" y="563493"/>
                </a:lnTo>
                <a:lnTo>
                  <a:pt x="3934072" y="570836"/>
                </a:lnTo>
                <a:lnTo>
                  <a:pt x="3962579" y="577641"/>
                </a:lnTo>
                <a:lnTo>
                  <a:pt x="3991087" y="583930"/>
                </a:lnTo>
                <a:lnTo>
                  <a:pt x="4019595" y="589728"/>
                </a:lnTo>
                <a:lnTo>
                  <a:pt x="4048103" y="595058"/>
                </a:lnTo>
                <a:lnTo>
                  <a:pt x="4076610" y="599944"/>
                </a:lnTo>
                <a:lnTo>
                  <a:pt x="4105118" y="604413"/>
                </a:lnTo>
                <a:lnTo>
                  <a:pt x="4133626" y="608489"/>
                </a:lnTo>
                <a:lnTo>
                  <a:pt x="4162134" y="612198"/>
                </a:lnTo>
                <a:lnTo>
                  <a:pt x="4190641" y="615562"/>
                </a:lnTo>
                <a:lnTo>
                  <a:pt x="4219149" y="618607"/>
                </a:lnTo>
                <a:lnTo>
                  <a:pt x="4247657" y="621356"/>
                </a:lnTo>
                <a:lnTo>
                  <a:pt x="4276165" y="623832"/>
                </a:lnTo>
                <a:lnTo>
                  <a:pt x="4304672" y="626055"/>
                </a:lnTo>
                <a:lnTo>
                  <a:pt x="4333180" y="628047"/>
                </a:lnTo>
                <a:lnTo>
                  <a:pt x="4361688" y="629827"/>
                </a:lnTo>
                <a:lnTo>
                  <a:pt x="4390196" y="631414"/>
                </a:lnTo>
                <a:lnTo>
                  <a:pt x="4418704" y="632825"/>
                </a:lnTo>
                <a:lnTo>
                  <a:pt x="4447211" y="634076"/>
                </a:lnTo>
                <a:lnTo>
                  <a:pt x="4475719" y="635184"/>
                </a:lnTo>
                <a:lnTo>
                  <a:pt x="4504227" y="636161"/>
                </a:lnTo>
                <a:lnTo>
                  <a:pt x="4532735" y="637022"/>
                </a:lnTo>
                <a:lnTo>
                  <a:pt x="4561242" y="637777"/>
                </a:lnTo>
                <a:lnTo>
                  <a:pt x="4589750" y="638440"/>
                </a:lnTo>
                <a:lnTo>
                  <a:pt x="4618258" y="639018"/>
                </a:lnTo>
                <a:lnTo>
                  <a:pt x="4646766" y="639523"/>
                </a:lnTo>
                <a:lnTo>
                  <a:pt x="4675273" y="639962"/>
                </a:lnTo>
                <a:lnTo>
                  <a:pt x="4703781" y="640343"/>
                </a:lnTo>
                <a:lnTo>
                  <a:pt x="4732289" y="640673"/>
                </a:lnTo>
                <a:lnTo>
                  <a:pt x="4760797" y="640957"/>
                </a:lnTo>
                <a:lnTo>
                  <a:pt x="4789304" y="641203"/>
                </a:lnTo>
                <a:lnTo>
                  <a:pt x="4817812" y="641413"/>
                </a:lnTo>
                <a:lnTo>
                  <a:pt x="4846320" y="641594"/>
                </a:lnTo>
              </a:path>
            </a:pathLst>
          </a:custGeom>
          <a:noFill/>
          <a:ln w="3175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30"/>
          <p:cNvCxnSpPr/>
          <p:nvPr/>
        </p:nvCxnSpPr>
        <p:spPr>
          <a:xfrm>
            <a:off x="548640" y="3584448"/>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618488" y="2212848"/>
            <a:ext cx="0" cy="1371600"/>
          </a:xfrm>
          <a:prstGeom prst="line">
            <a:avLst/>
          </a:prstGeom>
          <a:ln w="15875">
            <a:solidFill>
              <a:srgbClr val="0072B2"/>
            </a:solidFill>
            <a:prstDash val="sys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218688" y="2724912"/>
            <a:ext cx="0" cy="859536"/>
          </a:xfrm>
          <a:prstGeom prst="line">
            <a:avLst/>
          </a:prstGeom>
          <a:ln w="15875">
            <a:solidFill>
              <a:srgbClr val="D55E00"/>
            </a:solidFill>
            <a:prstDash val="sysDash"/>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417320" y="3657600"/>
            <a:ext cx="1828800" cy="384048"/>
          </a:xfrm>
          <a:prstGeom prst="rect">
            <a:avLst/>
          </a:prstGeom>
          <a:noFill/>
        </p:spPr>
        <p:txBody>
          <a:bodyPr wrap="square" lIns="0" tIns="0" rIns="0" bIns="0" anchor="t">
            <a:spAutoFit/>
          </a:bodyPr>
          <a:lstStyle/>
          <a:p>
            <a:pPr algn="l"/>
            <a:r>
              <a:rPr sz="2300" b="1">
                <a:solidFill>
                  <a:srgbClr val="0072B2"/>
                </a:solidFill>
                <a:latin typeface="Meiryo"/>
                <a:ea typeface="Meiryo"/>
                <a:cs typeface="Meiryo"/>
              </a:rPr>
              <a:t>μ₁</a:t>
            </a:r>
          </a:p>
        </p:txBody>
      </p:sp>
      <p:sp>
        <p:nvSpPr>
          <p:cNvPr id="35" name="TextBox 34"/>
          <p:cNvSpPr txBox="1"/>
          <p:nvPr/>
        </p:nvSpPr>
        <p:spPr>
          <a:xfrm>
            <a:off x="3017520" y="3657600"/>
            <a:ext cx="1828800" cy="384048"/>
          </a:xfrm>
          <a:prstGeom prst="rect">
            <a:avLst/>
          </a:prstGeom>
          <a:noFill/>
        </p:spPr>
        <p:txBody>
          <a:bodyPr wrap="square" lIns="0" tIns="0" rIns="0" bIns="0" anchor="t">
            <a:spAutoFit/>
          </a:bodyPr>
          <a:lstStyle/>
          <a:p>
            <a:pPr algn="l"/>
            <a:r>
              <a:rPr sz="2300" b="1">
                <a:solidFill>
                  <a:srgbClr val="D55E00"/>
                </a:solidFill>
                <a:latin typeface="Meiryo"/>
                <a:ea typeface="Meiryo"/>
                <a:cs typeface="Meiryo"/>
              </a:rPr>
              <a:t>μ₂</a:t>
            </a:r>
          </a:p>
        </p:txBody>
      </p:sp>
      <p:sp>
        <p:nvSpPr>
          <p:cNvPr id="36" name="TextBox 35"/>
          <p:cNvSpPr txBox="1"/>
          <p:nvPr/>
        </p:nvSpPr>
        <p:spPr>
          <a:xfrm>
            <a:off x="548640" y="4160520"/>
            <a:ext cx="4937760" cy="384048"/>
          </a:xfrm>
          <a:prstGeom prst="rect">
            <a:avLst/>
          </a:prstGeom>
          <a:noFill/>
        </p:spPr>
        <p:txBody>
          <a:bodyPr wrap="square" lIns="0" tIns="0" rIns="0" bIns="0" anchor="t">
            <a:spAutoFit/>
          </a:bodyPr>
          <a:lstStyle/>
          <a:p>
            <a:pPr algn="l"/>
            <a:r>
              <a:rPr sz="2200" b="0">
                <a:solidFill>
                  <a:srgbClr val="0072B2"/>
                </a:solidFill>
                <a:latin typeface="Meiryo"/>
                <a:ea typeface="Meiryo"/>
                <a:cs typeface="Meiryo"/>
              </a:rPr>
              <a:t>a₁ ＝ 第1成分波の高さ</a:t>
            </a:r>
          </a:p>
        </p:txBody>
      </p:sp>
      <p:sp>
        <p:nvSpPr>
          <p:cNvPr id="37" name="TextBox 36"/>
          <p:cNvSpPr txBox="1"/>
          <p:nvPr/>
        </p:nvSpPr>
        <p:spPr>
          <a:xfrm>
            <a:off x="548640" y="4617720"/>
            <a:ext cx="4937760" cy="384048"/>
          </a:xfrm>
          <a:prstGeom prst="rect">
            <a:avLst/>
          </a:prstGeom>
          <a:noFill/>
        </p:spPr>
        <p:txBody>
          <a:bodyPr wrap="square" lIns="0" tIns="0" rIns="0" bIns="0" anchor="t">
            <a:spAutoFit/>
          </a:bodyPr>
          <a:lstStyle/>
          <a:p>
            <a:pPr algn="l"/>
            <a:r>
              <a:rPr sz="2200" b="0">
                <a:solidFill>
                  <a:srgbClr val="D55E00"/>
                </a:solidFill>
                <a:latin typeface="Meiryo"/>
                <a:ea typeface="Meiryo"/>
                <a:cs typeface="Meiryo"/>
              </a:rPr>
              <a:t>a₂ ＝ 第2成分波の高さ</a:t>
            </a:r>
          </a:p>
        </p:txBody>
      </p:sp>
      <p:sp>
        <p:nvSpPr>
          <p:cNvPr id="38" name="Rounded Rectangle 37"/>
          <p:cNvSpPr/>
          <p:nvPr/>
        </p:nvSpPr>
        <p:spPr>
          <a:xfrm>
            <a:off x="6126480" y="1737360"/>
            <a:ext cx="5623560" cy="1078992"/>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309360" y="1847088"/>
            <a:ext cx="5257800" cy="384048"/>
          </a:xfrm>
          <a:prstGeom prst="rect">
            <a:avLst/>
          </a:prstGeom>
          <a:noFill/>
        </p:spPr>
        <p:txBody>
          <a:bodyPr wrap="square" lIns="0" tIns="0" rIns="0" bIns="0" anchor="t">
            <a:spAutoFit/>
          </a:bodyPr>
          <a:lstStyle/>
          <a:p>
            <a:pPr algn="l"/>
            <a:r>
              <a:rPr sz="2400" b="1">
                <a:solidFill>
                  <a:srgbClr val="0072B2"/>
                </a:solidFill>
                <a:latin typeface="Meiryo"/>
                <a:ea typeface="Meiryo"/>
                <a:cs typeface="Meiryo"/>
              </a:rPr>
              <a:t>T1_2 ＝ μ₂ − μ₁</a:t>
            </a:r>
          </a:p>
        </p:txBody>
      </p:sp>
      <p:sp>
        <p:nvSpPr>
          <p:cNvPr id="40" name="TextBox 39"/>
          <p:cNvSpPr txBox="1"/>
          <p:nvPr/>
        </p:nvSpPr>
        <p:spPr>
          <a:xfrm>
            <a:off x="6309360" y="230428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時間差 → SI ＝ 身長 ÷ T1_2</a:t>
            </a:r>
          </a:p>
        </p:txBody>
      </p:sp>
      <p:sp>
        <p:nvSpPr>
          <p:cNvPr id="41" name="Rounded Rectangle 40"/>
          <p:cNvSpPr/>
          <p:nvPr/>
        </p:nvSpPr>
        <p:spPr>
          <a:xfrm>
            <a:off x="6126480" y="2926080"/>
            <a:ext cx="5623560" cy="1078992"/>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6309360" y="3035808"/>
            <a:ext cx="5257800" cy="384048"/>
          </a:xfrm>
          <a:prstGeom prst="rect">
            <a:avLst/>
          </a:prstGeom>
          <a:noFill/>
        </p:spPr>
        <p:txBody>
          <a:bodyPr wrap="square" lIns="0" tIns="0" rIns="0" bIns="0" anchor="t">
            <a:spAutoFit/>
          </a:bodyPr>
          <a:lstStyle/>
          <a:p>
            <a:pPr algn="l"/>
            <a:r>
              <a:rPr sz="2400" b="1">
                <a:solidFill>
                  <a:srgbClr val="D55E00"/>
                </a:solidFill>
                <a:latin typeface="Meiryo"/>
                <a:ea typeface="Meiryo"/>
                <a:cs typeface="Meiryo"/>
              </a:rPr>
              <a:t>R1_2 ＝ a₂ ／ a₁</a:t>
            </a:r>
          </a:p>
        </p:txBody>
      </p:sp>
      <p:sp>
        <p:nvSpPr>
          <p:cNvPr id="43" name="TextBox 42"/>
          <p:cNvSpPr txBox="1"/>
          <p:nvPr/>
        </p:nvSpPr>
        <p:spPr>
          <a:xfrm>
            <a:off x="6309360" y="349300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振幅比 → RI に相当</a:t>
            </a:r>
          </a:p>
        </p:txBody>
      </p:sp>
      <p:sp>
        <p:nvSpPr>
          <p:cNvPr id="44" name="Rounded Rectangle 43"/>
          <p:cNvSpPr/>
          <p:nvPr/>
        </p:nvSpPr>
        <p:spPr>
          <a:xfrm>
            <a:off x="6126480" y="4114800"/>
            <a:ext cx="5623560" cy="1078992"/>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6309360" y="4224528"/>
            <a:ext cx="5257800" cy="384048"/>
          </a:xfrm>
          <a:prstGeom prst="rect">
            <a:avLst/>
          </a:prstGeom>
          <a:noFill/>
        </p:spPr>
        <p:txBody>
          <a:bodyPr wrap="square" lIns="0" tIns="0" rIns="0" bIns="0" anchor="t">
            <a:spAutoFit/>
          </a:bodyPr>
          <a:lstStyle/>
          <a:p>
            <a:pPr algn="l"/>
            <a:r>
              <a:rPr sz="2400" b="1">
                <a:solidFill>
                  <a:srgbClr val="00A8AA"/>
                </a:solidFill>
                <a:latin typeface="Meiryo"/>
                <a:ea typeface="Meiryo"/>
                <a:cs typeface="Meiryo"/>
              </a:rPr>
              <a:t>LVET</a:t>
            </a:r>
          </a:p>
        </p:txBody>
      </p:sp>
      <p:sp>
        <p:nvSpPr>
          <p:cNvPr id="46" name="TextBox 45"/>
          <p:cNvSpPr txBox="1"/>
          <p:nvPr/>
        </p:nvSpPr>
        <p:spPr>
          <a:xfrm>
            <a:off x="6309360" y="468172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左室駆出時間 → 収縮期成分から推定</a:t>
            </a:r>
          </a:p>
        </p:txBody>
      </p:sp>
      <p:sp>
        <p:nvSpPr>
          <p:cNvPr id="47" name="Rounded Rectangle 46"/>
          <p:cNvSpPr/>
          <p:nvPr/>
        </p:nvSpPr>
        <p:spPr>
          <a:xfrm>
            <a:off x="6126480" y="5303520"/>
            <a:ext cx="5623560" cy="960120"/>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6291072" y="5477256"/>
            <a:ext cx="5294376" cy="640080"/>
          </a:xfrm>
          <a:prstGeom prst="rect">
            <a:avLst/>
          </a:prstGeom>
          <a:noFill/>
        </p:spPr>
        <p:txBody>
          <a:bodyPr wrap="square" lIns="0" tIns="0" rIns="0" bIns="0" anchor="t">
            <a:spAutoFit/>
          </a:bodyPr>
          <a:lstStyle/>
          <a:p>
            <a:pPr algn="ctr">
              <a:spcAft>
                <a:spcPts val="300"/>
              </a:spcAft>
            </a:pPr>
            <a:r>
              <a:rPr sz="2300" b="1">
                <a:solidFill>
                  <a:srgbClr val="262626"/>
                </a:solidFill>
                <a:latin typeface="Meiryo"/>
                <a:ea typeface="Meiryo"/>
                <a:cs typeface="Meiryo"/>
              </a:rPr>
              <a:t>値は返ってくる。</a:t>
            </a:r>
          </a:p>
          <a:p>
            <a:pPr algn="ctr">
              <a:spcAft>
                <a:spcPts val="300"/>
              </a:spcAft>
            </a:pPr>
            <a:r>
              <a:rPr sz="2300" b="1">
                <a:solidFill>
                  <a:srgbClr val="262626"/>
                </a:solidFill>
                <a:latin typeface="Meiryo"/>
                <a:ea typeface="Meiryo"/>
                <a:cs typeface="Meiryo"/>
              </a:rPr>
              <a:t>ただし臨床的な意味は別問題</a:t>
            </a:r>
          </a:p>
        </p:txBody>
      </p:sp>
      <p:sp>
        <p:nvSpPr>
          <p:cNvPr id="4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55/72</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5.5  重要文献の全体像</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TextBox 16"/>
          <p:cNvSpPr txBox="1"/>
          <p:nvPr/>
        </p:nvSpPr>
        <p:spPr>
          <a:xfrm>
            <a:off x="411480" y="1645920"/>
            <a:ext cx="21031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群</a:t>
            </a:r>
          </a:p>
        </p:txBody>
      </p:sp>
      <p:sp>
        <p:nvSpPr>
          <p:cNvPr id="18" name="TextBox 17"/>
          <p:cNvSpPr txBox="1"/>
          <p:nvPr/>
        </p:nvSpPr>
        <p:spPr>
          <a:xfrm>
            <a:off x="2743200" y="1645920"/>
            <a:ext cx="30175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文献</a:t>
            </a:r>
          </a:p>
        </p:txBody>
      </p:sp>
      <p:sp>
        <p:nvSpPr>
          <p:cNvPr id="19" name="TextBox 18"/>
          <p:cNvSpPr txBox="1"/>
          <p:nvPr/>
        </p:nvSpPr>
        <p:spPr>
          <a:xfrm>
            <a:off x="5989320" y="1645920"/>
            <a:ext cx="57607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何を示したか</a:t>
            </a:r>
          </a:p>
        </p:txBody>
      </p:sp>
      <p:sp>
        <p:nvSpPr>
          <p:cNvPr id="20" name="Rounded Rectangle 19"/>
          <p:cNvSpPr/>
          <p:nvPr/>
        </p:nvSpPr>
        <p:spPr>
          <a:xfrm>
            <a:off x="365760" y="19933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11480" y="2048256"/>
            <a:ext cx="2240280" cy="384048"/>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A 指標を作った</a:t>
            </a:r>
          </a:p>
        </p:txBody>
      </p:sp>
      <p:sp>
        <p:nvSpPr>
          <p:cNvPr id="22" name="TextBox 21"/>
          <p:cNvSpPr txBox="1"/>
          <p:nvPr/>
        </p:nvSpPr>
        <p:spPr>
          <a:xfrm>
            <a:off x="2697480" y="20482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40. Rubins 2008</a:t>
            </a:r>
          </a:p>
        </p:txBody>
      </p:sp>
      <p:sp>
        <p:nvSpPr>
          <p:cNvPr id="23" name="TextBox 22"/>
          <p:cNvSpPr txBox="1"/>
          <p:nvPr/>
        </p:nvSpPr>
        <p:spPr>
          <a:xfrm>
            <a:off x="5989320" y="20482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ガウス当てはめで RI を算出</a:t>
            </a:r>
          </a:p>
        </p:txBody>
      </p:sp>
      <p:sp>
        <p:nvSpPr>
          <p:cNvPr id="24" name="TextBox 23"/>
          <p:cNvSpPr txBox="1"/>
          <p:nvPr/>
        </p:nvSpPr>
        <p:spPr>
          <a:xfrm>
            <a:off x="2697480" y="25054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41. Goswami 2010</a:t>
            </a:r>
          </a:p>
        </p:txBody>
      </p:sp>
      <p:sp>
        <p:nvSpPr>
          <p:cNvPr id="25" name="TextBox 24"/>
          <p:cNvSpPr txBox="1"/>
          <p:nvPr/>
        </p:nvSpPr>
        <p:spPr>
          <a:xfrm>
            <a:off x="5989320" y="25054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Rayleigh 2 波合成で SI と RI</a:t>
            </a:r>
          </a:p>
        </p:txBody>
      </p:sp>
      <p:sp>
        <p:nvSpPr>
          <p:cNvPr id="26" name="Rounded Rectangle 25"/>
          <p:cNvSpPr/>
          <p:nvPr/>
        </p:nvSpPr>
        <p:spPr>
          <a:xfrm>
            <a:off x="365760" y="29077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2697480" y="29626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45. Couceiro 2012</a:t>
            </a:r>
          </a:p>
        </p:txBody>
      </p:sp>
      <p:sp>
        <p:nvSpPr>
          <p:cNvPr id="28" name="TextBox 27"/>
          <p:cNvSpPr txBox="1"/>
          <p:nvPr/>
        </p:nvSpPr>
        <p:spPr>
          <a:xfrm>
            <a:off x="5989320" y="29626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多ガウス分解で LVET を推定</a:t>
            </a:r>
          </a:p>
        </p:txBody>
      </p:sp>
      <p:sp>
        <p:nvSpPr>
          <p:cNvPr id="29" name="TextBox 28"/>
          <p:cNvSpPr txBox="1"/>
          <p:nvPr/>
        </p:nvSpPr>
        <p:spPr>
          <a:xfrm>
            <a:off x="2697480" y="34198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42. Couceiro 2015</a:t>
            </a:r>
          </a:p>
        </p:txBody>
      </p:sp>
      <p:sp>
        <p:nvSpPr>
          <p:cNvPr id="30" name="TextBox 29"/>
          <p:cNvSpPr txBox="1"/>
          <p:nvPr/>
        </p:nvSpPr>
        <p:spPr>
          <a:xfrm>
            <a:off x="5989320" y="34198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血圧・血管抵抗まで対比した到達点</a:t>
            </a:r>
          </a:p>
        </p:txBody>
      </p:sp>
      <p:sp>
        <p:nvSpPr>
          <p:cNvPr id="31" name="Rounded Rectangle 30"/>
          <p:cNvSpPr/>
          <p:nvPr/>
        </p:nvSpPr>
        <p:spPr>
          <a:xfrm>
            <a:off x="365760" y="38221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411480" y="3877056"/>
            <a:ext cx="2240280" cy="384048"/>
          </a:xfrm>
          <a:prstGeom prst="rect">
            <a:avLst/>
          </a:prstGeom>
          <a:noFill/>
        </p:spPr>
        <p:txBody>
          <a:bodyPr wrap="square" lIns="0" tIns="0" rIns="0" bIns="0" anchor="t">
            <a:spAutoFit/>
          </a:bodyPr>
          <a:lstStyle/>
          <a:p>
            <a:pPr algn="l"/>
            <a:r>
              <a:rPr sz="2200" b="1">
                <a:solidFill>
                  <a:srgbClr val="00A8AA"/>
                </a:solidFill>
                <a:latin typeface="Meiryo"/>
                <a:ea typeface="Meiryo"/>
                <a:cs typeface="Meiryo"/>
              </a:rPr>
              <a:t>B モデル選択</a:t>
            </a:r>
          </a:p>
        </p:txBody>
      </p:sp>
      <p:sp>
        <p:nvSpPr>
          <p:cNvPr id="33" name="TextBox 32"/>
          <p:cNvSpPr txBox="1"/>
          <p:nvPr/>
        </p:nvSpPr>
        <p:spPr>
          <a:xfrm>
            <a:off x="2697480" y="38770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43. Tigges 2017</a:t>
            </a:r>
          </a:p>
        </p:txBody>
      </p:sp>
      <p:sp>
        <p:nvSpPr>
          <p:cNvPr id="34" name="TextBox 33"/>
          <p:cNvSpPr txBox="1"/>
          <p:nvPr/>
        </p:nvSpPr>
        <p:spPr>
          <a:xfrm>
            <a:off x="5989320" y="38770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最良モデルは決まらない（28.1%）</a:t>
            </a:r>
          </a:p>
        </p:txBody>
      </p:sp>
      <p:sp>
        <p:nvSpPr>
          <p:cNvPr id="35" name="TextBox 34"/>
          <p:cNvSpPr txBox="1"/>
          <p:nvPr/>
        </p:nvSpPr>
        <p:spPr>
          <a:xfrm>
            <a:off x="2697480" y="4334256"/>
            <a:ext cx="3200400" cy="384048"/>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35. Fleischhauer 2020</a:t>
            </a:r>
          </a:p>
        </p:txBody>
      </p:sp>
      <p:sp>
        <p:nvSpPr>
          <p:cNvPr id="36" name="TextBox 35"/>
          <p:cNvSpPr txBox="1"/>
          <p:nvPr/>
        </p:nvSpPr>
        <p:spPr>
          <a:xfrm>
            <a:off x="5989320" y="4334256"/>
            <a:ext cx="5806440" cy="384048"/>
          </a:xfrm>
          <a:prstGeom prst="rect">
            <a:avLst/>
          </a:prstGeom>
          <a:noFill/>
        </p:spPr>
        <p:txBody>
          <a:bodyPr wrap="square" lIns="0" tIns="0" rIns="0" bIns="0" anchor="t">
            <a:spAutoFit/>
          </a:bodyPr>
          <a:lstStyle/>
          <a:p>
            <a:pPr algn="l"/>
            <a:r>
              <a:rPr sz="2200" b="0" dirty="0" err="1">
                <a:solidFill>
                  <a:srgbClr val="262626"/>
                </a:solidFill>
                <a:latin typeface="Meiryo"/>
                <a:ea typeface="Meiryo"/>
                <a:cs typeface="Meiryo"/>
              </a:rPr>
              <a:t>カーネル</a:t>
            </a:r>
            <a:r>
              <a:rPr sz="2200" b="0" dirty="0">
                <a:solidFill>
                  <a:srgbClr val="262626"/>
                </a:solidFill>
                <a:latin typeface="Meiryo"/>
                <a:ea typeface="Meiryo"/>
                <a:cs typeface="Meiryo"/>
              </a:rPr>
              <a:t> 2 </a:t>
            </a:r>
            <a:r>
              <a:rPr sz="2200" b="0" dirty="0" err="1">
                <a:solidFill>
                  <a:srgbClr val="262626"/>
                </a:solidFill>
                <a:latin typeface="Meiryo"/>
                <a:ea typeface="Meiryo"/>
                <a:cs typeface="Meiryo"/>
              </a:rPr>
              <a:t>本が最も頑健</a:t>
            </a:r>
            <a:endParaRPr sz="2200" b="0" dirty="0">
              <a:solidFill>
                <a:srgbClr val="262626"/>
              </a:solidFill>
              <a:latin typeface="Meiryo"/>
              <a:ea typeface="Meiryo"/>
              <a:cs typeface="Meiryo"/>
            </a:endParaRPr>
          </a:p>
        </p:txBody>
      </p:sp>
      <p:sp>
        <p:nvSpPr>
          <p:cNvPr id="37" name="Rounded Rectangle 36"/>
          <p:cNvSpPr/>
          <p:nvPr/>
        </p:nvSpPr>
        <p:spPr>
          <a:xfrm>
            <a:off x="365760" y="47365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2697480" y="47914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44. Basso 2024</a:t>
            </a:r>
          </a:p>
        </p:txBody>
      </p:sp>
      <p:sp>
        <p:nvSpPr>
          <p:cNvPr id="39" name="TextBox 38"/>
          <p:cNvSpPr txBox="1"/>
          <p:nvPr/>
        </p:nvSpPr>
        <p:spPr>
          <a:xfrm>
            <a:off x="5989320" y="47914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skewed-Gaussian は初期値に頑健</a:t>
            </a:r>
          </a:p>
        </p:txBody>
      </p:sp>
      <p:sp>
        <p:nvSpPr>
          <p:cNvPr id="40" name="TextBox 39"/>
          <p:cNvSpPr txBox="1"/>
          <p:nvPr/>
        </p:nvSpPr>
        <p:spPr>
          <a:xfrm>
            <a:off x="411480" y="5248656"/>
            <a:ext cx="2240280" cy="384048"/>
          </a:xfrm>
          <a:prstGeom prst="rect">
            <a:avLst/>
          </a:prstGeom>
          <a:noFill/>
        </p:spPr>
        <p:txBody>
          <a:bodyPr wrap="square" lIns="0" tIns="0" rIns="0" bIns="0" anchor="t">
            <a:spAutoFit/>
          </a:bodyPr>
          <a:lstStyle/>
          <a:p>
            <a:pPr algn="l"/>
            <a:r>
              <a:rPr sz="2200" b="1">
                <a:solidFill>
                  <a:srgbClr val="BF9000"/>
                </a:solidFill>
                <a:latin typeface="Meiryo"/>
                <a:ea typeface="Meiryo"/>
                <a:cs typeface="Meiryo"/>
              </a:rPr>
              <a:t>C 臨床応用</a:t>
            </a:r>
          </a:p>
        </p:txBody>
      </p:sp>
      <p:sp>
        <p:nvSpPr>
          <p:cNvPr id="41" name="TextBox 40"/>
          <p:cNvSpPr txBox="1"/>
          <p:nvPr/>
        </p:nvSpPr>
        <p:spPr>
          <a:xfrm>
            <a:off x="2697480" y="52486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46. Baruch 2014</a:t>
            </a:r>
          </a:p>
        </p:txBody>
      </p:sp>
      <p:sp>
        <p:nvSpPr>
          <p:cNvPr id="42" name="TextBox 41"/>
          <p:cNvSpPr txBox="1"/>
          <p:nvPr/>
        </p:nvSpPr>
        <p:spPr>
          <a:xfrm>
            <a:off x="5989320" y="52486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中心動脈圧の推定に実装済み</a:t>
            </a:r>
          </a:p>
        </p:txBody>
      </p:sp>
      <p:sp>
        <p:nvSpPr>
          <p:cNvPr id="43" name="Rounded Rectangle 42"/>
          <p:cNvSpPr/>
          <p:nvPr/>
        </p:nvSpPr>
        <p:spPr>
          <a:xfrm>
            <a:off x="365760" y="56509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411480" y="5705856"/>
            <a:ext cx="2240280" cy="384048"/>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D 比較対象</a:t>
            </a:r>
          </a:p>
        </p:txBody>
      </p:sp>
      <p:sp>
        <p:nvSpPr>
          <p:cNvPr id="45" name="TextBox 44"/>
          <p:cNvSpPr txBox="1"/>
          <p:nvPr/>
        </p:nvSpPr>
        <p:spPr>
          <a:xfrm>
            <a:off x="2697480" y="57058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34. Pal 2024</a:t>
            </a:r>
          </a:p>
        </p:txBody>
      </p:sp>
      <p:sp>
        <p:nvSpPr>
          <p:cNvPr id="46" name="TextBox 45"/>
          <p:cNvSpPr txBox="1"/>
          <p:nvPr/>
        </p:nvSpPr>
        <p:spPr>
          <a:xfrm>
            <a:off x="5989320" y="5705856"/>
            <a:ext cx="580644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分解ではなく切痕を直接検出</a:t>
            </a:r>
          </a:p>
        </p:txBody>
      </p:sp>
      <p:sp>
        <p:nvSpPr>
          <p:cNvPr id="4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56/72</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Rubins 2008</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0072B2"/>
                </a:solidFill>
                <a:latin typeface="Meiryo"/>
                <a:ea typeface="Meiryo"/>
                <a:cs typeface="Meiryo"/>
              </a:rPr>
              <a:t>① 「点を探す」から「山を当てはめる」へ</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健常者 40 名。指と耳の PPG を同時記録</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収縮期波と拡張期波を、それぞれ 2 つの</a:t>
            </a:r>
          </a:p>
          <a:p>
            <a:pPr algn="l">
              <a:spcAft>
                <a:spcPts val="200"/>
              </a:spcAft>
            </a:pPr>
            <a:r>
              <a:rPr sz="2200" b="0">
                <a:solidFill>
                  <a:srgbClr val="262626"/>
                </a:solidFill>
                <a:latin typeface="Meiryo"/>
                <a:ea typeface="Meiryo"/>
                <a:cs typeface="Meiryo"/>
              </a:rPr>
              <a:t>ガウス関数の和で当てはめ、RI と AI を算出</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従来の微分法と同等に波形解析ができた</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ガウス分解から RI を出す発想は 2008 年に既出</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57/72</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Goswami 2010</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41. Goswami 2010</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0072B2"/>
                </a:solidFill>
                <a:latin typeface="Meiryo"/>
                <a:ea typeface="Meiryo"/>
                <a:cs typeface="Meiryo"/>
              </a:rPr>
              <a:t>② Rayleigh 2 波合成モデルで SI と RI を同時に導出</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健常者と治療中の高血圧者の指尖容積脈波 113 信号</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Rayleigh 関数による 2 波合成（TPS）モデル</a:t>
            </a:r>
          </a:p>
          <a:p>
            <a:pPr algn="l">
              <a:spcAft>
                <a:spcPts val="200"/>
              </a:spcAft>
            </a:pPr>
            <a:r>
              <a:rPr sz="2200" b="0">
                <a:solidFill>
                  <a:srgbClr val="262626"/>
                </a:solidFill>
                <a:latin typeface="Meiryo"/>
                <a:ea typeface="Meiryo"/>
                <a:cs typeface="Meiryo"/>
              </a:rPr>
              <a:t>RI・SI・脈波伝播速度・立ち上がり遅延を導出</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従来のランドマーク法・微分法とよく一致した</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分解した反射波の時刻から SI を出すのも既出</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58/72</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Couceiro 2012</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45. Couceiro 2012</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00A8AA"/>
                </a:solidFill>
                <a:latin typeface="Meiryo"/>
                <a:ea typeface="Meiryo"/>
                <a:cs typeface="Meiryo"/>
              </a:rPr>
              <a:t>③ 多ガウス分解から左室駆出時間 LVET を取り出す</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心エコーによる参照値が得られた被験者（人数は抄録に記載なし）</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収縮期相・拡張期相をガウス関数でモデル化し、</a:t>
            </a:r>
          </a:p>
          <a:p>
            <a:pPr algn="l">
              <a:spcAft>
                <a:spcPts val="200"/>
              </a:spcAft>
            </a:pPr>
            <a:r>
              <a:rPr sz="2200" b="0">
                <a:solidFill>
                  <a:srgbClr val="262626"/>
                </a:solidFill>
                <a:latin typeface="Meiryo"/>
                <a:ea typeface="Meiryo"/>
                <a:cs typeface="Meiryo"/>
              </a:rPr>
              <a:t>3 次微分から駆出の開始・終了を決めて LVET を推定</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推定誤差 15.84 ± 13.56 ms（既存法 23.01 ± 14.60）</a:t>
            </a:r>
          </a:p>
          <a:p>
            <a:pPr algn="l">
              <a:spcAft>
                <a:spcPts val="200"/>
              </a:spcAft>
            </a:pPr>
            <a:r>
              <a:rPr sz="2200" b="0">
                <a:solidFill>
                  <a:srgbClr val="262626"/>
                </a:solidFill>
                <a:latin typeface="Meiryo"/>
                <a:ea typeface="Meiryo"/>
                <a:cs typeface="Meiryo"/>
              </a:rPr>
              <a:t>心エコーとの相関は同等（0.73 vs 0.75）</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目視では取り出せない生理的イベントが出てくる</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59/72</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Couceiro 2015</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D55E00"/>
                </a:solidFill>
                <a:latin typeface="Meiryo"/>
                <a:ea typeface="Meiryo"/>
                <a:cs typeface="Meiryo"/>
              </a:rPr>
              <a:t>④ 5ガウス分解から血圧・血管抵抗まで対比した到達点</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LVET の検証は健常＋心血管疾患 68 名</a:t>
            </a:r>
          </a:p>
          <a:p>
            <a:pPr algn="l">
              <a:spcAft>
                <a:spcPts val="200"/>
              </a:spcAft>
            </a:pPr>
            <a:r>
              <a:rPr sz="2200" b="0">
                <a:solidFill>
                  <a:srgbClr val="262626"/>
                </a:solidFill>
                <a:latin typeface="Meiryo"/>
                <a:ea typeface="Meiryo"/>
                <a:cs typeface="Meiryo"/>
              </a:rPr>
              <a:t>血圧・血管抵抗の対比は血行動態不安定な 43 名</a:t>
            </a:r>
          </a:p>
        </p:txBody>
      </p:sp>
      <p:sp>
        <p:nvSpPr>
          <p:cNvPr id="22" name="TextBox 21"/>
          <p:cNvSpPr txBox="1"/>
          <p:nvPr/>
        </p:nvSpPr>
        <p:spPr>
          <a:xfrm>
            <a:off x="457200" y="3675888"/>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675888"/>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5 つのガウス関数で分解し、SI・RI に加えて</a:t>
            </a:r>
          </a:p>
          <a:p>
            <a:pPr algn="l">
              <a:spcAft>
                <a:spcPts val="200"/>
              </a:spcAft>
            </a:pPr>
            <a:r>
              <a:rPr sz="2200" b="0">
                <a:solidFill>
                  <a:srgbClr val="262626"/>
                </a:solidFill>
                <a:latin typeface="Meiryo"/>
                <a:ea typeface="Meiryo"/>
                <a:cs typeface="Meiryo"/>
              </a:rPr>
              <a:t>T1_2（時間差）・R1_2（振幅比）など 6 個を算出</a:t>
            </a:r>
          </a:p>
        </p:txBody>
      </p:sp>
      <p:sp>
        <p:nvSpPr>
          <p:cNvPr id="24" name="TextBox 23"/>
          <p:cNvSpPr txBox="1"/>
          <p:nvPr/>
        </p:nvSpPr>
        <p:spPr>
          <a:xfrm>
            <a:off x="457200" y="4535424"/>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535424"/>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LVET 絶対誤差 15.41 ± 13.66 ms（ρ=0.78）</a:t>
            </a:r>
          </a:p>
          <a:p>
            <a:pPr algn="l">
              <a:spcAft>
                <a:spcPts val="200"/>
              </a:spcAft>
            </a:pPr>
            <a:r>
              <a:rPr sz="2200" b="0">
                <a:solidFill>
                  <a:srgbClr val="262626"/>
                </a:solidFill>
                <a:latin typeface="Meiryo"/>
                <a:ea typeface="Meiryo"/>
                <a:cs typeface="Meiryo"/>
              </a:rPr>
              <a:t>R1_2 は全参照値と低相関。最高でも ρ=0.45</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振幅比は当てにならない。時間側でも ρ=0.45</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60/72</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Tigges 2017</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43. Tigges 2017</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C00000"/>
                </a:solidFill>
                <a:latin typeface="Meiryo"/>
                <a:ea typeface="Meiryo"/>
                <a:cs typeface="Meiryo"/>
              </a:rPr>
              <a:t>⑤ モデル選択は決着していない ― 逆問題が一意に解けない</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ほとんどの波形形態を含む指尖容積脈波 7,805 拍</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4 種類の基底関数とモデル次数を総当たりし、</a:t>
            </a:r>
          </a:p>
          <a:p>
            <a:pPr algn="l">
              <a:spcAft>
                <a:spcPts val="200"/>
              </a:spcAft>
            </a:pPr>
            <a:r>
              <a:rPr sz="2200" b="0">
                <a:solidFill>
                  <a:srgbClr val="262626"/>
                </a:solidFill>
                <a:latin typeface="Meiryo"/>
                <a:ea typeface="Meiryo"/>
                <a:cs typeface="Meiryo"/>
              </a:rPr>
              <a:t>補正赤池情報量規準（AICc）で最良モデルを選択</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最頻の最良モデル（Gamma 3 個）でも 28.1%</a:t>
            </a:r>
          </a:p>
          <a:p>
            <a:pPr algn="l">
              <a:spcAft>
                <a:spcPts val="200"/>
              </a:spcAft>
            </a:pPr>
            <a:r>
              <a:rPr sz="2200" b="0">
                <a:solidFill>
                  <a:srgbClr val="262626"/>
                </a:solidFill>
                <a:latin typeface="Meiryo"/>
                <a:ea typeface="Meiryo"/>
                <a:cs typeface="Meiryo"/>
              </a:rPr>
              <a:t>次点の Rayleigh 2 個が 14.4%。足しても半数未満</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「どの山を何個使うか」はデータからは決まらない</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61/72</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Fleischhauer</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00A8AA"/>
                </a:solidFill>
                <a:latin typeface="Meiryo"/>
                <a:ea typeface="Meiryo"/>
                <a:cs typeface="Meiryo"/>
              </a:rPr>
              <a:t>⑥ Gamma ＋ Gaussian、カーネル 2 個が最も頑健</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合成脈波と、PPG イメージングの実測データ</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各種の脈波分解アルゴリズムを実装し、</a:t>
            </a:r>
          </a:p>
          <a:p>
            <a:pPr algn="l">
              <a:spcAft>
                <a:spcPts val="200"/>
              </a:spcAft>
            </a:pPr>
            <a:r>
              <a:rPr sz="2200" b="0">
                <a:solidFill>
                  <a:srgbClr val="262626"/>
                </a:solidFill>
                <a:latin typeface="Meiryo"/>
                <a:ea typeface="Meiryo"/>
                <a:cs typeface="Meiryo"/>
              </a:rPr>
              <a:t>カーネルの種類と個数を変えて耐性を比較</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Gamma と Gaussian の組合せが他を上回った</a:t>
            </a:r>
          </a:p>
          <a:p>
            <a:pPr algn="l">
              <a:spcAft>
                <a:spcPts val="200"/>
              </a:spcAft>
            </a:pPr>
            <a:r>
              <a:rPr sz="2200" b="0">
                <a:solidFill>
                  <a:srgbClr val="262626"/>
                </a:solidFill>
                <a:latin typeface="Meiryo"/>
                <a:ea typeface="Meiryo"/>
                <a:cs typeface="Meiryo"/>
              </a:rPr>
              <a:t>カーネル 2 個が最も頑健で、指標が 14.09% 改善</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複雑にするほど良いわけではない ― 2 個で十分</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62/72</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Basso 2024</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44. Basso 2024</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D55E00"/>
                </a:solidFill>
                <a:latin typeface="Meiryo"/>
                <a:ea typeface="Meiryo"/>
                <a:cs typeface="Meiryo"/>
              </a:rPr>
              <a:t>⑦ 非対称な山で初期値依存を減らす</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MIMIC-III から抽出した PPG 脈波 8,000 拍</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非対称分解モデル（skewed-Gaussian）を提案</a:t>
            </a:r>
          </a:p>
          <a:p>
            <a:pPr algn="l">
              <a:spcAft>
                <a:spcPts val="200"/>
              </a:spcAft>
            </a:pPr>
            <a:r>
              <a:rPr sz="2200" b="0">
                <a:solidFill>
                  <a:srgbClr val="262626"/>
                </a:solidFill>
                <a:latin typeface="Meiryo"/>
                <a:ea typeface="Meiryo"/>
                <a:cs typeface="Meiryo"/>
              </a:rPr>
              <a:t>参照モデルは Gamma-Gaussian モデル</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残差平方和による評価で参照モデルより高精度</a:t>
            </a:r>
          </a:p>
          <a:p>
            <a:pPr algn="l">
              <a:spcAft>
                <a:spcPts val="200"/>
              </a:spcAft>
            </a:pPr>
            <a:r>
              <a:rPr sz="2200" b="0">
                <a:solidFill>
                  <a:srgbClr val="262626"/>
                </a:solidFill>
                <a:latin typeface="Meiryo"/>
                <a:ea typeface="Meiryo"/>
                <a:cs typeface="Meiryo"/>
              </a:rPr>
              <a:t>ランダム初期値への感度が低く、一貫して頑健</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裏を返せば、従来モデルは初期値で答えが動いていた</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63/72</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Baruch 2014</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46. Baruch 2014</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808080"/>
                </a:solidFill>
                <a:latin typeface="Meiryo"/>
                <a:ea typeface="Meiryo"/>
                <a:cs typeface="Meiryo"/>
              </a:rPr>
              <a:t>⑧ 分解由来の指標は中心動脈圧の推定に使われている</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心臓カテーテル検査を受ける患者 63 名（平均 62.7 歳）</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CareTaker の非侵襲的動脈脈波を PDA で分解し、</a:t>
            </a:r>
          </a:p>
          <a:p>
            <a:pPr algn="l">
              <a:spcAft>
                <a:spcPts val="200"/>
              </a:spcAft>
            </a:pPr>
            <a:r>
              <a:rPr sz="2200" b="0">
                <a:solidFill>
                  <a:srgbClr val="262626"/>
                </a:solidFill>
                <a:latin typeface="Meiryo"/>
                <a:ea typeface="Meiryo"/>
                <a:cs typeface="Meiryo"/>
              </a:rPr>
              <a:t>振幅比 P2P1 と時間差 T13 を抽出</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P2P1 と収縮期圧、T13 と脈圧に有意な相関</a:t>
            </a:r>
          </a:p>
          <a:p>
            <a:pPr algn="l">
              <a:spcAft>
                <a:spcPts val="200"/>
              </a:spcAft>
            </a:pPr>
            <a:r>
              <a:rPr sz="2200" b="0">
                <a:solidFill>
                  <a:srgbClr val="262626"/>
                </a:solidFill>
                <a:latin typeface="Meiryo"/>
                <a:ea typeface="Meiryo"/>
                <a:cs typeface="Meiryo"/>
              </a:rPr>
              <a:t>（収縮期 R²=0.92、拡張期 R²=0.78、p&lt;0.0001）</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応用範囲の拡張という切り口では新規性は乏しい</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64/72</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Pal 2024</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34. Pal 2024</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BF9000"/>
                </a:solidFill>
                <a:latin typeface="Meiryo"/>
                <a:ea typeface="Meiryo"/>
                <a:cs typeface="Meiryo"/>
              </a:rPr>
              <a:t>⑨ DN-less 信号でも切痕を拾う ― IEM 法（用語の出典）</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周術期データセット MLORD の 17,327 例</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反復包絡平均（IEM）法による重複切痕の自動検出</a:t>
            </a:r>
          </a:p>
          <a:p>
            <a:pPr algn="l">
              <a:spcAft>
                <a:spcPts val="200"/>
              </a:spcAft>
            </a:pPr>
            <a:r>
              <a:rPr sz="2200" b="0">
                <a:solidFill>
                  <a:srgbClr val="262626"/>
                </a:solidFill>
                <a:latin typeface="Meiryo"/>
                <a:ea typeface="Meiryo"/>
                <a:cs typeface="Meiryo"/>
              </a:rPr>
              <a:t>参照基準は熟練研究者による手動マーキング</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DN 検出平均誤差 IEM 0.0046 秒（SD 0.0029）</a:t>
            </a:r>
          </a:p>
          <a:p>
            <a:pPr algn="l">
              <a:spcAft>
                <a:spcPts val="200"/>
              </a:spcAft>
            </a:pPr>
            <a:r>
              <a:rPr sz="2200" b="0">
                <a:solidFill>
                  <a:srgbClr val="262626"/>
                </a:solidFill>
                <a:latin typeface="Meiryo"/>
                <a:ea typeface="Meiryo"/>
                <a:cs typeface="Meiryo"/>
              </a:rPr>
              <a:t>従来の二次微分法は 0.0968 秒（SD 0.0909）</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「DN-less signals」という語はこの論文に由来する</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65/72</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5.6  PDA の限界</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　／　43. Tigges 2017　／　44. Basso 2024　／　47. Epstein 2014</a:t>
            </a:r>
          </a:p>
        </p:txBody>
      </p:sp>
      <p:sp>
        <p:nvSpPr>
          <p:cNvPr id="18" name="Rounded Rectangle 17"/>
          <p:cNvSpPr/>
          <p:nvPr/>
        </p:nvSpPr>
        <p:spPr>
          <a:xfrm>
            <a:off x="411480" y="1755648"/>
            <a:ext cx="11365992" cy="11521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21792" y="1901952"/>
            <a:ext cx="566928" cy="578598"/>
          </a:xfrm>
          <a:prstGeom prst="rect">
            <a:avLst/>
          </a:prstGeom>
          <a:noFill/>
        </p:spPr>
        <p:txBody>
          <a:bodyPr wrap="square" lIns="0" tIns="0" rIns="0" bIns="0" anchor="t">
            <a:spAutoFit/>
          </a:bodyPr>
          <a:lstStyle/>
          <a:p>
            <a:pPr algn="l"/>
            <a:r>
              <a:rPr sz="2700" b="1">
                <a:solidFill>
                  <a:srgbClr val="C00000"/>
                </a:solidFill>
                <a:latin typeface="Meiryo"/>
                <a:ea typeface="Meiryo"/>
                <a:cs typeface="Meiryo"/>
              </a:rPr>
              <a:t>①</a:t>
            </a:r>
          </a:p>
        </p:txBody>
      </p:sp>
      <p:sp>
        <p:nvSpPr>
          <p:cNvPr id="20" name="TextBox 19"/>
          <p:cNvSpPr txBox="1"/>
          <p:nvPr/>
        </p:nvSpPr>
        <p:spPr>
          <a:xfrm>
            <a:off x="1298448" y="1920240"/>
            <a:ext cx="10241280" cy="541553"/>
          </a:xfrm>
          <a:prstGeom prst="rect">
            <a:avLst/>
          </a:prstGeom>
          <a:noFill/>
        </p:spPr>
        <p:txBody>
          <a:bodyPr wrap="square" lIns="0" tIns="0" rIns="0" bIns="0" anchor="t">
            <a:spAutoFit/>
          </a:bodyPr>
          <a:lstStyle/>
          <a:p>
            <a:pPr algn="l"/>
            <a:r>
              <a:rPr sz="2500" b="1">
                <a:solidFill>
                  <a:srgbClr val="C00000"/>
                </a:solidFill>
                <a:latin typeface="Meiryo"/>
                <a:ea typeface="Meiryo"/>
                <a:cs typeface="Meiryo"/>
              </a:rPr>
              <a:t>解が一意に決まらない</a:t>
            </a:r>
          </a:p>
        </p:txBody>
      </p:sp>
      <p:sp>
        <p:nvSpPr>
          <p:cNvPr id="21" name="TextBox 20"/>
          <p:cNvSpPr txBox="1"/>
          <p:nvPr/>
        </p:nvSpPr>
        <p:spPr>
          <a:xfrm>
            <a:off x="1298448" y="2414016"/>
            <a:ext cx="10241280" cy="504508"/>
          </a:xfrm>
          <a:prstGeom prst="rect">
            <a:avLst/>
          </a:prstGeom>
          <a:noFill/>
        </p:spPr>
        <p:txBody>
          <a:bodyPr wrap="square" lIns="0" tIns="0" rIns="0" bIns="0" anchor="t">
            <a:spAutoFit/>
          </a:bodyPr>
          <a:lstStyle/>
          <a:p>
            <a:pPr algn="l"/>
            <a:r>
              <a:rPr sz="2300" b="0">
                <a:solidFill>
                  <a:srgbClr val="262626"/>
                </a:solidFill>
                <a:latin typeface="Meiryo"/>
                <a:ea typeface="Meiryo"/>
                <a:cs typeface="Meiryo"/>
              </a:rPr>
              <a:t>基底関数の種類と個数が決着しておらず、初期値でも解が動く</a:t>
            </a:r>
          </a:p>
        </p:txBody>
      </p:sp>
      <p:sp>
        <p:nvSpPr>
          <p:cNvPr id="22" name="Rounded Rectangle 21"/>
          <p:cNvSpPr/>
          <p:nvPr/>
        </p:nvSpPr>
        <p:spPr>
          <a:xfrm>
            <a:off x="411480" y="3017520"/>
            <a:ext cx="11365992" cy="11521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21792" y="3163824"/>
            <a:ext cx="566928" cy="578598"/>
          </a:xfrm>
          <a:prstGeom prst="rect">
            <a:avLst/>
          </a:prstGeom>
          <a:noFill/>
        </p:spPr>
        <p:txBody>
          <a:bodyPr wrap="square" lIns="0" tIns="0" rIns="0" bIns="0" anchor="t">
            <a:spAutoFit/>
          </a:bodyPr>
          <a:lstStyle/>
          <a:p>
            <a:pPr algn="l"/>
            <a:r>
              <a:rPr sz="2700" b="1">
                <a:solidFill>
                  <a:srgbClr val="C00000"/>
                </a:solidFill>
                <a:latin typeface="Meiryo"/>
                <a:ea typeface="Meiryo"/>
                <a:cs typeface="Meiryo"/>
              </a:rPr>
              <a:t>②</a:t>
            </a:r>
          </a:p>
        </p:txBody>
      </p:sp>
      <p:sp>
        <p:nvSpPr>
          <p:cNvPr id="24" name="TextBox 23"/>
          <p:cNvSpPr txBox="1"/>
          <p:nvPr/>
        </p:nvSpPr>
        <p:spPr>
          <a:xfrm>
            <a:off x="1298448" y="3182112"/>
            <a:ext cx="10241280" cy="541553"/>
          </a:xfrm>
          <a:prstGeom prst="rect">
            <a:avLst/>
          </a:prstGeom>
          <a:noFill/>
        </p:spPr>
        <p:txBody>
          <a:bodyPr wrap="square" lIns="0" tIns="0" rIns="0" bIns="0" anchor="t">
            <a:spAutoFit/>
          </a:bodyPr>
          <a:lstStyle/>
          <a:p>
            <a:pPr algn="l"/>
            <a:r>
              <a:rPr sz="2500" b="1">
                <a:solidFill>
                  <a:srgbClr val="C00000"/>
                </a:solidFill>
                <a:latin typeface="Meiryo"/>
                <a:ea typeface="Meiryo"/>
                <a:cs typeface="Meiryo"/>
              </a:rPr>
              <a:t>「第2の山＝反射波」とは限らない</a:t>
            </a:r>
          </a:p>
        </p:txBody>
      </p:sp>
      <p:sp>
        <p:nvSpPr>
          <p:cNvPr id="25" name="TextBox 24"/>
          <p:cNvSpPr txBox="1"/>
          <p:nvPr/>
        </p:nvSpPr>
        <p:spPr>
          <a:xfrm>
            <a:off x="1298448" y="3675888"/>
            <a:ext cx="10241280" cy="504508"/>
          </a:xfrm>
          <a:prstGeom prst="rect">
            <a:avLst/>
          </a:prstGeom>
          <a:noFill/>
        </p:spPr>
        <p:txBody>
          <a:bodyPr wrap="square" lIns="0" tIns="0" rIns="0" bIns="0" anchor="t">
            <a:spAutoFit/>
          </a:bodyPr>
          <a:lstStyle/>
          <a:p>
            <a:pPr algn="l"/>
            <a:r>
              <a:rPr sz="2300" b="0">
                <a:solidFill>
                  <a:srgbClr val="262626"/>
                </a:solidFill>
                <a:latin typeface="Meiryo"/>
                <a:ea typeface="Meiryo"/>
                <a:cs typeface="Meiryo"/>
              </a:rPr>
              <a:t>数値モデルでは第2ピークの主因はインピーダンス不整合</a:t>
            </a:r>
          </a:p>
        </p:txBody>
      </p:sp>
      <p:sp>
        <p:nvSpPr>
          <p:cNvPr id="26" name="Rounded Rectangle 25"/>
          <p:cNvSpPr/>
          <p:nvPr/>
        </p:nvSpPr>
        <p:spPr>
          <a:xfrm>
            <a:off x="411480" y="4279392"/>
            <a:ext cx="11365992" cy="11521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21792" y="4425696"/>
            <a:ext cx="566928" cy="578598"/>
          </a:xfrm>
          <a:prstGeom prst="rect">
            <a:avLst/>
          </a:prstGeom>
          <a:noFill/>
        </p:spPr>
        <p:txBody>
          <a:bodyPr wrap="square" lIns="0" tIns="0" rIns="0" bIns="0" anchor="t">
            <a:spAutoFit/>
          </a:bodyPr>
          <a:lstStyle/>
          <a:p>
            <a:pPr algn="l"/>
            <a:r>
              <a:rPr sz="2700" b="1">
                <a:solidFill>
                  <a:srgbClr val="D55E00"/>
                </a:solidFill>
                <a:latin typeface="Meiryo"/>
                <a:ea typeface="Meiryo"/>
                <a:cs typeface="Meiryo"/>
              </a:rPr>
              <a:t>③</a:t>
            </a:r>
          </a:p>
        </p:txBody>
      </p:sp>
      <p:sp>
        <p:nvSpPr>
          <p:cNvPr id="28" name="TextBox 27"/>
          <p:cNvSpPr txBox="1"/>
          <p:nvPr/>
        </p:nvSpPr>
        <p:spPr>
          <a:xfrm>
            <a:off x="1298448" y="4443984"/>
            <a:ext cx="10241280" cy="541553"/>
          </a:xfrm>
          <a:prstGeom prst="rect">
            <a:avLst/>
          </a:prstGeom>
          <a:noFill/>
        </p:spPr>
        <p:txBody>
          <a:bodyPr wrap="square" lIns="0" tIns="0" rIns="0" bIns="0" anchor="t">
            <a:spAutoFit/>
          </a:bodyPr>
          <a:lstStyle/>
          <a:p>
            <a:pPr algn="l"/>
            <a:r>
              <a:rPr sz="2500" b="1">
                <a:solidFill>
                  <a:srgbClr val="D55E00"/>
                </a:solidFill>
                <a:latin typeface="Meiryo"/>
                <a:ea typeface="Meiryo"/>
                <a:cs typeface="Meiryo"/>
              </a:rPr>
              <a:t>振幅側の成績が弱い</a:t>
            </a:r>
          </a:p>
        </p:txBody>
      </p:sp>
      <p:sp>
        <p:nvSpPr>
          <p:cNvPr id="29" name="TextBox 28"/>
          <p:cNvSpPr txBox="1"/>
          <p:nvPr/>
        </p:nvSpPr>
        <p:spPr>
          <a:xfrm>
            <a:off x="1298448" y="4937760"/>
            <a:ext cx="10241280" cy="504508"/>
          </a:xfrm>
          <a:prstGeom prst="rect">
            <a:avLst/>
          </a:prstGeom>
          <a:noFill/>
        </p:spPr>
        <p:txBody>
          <a:bodyPr wrap="square" lIns="0" tIns="0" rIns="0" bIns="0" anchor="t">
            <a:spAutoFit/>
          </a:bodyPr>
          <a:lstStyle/>
          <a:p>
            <a:pPr algn="l"/>
            <a:r>
              <a:rPr sz="2300" b="0">
                <a:solidFill>
                  <a:srgbClr val="262626"/>
                </a:solidFill>
                <a:latin typeface="Meiryo"/>
                <a:ea typeface="Meiryo"/>
                <a:cs typeface="Meiryo"/>
              </a:rPr>
              <a:t>振幅比はすべての参照値と低相関。時間側でも ρ=0.45</a:t>
            </a:r>
          </a:p>
        </p:txBody>
      </p:sp>
      <p:sp>
        <p:nvSpPr>
          <p:cNvPr id="30" name="Rounded Rectangle 29"/>
          <p:cNvSpPr/>
          <p:nvPr/>
        </p:nvSpPr>
        <p:spPr>
          <a:xfrm>
            <a:off x="411480" y="5614416"/>
            <a:ext cx="11365992" cy="713232"/>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594360" y="5779008"/>
            <a:ext cx="11000232" cy="1004620"/>
          </a:xfrm>
          <a:prstGeom prst="rect">
            <a:avLst/>
          </a:prstGeom>
          <a:noFill/>
        </p:spPr>
        <p:txBody>
          <a:bodyPr wrap="square" lIns="0" tIns="0" rIns="0" bIns="0" anchor="t">
            <a:spAutoFit/>
          </a:bodyPr>
          <a:lstStyle/>
          <a:p>
            <a:pPr algn="ctr"/>
            <a:r>
              <a:rPr sz="2500" b="1">
                <a:solidFill>
                  <a:srgbClr val="262626"/>
                </a:solidFill>
                <a:latin typeface="Meiryo"/>
                <a:ea typeface="Meiryo"/>
                <a:cs typeface="Meiryo"/>
              </a:rPr>
              <a:t>当てはまりが良くなっても、その成分波が何かという帰属は保証されない</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66/72</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 name="Title 1"/>
          <p:cNvSpPr>
            <a:spLocks noGrp="1"/>
          </p:cNvSpPr>
          <p:nvPr>
            <p:ph type="title"/>
          </p:nvPr>
        </p:nvSpPr>
        <p:spPr/>
        <p:txBody>
          <a:bodyPr/>
          <a:lstStyle/>
          <a:p>
            <a:pPr algn="l"/>
            <a:r>
              <a:rPr sz="4600" dirty="0">
                <a:latin typeface="Meiryo"/>
                <a:ea typeface="Meiryo"/>
                <a:cs typeface="Meiryo"/>
              </a:rPr>
              <a:t>参考文献</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1. Allen J. Photoplethysmography and its application in clinical physiological measurement. Physiol Meas 2007;28:R1–39.</a:t>
            </a:r>
          </a:p>
          <a:p>
            <a:pPr algn="l">
              <a:lnSpc>
                <a:spcPct val="115000"/>
              </a:lnSpc>
              <a:spcAft>
                <a:spcPts val="700"/>
              </a:spcAft>
            </a:pPr>
            <a:r>
              <a:rPr sz="1050" b="0">
                <a:solidFill>
                  <a:srgbClr val="262626"/>
                </a:solidFill>
                <a:latin typeface="Meiryo"/>
                <a:ea typeface="Meiryo"/>
                <a:cs typeface="Meiryo"/>
              </a:rPr>
              <a:t>2. Aoyagi T. Pulse oximetry: its invention, theory, and future. J Anesth 2003;17:259–66.</a:t>
            </a:r>
          </a:p>
          <a:p>
            <a:pPr algn="l">
              <a:lnSpc>
                <a:spcPct val="115000"/>
              </a:lnSpc>
              <a:spcAft>
                <a:spcPts val="700"/>
              </a:spcAft>
            </a:pPr>
            <a:r>
              <a:rPr sz="1050" b="0">
                <a:solidFill>
                  <a:srgbClr val="262626"/>
                </a:solidFill>
                <a:latin typeface="Meiryo"/>
                <a:ea typeface="Meiryo"/>
                <a:cs typeface="Meiryo"/>
              </a:rPr>
              <a:t>3. Chan ED, Chan MM, Chan MM. Pulse oximetry: understanding its basic principles facilitates appreciation of its limitations. Respir Med 2013;107:789–99.</a:t>
            </a:r>
          </a:p>
          <a:p>
            <a:pPr algn="l">
              <a:lnSpc>
                <a:spcPct val="115000"/>
              </a:lnSpc>
              <a:spcAft>
                <a:spcPts val="700"/>
              </a:spcAft>
            </a:pPr>
            <a:r>
              <a:rPr sz="1050" b="0">
                <a:solidFill>
                  <a:srgbClr val="262626"/>
                </a:solidFill>
                <a:latin typeface="Meiryo"/>
                <a:ea typeface="Meiryo"/>
                <a:cs typeface="Meiryo"/>
              </a:rPr>
              <a:t>4. Ahmed A, et al. Hemoglobin oxygen saturation discrepancy using various methods in patients with sickle cell vaso-occlusive painful crisis. Eur J Haematol 2005;74:309–14.</a:t>
            </a:r>
          </a:p>
          <a:p>
            <a:pPr algn="l">
              <a:lnSpc>
                <a:spcPct val="115000"/>
              </a:lnSpc>
              <a:spcAft>
                <a:spcPts val="700"/>
              </a:spcAft>
            </a:pPr>
            <a:r>
              <a:rPr sz="1050" b="0">
                <a:solidFill>
                  <a:srgbClr val="262626"/>
                </a:solidFill>
                <a:latin typeface="Meiryo"/>
                <a:ea typeface="Meiryo"/>
                <a:cs typeface="Meiryo"/>
              </a:rPr>
              <a:t>5. Politi MT, et al. The dicrotic notch analyzed by a numerical model. Comput Biol Med 2016;72:54–64.</a:t>
            </a:r>
          </a:p>
          <a:p>
            <a:pPr algn="l">
              <a:lnSpc>
                <a:spcPct val="115000"/>
              </a:lnSpc>
              <a:spcAft>
                <a:spcPts val="700"/>
              </a:spcAft>
            </a:pPr>
            <a:r>
              <a:rPr sz="1050" b="0">
                <a:solidFill>
                  <a:srgbClr val="262626"/>
                </a:solidFill>
                <a:latin typeface="Meiryo"/>
                <a:ea typeface="Meiryo"/>
                <a:cs typeface="Meiryo"/>
              </a:rPr>
              <a:t>6. Millasseau SC, et al. Determination of age-related increases in large artery stiffness by digital pulse contour analysis. Clin Sci (Lond) 2002;103:371–7.</a:t>
            </a:r>
          </a:p>
          <a:p>
            <a:pPr algn="l">
              <a:lnSpc>
                <a:spcPct val="115000"/>
              </a:lnSpc>
              <a:spcAft>
                <a:spcPts val="700"/>
              </a:spcAft>
            </a:pPr>
            <a:r>
              <a:rPr sz="1050" b="0">
                <a:solidFill>
                  <a:srgbClr val="262626"/>
                </a:solidFill>
                <a:latin typeface="Meiryo"/>
                <a:ea typeface="Meiryo"/>
                <a:cs typeface="Meiryo"/>
              </a:rPr>
              <a:t>7. Dawber TR, Thomas HE, McNamara PM. Characteristics of the dicrotic notch of the arterial pulse wave in coronary heart disease. Angiology 1973;24:244–55.</a:t>
            </a:r>
          </a:p>
        </p:txBody>
      </p:sp>
      <p:sp>
        <p:nvSpPr>
          <p:cNvPr id="17" name="TextBox 16"/>
          <p:cNvSpPr txBox="1"/>
          <p:nvPr/>
        </p:nvSpPr>
        <p:spPr>
          <a:xfrm>
            <a:off x="6217920" y="1737360"/>
            <a:ext cx="5440680" cy="474143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8. Cunningham JW, et al. Machine learning to understand genetic and clinical factors associated with the pulse waveform dicrotic notch. Circ Genom Precis Med 2023;16:e003676.</a:t>
            </a:r>
          </a:p>
          <a:p>
            <a:pPr algn="l">
              <a:lnSpc>
                <a:spcPct val="115000"/>
              </a:lnSpc>
              <a:spcAft>
                <a:spcPts val="700"/>
              </a:spcAft>
            </a:pPr>
            <a:r>
              <a:rPr sz="1050" b="0">
                <a:solidFill>
                  <a:srgbClr val="262626"/>
                </a:solidFill>
                <a:latin typeface="Meiryo"/>
                <a:ea typeface="Meiryo"/>
                <a:cs typeface="Meiryo"/>
              </a:rPr>
              <a:t>9. Fry A, et al. Comparison of sociodemographic and health-related characteristics of UK Biobank participants with those of the general population. Am J Epidemiol 2017;186:1026–34.</a:t>
            </a:r>
          </a:p>
          <a:p>
            <a:pPr algn="l">
              <a:lnSpc>
                <a:spcPct val="115000"/>
              </a:lnSpc>
              <a:spcAft>
                <a:spcPts val="700"/>
              </a:spcAft>
            </a:pPr>
            <a:r>
              <a:rPr sz="1050" b="0">
                <a:solidFill>
                  <a:srgbClr val="262626"/>
                </a:solidFill>
                <a:latin typeface="Meiryo"/>
                <a:ea typeface="Meiryo"/>
                <a:cs typeface="Meiryo"/>
              </a:rPr>
              <a:t>10. Alian AA, et al. Impact of central hypovolemia on photoplethysmographic waveform parameters in healthy volunteers. Part 1: time domain analysis. J Clin Monit Comput 2011;25:377–85.</a:t>
            </a:r>
          </a:p>
          <a:p>
            <a:pPr algn="l">
              <a:lnSpc>
                <a:spcPct val="115000"/>
              </a:lnSpc>
              <a:spcAft>
                <a:spcPts val="700"/>
              </a:spcAft>
            </a:pPr>
            <a:r>
              <a:rPr sz="1050" b="0">
                <a:solidFill>
                  <a:srgbClr val="262626"/>
                </a:solidFill>
                <a:latin typeface="Meiryo"/>
                <a:ea typeface="Meiryo"/>
                <a:cs typeface="Meiryo"/>
              </a:rPr>
              <a:t>11. Chowienczyk PJ, et al. Photoplethysmographic assessment of pulse wave reflection: blunted response to endothelium-dependent β2-adrenergic vasodilation in type II diabetes mellitus. J Am Coll Cardiol 1999;34:2007–14.</a:t>
            </a:r>
          </a:p>
          <a:p>
            <a:pPr algn="l">
              <a:lnSpc>
                <a:spcPct val="115000"/>
              </a:lnSpc>
              <a:spcAft>
                <a:spcPts val="700"/>
              </a:spcAft>
            </a:pPr>
            <a:r>
              <a:rPr sz="1050" b="0">
                <a:solidFill>
                  <a:srgbClr val="262626"/>
                </a:solidFill>
                <a:latin typeface="Meiryo"/>
                <a:ea typeface="Meiryo"/>
                <a:cs typeface="Meiryo"/>
              </a:rPr>
              <a:t>12. Millasseau SC, Kelly RP, Ritter JM, Chowienczyk PJ. The vascular impact of aging and vasoactive drugs: comparison of two digital volume pulse measurements. Am J Hypertens 2003;16:467–72.</a:t>
            </a:r>
          </a:p>
          <a:p>
            <a:pPr algn="l">
              <a:lnSpc>
                <a:spcPct val="115000"/>
              </a:lnSpc>
              <a:spcAft>
                <a:spcPts val="700"/>
              </a:spcAft>
            </a:pPr>
            <a:r>
              <a:rPr sz="1050" b="0">
                <a:solidFill>
                  <a:srgbClr val="262626"/>
                </a:solidFill>
                <a:latin typeface="Meiryo"/>
                <a:ea typeface="Meiryo"/>
                <a:cs typeface="Meiryo"/>
              </a:rPr>
              <a:t>13. Pagoulatou S, et al. The effect of left ventricular contractility on arterial hemodynamics: a model-based investigation. PLoS One 2021;16(8):e0255561.</a:t>
            </a:r>
          </a:p>
          <a:p>
            <a:pPr algn="l">
              <a:lnSpc>
                <a:spcPct val="115000"/>
              </a:lnSpc>
              <a:spcAft>
                <a:spcPts val="700"/>
              </a:spcAft>
            </a:pPr>
            <a:r>
              <a:rPr sz="1050" b="0">
                <a:solidFill>
                  <a:srgbClr val="262626"/>
                </a:solidFill>
                <a:latin typeface="Meiryo"/>
                <a:ea typeface="Meiryo"/>
                <a:cs typeface="Meiryo"/>
              </a:rPr>
              <a:t>14. Piccioli F, et al. The effect of cardiac properties on arterial pulse waves: an in-silico study. Int J Numer Method Biomed Eng 2022;38(12):e3658.</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68/72</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 name="Title 1"/>
          <p:cNvSpPr>
            <a:spLocks noGrp="1"/>
          </p:cNvSpPr>
          <p:nvPr>
            <p:ph type="title"/>
          </p:nvPr>
        </p:nvSpPr>
        <p:spPr/>
        <p:txBody>
          <a:bodyPr/>
          <a:lstStyle/>
          <a:p>
            <a:pPr algn="l"/>
            <a:r>
              <a:rPr sz="4600" dirty="0">
                <a:latin typeface="Meiryo"/>
                <a:ea typeface="Meiryo"/>
                <a:cs typeface="Meiryo"/>
              </a:rPr>
              <a:t>参考文献（2）</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15. Wilkinson IB, et al. The influence of heart rate on augmentation index and central arterial pressure in humans. J Physiol 2000;525:263–70.</a:t>
            </a:r>
          </a:p>
          <a:p>
            <a:pPr algn="l">
              <a:lnSpc>
                <a:spcPct val="115000"/>
              </a:lnSpc>
              <a:spcAft>
                <a:spcPts val="700"/>
              </a:spcAft>
            </a:pPr>
            <a:r>
              <a:rPr sz="1050" b="0">
                <a:solidFill>
                  <a:srgbClr val="262626"/>
                </a:solidFill>
                <a:latin typeface="Meiryo"/>
                <a:ea typeface="Meiryo"/>
                <a:cs typeface="Meiryo"/>
              </a:rPr>
              <a:t>16. Hashimoto J, et al. Pulse wave velocity and the second derivative of the finger photoplethysmogram in treated hypertensive patients. J Hypertens 2002;20:2415–22.</a:t>
            </a:r>
          </a:p>
          <a:p>
            <a:pPr algn="l">
              <a:lnSpc>
                <a:spcPct val="115000"/>
              </a:lnSpc>
              <a:spcAft>
                <a:spcPts val="700"/>
              </a:spcAft>
            </a:pPr>
            <a:r>
              <a:rPr sz="1050" b="0">
                <a:solidFill>
                  <a:srgbClr val="262626"/>
                </a:solidFill>
                <a:latin typeface="Meiryo"/>
                <a:ea typeface="Meiryo"/>
                <a:cs typeface="Meiryo"/>
              </a:rPr>
              <a:t>17. Charlton PH, et al. Modeling arterial pulse waves in healthy aging: a database for in silico evaluation of hemodynamics and pulse wave indexes. Am J Physiol Heart Circ Physiol 2019;317:H1062–85.</a:t>
            </a:r>
          </a:p>
          <a:p>
            <a:pPr algn="l">
              <a:lnSpc>
                <a:spcPct val="115000"/>
              </a:lnSpc>
              <a:spcAft>
                <a:spcPts val="700"/>
              </a:spcAft>
            </a:pPr>
            <a:r>
              <a:rPr sz="1050" b="0">
                <a:solidFill>
                  <a:srgbClr val="262626"/>
                </a:solidFill>
                <a:latin typeface="Meiryo"/>
                <a:ea typeface="Meiryo"/>
                <a:cs typeface="Meiryo"/>
              </a:rPr>
              <a:t>18. Md Lazim MR, et al. Is heart rate a confounding factor for photoplethysmography markers? A systematic review. Int J Environ Res Public Health 2020;17:2591.</a:t>
            </a:r>
          </a:p>
          <a:p>
            <a:pPr algn="l">
              <a:lnSpc>
                <a:spcPct val="115000"/>
              </a:lnSpc>
              <a:spcAft>
                <a:spcPts val="700"/>
              </a:spcAft>
            </a:pPr>
            <a:r>
              <a:rPr sz="1050" b="0">
                <a:solidFill>
                  <a:srgbClr val="262626"/>
                </a:solidFill>
                <a:latin typeface="Meiryo"/>
                <a:ea typeface="Meiryo"/>
                <a:cs typeface="Meiryo"/>
              </a:rPr>
              <a:t>19. Murray WB, Foster PA. The peripheral pulse wave: information overlooked. J Clin Monit 1996;12:365–77.</a:t>
            </a:r>
          </a:p>
          <a:p>
            <a:pPr algn="l">
              <a:lnSpc>
                <a:spcPct val="115000"/>
              </a:lnSpc>
              <a:spcAft>
                <a:spcPts val="700"/>
              </a:spcAft>
            </a:pPr>
            <a:r>
              <a:rPr sz="1050" b="0">
                <a:solidFill>
                  <a:srgbClr val="262626"/>
                </a:solidFill>
                <a:latin typeface="Meiryo"/>
                <a:ea typeface="Meiryo"/>
                <a:cs typeface="Meiryo"/>
              </a:rPr>
              <a:t>20. Tusman G, et al. Photoplethysmographic characterization of vascular tone mediated changes in arterial pressure: an observational study. J Clin Monit Comput 2019;33:815–24.</a:t>
            </a:r>
          </a:p>
          <a:p>
            <a:pPr algn="l">
              <a:lnSpc>
                <a:spcPct val="115000"/>
              </a:lnSpc>
              <a:spcAft>
                <a:spcPts val="700"/>
              </a:spcAft>
            </a:pPr>
            <a:r>
              <a:rPr sz="1050" b="0">
                <a:solidFill>
                  <a:srgbClr val="262626"/>
                </a:solidFill>
                <a:latin typeface="Meiryo"/>
                <a:ea typeface="Meiryo"/>
                <a:cs typeface="Meiryo"/>
              </a:rPr>
              <a:t>21. Coutrot M, et al. Noninvasive continuous detection of arterial hypotension during induction of anaesthesia using a photoplethysmographic signal: proof of concept. Br J Anaesth 2019;122:605–12.</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22. Lee QY, et al. Multivariate classification of systemic vascular resistance using photoplethysmography. Physiol Meas 2011;32:1117–32.</a:t>
            </a:r>
          </a:p>
          <a:p>
            <a:pPr algn="l">
              <a:lnSpc>
                <a:spcPct val="115000"/>
              </a:lnSpc>
              <a:spcAft>
                <a:spcPts val="700"/>
              </a:spcAft>
            </a:pPr>
            <a:r>
              <a:rPr sz="1050" b="0">
                <a:solidFill>
                  <a:srgbClr val="262626"/>
                </a:solidFill>
                <a:latin typeface="Meiryo"/>
                <a:ea typeface="Meiryo"/>
                <a:cs typeface="Meiryo"/>
              </a:rPr>
              <a:t>23. Elgendi M. On the analysis of fingertip photoplethysmogram signals. Curr Cardiol Rev 2012;8:14–25.</a:t>
            </a:r>
          </a:p>
          <a:p>
            <a:pPr algn="l">
              <a:lnSpc>
                <a:spcPct val="115000"/>
              </a:lnSpc>
              <a:spcAft>
                <a:spcPts val="700"/>
              </a:spcAft>
            </a:pPr>
            <a:r>
              <a:rPr sz="1050" b="0">
                <a:solidFill>
                  <a:srgbClr val="262626"/>
                </a:solidFill>
                <a:latin typeface="Meiryo"/>
                <a:ea typeface="Meiryo"/>
                <a:cs typeface="Meiryo"/>
              </a:rPr>
              <a:t>24. Takazawa K, et al. Assessment of vasoactive agents and vascular aging by the second derivative of the photoplethysmogram waveform. Hypertension 1998;32:365–70.</a:t>
            </a:r>
          </a:p>
          <a:p>
            <a:pPr algn="l">
              <a:lnSpc>
                <a:spcPct val="115000"/>
              </a:lnSpc>
              <a:spcAft>
                <a:spcPts val="700"/>
              </a:spcAft>
            </a:pPr>
            <a:r>
              <a:rPr sz="1050" b="0">
                <a:solidFill>
                  <a:srgbClr val="262626"/>
                </a:solidFill>
                <a:latin typeface="Meiryo"/>
                <a:ea typeface="Meiryo"/>
                <a:cs typeface="Meiryo"/>
              </a:rPr>
              <a:t>25. Bortolotto LA, et al. Assessment of vascular aging and atherosclerosis in hypertensive subjects: second derivative of photoplethysmogram versus pulse wave velocity. Am J Hypertens 2000;13:165–71.</a:t>
            </a:r>
          </a:p>
          <a:p>
            <a:pPr algn="l">
              <a:lnSpc>
                <a:spcPct val="115000"/>
              </a:lnSpc>
              <a:spcAft>
                <a:spcPts val="700"/>
              </a:spcAft>
            </a:pPr>
            <a:r>
              <a:rPr sz="1050" b="0">
                <a:solidFill>
                  <a:srgbClr val="262626"/>
                </a:solidFill>
                <a:latin typeface="Meiryo"/>
                <a:ea typeface="Meiryo"/>
                <a:cs typeface="Meiryo"/>
              </a:rPr>
              <a:t>26. Otsuka T, et al. Utility of second derivative of the finger photoplethysmogram for the estimation of the risk of coronary heart disease in the general population. Circ J 2006;70:304–10.</a:t>
            </a:r>
          </a:p>
          <a:p>
            <a:pPr algn="l">
              <a:lnSpc>
                <a:spcPct val="115000"/>
              </a:lnSpc>
              <a:spcAft>
                <a:spcPts val="700"/>
              </a:spcAft>
            </a:pPr>
            <a:r>
              <a:rPr sz="1050" b="0">
                <a:solidFill>
                  <a:srgbClr val="262626"/>
                </a:solidFill>
                <a:latin typeface="Meiryo"/>
                <a:ea typeface="Meiryo"/>
                <a:cs typeface="Meiryo"/>
              </a:rPr>
              <a:t>27. Tabara Y, et al. Usefulness of the second derivative of the finger photoplethysmogram for assessment of end-organ damage: the J-SHIPP study. Hypertens Res 2016;39:552–6.</a:t>
            </a:r>
          </a:p>
          <a:p>
            <a:pPr algn="l">
              <a:lnSpc>
                <a:spcPct val="115000"/>
              </a:lnSpc>
              <a:spcAft>
                <a:spcPts val="700"/>
              </a:spcAft>
            </a:pPr>
            <a:r>
              <a:rPr sz="1050" b="0">
                <a:solidFill>
                  <a:srgbClr val="262626"/>
                </a:solidFill>
                <a:latin typeface="Meiryo"/>
                <a:ea typeface="Meiryo"/>
                <a:cs typeface="Meiryo"/>
              </a:rPr>
              <a:t>28. von Wowern E, Östling G, Nilsson PM, Olofsson P. Digital photoplethysmography for assessment of arterial stiffness: repeatability and comparison with applanation tonometry. PLoS One 2015;10(8):e0135659.</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69/72</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 name="Title 1"/>
          <p:cNvSpPr>
            <a:spLocks noGrp="1"/>
          </p:cNvSpPr>
          <p:nvPr>
            <p:ph type="title"/>
          </p:nvPr>
        </p:nvSpPr>
        <p:spPr/>
        <p:txBody>
          <a:bodyPr/>
          <a:lstStyle/>
          <a:p>
            <a:pPr algn="l"/>
            <a:r>
              <a:rPr sz="4600" dirty="0">
                <a:latin typeface="Meiryo"/>
                <a:ea typeface="Meiryo"/>
                <a:cs typeface="Meiryo"/>
              </a:rPr>
              <a:t>参考文献（3）</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29. Elgendi M, et al. Detection of a and b waves in the acceleration photoplethysmogram. Biomed Eng Online 2014;13:139.</a:t>
            </a:r>
          </a:p>
          <a:p>
            <a:pPr algn="l">
              <a:lnSpc>
                <a:spcPct val="115000"/>
              </a:lnSpc>
              <a:spcAft>
                <a:spcPts val="700"/>
              </a:spcAft>
            </a:pPr>
            <a:r>
              <a:rPr sz="1050" b="0">
                <a:solidFill>
                  <a:srgbClr val="262626"/>
                </a:solidFill>
                <a:latin typeface="Meiryo"/>
                <a:ea typeface="Meiryo"/>
                <a:cs typeface="Meiryo"/>
              </a:rPr>
              <a:t>30. Kohjitani A, et al. Responses of the second derivative of the finger photoplethysmogram indices and hemodynamic parameters to anesthesia induction. Hypertens Res 2012;35:53–60.</a:t>
            </a:r>
          </a:p>
          <a:p>
            <a:pPr algn="l">
              <a:lnSpc>
                <a:spcPct val="115000"/>
              </a:lnSpc>
              <a:spcAft>
                <a:spcPts val="700"/>
              </a:spcAft>
            </a:pPr>
            <a:r>
              <a:rPr sz="1050" b="0">
                <a:solidFill>
                  <a:srgbClr val="262626"/>
                </a:solidFill>
                <a:latin typeface="Meiryo"/>
                <a:ea typeface="Meiryo"/>
                <a:cs typeface="Meiryo"/>
              </a:rPr>
              <a:t>31. Joachim J, et al. Real-time estimation of mean arterial blood pressure based on photoplethysmography dicrotic notch and perfusion index: a pilot study. J Clin Monit Comput 2021;35:395–404.</a:t>
            </a:r>
          </a:p>
          <a:p>
            <a:pPr algn="l">
              <a:lnSpc>
                <a:spcPct val="115000"/>
              </a:lnSpc>
              <a:spcAft>
                <a:spcPts val="700"/>
              </a:spcAft>
            </a:pPr>
            <a:r>
              <a:rPr sz="1050" b="0">
                <a:solidFill>
                  <a:srgbClr val="262626"/>
                </a:solidFill>
                <a:latin typeface="Meiryo"/>
                <a:ea typeface="Meiryo"/>
                <a:cs typeface="Meiryo"/>
              </a:rPr>
              <a:t>32. Padilla JM, et al. Pulse wave velocity and digital volume pulse as indirect estimators of blood pressure: pilot study on healthy volunteers. Cardiovasc Eng 2009;9:104–12.</a:t>
            </a:r>
          </a:p>
          <a:p>
            <a:pPr algn="l">
              <a:lnSpc>
                <a:spcPct val="115000"/>
              </a:lnSpc>
              <a:spcAft>
                <a:spcPts val="700"/>
              </a:spcAft>
            </a:pPr>
            <a:r>
              <a:rPr sz="1050" b="0">
                <a:solidFill>
                  <a:srgbClr val="262626"/>
                </a:solidFill>
                <a:latin typeface="Meiryo"/>
                <a:ea typeface="Meiryo"/>
                <a:cs typeface="Meiryo"/>
              </a:rPr>
              <a:t>33. Wu HT, et al. Novel application of parameters in waveform contour analysis for assessing arterial stiffness in aged and atherosclerotic subjects. Atherosclerosis 2010;213:173–7.</a:t>
            </a:r>
          </a:p>
          <a:p>
            <a:pPr algn="l">
              <a:lnSpc>
                <a:spcPct val="115000"/>
              </a:lnSpc>
              <a:spcAft>
                <a:spcPts val="700"/>
              </a:spcAft>
            </a:pPr>
            <a:r>
              <a:rPr sz="1050" b="0">
                <a:solidFill>
                  <a:srgbClr val="262626"/>
                </a:solidFill>
                <a:latin typeface="Meiryo"/>
                <a:ea typeface="Meiryo"/>
                <a:cs typeface="Meiryo"/>
              </a:rPr>
              <a:t>34. Pal R, et al. An algorithm to detect dicrotic notch in arterial blood pressure and photoplethysmography waveforms using the iterative envelope mean method. Comput Methods Programs Biomed 2024;254:108283.</a:t>
            </a:r>
          </a:p>
          <a:p>
            <a:pPr algn="l">
              <a:lnSpc>
                <a:spcPct val="115000"/>
              </a:lnSpc>
              <a:spcAft>
                <a:spcPts val="700"/>
              </a:spcAft>
            </a:pPr>
            <a:r>
              <a:rPr sz="1050" b="0">
                <a:solidFill>
                  <a:srgbClr val="262626"/>
                </a:solidFill>
                <a:latin typeface="Meiryo"/>
                <a:ea typeface="Meiryo"/>
                <a:cs typeface="Meiryo"/>
              </a:rPr>
              <a:t>35. Fleischhauer V, et al. Pulse decomposition analysis in photoplethysmography imaging. Physiol Meas 2020;41:095009.</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36. Attivissimo F, et al. Photoplethysmography signal wavelet enhancement and novel features selection for non-invasive cuff-less blood pressure monitoring. Sensors 2023;23:2321.</a:t>
            </a:r>
          </a:p>
          <a:p>
            <a:pPr algn="l">
              <a:lnSpc>
                <a:spcPct val="115000"/>
              </a:lnSpc>
              <a:spcAft>
                <a:spcPts val="700"/>
              </a:spcAft>
            </a:pPr>
            <a:r>
              <a:rPr sz="1050" b="0">
                <a:solidFill>
                  <a:srgbClr val="262626"/>
                </a:solidFill>
                <a:latin typeface="Meiryo"/>
                <a:ea typeface="Meiryo"/>
                <a:cs typeface="Meiryo"/>
              </a:rPr>
              <a:t>37. Domínguez-Hernández S, Páez G, Padilla M. Harmonic-selective Gaussian filtering for morphology and timing preservation in PPG signals. Sensors 2026;26:3710.</a:t>
            </a:r>
          </a:p>
          <a:p>
            <a:pPr algn="l">
              <a:lnSpc>
                <a:spcPct val="115000"/>
              </a:lnSpc>
              <a:spcAft>
                <a:spcPts val="700"/>
              </a:spcAft>
            </a:pPr>
            <a:r>
              <a:rPr sz="1050" b="0">
                <a:solidFill>
                  <a:srgbClr val="262626"/>
                </a:solidFill>
                <a:latin typeface="Meiryo"/>
                <a:ea typeface="Meiryo"/>
                <a:cs typeface="Meiryo"/>
              </a:rPr>
              <a:t>38. Shin H, Noh G, Choi BM. Photoplethysmogram based vascular aging assessment using the deep convolutional neural network. Sci Rep 2022;12:11377.</a:t>
            </a:r>
          </a:p>
          <a:p>
            <a:pPr algn="l">
              <a:lnSpc>
                <a:spcPct val="115000"/>
              </a:lnSpc>
              <a:spcAft>
                <a:spcPts val="700"/>
              </a:spcAft>
            </a:pPr>
            <a:r>
              <a:rPr sz="1050" b="0">
                <a:solidFill>
                  <a:srgbClr val="262626"/>
                </a:solidFill>
                <a:latin typeface="Meiryo"/>
                <a:ea typeface="Meiryo"/>
                <a:cs typeface="Meiryo"/>
              </a:rPr>
              <a:t>39. Vargas JM, et al. Assessment of pulse wave velocity through weighted visibility graph metrics from photoplethysmographic signals. Sci Rep 2025;15:31128.</a:t>
            </a:r>
          </a:p>
          <a:p>
            <a:pPr algn="l">
              <a:lnSpc>
                <a:spcPct val="115000"/>
              </a:lnSpc>
              <a:spcAft>
                <a:spcPts val="700"/>
              </a:spcAft>
            </a:pPr>
            <a:r>
              <a:rPr sz="1050" b="0">
                <a:solidFill>
                  <a:srgbClr val="262626"/>
                </a:solidFill>
                <a:latin typeface="Meiryo"/>
                <a:ea typeface="Meiryo"/>
                <a:cs typeface="Meiryo"/>
              </a:rPr>
              <a:t>40. Rubins U. Finger and ear photoplethysmogram waveform analysis by fitting with Gaussians. Med Biol Eng Comput 2008;46:1271–6.</a:t>
            </a:r>
          </a:p>
          <a:p>
            <a:pPr algn="l">
              <a:lnSpc>
                <a:spcPct val="115000"/>
              </a:lnSpc>
              <a:spcAft>
                <a:spcPts val="700"/>
              </a:spcAft>
            </a:pPr>
            <a:r>
              <a:rPr sz="1050" b="0">
                <a:solidFill>
                  <a:srgbClr val="262626"/>
                </a:solidFill>
                <a:latin typeface="Meiryo"/>
                <a:ea typeface="Meiryo"/>
                <a:cs typeface="Meiryo"/>
              </a:rPr>
              <a:t>41. Goswami D, et al. A new two-pulse synthesis model for digital volume pulse signal analysis. Cardiovasc Eng 2010;10:109–17.</a:t>
            </a:r>
          </a:p>
          <a:p>
            <a:pPr algn="l">
              <a:lnSpc>
                <a:spcPct val="115000"/>
              </a:lnSpc>
              <a:spcAft>
                <a:spcPts val="700"/>
              </a:spcAft>
            </a:pPr>
            <a:r>
              <a:rPr sz="1050" b="0">
                <a:solidFill>
                  <a:srgbClr val="262626"/>
                </a:solidFill>
                <a:latin typeface="Meiryo"/>
                <a:ea typeface="Meiryo"/>
                <a:cs typeface="Meiryo"/>
              </a:rPr>
              <a:t>42. Couceiro R, et al. Assessment of cardiovascular function from multi-Gaussian fitting of a finger photoplethysmogram. Physiol Meas 2015;36:1801–25.</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70/72</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 name="Title 1"/>
          <p:cNvSpPr>
            <a:spLocks noGrp="1"/>
          </p:cNvSpPr>
          <p:nvPr>
            <p:ph type="title"/>
          </p:nvPr>
        </p:nvSpPr>
        <p:spPr/>
        <p:txBody>
          <a:bodyPr/>
          <a:lstStyle/>
          <a:p>
            <a:pPr algn="l"/>
            <a:r>
              <a:rPr sz="4600" dirty="0">
                <a:latin typeface="Meiryo"/>
                <a:ea typeface="Meiryo"/>
                <a:cs typeface="Meiryo"/>
              </a:rPr>
              <a:t>参考文献（4）</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43. Tigges T, et al. Model selection for the pulse decomposition analysis of fingertip photoplethysmograms. Annu Int Conf IEEE EMBC 2017;2017:4014–7.</a:t>
            </a:r>
          </a:p>
          <a:p>
            <a:pPr algn="l">
              <a:lnSpc>
                <a:spcPct val="115000"/>
              </a:lnSpc>
              <a:spcAft>
                <a:spcPts val="700"/>
              </a:spcAft>
            </a:pPr>
            <a:r>
              <a:rPr sz="1050" b="0">
                <a:solidFill>
                  <a:srgbClr val="262626"/>
                </a:solidFill>
                <a:latin typeface="Meiryo"/>
                <a:ea typeface="Meiryo"/>
                <a:cs typeface="Meiryo"/>
              </a:rPr>
              <a:t>44. Basso G, et al. A skewed-Gaussian model for pulse decomposition analysis of photoplethysmography signals. Physiol Meas 2024;45(11):125005.</a:t>
            </a:r>
          </a:p>
          <a:p>
            <a:pPr algn="l">
              <a:lnSpc>
                <a:spcPct val="115000"/>
              </a:lnSpc>
              <a:spcAft>
                <a:spcPts val="700"/>
              </a:spcAft>
            </a:pPr>
            <a:r>
              <a:rPr sz="1050" b="0">
                <a:solidFill>
                  <a:srgbClr val="262626"/>
                </a:solidFill>
                <a:latin typeface="Meiryo"/>
                <a:ea typeface="Meiryo"/>
                <a:cs typeface="Meiryo"/>
              </a:rPr>
              <a:t>45. Couceiro R, et al. Multi-Gaussian fitting for the assessment of left ventricular ejection time from the photoplethysmogram. Annu Int Conf IEEE EMBC 2012;2012:3951–4.</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46. Baruch MC, et al. Validation of the pulse decomposition analysis algorithm using central arterial blood pressure. Biomed Eng Online 2014;13:96.</a:t>
            </a:r>
          </a:p>
          <a:p>
            <a:pPr algn="l">
              <a:lnSpc>
                <a:spcPct val="115000"/>
              </a:lnSpc>
              <a:spcAft>
                <a:spcPts val="700"/>
              </a:spcAft>
            </a:pPr>
            <a:r>
              <a:rPr sz="1050" b="0">
                <a:solidFill>
                  <a:srgbClr val="262626"/>
                </a:solidFill>
                <a:latin typeface="Meiryo"/>
                <a:ea typeface="Meiryo"/>
                <a:cs typeface="Meiryo"/>
              </a:rPr>
              <a:t>47. Epstein S, et al. Numerical assessment of the stiffness index. Annu Int Conf IEEE EMBC 2014;2014:1969–72.</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71/72</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 name="Title 1"/>
          <p:cNvSpPr>
            <a:spLocks noGrp="1"/>
          </p:cNvSpPr>
          <p:nvPr>
            <p:ph type="title"/>
          </p:nvPr>
        </p:nvSpPr>
        <p:spPr/>
        <p:txBody>
          <a:bodyPr/>
          <a:lstStyle/>
          <a:p>
            <a:pPr algn="l"/>
            <a:r>
              <a:rPr sz="4600" dirty="0">
                <a:latin typeface="Meiryo"/>
                <a:ea typeface="Meiryo"/>
                <a:cs typeface="Meiryo"/>
              </a:rPr>
              <a:t>参考文献（5）</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48. Legendre AM. Nouvelles méthodes pour la détermination des orbites des comètes. Paris: Firmin Didot; 1805.</a:t>
            </a:r>
          </a:p>
          <a:p>
            <a:pPr algn="l">
              <a:lnSpc>
                <a:spcPct val="115000"/>
              </a:lnSpc>
              <a:spcAft>
                <a:spcPts val="700"/>
              </a:spcAft>
            </a:pPr>
            <a:r>
              <a:rPr sz="1050" b="0">
                <a:solidFill>
                  <a:srgbClr val="262626"/>
                </a:solidFill>
                <a:latin typeface="Meiryo"/>
                <a:ea typeface="Meiryo"/>
                <a:cs typeface="Meiryo"/>
              </a:rPr>
              <a:t>49. Fourier J. Théorie analytique de la chaleur. Paris: Firmin Didot; 1822.</a:t>
            </a:r>
          </a:p>
          <a:p>
            <a:pPr algn="l">
              <a:lnSpc>
                <a:spcPct val="115000"/>
              </a:lnSpc>
              <a:spcAft>
                <a:spcPts val="700"/>
              </a:spcAft>
            </a:pPr>
            <a:r>
              <a:rPr sz="1050" b="0">
                <a:solidFill>
                  <a:srgbClr val="262626"/>
                </a:solidFill>
                <a:latin typeface="Meiryo"/>
                <a:ea typeface="Meiryo"/>
                <a:cs typeface="Meiryo"/>
              </a:rPr>
              <a:t>50. Robinson EA. Predictive decomposition of seismic traces. Geophysics 1957;22:767–78.</a:t>
            </a:r>
          </a:p>
          <a:p>
            <a:pPr algn="l">
              <a:lnSpc>
                <a:spcPct val="115000"/>
              </a:lnSpc>
              <a:spcAft>
                <a:spcPts val="700"/>
              </a:spcAft>
            </a:pPr>
            <a:r>
              <a:rPr sz="1050" b="0">
                <a:solidFill>
                  <a:srgbClr val="262626"/>
                </a:solidFill>
                <a:latin typeface="Meiryo"/>
                <a:ea typeface="Meiryo"/>
                <a:cs typeface="Meiryo"/>
              </a:rPr>
              <a:t>51. Fraser RDB, Suzuki E. Resolution of overlapping absorption bands by least squares procedures. Anal Chem 1966;38:1770–3.</a:t>
            </a:r>
          </a:p>
          <a:p>
            <a:pPr algn="l">
              <a:lnSpc>
                <a:spcPct val="115000"/>
              </a:lnSpc>
              <a:spcAft>
                <a:spcPts val="700"/>
              </a:spcAft>
            </a:pPr>
            <a:r>
              <a:rPr sz="1050" b="0">
                <a:solidFill>
                  <a:srgbClr val="262626"/>
                </a:solidFill>
                <a:latin typeface="Meiryo"/>
                <a:ea typeface="Meiryo"/>
                <a:cs typeface="Meiryo"/>
              </a:rPr>
              <a:t>52. Levenberg K. A method for the solution of certain non-linear problems in least squares. Q Appl Math 1944;2:164–8.</a:t>
            </a:r>
          </a:p>
          <a:p>
            <a:pPr algn="l">
              <a:lnSpc>
                <a:spcPct val="115000"/>
              </a:lnSpc>
              <a:spcAft>
                <a:spcPts val="700"/>
              </a:spcAft>
            </a:pPr>
            <a:r>
              <a:rPr sz="1050" b="0">
                <a:solidFill>
                  <a:srgbClr val="262626"/>
                </a:solidFill>
                <a:latin typeface="Meiryo"/>
                <a:ea typeface="Meiryo"/>
                <a:cs typeface="Meiryo"/>
              </a:rPr>
              <a:t>53. Marquardt DW. An algorithm for least-squares estimation of nonlinear parameters. J Soc Ind Appl Math 1963;11:431–41.</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54. Akaike H. A new look at the statistical model identification. IEEE Trans Automat Contr 1974;19:716–23.</a:t>
            </a:r>
          </a:p>
          <a:p>
            <a:pPr algn="l">
              <a:lnSpc>
                <a:spcPct val="115000"/>
              </a:lnSpc>
              <a:spcAft>
                <a:spcPts val="700"/>
              </a:spcAft>
            </a:pPr>
            <a:r>
              <a:rPr sz="1050" b="0">
                <a:solidFill>
                  <a:srgbClr val="262626"/>
                </a:solidFill>
                <a:latin typeface="Meiryo"/>
                <a:ea typeface="Meiryo"/>
                <a:cs typeface="Meiryo"/>
              </a:rPr>
              <a:t>55. Frank O. Die Grundform des arteriellen Pulses. Z Biol 1899;37:483–526.</a:t>
            </a:r>
          </a:p>
          <a:p>
            <a:pPr algn="l">
              <a:lnSpc>
                <a:spcPct val="115000"/>
              </a:lnSpc>
              <a:spcAft>
                <a:spcPts val="700"/>
              </a:spcAft>
            </a:pPr>
            <a:r>
              <a:rPr sz="1050" b="0">
                <a:solidFill>
                  <a:srgbClr val="262626"/>
                </a:solidFill>
                <a:latin typeface="Meiryo"/>
                <a:ea typeface="Meiryo"/>
                <a:cs typeface="Meiryo"/>
              </a:rPr>
              <a:t>56. Westerhof N, Sipkema P, van den Bos GC, Elzinga G. Forward and backward waves in the arterial system. Cardiovasc Res 1972;6:648–56.</a:t>
            </a:r>
          </a:p>
          <a:p>
            <a:pPr algn="l">
              <a:lnSpc>
                <a:spcPct val="115000"/>
              </a:lnSpc>
              <a:spcAft>
                <a:spcPts val="700"/>
              </a:spcAft>
            </a:pPr>
            <a:r>
              <a:rPr sz="1050" b="0">
                <a:solidFill>
                  <a:srgbClr val="262626"/>
                </a:solidFill>
                <a:latin typeface="Meiryo"/>
                <a:ea typeface="Meiryo"/>
                <a:cs typeface="Meiryo"/>
              </a:rPr>
              <a:t>57. Parker KH, Jones CJH. Forward and backward running waves in the arteries: analysis using the method of characteristics. J Biomech Eng 1990;112:322–6.</a:t>
            </a:r>
          </a:p>
          <a:p>
            <a:pPr algn="l">
              <a:lnSpc>
                <a:spcPct val="115000"/>
              </a:lnSpc>
              <a:spcAft>
                <a:spcPts val="700"/>
              </a:spcAft>
            </a:pPr>
            <a:r>
              <a:rPr sz="1050" b="0">
                <a:solidFill>
                  <a:srgbClr val="262626"/>
                </a:solidFill>
                <a:latin typeface="Meiryo"/>
                <a:ea typeface="Meiryo"/>
                <a:cs typeface="Meiryo"/>
              </a:rPr>
              <a:t>58. Baruch MC, et al. Pulse Decomposition Analysis of the digital arterial pulse during hemorrhage simulation. Nonlinear Biomed Phys 2011;5:1.</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72/72</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オレンジ　ユニバーサル" id="{DDF077F7-BA21-FC41-978A-DD4CA4756309}" vid="{43215BA7-B5F4-3049-B00B-423F1BE0E8B6}"/>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テーマ</Template>
  <TotalTime>24311</TotalTime>
  <Words>26734</Words>
  <Application>Microsoft Macintosh PowerPoint</Application>
  <PresentationFormat>ワイド画面</PresentationFormat>
  <Paragraphs>3861</Paragraphs>
  <Slides>96</Slides>
  <Notes>87</Notes>
  <HiddenSlides>3</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96</vt:i4>
      </vt:variant>
    </vt:vector>
  </HeadingPairs>
  <TitlesOfParts>
    <vt:vector size="102" baseType="lpstr">
      <vt:lpstr>Meiryo</vt:lpstr>
      <vt:lpstr>Meiryo</vt:lpstr>
      <vt:lpstr>游ゴシック</vt:lpstr>
      <vt:lpstr>Arial</vt:lpstr>
      <vt:lpstr>Calibri</vt:lpstr>
      <vt:lpstr>Office テーマ</vt:lpstr>
      <vt:lpstr>光電式容積脈波記録法：PhotoPlethysmoGraphy（ PPG ） 波形解析について</vt:lpstr>
      <vt:lpstr>用語の整理</vt:lpstr>
      <vt:lpstr>メニュー</vt:lpstr>
      <vt:lpstr>1. PPGの基礎</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 残存動脈血について</vt:lpstr>
      <vt:lpstr>1.2  PPGが測るもの</vt:lpstr>
      <vt:lpstr>1.3  前進波の成因</vt:lpstr>
      <vt:lpstr>1.3  前進波の成因</vt:lpstr>
      <vt:lpstr>1.3  前進波の成因</vt:lpstr>
      <vt:lpstr>1.4  反射波の成因</vt:lpstr>
      <vt:lpstr>1.5  PPG基礎まとめ</vt:lpstr>
      <vt:lpstr>2. 波形への影響</vt:lpstr>
      <vt:lpstr>2. 波形への影響</vt:lpstr>
      <vt:lpstr>2.1.1  フラミンガム研究</vt:lpstr>
      <vt:lpstr>2.1.1  フラミンガム研究</vt:lpstr>
      <vt:lpstr>2.1.1  フラミンガム研究</vt:lpstr>
      <vt:lpstr>2.1.1  フラミンガム研究</vt:lpstr>
      <vt:lpstr>PowerPoint プレゼンテーション</vt:lpstr>
      <vt:lpstr>PowerPoint プレゼンテーション</vt:lpstr>
      <vt:lpstr>2.1.2  UK Biobank</vt:lpstr>
      <vt:lpstr>2.1.2  UK Biobank</vt:lpstr>
      <vt:lpstr>2.1.2  UK Biobank</vt:lpstr>
      <vt:lpstr>2.1.2  UK Biobank</vt:lpstr>
      <vt:lpstr>2.1.3  切痕平滑化の理由</vt:lpstr>
      <vt:lpstr>2.1.3  切痕平滑化の理由</vt:lpstr>
      <vt:lpstr>2. 波形への影響</vt:lpstr>
      <vt:lpstr>2.2.1  前負荷</vt:lpstr>
      <vt:lpstr>2.2.1  前負荷</vt:lpstr>
      <vt:lpstr>2.2.2  後負荷：末梢</vt:lpstr>
      <vt:lpstr>2.2.2  後負荷：末梢</vt:lpstr>
      <vt:lpstr>2.2.3  後負荷の違い</vt:lpstr>
      <vt:lpstr>2.2.4  心収縮力</vt:lpstr>
      <vt:lpstr>2.2.4  心収縮力</vt:lpstr>
      <vt:lpstr>2.2.5  心拍数</vt:lpstr>
      <vt:lpstr>2.2.6  波形変化まとめ</vt:lpstr>
      <vt:lpstr>2. 波形への影響</vt:lpstr>
      <vt:lpstr>2.3.1  切痕位置とトーヌス</vt:lpstr>
      <vt:lpstr>2.3.2  波形の6分類</vt:lpstr>
      <vt:lpstr>2.3.2  波形の6分類</vt:lpstr>
      <vt:lpstr>2.3.2  6分類と血行動態</vt:lpstr>
      <vt:lpstr>2.3.2  6分類と血行動態</vt:lpstr>
      <vt:lpstr>2.3.3  導入時の低血圧</vt:lpstr>
      <vt:lpstr>3. 波形の定量化</vt:lpstr>
      <vt:lpstr>3.1. Stiffness Index</vt:lpstr>
      <vt:lpstr>3.1. Stiffness Index</vt:lpstr>
      <vt:lpstr>3.2  Reflection Index</vt:lpstr>
      <vt:lpstr>3.2  Reflection Index</vt:lpstr>
      <vt:lpstr>3.2  Reflection Index</vt:lpstr>
      <vt:lpstr>3.2  RI と心拍数</vt:lpstr>
      <vt:lpstr>3.3  加速度脈波 SDPPG</vt:lpstr>
      <vt:lpstr>3.3  加速度脈波 SDPPG</vt:lpstr>
      <vt:lpstr>3.3  SDPPG の主な知見</vt:lpstr>
      <vt:lpstr>3.3  SDPPG は何を測れたか</vt:lpstr>
      <vt:lpstr>3.3  b/a と SI</vt:lpstr>
      <vt:lpstr>3.3  b/a と SI</vt:lpstr>
      <vt:lpstr>3.3  d/a と RI</vt:lpstr>
      <vt:lpstr>3.3  d/a と RI</vt:lpstr>
      <vt:lpstr>3.4  定量化指標まとめ</vt:lpstr>
      <vt:lpstr>4. 限界</vt:lpstr>
      <vt:lpstr>4.1  自動解析の壁</vt:lpstr>
      <vt:lpstr>4.2  極端な動脈硬化</vt:lpstr>
      <vt:lpstr>4.3  DN-less 信号対策</vt:lpstr>
      <vt:lpstr>4.3  DN-less 信号対策</vt:lpstr>
      <vt:lpstr>5. PDA（波形分解）</vt:lpstr>
      <vt:lpstr>5.1  PDA とは</vt:lpstr>
      <vt:lpstr>5.2  合成波と成分波</vt:lpstr>
      <vt:lpstr>5.2  基底関数とは</vt:lpstr>
      <vt:lpstr>5.2  基底関数の形</vt:lpstr>
      <vt:lpstr>5.2  成分波を何本使うか</vt:lpstr>
      <vt:lpstr>5.3  当てはめの手順</vt:lpstr>
      <vt:lpstr>5.3  当てはめの計算</vt:lpstr>
      <vt:lpstr>5.4  得られる指標</vt:lpstr>
      <vt:lpstr>5.5  重要文献の全体像</vt:lpstr>
      <vt:lpstr>5.5  Rubins 2008</vt:lpstr>
      <vt:lpstr>5.5  Goswami 2010</vt:lpstr>
      <vt:lpstr>5.5  Couceiro 2012</vt:lpstr>
      <vt:lpstr>5.5  Couceiro 2015</vt:lpstr>
      <vt:lpstr>5.5  Tigges 2017</vt:lpstr>
      <vt:lpstr>5.5  Fleischhauer</vt:lpstr>
      <vt:lpstr>5.5  Basso 2024</vt:lpstr>
      <vt:lpstr>5.5  Baruch 2014</vt:lpstr>
      <vt:lpstr>5.5  Pal 2024</vt:lpstr>
      <vt:lpstr>5.6  PDA の限界</vt:lpstr>
      <vt:lpstr>参考文献</vt:lpstr>
      <vt:lpstr>参考文献（2）</vt:lpstr>
      <vt:lpstr>参考文献（3）</vt:lpstr>
      <vt:lpstr>参考文献（4）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 pauseの（ほぼ）全て</dc:title>
  <dc:creator>靖晃 川副</dc:creator>
  <cp:lastModifiedBy>靖晃 川副</cp:lastModifiedBy>
  <cp:revision>68</cp:revision>
  <dcterms:created xsi:type="dcterms:W3CDTF">2025-01-05T04:32:32Z</dcterms:created>
  <dcterms:modified xsi:type="dcterms:W3CDTF">2026-08-15T01:36:59Z</dcterms:modified>
</cp:coreProperties>
</file>