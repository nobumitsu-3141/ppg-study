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3"/>
  </p:notesMasterIdLst>
  <p:sldIdLst>
    <p:sldId id="372" r:id="rId2"/>
    <p:sldId id="458" r:id="rId3"/>
    <p:sldId id="259" r:id="rId4"/>
    <p:sldId id="260" r:id="rId5"/>
    <p:sldId id="368" r:id="rId6"/>
    <p:sldId id="369" r:id="rId7"/>
    <p:sldId id="349" r:id="rId8"/>
    <p:sldId id="380" r:id="rId9"/>
    <p:sldId id="399" r:id="rId10"/>
    <p:sldId id="401" r:id="rId11"/>
    <p:sldId id="402" r:id="rId12"/>
    <p:sldId id="377" r:id="rId13"/>
    <p:sldId id="378" r:id="rId14"/>
    <p:sldId id="397" r:id="rId15"/>
    <p:sldId id="347" r:id="rId16"/>
    <p:sldId id="352" r:id="rId17"/>
    <p:sldId id="379" r:id="rId18"/>
    <p:sldId id="351" r:id="rId19"/>
    <p:sldId id="328" r:id="rId20"/>
    <p:sldId id="432" r:id="rId21"/>
    <p:sldId id="306" r:id="rId22"/>
    <p:sldId id="472" r:id="rId23"/>
    <p:sldId id="354" r:id="rId24"/>
    <p:sldId id="422" r:id="rId25"/>
    <p:sldId id="307" r:id="rId26"/>
    <p:sldId id="382" r:id="rId27"/>
    <p:sldId id="384" r:id="rId28"/>
    <p:sldId id="339" r:id="rId29"/>
    <p:sldId id="425" r:id="rId30"/>
    <p:sldId id="424" r:id="rId31"/>
    <p:sldId id="355" r:id="rId32"/>
    <p:sldId id="311" r:id="rId33"/>
    <p:sldId id="272" r:id="rId34"/>
    <p:sldId id="383" r:id="rId35"/>
    <p:sldId id="473" r:id="rId36"/>
    <p:sldId id="403" r:id="rId37"/>
    <p:sldId id="356" r:id="rId38"/>
    <p:sldId id="427" r:id="rId39"/>
    <p:sldId id="428" r:id="rId40"/>
    <p:sldId id="320" r:id="rId41"/>
    <p:sldId id="410" r:id="rId42"/>
    <p:sldId id="409" r:id="rId43"/>
    <p:sldId id="299" r:id="rId44"/>
    <p:sldId id="362" r:id="rId45"/>
    <p:sldId id="474" r:id="rId46"/>
    <p:sldId id="275" r:id="rId47"/>
    <p:sldId id="321" r:id="rId48"/>
    <p:sldId id="310" r:id="rId49"/>
    <p:sldId id="385" r:id="rId50"/>
    <p:sldId id="433" r:id="rId51"/>
    <p:sldId id="364" r:id="rId52"/>
    <p:sldId id="274" r:id="rId53"/>
    <p:sldId id="330" r:id="rId54"/>
    <p:sldId id="386" r:id="rId55"/>
    <p:sldId id="331" r:id="rId56"/>
    <p:sldId id="388" r:id="rId57"/>
    <p:sldId id="398" r:id="rId58"/>
    <p:sldId id="360" r:id="rId59"/>
    <p:sldId id="390" r:id="rId60"/>
    <p:sldId id="391" r:id="rId61"/>
    <p:sldId id="459" r:id="rId62"/>
    <p:sldId id="470" r:id="rId63"/>
    <p:sldId id="414" r:id="rId64"/>
    <p:sldId id="475" r:id="rId65"/>
    <p:sldId id="429" r:id="rId66"/>
    <p:sldId id="476" r:id="rId67"/>
    <p:sldId id="343" r:id="rId68"/>
    <p:sldId id="289" r:id="rId69"/>
    <p:sldId id="333" r:id="rId70"/>
    <p:sldId id="411" r:id="rId71"/>
    <p:sldId id="460" r:id="rId72"/>
    <p:sldId id="461" r:id="rId73"/>
    <p:sldId id="462" r:id="rId74"/>
    <p:sldId id="442" r:id="rId75"/>
    <p:sldId id="463" r:id="rId76"/>
    <p:sldId id="478" r:id="rId77"/>
    <p:sldId id="464" r:id="rId78"/>
    <p:sldId id="479" r:id="rId79"/>
    <p:sldId id="444" r:id="rId80"/>
    <p:sldId id="480" r:id="rId81"/>
    <p:sldId id="465" r:id="rId82"/>
    <p:sldId id="481" r:id="rId83"/>
    <p:sldId id="443" r:id="rId84"/>
    <p:sldId id="466" r:id="rId85"/>
    <p:sldId id="483" r:id="rId109"/>
    <p:sldId id="484" r:id="rId110"/>
    <p:sldId id="485" r:id="rId111"/>
    <p:sldId id="467" r:id="rId86"/>
    <p:sldId id="468" r:id="rId87"/>
    <p:sldId id="482" r:id="rId88"/>
    <p:sldId id="445" r:id="rId89"/>
    <p:sldId id="446" r:id="rId90"/>
    <p:sldId id="447" r:id="rId91"/>
    <p:sldId id="448" r:id="rId92"/>
    <p:sldId id="449" r:id="rId93"/>
    <p:sldId id="450" r:id="rId94"/>
    <p:sldId id="451" r:id="rId95"/>
    <p:sldId id="452" r:id="rId96"/>
    <p:sldId id="453" r:id="rId97"/>
    <p:sldId id="454" r:id="rId98"/>
    <p:sldId id="296" r:id="rId99"/>
    <p:sldId id="366" r:id="rId100"/>
    <p:sldId id="456" r:id="rId101"/>
    <p:sldId id="457" r:id="rId10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5"/>
    <p:restoredTop sz="75068"/>
  </p:normalViewPr>
  <p:slideViewPr>
    <p:cSldViewPr snapToGrid="0">
      <p:cViewPr varScale="1">
        <p:scale>
          <a:sx n="94" d="100"/>
          <a:sy n="94" d="100"/>
        </p:scale>
        <p:origin x="1648" y="184"/>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8.xml"/><Relationship Id="rId87" Type="http://schemas.openxmlformats.org/officeDocument/2006/relationships/slide" Target="slides/slide89.xml"/><Relationship Id="rId88" Type="http://schemas.openxmlformats.org/officeDocument/2006/relationships/slide" Target="slides/slide90.xml"/><Relationship Id="rId89" Type="http://schemas.openxmlformats.org/officeDocument/2006/relationships/slide" Target="slides/slide91.xml"/><Relationship Id="rId90" Type="http://schemas.openxmlformats.org/officeDocument/2006/relationships/slide" Target="slides/slide92.xml"/><Relationship Id="rId91" Type="http://schemas.openxmlformats.org/officeDocument/2006/relationships/slide" Target="slides/slide93.xml"/><Relationship Id="rId92" Type="http://schemas.openxmlformats.org/officeDocument/2006/relationships/slide" Target="slides/slide94.xml"/><Relationship Id="rId93" Type="http://schemas.openxmlformats.org/officeDocument/2006/relationships/slide" Target="slides/slide95.xml"/><Relationship Id="rId94" Type="http://schemas.openxmlformats.org/officeDocument/2006/relationships/slide" Target="slides/slide96.xml"/><Relationship Id="rId95" Type="http://schemas.openxmlformats.org/officeDocument/2006/relationships/slide" Target="slides/slide97.xml"/><Relationship Id="rId96" Type="http://schemas.openxmlformats.org/officeDocument/2006/relationships/slide" Target="slides/slide98.xml"/><Relationship Id="rId97" Type="http://schemas.openxmlformats.org/officeDocument/2006/relationships/slide" Target="slides/slide99.xml"/><Relationship Id="rId98" Type="http://schemas.openxmlformats.org/officeDocument/2006/relationships/slide" Target="slides/slide100.xml"/><Relationship Id="rId99" Type="http://schemas.openxmlformats.org/officeDocument/2006/relationships/slide" Target="slides/slide101.xml"/><Relationship Id="rId100" Type="http://schemas.openxmlformats.org/officeDocument/2006/relationships/slide" Target="slides/slide102.xml"/><Relationship Id="rId101" Type="http://schemas.openxmlformats.org/officeDocument/2006/relationships/slide" Target="slides/slide103.xml"/><Relationship Id="rId102" Type="http://schemas.openxmlformats.org/officeDocument/2006/relationships/slide" Target="slides/slide104.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 Id="rId108" Type="http://schemas.microsoft.com/office/2018/10/relationships/authors" Target="authors.xml"/><Relationship Id="rId109" Type="http://schemas.openxmlformats.org/officeDocument/2006/relationships/slide" Target="slides/slide85.xml"/><Relationship Id="rId110" Type="http://schemas.openxmlformats.org/officeDocument/2006/relationships/slide" Target="slides/slide86.xml"/><Relationship Id="rId111"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2026/8/15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5BA2-770E-EEC6-A15C-F39D877242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29A264-1017-70EB-90F4-1820F4DCFD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0A2C0A-08A6-42A0-68AC-CAC3E0EED470}"/>
              </a:ext>
            </a:extLst>
          </p:cNvPr>
          <p:cNvSpPr>
            <a:spLocks noGrp="1"/>
          </p:cNvSpPr>
          <p:nvPr>
            <p:ph type="body" idx="1"/>
          </p:nvPr>
        </p:nvSpPr>
        <p:spPr/>
        <p:txBody>
          <a:bodyPr/>
          <a:lstStyle/>
          <a:p>
            <a:r>
              <a:rPr kumimoji="1" lang="en-US" altLang="ja-JP" dirty="0"/>
              <a:t> Murray1996</a:t>
            </a:r>
            <a:r>
              <a:rPr kumimoji="1" lang="ja-JP" altLang="en-US"/>
              <a:t> 麻酔導入→手術開始→麻酔調整</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A18A37F1-9485-5C23-7A06-55F6D19E30AF}"/>
              </a:ext>
            </a:extLst>
          </p:cNvPr>
          <p:cNvSpPr>
            <a:spLocks noGrp="1"/>
          </p:cNvSpPr>
          <p:nvPr>
            <p:ph type="sldNum" sz="quarter" idx="5"/>
          </p:nvPr>
        </p:nvSpPr>
        <p:spPr/>
        <p:txBody>
          <a:bodyPr/>
          <a:lstStyle/>
          <a:p>
            <a:fld id="{4368CECF-0771-D84F-8D42-085DB944B0B8}" type="slidenum">
              <a:rPr kumimoji="1" lang="ja-JP" altLang="en-US" smtClean="0"/>
              <a:t>1</a:t>
            </a:fld>
            <a:endParaRPr kumimoji="1" lang="ja-JP" altLang="en-US"/>
          </a:p>
        </p:txBody>
      </p:sp>
    </p:spTree>
    <p:extLst>
      <p:ext uri="{BB962C8B-B14F-4D97-AF65-F5344CB8AC3E}">
        <p14:creationId xmlns:p14="http://schemas.microsoft.com/office/powerpoint/2010/main" val="1959370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6E3C-1DBF-8C4A-3D29-5A5C5E3BE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C5DC0-0D69-4688-C832-650F9A1AE33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252D467-E893-716F-3194-3C309934C9BE}"/>
              </a:ext>
            </a:extLst>
          </p:cNvPr>
          <p:cNvSpPr>
            <a:spLocks noGrp="1"/>
          </p:cNvSpPr>
          <p:nvPr>
            <p:ph type="body" sz="quarter" idx="3"/>
          </p:nvPr>
        </p:nvSpPr>
        <p:spPr/>
        <p:txBody>
          <a:bodyPr/>
          <a:lstStyle/>
          <a:p>
            <a:r>
              <a:t>PPG：皮膚にLEDなどの光を当て、血液量の変化による　　　　光の透過・反射量の変化を検出して、脈波を測定する　　　　非侵襲的な光学的測定法。</a:t>
            </a:r>
          </a:p>
          <a:p>
            <a:endParaRPr/>
          </a:p>
          <a:p>
            <a:r>
              <a:t>得られた脈波をPPG波形や容積脈波などと称する。</a:t>
            </a:r>
          </a:p>
          <a:p>
            <a:endParaRPr/>
          </a:p>
          <a:p>
            <a:r>
              <a:t>パルスオキシメトリーは、光電容積脈波(PPG)信号を利用してSpO₂(経皮的動脈血酸素飽和度)を非侵襲的に推定する測定原理。</a:t>
            </a:r>
          </a:p>
          <a:p>
            <a:endParaRPr/>
          </a:p>
          <a:p>
            <a:endParaRPr/>
          </a:p>
          <a:p>
            <a:r>
              <a:t>用語の整理（図解版）</a:t>
            </a:r>
          </a:p>
          <a:p>
            <a:endParaRPr/>
          </a:p>
          <a:p>
            <a:r>
              <a:t>・PPG（photoplethysmography, 光電式容積脈波記録法）＝ 皮膚に LED などの光を当て、</a:t>
            </a:r>
          </a:p>
          <a:p>
            <a:r>
              <a:t>　血液量の変化による光の透過・反射量の変化を検出して脈波を測定する非侵襲的な光学的測定法。</a:t>
            </a:r>
          </a:p>
          <a:p>
            <a:r>
              <a:t>・得られた脈波を PPG 波形、容積脈波（digital volume pulse, DVP）などと称する。</a:t>
            </a:r>
          </a:p>
          <a:p>
            <a:r>
              <a:t>・パルスオキシメトリーは、この PPG 信号を利用して SpO₂（経皮的動脈血酸素飽和度）を</a:t>
            </a:r>
          </a:p>
          <a:p>
            <a:r>
              <a:t>　非侵襲的に推定する測定原理。</a:t>
            </a:r>
          </a:p>
          <a:p>
            <a:r>
              <a:t>・つまりモニタは SpO₂ という数値を出すためにすでに PPG を取り込んでいる。</a:t>
            </a:r>
          </a:p>
          <a:p>
            <a:r>
              <a:t>　本セッションはその副産物である「波形」をもう一度読み直す作業にあたる。</a:t>
            </a:r>
          </a:p>
          <a:p>
            <a:r>
              <a:t>出典：1. Allen 2007 ／ 2. Aoyagi 2003 ／ 3. Chan 2013</a:t>
            </a:r>
          </a:p>
        </p:txBody>
      </p:sp>
      <p:sp>
        <p:nvSpPr>
          <p:cNvPr id="4" name="Slide Number Placeholder 3">
            <a:extLst>
              <a:ext uri="{FF2B5EF4-FFF2-40B4-BE49-F238E27FC236}">
                <a16:creationId xmlns:a16="http://schemas.microsoft.com/office/drawing/2014/main" id="{873034C7-4055-E666-A435-A0B0FFFD8252}"/>
              </a:ext>
            </a:extLst>
          </p:cNvPr>
          <p:cNvSpPr>
            <a:spLocks noGrp="1"/>
          </p:cNvSpPr>
          <p:nvPr>
            <p:ph type="sldNum" sz="quarter" idx="5"/>
          </p:nvPr>
        </p:nvSpPr>
        <p:spPr/>
      </p:sp>
    </p:spTree>
    <p:extLst>
      <p:ext uri="{BB962C8B-B14F-4D97-AF65-F5344CB8AC3E}">
        <p14:creationId xmlns:p14="http://schemas.microsoft.com/office/powerpoint/2010/main" val="147440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BDF55-38F1-CE92-ED24-856A73525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33A95-8D8E-0BF7-86B4-08C23970BA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5825CF-951F-C340-FFD4-FA0211F1303F}"/>
              </a:ext>
            </a:extLst>
          </p:cNvPr>
          <p:cNvSpPr>
            <a:spLocks noGrp="1"/>
          </p:cNvSpPr>
          <p:nvPr>
            <p:ph type="body" sz="quarter" idx="3"/>
          </p:nvPr>
        </p:nvSpPr>
        <p:spPr/>
        <p:txBody>
          <a:bodyPr/>
          <a:lstStyle/>
          <a:p>
            <a:endParaRPr/>
          </a:p>
          <a:p>
            <a:r>
              <a:t>European Journal of Haematologyの論文が明確に整理しており、SO₂は「酸化ヘモグロビン(O₂Hb)と、O₂Hb+脱酸素化ヘモグロビン(RHb)の和との比」として100%×O₂Hb/(O₂Hb+RHb)と定義される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DE28704-2341-5E6B-1733-FB7FE3DD04AC}"/>
              </a:ext>
            </a:extLst>
          </p:cNvPr>
          <p:cNvSpPr>
            <a:spLocks noGrp="1"/>
          </p:cNvSpPr>
          <p:nvPr>
            <p:ph type="sldNum" sz="quarter" idx="5"/>
          </p:nvPr>
        </p:nvSpPr>
        <p:spPr/>
      </p:sp>
    </p:spTree>
    <p:extLst>
      <p:ext uri="{BB962C8B-B14F-4D97-AF65-F5344CB8AC3E}">
        <p14:creationId xmlns:p14="http://schemas.microsoft.com/office/powerpoint/2010/main" val="4055428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F24CB-7E89-1F57-8033-B7CF9465B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39D2D-6215-471A-3C05-7CD96F036F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705D2D-4D55-43A4-83F2-B74FFD5AE6D5}"/>
              </a:ext>
            </a:extLst>
          </p:cNvPr>
          <p:cNvSpPr>
            <a:spLocks noGrp="1"/>
          </p:cNvSpPr>
          <p:nvPr>
            <p:ph type="body" sz="quarter" idx="3"/>
          </p:nvPr>
        </p:nvSpPr>
        <p:spPr/>
        <p:txBody>
          <a:bodyPr/>
          <a:lstStyle/>
          <a:p>
            <a:r>
              <a:t>知りたいのは動脈血中に存在する酸素と結合しているオキシヘモグロビンの割合。</a:t>
            </a:r>
          </a:p>
          <a:p>
            <a:r>
              <a:t>オキシヘモグロビンと酸素を放出したデオキシヘモグロビンの吸光度が違うことに注目した。</a:t>
            </a:r>
          </a:p>
          <a:p>
            <a:r>
              <a:t>でオキシヘモグロビンは660nmの赤色光をよく吸収する。オキシヘモグロビンは940nmの赤外光をよく吸収するという性質がある。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4BDD548-5997-AB8D-103F-C0B99B10AB99}"/>
              </a:ext>
            </a:extLst>
          </p:cNvPr>
          <p:cNvSpPr>
            <a:spLocks noGrp="1"/>
          </p:cNvSpPr>
          <p:nvPr>
            <p:ph type="sldNum" sz="quarter" idx="5"/>
          </p:nvPr>
        </p:nvSpPr>
        <p:spPr/>
      </p:sp>
    </p:spTree>
    <p:extLst>
      <p:ext uri="{BB962C8B-B14F-4D97-AF65-F5344CB8AC3E}">
        <p14:creationId xmlns:p14="http://schemas.microsoft.com/office/powerpoint/2010/main" val="205938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436EA-BECE-5B89-C144-DA70949B4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19174-777F-842C-ADBF-33BABD2EC29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27B217-71DD-6C0C-30DE-462278EB74BA}"/>
              </a:ext>
            </a:extLst>
          </p:cNvPr>
          <p:cNvSpPr>
            <a:spLocks noGrp="1"/>
          </p:cNvSpPr>
          <p:nvPr>
            <p:ph type="body" sz="quarter" idx="3"/>
          </p:nvPr>
        </p:nvSpPr>
        <p:spPr/>
        <p:txBody>
          <a:bodyPr/>
          <a:lstStyle/>
          <a:p>
            <a:r>
              <a:rPr lang="en-US" dirty="0"/>
              <a:t>そこで、発光部から660nmの赤色光と940nmの赤外光を測定部位に照射する。</a:t>
            </a:r>
          </a:p>
          <a:p>
            <a:r>
              <a:rPr lang="ja-JP" altLang="en-US"/>
              <a:t>測定部位</a:t>
            </a:r>
            <a:r>
              <a:rPr dirty="0" err="1"/>
              <a:t>を透過（または反射）した光の量を受光素子で拾い</a:t>
            </a:r>
            <a:r>
              <a:rPr dirty="0"/>
              <a:t>、</a:t>
            </a:r>
            <a:r>
              <a:rPr lang="ja-JP" altLang="en-US"/>
              <a:t>血液で吸収され減衰した光を信号にしている。</a:t>
            </a:r>
            <a:endParaRPr lang="en-US" altLang="ja-JP" dirty="0"/>
          </a:p>
          <a:p>
            <a:endParaRPr lang="en-US" dirty="0"/>
          </a:p>
          <a:p>
            <a:r>
              <a:rPr lang="en-US" dirty="0" err="1"/>
              <a:t>そうすると、測定部位には拍動する動脈と、拍動しない</a:t>
            </a:r>
            <a:r>
              <a:rPr lang="ja-JP" altLang="en-US"/>
              <a:t>皮膚・骨・筋・静脈血があるので、右のような波形が得られる。</a:t>
            </a:r>
            <a:endParaRPr lang="en-US" dirty="0"/>
          </a:p>
          <a:p>
            <a:endParaRPr lang="en-US" dirty="0"/>
          </a:p>
          <a:p>
            <a:endParaRPr dirty="0"/>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A7170B71-4F12-92B1-F33E-A60D2CF6BEDA}"/>
              </a:ext>
            </a:extLst>
          </p:cNvPr>
          <p:cNvSpPr>
            <a:spLocks noGrp="1"/>
          </p:cNvSpPr>
          <p:nvPr>
            <p:ph type="sldNum" sz="quarter" idx="5"/>
          </p:nvPr>
        </p:nvSpPr>
        <p:spPr/>
      </p:sp>
    </p:spTree>
    <p:extLst>
      <p:ext uri="{BB962C8B-B14F-4D97-AF65-F5344CB8AC3E}">
        <p14:creationId xmlns:p14="http://schemas.microsoft.com/office/powerpoint/2010/main" val="2501840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97B27-8D6A-ACA9-E579-50AFE4639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F227E-33EB-3747-A6CB-9533981A47D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7F8F25-3CE4-0424-9210-A10D10130312}"/>
              </a:ext>
            </a:extLst>
          </p:cNvPr>
          <p:cNvSpPr>
            <a:spLocks noGrp="1"/>
          </p:cNvSpPr>
          <p:nvPr>
            <p:ph type="body" sz="quarter" idx="3"/>
          </p:nvPr>
        </p:nvSpPr>
        <p:spPr/>
        <p:txBody>
          <a:bodyPr/>
          <a:lstStyle/>
          <a:p>
            <a:r>
              <a:rPr lang="en-US" dirty="0" err="1"/>
              <a:t>拍動成分部分をAC、非拍動成分部分をDCという</a:t>
            </a:r>
            <a:endParaRPr lang="en-US" dirty="0"/>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F74C6D83-AF11-9AD2-6735-89EC5A4032F8}"/>
              </a:ext>
            </a:extLst>
          </p:cNvPr>
          <p:cNvSpPr>
            <a:spLocks noGrp="1"/>
          </p:cNvSpPr>
          <p:nvPr>
            <p:ph type="sldNum" sz="quarter" idx="5"/>
          </p:nvPr>
        </p:nvSpPr>
        <p:spPr/>
      </p:sp>
    </p:spTree>
    <p:extLst>
      <p:ext uri="{BB962C8B-B14F-4D97-AF65-F5344CB8AC3E}">
        <p14:creationId xmlns:p14="http://schemas.microsoft.com/office/powerpoint/2010/main" val="1856731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A416C-778B-0061-5200-5F975B778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4FE94-CAFD-FE75-20F6-FF37BA6219A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FFEB787-C0C6-6166-C38E-EA7DA5CF7998}"/>
              </a:ext>
            </a:extLst>
          </p:cNvPr>
          <p:cNvSpPr>
            <a:spLocks noGrp="1"/>
          </p:cNvSpPr>
          <p:nvPr>
            <p:ph type="body" sz="quarter" idx="3"/>
          </p:nvPr>
        </p:nvSpPr>
        <p:spPr/>
        <p:txBody>
          <a:bodyPr/>
          <a:lstStyle/>
          <a:p>
            <a:pPr algn="l">
              <a:lnSpc>
                <a:spcPct val="150000"/>
              </a:lnSpc>
              <a:spcBef>
                <a:spcPts val="0"/>
              </a:spcBef>
              <a:spcAft>
                <a:spcPts val="0"/>
              </a:spcAft>
            </a:pPr>
            <a:r>
              <a:rPr lang="ja-JP" altLang="en-US" sz="1200" b="1">
                <a:solidFill>
                  <a:srgbClr val="262626"/>
                </a:solidFill>
                <a:latin typeface="Meiryo"/>
                <a:ea typeface="Meiryo"/>
                <a:cs typeface="Meiryo"/>
              </a:rPr>
              <a:t>知りたいのは</a:t>
            </a:r>
            <a:r>
              <a:rPr lang="ja-JP" altLang="en-US" sz="1200" b="1">
                <a:solidFill>
                  <a:srgbClr val="D55E00"/>
                </a:solidFill>
                <a:latin typeface="Meiryo"/>
                <a:ea typeface="Meiryo"/>
                <a:cs typeface="Meiryo"/>
              </a:rPr>
              <a:t> </a:t>
            </a:r>
            <a:r>
              <a:rPr lang="ja-JP" altLang="en-US" sz="1200" b="1">
                <a:solidFill>
                  <a:schemeClr val="tx1"/>
                </a:solidFill>
                <a:latin typeface="Meiryo"/>
                <a:ea typeface="Meiryo"/>
                <a:cs typeface="Meiryo"/>
              </a:rPr>
              <a:t>動脈血の </a:t>
            </a:r>
            <a:r>
              <a:rPr lang="en-US" altLang="ja-JP" sz="1200" b="1" dirty="0">
                <a:solidFill>
                  <a:srgbClr val="D55E00"/>
                </a:solidFill>
                <a:latin typeface="Meiryo"/>
                <a:ea typeface="Meiryo"/>
                <a:cs typeface="Meiryo"/>
              </a:rPr>
              <a:t>O₂ Hb </a:t>
            </a:r>
            <a:r>
              <a:rPr lang="ja-JP" altLang="en-US" sz="1200" b="1">
                <a:solidFill>
                  <a:srgbClr val="262626"/>
                </a:solidFill>
                <a:latin typeface="Meiryo"/>
                <a:ea typeface="Meiryo"/>
                <a:cs typeface="Meiryo"/>
              </a:rPr>
              <a:t>の割合　なので　</a:t>
            </a:r>
            <a:r>
              <a:rPr lang="en-US" altLang="ja-JP" sz="1200" b="1" dirty="0">
                <a:solidFill>
                  <a:srgbClr val="262626"/>
                </a:solidFill>
                <a:latin typeface="Meiryo"/>
                <a:ea typeface="Meiryo"/>
                <a:cs typeface="Meiryo"/>
              </a:rPr>
              <a:t>AC / DC </a:t>
            </a:r>
            <a:r>
              <a:rPr lang="ja-JP" altLang="en-US" sz="1200" b="1">
                <a:solidFill>
                  <a:srgbClr val="262626"/>
                </a:solidFill>
                <a:latin typeface="Meiryo"/>
                <a:ea typeface="Meiryo"/>
                <a:cs typeface="Meiryo"/>
              </a:rPr>
              <a:t>で非拍動成分を除く</a:t>
            </a:r>
            <a:endParaRPr lang="en-US" altLang="ja-JP" sz="1200" b="1" dirty="0">
              <a:solidFill>
                <a:srgbClr val="262626"/>
              </a:solidFill>
              <a:latin typeface="Meiryo"/>
              <a:ea typeface="Meiryo"/>
              <a:cs typeface="Meiryo"/>
            </a:endParaRPr>
          </a:p>
          <a:p>
            <a:pPr algn="l">
              <a:lnSpc>
                <a:spcPct val="150000"/>
              </a:lnSpc>
              <a:spcBef>
                <a:spcPts val="0"/>
              </a:spcBef>
              <a:spcAft>
                <a:spcPts val="0"/>
              </a:spcAft>
            </a:pPr>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81E38478-C98A-F6F2-6F55-2E15B7D639B3}"/>
              </a:ext>
            </a:extLst>
          </p:cNvPr>
          <p:cNvSpPr>
            <a:spLocks noGrp="1"/>
          </p:cNvSpPr>
          <p:nvPr>
            <p:ph type="sldNum" sz="quarter" idx="5"/>
          </p:nvPr>
        </p:nvSpPr>
        <p:spPr/>
      </p:sp>
    </p:spTree>
    <p:extLst>
      <p:ext uri="{BB962C8B-B14F-4D97-AF65-F5344CB8AC3E}">
        <p14:creationId xmlns:p14="http://schemas.microsoft.com/office/powerpoint/2010/main" val="3982212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9123A-7C2B-07E9-E92B-3A26EEB54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55F46-C3D9-A400-A2F4-C17B53725B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2E55E6-D9A2-9EB7-1C25-8A83C06E909C}"/>
              </a:ext>
            </a:extLst>
          </p:cNvPr>
          <p:cNvSpPr>
            <a:spLocks noGrp="1"/>
          </p:cNvSpPr>
          <p:nvPr>
            <p:ph type="body" sz="quarter" idx="3"/>
          </p:nvPr>
        </p:nvSpPr>
        <p:spPr/>
        <p:txBody>
          <a:bodyPr/>
          <a:lstStyle/>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5A5737E-2283-01E1-DEE3-EFD915E640D4}"/>
              </a:ext>
            </a:extLst>
          </p:cNvPr>
          <p:cNvSpPr>
            <a:spLocks noGrp="1"/>
          </p:cNvSpPr>
          <p:nvPr>
            <p:ph type="sldNum" sz="quarter" idx="5"/>
          </p:nvPr>
        </p:nvSpPr>
        <p:spPr/>
      </p:sp>
    </p:spTree>
    <p:extLst>
      <p:ext uri="{BB962C8B-B14F-4D97-AF65-F5344CB8AC3E}">
        <p14:creationId xmlns:p14="http://schemas.microsoft.com/office/powerpoint/2010/main" val="4153427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CAF9-3DD6-F31A-8C63-13D6D293A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1583D-24E6-9898-5658-59F68125FF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E2194D-12E2-953B-A6C5-F452F4A21B8F}"/>
              </a:ext>
            </a:extLst>
          </p:cNvPr>
          <p:cNvSpPr>
            <a:spLocks noGrp="1"/>
          </p:cNvSpPr>
          <p:nvPr>
            <p:ph type="body" sz="quarter" idx="3"/>
          </p:nvPr>
        </p:nvSpPr>
        <p:spPr/>
        <p:txBody>
          <a:bodyPr/>
          <a:lstStyle/>
          <a:p>
            <a:r>
              <a:t>AC / DC で動脈血成分にした</a:t>
            </a:r>
          </a:p>
          <a:p>
            <a:r>
              <a:t>赤外光はO₂Hbの指標、赤色光HHbの指標。</a:t>
            </a:r>
          </a:p>
          <a:p>
            <a:r>
              <a:t>分母は動脈血のO 2Hbの指標で、分子は動脈血のHHbの指標</a:t>
            </a:r>
          </a:p>
          <a:p>
            <a:r>
              <a:t>これによって動脈血中のO 2Hbの割合を出そうとしている。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4C3F9C05-7BE8-B858-145F-C6CF39B77F02}"/>
              </a:ext>
            </a:extLst>
          </p:cNvPr>
          <p:cNvSpPr>
            <a:spLocks noGrp="1"/>
          </p:cNvSpPr>
          <p:nvPr>
            <p:ph type="sldNum" sz="quarter" idx="5"/>
          </p:nvPr>
        </p:nvSpPr>
        <p:spPr/>
      </p:sp>
    </p:spTree>
    <p:extLst>
      <p:ext uri="{BB962C8B-B14F-4D97-AF65-F5344CB8AC3E}">
        <p14:creationId xmlns:p14="http://schemas.microsoft.com/office/powerpoint/2010/main" val="2730883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F32FC-3DC5-0E43-3619-E7DC01AA9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820B2-C40E-8EE6-A4ED-6388F5232F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0B3D65F-48A9-EB60-0C53-9596176E7DB9}"/>
              </a:ext>
            </a:extLst>
          </p:cNvPr>
          <p:cNvSpPr>
            <a:spLocks noGrp="1"/>
          </p:cNvSpPr>
          <p:nvPr>
            <p:ph type="body" sz="quarter" idx="3"/>
          </p:nvPr>
        </p:nvSpPr>
        <p:spPr/>
        <p:txBody>
          <a:bodyPr/>
          <a:lstStyle/>
          <a:p>
            <a:r>
              <a:t>健常人に低酸素負荷をしてRと対応するSaO2を得る。健常人なのでSaO２70％が限度。以下は推定。</a:t>
            </a:r>
          </a:p>
          <a:p>
            <a:r>
              <a:t>これを対照とする。</a:t>
            </a:r>
          </a:p>
          <a:p>
            <a:endParaRPr/>
          </a:p>
          <a:p>
            <a:r>
              <a:t>先ほど得られた赤色光赤外光変調比から、</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C544DC85-B427-41E7-F71E-F22650057390}"/>
              </a:ext>
            </a:extLst>
          </p:cNvPr>
          <p:cNvSpPr>
            <a:spLocks noGrp="1"/>
          </p:cNvSpPr>
          <p:nvPr>
            <p:ph type="sldNum" sz="quarter" idx="5"/>
          </p:nvPr>
        </p:nvSpPr>
        <p:spPr/>
      </p:sp>
    </p:spTree>
    <p:extLst>
      <p:ext uri="{BB962C8B-B14F-4D97-AF65-F5344CB8AC3E}">
        <p14:creationId xmlns:p14="http://schemas.microsoft.com/office/powerpoint/2010/main" val="1718225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1B47-2B33-059E-E0DA-FB1781B3C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514FB-B1F2-4F0A-9CBF-769AA9BCF4D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9D9478-2EA6-D081-E9CD-04FDAB94A84A}"/>
              </a:ext>
            </a:extLst>
          </p:cNvPr>
          <p:cNvSpPr>
            <a:spLocks noGrp="1"/>
          </p:cNvSpPr>
          <p:nvPr>
            <p:ph type="body" sz="quarter" idx="3"/>
          </p:nvPr>
        </p:nvSpPr>
        <p:spPr/>
        <p:txBody>
          <a:bodyPr/>
          <a:lstStyle/>
          <a:p>
            <a:r>
              <a:t>測定対象からRを得ることにより、経皮的にSaO2を推定することができるようになった。</a:t>
            </a:r>
          </a:p>
          <a:p>
            <a:r>
              <a:t>これをSpO₂とする。</a:t>
            </a:r>
          </a:p>
          <a:p>
            <a:endParaRPr/>
          </a:p>
          <a:p>
            <a:r>
              <a:t>パルスオキシメータのSpO₂ルックアップテーブル(較正曲線)は、健常な成人ボランティアを対象とした「意図的低酸素負荷試験(controlled/induced desaturation study)」により、動脈血ガス(SaO₂)を基準として作成される</a:t>
            </a:r>
          </a:p>
          <a:p>
            <a:r>
              <a:t>試験の基本手順(ISO 80601-2-61:2017 / FDA 2013 guidanceに準拠)</a:t>
            </a:r>
          </a:p>
          <a:p>
            <a:r>
              <a:t>対象: 健常な若年成人ボランティア(疾患・喫煙歴なし)。近年はFDAの改訂方針を受け、多様な肌色(Fitzpatrick分類やMonk Skin Tone、個人皮膚色角度ITAなど)を含む被験者構成が求められるようになっている。 [4-5]</a:t>
            </a:r>
          </a:p>
          <a:p>
            <a:r>
              <a:t>低酸素の誘発方法: 安静仰臥位で、吸入酸素・窒素(場合により二酸化炭素)の分圧を部分再呼吸回路(partial rebreathing circuit)や吸入ガス混合装置で段階的に調整し、SaO₂を70%から100%の範囲で複数のプラトー(定常状態)に安定させる。 [3][6]</a:t>
            </a:r>
          </a:p>
          <a:p>
            <a:r>
              <a:t>サンプリングと基準値取得: 橈骨動脈ラインを留置し、各SaO₂プラトーで動脈血を採取、血液ガス分析装置(co-oximeter、例:ABL-90FLEX)でSaO₂を直接測定する。同時に被験機器のSpO₂値を記録し、両者をペアデータとして対応させる。 [3][6]</a:t>
            </a:r>
          </a:p>
          <a:p>
            <a:r>
              <a:t>評価するSaO₂範囲: 通常70〜100%の範囲で複数プラトーを設定するのがISO/FDA標準プロトコルである。70%未満の重度低酸素領域は健常者に対する倫理的制約から通常の市販機器の較正には含まれず、この領域での精度は保証されていない(実際、55〜70%SaO₂域では市販機器がいずれも基準と一致しなかったとする報告もある)。 [1][3]</a:t>
            </a:r>
          </a:p>
          <a:p>
            <a:r>
              <a:t>精度評価指標: 各SpO₂-SaO₂ペアから誤差(bias = SpO₂-SaO₂)を算出し、二乗平均平方根誤差(A_RMS, root mean square error)やBland-Altman法(バイアスと95%一致限界)で評価する。FDA基準ではA_RMSが指先プローブで3%以内、耳朶プローブで3.5%以内であることが求められる。 [4][7]</a:t>
            </a:r>
          </a:p>
          <a:p>
            <a:r>
              <a:t>ルックアップテーブルの作成: 得られたSpO₂-SaO₂ペアデータから回帰式(較正曲線)を導出し、機器内部でRの値(赤色/近赤外の正規化吸光比、ratio of ratios)に対応するSaO₂推定値としてルックアップテーブル化・アルゴリズムに実装する。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51A6DD8-9D05-D826-43C6-8AEF19F5F795}"/>
              </a:ext>
            </a:extLst>
          </p:cNvPr>
          <p:cNvSpPr>
            <a:spLocks noGrp="1"/>
          </p:cNvSpPr>
          <p:nvPr>
            <p:ph type="sldNum" sz="quarter" idx="5"/>
          </p:nvPr>
        </p:nvSpPr>
        <p:spPr/>
      </p:sp>
    </p:spTree>
    <p:extLst>
      <p:ext uri="{BB962C8B-B14F-4D97-AF65-F5344CB8AC3E}">
        <p14:creationId xmlns:p14="http://schemas.microsoft.com/office/powerpoint/2010/main" val="878439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【改善案】元スライド（タイトルだけで本文が空）の完成案。ノートの内容をそのまま3段に整理した。</a:t>
            </a:r>
          </a:p>
          <a:p>
            <a:endParaRPr/>
          </a:p>
          <a:p>
            <a:r>
              <a:t>拡張期でも動脈内の血液はゼロにならず、残存動脈血が DC 成分に含まれる。DC ＝ 静脈血＋組織＋拡張期の動脈血 であり、純粋に動脈成分を除いた値ではない。</a:t>
            </a:r>
          </a:p>
          <a:p>
            <a:r>
              <a:t>理論解析では、R と SaO₂ の関係は「動脈区画が拍動で膨張する部分の吸収変化」と「その膨張領域の実効光路長（mean partial optical path length）」で決まり、DC に残る動脈血を含めた較正が必要とされる。</a:t>
            </a:r>
          </a:p>
          <a:p>
            <a:r>
              <a:t>実運用では、この効果は個々の患者で定量化されているわけではなく、メーカーの経験的較正（健常者の低酸素負荷試験によるルックアップテーブル）に間接的に織り込まれており、通常の臨床精度（誤差 約3〜4%）の範囲に収まると考えられている。</a:t>
            </a:r>
          </a:p>
          <a:p>
            <a:r>
              <a:t>ただし較正は健常成人ボランティアでの経験モデルなので、末梢循環不全・色素性皮膚・異常ヘモグロビン血症では前提から外れて誤差が拡大しうる。肌の色素沈着による hidden/occult hypoxemia はその臨床的発現の一例。</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382F-7415-AD35-8419-C163B5C55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3E27C-7B80-F4BD-9ACB-08E1BD8ABD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D4FB8A9-DDB0-BD78-5DF3-7A88014FCB4E}"/>
              </a:ext>
            </a:extLst>
          </p:cNvPr>
          <p:cNvSpPr>
            <a:spLocks noGrp="1"/>
          </p:cNvSpPr>
          <p:nvPr>
            <p:ph type="body" sz="quarter" idx="3"/>
          </p:nvPr>
        </p:nvSpPr>
        <p:spPr/>
        <p:txBody>
          <a:bodyPr/>
          <a:lstStyle/>
          <a:p>
            <a:r>
              <a:rPr lang="en-US" dirty="0"/>
              <a:t>発光部から２種類の波長の光を出し、これを受講部で測定する。</a:t>
            </a:r>
          </a:p>
          <a:p>
            <a:r>
              <a:rPr lang="en-US" dirty="0"/>
              <a:t>拍動時、動脈は、左室からの圧脈波が到着した部分だけ、局所的に受動的に拡張し一時的に容積が増大する。拡張分だけHbが増えた結果、吸光量が増大してPPG信号の変化を起こす。</a:t>
            </a:r>
          </a:p>
          <a:p>
            <a:r>
              <a:rPr lang="en-US" dirty="0" err="1"/>
              <a:t>つまり、PPGは測っているのは拍動する動脈血の容積変化ということになる</a:t>
            </a:r>
            <a:r>
              <a:rPr lang="en-US" dirty="0"/>
              <a:t>。</a:t>
            </a:r>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E6D0383E-312B-25EC-7918-6FE5DBCD0578}"/>
              </a:ext>
            </a:extLst>
          </p:cNvPr>
          <p:cNvSpPr>
            <a:spLocks noGrp="1"/>
          </p:cNvSpPr>
          <p:nvPr>
            <p:ph type="sldNum" sz="quarter" idx="5"/>
          </p:nvPr>
        </p:nvSpPr>
        <p:spPr/>
      </p:sp>
    </p:spTree>
    <p:extLst>
      <p:ext uri="{BB962C8B-B14F-4D97-AF65-F5344CB8AC3E}">
        <p14:creationId xmlns:p14="http://schemas.microsoft.com/office/powerpoint/2010/main" val="451975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B2837-D9A8-1F4D-6232-5E5674072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E4CF1-C4D8-8996-8670-9650E2F5E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DBE721-C606-9A7B-BC3C-311DAEF28020}"/>
              </a:ext>
            </a:extLst>
          </p:cNvPr>
          <p:cNvSpPr>
            <a:spLocks noGrp="1"/>
          </p:cNvSpPr>
          <p:nvPr>
            <p:ph type="body" sz="quarter" idx="3"/>
          </p:nvPr>
        </p:nvSpPr>
        <p:spPr/>
        <p:txBody>
          <a:bodyPr/>
          <a:lstStyle/>
          <a:p>
            <a:r>
              <a:rPr lang="en-US" dirty="0"/>
              <a:t>この前進波について、左室からの圧脈波の到着による局所拡張としたが、実際に左室が送り出す血液はこの壁を伝導する厚脈波に比べ10倍以上も遅い。</a:t>
            </a:r>
          </a:p>
          <a:p>
            <a:r>
              <a:rPr lang="en-US" dirty="0" err="1"/>
              <a:t>左室の血液は一心拍の間に指尖部まで届かない</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C134FB67-A945-C33D-A434-D7420851D740}"/>
              </a:ext>
            </a:extLst>
          </p:cNvPr>
          <p:cNvSpPr>
            <a:spLocks noGrp="1"/>
          </p:cNvSpPr>
          <p:nvPr>
            <p:ph type="sldNum" sz="quarter" idx="5"/>
          </p:nvPr>
        </p:nvSpPr>
        <p:spPr/>
      </p:sp>
    </p:spTree>
    <p:extLst>
      <p:ext uri="{BB962C8B-B14F-4D97-AF65-F5344CB8AC3E}">
        <p14:creationId xmlns:p14="http://schemas.microsoft.com/office/powerpoint/2010/main" val="352152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FBEE-44E9-7A85-5E96-1C8CE3AF0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CB69C-5607-8D8F-1067-1AEDD045B8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C57481-F5FC-5440-DC92-6B3D555EF7E4}"/>
              </a:ext>
            </a:extLst>
          </p:cNvPr>
          <p:cNvSpPr>
            <a:spLocks noGrp="1"/>
          </p:cNvSpPr>
          <p:nvPr>
            <p:ph type="body" sz="quarter" idx="3"/>
          </p:nvPr>
        </p:nvSpPr>
        <p:spPr/>
        <p:txBody>
          <a:bodyPr/>
          <a:lstStyle/>
          <a:p>
            <a:r>
              <a:rPr lang="ja-JP" altLang="en-US"/>
              <a:t>つまり繰り返しになるが</a:t>
            </a:r>
            <a:r>
              <a:rPr dirty="0"/>
              <a:t>PPG</a:t>
            </a:r>
            <a:r>
              <a:rPr lang="ja-JP" altLang="en-US"/>
              <a:t>の測定対象は心臓から拍出された血液量ではなく、圧脈波の到着によって受動的に伸展した血管の容積変化である。</a:t>
            </a:r>
            <a:endParaRPr lang="en-US" altLang="ja-JP" dirty="0"/>
          </a:p>
          <a:p>
            <a:endParaRPr lang="en-US" dirty="0"/>
          </a:p>
          <a:p>
            <a:r>
              <a:rPr dirty="0"/>
              <a:t>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307251F9-2746-F1B6-EBC7-31160B45B1CD}"/>
              </a:ext>
            </a:extLst>
          </p:cNvPr>
          <p:cNvSpPr>
            <a:spLocks noGrp="1"/>
          </p:cNvSpPr>
          <p:nvPr>
            <p:ph type="sldNum" sz="quarter" idx="5"/>
          </p:nvPr>
        </p:nvSpPr>
        <p:spPr/>
      </p:sp>
    </p:spTree>
    <p:extLst>
      <p:ext uri="{BB962C8B-B14F-4D97-AF65-F5344CB8AC3E}">
        <p14:creationId xmlns:p14="http://schemas.microsoft.com/office/powerpoint/2010/main" val="3811274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42EB-8BAF-D335-F64C-9C4B59905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37CAE-E88C-7FE7-DDCE-9B26A8D226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5D6FD6-B092-D932-5671-8F01A003A495}"/>
              </a:ext>
            </a:extLst>
          </p:cNvPr>
          <p:cNvSpPr>
            <a:spLocks noGrp="1"/>
          </p:cNvSpPr>
          <p:nvPr>
            <p:ph type="body" sz="quarter" idx="3"/>
          </p:nvPr>
        </p:nvSpPr>
        <p:spPr/>
        <p:txBody>
          <a:bodyPr/>
          <a:lstStyle/>
          <a:p>
            <a:r>
              <a:rPr lang="en-US" dirty="0" err="1"/>
              <a:t>左室からの圧の伝導を容積変化という形でまず検出する。最初の波を前進波という</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5F9F9A8E-9E63-B840-2DE8-1B250982A89F}"/>
              </a:ext>
            </a:extLst>
          </p:cNvPr>
          <p:cNvSpPr>
            <a:spLocks noGrp="1"/>
          </p:cNvSpPr>
          <p:nvPr>
            <p:ph type="sldNum" sz="quarter" idx="5"/>
          </p:nvPr>
        </p:nvSpPr>
        <p:spPr/>
      </p:sp>
    </p:spTree>
    <p:extLst>
      <p:ext uri="{BB962C8B-B14F-4D97-AF65-F5344CB8AC3E}">
        <p14:creationId xmlns:p14="http://schemas.microsoft.com/office/powerpoint/2010/main" val="1347772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上肢や体幹、下肢等のインピーダンス不整合部位で圧脈波が反射し、再度測定部位で信号を検出する</a:t>
            </a:r>
            <a:r>
              <a:rPr lang="en-US" dirty="0"/>
              <a:t>。</a:t>
            </a:r>
          </a:p>
          <a:p>
            <a:r>
              <a:rPr lang="en-US" dirty="0" err="1"/>
              <a:t>反射によって得られた前進波に続く波を反射波という</a:t>
            </a:r>
            <a:r>
              <a:rPr lang="en-US" dirty="0"/>
              <a:t>。</a:t>
            </a:r>
          </a:p>
          <a:p>
            <a:r>
              <a:rPr lang="en-US" dirty="0" err="1"/>
              <a:t>この前進波と反射波の合成により、PPG波形が成り立つ</a:t>
            </a:r>
            <a:r>
              <a:rPr lang="en-US" dirty="0"/>
              <a:t>。</a:t>
            </a:r>
          </a:p>
          <a:p>
            <a:r>
              <a:rPr lang="en-US" dirty="0" err="1"/>
              <a:t>現在この反射は血管内の様々な場所で起こっており、どこで反射するといった場所の特定はできないという意見が主流</a:t>
            </a:r>
            <a:r>
              <a:rPr lang="en-US" dirty="0"/>
              <a:t>。</a:t>
            </a:r>
          </a:p>
          <a:p>
            <a:endParaRPr lang="en-US" dirty="0"/>
          </a:p>
          <a:p>
            <a:r>
              <a:rPr dirty="0"/>
              <a:t>第2の成分は反射波（reflected wave）。</a:t>
            </a:r>
            <a:r>
              <a:rPr dirty="0" err="1"/>
              <a:t>ここで誤解されやすいのは反射の「場所</a:t>
            </a:r>
            <a:r>
              <a:rPr dirty="0"/>
              <a:t>」。</a:t>
            </a:r>
          </a:p>
          <a:p>
            <a:r>
              <a:rPr dirty="0" err="1"/>
              <a:t>反射は指先で起きているのではない</a:t>
            </a:r>
            <a:r>
              <a:rPr dirty="0"/>
              <a:t>。</a:t>
            </a:r>
          </a:p>
          <a:p>
            <a:endParaRPr dirty="0"/>
          </a:p>
          <a:p>
            <a:r>
              <a:rPr dirty="0" err="1"/>
              <a:t>主な反射部位は下半身側</a:t>
            </a:r>
            <a:r>
              <a:rPr dirty="0"/>
              <a:t> — </a:t>
            </a:r>
            <a:r>
              <a:rPr dirty="0" err="1"/>
              <a:t>腹部大動脈の腸骨分岐部と、下肢の抵抗血管（細動脈）である</a:t>
            </a:r>
            <a:r>
              <a:rPr dirty="0"/>
              <a:t>。</a:t>
            </a:r>
          </a:p>
          <a:p>
            <a:r>
              <a:rPr dirty="0"/>
              <a:t>経路は次の3段階：</a:t>
            </a:r>
          </a:p>
          <a:p>
            <a:r>
              <a:rPr dirty="0"/>
              <a:t>① </a:t>
            </a:r>
            <a:r>
              <a:rPr dirty="0" err="1"/>
              <a:t>左室が出した圧波（前進波）が下行大動脈を下る</a:t>
            </a:r>
            <a:endParaRPr dirty="0"/>
          </a:p>
          <a:p>
            <a:r>
              <a:rPr dirty="0"/>
              <a:t>② </a:t>
            </a:r>
            <a:r>
              <a:rPr dirty="0" err="1"/>
              <a:t>腸骨分岐部・下肢でインピーダンスが不連続になり反射する</a:t>
            </a:r>
            <a:endParaRPr dirty="0"/>
          </a:p>
          <a:p>
            <a:r>
              <a:rPr dirty="0"/>
              <a:t>③ </a:t>
            </a:r>
            <a:r>
              <a:rPr dirty="0" err="1"/>
              <a:t>反射波が大動脈を上り、そこから上肢を経て指先に「遅れて」届く</a:t>
            </a:r>
            <a:endParaRPr dirty="0"/>
          </a:p>
          <a:p>
            <a:r>
              <a:rPr dirty="0" err="1"/>
              <a:t>指尖</a:t>
            </a:r>
            <a:r>
              <a:rPr dirty="0"/>
              <a:t> PPG </a:t>
            </a:r>
            <a:r>
              <a:rPr dirty="0" err="1"/>
              <a:t>はこの前進波と反射波の合成波であり、両者の谷が重複切痕（dicrotic</a:t>
            </a:r>
            <a:r>
              <a:rPr dirty="0"/>
              <a:t> notch）、</a:t>
            </a:r>
          </a:p>
          <a:p>
            <a:r>
              <a:rPr dirty="0"/>
              <a:t>反射波の山が拡張期波（第2ピーク P2）として観察される。</a:t>
            </a:r>
          </a:p>
          <a:p>
            <a:endParaRPr dirty="0"/>
          </a:p>
          <a:p>
            <a:r>
              <a:rPr dirty="0" err="1"/>
              <a:t>だから</a:t>
            </a:r>
            <a:r>
              <a:rPr dirty="0"/>
              <a:t> ΔT（P1→P2 </a:t>
            </a:r>
            <a:r>
              <a:rPr dirty="0" err="1"/>
              <a:t>の時間差）は「大動脈を下って反射し戻る往復時間」を反映する</a:t>
            </a:r>
            <a:r>
              <a:rPr dirty="0"/>
              <a:t>。</a:t>
            </a:r>
          </a:p>
          <a:p>
            <a:r>
              <a:rPr dirty="0" err="1"/>
              <a:t>上肢は前進波・反射波の共通の通り道なので、ΔT</a:t>
            </a:r>
            <a:r>
              <a:rPr dirty="0"/>
              <a:t> </a:t>
            </a:r>
            <a:r>
              <a:rPr dirty="0" err="1"/>
              <a:t>にはほとんど影響しない（Millasseau</a:t>
            </a:r>
            <a:r>
              <a:rPr dirty="0"/>
              <a:t> 2002 Fig.1）。</a:t>
            </a:r>
          </a:p>
          <a:p>
            <a:r>
              <a:rPr dirty="0" err="1"/>
              <a:t>この往復の経路長は直接は測れないため、身長に比例すると仮定して身長で代用する</a:t>
            </a:r>
            <a:r>
              <a:rPr dirty="0"/>
              <a:t>。</a:t>
            </a:r>
          </a:p>
          <a:p>
            <a:r>
              <a:rPr dirty="0" err="1"/>
              <a:t>これが</a:t>
            </a:r>
            <a:r>
              <a:rPr dirty="0"/>
              <a:t> 5.1 </a:t>
            </a:r>
            <a:r>
              <a:rPr dirty="0" err="1"/>
              <a:t>の</a:t>
            </a:r>
            <a:r>
              <a:rPr dirty="0"/>
              <a:t> SI ＝ </a:t>
            </a:r>
            <a:r>
              <a:rPr dirty="0" err="1"/>
              <a:t>身長</a:t>
            </a:r>
            <a:r>
              <a:rPr dirty="0"/>
              <a:t> ÷ ΔT </a:t>
            </a:r>
            <a:r>
              <a:rPr dirty="0" err="1"/>
              <a:t>の根拠</a:t>
            </a:r>
            <a:r>
              <a:rPr dirty="0"/>
              <a:t>。「</a:t>
            </a:r>
            <a:r>
              <a:rPr dirty="0" err="1"/>
              <a:t>往復距離＝身長」という意味ではない</a:t>
            </a:r>
            <a:r>
              <a:rPr dirty="0"/>
              <a:t>。</a:t>
            </a:r>
          </a:p>
          <a:p>
            <a:endParaRPr dirty="0"/>
          </a:p>
          <a:p>
            <a:r>
              <a:rPr dirty="0"/>
              <a:t>反射波の2つのパラメータは別々の生理を反映する：</a:t>
            </a:r>
          </a:p>
          <a:p>
            <a:r>
              <a:rPr dirty="0"/>
              <a:t>・</a:t>
            </a:r>
            <a:r>
              <a:rPr dirty="0" err="1"/>
              <a:t>戻る「時相</a:t>
            </a:r>
            <a:r>
              <a:rPr dirty="0"/>
              <a:t>」＝</a:t>
            </a:r>
            <a:r>
              <a:rPr dirty="0" err="1"/>
              <a:t>大動脈の硬さ（PWV</a:t>
            </a:r>
            <a:r>
              <a:rPr dirty="0"/>
              <a:t>）。</a:t>
            </a:r>
            <a:r>
              <a:rPr dirty="0" err="1"/>
              <a:t>硬いほど早く戻り、収縮期に融合して一峰性化する</a:t>
            </a:r>
            <a:r>
              <a:rPr dirty="0"/>
              <a:t>。</a:t>
            </a:r>
          </a:p>
          <a:p>
            <a:r>
              <a:rPr dirty="0"/>
              <a:t>・</a:t>
            </a:r>
            <a:r>
              <a:rPr dirty="0" err="1"/>
              <a:t>反射波の「高さ</a:t>
            </a:r>
            <a:r>
              <a:rPr dirty="0"/>
              <a:t>」＝</a:t>
            </a:r>
            <a:r>
              <a:rPr dirty="0" err="1"/>
              <a:t>末梢血管トーヌス（反射係数</a:t>
            </a:r>
            <a:r>
              <a:rPr dirty="0"/>
              <a:t>）。</a:t>
            </a:r>
            <a:r>
              <a:rPr dirty="0" err="1"/>
              <a:t>血管収縮で高く、拡張で低くなる</a:t>
            </a:r>
            <a:r>
              <a:rPr dirty="0"/>
              <a:t>。</a:t>
            </a:r>
          </a:p>
          <a:p>
            <a:r>
              <a:rPr dirty="0"/>
              <a:t>これが以降の「時相＝硬さ／高さ＝トーヌス」という2軸の読み方の土台。(</a:t>
            </a:r>
            <a:r>
              <a:rPr dirty="0" err="1"/>
              <a:t>Millasseau</a:t>
            </a:r>
            <a:r>
              <a:rPr dirty="0"/>
              <a:t> 2002)</a:t>
            </a:r>
          </a:p>
          <a:p>
            <a:endParaRPr dirty="0"/>
          </a:p>
          <a:p>
            <a:r>
              <a:rPr dirty="0"/>
              <a:t>【文献確認（2026-08）：</a:t>
            </a:r>
            <a:r>
              <a:rPr dirty="0" err="1"/>
              <a:t>この図はどこまで正しいか</a:t>
            </a:r>
            <a:r>
              <a:rPr dirty="0"/>
              <a:t>】</a:t>
            </a:r>
          </a:p>
          <a:p>
            <a:r>
              <a:rPr dirty="0"/>
              <a:t>・「</a:t>
            </a:r>
            <a:r>
              <a:rPr dirty="0" err="1"/>
              <a:t>指尖</a:t>
            </a:r>
            <a:r>
              <a:rPr dirty="0"/>
              <a:t> PPG の拡張期成分（第2ピーク）は下半身で反射した波」という説明は、この分野の原著</a:t>
            </a:r>
          </a:p>
          <a:p>
            <a:r>
              <a:rPr dirty="0"/>
              <a:t>　（</a:t>
            </a:r>
            <a:r>
              <a:rPr dirty="0" err="1"/>
              <a:t>Millasseau</a:t>
            </a:r>
            <a:r>
              <a:rPr dirty="0"/>
              <a:t> 2002 Clin Sci 図1 </a:t>
            </a:r>
            <a:r>
              <a:rPr dirty="0" err="1"/>
              <a:t>凡例、Chowienczyk</a:t>
            </a:r>
            <a:r>
              <a:rPr dirty="0"/>
              <a:t> 1999 </a:t>
            </a:r>
            <a:r>
              <a:rPr dirty="0" err="1"/>
              <a:t>JACC）にほぼ同文で書かれている</a:t>
            </a:r>
            <a:r>
              <a:rPr dirty="0"/>
              <a:t>。</a:t>
            </a:r>
          </a:p>
          <a:p>
            <a:r>
              <a:rPr dirty="0"/>
              <a:t>　上腕動脈内に血管拡張薬を入れて前腕血流を3倍にしても反射指標は動かず、全身投与では</a:t>
            </a:r>
          </a:p>
          <a:p>
            <a:r>
              <a:rPr dirty="0"/>
              <a:t>　</a:t>
            </a:r>
            <a:r>
              <a:rPr dirty="0" err="1"/>
              <a:t>用量依存性に動く</a:t>
            </a:r>
            <a:r>
              <a:rPr dirty="0"/>
              <a:t>＝「指先の血管をいくら拡げても波形の第2成分の位置は変わらない」ことが実験的に示されている。</a:t>
            </a:r>
          </a:p>
          <a:p>
            <a:r>
              <a:rPr dirty="0"/>
              <a:t>　→ 「</a:t>
            </a:r>
            <a:r>
              <a:rPr dirty="0" err="1"/>
              <a:t>反射しているのは指先ではなく体幹側」というメッセージ自体は支持されている</a:t>
            </a:r>
            <a:r>
              <a:rPr dirty="0"/>
              <a:t>。</a:t>
            </a:r>
          </a:p>
          <a:p>
            <a:r>
              <a:rPr dirty="0"/>
              <a:t>・</a:t>
            </a:r>
            <a:r>
              <a:rPr dirty="0" err="1"/>
              <a:t>ただし現代の波動反射の文献では、反射部位は</a:t>
            </a:r>
            <a:r>
              <a:rPr dirty="0"/>
              <a:t> 1 </a:t>
            </a:r>
            <a:r>
              <a:rPr dirty="0" err="1"/>
              <a:t>か所ではなく動脈系全体に分布しているとされる</a:t>
            </a:r>
            <a:r>
              <a:rPr dirty="0"/>
              <a:t>。</a:t>
            </a:r>
          </a:p>
          <a:p>
            <a:r>
              <a:rPr dirty="0"/>
              <a:t>　2016年のワークショップ合意声明は "There is no single or limited number of discrete reflection sites</a:t>
            </a:r>
          </a:p>
          <a:p>
            <a:r>
              <a:rPr dirty="0"/>
              <a:t>　in the arterial tree" </a:t>
            </a:r>
            <a:r>
              <a:rPr dirty="0" err="1"/>
              <a:t>と明記。ヒト大動脈内の実測でも「遠位大動脈近傍に単一の優位な反射部位はない</a:t>
            </a:r>
            <a:r>
              <a:rPr dirty="0"/>
              <a:t>」</a:t>
            </a:r>
          </a:p>
          <a:p>
            <a:r>
              <a:rPr dirty="0"/>
              <a:t>　（Davies 2012 </a:t>
            </a:r>
            <a:r>
              <a:rPr dirty="0" err="1"/>
              <a:t>Hypertension、horizon</a:t>
            </a:r>
            <a:r>
              <a:rPr dirty="0"/>
              <a:t> effect）。</a:t>
            </a:r>
          </a:p>
          <a:p>
            <a:r>
              <a:rPr dirty="0"/>
              <a:t>　→ この図の「腸骨分岐部・下肢」は解剖学的な一点ではなく、分布した反射を1点に集約した</a:t>
            </a:r>
          </a:p>
          <a:p>
            <a:r>
              <a:rPr dirty="0"/>
              <a:t>　　　“</a:t>
            </a:r>
            <a:r>
              <a:rPr dirty="0" err="1"/>
              <a:t>実効（見かけの）反射部位</a:t>
            </a:r>
            <a:r>
              <a:rPr dirty="0"/>
              <a:t>”。</a:t>
            </a:r>
            <a:r>
              <a:rPr dirty="0" err="1"/>
              <a:t>口頭で一言そう断ると安全</a:t>
            </a:r>
            <a:r>
              <a:rPr dirty="0"/>
              <a:t>。</a:t>
            </a:r>
          </a:p>
          <a:p>
            <a:r>
              <a:rPr dirty="0"/>
              <a:t>・1D モデル研究では、指尖波形の第2ピークに効くのは胸部大動脈〜腎動脈レベルという報告</a:t>
            </a:r>
          </a:p>
          <a:p>
            <a:r>
              <a:rPr dirty="0"/>
              <a:t>　（Epstein 2015、Chowienczyk </a:t>
            </a:r>
            <a:r>
              <a:rPr dirty="0" err="1"/>
              <a:t>共著）や、上肢加温と下肢加温で中枢反射波の減り方に差がないという</a:t>
            </a:r>
            <a:endParaRPr dirty="0"/>
          </a:p>
          <a:p>
            <a:r>
              <a:rPr dirty="0"/>
              <a:t>　</a:t>
            </a:r>
            <a:r>
              <a:rPr dirty="0" err="1"/>
              <a:t>ヒト試験（Athaide</a:t>
            </a:r>
            <a:r>
              <a:rPr dirty="0"/>
              <a:t> 2023）もあり、「</a:t>
            </a:r>
            <a:r>
              <a:rPr dirty="0" err="1"/>
              <a:t>下半身が主役」は決着した話ではない</a:t>
            </a:r>
            <a:r>
              <a:rPr dirty="0"/>
              <a:t>。</a:t>
            </a:r>
          </a:p>
          <a:p>
            <a:r>
              <a:rPr dirty="0"/>
              <a:t>・</a:t>
            </a:r>
            <a:r>
              <a:rPr dirty="0" err="1"/>
              <a:t>上肢・手でも反射は起きる（橈骨動脈は後退波エネルギーが最大</a:t>
            </a:r>
            <a:r>
              <a:rPr dirty="0"/>
              <a:t>）。</a:t>
            </a:r>
            <a:r>
              <a:rPr dirty="0" err="1"/>
              <a:t>ただし上肢は前進波・反射波の</a:t>
            </a:r>
            <a:endParaRPr dirty="0"/>
          </a:p>
          <a:p>
            <a:r>
              <a:rPr dirty="0"/>
              <a:t>　</a:t>
            </a:r>
            <a:r>
              <a:rPr dirty="0" err="1"/>
              <a:t>共通経路なので「ΔT（相対タイミング</a:t>
            </a:r>
            <a:r>
              <a:rPr dirty="0"/>
              <a:t>）」</a:t>
            </a:r>
            <a:r>
              <a:rPr dirty="0" err="1"/>
              <a:t>には効きにくい、というのが原著の論理</a:t>
            </a:r>
            <a:r>
              <a:rPr dirty="0"/>
              <a:t>。</a:t>
            </a:r>
          </a:p>
          <a:p>
            <a:r>
              <a:rPr dirty="0"/>
              <a:t>　</a:t>
            </a:r>
            <a:r>
              <a:rPr dirty="0" err="1"/>
              <a:t>振幅・波形の高さには効く</a:t>
            </a:r>
            <a:r>
              <a:rPr dirty="0"/>
              <a:t>（＝3.1 </a:t>
            </a:r>
            <a:r>
              <a:rPr dirty="0" err="1"/>
              <a:t>の</a:t>
            </a:r>
            <a:r>
              <a:rPr dirty="0"/>
              <a:t> ΔPOP・PI </a:t>
            </a:r>
            <a:r>
              <a:rPr dirty="0" err="1"/>
              <a:t>の話と混同しない</a:t>
            </a:r>
            <a:r>
              <a:rPr dirty="0"/>
              <a:t>）。</a:t>
            </a:r>
          </a:p>
          <a:p>
            <a:r>
              <a:rPr dirty="0"/>
              <a:t>・</a:t>
            </a:r>
            <a:r>
              <a:rPr dirty="0" err="1"/>
              <a:t>重複切痕（dicrotic</a:t>
            </a:r>
            <a:r>
              <a:rPr dirty="0"/>
              <a:t> notch）と拡張期ピーク（第2ピーク）は本来別の現象。切痕は中枢では大動脈弁閉鎖に</a:t>
            </a:r>
          </a:p>
          <a:p>
            <a:r>
              <a:rPr dirty="0"/>
              <a:t>　</a:t>
            </a:r>
            <a:r>
              <a:rPr dirty="0" err="1"/>
              <a:t>伴う現象が主因とされ（Gamrah</a:t>
            </a:r>
            <a:r>
              <a:rPr dirty="0"/>
              <a:t> 2020 </a:t>
            </a:r>
            <a:r>
              <a:rPr dirty="0" err="1"/>
              <a:t>の</a:t>
            </a:r>
            <a:r>
              <a:rPr dirty="0"/>
              <a:t> acceleration </a:t>
            </a:r>
            <a:r>
              <a:rPr dirty="0" err="1"/>
              <a:t>hypothesis、Politi</a:t>
            </a:r>
            <a:r>
              <a:rPr dirty="0"/>
              <a:t> 2016 </a:t>
            </a:r>
            <a:r>
              <a:rPr dirty="0" err="1"/>
              <a:t>は反射を「原因の一つ」と限定</a:t>
            </a:r>
            <a:r>
              <a:rPr dirty="0"/>
              <a:t>）、</a:t>
            </a:r>
          </a:p>
          <a:p>
            <a:r>
              <a:rPr dirty="0"/>
              <a:t>　</a:t>
            </a:r>
            <a:r>
              <a:rPr dirty="0" err="1"/>
              <a:t>末梢では反射の影響も受ける。PPG</a:t>
            </a:r>
            <a:r>
              <a:rPr dirty="0"/>
              <a:t> </a:t>
            </a:r>
            <a:r>
              <a:rPr dirty="0" err="1"/>
              <a:t>の標準教科書（Kyriacou</a:t>
            </a:r>
            <a:r>
              <a:rPr dirty="0"/>
              <a:t> &amp; Allen 2022）は末梢 PPG </a:t>
            </a:r>
            <a:r>
              <a:rPr dirty="0" err="1"/>
              <a:t>の切痕・拡張期ピークを</a:t>
            </a:r>
            <a:endParaRPr dirty="0"/>
          </a:p>
          <a:p>
            <a:r>
              <a:rPr dirty="0"/>
              <a:t>　</a:t>
            </a:r>
            <a:r>
              <a:rPr dirty="0" err="1"/>
              <a:t>まとめて「反射による」と記述しており、文献間で用語の指す対象がずれている点に注意</a:t>
            </a:r>
            <a:r>
              <a:rPr dirty="0"/>
              <a:t>。</a:t>
            </a:r>
          </a:p>
          <a:p>
            <a:r>
              <a:rPr dirty="0"/>
              <a:t>　</a:t>
            </a:r>
            <a:r>
              <a:rPr dirty="0" err="1"/>
              <a:t>図の金の点を「重複切痕」と呼ぶのは末梢</a:t>
            </a:r>
            <a:r>
              <a:rPr dirty="0"/>
              <a:t> PPG </a:t>
            </a:r>
            <a:r>
              <a:rPr dirty="0" err="1"/>
              <a:t>の慣用に沿っており、講義としては問題ない</a:t>
            </a:r>
            <a:r>
              <a:rPr dirty="0"/>
              <a:t>。</a:t>
            </a:r>
          </a:p>
          <a:p>
            <a:r>
              <a:rPr dirty="0"/>
              <a:t>(</a:t>
            </a:r>
            <a:r>
              <a:rPr dirty="0" err="1"/>
              <a:t>Millasseau</a:t>
            </a:r>
            <a:r>
              <a:rPr dirty="0"/>
              <a:t> 2002 Clin Sci 103:371 / </a:t>
            </a:r>
            <a:r>
              <a:rPr dirty="0" err="1"/>
              <a:t>Chowienczyk</a:t>
            </a:r>
            <a:r>
              <a:rPr dirty="0"/>
              <a:t> 1999 JACC 34:2007 / Segers 2017 Artery Res 18:75 /</a:t>
            </a:r>
          </a:p>
          <a:p>
            <a:r>
              <a:rPr dirty="0"/>
              <a:t> Davies 2012 Hypertension 60:778 / Epstein 2015 AJP Heart 309:H222 / Athaide 2023 J Appl </a:t>
            </a:r>
            <a:r>
              <a:rPr dirty="0" err="1"/>
              <a:t>Physiol</a:t>
            </a:r>
            <a:r>
              <a:rPr dirty="0"/>
              <a:t> 134:1232)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PPG 基礎まとめ（図解版）</a:t>
            </a:r>
          </a:p>
          <a:p>
            <a:endParaRPr/>
          </a:p>
          <a:p>
            <a:r>
              <a:t>① SpO₂ は赤色光と赤外光の（AC/DC）比 R を、健常人の低酸素負荷試験で作った較正表に</a:t>
            </a:r>
          </a:p>
          <a:p>
            <a:r>
              <a:t>　 当てはめて SaO₂ を推定した値である。較正データは SaO₂ 70〜100% の範囲でしか取得できず、</a:t>
            </a:r>
          </a:p>
          <a:p>
            <a:r>
              <a:t>　 70% 未満は外挿である。</a:t>
            </a:r>
          </a:p>
          <a:p>
            <a:r>
              <a:t>② PPG 波形は圧ではなく、測定部位の動脈血液量（容積）の拍動性変化を見ている。</a:t>
            </a:r>
          </a:p>
          <a:p>
            <a:r>
              <a:t>　 したがって振幅は中心大動脈圧の絶対値ではなく、局所の血管コンプライアンス・灌流・</a:t>
            </a:r>
          </a:p>
          <a:p>
            <a:r>
              <a:t>　 局所脈圧に依存する。</a:t>
            </a:r>
          </a:p>
          <a:p>
            <a:r>
              <a:t>③ PPG 波形は前進波と反射波の合成によって形成されるが、反射点の解剖学的な場所を</a:t>
            </a:r>
          </a:p>
          <a:p>
            <a:r>
              <a:t>　 同定することは原理的にできない（成立するのは「経路」としての解釈だけ）。</a:t>
            </a:r>
          </a:p>
          <a:p>
            <a:endParaRPr/>
          </a:p>
          <a:p>
            <a:r>
              <a:t>→ 次章以降で、この波形がどのような因子に影響を受けるかを見ていく。</a:t>
            </a:r>
          </a:p>
          <a:p>
            <a:r>
              <a:t>出典：1. Allen 2007 ／ 5. Politi 2016 ／ 2. Aoyagi 2003 ／ 3. Chan 2013</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21</a:t>
            </a:fld>
            <a:endParaRPr kumimoji="1" lang="ja-JP" altLang="en-US"/>
          </a:p>
        </p:txBody>
      </p:sp>
    </p:spTree>
    <p:extLst>
      <p:ext uri="{BB962C8B-B14F-4D97-AF65-F5344CB8AC3E}">
        <p14:creationId xmlns:p14="http://schemas.microsoft.com/office/powerpoint/2010/main" val="3530757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799AD-DBCA-A3EA-27A4-5BCD5608E4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416CE5-8C59-0755-91B2-71589CBA87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037C2A-489A-E348-FC31-2CBE877D8109}"/>
              </a:ext>
            </a:extLst>
          </p:cNvPr>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a:extLst>
              <a:ext uri="{FF2B5EF4-FFF2-40B4-BE49-F238E27FC236}">
                <a16:creationId xmlns:a16="http://schemas.microsoft.com/office/drawing/2014/main" id="{7ACF3EF7-24D1-482F-1D6A-3E95D92F0D82}"/>
              </a:ext>
            </a:extLst>
          </p:cNvPr>
          <p:cNvSpPr>
            <a:spLocks noGrp="1"/>
          </p:cNvSpPr>
          <p:nvPr>
            <p:ph type="sldNum" sz="quarter" idx="5"/>
          </p:nvPr>
        </p:nvSpPr>
        <p:spPr/>
        <p:txBody>
          <a:bodyPr/>
          <a:lstStyle/>
          <a:p>
            <a:fld id="{4368CECF-0771-D84F-8D42-085DB944B0B8}" type="slidenum">
              <a:rPr kumimoji="1" lang="ja-JP" altLang="en-US" smtClean="0"/>
              <a:t>22</a:t>
            </a:fld>
            <a:endParaRPr kumimoji="1" lang="ja-JP" altLang="en-US"/>
          </a:p>
        </p:txBody>
      </p:sp>
    </p:spTree>
    <p:extLst>
      <p:ext uri="{BB962C8B-B14F-4D97-AF65-F5344CB8AC3E}">
        <p14:creationId xmlns:p14="http://schemas.microsoft.com/office/powerpoint/2010/main" val="2460744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D002-2458-FB35-B390-8207966994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C218C4-9CD2-0B2E-F732-E05B02F4A5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4DC4E8-D9A6-547B-3414-00E9AAA0B0A4}"/>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1D7720C9-5CB3-4057-8F64-A16F05A9DD35}"/>
              </a:ext>
            </a:extLst>
          </p:cNvPr>
          <p:cNvSpPr>
            <a:spLocks noGrp="1"/>
          </p:cNvSpPr>
          <p:nvPr>
            <p:ph type="sldNum" sz="quarter" idx="5"/>
          </p:nvPr>
        </p:nvSpPr>
        <p:spPr/>
        <p:txBody>
          <a:bodyPr/>
          <a:lstStyle/>
          <a:p>
            <a:fld id="{4368CECF-0771-D84F-8D42-085DB944B0B8}" type="slidenum">
              <a:rPr kumimoji="1" lang="ja-JP" altLang="en-US" smtClean="0"/>
              <a:t>23</a:t>
            </a:fld>
            <a:endParaRPr kumimoji="1" lang="ja-JP" altLang="en-US"/>
          </a:p>
        </p:txBody>
      </p:sp>
    </p:spTree>
    <p:extLst>
      <p:ext uri="{BB962C8B-B14F-4D97-AF65-F5344CB8AC3E}">
        <p14:creationId xmlns:p14="http://schemas.microsoft.com/office/powerpoint/2010/main" val="3653923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AF0D-23DC-8860-33E8-D28DB8E2CD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47F1E1-B4EA-1EE7-1935-4C27A92D42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C62F80-AAD3-743A-C4E5-D2328476145C}"/>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E602AB1B-CDD9-7006-B20C-AC224A17F371}"/>
              </a:ext>
            </a:extLst>
          </p:cNvPr>
          <p:cNvSpPr>
            <a:spLocks noGrp="1"/>
          </p:cNvSpPr>
          <p:nvPr>
            <p:ph type="sldNum" sz="quarter" idx="5"/>
          </p:nvPr>
        </p:nvSpPr>
        <p:spPr/>
        <p:txBody>
          <a:bodyPr/>
          <a:lstStyle/>
          <a:p>
            <a:fld id="{4368CECF-0771-D84F-8D42-085DB944B0B8}" type="slidenum">
              <a:rPr kumimoji="1" lang="ja-JP" altLang="en-US" smtClean="0"/>
              <a:t>24</a:t>
            </a:fld>
            <a:endParaRPr kumimoji="1" lang="ja-JP" altLang="en-US"/>
          </a:p>
        </p:txBody>
      </p:sp>
    </p:spTree>
    <p:extLst>
      <p:ext uri="{BB962C8B-B14F-4D97-AF65-F5344CB8AC3E}">
        <p14:creationId xmlns:p14="http://schemas.microsoft.com/office/powerpoint/2010/main" val="1754807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8C8BB-FC18-CC2A-92DE-D789FF460A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653364-141F-7D20-A238-30577D8EAA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369720-CD6D-E2B4-BD4A-3FCA38A80E5B}"/>
              </a:ext>
            </a:extLst>
          </p:cNvPr>
          <p:cNvSpPr>
            <a:spLocks noGrp="1"/>
          </p:cNvSpPr>
          <p:nvPr>
            <p:ph type="body" idx="1"/>
          </p:nvPr>
        </p:nvSpPr>
        <p:spPr/>
        <p:txBody>
          <a:bodyPr/>
          <a:lstStyle/>
          <a:p>
            <a:r>
              <a:rPr lang="en-US" altLang="ja-JP" dirty="0"/>
              <a:t>1973</a:t>
            </a:r>
            <a:r>
              <a:rPr lang="ja-JP" altLang="en-US"/>
              <a:t>年にドーバーが指尖脈波の波形を切痕の位置で</a:t>
            </a:r>
            <a:r>
              <a:rPr lang="en-US" altLang="ja-JP" dirty="0"/>
              <a:t>4</a:t>
            </a:r>
            <a:r>
              <a:rPr lang="ja-JP" altLang="en-US"/>
              <a:t>つに分類し、指尖脈波波形と年齢や冠動脈疾患との関連を調べた</a:t>
            </a:r>
            <a:endParaRPr lang="en-US" altLang="ja-JP"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7CB7F5BF-D92B-090D-5C26-C699156ACB58}"/>
              </a:ext>
            </a:extLst>
          </p:cNvPr>
          <p:cNvSpPr>
            <a:spLocks noGrp="1"/>
          </p:cNvSpPr>
          <p:nvPr>
            <p:ph type="sldNum" sz="quarter" idx="5"/>
          </p:nvPr>
        </p:nvSpPr>
        <p:spPr/>
        <p:txBody>
          <a:bodyPr/>
          <a:lstStyle/>
          <a:p>
            <a:fld id="{4368CECF-0771-D84F-8D42-085DB944B0B8}" type="slidenum">
              <a:rPr kumimoji="1" lang="ja-JP" altLang="en-US" smtClean="0"/>
              <a:t>25</a:t>
            </a:fld>
            <a:endParaRPr kumimoji="1" lang="ja-JP" altLang="en-US"/>
          </a:p>
        </p:txBody>
      </p:sp>
    </p:spTree>
    <p:extLst>
      <p:ext uri="{BB962C8B-B14F-4D97-AF65-F5344CB8AC3E}">
        <p14:creationId xmlns:p14="http://schemas.microsoft.com/office/powerpoint/2010/main" val="3824610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E460-A9F9-E1D2-F31D-7BB1C727B7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0E9035-75D6-CF0A-A2E4-D20F5B4268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EA92F19-E555-9F8D-F887-B89AD6DA8CB9}"/>
              </a:ext>
            </a:extLst>
          </p:cNvPr>
          <p:cNvSpPr>
            <a:spLocks noGrp="1"/>
          </p:cNvSpPr>
          <p:nvPr>
            <p:ph type="body" idx="1"/>
          </p:nvPr>
        </p:nvSpPr>
        <p:spPr/>
        <p:txBody>
          <a:bodyPr/>
          <a:lstStyle/>
          <a:p>
            <a:r>
              <a:rPr kumimoji="1" lang="ja-JP" altLang="ja-JP" sz="1200" b="0" i="0" kern="1200">
                <a:solidFill>
                  <a:schemeClr val="tx1"/>
                </a:solidFill>
                <a:effectLst/>
                <a:latin typeface="+mn-lt"/>
                <a:ea typeface="+mn-ea"/>
                <a:cs typeface="+mn-cs"/>
              </a:rPr>
              <a:t>測定器は Henry Lax が開発した Vasculograph（Princeton Machine and Development Company 製、Lax からの借用機）で、指に巻いた幅 2.5 cm の空気カフの内圧変動を紙送り 2 cm/秒で記録したもの</a:t>
            </a:r>
            <a:endParaRPr lang="en-US" dirty="0"/>
          </a:p>
          <a:p>
            <a:r>
              <a:rPr lang="en-US" dirty="0" err="1"/>
              <a:t>カフの内圧変動を見ており、厳密にはPPGではない</a:t>
            </a:r>
            <a:r>
              <a:rPr lang="en-US" dirty="0"/>
              <a:t>。</a:t>
            </a:r>
            <a:r>
              <a:rPr kumimoji="1" lang="ja-JP" altLang="ja-JP" sz="1200" b="0" i="0" kern="1200">
                <a:solidFill>
                  <a:schemeClr val="tx1"/>
                </a:solidFill>
                <a:effectLst/>
                <a:latin typeface="+mn-lt"/>
                <a:ea typeface="+mn-ea"/>
                <a:cs typeface="+mn-cs"/>
              </a:rPr>
              <a:t>Vasculograph</a:t>
            </a:r>
            <a:r>
              <a:rPr kumimoji="1" lang="ja-JP" altLang="en-US" sz="1200" b="0" i="0" kern="1200">
                <a:solidFill>
                  <a:schemeClr val="tx1"/>
                </a:solidFill>
                <a:effectLst/>
                <a:latin typeface="+mn-lt"/>
                <a:ea typeface="+mn-ea"/>
                <a:cs typeface="+mn-cs"/>
              </a:rPr>
              <a:t>による研究で、切痕の消失が血管疾患との関連を示唆するものであった。</a:t>
            </a:r>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この波形を先ほどの</a:t>
            </a:r>
            <a:r>
              <a:rPr kumimoji="1" lang="en-US" altLang="ja-JP" sz="1200" b="0" i="0" kern="1200" dirty="0">
                <a:solidFill>
                  <a:schemeClr val="tx1"/>
                </a:solidFill>
                <a:effectLst/>
                <a:latin typeface="+mn-lt"/>
                <a:ea typeface="+mn-ea"/>
                <a:cs typeface="+mn-cs"/>
              </a:rPr>
              <a:t>4</a:t>
            </a:r>
            <a:r>
              <a:rPr kumimoji="1" lang="ja-JP" altLang="en-US" sz="1200" b="0" i="0" kern="1200">
                <a:solidFill>
                  <a:schemeClr val="tx1"/>
                </a:solidFill>
                <a:effectLst/>
                <a:latin typeface="+mn-lt"/>
                <a:ea typeface="+mn-ea"/>
                <a:cs typeface="+mn-cs"/>
              </a:rPr>
              <a:t>つに目視で分類。</a:t>
            </a:r>
            <a:r>
              <a:rPr kumimoji="1" lang="en-US" altLang="ja-JP" sz="1200" b="0" i="0" kern="1200" dirty="0">
                <a:solidFill>
                  <a:schemeClr val="tx1"/>
                </a:solidFill>
                <a:effectLst/>
                <a:latin typeface="+mn-lt"/>
                <a:ea typeface="+mn-ea"/>
                <a:cs typeface="+mn-cs"/>
              </a:rPr>
              <a:t>1778</a:t>
            </a:r>
            <a:r>
              <a:rPr kumimoji="1" lang="ja-JP" altLang="en-US" sz="1200" b="0" i="0" kern="1200">
                <a:solidFill>
                  <a:schemeClr val="tx1"/>
                </a:solidFill>
                <a:effectLst/>
                <a:latin typeface="+mn-lt"/>
                <a:ea typeface="+mn-ea"/>
                <a:cs typeface="+mn-cs"/>
              </a:rPr>
              <a:t>人に測定を行った。</a:t>
            </a:r>
            <a:endParaRPr lang="en-US"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1AE6F828-5606-645B-B5FF-FA9E507FC8E9}"/>
              </a:ext>
            </a:extLst>
          </p:cNvPr>
          <p:cNvSpPr>
            <a:spLocks noGrp="1"/>
          </p:cNvSpPr>
          <p:nvPr>
            <p:ph type="sldNum" sz="quarter" idx="5"/>
          </p:nvPr>
        </p:nvSpPr>
        <p:spPr/>
        <p:txBody>
          <a:bodyPr/>
          <a:lstStyle/>
          <a:p>
            <a:fld id="{4368CECF-0771-D84F-8D42-085DB944B0B8}" type="slidenum">
              <a:rPr kumimoji="1" lang="ja-JP" altLang="en-US" smtClean="0"/>
              <a:t>26</a:t>
            </a:fld>
            <a:endParaRPr kumimoji="1" lang="ja-JP" altLang="en-US"/>
          </a:p>
        </p:txBody>
      </p:sp>
    </p:spTree>
    <p:extLst>
      <p:ext uri="{BB962C8B-B14F-4D97-AF65-F5344CB8AC3E}">
        <p14:creationId xmlns:p14="http://schemas.microsoft.com/office/powerpoint/2010/main" val="1324095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395C-6F6F-4DF4-8227-DB16E3DA34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17431B-382B-CFDB-F755-755A940A30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AF9EDF-C8FA-60D1-02BB-1EC3D00796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男女ともに</a:t>
            </a:r>
            <a:r>
              <a:rPr lang="en-US" altLang="ja-JP" dirty="0" err="1"/>
              <a:t>高齢</a:t>
            </a:r>
            <a:r>
              <a:rPr lang="ja-JP" altLang="en-US"/>
              <a:t>である方が、</a:t>
            </a:r>
            <a:r>
              <a:rPr lang="en-US" altLang="ja-JP" dirty="0"/>
              <a:t>class3,4</a:t>
            </a:r>
            <a:r>
              <a:rPr lang="ja-JP" altLang="en-US"/>
              <a:t>の割合が高い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Class</a:t>
            </a:r>
            <a:r>
              <a:rPr lang="ja-JP" altLang="en-US"/>
              <a:t>が高い方が、冠動脈疾患を持つ割合が増えた。</a:t>
            </a:r>
            <a:endParaRPr lang="en-US" altLang="ja-JP" dirty="0"/>
          </a:p>
        </p:txBody>
      </p:sp>
      <p:sp>
        <p:nvSpPr>
          <p:cNvPr id="4" name="スライド番号プレースホルダー 3">
            <a:extLst>
              <a:ext uri="{FF2B5EF4-FFF2-40B4-BE49-F238E27FC236}">
                <a16:creationId xmlns:a16="http://schemas.microsoft.com/office/drawing/2014/main" id="{F8413E1D-3C36-00CF-D5E6-5EF8A683A21B}"/>
              </a:ext>
            </a:extLst>
          </p:cNvPr>
          <p:cNvSpPr>
            <a:spLocks noGrp="1"/>
          </p:cNvSpPr>
          <p:nvPr>
            <p:ph type="sldNum" sz="quarter" idx="5"/>
          </p:nvPr>
        </p:nvSpPr>
        <p:spPr/>
        <p:txBody>
          <a:bodyPr/>
          <a:lstStyle/>
          <a:p>
            <a:fld id="{4368CECF-0771-D84F-8D42-085DB944B0B8}" type="slidenum">
              <a:rPr kumimoji="1" lang="ja-JP" altLang="en-US" smtClean="0"/>
              <a:t>27</a:t>
            </a:fld>
            <a:endParaRPr kumimoji="1" lang="ja-JP" altLang="en-US"/>
          </a:p>
        </p:txBody>
      </p:sp>
    </p:spTree>
    <p:extLst>
      <p:ext uri="{BB962C8B-B14F-4D97-AF65-F5344CB8AC3E}">
        <p14:creationId xmlns:p14="http://schemas.microsoft.com/office/powerpoint/2010/main" val="3311699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a:p>
            <a:r>
              <a:rPr kumimoji="1" lang="ja-JP" altLang="en-US"/>
              <a:t>高齢者の方が切痕が平滑で、切痕が平滑である方が冠動脈疾患を持つ人の割合が増える。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28</a:t>
            </a:fld>
            <a:endParaRPr kumimoji="1" lang="ja-JP" altLang="en-US"/>
          </a:p>
        </p:txBody>
      </p:sp>
    </p:spTree>
    <p:extLst>
      <p:ext uri="{BB962C8B-B14F-4D97-AF65-F5344CB8AC3E}">
        <p14:creationId xmlns:p14="http://schemas.microsoft.com/office/powerpoint/2010/main" val="3976866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B676-1850-AE0A-C551-08885A212F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663D56-CFCE-B27F-21BB-E14881C6CB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E2D45C-6C0E-905D-E6AD-2B4900AA0F10}"/>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8F29C62D-A119-2EA2-3371-9E500074317A}"/>
              </a:ext>
            </a:extLst>
          </p:cNvPr>
          <p:cNvSpPr>
            <a:spLocks noGrp="1"/>
          </p:cNvSpPr>
          <p:nvPr>
            <p:ph type="sldNum" sz="quarter" idx="5"/>
          </p:nvPr>
        </p:nvSpPr>
        <p:spPr/>
        <p:txBody>
          <a:bodyPr/>
          <a:lstStyle/>
          <a:p>
            <a:fld id="{4368CECF-0771-D84F-8D42-085DB944B0B8}" type="slidenum">
              <a:rPr kumimoji="1" lang="ja-JP" altLang="en-US" smtClean="0"/>
              <a:t>29</a:t>
            </a:fld>
            <a:endParaRPr kumimoji="1" lang="ja-JP" altLang="en-US"/>
          </a:p>
        </p:txBody>
      </p:sp>
    </p:spTree>
    <p:extLst>
      <p:ext uri="{BB962C8B-B14F-4D97-AF65-F5344CB8AC3E}">
        <p14:creationId xmlns:p14="http://schemas.microsoft.com/office/powerpoint/2010/main" val="479823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B55C-629D-89EC-D883-6C935AB562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19F23C-C293-130F-51C8-531067D915F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EFA6ED-F9D5-3C4A-2539-35007E3DC57F}"/>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55D0610D-C30B-7AEB-CEBA-096D8D7F8C95}"/>
              </a:ext>
            </a:extLst>
          </p:cNvPr>
          <p:cNvSpPr>
            <a:spLocks noGrp="1"/>
          </p:cNvSpPr>
          <p:nvPr>
            <p:ph type="sldNum" sz="quarter" idx="5"/>
          </p:nvPr>
        </p:nvSpPr>
        <p:spPr/>
        <p:txBody>
          <a:bodyPr/>
          <a:lstStyle/>
          <a:p>
            <a:fld id="{4368CECF-0771-D84F-8D42-085DB944B0B8}" type="slidenum">
              <a:rPr kumimoji="1" lang="ja-JP" altLang="en-US" smtClean="0"/>
              <a:t>30</a:t>
            </a:fld>
            <a:endParaRPr kumimoji="1" lang="ja-JP" altLang="en-US"/>
          </a:p>
        </p:txBody>
      </p:sp>
    </p:spTree>
    <p:extLst>
      <p:ext uri="{BB962C8B-B14F-4D97-AF65-F5344CB8AC3E}">
        <p14:creationId xmlns:p14="http://schemas.microsoft.com/office/powerpoint/2010/main" val="902917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8CDA-C244-5D90-E99A-63DA49DD19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E1933C-2A6D-FE16-CE33-D229B7053D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99F231-DED6-7604-DC14-47A58CC260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切痕の消失具合を機械学習で分類し、従来の４分類というところから切痕の平滑具合を連続量として扱えるようになった。</a:t>
            </a:r>
            <a:endParaRPr kumimoji="1" lang="en-US" altLang="ja-JP" dirty="0"/>
          </a:p>
          <a:p>
            <a:endParaRPr lang="en-US" altLang="ja-JP" dirty="0"/>
          </a:p>
          <a:p>
            <a:r>
              <a:rPr lang="ja-JP" altLang="en-US"/>
              <a:t>切痕の平滑であるほど、高血圧、心筋梗塞／冠動脈疾患・心不全・死亡のリスク（脳卒中や</a:t>
            </a:r>
            <a:r>
              <a:rPr lang="en-US" altLang="ja-JP" dirty="0"/>
              <a:t>AS</a:t>
            </a:r>
            <a:r>
              <a:rPr lang="ja-JP" altLang="en-US"/>
              <a:t>新規発症も）が高かった。</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p>
        </p:txBody>
      </p:sp>
      <p:sp>
        <p:nvSpPr>
          <p:cNvPr id="4" name="スライド番号プレースホルダー 3">
            <a:extLst>
              <a:ext uri="{FF2B5EF4-FFF2-40B4-BE49-F238E27FC236}">
                <a16:creationId xmlns:a16="http://schemas.microsoft.com/office/drawing/2014/main" id="{54E914DD-09BE-E20B-0E61-4FCE6657E439}"/>
              </a:ext>
            </a:extLst>
          </p:cNvPr>
          <p:cNvSpPr>
            <a:spLocks noGrp="1"/>
          </p:cNvSpPr>
          <p:nvPr>
            <p:ph type="sldNum" sz="quarter" idx="5"/>
          </p:nvPr>
        </p:nvSpPr>
        <p:spPr/>
        <p:txBody>
          <a:bodyPr/>
          <a:lstStyle/>
          <a:p>
            <a:fld id="{4368CECF-0771-D84F-8D42-085DB944B0B8}" type="slidenum">
              <a:rPr kumimoji="1" lang="ja-JP" altLang="en-US" smtClean="0"/>
              <a:t>31</a:t>
            </a:fld>
            <a:endParaRPr kumimoji="1" lang="ja-JP" altLang="en-US"/>
          </a:p>
        </p:txBody>
      </p:sp>
    </p:spTree>
    <p:extLst>
      <p:ext uri="{BB962C8B-B14F-4D97-AF65-F5344CB8AC3E}">
        <p14:creationId xmlns:p14="http://schemas.microsoft.com/office/powerpoint/2010/main" val="2254617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609D-7C41-BF8A-E3A2-5F38525F4D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6D1903-B218-C00D-11E3-365FA98CFA1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6209AF-A3BC-BED7-0E13-8B95EF25EE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登録時に遺伝子解析も行なっており、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endParaRPr kumimoji="1" lang="ja-JP" altLang="en-US"/>
          </a:p>
        </p:txBody>
      </p:sp>
      <p:sp>
        <p:nvSpPr>
          <p:cNvPr id="4" name="スライド番号プレースホルダー 3">
            <a:extLst>
              <a:ext uri="{FF2B5EF4-FFF2-40B4-BE49-F238E27FC236}">
                <a16:creationId xmlns:a16="http://schemas.microsoft.com/office/drawing/2014/main" id="{7A4B5DA4-C1B5-68C3-7150-76A418B52C44}"/>
              </a:ext>
            </a:extLst>
          </p:cNvPr>
          <p:cNvSpPr>
            <a:spLocks noGrp="1"/>
          </p:cNvSpPr>
          <p:nvPr>
            <p:ph type="sldNum" sz="quarter" idx="5"/>
          </p:nvPr>
        </p:nvSpPr>
        <p:spPr/>
        <p:txBody>
          <a:bodyPr/>
          <a:lstStyle/>
          <a:p>
            <a:fld id="{4368CECF-0771-D84F-8D42-085DB944B0B8}" type="slidenum">
              <a:rPr kumimoji="1" lang="ja-JP" altLang="en-US" smtClean="0"/>
              <a:t>32</a:t>
            </a:fld>
            <a:endParaRPr kumimoji="1" lang="ja-JP" altLang="en-US"/>
          </a:p>
        </p:txBody>
      </p:sp>
    </p:spTree>
    <p:extLst>
      <p:ext uri="{BB962C8B-B14F-4D97-AF65-F5344CB8AC3E}">
        <p14:creationId xmlns:p14="http://schemas.microsoft.com/office/powerpoint/2010/main" val="1081729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加齢などによる影響で、大血管スティッフネスは上昇する。それに伴い反射波の速度が上昇するため、反射波が早く戻ることになり、収縮機へ融合していくことになる。</a:t>
            </a:r>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動脈硬化が強いほど、速度も早く、結果として切痕が消えて見える。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前進波も早く伝播するが、長い距離を進む反射波の方が大血管スティッフネス上昇による伝播速度上昇の影響を大きく受ける。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a:solidFill>
                  <a:schemeClr val="tx1"/>
                </a:solidFill>
                <a:effectLst/>
                <a:latin typeface="+mn-lt"/>
                <a:ea typeface="+mn-ea"/>
                <a:cs typeface="+mn-cs"/>
              </a:rPr>
              <a:t>前進波(forward wave)自体もPWV上昇に伴い速く伝播するため、心臓から末梢反射点までの到達時間は短縮する</a:t>
            </a:r>
            <a:r>
              <a:rPr kumimoji="1" lang="ja-JP" altLang="ja-JP" sz="1200" b="0" i="0" kern="1200">
                <a:solidFill>
                  <a:schemeClr val="tx1"/>
                </a:solidFill>
                <a:effectLst/>
                <a:latin typeface="+mn-lt"/>
                <a:ea typeface="+mn-ea"/>
                <a:cs typeface="+mn-cs"/>
              </a:rPr>
              <a:t>。しかし、それでもなお反射波が収縮期後半〜収縮期中に「間に合って」戻ってきてしまう理由は、往復距離(心臓→反射点→心臓)の合計伝播時間が、前進波の心臓からの立ち上がり(駆出時間)そのものよりもはるかに大きく短縮するため</a:t>
            </a:r>
            <a:endParaRPr lang="en-US" dirty="0"/>
          </a:p>
          <a:p>
            <a:endParaRPr lang="en-US" dirty="0"/>
          </a:p>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33</a:t>
            </a:fld>
            <a:endParaRPr kumimoji="1" lang="ja-JP" altLang="en-US"/>
          </a:p>
        </p:txBody>
      </p:sp>
    </p:spTree>
    <p:extLst>
      <p:ext uri="{BB962C8B-B14F-4D97-AF65-F5344CB8AC3E}">
        <p14:creationId xmlns:p14="http://schemas.microsoft.com/office/powerpoint/2010/main" val="34649596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8FFD-F708-620D-4613-1FFE553826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2BA34D-5B89-5DD1-1074-526118FD8DE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B97420-6DE7-10D6-846C-162B37C6DA1F}"/>
              </a:ext>
            </a:extLst>
          </p:cNvPr>
          <p:cNvSpPr>
            <a:spLocks noGrp="1"/>
          </p:cNvSpPr>
          <p:nvPr>
            <p:ph type="body" idx="1"/>
          </p:nvPr>
        </p:nvSpPr>
        <p:spPr/>
        <p:txBody>
          <a:bodyPr/>
          <a:lstStyle/>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a:extLst>
              <a:ext uri="{FF2B5EF4-FFF2-40B4-BE49-F238E27FC236}">
                <a16:creationId xmlns:a16="http://schemas.microsoft.com/office/drawing/2014/main" id="{4CBC0082-A5B3-654F-FC40-DD924233A42B}"/>
              </a:ext>
            </a:extLst>
          </p:cNvPr>
          <p:cNvSpPr>
            <a:spLocks noGrp="1"/>
          </p:cNvSpPr>
          <p:nvPr>
            <p:ph type="sldNum" sz="quarter" idx="5"/>
          </p:nvPr>
        </p:nvSpPr>
        <p:spPr/>
        <p:txBody>
          <a:bodyPr/>
          <a:lstStyle/>
          <a:p>
            <a:fld id="{4368CECF-0771-D84F-8D42-085DB944B0B8}" type="slidenum">
              <a:rPr kumimoji="1" lang="ja-JP" altLang="en-US" smtClean="0"/>
              <a:t>34</a:t>
            </a:fld>
            <a:endParaRPr kumimoji="1" lang="ja-JP" altLang="en-US"/>
          </a:p>
        </p:txBody>
      </p:sp>
    </p:spTree>
    <p:extLst>
      <p:ext uri="{BB962C8B-B14F-4D97-AF65-F5344CB8AC3E}">
        <p14:creationId xmlns:p14="http://schemas.microsoft.com/office/powerpoint/2010/main" val="4558293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BC4B-DC9F-A085-F30C-25A3CFE993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9D6EAB-2FE2-810A-A5CB-A93E95B845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2526D0-6E90-7DB1-AB72-BE81DBBF9E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自発呼吸下の健常ボランティア十一人　下半身陰圧</a:t>
            </a:r>
            <a:r>
              <a:rPr kumimoji="1" lang="en-US" altLang="ja-JP" dirty="0"/>
              <a:t>Lower body negative pressure</a:t>
            </a:r>
            <a:r>
              <a:rPr kumimoji="1" lang="ja-JP" altLang="en-US"/>
              <a:t>で循環血液量減少を再現し</a:t>
            </a:r>
            <a:r>
              <a:rPr kumimoji="1" lang="en-US" altLang="ja-JP" dirty="0"/>
              <a:t>PPG</a:t>
            </a:r>
            <a:r>
              <a:rPr kumimoji="1" lang="ja-JP" altLang="en-US"/>
              <a:t>パラメータの変化を検討する目的</a:t>
            </a:r>
            <a:endParaRPr kumimoji="1" lang="en-US" altLang="ja-JP" dirty="0"/>
          </a:p>
          <a:p>
            <a:r>
              <a:rPr kumimoji="1" lang="ja-JP" altLang="en-US" sz="1200" kern="1200">
                <a:solidFill>
                  <a:schemeClr val="tx1"/>
                </a:solidFill>
                <a:effectLst/>
                <a:latin typeface="+mn-lt"/>
                <a:ea typeface="+mn-ea"/>
                <a:cs typeface="+mn-cs"/>
              </a:rPr>
              <a:t>ネオプレン製のスカートによって腸骨稜（</a:t>
            </a:r>
            <a:r>
              <a:rPr kumimoji="1" lang="en" altLang="ja-JP" sz="1200" kern="1200" dirty="0">
                <a:solidFill>
                  <a:schemeClr val="tx1"/>
                </a:solidFill>
                <a:effectLst/>
                <a:latin typeface="+mn-lt"/>
                <a:ea typeface="+mn-ea"/>
                <a:cs typeface="+mn-cs"/>
              </a:rPr>
              <a:t>iliac crest</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の高さで密閉された気密チャンバー内に仰臥位で配置</a:t>
            </a:r>
            <a:endParaRPr kumimoji="1" lang="en-US" altLang="ja-JP" dirty="0"/>
          </a:p>
          <a:p>
            <a:r>
              <a:rPr kumimoji="1" lang="ja-JP" altLang="en-US" sz="1200" kern="1200">
                <a:solidFill>
                  <a:schemeClr val="tx1"/>
                </a:solidFill>
                <a:effectLst/>
                <a:latin typeface="+mn-lt"/>
                <a:ea typeface="+mn-ea"/>
                <a:cs typeface="+mn-cs"/>
              </a:rPr>
              <a:t>ベースライン、</a:t>
            </a:r>
            <a:r>
              <a:rPr kumimoji="1" lang="en-US" altLang="ja-JP" sz="1200" kern="1200" dirty="0">
                <a:solidFill>
                  <a:schemeClr val="tx1"/>
                </a:solidFill>
                <a:effectLst/>
                <a:latin typeface="+mn-lt"/>
                <a:ea typeface="+mn-ea"/>
                <a:cs typeface="+mn-cs"/>
              </a:rPr>
              <a:t>30</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75</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90 </a:t>
            </a:r>
            <a:r>
              <a:rPr kumimoji="1" lang="en" altLang="ja-JP" sz="1200" kern="1200" dirty="0">
                <a:solidFill>
                  <a:schemeClr val="tx1"/>
                </a:solidFill>
                <a:effectLst/>
                <a:latin typeface="+mn-lt"/>
                <a:ea typeface="+mn-ea"/>
                <a:cs typeface="+mn-cs"/>
              </a:rPr>
              <a:t>mmHg</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あるいは被験者が症状を呈するまで）の</a:t>
            </a:r>
            <a:r>
              <a:rPr kumimoji="1" lang="en" altLang="ja-JP" sz="1200" kern="1200" dirty="0">
                <a:solidFill>
                  <a:schemeClr val="tx1"/>
                </a:solidFill>
                <a:effectLst/>
                <a:latin typeface="+mn-lt"/>
                <a:ea typeface="+mn-ea"/>
                <a:cs typeface="+mn-cs"/>
              </a:rPr>
              <a:t>LBNP</a:t>
            </a:r>
            <a:r>
              <a:rPr kumimoji="1" lang="ja-JP" altLang="en-US" sz="1200" kern="1200">
                <a:solidFill>
                  <a:schemeClr val="tx1"/>
                </a:solidFill>
                <a:effectLst/>
                <a:latin typeface="+mn-lt"/>
                <a:ea typeface="+mn-ea"/>
                <a:cs typeface="+mn-cs"/>
              </a:rPr>
              <a:t>プロトコルを実施し、</a:t>
            </a:r>
            <a:r>
              <a:rPr kumimoji="1" lang="en-US" altLang="ja-JP" sz="1200" kern="1200" dirty="0">
                <a:solidFill>
                  <a:schemeClr val="tx1"/>
                </a:solidFill>
                <a:effectLst/>
                <a:latin typeface="+mn-lt"/>
                <a:ea typeface="+mn-ea"/>
                <a:cs typeface="+mn-cs"/>
              </a:rPr>
              <a:t>PPG</a:t>
            </a:r>
            <a:r>
              <a:rPr kumimoji="1" lang="ja-JP" altLang="en-US" sz="1200" kern="1200">
                <a:solidFill>
                  <a:schemeClr val="tx1"/>
                </a:solidFill>
                <a:effectLst/>
                <a:latin typeface="+mn-lt"/>
                <a:ea typeface="+mn-ea"/>
                <a:cs typeface="+mn-cs"/>
              </a:rPr>
              <a:t>波形の</a:t>
            </a:r>
            <a:r>
              <a:rPr lang="ja-JP" altLang="en-US" sz="1200"/>
              <a:t>ピーク、高さ、幅、傾斜、面積の項目を検討した。</a:t>
            </a:r>
            <a:endParaRPr kumimoji="1" lang="ja-JP" alt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a:p>
            <a:endParaRPr kumimoji="1" lang="en-US" altLang="ja-JP" dirty="0"/>
          </a:p>
          <a:p>
            <a:endParaRPr kumimoji="1" lang="en-US" altLang="ja-JP" dirty="0"/>
          </a:p>
          <a:p>
            <a:r>
              <a:rPr kumimoji="1" lang="en-US" altLang="ja-JP" dirty="0" err="1"/>
              <a:t>cannesson</a:t>
            </a:r>
            <a:r>
              <a:rPr kumimoji="1" lang="en-US" altLang="ja-JP" dirty="0"/>
              <a:t> 2005</a:t>
            </a:r>
            <a:r>
              <a:rPr kumimoji="1" lang="ja-JP" altLang="en-US"/>
              <a:t>の</a:t>
            </a:r>
            <a:r>
              <a:rPr kumimoji="1" lang="en-US" altLang="ja-JP" dirty="0"/>
              <a:t>ΔPOP</a:t>
            </a:r>
            <a:r>
              <a:rPr kumimoji="1" lang="ja-JP" altLang="en-US"/>
              <a:t>も評価していいのか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72A279B0-5167-1C6E-DCCB-AEE8E8CB8326}"/>
              </a:ext>
            </a:extLst>
          </p:cNvPr>
          <p:cNvSpPr>
            <a:spLocks noGrp="1"/>
          </p:cNvSpPr>
          <p:nvPr>
            <p:ph type="sldNum" sz="quarter" idx="5"/>
          </p:nvPr>
        </p:nvSpPr>
        <p:spPr/>
        <p:txBody>
          <a:bodyPr/>
          <a:lstStyle/>
          <a:p>
            <a:fld id="{4368CECF-0771-D84F-8D42-085DB944B0B8}" type="slidenum">
              <a:rPr kumimoji="1" lang="ja-JP" altLang="en-US" smtClean="0"/>
              <a:t>36</a:t>
            </a:fld>
            <a:endParaRPr kumimoji="1" lang="ja-JP" altLang="en-US"/>
          </a:p>
        </p:txBody>
      </p:sp>
    </p:spTree>
    <p:extLst>
      <p:ext uri="{BB962C8B-B14F-4D97-AF65-F5344CB8AC3E}">
        <p14:creationId xmlns:p14="http://schemas.microsoft.com/office/powerpoint/2010/main" val="2165891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73E1-4312-9B21-BA1D-996C5C4F71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E9EDCF-117E-0918-9304-CCB70B50F3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BE0123-27DA-D6F5-38B5-3556EF72B8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結果として下半身の陰圧が強いほど、</a:t>
            </a:r>
            <a:r>
              <a:rPr lang="ja-JP" altLang="en-US" sz="1200"/>
              <a:t>高さ、幅、傾斜が低下した。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波形上は右のように振幅が低下し潰れたような波形になる。そして陰圧を解除すると元に戻る。</a:t>
            </a:r>
            <a:endParaRPr kumimoji="1" lang="ja-JP" altLang="en-US"/>
          </a:p>
          <a:p>
            <a:endParaRPr kumimoji="1" lang="en-US" altLang="ja-JP" dirty="0"/>
          </a:p>
        </p:txBody>
      </p:sp>
      <p:sp>
        <p:nvSpPr>
          <p:cNvPr id="4" name="スライド番号プレースホルダー 3">
            <a:extLst>
              <a:ext uri="{FF2B5EF4-FFF2-40B4-BE49-F238E27FC236}">
                <a16:creationId xmlns:a16="http://schemas.microsoft.com/office/drawing/2014/main" id="{D88FE6EA-E664-BA4E-4E28-B897D67A1F6E}"/>
              </a:ext>
            </a:extLst>
          </p:cNvPr>
          <p:cNvSpPr>
            <a:spLocks noGrp="1"/>
          </p:cNvSpPr>
          <p:nvPr>
            <p:ph type="sldNum" sz="quarter" idx="5"/>
          </p:nvPr>
        </p:nvSpPr>
        <p:spPr/>
        <p:txBody>
          <a:bodyPr/>
          <a:lstStyle/>
          <a:p>
            <a:fld id="{4368CECF-0771-D84F-8D42-085DB944B0B8}" type="slidenum">
              <a:rPr kumimoji="1" lang="ja-JP" altLang="en-US" smtClean="0"/>
              <a:t>37</a:t>
            </a:fld>
            <a:endParaRPr kumimoji="1" lang="ja-JP" altLang="en-US"/>
          </a:p>
        </p:txBody>
      </p:sp>
    </p:spTree>
    <p:extLst>
      <p:ext uri="{BB962C8B-B14F-4D97-AF65-F5344CB8AC3E}">
        <p14:creationId xmlns:p14="http://schemas.microsoft.com/office/powerpoint/2010/main" val="824453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EDB65-9ADD-5BDA-BEB2-E0443EC52D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002C2C-3E13-C69B-4B7D-95A8A560E1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994529-8A50-B8B4-55E0-93AF5B28646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09205F14-0FA0-A2FE-B48E-1669C21337F0}"/>
              </a:ext>
            </a:extLst>
          </p:cNvPr>
          <p:cNvSpPr>
            <a:spLocks noGrp="1"/>
          </p:cNvSpPr>
          <p:nvPr>
            <p:ph type="sldNum" sz="quarter" idx="5"/>
          </p:nvPr>
        </p:nvSpPr>
        <p:spPr/>
        <p:txBody>
          <a:bodyPr/>
          <a:lstStyle/>
          <a:p>
            <a:fld id="{4368CECF-0771-D84F-8D42-085DB944B0B8}" type="slidenum">
              <a:rPr kumimoji="1" lang="ja-JP" altLang="en-US" smtClean="0"/>
              <a:t>38</a:t>
            </a:fld>
            <a:endParaRPr kumimoji="1" lang="ja-JP" altLang="en-US"/>
          </a:p>
        </p:txBody>
      </p:sp>
    </p:spTree>
    <p:extLst>
      <p:ext uri="{BB962C8B-B14F-4D97-AF65-F5344CB8AC3E}">
        <p14:creationId xmlns:p14="http://schemas.microsoft.com/office/powerpoint/2010/main" val="196693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7C435-93F5-4E8C-C090-91E8563BF24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E8537D-C0DB-930B-739C-4978376E46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A6372D-ACD0-D9F8-A0EC-3BD2E65AC58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F9A59906-86C8-734C-B782-4ED35815C7E3}"/>
              </a:ext>
            </a:extLst>
          </p:cNvPr>
          <p:cNvSpPr>
            <a:spLocks noGrp="1"/>
          </p:cNvSpPr>
          <p:nvPr>
            <p:ph type="sldNum" sz="quarter" idx="5"/>
          </p:nvPr>
        </p:nvSpPr>
        <p:spPr/>
        <p:txBody>
          <a:bodyPr/>
          <a:lstStyle/>
          <a:p>
            <a:fld id="{4368CECF-0771-D84F-8D42-085DB944B0B8}" type="slidenum">
              <a:rPr kumimoji="1" lang="ja-JP" altLang="en-US" smtClean="0"/>
              <a:t>39</a:t>
            </a:fld>
            <a:endParaRPr kumimoji="1" lang="ja-JP" altLang="en-US"/>
          </a:p>
        </p:txBody>
      </p:sp>
    </p:spTree>
    <p:extLst>
      <p:ext uri="{BB962C8B-B14F-4D97-AF65-F5344CB8AC3E}">
        <p14:creationId xmlns:p14="http://schemas.microsoft.com/office/powerpoint/2010/main" val="24111550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F35B-AC06-D0E5-2069-705E0E4FFA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51186-2C79-8F62-0939-B8EF84F20B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070DBA-B8CB-E8F7-C405-16A294B01497}"/>
              </a:ext>
            </a:extLst>
          </p:cNvPr>
          <p:cNvSpPr>
            <a:spLocks noGrp="1"/>
          </p:cNvSpPr>
          <p:nvPr>
            <p:ph type="body" idx="1"/>
          </p:nvPr>
        </p:nvSpPr>
        <p:spPr/>
        <p:txBody>
          <a:bodyPr/>
          <a:lstStyle/>
          <a:p>
            <a:r>
              <a:rPr lang="ja-JP" altLang="en-US"/>
              <a:t>循環の後負荷とされるもののうち、末梢血管トーヌスと大血管スティッフネスが</a:t>
            </a:r>
            <a:r>
              <a:rPr lang="en-US" altLang="ja-JP" dirty="0"/>
              <a:t>PPG</a:t>
            </a:r>
            <a:r>
              <a:rPr lang="ja-JP" altLang="en-US"/>
              <a:t>波形に与える影響の違いをまとめる。</a:t>
            </a:r>
            <a:endParaRPr lang="en-US" altLang="ja-JP" dirty="0"/>
          </a:p>
          <a:p>
            <a:r>
              <a:rPr lang="en-US" dirty="0" err="1"/>
              <a:t>先ほど見たように末梢血管トーヌスは反射波の振幅に影響を与え、大血管スティッフネスは反射波の時相に影響を与える</a:t>
            </a:r>
            <a:endParaRPr lang="en-US" dirty="0"/>
          </a:p>
          <a:p>
            <a:endParaRPr lang="en-US" dirty="0"/>
          </a:p>
          <a:p>
            <a:r>
              <a:rPr dirty="0" err="1"/>
              <a:t>後負荷を「末梢（SVR・血管トーヌス</a:t>
            </a:r>
            <a:r>
              <a:rPr dirty="0"/>
              <a:t>）」</a:t>
            </a:r>
            <a:r>
              <a:rPr dirty="0" err="1"/>
              <a:t>と「大血管（エラスタンス</a:t>
            </a:r>
            <a:r>
              <a:rPr dirty="0"/>
              <a:t>）」</a:t>
            </a:r>
            <a:r>
              <a:rPr dirty="0" err="1"/>
              <a:t>に分け、波形での出方が違うことを示す</a:t>
            </a:r>
            <a:r>
              <a:rPr dirty="0"/>
              <a:t>。</a:t>
            </a:r>
          </a:p>
          <a:p>
            <a:endParaRPr dirty="0"/>
          </a:p>
          <a:p>
            <a:r>
              <a:rPr dirty="0"/>
              <a:t>① </a:t>
            </a:r>
            <a:r>
              <a:rPr dirty="0" err="1"/>
              <a:t>SVR・血管トーヌス</a:t>
            </a:r>
            <a:r>
              <a:rPr dirty="0"/>
              <a:t>↑ → </a:t>
            </a:r>
            <a:r>
              <a:rPr dirty="0" err="1"/>
              <a:t>反射波・切痕が「高く」なる</a:t>
            </a:r>
            <a:r>
              <a:rPr dirty="0"/>
              <a:t>（＝</a:t>
            </a:r>
            <a:r>
              <a:rPr dirty="0" err="1"/>
              <a:t>振幅の軸</a:t>
            </a:r>
            <a:r>
              <a:rPr dirty="0"/>
              <a:t>）</a:t>
            </a:r>
          </a:p>
          <a:p>
            <a:r>
              <a:rPr dirty="0"/>
              <a:t>② </a:t>
            </a:r>
            <a:r>
              <a:rPr dirty="0" err="1"/>
              <a:t>大血管エラスタンス</a:t>
            </a:r>
            <a:r>
              <a:rPr dirty="0"/>
              <a:t>↑ → </a:t>
            </a:r>
            <a:r>
              <a:rPr dirty="0" err="1"/>
              <a:t>反射波が「早く」帰る</a:t>
            </a:r>
            <a:r>
              <a:rPr dirty="0"/>
              <a:t> → </a:t>
            </a:r>
            <a:r>
              <a:rPr dirty="0" err="1"/>
              <a:t>下降脚に変曲点</a:t>
            </a:r>
            <a:r>
              <a:rPr dirty="0"/>
              <a:t>（＝</a:t>
            </a:r>
            <a:r>
              <a:rPr dirty="0" err="1"/>
              <a:t>時相の軸</a:t>
            </a:r>
            <a:r>
              <a:rPr dirty="0"/>
              <a:t>）</a:t>
            </a:r>
          </a:p>
          <a:p>
            <a:endParaRPr dirty="0"/>
          </a:p>
          <a:p>
            <a:r>
              <a:rPr dirty="0" err="1"/>
              <a:t>裏づけ</a:t>
            </a:r>
            <a:endParaRPr dirty="0"/>
          </a:p>
          <a:p>
            <a:r>
              <a:rPr dirty="0"/>
              <a:t>・</a:t>
            </a:r>
            <a:r>
              <a:rPr dirty="0" err="1"/>
              <a:t>Millasseau</a:t>
            </a:r>
            <a:r>
              <a:rPr dirty="0"/>
              <a:t> 2003（Am J </a:t>
            </a:r>
            <a:r>
              <a:rPr dirty="0" err="1"/>
              <a:t>Hypertens</a:t>
            </a:r>
            <a:r>
              <a:rPr dirty="0"/>
              <a:t> 16:467）：</a:t>
            </a:r>
            <a:r>
              <a:rPr dirty="0" err="1"/>
              <a:t>同一被験者で、RI</a:t>
            </a:r>
            <a:r>
              <a:rPr dirty="0"/>
              <a:t> </a:t>
            </a:r>
            <a:r>
              <a:rPr dirty="0" err="1"/>
              <a:t>は</a:t>
            </a:r>
            <a:r>
              <a:rPr dirty="0"/>
              <a:t> AII/GTN </a:t>
            </a:r>
            <a:r>
              <a:rPr dirty="0" err="1"/>
              <a:t>に用量依存性に反応するが</a:t>
            </a:r>
            <a:endParaRPr dirty="0"/>
          </a:p>
          <a:p>
            <a:r>
              <a:rPr dirty="0"/>
              <a:t>　SI </a:t>
            </a:r>
            <a:r>
              <a:rPr dirty="0" err="1"/>
              <a:t>はほとんど動かない。逆に</a:t>
            </a:r>
            <a:r>
              <a:rPr dirty="0"/>
              <a:t> SI </a:t>
            </a:r>
            <a:r>
              <a:rPr dirty="0" err="1"/>
              <a:t>は年齢と強く相関（R</a:t>
            </a:r>
            <a:r>
              <a:rPr dirty="0"/>
              <a:t>=0.63）。＝2つの軸が実測で分離できることの直接証拠。</a:t>
            </a:r>
          </a:p>
          <a:p>
            <a:r>
              <a:rPr dirty="0"/>
              <a:t>・</a:t>
            </a:r>
            <a:r>
              <a:rPr dirty="0" err="1"/>
              <a:t>Millasseau</a:t>
            </a:r>
            <a:r>
              <a:rPr dirty="0"/>
              <a:t> 2002（Clin Sci 103:371）：SI_DVP </a:t>
            </a:r>
            <a:r>
              <a:rPr dirty="0" err="1"/>
              <a:t>が大動脈</a:t>
            </a:r>
            <a:r>
              <a:rPr dirty="0"/>
              <a:t> PWV </a:t>
            </a:r>
            <a:r>
              <a:rPr dirty="0" err="1"/>
              <a:t>と相関し、加齢で</a:t>
            </a:r>
            <a:r>
              <a:rPr dirty="0"/>
              <a:t> ΔT </a:t>
            </a:r>
            <a:r>
              <a:rPr dirty="0" err="1"/>
              <a:t>が短縮（時相の軸</a:t>
            </a:r>
            <a:r>
              <a:rPr dirty="0"/>
              <a:t>）。</a:t>
            </a:r>
          </a:p>
          <a:p>
            <a:r>
              <a:rPr dirty="0"/>
              <a:t>・Dawber 1973（Angiology 24:244）：フラミンガム集団で、切痕の消え方（4分類）が加齢・冠動脈疾患と関連。</a:t>
            </a:r>
          </a:p>
          <a:p>
            <a:r>
              <a:rPr dirty="0"/>
              <a:t>・Cunningham 2023（Circ </a:t>
            </a:r>
            <a:r>
              <a:rPr dirty="0" err="1"/>
              <a:t>Genom</a:t>
            </a:r>
            <a:r>
              <a:rPr dirty="0"/>
              <a:t> Precis Med 16:e003676）：UK Biobank 17万例。切痕の平滑化が</a:t>
            </a:r>
          </a:p>
          <a:p>
            <a:r>
              <a:rPr dirty="0"/>
              <a:t>　</a:t>
            </a:r>
            <a:r>
              <a:rPr dirty="0" err="1"/>
              <a:t>高血圧・心筋梗塞</a:t>
            </a:r>
            <a:r>
              <a:rPr dirty="0"/>
              <a:t>/</a:t>
            </a:r>
            <a:r>
              <a:rPr dirty="0" err="1"/>
              <a:t>CAD・心不全・死亡と関連</a:t>
            </a:r>
            <a:r>
              <a:rPr dirty="0"/>
              <a:t>。②</a:t>
            </a:r>
            <a:r>
              <a:rPr dirty="0" err="1"/>
              <a:t>の軸が長期予後と結びつくことを大規模に示した</a:t>
            </a:r>
            <a:r>
              <a:rPr dirty="0"/>
              <a:t>。</a:t>
            </a:r>
          </a:p>
          <a:p>
            <a:r>
              <a:rPr dirty="0"/>
              <a:t>　→ ①②のうち「時相の軸」は2章（加齢・コホート）で扱った内容と地続きであることを、ここで明示する。</a:t>
            </a:r>
          </a:p>
          <a:p>
            <a:endParaRPr dirty="0"/>
          </a:p>
          <a:p>
            <a:r>
              <a:rPr dirty="0"/>
              <a:t>（Awad 2007 </a:t>
            </a:r>
            <a:r>
              <a:rPr dirty="0" err="1"/>
              <a:t>は引用から外した：SVR</a:t>
            </a:r>
            <a:r>
              <a:rPr dirty="0"/>
              <a:t> </a:t>
            </a:r>
            <a:r>
              <a:rPr dirty="0" err="1"/>
              <a:t>と相関したのは耳のパルス幅であり、反射波の高さ・時相の根拠ではない</a:t>
            </a:r>
            <a:r>
              <a:rPr dirty="0"/>
              <a:t>）</a:t>
            </a:r>
          </a:p>
        </p:txBody>
      </p:sp>
      <p:sp>
        <p:nvSpPr>
          <p:cNvPr id="4" name="スライド番号プレースホルダー 3">
            <a:extLst>
              <a:ext uri="{FF2B5EF4-FFF2-40B4-BE49-F238E27FC236}">
                <a16:creationId xmlns:a16="http://schemas.microsoft.com/office/drawing/2014/main" id="{0047E68D-42E0-3D83-3A48-E688B324C394}"/>
              </a:ext>
            </a:extLst>
          </p:cNvPr>
          <p:cNvSpPr>
            <a:spLocks noGrp="1"/>
          </p:cNvSpPr>
          <p:nvPr>
            <p:ph type="sldNum" sz="quarter" idx="5"/>
          </p:nvPr>
        </p:nvSpPr>
        <p:spPr/>
        <p:txBody>
          <a:bodyPr/>
          <a:lstStyle/>
          <a:p>
            <a:fld id="{4368CECF-0771-D84F-8D42-085DB944B0B8}" type="slidenum">
              <a:rPr kumimoji="1" lang="ja-JP" altLang="en-US" smtClean="0"/>
              <a:t>40</a:t>
            </a:fld>
            <a:endParaRPr kumimoji="1" lang="ja-JP" altLang="en-US"/>
          </a:p>
        </p:txBody>
      </p:sp>
    </p:spTree>
    <p:extLst>
      <p:ext uri="{BB962C8B-B14F-4D97-AF65-F5344CB8AC3E}">
        <p14:creationId xmlns:p14="http://schemas.microsoft.com/office/powerpoint/2010/main" val="12462839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A6E8-6B94-169A-E75A-9D3F5066DF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90D407-CD80-6773-C9E0-01CE3E3AF1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9CE6B6-B69F-FBF1-561A-10471DD8A78E}"/>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7CD2E1E1-E4F5-A0FD-2B4D-81E812B4CF89}"/>
              </a:ext>
            </a:extLst>
          </p:cNvPr>
          <p:cNvSpPr>
            <a:spLocks noGrp="1"/>
          </p:cNvSpPr>
          <p:nvPr>
            <p:ph type="sldNum" sz="quarter" idx="5"/>
          </p:nvPr>
        </p:nvSpPr>
        <p:spPr/>
        <p:txBody>
          <a:bodyPr/>
          <a:lstStyle/>
          <a:p>
            <a:fld id="{4368CECF-0771-D84F-8D42-085DB944B0B8}" type="slidenum">
              <a:rPr kumimoji="1" lang="ja-JP" altLang="en-US" smtClean="0"/>
              <a:t>41</a:t>
            </a:fld>
            <a:endParaRPr kumimoji="1" lang="ja-JP" altLang="en-US"/>
          </a:p>
        </p:txBody>
      </p:sp>
    </p:spTree>
    <p:extLst>
      <p:ext uri="{BB962C8B-B14F-4D97-AF65-F5344CB8AC3E}">
        <p14:creationId xmlns:p14="http://schemas.microsoft.com/office/powerpoint/2010/main" val="1225045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A865-E7F5-FB09-DE00-530F60882C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FC7B-8953-E42C-3D2A-C264EB49E69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B1B5ED-A927-85CF-F76E-39D6306DFF2C}"/>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3507DAF2-1A29-EDFF-EE79-A238B4E3E171}"/>
              </a:ext>
            </a:extLst>
          </p:cNvPr>
          <p:cNvSpPr>
            <a:spLocks noGrp="1"/>
          </p:cNvSpPr>
          <p:nvPr>
            <p:ph type="sldNum" sz="quarter" idx="5"/>
          </p:nvPr>
        </p:nvSpPr>
        <p:spPr/>
        <p:txBody>
          <a:bodyPr/>
          <a:lstStyle/>
          <a:p>
            <a:fld id="{4368CECF-0771-D84F-8D42-085DB944B0B8}" type="slidenum">
              <a:rPr kumimoji="1" lang="ja-JP" altLang="en-US" smtClean="0"/>
              <a:t>42</a:t>
            </a:fld>
            <a:endParaRPr kumimoji="1" lang="ja-JP" altLang="en-US"/>
          </a:p>
        </p:txBody>
      </p:sp>
    </p:spTree>
    <p:extLst>
      <p:ext uri="{BB962C8B-B14F-4D97-AF65-F5344CB8AC3E}">
        <p14:creationId xmlns:p14="http://schemas.microsoft.com/office/powerpoint/2010/main" val="23690541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心拍数が上昇すると左室収縮の時間が短くなるため、前進波の横幅が短くなる。一方血管スティッフネスは影響を受けないため、反射波への影響はない。</a:t>
            </a:r>
          </a:p>
          <a:p>
            <a:r>
              <a:rPr lang="en-US" dirty="0" err="1"/>
              <a:t>前進波との重なりが少なくなる分反射波の振幅が低下して見える</a:t>
            </a:r>
            <a:r>
              <a:rPr lang="en-US" dirty="0"/>
              <a:t>。</a:t>
            </a:r>
          </a:p>
          <a:p>
            <a:endParaRPr lang="en-US" dirty="0"/>
          </a:p>
          <a:p>
            <a:r>
              <a:rPr dirty="0" err="1"/>
              <a:t>図＝Charlton</a:t>
            </a:r>
            <a:r>
              <a:rPr dirty="0"/>
              <a:t> 2019（Am J </a:t>
            </a:r>
            <a:r>
              <a:rPr dirty="0" err="1"/>
              <a:t>Physiol</a:t>
            </a:r>
            <a:r>
              <a:rPr dirty="0"/>
              <a:t> Heart Circ </a:t>
            </a:r>
            <a:r>
              <a:rPr dirty="0" err="1"/>
              <a:t>Physiol</a:t>
            </a:r>
            <a:r>
              <a:rPr dirty="0"/>
              <a:t> 317:H1062）Fig.3B </a:t>
            </a:r>
            <a:r>
              <a:rPr dirty="0" err="1"/>
              <a:t>の橈骨動脈</a:t>
            </a:r>
            <a:r>
              <a:rPr dirty="0"/>
              <a:t> PPG、HR </a:t>
            </a:r>
            <a:r>
              <a:rPr dirty="0" err="1"/>
              <a:t>の行</a:t>
            </a:r>
            <a:r>
              <a:rPr dirty="0"/>
              <a:t>。</a:t>
            </a:r>
          </a:p>
          <a:p>
            <a:r>
              <a:rPr dirty="0" err="1"/>
              <a:t>in-silico（計算モデル）の</a:t>
            </a:r>
            <a:r>
              <a:rPr dirty="0"/>
              <a:t> 25歳仮想被験者で、各パラメータを単独で ±1SD </a:t>
            </a:r>
            <a:r>
              <a:rPr dirty="0" err="1"/>
              <a:t>動かしたときの波形</a:t>
            </a:r>
            <a:r>
              <a:rPr dirty="0"/>
              <a:t>。</a:t>
            </a:r>
          </a:p>
          <a:p>
            <a:r>
              <a:rPr dirty="0" err="1"/>
              <a:t>凡例：青</a:t>
            </a:r>
            <a:r>
              <a:rPr dirty="0"/>
              <a:t>＝+1SD（高心拍）／</a:t>
            </a:r>
            <a:r>
              <a:rPr dirty="0" err="1"/>
              <a:t>黒＝基準／赤</a:t>
            </a:r>
            <a:r>
              <a:rPr dirty="0"/>
              <a:t>＝−1SD（低心拍）。</a:t>
            </a:r>
            <a:r>
              <a:rPr dirty="0" err="1"/>
              <a:t>原著の図凡例に</a:t>
            </a:r>
            <a:endParaRPr dirty="0"/>
          </a:p>
          <a:p>
            <a:r>
              <a:rPr dirty="0"/>
              <a:t>"at baseline (black), and those obtained when increasing (blue) and decreasing (red) each parameter</a:t>
            </a:r>
          </a:p>
          <a:p>
            <a:r>
              <a:rPr dirty="0"/>
              <a:t>independently by 1 SD" </a:t>
            </a:r>
            <a:r>
              <a:rPr dirty="0" err="1"/>
              <a:t>と明記されている</a:t>
            </a:r>
            <a:r>
              <a:rPr dirty="0"/>
              <a:t>。</a:t>
            </a:r>
          </a:p>
          <a:p>
            <a:endParaRPr dirty="0"/>
          </a:p>
          <a:p>
            <a:r>
              <a:rPr dirty="0"/>
              <a:t>図から読めること（2026-08 </a:t>
            </a:r>
            <a:r>
              <a:rPr dirty="0" err="1"/>
              <a:t>に原図で確認・修正</a:t>
            </a:r>
            <a:r>
              <a:rPr dirty="0"/>
              <a:t>）</a:t>
            </a:r>
          </a:p>
          <a:p>
            <a:r>
              <a:rPr dirty="0"/>
              <a:t>・</a:t>
            </a:r>
            <a:r>
              <a:rPr dirty="0" err="1"/>
              <a:t>周期：青が最短</a:t>
            </a:r>
            <a:r>
              <a:rPr dirty="0"/>
              <a:t>（〜0.72 s）、黒〜0.82 </a:t>
            </a:r>
            <a:r>
              <a:rPr dirty="0" err="1"/>
              <a:t>s、赤が最長</a:t>
            </a:r>
            <a:r>
              <a:rPr dirty="0"/>
              <a:t>（〜0.95 s）。＝</a:t>
            </a:r>
            <a:r>
              <a:rPr dirty="0" err="1"/>
              <a:t>青が高心拍で正しい</a:t>
            </a:r>
            <a:r>
              <a:rPr dirty="0"/>
              <a:t>。</a:t>
            </a:r>
          </a:p>
          <a:p>
            <a:r>
              <a:rPr dirty="0"/>
              <a:t>・</a:t>
            </a:r>
            <a:r>
              <a:rPr dirty="0" err="1"/>
              <a:t>拡張期（反射）ピークの相対的な高さ：青＜黒＜赤</a:t>
            </a:r>
            <a:r>
              <a:rPr dirty="0"/>
              <a:t>。</a:t>
            </a:r>
          </a:p>
          <a:p>
            <a:r>
              <a:rPr dirty="0"/>
              <a:t>　＝ HR </a:t>
            </a:r>
            <a:r>
              <a:rPr dirty="0" err="1"/>
              <a:t>が上がるほど、収縮期ピークで正規化した反射波成分は小さくなる（RI・AIx</a:t>
            </a:r>
            <a:r>
              <a:rPr dirty="0"/>
              <a:t> </a:t>
            </a:r>
            <a:r>
              <a:rPr dirty="0" err="1"/>
              <a:t>が下がる向き</a:t>
            </a:r>
            <a:r>
              <a:rPr dirty="0"/>
              <a:t>）。</a:t>
            </a:r>
          </a:p>
          <a:p>
            <a:r>
              <a:rPr dirty="0"/>
              <a:t>・</a:t>
            </a:r>
            <a:r>
              <a:rPr dirty="0" err="1"/>
              <a:t>切痕（谷）の深さ：青がいちばん深く、赤ではほぼ肩（プラト</a:t>
            </a:r>
            <a:r>
              <a:rPr dirty="0"/>
              <a:t>ー）</a:t>
            </a:r>
            <a:r>
              <a:rPr dirty="0" err="1"/>
              <a:t>になる</a:t>
            </a:r>
            <a:r>
              <a:rPr dirty="0"/>
              <a:t>。</a:t>
            </a:r>
          </a:p>
          <a:p>
            <a:r>
              <a:rPr dirty="0"/>
              <a:t>　</a:t>
            </a:r>
            <a:r>
              <a:rPr dirty="0" err="1"/>
              <a:t>高心拍で</a:t>
            </a:r>
            <a:r>
              <a:rPr dirty="0"/>
              <a:t> LVET </a:t>
            </a:r>
            <a:r>
              <a:rPr dirty="0" err="1"/>
              <a:t>が短縮し収縮期波が早く減衰するため、反射波が来る前に波形が下がりきる</a:t>
            </a:r>
            <a:r>
              <a:rPr dirty="0"/>
              <a:t>。</a:t>
            </a:r>
          </a:p>
          <a:p>
            <a:r>
              <a:rPr dirty="0"/>
              <a:t>　→ </a:t>
            </a:r>
            <a:r>
              <a:rPr dirty="0" err="1"/>
              <a:t>以前のノートにあった「高心拍で切痕は浅くなる」は原図と逆だったので訂正した</a:t>
            </a:r>
            <a:r>
              <a:rPr dirty="0"/>
              <a:t>。</a:t>
            </a:r>
          </a:p>
          <a:p>
            <a:endParaRPr dirty="0"/>
          </a:p>
          <a:p>
            <a:r>
              <a:rPr dirty="0" err="1"/>
              <a:t>心拍数が指標に与える影響（実測側</a:t>
            </a:r>
            <a:r>
              <a:rPr dirty="0"/>
              <a:t>）</a:t>
            </a:r>
          </a:p>
          <a:p>
            <a:r>
              <a:rPr dirty="0"/>
              <a:t>・Wilkinson 2000（J </a:t>
            </a:r>
            <a:r>
              <a:rPr dirty="0" err="1"/>
              <a:t>Physiol</a:t>
            </a:r>
            <a:r>
              <a:rPr dirty="0"/>
              <a:t> 525:263）：</a:t>
            </a:r>
            <a:r>
              <a:rPr dirty="0" err="1"/>
              <a:t>ペーシングで</a:t>
            </a:r>
            <a:r>
              <a:rPr dirty="0"/>
              <a:t> HR </a:t>
            </a:r>
            <a:r>
              <a:rPr dirty="0" err="1"/>
              <a:t>を上げると</a:t>
            </a:r>
            <a:r>
              <a:rPr dirty="0"/>
              <a:t> </a:t>
            </a:r>
            <a:r>
              <a:rPr dirty="0" err="1"/>
              <a:t>AIx</a:t>
            </a:r>
            <a:r>
              <a:rPr dirty="0"/>
              <a:t> </a:t>
            </a:r>
            <a:r>
              <a:rPr dirty="0" err="1"/>
              <a:t>はほぼ直線的に低下し</a:t>
            </a:r>
            <a:r>
              <a:rPr dirty="0"/>
              <a:t>、</a:t>
            </a:r>
          </a:p>
          <a:p>
            <a:r>
              <a:rPr dirty="0"/>
              <a:t>　+10 bpm </a:t>
            </a:r>
            <a:r>
              <a:rPr dirty="0" err="1"/>
              <a:t>あたり約</a:t>
            </a:r>
            <a:r>
              <a:rPr dirty="0"/>
              <a:t> −4%。</a:t>
            </a:r>
            <a:r>
              <a:rPr dirty="0" err="1"/>
              <a:t>ただしこれは中心・末梢の「圧」波形での検討</a:t>
            </a:r>
            <a:r>
              <a:rPr dirty="0"/>
              <a:t>。</a:t>
            </a:r>
          </a:p>
          <a:p>
            <a:r>
              <a:rPr dirty="0"/>
              <a:t>・Md Lazim 2020（Int J Environ Res Public Health 17:2591）：</a:t>
            </a:r>
            <a:r>
              <a:rPr dirty="0" err="1"/>
              <a:t>系統的レビュ</a:t>
            </a:r>
            <a:r>
              <a:rPr dirty="0"/>
              <a:t>ー。</a:t>
            </a:r>
            <a:r>
              <a:rPr dirty="0" err="1"/>
              <a:t>SI・RI・SDPPG（b</a:t>
            </a:r>
            <a:r>
              <a:rPr dirty="0"/>
              <a:t>/a, d/a, AGI）</a:t>
            </a:r>
          </a:p>
          <a:p>
            <a:r>
              <a:rPr dirty="0"/>
              <a:t>　</a:t>
            </a:r>
            <a:r>
              <a:rPr dirty="0" err="1"/>
              <a:t>はいずれも</a:t>
            </a:r>
            <a:r>
              <a:rPr dirty="0"/>
              <a:t> HR </a:t>
            </a:r>
            <a:r>
              <a:rPr dirty="0" err="1"/>
              <a:t>と関連し、PPG</a:t>
            </a:r>
            <a:r>
              <a:rPr dirty="0"/>
              <a:t> </a:t>
            </a:r>
            <a:r>
              <a:rPr dirty="0" err="1"/>
              <a:t>指標には</a:t>
            </a:r>
            <a:r>
              <a:rPr dirty="0"/>
              <a:t> HR 補正が必要（AIx@75 </a:t>
            </a:r>
            <a:r>
              <a:rPr dirty="0" err="1"/>
              <a:t>のような扱い</a:t>
            </a:r>
            <a:r>
              <a:rPr dirty="0"/>
              <a:t>）。</a:t>
            </a:r>
          </a:p>
          <a:p>
            <a:r>
              <a:rPr dirty="0"/>
              <a:t>　</a:t>
            </a:r>
            <a:r>
              <a:rPr dirty="0" err="1"/>
              <a:t>ただし本論文は「指標</a:t>
            </a:r>
            <a:r>
              <a:rPr dirty="0"/>
              <a:t> vs </a:t>
            </a:r>
            <a:r>
              <a:rPr dirty="0" err="1"/>
              <a:t>HR」を見ているだけで、波形そのものの形の変化は見ていない</a:t>
            </a:r>
            <a:r>
              <a:rPr dirty="0"/>
              <a:t>。</a:t>
            </a:r>
          </a:p>
          <a:p>
            <a:r>
              <a:rPr dirty="0"/>
              <a:t>・Hashimoto 2002（J </a:t>
            </a:r>
            <a:r>
              <a:rPr dirty="0" err="1"/>
              <a:t>Hypertens</a:t>
            </a:r>
            <a:r>
              <a:rPr dirty="0"/>
              <a:t> 20:2415）：HR </a:t>
            </a:r>
            <a:r>
              <a:rPr dirty="0" err="1"/>
              <a:t>が</a:t>
            </a:r>
            <a:r>
              <a:rPr dirty="0"/>
              <a:t> PWV </a:t>
            </a:r>
            <a:r>
              <a:rPr dirty="0" err="1"/>
              <a:t>とは独立に</a:t>
            </a:r>
            <a:r>
              <a:rPr dirty="0"/>
              <a:t> SDPPG </a:t>
            </a:r>
            <a:r>
              <a:rPr dirty="0" err="1"/>
              <a:t>指標と関連することを示す</a:t>
            </a:r>
            <a:r>
              <a:rPr dirty="0"/>
              <a:t>。</a:t>
            </a:r>
          </a:p>
          <a:p>
            <a:endParaRPr dirty="0"/>
          </a:p>
          <a:p>
            <a:r>
              <a:rPr dirty="0" err="1"/>
              <a:t>注意して話すこと</a:t>
            </a:r>
            <a:endParaRPr dirty="0"/>
          </a:p>
          <a:p>
            <a:r>
              <a:rPr dirty="0"/>
              <a:t>・</a:t>
            </a:r>
            <a:r>
              <a:rPr dirty="0" err="1"/>
              <a:t>波形の直接的な根拠は</a:t>
            </a:r>
            <a:r>
              <a:rPr dirty="0"/>
              <a:t> in-silico モデル1本（Charlton 2019）であり、ヒト指尖 PPG </a:t>
            </a:r>
            <a:r>
              <a:rPr dirty="0" err="1"/>
              <a:t>の実測ではない</a:t>
            </a:r>
            <a:r>
              <a:rPr dirty="0"/>
              <a:t>。</a:t>
            </a:r>
          </a:p>
          <a:p>
            <a:r>
              <a:rPr dirty="0"/>
              <a:t>・</a:t>
            </a:r>
            <a:r>
              <a:rPr dirty="0" err="1"/>
              <a:t>このモデルでは</a:t>
            </a:r>
            <a:r>
              <a:rPr dirty="0"/>
              <a:t> HR </a:t>
            </a:r>
            <a:r>
              <a:rPr dirty="0" err="1"/>
              <a:t>を変えると</a:t>
            </a:r>
            <a:r>
              <a:rPr dirty="0"/>
              <a:t> LVET </a:t>
            </a:r>
            <a:r>
              <a:rPr dirty="0" err="1"/>
              <a:t>も経験式で連動して変わるため</a:t>
            </a:r>
            <a:r>
              <a:rPr dirty="0"/>
              <a:t>、「</a:t>
            </a:r>
            <a:r>
              <a:rPr dirty="0" err="1"/>
              <a:t>純粋な</a:t>
            </a:r>
            <a:r>
              <a:rPr dirty="0"/>
              <a:t> HR </a:t>
            </a:r>
            <a:r>
              <a:rPr dirty="0" err="1"/>
              <a:t>効果」ではない</a:t>
            </a:r>
            <a:r>
              <a:rPr dirty="0"/>
              <a:t>。</a:t>
            </a:r>
          </a:p>
          <a:p>
            <a:r>
              <a:rPr dirty="0"/>
              <a:t>　CO＝HR×SV </a:t>
            </a:r>
            <a:r>
              <a:rPr dirty="0" err="1"/>
              <a:t>の関係を通じた血圧・PWV</a:t>
            </a:r>
            <a:r>
              <a:rPr dirty="0"/>
              <a:t> </a:t>
            </a:r>
            <a:r>
              <a:rPr dirty="0" err="1"/>
              <a:t>の変化も混じりうる</a:t>
            </a:r>
            <a:r>
              <a:rPr dirty="0"/>
              <a:t>。</a:t>
            </a:r>
          </a:p>
          <a:p>
            <a:r>
              <a:rPr dirty="0"/>
              <a:t>・</a:t>
            </a:r>
            <a:r>
              <a:rPr dirty="0" err="1"/>
              <a:t>実務上の結論は変わらない：SI・RI</a:t>
            </a:r>
            <a:r>
              <a:rPr dirty="0"/>
              <a:t> </a:t>
            </a:r>
            <a:r>
              <a:rPr dirty="0" err="1"/>
              <a:t>を経時比較するときは</a:t>
            </a:r>
            <a:r>
              <a:rPr dirty="0"/>
              <a:t> HR </a:t>
            </a:r>
            <a:r>
              <a:rPr dirty="0" err="1"/>
              <a:t>をそろえるか補正する</a:t>
            </a:r>
            <a:r>
              <a:rPr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43</a:t>
            </a:fld>
            <a:endParaRPr kumimoji="1" lang="ja-JP" altLang="en-US"/>
          </a:p>
        </p:txBody>
      </p:sp>
    </p:spTree>
    <p:extLst>
      <p:ext uri="{BB962C8B-B14F-4D97-AF65-F5344CB8AC3E}">
        <p14:creationId xmlns:p14="http://schemas.microsoft.com/office/powerpoint/2010/main" val="31899290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今までPPG波形に影響を与える因子とどのような影響があるかを見てきました</a:t>
            </a:r>
            <a:r>
              <a:rPr lang="en-US" dirty="0"/>
              <a:t>。</a:t>
            </a:r>
          </a:p>
          <a:p>
            <a:r>
              <a:rPr lang="en-US" dirty="0" err="1"/>
              <a:t>まとめですが、前負荷は振幅に影響します</a:t>
            </a:r>
            <a:r>
              <a:rPr lang="en-US" dirty="0"/>
              <a:t>。</a:t>
            </a:r>
          </a:p>
          <a:p>
            <a:r>
              <a:rPr lang="en-US" dirty="0" err="1"/>
              <a:t>大血管スティッフネスは反射波の時相に反射波の時相に影響します</a:t>
            </a:r>
            <a:r>
              <a:rPr lang="en-US" dirty="0"/>
              <a:t>。</a:t>
            </a:r>
          </a:p>
          <a:p>
            <a:r>
              <a:rPr lang="en-US" dirty="0" err="1"/>
              <a:t>末梢血管トーヌスは反射波の振幅に影響します</a:t>
            </a:r>
            <a:r>
              <a:rPr lang="en-US" dirty="0"/>
              <a:t>。</a:t>
            </a:r>
          </a:p>
          <a:p>
            <a:r>
              <a:rPr lang="en-US" dirty="0" err="1"/>
              <a:t>心収縮力は前進波の勾配に影響します</a:t>
            </a:r>
            <a:r>
              <a:rPr lang="en-US" dirty="0"/>
              <a:t>。</a:t>
            </a:r>
          </a:p>
          <a:p>
            <a:r>
              <a:rPr lang="en-US" dirty="0" err="1"/>
              <a:t>心拍数は前進波の横幅と反射波の振幅に影響します</a:t>
            </a:r>
            <a:r>
              <a:rPr lang="en-US" dirty="0"/>
              <a:t>。</a:t>
            </a:r>
          </a:p>
          <a:p>
            <a:endParaRPr lang="en-US" dirty="0"/>
          </a:p>
          <a:p>
            <a:r>
              <a:rPr lang="en-US" dirty="0" err="1"/>
              <a:t>特に後負荷に関する研究が進んでいる</a:t>
            </a:r>
            <a:r>
              <a:rPr lang="en-US" dirty="0"/>
              <a:t>。</a:t>
            </a:r>
          </a:p>
          <a:p>
            <a:endParaRPr lang="en-US" dirty="0"/>
          </a:p>
          <a:p>
            <a:endParaRPr lang="en-US" dirty="0"/>
          </a:p>
          <a:p>
            <a:endParaRPr lang="en-US" dirty="0"/>
          </a:p>
          <a:p>
            <a:r>
              <a:rPr dirty="0"/>
              <a:t>3章（循環因子）のまとめ。1枚で「どの因子が波形のどこを動かすか」を一覧する。</a:t>
            </a:r>
          </a:p>
          <a:p>
            <a:endParaRPr dirty="0"/>
          </a:p>
          <a:p>
            <a:r>
              <a:rPr dirty="0" err="1"/>
              <a:t>波形は模式図（ガウス成分の重ね合わせ）で、灰＝基準、青＝当該因子が上がったとき</a:t>
            </a:r>
            <a:r>
              <a:rPr dirty="0"/>
              <a:t>。</a:t>
            </a:r>
          </a:p>
          <a:p>
            <a:r>
              <a:rPr dirty="0" err="1"/>
              <a:t>振幅・時相の変化方向は各原著の記載と一致させてあるが、実測波形そのものではない</a:t>
            </a:r>
            <a:r>
              <a:rPr dirty="0"/>
              <a:t>。</a:t>
            </a:r>
          </a:p>
          <a:p>
            <a:endParaRPr dirty="0"/>
          </a:p>
          <a:p>
            <a:r>
              <a:rPr dirty="0" err="1"/>
              <a:t>各行の根拠</a:t>
            </a:r>
            <a:endParaRPr dirty="0"/>
          </a:p>
          <a:p>
            <a:r>
              <a:rPr dirty="0"/>
              <a:t>・</a:t>
            </a:r>
            <a:r>
              <a:rPr dirty="0" err="1"/>
              <a:t>前負荷</a:t>
            </a:r>
            <a:r>
              <a:rPr dirty="0"/>
              <a:t> ↑ → </a:t>
            </a:r>
            <a:r>
              <a:rPr dirty="0" err="1"/>
              <a:t>全体の振幅が増大</a:t>
            </a:r>
            <a:endParaRPr dirty="0"/>
          </a:p>
          <a:p>
            <a:r>
              <a:rPr dirty="0"/>
              <a:t>　Alian 2011（LBNP </a:t>
            </a:r>
            <a:r>
              <a:rPr dirty="0" err="1"/>
              <a:t>による中心血液量減少で指尖PPGの高さ・面積・傾きが低下</a:t>
            </a:r>
            <a:r>
              <a:rPr dirty="0"/>
              <a:t>）、</a:t>
            </a:r>
          </a:p>
          <a:p>
            <a:r>
              <a:rPr dirty="0"/>
              <a:t>　</a:t>
            </a:r>
            <a:r>
              <a:rPr dirty="0" err="1"/>
              <a:t>Cannesson</a:t>
            </a:r>
            <a:r>
              <a:rPr dirty="0"/>
              <a:t> 2005（呼吸性振幅変動と脈圧変動の対応）。＝</a:t>
            </a:r>
            <a:r>
              <a:rPr dirty="0" err="1"/>
              <a:t>実測</a:t>
            </a:r>
            <a:r>
              <a:rPr dirty="0"/>
              <a:t>。</a:t>
            </a:r>
          </a:p>
          <a:p>
            <a:r>
              <a:rPr dirty="0"/>
              <a:t>・</a:t>
            </a:r>
            <a:r>
              <a:rPr dirty="0" err="1"/>
              <a:t>大血管の硬さ</a:t>
            </a:r>
            <a:r>
              <a:rPr dirty="0"/>
              <a:t> ↑ → </a:t>
            </a:r>
            <a:r>
              <a:rPr dirty="0" err="1"/>
              <a:t>反射波が早く戻り、収縮期ピークへ融合して一峰性化</a:t>
            </a:r>
            <a:endParaRPr dirty="0"/>
          </a:p>
          <a:p>
            <a:r>
              <a:rPr dirty="0"/>
              <a:t>　</a:t>
            </a:r>
            <a:r>
              <a:rPr dirty="0" err="1"/>
              <a:t>Millasseau</a:t>
            </a:r>
            <a:r>
              <a:rPr dirty="0"/>
              <a:t> 2002（加齢で ΔT </a:t>
            </a:r>
            <a:r>
              <a:rPr dirty="0" err="1"/>
              <a:t>短縮・SI</a:t>
            </a:r>
            <a:r>
              <a:rPr dirty="0"/>
              <a:t> </a:t>
            </a:r>
            <a:r>
              <a:rPr dirty="0" err="1"/>
              <a:t>上昇</a:t>
            </a:r>
            <a:r>
              <a:rPr dirty="0"/>
              <a:t>）、Charlton 2019（in-silico）。＝</a:t>
            </a:r>
            <a:r>
              <a:rPr dirty="0" err="1"/>
              <a:t>実測＋モデル</a:t>
            </a:r>
            <a:r>
              <a:rPr dirty="0"/>
              <a:t>。</a:t>
            </a:r>
          </a:p>
          <a:p>
            <a:r>
              <a:rPr dirty="0"/>
              <a:t>・</a:t>
            </a:r>
            <a:r>
              <a:rPr dirty="0" err="1"/>
              <a:t>末梢トーヌス</a:t>
            </a:r>
            <a:r>
              <a:rPr dirty="0"/>
              <a:t> ↑ → </a:t>
            </a:r>
            <a:r>
              <a:rPr dirty="0" err="1"/>
              <a:t>反射波・切痕が高くなる（RI</a:t>
            </a:r>
            <a:r>
              <a:rPr dirty="0"/>
              <a:t> </a:t>
            </a:r>
            <a:r>
              <a:rPr dirty="0" err="1"/>
              <a:t>上昇</a:t>
            </a:r>
            <a:r>
              <a:rPr dirty="0"/>
              <a:t>）</a:t>
            </a:r>
          </a:p>
          <a:p>
            <a:r>
              <a:rPr dirty="0"/>
              <a:t>　</a:t>
            </a:r>
            <a:r>
              <a:rPr dirty="0" err="1"/>
              <a:t>Chowienczyk</a:t>
            </a:r>
            <a:r>
              <a:rPr dirty="0"/>
              <a:t> 1999（β2刺激薬で RI −11.8%、</a:t>
            </a:r>
            <a:r>
              <a:rPr dirty="0" err="1"/>
              <a:t>ニトログリセリンで</a:t>
            </a:r>
            <a:r>
              <a:rPr dirty="0"/>
              <a:t> −18.3%）、</a:t>
            </a:r>
            <a:r>
              <a:rPr dirty="0" err="1"/>
              <a:t>Takazawa</a:t>
            </a:r>
            <a:r>
              <a:rPr dirty="0"/>
              <a:t> 1998。＝</a:t>
            </a:r>
            <a:r>
              <a:rPr dirty="0" err="1"/>
              <a:t>実測</a:t>
            </a:r>
            <a:r>
              <a:rPr dirty="0"/>
              <a:t>。</a:t>
            </a:r>
          </a:p>
          <a:p>
            <a:r>
              <a:rPr dirty="0"/>
              <a:t>・</a:t>
            </a:r>
            <a:r>
              <a:rPr dirty="0" err="1"/>
              <a:t>心収縮力</a:t>
            </a:r>
            <a:r>
              <a:rPr dirty="0"/>
              <a:t> ↑ → </a:t>
            </a:r>
            <a:r>
              <a:rPr dirty="0" err="1"/>
              <a:t>立ち上がりが鋭く・速くなる（収縮期ピークが早く尖鋭化</a:t>
            </a:r>
            <a:r>
              <a:rPr dirty="0"/>
              <a:t>）</a:t>
            </a:r>
          </a:p>
          <a:p>
            <a:r>
              <a:rPr dirty="0"/>
              <a:t>　</a:t>
            </a:r>
            <a:r>
              <a:rPr dirty="0" err="1"/>
              <a:t>Pagoulatou</a:t>
            </a:r>
            <a:r>
              <a:rPr dirty="0"/>
              <a:t> 2021・Piccioli 2022 </a:t>
            </a:r>
            <a:r>
              <a:rPr dirty="0" err="1"/>
              <a:t>はいずれも動脈圧波形のモデル研究であり、指尖PPG</a:t>
            </a:r>
            <a:r>
              <a:rPr dirty="0"/>
              <a:t> </a:t>
            </a:r>
            <a:r>
              <a:rPr dirty="0" err="1"/>
              <a:t>の実測ではない</a:t>
            </a:r>
            <a:r>
              <a:rPr dirty="0"/>
              <a:t>。</a:t>
            </a:r>
          </a:p>
          <a:p>
            <a:r>
              <a:rPr dirty="0"/>
              <a:t>　＝</a:t>
            </a:r>
            <a:r>
              <a:rPr dirty="0" err="1"/>
              <a:t>外挿。断定しないこと</a:t>
            </a:r>
            <a:r>
              <a:rPr dirty="0"/>
              <a:t>。</a:t>
            </a:r>
          </a:p>
          <a:p>
            <a:r>
              <a:rPr dirty="0"/>
              <a:t>・</a:t>
            </a:r>
            <a:r>
              <a:rPr dirty="0" err="1"/>
              <a:t>心拍数</a:t>
            </a:r>
            <a:r>
              <a:rPr dirty="0"/>
              <a:t> ↑ → </a:t>
            </a:r>
            <a:r>
              <a:rPr dirty="0" err="1"/>
              <a:t>周期が短縮し、収縮期ピークで正規化した反射波成分が相対的に低下</a:t>
            </a:r>
            <a:endParaRPr dirty="0"/>
          </a:p>
          <a:p>
            <a:r>
              <a:rPr dirty="0"/>
              <a:t>　Charlton 2019 </a:t>
            </a:r>
            <a:r>
              <a:rPr dirty="0" err="1"/>
              <a:t>の</a:t>
            </a:r>
            <a:r>
              <a:rPr dirty="0"/>
              <a:t> in-silico 25歳仮想被験者で各パラメータを ±1SD </a:t>
            </a:r>
            <a:r>
              <a:rPr dirty="0" err="1"/>
              <a:t>動かした波形が根拠</a:t>
            </a:r>
            <a:r>
              <a:rPr dirty="0"/>
              <a:t>。＝</a:t>
            </a:r>
            <a:r>
              <a:rPr dirty="0" err="1"/>
              <a:t>モデル</a:t>
            </a:r>
            <a:r>
              <a:rPr dirty="0"/>
              <a:t>。</a:t>
            </a:r>
          </a:p>
          <a:p>
            <a:r>
              <a:rPr dirty="0"/>
              <a:t>　</a:t>
            </a:r>
            <a:r>
              <a:rPr dirty="0" err="1"/>
              <a:t>実測側にあるのは「指標</a:t>
            </a:r>
            <a:r>
              <a:rPr dirty="0"/>
              <a:t> vs </a:t>
            </a:r>
            <a:r>
              <a:rPr dirty="0" err="1"/>
              <a:t>心拍数」の関連（Wilkinson</a:t>
            </a:r>
            <a:r>
              <a:rPr dirty="0"/>
              <a:t> 2000 </a:t>
            </a:r>
            <a:r>
              <a:rPr dirty="0" err="1"/>
              <a:t>の</a:t>
            </a:r>
            <a:r>
              <a:rPr dirty="0"/>
              <a:t> </a:t>
            </a:r>
            <a:r>
              <a:rPr dirty="0" err="1"/>
              <a:t>AIx、Md</a:t>
            </a:r>
            <a:r>
              <a:rPr dirty="0"/>
              <a:t> Lazim 2020）であって、</a:t>
            </a:r>
          </a:p>
          <a:p>
            <a:r>
              <a:rPr dirty="0"/>
              <a:t>　</a:t>
            </a:r>
            <a:r>
              <a:rPr dirty="0" err="1"/>
              <a:t>波形の形そのものの実測ではない</a:t>
            </a:r>
            <a:r>
              <a:rPr dirty="0"/>
              <a:t>。</a:t>
            </a:r>
          </a:p>
          <a:p>
            <a:endParaRPr dirty="0"/>
          </a:p>
          <a:p>
            <a:r>
              <a:rPr dirty="0" err="1"/>
              <a:t>話し方</a:t>
            </a:r>
            <a:endParaRPr dirty="0"/>
          </a:p>
          <a:p>
            <a:r>
              <a:rPr dirty="0"/>
              <a:t>・3.6（文献強度）と対になるスライド。3.6 </a:t>
            </a:r>
            <a:r>
              <a:rPr dirty="0" err="1"/>
              <a:t>で「どこまで言えるか」を示し、ここで「何が起きるか」を</a:t>
            </a:r>
            <a:endParaRPr dirty="0"/>
          </a:p>
          <a:p>
            <a:r>
              <a:rPr dirty="0"/>
              <a:t>　</a:t>
            </a:r>
            <a:r>
              <a:rPr dirty="0" err="1"/>
              <a:t>一覧する。バッジの色は</a:t>
            </a:r>
            <a:r>
              <a:rPr dirty="0"/>
              <a:t> 3.6 </a:t>
            </a:r>
            <a:r>
              <a:rPr dirty="0" err="1"/>
              <a:t>と同じ意味（緑＝実測／金＝実測+モデル／橙＝モデル／赤＝外挿</a:t>
            </a:r>
            <a:r>
              <a:rPr dirty="0"/>
              <a:t>）。</a:t>
            </a:r>
          </a:p>
          <a:p>
            <a:r>
              <a:rPr dirty="0"/>
              <a:t>・</a:t>
            </a:r>
            <a:r>
              <a:rPr dirty="0" err="1"/>
              <a:t>因子は単独では動かない（前負荷が下がれば反射的に心拍数もトーヌスも動く）ので</a:t>
            </a:r>
            <a:r>
              <a:rPr dirty="0"/>
              <a:t>、</a:t>
            </a:r>
          </a:p>
          <a:p>
            <a:r>
              <a:rPr dirty="0"/>
              <a:t>　</a:t>
            </a:r>
            <a:r>
              <a:rPr dirty="0" err="1"/>
              <a:t>実際の波形は複数因子の合成であることを必ず添える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麻酔薬</a:t>
            </a:r>
            <a:r>
              <a:rPr kumimoji="1" lang="en-US" altLang="ja-JP" dirty="0"/>
              <a:t>【</a:t>
            </a:r>
            <a:r>
              <a:rPr kumimoji="1" lang="ja-JP" altLang="en-US"/>
              <a:t>イソフルラン</a:t>
            </a:r>
            <a:r>
              <a:rPr kumimoji="1" lang="en-US" altLang="ja-JP" dirty="0"/>
              <a:t>】</a:t>
            </a:r>
            <a:r>
              <a:rPr kumimoji="1" lang="ja-JP" altLang="en-US"/>
              <a:t>による血管拡張</a:t>
            </a:r>
            <a:endParaRPr kumimoji="1" lang="en-US" altLang="ja-JP" dirty="0"/>
          </a:p>
          <a:p>
            <a:endParaRPr kumimoji="1" lang="en-US" altLang="ja-JP" dirty="0"/>
          </a:p>
          <a:p>
            <a:r>
              <a:rPr kumimoji="1" lang="ja-JP" altLang="en-US"/>
              <a:t>古い総説文献で、イソフルラン麻酔の際の麻酔中の</a:t>
            </a:r>
            <a:r>
              <a:rPr kumimoji="1" lang="en-US" altLang="ja-JP" dirty="0"/>
              <a:t>PPG</a:t>
            </a:r>
            <a:r>
              <a:rPr kumimoji="1" lang="ja-JP" altLang="en-US"/>
              <a:t>波形観察の結果をまとめています。</a:t>
            </a:r>
            <a:endParaRPr kumimoji="1" lang="en-US" altLang="ja-JP" dirty="0"/>
          </a:p>
          <a:p>
            <a:r>
              <a:rPr kumimoji="1" lang="ja-JP" altLang="en-US"/>
              <a:t>浅麻酔状態や心麻酔状態の変化を記述しており、数値的な検証ではなく、切痕を対象としていますが、実際にこのような波形変化をすることが多いと思います。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a:t>
            </a:r>
            <a:r>
              <a:rPr kumimoji="1" lang="en-US" altLang="ja-JP" sz="1200" kern="1200" dirty="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切痕がベースライン上にあると、これら薬はそれ以上血圧を下げず回復を遅らせるだけ</a:t>
            </a:r>
            <a:r>
              <a:rPr lang="ja-JP" altLang="ja-JP">
                <a:effectLst/>
              </a:rPr>
              <a:t> </a:t>
            </a: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46</a:t>
            </a:fld>
            <a:endParaRPr kumimoji="1" lang="ja-JP" altLang="en-US"/>
          </a:p>
        </p:txBody>
      </p:sp>
    </p:spTree>
    <p:extLst>
      <p:ext uri="{BB962C8B-B14F-4D97-AF65-F5344CB8AC3E}">
        <p14:creationId xmlns:p14="http://schemas.microsoft.com/office/powerpoint/2010/main" val="42232436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1CB0-CE00-1CA1-E7F7-7EEDB009DC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32D14D-20B6-BBF4-A9E2-BD253587BB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7221BC-444F-B749-73D8-7FAB73FB3F5E}"/>
              </a:ext>
            </a:extLst>
          </p:cNvPr>
          <p:cNvSpPr>
            <a:spLocks noGrp="1"/>
          </p:cNvSpPr>
          <p:nvPr>
            <p:ph type="body" idx="1"/>
          </p:nvPr>
        </p:nvSpPr>
        <p:spPr/>
        <p:txBody>
          <a:bodyPr/>
          <a:lstStyle/>
          <a:p>
            <a:pPr>
              <a:lnSpc>
                <a:spcPct val="110000"/>
              </a:lnSpc>
            </a:pPr>
            <a:r>
              <a:rPr kumimoji="1" lang="ja-JP" altLang="en-US"/>
              <a:t>続いて</a:t>
            </a:r>
            <a:r>
              <a:rPr lang="en-US" altLang="ja-JP" sz="1200" b="1" dirty="0">
                <a:latin typeface="Meiryo"/>
                <a:ea typeface="Meiryo"/>
                <a:cs typeface="Meiryo"/>
              </a:rPr>
              <a:t>CABG15</a:t>
            </a:r>
            <a:r>
              <a:rPr lang="ja-JP" altLang="en-US" sz="1200" b="1">
                <a:latin typeface="Meiryo"/>
                <a:ea typeface="Meiryo"/>
                <a:cs typeface="Meiryo"/>
              </a:rPr>
              <a:t>症例で</a:t>
            </a:r>
            <a:r>
              <a:rPr lang="en-US" altLang="ja-JP" sz="1200" b="1" dirty="0">
                <a:latin typeface="Meiryo"/>
                <a:ea typeface="Meiryo"/>
                <a:cs typeface="Meiryo"/>
              </a:rPr>
              <a:t> PPG</a:t>
            </a:r>
            <a:r>
              <a:rPr lang="ja-JP" altLang="en-US" sz="1200" b="1">
                <a:latin typeface="Meiryo"/>
                <a:ea typeface="Meiryo"/>
                <a:cs typeface="Meiryo"/>
              </a:rPr>
              <a:t>波形</a:t>
            </a:r>
            <a:r>
              <a:rPr lang="en-US" altLang="ja-JP" sz="1200" b="1" dirty="0">
                <a:latin typeface="Meiryo"/>
                <a:ea typeface="Meiryo"/>
                <a:cs typeface="Meiryo"/>
              </a:rPr>
              <a:t> </a:t>
            </a:r>
            <a:r>
              <a:rPr lang="ja-JP" altLang="en-US" sz="1200" b="1">
                <a:latin typeface="Meiryo"/>
                <a:ea typeface="Meiryo"/>
                <a:cs typeface="Meiryo"/>
              </a:rPr>
              <a:t>を目視で</a:t>
            </a:r>
            <a:r>
              <a:rPr lang="en-US" altLang="ja-JP" sz="1200" b="1" dirty="0">
                <a:latin typeface="Meiryo"/>
                <a:ea typeface="Meiryo"/>
                <a:cs typeface="Meiryo"/>
              </a:rPr>
              <a:t> </a:t>
            </a:r>
            <a:r>
              <a:rPr lang="ja-JP" altLang="en-US" sz="1200" b="1">
                <a:latin typeface="Meiryo"/>
                <a:ea typeface="Meiryo"/>
                <a:cs typeface="Meiryo"/>
              </a:rPr>
              <a:t>切痕位置</a:t>
            </a:r>
            <a:r>
              <a:rPr lang="en-US" altLang="ja-JP" sz="1200" b="1" dirty="0">
                <a:latin typeface="Meiryo"/>
                <a:ea typeface="Meiryo"/>
                <a:cs typeface="Meiryo"/>
              </a:rPr>
              <a:t>× </a:t>
            </a:r>
            <a:r>
              <a:rPr lang="ja-JP" altLang="en-US" sz="1200" b="1">
                <a:latin typeface="Meiryo"/>
                <a:ea typeface="Meiryo"/>
                <a:cs typeface="Meiryo"/>
              </a:rPr>
              <a:t>振幅 で</a:t>
            </a:r>
            <a:r>
              <a:rPr lang="en-US" altLang="ja-JP" sz="1200" b="1" dirty="0">
                <a:latin typeface="Meiryo"/>
                <a:ea typeface="Meiryo"/>
                <a:cs typeface="Meiryo"/>
              </a:rPr>
              <a:t>6</a:t>
            </a:r>
            <a:r>
              <a:rPr lang="ja-JP" altLang="en-US" sz="1200" b="1">
                <a:latin typeface="Meiryo"/>
                <a:ea typeface="Meiryo"/>
                <a:cs typeface="Meiryo"/>
              </a:rPr>
              <a:t>つに分類。　</a:t>
            </a:r>
            <a:endParaRPr lang="en-US" altLang="ja-JP" sz="1200" b="1" dirty="0">
              <a:latin typeface="Meiryo"/>
              <a:ea typeface="Meiryo"/>
              <a:cs typeface="Meiryo"/>
            </a:endParaRPr>
          </a:p>
          <a:p>
            <a:pPr>
              <a:lnSpc>
                <a:spcPct val="110000"/>
              </a:lnSpc>
            </a:pPr>
            <a:r>
              <a:rPr lang="ja-JP" altLang="en-US" sz="1200" b="1">
                <a:latin typeface="Meiryo"/>
                <a:ea typeface="Meiryo"/>
                <a:cs typeface="Meiryo"/>
              </a:rPr>
              <a:t>この分類が血圧変化や循環パラメータと関連があるか調べた。</a:t>
            </a:r>
            <a:endParaRPr lang="en-US" altLang="ja-JP" sz="1200" b="1" dirty="0">
              <a:latin typeface="Meiryo"/>
              <a:ea typeface="Meiryo"/>
              <a:cs typeface="Meiryo"/>
            </a:endParaRPr>
          </a:p>
          <a:p>
            <a:pPr>
              <a:lnSpc>
                <a:spcPct val="110000"/>
              </a:lnSpc>
            </a:pPr>
            <a:endParaRPr kumimoji="1" lang="en-US" altLang="ja-JP" sz="1200" b="1" dirty="0">
              <a:latin typeface="Meiryo"/>
              <a:ea typeface="Meiryo"/>
            </a:endParaRPr>
          </a:p>
          <a:p>
            <a:pPr>
              <a:lnSpc>
                <a:spcPct val="110000"/>
              </a:lnSpc>
            </a:pPr>
            <a:endParaRPr kumimoji="1" lang="ja-JP" altLang="en-US" sz="1200" b="1"/>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a:solidFill>
                  <a:srgbClr val="8C8C8C"/>
                </a:solidFill>
                <a:latin typeface="Meiryo"/>
                <a:ea typeface="Meiryo"/>
                <a:cs typeface="Meiryo"/>
              </a:rPr>
              <a:t>切痕位置（</a:t>
            </a:r>
            <a:r>
              <a:rPr lang="en" altLang="ja-JP" sz="1200" b="0" dirty="0">
                <a:solidFill>
                  <a:srgbClr val="8C8C8C"/>
                </a:solidFill>
                <a:latin typeface="Meiryo"/>
                <a:ea typeface="Meiryo"/>
                <a:cs typeface="Meiryo"/>
              </a:rPr>
              <a:t>I:</a:t>
            </a:r>
            <a:r>
              <a:rPr lang="ja-JP" altLang="en-US" sz="1200" b="0">
                <a:solidFill>
                  <a:srgbClr val="8C8C8C"/>
                </a:solidFill>
                <a:latin typeface="Meiryo"/>
                <a:ea typeface="Meiryo"/>
                <a:cs typeface="Meiryo"/>
              </a:rPr>
              <a:t>収縮期ピークに融合 → </a:t>
            </a:r>
            <a:r>
              <a:rPr lang="en" altLang="ja-JP" sz="1200" b="0" dirty="0">
                <a:solidFill>
                  <a:srgbClr val="8C8C8C"/>
                </a:solidFill>
                <a:latin typeface="Meiryo"/>
                <a:ea typeface="Meiryo"/>
                <a:cs typeface="Meiryo"/>
              </a:rPr>
              <a:t>VI:</a:t>
            </a:r>
            <a:r>
              <a:rPr lang="ja-JP" altLang="en-US" sz="1200" b="0">
                <a:solidFill>
                  <a:srgbClr val="8C8C8C"/>
                </a:solidFill>
                <a:latin typeface="Meiryo"/>
                <a:ea typeface="Meiryo"/>
                <a:cs typeface="Meiryo"/>
              </a:rPr>
              <a:t>陰性）</a:t>
            </a:r>
            <a:r>
              <a:rPr lang="en-US" altLang="ja-JP" sz="1200" b="0" dirty="0">
                <a:solidFill>
                  <a:srgbClr val="8C8C8C"/>
                </a:solidFill>
                <a:latin typeface="Meiryo"/>
                <a:ea typeface="Meiryo"/>
                <a:cs typeface="Meiryo"/>
              </a:rPr>
              <a:t>× </a:t>
            </a:r>
            <a:r>
              <a:rPr lang="ja-JP" altLang="en-US" sz="1200" b="0">
                <a:solidFill>
                  <a:srgbClr val="8C8C8C"/>
                </a:solidFill>
                <a:latin typeface="Meiryo"/>
                <a:ea typeface="Meiryo"/>
                <a:cs typeface="Meiryo"/>
              </a:rPr>
              <a:t>振幅 で</a:t>
            </a:r>
            <a:r>
              <a:rPr lang="en-US" altLang="ja-JP" sz="1200" b="0" dirty="0">
                <a:solidFill>
                  <a:srgbClr val="8C8C8C"/>
                </a:solidFill>
                <a:latin typeface="Meiryo"/>
                <a:ea typeface="Meiryo"/>
                <a:cs typeface="Meiryo"/>
              </a:rPr>
              <a:t>6</a:t>
            </a:r>
            <a:r>
              <a:rPr lang="ja-JP" altLang="en-US" sz="1200" b="0">
                <a:solidFill>
                  <a:srgbClr val="8C8C8C"/>
                </a:solidFill>
                <a:latin typeface="Meiryo"/>
                <a:ea typeface="Meiryo"/>
                <a:cs typeface="Meiryo"/>
              </a:rPr>
              <a:t>分類。</a:t>
            </a:r>
            <a:r>
              <a:rPr lang="en" altLang="ja-JP" sz="1200" b="0" dirty="0">
                <a:solidFill>
                  <a:srgbClr val="8C8C8C"/>
                </a:solidFill>
                <a:latin typeface="Meiryo"/>
                <a:ea typeface="Meiryo"/>
                <a:cs typeface="Meiryo"/>
              </a:rPr>
              <a:t>SBP</a:t>
            </a:r>
            <a:r>
              <a:rPr lang="ja-JP" altLang="en" sz="1200" b="0">
                <a:solidFill>
                  <a:srgbClr val="8C8C8C"/>
                </a:solidFill>
                <a:latin typeface="Meiryo"/>
                <a:ea typeface="Meiryo"/>
                <a:cs typeface="Meiryo"/>
              </a:rPr>
              <a:t>・</a:t>
            </a:r>
            <a:r>
              <a:rPr lang="en" altLang="ja-JP" sz="1200" b="0" dirty="0">
                <a:solidFill>
                  <a:srgbClr val="8C8C8C"/>
                </a:solidFill>
                <a:latin typeface="Meiryo"/>
                <a:ea typeface="Meiryo"/>
                <a:cs typeface="Meiryo"/>
              </a:rPr>
              <a:t>SVR</a:t>
            </a:r>
            <a:r>
              <a:rPr lang="ja-JP" altLang="en" sz="1200" b="0">
                <a:solidFill>
                  <a:srgbClr val="8C8C8C"/>
                </a:solidFill>
                <a:latin typeface="Meiryo"/>
                <a:ea typeface="Meiryo"/>
                <a:cs typeface="Meiryo"/>
              </a:rPr>
              <a:t>・</a:t>
            </a:r>
            <a:r>
              <a:rPr lang="ja-JP" altLang="en-US" sz="1200" b="0">
                <a:solidFill>
                  <a:srgbClr val="8C8C8C"/>
                </a:solidFill>
                <a:latin typeface="Meiryo"/>
                <a:ea typeface="Meiryo"/>
                <a:cs typeface="Meiryo"/>
              </a:rPr>
              <a:t>コンプライアンスと相関 </a:t>
            </a:r>
            <a:r>
              <a:rPr lang="en-US" altLang="ja-JP" sz="1200" b="0" dirty="0">
                <a:solidFill>
                  <a:srgbClr val="8C8C8C"/>
                </a:solidFill>
                <a:latin typeface="Meiryo"/>
                <a:ea typeface="Meiryo"/>
                <a:cs typeface="Meiryo"/>
              </a:rPr>
              <a:t>(</a:t>
            </a:r>
            <a:r>
              <a:rPr lang="en" altLang="ja-JP" sz="1200" b="0" dirty="0" err="1">
                <a:solidFill>
                  <a:srgbClr val="8C8C8C"/>
                </a:solidFill>
                <a:latin typeface="Meiryo"/>
                <a:ea typeface="Meiryo"/>
                <a:cs typeface="Meiryo"/>
              </a:rPr>
              <a:t>Tusman</a:t>
            </a:r>
            <a:r>
              <a:rPr lang="en" altLang="ja-JP" sz="1200" b="0" dirty="0">
                <a:solidFill>
                  <a:srgbClr val="8C8C8C"/>
                </a:solidFill>
                <a:latin typeface="Meiryo"/>
                <a:ea typeface="Meiryo"/>
                <a:cs typeface="Meiryo"/>
              </a:rPr>
              <a:t> 2019)</a:t>
            </a:r>
          </a:p>
          <a:p>
            <a:r>
              <a:rPr kumimoji="1" lang="en-US" altLang="ja-JP" dirty="0"/>
              <a:t>CABG</a:t>
            </a:r>
            <a:r>
              <a:rPr kumimoji="1" lang="ja-JP" altLang="en-US"/>
              <a:t>症例で胸骨切開前</a:t>
            </a:r>
            <a:r>
              <a:rPr kumimoji="1" lang="en-US" altLang="ja-JP" dirty="0"/>
              <a:t>45</a:t>
            </a:r>
            <a:r>
              <a:rPr kumimoji="1" lang="ja-JP" altLang="en-US"/>
              <a:t>分までと閉胸後</a:t>
            </a:r>
            <a:r>
              <a:rPr kumimoji="1" lang="en-US" altLang="ja-JP" dirty="0"/>
              <a:t>1</a:t>
            </a:r>
            <a:r>
              <a:rPr kumimoji="1" lang="ja-JP" altLang="en-US"/>
              <a:t>時間以内</a:t>
            </a:r>
            <a:endParaRPr kumimoji="1" lang="en-US" altLang="ja-JP" dirty="0"/>
          </a:p>
        </p:txBody>
      </p:sp>
      <p:sp>
        <p:nvSpPr>
          <p:cNvPr id="4" name="スライド番号プレースホルダー 3">
            <a:extLst>
              <a:ext uri="{FF2B5EF4-FFF2-40B4-BE49-F238E27FC236}">
                <a16:creationId xmlns:a16="http://schemas.microsoft.com/office/drawing/2014/main" id="{1E303018-0FDD-B4D9-C12E-E63C06E75F2E}"/>
              </a:ext>
            </a:extLst>
          </p:cNvPr>
          <p:cNvSpPr>
            <a:spLocks noGrp="1"/>
          </p:cNvSpPr>
          <p:nvPr>
            <p:ph type="sldNum" sz="quarter" idx="5"/>
          </p:nvPr>
        </p:nvSpPr>
        <p:spPr/>
        <p:txBody>
          <a:bodyPr/>
          <a:lstStyle/>
          <a:p>
            <a:fld id="{4368CECF-0771-D84F-8D42-085DB944B0B8}" type="slidenum">
              <a:rPr kumimoji="1" lang="ja-JP" altLang="en-US" smtClean="0"/>
              <a:t>47</a:t>
            </a:fld>
            <a:endParaRPr kumimoji="1" lang="ja-JP" altLang="en-US"/>
          </a:p>
        </p:txBody>
      </p:sp>
    </p:spTree>
    <p:extLst>
      <p:ext uri="{BB962C8B-B14F-4D97-AF65-F5344CB8AC3E}">
        <p14:creationId xmlns:p14="http://schemas.microsoft.com/office/powerpoint/2010/main" val="2658116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DBC6A-855F-ECC0-16A4-27C83F4855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2CA2A9-51E7-5D66-5655-CFBCD18912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4DA03C-6146-5E28-C8F1-6A40300213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2E5A7203-CDF8-EF8E-5625-F74E3657F8EC}"/>
              </a:ext>
            </a:extLst>
          </p:cNvPr>
          <p:cNvSpPr>
            <a:spLocks noGrp="1"/>
          </p:cNvSpPr>
          <p:nvPr>
            <p:ph type="sldNum" sz="quarter" idx="5"/>
          </p:nvPr>
        </p:nvSpPr>
        <p:spPr/>
        <p:txBody>
          <a:bodyPr/>
          <a:lstStyle/>
          <a:p>
            <a:fld id="{4368CECF-0771-D84F-8D42-085DB944B0B8}" type="slidenum">
              <a:rPr kumimoji="1" lang="ja-JP" altLang="en-US" smtClean="0"/>
              <a:t>48</a:t>
            </a:fld>
            <a:endParaRPr kumimoji="1" lang="ja-JP" altLang="en-US"/>
          </a:p>
        </p:txBody>
      </p:sp>
    </p:spTree>
    <p:extLst>
      <p:ext uri="{BB962C8B-B14F-4D97-AF65-F5344CB8AC3E}">
        <p14:creationId xmlns:p14="http://schemas.microsoft.com/office/powerpoint/2010/main" val="12901608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ED5A-4EC5-8063-2B5A-8659F79F7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6B7E5-4E13-6700-B9C4-06DA1A4D70B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0030154-E22A-E745-F33E-42529B7E6204}"/>
              </a:ext>
            </a:extLst>
          </p:cNvPr>
          <p:cNvSpPr>
            <a:spLocks noGrp="1"/>
          </p:cNvSpPr>
          <p:nvPr>
            <p:ph type="body" sz="quarter" idx="3"/>
          </p:nvPr>
        </p:nvSpPr>
        <p:spPr/>
        <p:txBody>
          <a:bodyPr/>
          <a:lstStyle/>
          <a:p>
            <a:r>
              <a:rPr dirty="0"/>
              <a:t>4.2 の結果スライド。前ページの6分類が「実際に血行動態と対応していたのか」を示す。</a:t>
            </a:r>
            <a:endParaRPr lang="en-US" dirty="0"/>
          </a:p>
          <a:p>
            <a:r>
              <a:rPr lang="ja-JP" altLang="en-US"/>
              <a:t>高血圧は</a:t>
            </a:r>
            <a:r>
              <a:rPr lang="en-US" altLang="ja-JP" dirty="0"/>
              <a:t>S&gt;150</a:t>
            </a:r>
            <a:r>
              <a:rPr lang="ja-JP" altLang="en-US"/>
              <a:t>、低血圧は</a:t>
            </a:r>
            <a:r>
              <a:rPr lang="en-US" altLang="ja-JP" dirty="0"/>
              <a:t>s&lt;90</a:t>
            </a:r>
          </a:p>
          <a:p>
            <a:endParaRPr dirty="0"/>
          </a:p>
          <a:p>
            <a:endParaRPr dirty="0"/>
          </a:p>
          <a:p>
            <a:r>
              <a:rPr dirty="0" err="1"/>
              <a:t>Tusman</a:t>
            </a:r>
            <a:r>
              <a:rPr dirty="0"/>
              <a:t> G, et al. </a:t>
            </a:r>
            <a:r>
              <a:rPr dirty="0" err="1"/>
              <a:t>Photoplethysmographic</a:t>
            </a:r>
            <a:r>
              <a:rPr dirty="0"/>
              <a:t> characterization of vascular tone mediated changes in</a:t>
            </a:r>
          </a:p>
          <a:p>
            <a:r>
              <a:rPr dirty="0"/>
              <a:t>arterial pressure: an observational study. J Clin Monit </a:t>
            </a:r>
            <a:r>
              <a:rPr dirty="0" err="1"/>
              <a:t>Comput</a:t>
            </a:r>
            <a:r>
              <a:rPr dirty="0"/>
              <a:t> 2019;33:815–24.（PMID 30554338）</a:t>
            </a:r>
          </a:p>
          <a:p>
            <a:endParaRPr dirty="0"/>
          </a:p>
          <a:p>
            <a:r>
              <a:rPr dirty="0" err="1"/>
              <a:t>対象（P</a:t>
            </a:r>
            <a:r>
              <a:rPr dirty="0"/>
              <a:t>）</a:t>
            </a:r>
          </a:p>
          <a:p>
            <a:r>
              <a:rPr dirty="0"/>
              <a:t>・心臓手術患者15名、解析対象 190データセット。</a:t>
            </a:r>
          </a:p>
          <a:p>
            <a:r>
              <a:rPr dirty="0"/>
              <a:t>・</a:t>
            </a:r>
            <a:r>
              <a:rPr dirty="0" err="1"/>
              <a:t>高血圧</a:t>
            </a:r>
            <a:r>
              <a:rPr dirty="0"/>
              <a:t> 61エピソード（SAP 159〈151–170〉mmHg）、</a:t>
            </a:r>
            <a:r>
              <a:rPr dirty="0" err="1"/>
              <a:t>正常血圧</a:t>
            </a:r>
            <a:r>
              <a:rPr dirty="0"/>
              <a:t> 84（SAP 124〈113–131〉mmHg）、</a:t>
            </a:r>
          </a:p>
          <a:p>
            <a:r>
              <a:rPr dirty="0"/>
              <a:t>　</a:t>
            </a:r>
            <a:r>
              <a:rPr dirty="0" err="1"/>
              <a:t>低血圧</a:t>
            </a:r>
            <a:r>
              <a:rPr dirty="0"/>
              <a:t> 45（SAP 85〈80–87〉mmHg）。いずれも中央値〈第1–第3四分位〉。</a:t>
            </a:r>
          </a:p>
          <a:p>
            <a:endParaRPr dirty="0"/>
          </a:p>
          <a:p>
            <a:r>
              <a:rPr dirty="0" err="1"/>
              <a:t>分類（I</a:t>
            </a:r>
            <a:r>
              <a:rPr dirty="0"/>
              <a:t>）</a:t>
            </a:r>
          </a:p>
          <a:p>
            <a:r>
              <a:rPr dirty="0"/>
              <a:t>・PPG 波形の輪郭を目視で6クラスに分類（PPGc）。</a:t>
            </a:r>
            <a:r>
              <a:rPr dirty="0" err="1"/>
              <a:t>振幅（足→頂点）と切痕の位置で定義する</a:t>
            </a:r>
            <a:r>
              <a:rPr dirty="0"/>
              <a:t>。</a:t>
            </a:r>
          </a:p>
          <a:p>
            <a:r>
              <a:rPr dirty="0"/>
              <a:t>・</a:t>
            </a:r>
            <a:r>
              <a:rPr dirty="0" err="1"/>
              <a:t>切痕が</a:t>
            </a:r>
            <a:r>
              <a:rPr dirty="0"/>
              <a:t> PPG </a:t>
            </a:r>
            <a:r>
              <a:rPr dirty="0" err="1"/>
              <a:t>振幅の</a:t>
            </a:r>
            <a:r>
              <a:rPr dirty="0"/>
              <a:t> 20〜50% </a:t>
            </a:r>
            <a:r>
              <a:rPr dirty="0" err="1"/>
              <a:t>にある</a:t>
            </a:r>
            <a:r>
              <a:rPr dirty="0"/>
              <a:t> Class III ＝ </a:t>
            </a:r>
            <a:r>
              <a:rPr dirty="0" err="1"/>
              <a:t>正常血管トーヌス</a:t>
            </a:r>
            <a:r>
              <a:rPr dirty="0"/>
              <a:t>。</a:t>
            </a:r>
          </a:p>
          <a:p>
            <a:r>
              <a:rPr dirty="0"/>
              <a:t>・</a:t>
            </a:r>
            <a:r>
              <a:rPr dirty="0" err="1"/>
              <a:t>切痕が</a:t>
            </a:r>
            <a:r>
              <a:rPr dirty="0"/>
              <a:t> &gt;50% </a:t>
            </a:r>
            <a:r>
              <a:rPr dirty="0" err="1"/>
              <a:t>で振幅の小さい</a:t>
            </a:r>
            <a:r>
              <a:rPr dirty="0"/>
              <a:t> Class I〜II ＝ </a:t>
            </a:r>
            <a:r>
              <a:rPr dirty="0" err="1"/>
              <a:t>血管収縮</a:t>
            </a:r>
            <a:r>
              <a:rPr dirty="0"/>
              <a:t>。</a:t>
            </a:r>
          </a:p>
          <a:p>
            <a:r>
              <a:rPr dirty="0"/>
              <a:t>・</a:t>
            </a:r>
            <a:r>
              <a:rPr dirty="0" err="1"/>
              <a:t>切痕が</a:t>
            </a:r>
            <a:r>
              <a:rPr dirty="0"/>
              <a:t> &lt;20% </a:t>
            </a:r>
            <a:r>
              <a:rPr dirty="0" err="1"/>
              <a:t>で背の高い</a:t>
            </a:r>
            <a:r>
              <a:rPr dirty="0"/>
              <a:t> Class IV〜VI ＝ </a:t>
            </a:r>
            <a:r>
              <a:rPr dirty="0" err="1"/>
              <a:t>血管拡張</a:t>
            </a:r>
            <a:r>
              <a:rPr dirty="0"/>
              <a:t>。</a:t>
            </a:r>
          </a:p>
          <a:p>
            <a:endParaRPr dirty="0"/>
          </a:p>
          <a:p>
            <a:r>
              <a:rPr dirty="0" err="1"/>
              <a:t>比較（C</a:t>
            </a:r>
            <a:r>
              <a:rPr dirty="0"/>
              <a:t>）</a:t>
            </a:r>
          </a:p>
          <a:p>
            <a:r>
              <a:rPr dirty="0"/>
              <a:t>・</a:t>
            </a:r>
            <a:r>
              <a:rPr dirty="0" err="1"/>
              <a:t>収縮期動脈圧（SAP</a:t>
            </a:r>
            <a:r>
              <a:rPr dirty="0"/>
              <a:t>）、</a:t>
            </a:r>
            <a:r>
              <a:rPr dirty="0" err="1"/>
              <a:t>および血管トーヌスの代替指標である全身血管抵抗（SVR）と</a:t>
            </a:r>
            <a:endParaRPr dirty="0"/>
          </a:p>
          <a:p>
            <a:r>
              <a:rPr dirty="0"/>
              <a:t>　</a:t>
            </a:r>
            <a:r>
              <a:rPr dirty="0" err="1"/>
              <a:t>血管コンプライアンス（Cvasc</a:t>
            </a:r>
            <a:r>
              <a:rPr dirty="0"/>
              <a:t> ＝ </a:t>
            </a:r>
            <a:r>
              <a:rPr dirty="0" err="1"/>
              <a:t>一回拍出量／脈圧</a:t>
            </a:r>
            <a:r>
              <a:rPr dirty="0"/>
              <a:t>）。</a:t>
            </a:r>
          </a:p>
          <a:p>
            <a:endParaRPr dirty="0"/>
          </a:p>
          <a:p>
            <a:r>
              <a:rPr dirty="0" err="1"/>
              <a:t>結果（O</a:t>
            </a:r>
            <a:r>
              <a:rPr dirty="0"/>
              <a:t>）</a:t>
            </a:r>
          </a:p>
          <a:p>
            <a:r>
              <a:rPr dirty="0"/>
              <a:t>・SAP </a:t>
            </a:r>
            <a:r>
              <a:rPr dirty="0" err="1"/>
              <a:t>は</a:t>
            </a:r>
            <a:r>
              <a:rPr dirty="0"/>
              <a:t> SVR </a:t>
            </a:r>
            <a:r>
              <a:rPr dirty="0" err="1"/>
              <a:t>と</a:t>
            </a:r>
            <a:r>
              <a:rPr dirty="0"/>
              <a:t> r = 0.78（p&lt;0.0001）、</a:t>
            </a:r>
            <a:r>
              <a:rPr dirty="0" err="1"/>
              <a:t>Cvasc</a:t>
            </a:r>
            <a:r>
              <a:rPr dirty="0"/>
              <a:t> </a:t>
            </a:r>
            <a:r>
              <a:rPr dirty="0" err="1"/>
              <a:t>と</a:t>
            </a:r>
            <a:r>
              <a:rPr dirty="0"/>
              <a:t> r = 0.84（p&lt;0.0001）でよく相関した。</a:t>
            </a:r>
          </a:p>
          <a:p>
            <a:r>
              <a:rPr dirty="0"/>
              <a:t>・PPG </a:t>
            </a:r>
            <a:r>
              <a:rPr dirty="0" err="1"/>
              <a:t>分類（クラス番号</a:t>
            </a:r>
            <a:r>
              <a:rPr dirty="0"/>
              <a:t> </a:t>
            </a:r>
            <a:r>
              <a:rPr dirty="0" err="1"/>
              <a:t>I→VI）は</a:t>
            </a:r>
            <a:endParaRPr dirty="0"/>
          </a:p>
          <a:p>
            <a:r>
              <a:rPr dirty="0"/>
              <a:t>　　SAP </a:t>
            </a:r>
            <a:r>
              <a:rPr dirty="0" err="1"/>
              <a:t>と</a:t>
            </a:r>
            <a:r>
              <a:rPr dirty="0"/>
              <a:t> r = −0.90（p&lt;0.0001）</a:t>
            </a:r>
          </a:p>
          <a:p>
            <a:r>
              <a:rPr dirty="0"/>
              <a:t>　　SVR </a:t>
            </a:r>
            <a:r>
              <a:rPr dirty="0" err="1"/>
              <a:t>と</a:t>
            </a:r>
            <a:r>
              <a:rPr dirty="0"/>
              <a:t> r = −0.72（p&lt;0.0001）</a:t>
            </a:r>
          </a:p>
          <a:p>
            <a:r>
              <a:rPr dirty="0"/>
              <a:t>　　</a:t>
            </a:r>
            <a:r>
              <a:rPr dirty="0" err="1"/>
              <a:t>Cvasc</a:t>
            </a:r>
            <a:r>
              <a:rPr dirty="0"/>
              <a:t> </a:t>
            </a:r>
            <a:r>
              <a:rPr dirty="0" err="1"/>
              <a:t>と</a:t>
            </a:r>
            <a:r>
              <a:rPr dirty="0"/>
              <a:t> r = +0.82（p&lt;0.0001）</a:t>
            </a:r>
          </a:p>
          <a:p>
            <a:r>
              <a:rPr dirty="0"/>
              <a:t>　</a:t>
            </a:r>
            <a:r>
              <a:rPr dirty="0" err="1"/>
              <a:t>クラス番号が上がる＝血管拡張側ほど</a:t>
            </a:r>
            <a:r>
              <a:rPr dirty="0"/>
              <a:t> SAP・SVR </a:t>
            </a:r>
            <a:r>
              <a:rPr dirty="0" err="1"/>
              <a:t>が下がり、コンプライアンスが上がる、という向き</a:t>
            </a:r>
            <a:r>
              <a:rPr dirty="0"/>
              <a:t>。</a:t>
            </a:r>
          </a:p>
          <a:p>
            <a:r>
              <a:rPr dirty="0"/>
              <a:t>・190エピソード中7件を誤分類。低血圧検出は正確度 98.4%・</a:t>
            </a:r>
            <a:r>
              <a:rPr dirty="0" err="1"/>
              <a:t>感度</a:t>
            </a:r>
            <a:r>
              <a:rPr dirty="0"/>
              <a:t> 100%・</a:t>
            </a:r>
            <a:r>
              <a:rPr dirty="0" err="1"/>
              <a:t>特異度</a:t>
            </a:r>
            <a:r>
              <a:rPr dirty="0"/>
              <a:t> 97.9%、</a:t>
            </a:r>
          </a:p>
          <a:p>
            <a:r>
              <a:rPr dirty="0"/>
              <a:t>　</a:t>
            </a:r>
            <a:r>
              <a:rPr dirty="0" err="1"/>
              <a:t>高血圧検出は正確度</a:t>
            </a:r>
            <a:r>
              <a:rPr dirty="0"/>
              <a:t> 97.8%・</a:t>
            </a:r>
            <a:r>
              <a:rPr dirty="0" err="1"/>
              <a:t>感度</a:t>
            </a:r>
            <a:r>
              <a:rPr dirty="0"/>
              <a:t> 94.9%・</a:t>
            </a:r>
            <a:r>
              <a:rPr dirty="0" err="1"/>
              <a:t>特異度</a:t>
            </a:r>
            <a:r>
              <a:rPr dirty="0"/>
              <a:t> 99.2%。</a:t>
            </a:r>
          </a:p>
          <a:p>
            <a:endParaRPr dirty="0"/>
          </a:p>
          <a:p>
            <a:r>
              <a:rPr dirty="0" err="1"/>
              <a:t>読み方・限界</a:t>
            </a:r>
            <a:endParaRPr dirty="0"/>
          </a:p>
          <a:p>
            <a:r>
              <a:rPr dirty="0"/>
              <a:t>・「</a:t>
            </a:r>
            <a:r>
              <a:rPr dirty="0" err="1"/>
              <a:t>目視で波形の形を見るだけ」で血管トーヌスと血圧の方向が高い精度で判別できた、というのが要点</a:t>
            </a:r>
            <a:r>
              <a:rPr dirty="0"/>
              <a:t>。</a:t>
            </a:r>
          </a:p>
          <a:p>
            <a:r>
              <a:rPr dirty="0"/>
              <a:t>・ただし心臓手術15名という小規模・単施設の観察研究であり、SAP </a:t>
            </a:r>
            <a:r>
              <a:rPr dirty="0" err="1"/>
              <a:t>との相関が非常に高いのは</a:t>
            </a:r>
            <a:endParaRPr dirty="0"/>
          </a:p>
          <a:p>
            <a:r>
              <a:rPr dirty="0"/>
              <a:t>　</a:t>
            </a:r>
            <a:r>
              <a:rPr dirty="0" err="1"/>
              <a:t>分類の定義自体が血管トーヌス由来の形態変化を狙っているためでもある（循環論法に近い部分がある</a:t>
            </a:r>
            <a:r>
              <a:rPr dirty="0"/>
              <a:t>）。</a:t>
            </a:r>
          </a:p>
          <a:p>
            <a:r>
              <a:rPr dirty="0"/>
              <a:t>・SVR </a:t>
            </a:r>
            <a:r>
              <a:rPr dirty="0" err="1"/>
              <a:t>との相関</a:t>
            </a:r>
            <a:r>
              <a:rPr dirty="0"/>
              <a:t>（−0.72）は SAP（−0.90）ほどではない。PPG </a:t>
            </a:r>
            <a:r>
              <a:rPr dirty="0" err="1"/>
              <a:t>が見ているのは抵抗そのものではなく</a:t>
            </a:r>
            <a:endParaRPr dirty="0"/>
          </a:p>
          <a:p>
            <a:r>
              <a:rPr dirty="0"/>
              <a:t>　</a:t>
            </a:r>
            <a:r>
              <a:rPr dirty="0" err="1"/>
              <a:t>トーヌスに伴う波形変化であることに注意</a:t>
            </a:r>
            <a:r>
              <a:rPr dirty="0"/>
              <a:t>。</a:t>
            </a:r>
          </a:p>
          <a:p>
            <a:endParaRPr dirty="0"/>
          </a:p>
        </p:txBody>
      </p:sp>
      <p:sp>
        <p:nvSpPr>
          <p:cNvPr id="4" name="Slide Number Placeholder 3">
            <a:extLst>
              <a:ext uri="{FF2B5EF4-FFF2-40B4-BE49-F238E27FC236}">
                <a16:creationId xmlns:a16="http://schemas.microsoft.com/office/drawing/2014/main" id="{FBB99F96-C0F1-4D81-7781-53DF03D0ED2F}"/>
              </a:ext>
            </a:extLst>
          </p:cNvPr>
          <p:cNvSpPr>
            <a:spLocks noGrp="1"/>
          </p:cNvSpPr>
          <p:nvPr>
            <p:ph type="sldNum" sz="quarter" idx="5"/>
          </p:nvPr>
        </p:nvSpPr>
        <p:spPr/>
      </p:sp>
    </p:spTree>
    <p:extLst>
      <p:ext uri="{BB962C8B-B14F-4D97-AF65-F5344CB8AC3E}">
        <p14:creationId xmlns:p14="http://schemas.microsoft.com/office/powerpoint/2010/main" val="21421484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 6分類と血行動態（要点版）</a:t>
            </a:r>
          </a:p>
          <a:p>
            <a:endParaRPr/>
          </a:p>
          <a:p>
            <a:r>
              <a:t>Tusman 2019：心臓手術（CABG）15 名・190 エピソード。</a:t>
            </a:r>
          </a:p>
          <a:p>
            <a:r>
              <a:t>PPG 波形を「切痕の位置 × 振幅」で 6 クラスに分類し、観血的血行動態と対比した。</a:t>
            </a:r>
          </a:p>
          <a:p>
            <a:endParaRPr/>
          </a:p>
          <a:p>
            <a:r>
              <a:t>・Class I・II ＝ 血管収縮（SAP・SVR 高）</a:t>
            </a:r>
          </a:p>
          <a:p>
            <a:r>
              <a:t>・Class III  ＝ 正常トーヌス（SAP・SVR 基準）</a:t>
            </a:r>
          </a:p>
          <a:p>
            <a:r>
              <a:t>・Class IV〜VI ＝ 血管拡張（SAP・SVR 低）</a:t>
            </a:r>
          </a:p>
          <a:p>
            <a:endParaRPr/>
          </a:p>
          <a:p>
            <a:r>
              <a:t>PPG 6 分類との相関（いずれも P&lt;0.0001）</a:t>
            </a:r>
          </a:p>
          <a:p>
            <a:r>
              <a:t>・収縮期血圧 SAP        r = −0.90</a:t>
            </a:r>
          </a:p>
          <a:p>
            <a:r>
              <a:t>・全身血管抵抗 SVR      r = −0.72</a:t>
            </a:r>
          </a:p>
          <a:p>
            <a:r>
              <a:t>・血管コンプライアンス   r = +0.82</a:t>
            </a:r>
          </a:p>
          <a:p>
            <a:endParaRPr/>
          </a:p>
          <a:p>
            <a:r>
              <a:t>検出能</a:t>
            </a:r>
          </a:p>
          <a:p>
            <a:r>
              <a:t>・低血圧の検出 感度 100%・特異度 97.9%</a:t>
            </a:r>
          </a:p>
          <a:p>
            <a:r>
              <a:t>・高血圧の検出 感度 94.9%・特異度 99.2%</a:t>
            </a:r>
          </a:p>
          <a:p>
            <a:endParaRPr/>
          </a:p>
          <a:p>
            <a:r>
              <a:t>※前ページに SVR・コンプライアンスを含む全数値を残してあるので、</a:t>
            </a:r>
          </a:p>
          <a:p>
            <a:r>
              <a:t>　口頭ではそちらを補って説明する。</a:t>
            </a:r>
          </a:p>
          <a:p>
            <a:r>
              <a:t>出典：20. Tusman 2019</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4.3 </a:t>
            </a:r>
            <a:r>
              <a:rPr dirty="0" err="1"/>
              <a:t>麻酔導入時の低血圧を</a:t>
            </a:r>
            <a:r>
              <a:rPr dirty="0"/>
              <a:t> PPG </a:t>
            </a:r>
            <a:r>
              <a:rPr dirty="0" err="1"/>
              <a:t>波形から読む</a:t>
            </a:r>
            <a:r>
              <a:rPr dirty="0"/>
              <a:t> — proof of concept。</a:t>
            </a:r>
          </a:p>
          <a:p>
            <a:endParaRPr dirty="0"/>
          </a:p>
          <a:p>
            <a:r>
              <a:rPr dirty="0" err="1"/>
              <a:t>Coutrot</a:t>
            </a:r>
            <a:r>
              <a:rPr dirty="0"/>
              <a:t> M, Joachim J, </a:t>
            </a:r>
            <a:r>
              <a:rPr dirty="0" err="1"/>
              <a:t>Dépret</a:t>
            </a:r>
            <a:r>
              <a:rPr dirty="0"/>
              <a:t> F, et al. Noninvasive continuous detection of arterial hypotension</a:t>
            </a:r>
          </a:p>
          <a:p>
            <a:r>
              <a:rPr dirty="0"/>
              <a:t>during induction of </a:t>
            </a:r>
            <a:r>
              <a:rPr dirty="0" err="1"/>
              <a:t>anaesthesia</a:t>
            </a:r>
            <a:r>
              <a:rPr dirty="0"/>
              <a:t> using a </a:t>
            </a:r>
            <a:r>
              <a:rPr dirty="0" err="1"/>
              <a:t>photoplethysmographic</a:t>
            </a:r>
            <a:r>
              <a:rPr dirty="0"/>
              <a:t> signal: proof of concept.</a:t>
            </a:r>
          </a:p>
          <a:p>
            <a:r>
              <a:rPr dirty="0"/>
              <a:t>Br J </a:t>
            </a:r>
            <a:r>
              <a:rPr dirty="0" err="1"/>
              <a:t>Anaesth</a:t>
            </a:r>
            <a:r>
              <a:rPr dirty="0"/>
              <a:t> 2019;122:605–12.（PMID 30916032／doi 10.1016/j.bja.2019.01.037）</a:t>
            </a:r>
          </a:p>
          <a:p>
            <a:endParaRPr dirty="0"/>
          </a:p>
          <a:p>
            <a:r>
              <a:rPr dirty="0" err="1"/>
              <a:t>対象（P</a:t>
            </a:r>
            <a:r>
              <a:rPr dirty="0"/>
              <a:t>）</a:t>
            </a:r>
          </a:p>
          <a:p>
            <a:r>
              <a:rPr dirty="0"/>
              <a:t>・</a:t>
            </a:r>
            <a:r>
              <a:rPr dirty="0" err="1"/>
              <a:t>プロポフォールとレミフェンタニルの</a:t>
            </a:r>
            <a:r>
              <a:rPr dirty="0"/>
              <a:t> target controlled infusion で全身麻酔導入を受ける患者61名</a:t>
            </a:r>
          </a:p>
          <a:p>
            <a:r>
              <a:rPr dirty="0"/>
              <a:t>　（NCT03756935）。</a:t>
            </a:r>
          </a:p>
          <a:p>
            <a:endParaRPr dirty="0"/>
          </a:p>
          <a:p>
            <a:r>
              <a:rPr dirty="0" err="1"/>
              <a:t>方法（I</a:t>
            </a:r>
            <a:r>
              <a:rPr dirty="0"/>
              <a:t>）</a:t>
            </a:r>
          </a:p>
          <a:p>
            <a:r>
              <a:rPr dirty="0"/>
              <a:t>・</a:t>
            </a:r>
            <a:r>
              <a:rPr dirty="0" err="1"/>
              <a:t>パルスオキシメータの</a:t>
            </a:r>
            <a:r>
              <a:rPr dirty="0"/>
              <a:t> PPG </a:t>
            </a:r>
            <a:r>
              <a:rPr dirty="0" err="1"/>
              <a:t>信号から、相対的ディクロティックノッチ高（Dicpleth）と</a:t>
            </a:r>
            <a:endParaRPr dirty="0"/>
          </a:p>
          <a:p>
            <a:r>
              <a:rPr dirty="0"/>
              <a:t>　</a:t>
            </a:r>
            <a:r>
              <a:rPr dirty="0" err="1"/>
              <a:t>灌流指数（PI）を求め、その相対変化</a:t>
            </a:r>
            <a:r>
              <a:rPr dirty="0"/>
              <a:t> </a:t>
            </a:r>
            <a:r>
              <a:rPr dirty="0" err="1"/>
              <a:t>ΔDicpleth・ΔPI</a:t>
            </a:r>
            <a:r>
              <a:rPr dirty="0"/>
              <a:t> を1分間隔で監視。</a:t>
            </a:r>
          </a:p>
          <a:p>
            <a:r>
              <a:rPr dirty="0"/>
              <a:t>・</a:t>
            </a:r>
            <a:r>
              <a:rPr dirty="0" err="1"/>
              <a:t>昇圧薬（ノルアドレナリンまたはフェニレフリン）投与中の推移も追跡した</a:t>
            </a:r>
            <a:r>
              <a:rPr dirty="0"/>
              <a:t>。</a:t>
            </a:r>
          </a:p>
          <a:p>
            <a:endParaRPr dirty="0"/>
          </a:p>
          <a:p>
            <a:r>
              <a:rPr dirty="0" err="1"/>
              <a:t>基準（C</a:t>
            </a:r>
            <a:r>
              <a:rPr dirty="0"/>
              <a:t>）</a:t>
            </a:r>
          </a:p>
          <a:p>
            <a:r>
              <a:rPr dirty="0"/>
              <a:t>・</a:t>
            </a:r>
            <a:r>
              <a:rPr dirty="0" err="1"/>
              <a:t>術中低血圧（IOH</a:t>
            </a:r>
            <a:r>
              <a:rPr dirty="0"/>
              <a:t>）＝ </a:t>
            </a:r>
            <a:r>
              <a:rPr dirty="0" err="1"/>
              <a:t>平均動脈圧（MAP）が</a:t>
            </a:r>
            <a:r>
              <a:rPr dirty="0"/>
              <a:t> 20% </a:t>
            </a:r>
            <a:r>
              <a:rPr dirty="0" err="1"/>
              <a:t>を超えて低下したもの</a:t>
            </a:r>
            <a:r>
              <a:rPr dirty="0"/>
              <a:t>。</a:t>
            </a:r>
          </a:p>
          <a:p>
            <a:endParaRPr dirty="0"/>
          </a:p>
          <a:p>
            <a:r>
              <a:rPr dirty="0" err="1"/>
              <a:t>結果（O</a:t>
            </a:r>
            <a:r>
              <a:rPr dirty="0"/>
              <a:t>）</a:t>
            </a:r>
          </a:p>
          <a:p>
            <a:r>
              <a:rPr dirty="0"/>
              <a:t>・</a:t>
            </a:r>
            <a:r>
              <a:rPr dirty="0" err="1"/>
              <a:t>ΔDicpleth：AUC</a:t>
            </a:r>
            <a:r>
              <a:rPr dirty="0"/>
              <a:t> 0.86（最適閾値 −19%、</a:t>
            </a:r>
            <a:r>
              <a:rPr dirty="0" err="1"/>
              <a:t>感度</a:t>
            </a:r>
            <a:r>
              <a:rPr dirty="0"/>
              <a:t> 79%・</a:t>
            </a:r>
            <a:r>
              <a:rPr dirty="0" err="1"/>
              <a:t>特異度</a:t>
            </a:r>
            <a:r>
              <a:rPr dirty="0"/>
              <a:t> 84%）</a:t>
            </a:r>
          </a:p>
          <a:p>
            <a:r>
              <a:rPr dirty="0"/>
              <a:t>・ΔPI：AUC 0.83（最適閾値 51%、</a:t>
            </a:r>
            <a:r>
              <a:rPr dirty="0" err="1"/>
              <a:t>感度</a:t>
            </a:r>
            <a:r>
              <a:rPr dirty="0"/>
              <a:t> 82%・</a:t>
            </a:r>
            <a:r>
              <a:rPr dirty="0" err="1"/>
              <a:t>特異度</a:t>
            </a:r>
            <a:r>
              <a:rPr dirty="0"/>
              <a:t> 74%）</a:t>
            </a:r>
          </a:p>
          <a:p>
            <a:r>
              <a:rPr dirty="0"/>
              <a:t>・</a:t>
            </a:r>
            <a:r>
              <a:rPr dirty="0" err="1"/>
              <a:t>両者の</a:t>
            </a:r>
            <a:r>
              <a:rPr dirty="0"/>
              <a:t> ROC </a:t>
            </a:r>
            <a:r>
              <a:rPr dirty="0" err="1"/>
              <a:t>に有意差なし（P</a:t>
            </a:r>
            <a:r>
              <a:rPr dirty="0"/>
              <a:t>=0.22）。</a:t>
            </a:r>
            <a:r>
              <a:rPr dirty="0" err="1"/>
              <a:t>両者を併用すると</a:t>
            </a:r>
            <a:r>
              <a:rPr dirty="0"/>
              <a:t> AUC 0.91（感度・特異度とも 84%）</a:t>
            </a:r>
            <a:r>
              <a:rPr dirty="0" err="1"/>
              <a:t>に向上</a:t>
            </a:r>
            <a:r>
              <a:rPr dirty="0"/>
              <a:t>。</a:t>
            </a:r>
          </a:p>
          <a:p>
            <a:r>
              <a:rPr dirty="0"/>
              <a:t>・</a:t>
            </a:r>
            <a:r>
              <a:rPr dirty="0" err="1"/>
              <a:t>昇圧薬投与中、MAP</a:t>
            </a:r>
            <a:r>
              <a:rPr dirty="0"/>
              <a:t> </a:t>
            </a:r>
            <a:r>
              <a:rPr dirty="0" err="1"/>
              <a:t>の変化は</a:t>
            </a:r>
            <a:r>
              <a:rPr dirty="0"/>
              <a:t> </a:t>
            </a:r>
            <a:r>
              <a:rPr dirty="0" err="1"/>
              <a:t>ΔDicpleth</a:t>
            </a:r>
            <a:r>
              <a:rPr dirty="0"/>
              <a:t> </a:t>
            </a:r>
            <a:r>
              <a:rPr dirty="0" err="1"/>
              <a:t>と</a:t>
            </a:r>
            <a:r>
              <a:rPr dirty="0"/>
              <a:t> r=0.73、ΔPI </a:t>
            </a:r>
            <a:r>
              <a:rPr dirty="0" err="1"/>
              <a:t>と</a:t>
            </a:r>
            <a:r>
              <a:rPr dirty="0"/>
              <a:t> r=−0.62 </a:t>
            </a:r>
            <a:r>
              <a:rPr dirty="0" err="1"/>
              <a:t>で相関（いずれも</a:t>
            </a:r>
            <a:r>
              <a:rPr dirty="0"/>
              <a:t> P&lt;0.001）。</a:t>
            </a:r>
          </a:p>
          <a:p>
            <a:endParaRPr dirty="0"/>
          </a:p>
          <a:p>
            <a:r>
              <a:rPr dirty="0" err="1"/>
              <a:t>波形の見方（スライド左の模式図</a:t>
            </a:r>
            <a:r>
              <a:rPr dirty="0"/>
              <a:t>）</a:t>
            </a:r>
          </a:p>
          <a:p>
            <a:r>
              <a:rPr dirty="0"/>
              <a:t>・</a:t>
            </a:r>
            <a:r>
              <a:rPr dirty="0" err="1"/>
              <a:t>麻酔導入で血管トーヌスが下がる（血管拡張）と、末梢の反射が減って重複切痕がベースライン側へ</a:t>
            </a:r>
            <a:endParaRPr dirty="0"/>
          </a:p>
          <a:p>
            <a:r>
              <a:rPr dirty="0"/>
              <a:t>　</a:t>
            </a:r>
            <a:r>
              <a:rPr dirty="0" err="1"/>
              <a:t>下降し、同時に灌流が増えて脈波振幅（PI）が大きくなる</a:t>
            </a:r>
            <a:r>
              <a:rPr dirty="0"/>
              <a:t>。</a:t>
            </a:r>
          </a:p>
          <a:p>
            <a:r>
              <a:rPr dirty="0"/>
              <a:t>・</a:t>
            </a:r>
            <a:r>
              <a:rPr dirty="0" err="1"/>
              <a:t>つまり「切痕が下がる（ΔDicpleth</a:t>
            </a:r>
            <a:r>
              <a:rPr dirty="0"/>
              <a:t> </a:t>
            </a:r>
            <a:r>
              <a:rPr dirty="0" err="1"/>
              <a:t>陰性</a:t>
            </a:r>
            <a:r>
              <a:rPr dirty="0"/>
              <a:t>）」＋「PI </a:t>
            </a:r>
            <a:r>
              <a:rPr dirty="0" err="1"/>
              <a:t>が上がる（ΔPI</a:t>
            </a:r>
            <a:r>
              <a:rPr dirty="0"/>
              <a:t> </a:t>
            </a:r>
            <a:r>
              <a:rPr dirty="0" err="1"/>
              <a:t>陽性</a:t>
            </a:r>
            <a:r>
              <a:rPr dirty="0"/>
              <a:t>）」</a:t>
            </a:r>
            <a:r>
              <a:rPr dirty="0" err="1"/>
              <a:t>が低血圧のサイン</a:t>
            </a:r>
            <a:r>
              <a:rPr dirty="0"/>
              <a:t>。</a:t>
            </a:r>
          </a:p>
          <a:p>
            <a:r>
              <a:rPr dirty="0"/>
              <a:t>　4.1（Murray 1996：血管拡張で切痕位置↓・</a:t>
            </a:r>
            <a:r>
              <a:rPr dirty="0" err="1"/>
              <a:t>振幅</a:t>
            </a:r>
            <a:r>
              <a:rPr dirty="0"/>
              <a:t>↑）</a:t>
            </a:r>
            <a:r>
              <a:rPr dirty="0" err="1"/>
              <a:t>と同じ向きの現象を、定量指標にしたもの</a:t>
            </a:r>
            <a:r>
              <a:rPr dirty="0"/>
              <a:t>。</a:t>
            </a:r>
          </a:p>
          <a:p>
            <a:endParaRPr dirty="0"/>
          </a:p>
          <a:p>
            <a:r>
              <a:rPr dirty="0" err="1"/>
              <a:t>限界として口頭で足すこと</a:t>
            </a:r>
            <a:endParaRPr dirty="0"/>
          </a:p>
          <a:p>
            <a:r>
              <a:rPr dirty="0"/>
              <a:t>・proof of concept </a:t>
            </a:r>
            <a:r>
              <a:rPr dirty="0" err="1"/>
              <a:t>の単施設研究で、対象は麻酔導入という限られた場面</a:t>
            </a:r>
            <a:r>
              <a:rPr dirty="0"/>
              <a:t>。</a:t>
            </a:r>
          </a:p>
          <a:p>
            <a:r>
              <a:rPr dirty="0"/>
              <a:t>・AUC 0.86〜0.91 </a:t>
            </a:r>
            <a:r>
              <a:rPr dirty="0" err="1"/>
              <a:t>は「低血圧が起きたかどうかの検出」であって、血圧値そのものの推定ではない</a:t>
            </a:r>
            <a:r>
              <a:rPr dirty="0"/>
              <a:t>。</a:t>
            </a:r>
          </a:p>
          <a:p>
            <a:r>
              <a:rPr dirty="0"/>
              <a:t>・</a:t>
            </a:r>
            <a:r>
              <a:rPr dirty="0" err="1"/>
              <a:t>Dicpleth</a:t>
            </a:r>
            <a:r>
              <a:rPr dirty="0"/>
              <a:t> </a:t>
            </a:r>
            <a:r>
              <a:rPr dirty="0" err="1"/>
              <a:t>は重複切痕が見えている波形でしか定義できない</a:t>
            </a:r>
            <a:r>
              <a:rPr dirty="0"/>
              <a:t>（→ 第7章の限界と同じ問題）。</a:t>
            </a:r>
          </a:p>
          <a:p>
            <a:r>
              <a:rPr dirty="0"/>
              <a:t>・</a:t>
            </a:r>
            <a:r>
              <a:rPr dirty="0" err="1"/>
              <a:t>低灌流・体動・血管収縮薬による末梢収縮では</a:t>
            </a:r>
            <a:r>
              <a:rPr dirty="0"/>
              <a:t> PPG </a:t>
            </a:r>
            <a:r>
              <a:rPr dirty="0" err="1"/>
              <a:t>自体の質が落ちる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PPG</a:t>
            </a:r>
            <a:r>
              <a:rPr kumimoji="1" lang="ja-JP" altLang="en-US"/>
              <a:t>波形を定量化することで比較しやすくします。特に</a:t>
            </a:r>
            <a:r>
              <a:rPr kumimoji="1" lang="en-US" altLang="ja-JP" dirty="0"/>
              <a:t>PPG</a:t>
            </a:r>
            <a:r>
              <a:rPr kumimoji="1" lang="ja-JP" altLang="en-US"/>
              <a:t>研究で盛んな後負荷における主な指標をまとめます。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52</a:t>
            </a:fld>
            <a:endParaRPr kumimoji="1" lang="ja-JP" altLang="en-US"/>
          </a:p>
        </p:txBody>
      </p:sp>
    </p:spTree>
    <p:extLst>
      <p:ext uri="{BB962C8B-B14F-4D97-AF65-F5344CB8AC3E}">
        <p14:creationId xmlns:p14="http://schemas.microsoft.com/office/powerpoint/2010/main" val="4063880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SI（stiffness</a:t>
            </a:r>
            <a:r>
              <a:rPr dirty="0"/>
              <a:t> index）＝ </a:t>
            </a:r>
            <a:r>
              <a:rPr dirty="0" err="1"/>
              <a:t>身長</a:t>
            </a:r>
            <a:r>
              <a:rPr dirty="0"/>
              <a:t> ÷ ΔT。</a:t>
            </a:r>
            <a:endParaRPr lang="en-US" dirty="0"/>
          </a:p>
          <a:p>
            <a:r>
              <a:rPr lang="en-US" dirty="0" err="1"/>
              <a:t>大血管スティッフネスの指標</a:t>
            </a:r>
            <a:r>
              <a:rPr lang="en-US" dirty="0"/>
              <a:t>。</a:t>
            </a:r>
          </a:p>
          <a:p>
            <a:r>
              <a:rPr lang="en-US" dirty="0" err="1"/>
              <a:t>前進波ピークから反射波ピークまでの時間</a:t>
            </a:r>
            <a:r>
              <a:rPr lang="en-US" dirty="0"/>
              <a:t>。</a:t>
            </a:r>
          </a:p>
          <a:p>
            <a:r>
              <a:rPr lang="en-US" dirty="0" err="1"/>
              <a:t>反射波は大動脈を下降したのちに反射して戻ってくるため、個人間での比較を行うため身長を用いている</a:t>
            </a:r>
            <a:r>
              <a:rPr lang="en-US" dirty="0"/>
              <a:t>。</a:t>
            </a:r>
          </a:p>
          <a:p>
            <a:r>
              <a:rPr lang="en-US" dirty="0"/>
              <a:t>循環評価における大血管スティッフネス指標のゴールデンスタンダードは脈波伝播速度であり、SIはこれとよく相関することがわかっている。</a:t>
            </a:r>
          </a:p>
          <a:p>
            <a:endParaRPr dirty="0"/>
          </a:p>
          <a:p>
            <a:r>
              <a:rPr dirty="0"/>
              <a:t>ΔT は前進波ピーク（P1）と反射波ピーク（P2）の時間差で、反射波が大動脈〜下肢を</a:t>
            </a:r>
          </a:p>
          <a:p>
            <a:r>
              <a:rPr dirty="0" err="1"/>
              <a:t>往復するのに要した時間に相当する。身長で割って距離を補正することで、実質的に</a:t>
            </a:r>
            <a:endParaRPr dirty="0"/>
          </a:p>
          <a:p>
            <a:r>
              <a:rPr dirty="0" err="1"/>
              <a:t>大動脈の脈波伝播速度（PWV）の代用指標になる</a:t>
            </a:r>
            <a:r>
              <a:rPr dirty="0"/>
              <a:t>。</a:t>
            </a:r>
          </a:p>
          <a:p>
            <a:r>
              <a:rPr dirty="0" err="1"/>
              <a:t>Millasseau</a:t>
            </a:r>
            <a:r>
              <a:rPr dirty="0"/>
              <a:t> </a:t>
            </a:r>
            <a:r>
              <a:rPr dirty="0" err="1"/>
              <a:t>らは指尖</a:t>
            </a:r>
            <a:r>
              <a:rPr dirty="0"/>
              <a:t> PPG </a:t>
            </a:r>
            <a:r>
              <a:rPr dirty="0" err="1"/>
              <a:t>から求めた</a:t>
            </a:r>
            <a:r>
              <a:rPr dirty="0"/>
              <a:t> SI </a:t>
            </a:r>
            <a:r>
              <a:rPr dirty="0" err="1"/>
              <a:t>が大動脈</a:t>
            </a:r>
            <a:r>
              <a:rPr dirty="0"/>
              <a:t> PWV </a:t>
            </a:r>
            <a:r>
              <a:rPr dirty="0" err="1"/>
              <a:t>とよく相関することを示した</a:t>
            </a:r>
            <a:r>
              <a:rPr dirty="0"/>
              <a:t>。</a:t>
            </a:r>
          </a:p>
          <a:p>
            <a:r>
              <a:rPr dirty="0" err="1"/>
              <a:t>加齢・動脈硬化では</a:t>
            </a:r>
            <a:r>
              <a:rPr dirty="0"/>
              <a:t> ΔT </a:t>
            </a:r>
            <a:r>
              <a:rPr dirty="0" err="1"/>
              <a:t>が短縮し</a:t>
            </a:r>
            <a:r>
              <a:rPr dirty="0"/>
              <a:t> SI </a:t>
            </a:r>
            <a:r>
              <a:rPr dirty="0" err="1"/>
              <a:t>は上昇する</a:t>
            </a:r>
            <a:r>
              <a:rPr dirty="0"/>
              <a:t>。</a:t>
            </a:r>
          </a:p>
          <a:p>
            <a:r>
              <a:rPr dirty="0" err="1"/>
              <a:t>注意点</a:t>
            </a:r>
            <a:r>
              <a:rPr dirty="0"/>
              <a:t>：</a:t>
            </a:r>
          </a:p>
          <a:p>
            <a:r>
              <a:rPr dirty="0"/>
              <a:t>・P2 </a:t>
            </a:r>
            <a:r>
              <a:rPr dirty="0" err="1"/>
              <a:t>が明瞭に同定できる波形でしか計算できない</a:t>
            </a:r>
            <a:r>
              <a:rPr dirty="0"/>
              <a:t>（→ 第7章の限界）</a:t>
            </a:r>
          </a:p>
          <a:p>
            <a:r>
              <a:rPr dirty="0"/>
              <a:t>・</a:t>
            </a:r>
            <a:r>
              <a:rPr dirty="0" err="1"/>
              <a:t>心拍数の影響を受けるため、比較には</a:t>
            </a:r>
            <a:r>
              <a:rPr dirty="0"/>
              <a:t> HR </a:t>
            </a:r>
            <a:r>
              <a:rPr dirty="0" err="1"/>
              <a:t>補正が必要</a:t>
            </a:r>
            <a:endParaRPr dirty="0"/>
          </a:p>
          <a:p>
            <a:r>
              <a:rPr dirty="0"/>
              <a:t>・「</a:t>
            </a:r>
            <a:r>
              <a:rPr dirty="0" err="1"/>
              <a:t>慢性・構造」の指標であり、術中の一拍ごとの変化を追う目的には向かない</a:t>
            </a:r>
            <a:r>
              <a:rPr dirty="0"/>
              <a:t>。(</a:t>
            </a:r>
            <a:r>
              <a:rPr dirty="0" err="1"/>
              <a:t>Millasseau</a:t>
            </a:r>
            <a:r>
              <a:rPr dirty="0"/>
              <a:t> 2002)</a:t>
            </a:r>
          </a:p>
          <a:p>
            <a:endParaRPr dirty="0"/>
          </a:p>
          <a:p>
            <a:r>
              <a:rPr dirty="0"/>
              <a:t>【「</a:t>
            </a:r>
            <a:r>
              <a:rPr dirty="0" err="1"/>
              <a:t>身長」の意味（文献確認</a:t>
            </a:r>
            <a:r>
              <a:rPr dirty="0"/>
              <a:t> 2026-08）】</a:t>
            </a:r>
          </a:p>
          <a:p>
            <a:r>
              <a:rPr dirty="0" err="1"/>
              <a:t>原著</a:t>
            </a:r>
            <a:r>
              <a:rPr dirty="0"/>
              <a:t> </a:t>
            </a:r>
            <a:r>
              <a:rPr dirty="0" err="1"/>
              <a:t>Millasseau</a:t>
            </a:r>
            <a:r>
              <a:rPr dirty="0"/>
              <a:t> 2002 </a:t>
            </a:r>
            <a:r>
              <a:rPr dirty="0" err="1"/>
              <a:t>は</a:t>
            </a:r>
            <a:r>
              <a:rPr dirty="0"/>
              <a:t> "This path length is unknown, but can be assumed to be proportional to</a:t>
            </a:r>
          </a:p>
          <a:p>
            <a:r>
              <a:rPr dirty="0"/>
              <a:t>subject height (h)" </a:t>
            </a:r>
            <a:r>
              <a:rPr dirty="0" err="1"/>
              <a:t>と述べており、身長は「測れない往復経路長の代用（比例すると仮定</a:t>
            </a:r>
            <a:r>
              <a:rPr dirty="0"/>
              <a:t>）」</a:t>
            </a:r>
            <a:r>
              <a:rPr dirty="0" err="1"/>
              <a:t>である</a:t>
            </a:r>
            <a:r>
              <a:rPr dirty="0"/>
              <a:t>。</a:t>
            </a:r>
          </a:p>
          <a:p>
            <a:r>
              <a:rPr dirty="0" err="1"/>
              <a:t>実測された実効反射距離は片道</a:t>
            </a:r>
            <a:r>
              <a:rPr dirty="0"/>
              <a:t> 約45〜62 </a:t>
            </a:r>
            <a:r>
              <a:rPr dirty="0" err="1"/>
              <a:t>cm（往復</a:t>
            </a:r>
            <a:r>
              <a:rPr dirty="0"/>
              <a:t> 0.9〜1.2 m）＝</a:t>
            </a:r>
            <a:r>
              <a:rPr dirty="0" err="1"/>
              <a:t>身長の</a:t>
            </a:r>
            <a:r>
              <a:rPr dirty="0"/>
              <a:t> 0.5〜0.7 </a:t>
            </a:r>
            <a:r>
              <a:rPr dirty="0" err="1"/>
              <a:t>倍程度で</a:t>
            </a:r>
            <a:r>
              <a:rPr dirty="0"/>
              <a:t>、</a:t>
            </a:r>
          </a:p>
          <a:p>
            <a:r>
              <a:rPr dirty="0"/>
              <a:t>「</a:t>
            </a:r>
            <a:r>
              <a:rPr dirty="0" err="1"/>
              <a:t>往復距離＝身長」ではない（Pierce</a:t>
            </a:r>
            <a:r>
              <a:rPr dirty="0"/>
              <a:t> 2013 AJP Heart 305:H135、Trachet 2010 Ann Biomed Eng 38:876）。</a:t>
            </a:r>
          </a:p>
          <a:p>
            <a:r>
              <a:rPr dirty="0" err="1"/>
              <a:t>原著自身も</a:t>
            </a:r>
            <a:r>
              <a:rPr dirty="0"/>
              <a:t> "SI_DVP cannot be considered as a direct measure of large artery PWV" </a:t>
            </a:r>
            <a:r>
              <a:rPr dirty="0" err="1"/>
              <a:t>と限定しており</a:t>
            </a:r>
            <a:r>
              <a:rPr dirty="0"/>
              <a:t>、</a:t>
            </a:r>
          </a:p>
          <a:p>
            <a:r>
              <a:rPr dirty="0" err="1"/>
              <a:t>cf</a:t>
            </a:r>
            <a:r>
              <a:rPr dirty="0"/>
              <a:t>-PWV </a:t>
            </a:r>
            <a:r>
              <a:rPr dirty="0" err="1"/>
              <a:t>との相関は</a:t>
            </a:r>
            <a:r>
              <a:rPr dirty="0"/>
              <a:t> r≈0.65（Bland–Altman </a:t>
            </a:r>
            <a:r>
              <a:rPr dirty="0" err="1"/>
              <a:t>の一致幅は</a:t>
            </a:r>
            <a:r>
              <a:rPr dirty="0"/>
              <a:t> ±4 m/s </a:t>
            </a:r>
            <a:r>
              <a:rPr dirty="0" err="1"/>
              <a:t>程度</a:t>
            </a:r>
            <a:r>
              <a:rPr dirty="0"/>
              <a:t>）＝</a:t>
            </a:r>
            <a:r>
              <a:rPr dirty="0" err="1"/>
              <a:t>個人単位の代替にはならない</a:t>
            </a:r>
            <a:r>
              <a:rPr dirty="0"/>
              <a:t>。</a:t>
            </a:r>
          </a:p>
          <a:p>
            <a:r>
              <a:rPr dirty="0" err="1"/>
              <a:t>高齢・高血圧例では未検証、という限定も原著に明記されている</a:t>
            </a:r>
            <a:r>
              <a:rPr dirty="0"/>
              <a:t>。</a:t>
            </a:r>
          </a:p>
          <a:p>
            <a:r>
              <a:rPr dirty="0" err="1"/>
              <a:t>また</a:t>
            </a:r>
            <a:r>
              <a:rPr dirty="0"/>
              <a:t> ΔT </a:t>
            </a:r>
            <a:r>
              <a:rPr dirty="0" err="1"/>
              <a:t>からは腕の伝播時間が相殺されるので、ΔT</a:t>
            </a:r>
            <a:r>
              <a:rPr dirty="0"/>
              <a:t> </a:t>
            </a:r>
            <a:r>
              <a:rPr dirty="0" err="1"/>
              <a:t>は「心臓〜指先」ではなく「大動脈内の往復」を見ている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4D7D-187F-37EB-241D-73FEEDBFB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772F9-575E-00AD-F9C1-D687E430E49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099F51E-B5BF-8314-CCEC-48DDAFFA2F30}"/>
              </a:ext>
            </a:extLst>
          </p:cNvPr>
          <p:cNvSpPr>
            <a:spLocks noGrp="1"/>
          </p:cNvSpPr>
          <p:nvPr>
            <p:ph type="body" sz="quarter" idx="3"/>
          </p:nvPr>
        </p:nvSpPr>
        <p:spPr/>
        <p:txBody>
          <a:bodyPr/>
          <a:lstStyle/>
          <a:p>
            <a:r>
              <a:rPr lang="ja-JP" altLang="en-US"/>
              <a:t>健常成人の計測結果では、年齢、</a:t>
            </a:r>
            <a:r>
              <a:rPr lang="ja-JP" altLang="ja-JP" sz="1200" b="1"/>
              <a:t>頸動脈–大腿動脈脈波伝播速度</a:t>
            </a:r>
            <a:r>
              <a:rPr lang="ja-JP" altLang="en-US" sz="1200" b="1"/>
              <a:t>との関連が示されている。</a:t>
            </a:r>
            <a:endParaRPr lang="en-US" altLang="ja-JP" dirty="0"/>
          </a:p>
          <a:p>
            <a:r>
              <a:rPr lang="ja-JP" altLang="en-US"/>
              <a:t>血管収縮薬や拡張薬の使用でほぼ変化しなかった</a:t>
            </a:r>
            <a:endParaRPr lang="en-US" altLang="ja-JP" dirty="0"/>
          </a:p>
          <a:p>
            <a:endParaRPr lang="en-US" altLang="ja-JP" dirty="0"/>
          </a:p>
          <a:p>
            <a:r>
              <a:rPr lang="ja-JP" altLang="en-US"/>
              <a:t>ミラソ</a:t>
            </a:r>
            <a:r>
              <a:rPr lang="en-US" altLang="ja-JP" dirty="0"/>
              <a:t>-2022</a:t>
            </a:r>
            <a:r>
              <a:rPr lang="ja-JP" altLang="en-US"/>
              <a:t>　</a:t>
            </a:r>
            <a:endParaRPr lang="en-US" altLang="ja-JP" dirty="0"/>
          </a:p>
          <a:p>
            <a:r>
              <a:rPr lang="ja-JP" altLang="en-US"/>
              <a:t>健常成人</a:t>
            </a:r>
            <a:r>
              <a:rPr lang="en-US" altLang="ja-JP" dirty="0"/>
              <a:t>87</a:t>
            </a:r>
            <a:r>
              <a:rPr lang="ja-JP" altLang="en-US"/>
              <a:t>人の研究</a:t>
            </a:r>
            <a:endParaRPr dirty="0"/>
          </a:p>
        </p:txBody>
      </p:sp>
      <p:sp>
        <p:nvSpPr>
          <p:cNvPr id="4" name="Slide Number Placeholder 3">
            <a:extLst>
              <a:ext uri="{FF2B5EF4-FFF2-40B4-BE49-F238E27FC236}">
                <a16:creationId xmlns:a16="http://schemas.microsoft.com/office/drawing/2014/main" id="{E4E53ED2-5D8E-98A7-160F-26645192C23E}"/>
              </a:ext>
            </a:extLst>
          </p:cNvPr>
          <p:cNvSpPr>
            <a:spLocks noGrp="1"/>
          </p:cNvSpPr>
          <p:nvPr>
            <p:ph type="sldNum" sz="quarter" idx="5"/>
          </p:nvPr>
        </p:nvSpPr>
        <p:spPr/>
      </p:sp>
    </p:spTree>
    <p:extLst>
      <p:ext uri="{BB962C8B-B14F-4D97-AF65-F5344CB8AC3E}">
        <p14:creationId xmlns:p14="http://schemas.microsoft.com/office/powerpoint/2010/main" val="7851324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Refectction</a:t>
            </a:r>
            <a:r>
              <a:rPr lang="en-US" dirty="0"/>
              <a:t> </a:t>
            </a:r>
            <a:r>
              <a:rPr lang="en-US" dirty="0" err="1"/>
              <a:t>indexは末梢血管抵抗の指標となる</a:t>
            </a:r>
            <a:r>
              <a:rPr lang="en-US" dirty="0"/>
              <a:t>。</a:t>
            </a:r>
          </a:p>
          <a:p>
            <a:r>
              <a:rPr lang="en-US" dirty="0" err="1"/>
              <a:t>反射波ピークを前進波ピークで割ったもの。反射波の振幅が反映される</a:t>
            </a:r>
            <a:r>
              <a:rPr lang="en-US" dirty="0"/>
              <a:t>。</a:t>
            </a:r>
          </a:p>
          <a:p>
            <a:endParaRPr lang="en-US" dirty="0"/>
          </a:p>
          <a:p>
            <a:r>
              <a:rPr lang="en-US" dirty="0"/>
              <a:t>中心はミラソ-2003にする、RIの設定に言及したのは2002</a:t>
            </a:r>
            <a:r>
              <a:rPr lang="ja-JP" altLang="en-US"/>
              <a:t> </a:t>
            </a:r>
            <a:r>
              <a:rPr lang="en-US" dirty="0"/>
              <a:t>1999も原理は似ているし、同じ研究チーム</a:t>
            </a:r>
          </a:p>
          <a:p>
            <a:r>
              <a:rPr dirty="0" err="1"/>
              <a:t>RI（reflecti</a:t>
            </a:r>
            <a:r>
              <a:rPr lang="en" dirty="0"/>
              <a:t>o</a:t>
            </a:r>
            <a:r>
              <a:rPr lang="en-US" dirty="0"/>
              <a:t>n index）＝ P2 ÷ P1（％</a:t>
            </a:r>
            <a:r>
              <a:rPr lang="ja-JP" altLang="en-US"/>
              <a:t>で表す）。</a:t>
            </a:r>
          </a:p>
          <a:p>
            <a:r>
              <a:rPr dirty="0" err="1"/>
              <a:t>反射波の高さを前進波の高さで正規化した指標で、末梢血管トーヌス（反射係数）を反映する</a:t>
            </a:r>
            <a:r>
              <a:rPr dirty="0"/>
              <a:t>。</a:t>
            </a:r>
          </a:p>
          <a:p>
            <a:r>
              <a:rPr dirty="0" err="1"/>
              <a:t>Chowienczyk</a:t>
            </a:r>
            <a:r>
              <a:rPr dirty="0"/>
              <a:t> </a:t>
            </a:r>
            <a:r>
              <a:rPr dirty="0" err="1"/>
              <a:t>らは、吸入</a:t>
            </a:r>
            <a:r>
              <a:rPr dirty="0"/>
              <a:t>β2刺激薬で RI </a:t>
            </a:r>
            <a:r>
              <a:rPr dirty="0" err="1"/>
              <a:t>が約</a:t>
            </a:r>
            <a:r>
              <a:rPr dirty="0"/>
              <a:t> −11.8%、</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24908-BA78-F04F-E00B-6FE995288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D3B70-66B8-3729-20E6-7A685B831F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6B3191-67D7-F8EE-100A-C67909330370}"/>
              </a:ext>
            </a:extLst>
          </p:cNvPr>
          <p:cNvSpPr>
            <a:spLocks noGrp="1"/>
          </p:cNvSpPr>
          <p:nvPr>
            <p:ph type="body" sz="quarter" idx="3"/>
          </p:nvPr>
        </p:nvSpPr>
        <p:spPr/>
        <p:txBody>
          <a:bodyPr/>
          <a:lstStyle/>
          <a:p>
            <a:r>
              <a:rPr lang="en-US" dirty="0"/>
              <a:t>ミラソ-2003</a:t>
            </a:r>
            <a:r>
              <a:rPr lang="ja-JP" altLang="en-US"/>
              <a:t>　</a:t>
            </a:r>
            <a:endParaRPr lang="en-US" altLang="ja-JP" dirty="0"/>
          </a:p>
          <a:p>
            <a:endParaRPr lang="en-US" altLang="ja-JP"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増加させた</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減少させた</a:t>
            </a:r>
            <a:endParaRPr kumimoji="1" lang="en-US" altLang="ja-JP" sz="1200" kern="1200" dirty="0">
              <a:solidFill>
                <a:schemeClr val="tx1"/>
              </a:solidFill>
              <a:effectLst/>
              <a:latin typeface="+mn-lt"/>
              <a:ea typeface="+mn-ea"/>
              <a:cs typeface="+mn-cs"/>
            </a:endParaRPr>
          </a:p>
          <a:p>
            <a:endParaRPr lang="en-US" altLang="ja-JP" dirty="0"/>
          </a:p>
          <a:p>
            <a:r>
              <a:rPr lang="ja-JP" altLang="en-US"/>
              <a:t>健康男性</a:t>
            </a:r>
            <a:r>
              <a:rPr lang="en-US" altLang="ja-JP" dirty="0"/>
              <a:t>124</a:t>
            </a:r>
            <a:r>
              <a:rPr lang="ja-JP" altLang="en-US"/>
              <a:t>人での検討では</a:t>
            </a:r>
            <a:r>
              <a:rPr dirty="0" err="1"/>
              <a:t>Chowienczyk</a:t>
            </a:r>
            <a:r>
              <a:rPr dirty="0"/>
              <a:t> </a:t>
            </a:r>
            <a:r>
              <a:rPr dirty="0" err="1"/>
              <a:t>らは、</a:t>
            </a:r>
            <a:r>
              <a:rPr lang="en-US" altLang="ja-JP" dirty="0" err="1"/>
              <a:t>RI</a:t>
            </a:r>
            <a:r>
              <a:rPr lang="ja-JP" altLang="en-US"/>
              <a:t>が</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a:extLst>
              <a:ext uri="{FF2B5EF4-FFF2-40B4-BE49-F238E27FC236}">
                <a16:creationId xmlns:a16="http://schemas.microsoft.com/office/drawing/2014/main" id="{F0212291-EF25-F547-25BD-BC547786E566}"/>
              </a:ext>
            </a:extLst>
          </p:cNvPr>
          <p:cNvSpPr>
            <a:spLocks noGrp="1"/>
          </p:cNvSpPr>
          <p:nvPr>
            <p:ph type="sldNum" sz="quarter" idx="5"/>
          </p:nvPr>
        </p:nvSpPr>
        <p:spPr/>
      </p:sp>
    </p:spTree>
    <p:extLst>
      <p:ext uri="{BB962C8B-B14F-4D97-AF65-F5344CB8AC3E}">
        <p14:creationId xmlns:p14="http://schemas.microsoft.com/office/powerpoint/2010/main" val="17689578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1EE2-1F6D-690B-B26F-7ACD42E8E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C2CF9-E8A3-453E-6CC6-448B4B6BBB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8ED0F3F-DA55-BE7D-FC02-4BDB819B6604}"/>
              </a:ext>
            </a:extLst>
          </p:cNvPr>
          <p:cNvSpPr>
            <a:spLocks noGrp="1"/>
          </p:cNvSpPr>
          <p:nvPr>
            <p:ph type="body" sz="quarter" idx="3"/>
          </p:nvPr>
        </p:nvSpPr>
        <p:spPr/>
        <p:txBody>
          <a:bodyPr/>
          <a:lstStyle/>
          <a:p>
            <a:r>
              <a:rPr lang="en-US" dirty="0" err="1"/>
              <a:t>RIとSVRに関連があるのかを調べた研究</a:t>
            </a:r>
            <a:endParaRPr lang="en-US" dirty="0"/>
          </a:p>
          <a:p>
            <a:endParaRPr lang="en-US" dirty="0"/>
          </a:p>
          <a:p>
            <a:r>
              <a:rPr lang="en-US" dirty="0"/>
              <a:t>lee2011</a:t>
            </a:r>
            <a:r>
              <a:rPr lang="ja-JP" altLang="en-US"/>
              <a:t>　オーストラリアの</a:t>
            </a:r>
            <a:r>
              <a:rPr lang="en-US" altLang="ja-JP" dirty="0"/>
              <a:t>ICU</a:t>
            </a:r>
            <a:r>
              <a:rPr lang="ja-JP" altLang="en-US"/>
              <a:t>で測定された</a:t>
            </a:r>
            <a:r>
              <a:rPr lang="en-US" altLang="ja-JP" dirty="0"/>
              <a:t>64</a:t>
            </a:r>
            <a:r>
              <a:rPr lang="ja-JP" altLang="en-US"/>
              <a:t>人分のデータ</a:t>
            </a:r>
            <a:endParaRPr dirty="0"/>
          </a:p>
        </p:txBody>
      </p:sp>
      <p:sp>
        <p:nvSpPr>
          <p:cNvPr id="4" name="Slide Number Placeholder 3">
            <a:extLst>
              <a:ext uri="{FF2B5EF4-FFF2-40B4-BE49-F238E27FC236}">
                <a16:creationId xmlns:a16="http://schemas.microsoft.com/office/drawing/2014/main" id="{F7FB63D8-E5B4-6805-4294-75A17752CBDA}"/>
              </a:ext>
            </a:extLst>
          </p:cNvPr>
          <p:cNvSpPr>
            <a:spLocks noGrp="1"/>
          </p:cNvSpPr>
          <p:nvPr>
            <p:ph type="sldNum" sz="quarter" idx="5"/>
          </p:nvPr>
        </p:nvSpPr>
        <p:spPr/>
      </p:sp>
    </p:spTree>
    <p:extLst>
      <p:ext uri="{BB962C8B-B14F-4D97-AF65-F5344CB8AC3E}">
        <p14:creationId xmlns:p14="http://schemas.microsoft.com/office/powerpoint/2010/main" val="20290044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67BE-0EB2-F075-6441-E26E76CAA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97D34-3E29-96DB-D929-66F5810CBA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162AA1-DD8A-A287-EFCA-A13CA9595ADE}"/>
              </a:ext>
            </a:extLst>
          </p:cNvPr>
          <p:cNvSpPr>
            <a:spLocks noGrp="1"/>
          </p:cNvSpPr>
          <p:nvPr>
            <p:ph type="body" sz="quarter" idx="3"/>
          </p:nvPr>
        </p:nvSpPr>
        <p:spPr/>
        <p:txBody>
          <a:bodyPr/>
          <a:lstStyle/>
          <a:p>
            <a:r>
              <a:rPr dirty="0"/>
              <a:t>5.2 の2枚目。RI </a:t>
            </a:r>
            <a:r>
              <a:rPr dirty="0" err="1"/>
              <a:t>を使うときに必ず断らなければならない交絡＝心拍数（HR</a:t>
            </a:r>
            <a:r>
              <a:rPr dirty="0"/>
              <a:t>）。</a:t>
            </a:r>
          </a:p>
          <a:p>
            <a:endParaRPr dirty="0"/>
          </a:p>
          <a:p>
            <a:r>
              <a:rPr dirty="0" err="1"/>
              <a:t>なぜ</a:t>
            </a:r>
            <a:r>
              <a:rPr dirty="0"/>
              <a:t> HR </a:t>
            </a:r>
            <a:r>
              <a:rPr dirty="0" err="1"/>
              <a:t>で動くのか</a:t>
            </a:r>
            <a:endParaRPr dirty="0"/>
          </a:p>
          <a:p>
            <a:r>
              <a:rPr dirty="0"/>
              <a:t>・HR </a:t>
            </a:r>
            <a:r>
              <a:rPr dirty="0" err="1"/>
              <a:t>が上がると拡張期が短くなり、左室駆出時間（LVET）も短縮する</a:t>
            </a:r>
            <a:r>
              <a:rPr dirty="0"/>
              <a:t>。</a:t>
            </a:r>
          </a:p>
          <a:p>
            <a:r>
              <a:rPr dirty="0"/>
              <a:t>・</a:t>
            </a:r>
            <a:r>
              <a:rPr dirty="0" err="1"/>
              <a:t>収縮期波が早く減衰するため、反射波が戻ってきたときには基準となる収縮期ピークが</a:t>
            </a:r>
            <a:endParaRPr dirty="0"/>
          </a:p>
          <a:p>
            <a:r>
              <a:rPr dirty="0"/>
              <a:t>　</a:t>
            </a:r>
            <a:r>
              <a:rPr dirty="0" err="1"/>
              <a:t>すでに下がっており、収縮期ピークで正規化した反射波成分</a:t>
            </a:r>
            <a:r>
              <a:rPr dirty="0"/>
              <a:t>（＝P2/P1＝RI）は小さくなる。</a:t>
            </a:r>
          </a:p>
          <a:p>
            <a:r>
              <a:rPr dirty="0"/>
              <a:t>・Charlton 2019 </a:t>
            </a:r>
            <a:r>
              <a:rPr dirty="0" err="1"/>
              <a:t>の</a:t>
            </a:r>
            <a:r>
              <a:rPr dirty="0"/>
              <a:t> in-silico データ（25歳仮想被験者、各パラメータ ±1SD）でも、</a:t>
            </a:r>
          </a:p>
          <a:p>
            <a:r>
              <a:rPr dirty="0"/>
              <a:t>　HR +1SD </a:t>
            </a:r>
            <a:r>
              <a:rPr dirty="0" err="1"/>
              <a:t>で拡張期（反射）ピークの相対的な高さは低下し、切痕は深く早くなる</a:t>
            </a:r>
            <a:r>
              <a:rPr dirty="0"/>
              <a:t>。</a:t>
            </a:r>
          </a:p>
          <a:p>
            <a:endParaRPr dirty="0"/>
          </a:p>
          <a:p>
            <a:r>
              <a:rPr dirty="0" err="1"/>
              <a:t>実測でどこまで言えるか</a:t>
            </a:r>
            <a:endParaRPr dirty="0"/>
          </a:p>
          <a:p>
            <a:r>
              <a:rPr dirty="0"/>
              <a:t>・Md Lazim MR, et al. Is heart rate a confounding factor for photoplethysmography markers?</a:t>
            </a:r>
          </a:p>
          <a:p>
            <a:r>
              <a:rPr dirty="0"/>
              <a:t>　A systematic review. Int J Environ Res Public Health 2020;17:2591.</a:t>
            </a:r>
          </a:p>
          <a:p>
            <a:r>
              <a:rPr dirty="0"/>
              <a:t>　1960件から選択基準を満たした6編を採択。SI・RI・SDPPG（b/a, d/a, AGI, </a:t>
            </a:r>
            <a:r>
              <a:rPr dirty="0" err="1"/>
              <a:t>RAGI）はいずれも</a:t>
            </a:r>
            <a:endParaRPr dirty="0"/>
          </a:p>
          <a:p>
            <a:r>
              <a:rPr dirty="0"/>
              <a:t>　HR </a:t>
            </a:r>
            <a:r>
              <a:rPr dirty="0" err="1"/>
              <a:t>と関連したが、関連が「相当程度（considerable</a:t>
            </a:r>
            <a:r>
              <a:rPr dirty="0"/>
              <a:t>）」</a:t>
            </a:r>
            <a:r>
              <a:rPr dirty="0" err="1"/>
              <a:t>だったのは</a:t>
            </a:r>
            <a:r>
              <a:rPr dirty="0"/>
              <a:t> RI </a:t>
            </a:r>
            <a:r>
              <a:rPr dirty="0" err="1"/>
              <a:t>のみ</a:t>
            </a:r>
            <a:r>
              <a:rPr dirty="0"/>
              <a:t>。</a:t>
            </a:r>
          </a:p>
          <a:p>
            <a:r>
              <a:rPr dirty="0"/>
              <a:t>　SI </a:t>
            </a:r>
            <a:r>
              <a:rPr dirty="0" err="1"/>
              <a:t>と</a:t>
            </a:r>
            <a:r>
              <a:rPr dirty="0"/>
              <a:t> HR </a:t>
            </a:r>
            <a:r>
              <a:rPr dirty="0" err="1"/>
              <a:t>の関連は</a:t>
            </a:r>
            <a:r>
              <a:rPr dirty="0"/>
              <a:t> </a:t>
            </a:r>
            <a:r>
              <a:rPr dirty="0" err="1"/>
              <a:t>non-considerable、HR</a:t>
            </a:r>
            <a:r>
              <a:rPr dirty="0"/>
              <a:t> </a:t>
            </a:r>
            <a:r>
              <a:rPr dirty="0" err="1"/>
              <a:t>と</a:t>
            </a:r>
            <a:r>
              <a:rPr dirty="0"/>
              <a:t> SDPPG </a:t>
            </a:r>
            <a:r>
              <a:rPr dirty="0" err="1"/>
              <a:t>の関連は</a:t>
            </a:r>
            <a:r>
              <a:rPr dirty="0"/>
              <a:t> inconclusive </a:t>
            </a:r>
            <a:r>
              <a:rPr dirty="0" err="1"/>
              <a:t>と結論している</a:t>
            </a:r>
            <a:r>
              <a:rPr dirty="0"/>
              <a:t>。</a:t>
            </a:r>
          </a:p>
          <a:p>
            <a:r>
              <a:rPr dirty="0"/>
              <a:t>　→ </a:t>
            </a:r>
            <a:r>
              <a:rPr dirty="0" err="1"/>
              <a:t>心拍数が大きく動く周術期では、振幅比である</a:t>
            </a:r>
            <a:r>
              <a:rPr dirty="0"/>
              <a:t> RI </a:t>
            </a:r>
            <a:r>
              <a:rPr dirty="0" err="1"/>
              <a:t>のほうが時間指標の</a:t>
            </a:r>
            <a:r>
              <a:rPr dirty="0"/>
              <a:t> SI </a:t>
            </a:r>
            <a:r>
              <a:rPr dirty="0" err="1"/>
              <a:t>より交絡を受けやすい</a:t>
            </a:r>
            <a:r>
              <a:rPr dirty="0"/>
              <a:t>。</a:t>
            </a:r>
          </a:p>
          <a:p>
            <a:r>
              <a:rPr dirty="0"/>
              <a:t>・Wilkinson IB, et al. J </a:t>
            </a:r>
            <a:r>
              <a:rPr dirty="0" err="1"/>
              <a:t>Physiol</a:t>
            </a:r>
            <a:r>
              <a:rPr dirty="0"/>
              <a:t> 2000;525:263–70.</a:t>
            </a:r>
          </a:p>
          <a:p>
            <a:r>
              <a:rPr dirty="0"/>
              <a:t>　恒久ペースメーカ植込み患者22名（平均63歳）を 60→110 bpm </a:t>
            </a:r>
            <a:r>
              <a:rPr dirty="0" err="1"/>
              <a:t>でペーシングし</a:t>
            </a:r>
            <a:r>
              <a:rPr dirty="0"/>
              <a:t>、</a:t>
            </a:r>
          </a:p>
          <a:p>
            <a:r>
              <a:rPr dirty="0"/>
              <a:t>　</a:t>
            </a:r>
            <a:r>
              <a:rPr dirty="0" err="1"/>
              <a:t>AIx</a:t>
            </a:r>
            <a:r>
              <a:rPr dirty="0"/>
              <a:t> </a:t>
            </a:r>
            <a:r>
              <a:rPr dirty="0" err="1"/>
              <a:t>と</a:t>
            </a:r>
            <a:r>
              <a:rPr dirty="0"/>
              <a:t> HR </a:t>
            </a:r>
            <a:r>
              <a:rPr dirty="0" err="1"/>
              <a:t>に有意な負の直線関係（r</a:t>
            </a:r>
            <a:r>
              <a:rPr dirty="0"/>
              <a:t> = −0.76、P&lt;0.001）、HR 10 bpm </a:t>
            </a:r>
            <a:r>
              <a:rPr dirty="0" err="1"/>
              <a:t>増あたり</a:t>
            </a:r>
            <a:r>
              <a:rPr dirty="0"/>
              <a:t> </a:t>
            </a:r>
            <a:r>
              <a:rPr dirty="0" err="1"/>
              <a:t>AIx</a:t>
            </a:r>
            <a:r>
              <a:rPr dirty="0"/>
              <a:t> </a:t>
            </a:r>
            <a:r>
              <a:rPr dirty="0" err="1"/>
              <a:t>約</a:t>
            </a:r>
            <a:r>
              <a:rPr dirty="0"/>
              <a:t> −4%。</a:t>
            </a:r>
          </a:p>
          <a:p>
            <a:r>
              <a:rPr dirty="0"/>
              <a:t>　</a:t>
            </a:r>
            <a:r>
              <a:rPr dirty="0" err="1"/>
              <a:t>ただしこれは中心・末梢の「圧」波形での検討である</a:t>
            </a:r>
            <a:r>
              <a:rPr dirty="0"/>
              <a:t>。</a:t>
            </a:r>
          </a:p>
          <a:p>
            <a:r>
              <a:rPr dirty="0"/>
              <a:t>・Hashimoto J, et al. J </a:t>
            </a:r>
            <a:r>
              <a:rPr dirty="0" err="1"/>
              <a:t>Hypertens</a:t>
            </a:r>
            <a:r>
              <a:rPr dirty="0"/>
              <a:t> 2002;20:2415–22.</a:t>
            </a:r>
          </a:p>
          <a:p>
            <a:r>
              <a:rPr dirty="0"/>
              <a:t>　治療中高血圧294名で、HR </a:t>
            </a:r>
            <a:r>
              <a:rPr dirty="0" err="1"/>
              <a:t>は</a:t>
            </a:r>
            <a:r>
              <a:rPr dirty="0"/>
              <a:t> SDPTG </a:t>
            </a:r>
            <a:r>
              <a:rPr dirty="0" err="1"/>
              <a:t>の</a:t>
            </a:r>
            <a:r>
              <a:rPr dirty="0"/>
              <a:t> d/</a:t>
            </a:r>
            <a:r>
              <a:rPr dirty="0" err="1"/>
              <a:t>a・AGI</a:t>
            </a:r>
            <a:r>
              <a:rPr dirty="0"/>
              <a:t> </a:t>
            </a:r>
            <a:r>
              <a:rPr dirty="0" err="1"/>
              <a:t>と負、b</a:t>
            </a:r>
            <a:r>
              <a:rPr dirty="0"/>
              <a:t>/a </a:t>
            </a:r>
            <a:r>
              <a:rPr dirty="0" err="1"/>
              <a:t>と正に相関した</a:t>
            </a:r>
            <a:r>
              <a:rPr dirty="0"/>
              <a:t>。</a:t>
            </a:r>
          </a:p>
          <a:p>
            <a:endParaRPr dirty="0"/>
          </a:p>
          <a:p>
            <a:r>
              <a:rPr dirty="0" err="1"/>
              <a:t>実務上どうするか</a:t>
            </a:r>
            <a:endParaRPr dirty="0"/>
          </a:p>
          <a:p>
            <a:r>
              <a:rPr dirty="0"/>
              <a:t>・</a:t>
            </a:r>
            <a:r>
              <a:rPr dirty="0" err="1"/>
              <a:t>圧波形の</a:t>
            </a:r>
            <a:r>
              <a:rPr dirty="0"/>
              <a:t> </a:t>
            </a:r>
            <a:r>
              <a:rPr dirty="0" err="1"/>
              <a:t>AIx</a:t>
            </a:r>
            <a:r>
              <a:rPr dirty="0"/>
              <a:t> には「AIx@75」（75 bpm </a:t>
            </a:r>
            <a:r>
              <a:rPr dirty="0" err="1"/>
              <a:t>に標準化）という確立した補正法があるが</a:t>
            </a:r>
            <a:r>
              <a:rPr dirty="0"/>
              <a:t>、</a:t>
            </a:r>
          </a:p>
          <a:p>
            <a:r>
              <a:rPr dirty="0"/>
              <a:t>　</a:t>
            </a:r>
            <a:r>
              <a:rPr dirty="0" err="1"/>
              <a:t>指尖</a:t>
            </a:r>
            <a:r>
              <a:rPr dirty="0"/>
              <a:t> PPG </a:t>
            </a:r>
            <a:r>
              <a:rPr dirty="0" err="1"/>
              <a:t>の</a:t>
            </a:r>
            <a:r>
              <a:rPr dirty="0"/>
              <a:t> RI </a:t>
            </a:r>
            <a:r>
              <a:rPr dirty="0" err="1"/>
              <a:t>について確立した補正式はない。勝手に</a:t>
            </a:r>
            <a:r>
              <a:rPr dirty="0"/>
              <a:t> AIx@75 </a:t>
            </a:r>
            <a:r>
              <a:rPr dirty="0" err="1"/>
              <a:t>の係数を流用しないこと</a:t>
            </a:r>
            <a:r>
              <a:rPr dirty="0"/>
              <a:t>。</a:t>
            </a:r>
          </a:p>
          <a:p>
            <a:r>
              <a:rPr dirty="0"/>
              <a:t>・したがって現実解は次の3つ。</a:t>
            </a:r>
          </a:p>
          <a:p>
            <a:r>
              <a:rPr dirty="0"/>
              <a:t>　① </a:t>
            </a:r>
            <a:r>
              <a:rPr dirty="0" err="1"/>
              <a:t>経時比較では測定時の</a:t>
            </a:r>
            <a:r>
              <a:rPr dirty="0"/>
              <a:t> HR </a:t>
            </a:r>
            <a:r>
              <a:rPr dirty="0" err="1"/>
              <a:t>をそろえる（同じ深度・同じ薬剤条件で比較する</a:t>
            </a:r>
            <a:r>
              <a:rPr dirty="0"/>
              <a:t>）。</a:t>
            </a:r>
          </a:p>
          <a:p>
            <a:r>
              <a:rPr dirty="0"/>
              <a:t>　② RI </a:t>
            </a:r>
            <a:r>
              <a:rPr dirty="0" err="1"/>
              <a:t>の値は必ず</a:t>
            </a:r>
            <a:r>
              <a:rPr dirty="0"/>
              <a:t> HR </a:t>
            </a:r>
            <a:r>
              <a:rPr dirty="0" err="1"/>
              <a:t>とセットで記録・提示する</a:t>
            </a:r>
            <a:r>
              <a:rPr dirty="0"/>
              <a:t>。</a:t>
            </a:r>
          </a:p>
          <a:p>
            <a:r>
              <a:rPr dirty="0"/>
              <a:t>　③ HR </a:t>
            </a:r>
            <a:r>
              <a:rPr dirty="0" err="1"/>
              <a:t>が大きく動く場面（導入直後、昇圧薬投与直後など）の</a:t>
            </a:r>
            <a:r>
              <a:rPr dirty="0"/>
              <a:t> RI </a:t>
            </a:r>
            <a:r>
              <a:rPr dirty="0" err="1"/>
              <a:t>変化は、トーヌス変化と</a:t>
            </a:r>
            <a:endParaRPr dirty="0"/>
          </a:p>
          <a:p>
            <a:r>
              <a:rPr dirty="0"/>
              <a:t>　　</a:t>
            </a:r>
            <a:r>
              <a:rPr dirty="0" err="1"/>
              <a:t>断定せず「HR</a:t>
            </a:r>
            <a:r>
              <a:rPr dirty="0"/>
              <a:t> </a:t>
            </a:r>
            <a:r>
              <a:rPr dirty="0" err="1"/>
              <a:t>の寄与が混じる」と明示する</a:t>
            </a:r>
            <a:r>
              <a:rPr dirty="0"/>
              <a:t>。</a:t>
            </a:r>
          </a:p>
          <a:p>
            <a:r>
              <a:rPr dirty="0"/>
              <a:t>・SI（＝</a:t>
            </a:r>
            <a:r>
              <a:rPr dirty="0" err="1"/>
              <a:t>身長÷ΔT、時間指標）は</a:t>
            </a:r>
            <a:r>
              <a:rPr dirty="0"/>
              <a:t> HR </a:t>
            </a:r>
            <a:r>
              <a:rPr dirty="0" err="1"/>
              <a:t>の影響が相対的に小さいとされるが、無関係ではない</a:t>
            </a:r>
            <a:r>
              <a:rPr dirty="0"/>
              <a:t>。</a:t>
            </a:r>
          </a:p>
          <a:p>
            <a:endParaRPr dirty="0"/>
          </a:p>
        </p:txBody>
      </p:sp>
      <p:sp>
        <p:nvSpPr>
          <p:cNvPr id="4" name="Slide Number Placeholder 3">
            <a:extLst>
              <a:ext uri="{FF2B5EF4-FFF2-40B4-BE49-F238E27FC236}">
                <a16:creationId xmlns:a16="http://schemas.microsoft.com/office/drawing/2014/main" id="{9D43537F-5F77-CEFE-AF5F-E06DE831A5AA}"/>
              </a:ext>
            </a:extLst>
          </p:cNvPr>
          <p:cNvSpPr>
            <a:spLocks noGrp="1"/>
          </p:cNvSpPr>
          <p:nvPr>
            <p:ph type="sldNum" sz="quarter" idx="5"/>
          </p:nvPr>
        </p:nvSpPr>
        <p:spPr/>
      </p:sp>
    </p:spTree>
    <p:extLst>
      <p:ext uri="{BB962C8B-B14F-4D97-AF65-F5344CB8AC3E}">
        <p14:creationId xmlns:p14="http://schemas.microsoft.com/office/powerpoint/2010/main" val="27081888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2704-B79B-F8AB-1A86-1E9FA35E7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79C02-FAF3-C11B-3BF0-ABDE9EB768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B061664-B1B8-4E8E-8379-AE2CE27CC0FA}"/>
              </a:ext>
            </a:extLst>
          </p:cNvPr>
          <p:cNvSpPr>
            <a:spLocks noGrp="1"/>
          </p:cNvSpPr>
          <p:nvPr>
            <p:ph type="body" sz="quarter" idx="3"/>
          </p:nvPr>
        </p:nvSpPr>
        <p:spPr/>
        <p:txBody>
          <a:bodyPr/>
          <a:lstStyle/>
          <a:p>
            <a:r>
              <a:rPr lang="en-US" dirty="0"/>
              <a:t>加速度脈波はPPG原波形を2回微分したものです。</a:t>
            </a:r>
          </a:p>
          <a:p>
            <a:r>
              <a:rPr lang="en-US" dirty="0" err="1"/>
              <a:t>そのメリットは原波形での変化を極値として表示できる点にあり、わずかな変化を見逃しません</a:t>
            </a:r>
            <a:r>
              <a:rPr lang="en-US" dirty="0"/>
              <a:t>。</a:t>
            </a:r>
          </a:p>
          <a:p>
            <a:r>
              <a:rPr lang="en-US" dirty="0" err="1"/>
              <a:t>二次微分という解析的手法を臨床に体系化したのは日本人で、高沢らの功績です</a:t>
            </a:r>
            <a:r>
              <a:rPr lang="en-US" dirty="0"/>
              <a:t>。</a:t>
            </a:r>
          </a:p>
          <a:p>
            <a:endParaRPr lang="en-US" dirty="0"/>
          </a:p>
          <a:p>
            <a:r>
              <a:rPr lang="en-US" dirty="0" err="1"/>
              <a:t>振幅情報が消えること、ノイズが増幅されることなどが欠点</a:t>
            </a:r>
            <a:r>
              <a:rPr lang="en-US" dirty="0"/>
              <a:t>。</a:t>
            </a:r>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97A790A7-DEA7-7414-F8F3-363170EA35E6}"/>
              </a:ext>
            </a:extLst>
          </p:cNvPr>
          <p:cNvSpPr>
            <a:spLocks noGrp="1"/>
          </p:cNvSpPr>
          <p:nvPr>
            <p:ph type="sldNum" sz="quarter" idx="5"/>
          </p:nvPr>
        </p:nvSpPr>
        <p:spPr/>
      </p:sp>
    </p:spTree>
    <p:extLst>
      <p:ext uri="{BB962C8B-B14F-4D97-AF65-F5344CB8AC3E}">
        <p14:creationId xmlns:p14="http://schemas.microsoft.com/office/powerpoint/2010/main" val="3283893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465A0-6F8A-B442-BCB2-9F2395D14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D53C2-0B0E-CDF0-E1E3-1CACDF037B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418670-ACBE-AE37-4CFB-D39DAD6C73C6}"/>
              </a:ext>
            </a:extLst>
          </p:cNvPr>
          <p:cNvSpPr>
            <a:spLocks noGrp="1"/>
          </p:cNvSpPr>
          <p:nvPr>
            <p:ph type="body" sz="quarter" idx="3"/>
          </p:nvPr>
        </p:nvSpPr>
        <p:spPr/>
        <p:txBody>
          <a:bodyPr/>
          <a:lstStyle/>
          <a:p>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は加齢で正方向に、</a:t>
            </a:r>
            <a:r>
              <a:rPr kumimoji="1" lang="en" altLang="ja-JP" sz="1200" b="1" i="0" kern="1200" dirty="0">
                <a:solidFill>
                  <a:schemeClr val="tx1"/>
                </a:solidFill>
                <a:effectLst/>
                <a:latin typeface="+mn-lt"/>
                <a:ea typeface="+mn-ea"/>
                <a:cs typeface="+mn-cs"/>
              </a:rPr>
              <a:t>c/a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e/a</a:t>
            </a:r>
            <a:r>
              <a:rPr kumimoji="1" lang="ja-JP" altLang="en-US" sz="1200" b="1" i="0" kern="1200">
                <a:solidFill>
                  <a:schemeClr val="tx1"/>
                </a:solidFill>
                <a:effectLst/>
                <a:latin typeface="+mn-lt"/>
                <a:ea typeface="+mn-ea"/>
                <a:cs typeface="+mn-cs"/>
              </a:rPr>
              <a:t>は加齢で負方向に変化する</a:t>
            </a:r>
            <a:r>
              <a:rPr kumimoji="1" lang="ja-JP" altLang="en-US" sz="1200" b="0" i="0" kern="1200">
                <a:solidFill>
                  <a:schemeClr val="tx1"/>
                </a:solidFill>
                <a:effectLst/>
                <a:latin typeface="+mn-lt"/>
                <a:ea typeface="+mn-ea"/>
                <a:cs typeface="+mn-cs"/>
              </a:rPr>
              <a:t>という逆方向のトレンドを持つため、これらを単純に足し合わせると加齢の効果が相殺されてしまう。そこで</a:t>
            </a:r>
            <a:r>
              <a:rPr kumimoji="1" lang="en" altLang="ja-JP" sz="1200" b="1" i="0" kern="1200" dirty="0" err="1">
                <a:solidFill>
                  <a:schemeClr val="tx1"/>
                </a:solidFill>
                <a:effectLst/>
                <a:latin typeface="+mn-lt"/>
                <a:ea typeface="+mn-ea"/>
                <a:cs typeface="+mn-cs"/>
              </a:rPr>
              <a:t>Takazawa</a:t>
            </a:r>
            <a:r>
              <a:rPr kumimoji="1" lang="ja-JP" altLang="en-US" sz="1200" b="1" i="0" kern="1200">
                <a:solidFill>
                  <a:schemeClr val="tx1"/>
                </a:solidFill>
                <a:effectLst/>
                <a:latin typeface="+mn-lt"/>
                <a:ea typeface="+mn-ea"/>
                <a:cs typeface="+mn-cs"/>
              </a:rPr>
              <a:t>らは</a:t>
            </a:r>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から他の</a:t>
            </a:r>
            <a:r>
              <a:rPr kumimoji="1" lang="en-US" altLang="ja-JP" sz="1200" b="1" i="0" kern="1200" dirty="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成分を差し引く</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b−c−d−e)/a</a:t>
            </a:r>
            <a:r>
              <a:rPr kumimoji="1" lang="ja-JP" altLang="en-US" sz="1200" b="1" i="0" kern="1200">
                <a:solidFill>
                  <a:schemeClr val="tx1"/>
                </a:solidFill>
                <a:effectLst/>
                <a:latin typeface="+mn-lt"/>
                <a:ea typeface="+mn-ea"/>
                <a:cs typeface="+mn-cs"/>
              </a:rPr>
              <a:t>という合成式</a:t>
            </a:r>
            <a:r>
              <a:rPr kumimoji="1" lang="ja-JP" altLang="en-US" sz="1200" b="0" i="0" kern="1200">
                <a:solidFill>
                  <a:schemeClr val="tx1"/>
                </a:solidFill>
                <a:effectLst/>
                <a:latin typeface="+mn-lt"/>
                <a:ea typeface="+mn-ea"/>
                <a:cs typeface="+mn-cs"/>
              </a:rPr>
              <a:t>を設計することで、すべての成分の加齢効果を同一方向に揃え、加齢に伴う変化を増幅・単一指標として集約した。</a:t>
            </a:r>
            <a:endParaRPr lang="en-US" dirty="0"/>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67E83ED4-38FC-C5CB-D260-F4D39B5C4382}"/>
              </a:ext>
            </a:extLst>
          </p:cNvPr>
          <p:cNvSpPr>
            <a:spLocks noGrp="1"/>
          </p:cNvSpPr>
          <p:nvPr>
            <p:ph type="sldNum" sz="quarter" idx="5"/>
          </p:nvPr>
        </p:nvSpPr>
        <p:spPr/>
      </p:sp>
    </p:spTree>
    <p:extLst>
      <p:ext uri="{BB962C8B-B14F-4D97-AF65-F5344CB8AC3E}">
        <p14:creationId xmlns:p14="http://schemas.microsoft.com/office/powerpoint/2010/main" val="23969401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5B5AC-5AD2-01D6-FC18-5C9A7E26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B0B96-B5CB-49D5-B07E-B36FE0D682F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A8C1D4-7430-14BF-EA70-730964FDFBFA}"/>
              </a:ext>
            </a:extLst>
          </p:cNvPr>
          <p:cNvSpPr>
            <a:spLocks noGrp="1"/>
          </p:cNvSpPr>
          <p:nvPr>
            <p:ph type="body" sz="quarter" idx="3"/>
          </p:nvPr>
        </p:nvSpPr>
        <p:spPr/>
        <p:txBody>
          <a:bodyPr/>
          <a:lstStyle/>
          <a:p>
            <a:r>
              <a:t>5.3 の2枚目。SDPPG（加速度脈波）の指標が実際に何と結びついたのか、主要3研究を並べる。</a:t>
            </a:r>
          </a:p>
          <a:p>
            <a:endParaRPr/>
          </a:p>
          <a:p>
            <a:r>
              <a:t>指標の定義</a:t>
            </a:r>
          </a:p>
          <a:p>
            <a:r>
              <a:t>・SDPPG ＝ 指尖 PPG の二次微分。収縮期に a（初期陽性）・b（初期陰性）・c（再上昇）・d（再下降）、</a:t>
            </a:r>
          </a:p>
          <a:p>
            <a:r>
              <a:t>　拡張期に e（重複切痕に相当）の5つの極値が定義される。</a:t>
            </a:r>
          </a:p>
          <a:p>
            <a:r>
              <a:t>・b/a：加齢で増加。大血管の硬さ側の指標。</a:t>
            </a:r>
          </a:p>
          <a:p>
            <a:r>
              <a:t>・d/a：血管作動薬で鋭敏に動く。末梢トーヌス側の指標（負の値をとる）。</a:t>
            </a:r>
          </a:p>
          <a:p>
            <a:r>
              <a:t>・AGI（加齢指数／aging index）＝ (b − c − d − e) / a。</a:t>
            </a:r>
          </a:p>
          <a:p>
            <a:endParaRPr/>
          </a:p>
          <a:p>
            <a:r>
              <a:t>① Takazawa K, et al. Hypertension 1998;32:365–70.（PMID 9719069）</a:t>
            </a:r>
          </a:p>
          <a:p>
            <a:r>
              <a:t>・研究1：上行大動脈圧を同時記録した患者39名（平均54±11歳）。</a:t>
            </a:r>
          </a:p>
          <a:p>
            <a:r>
              <a:t>　上行大動脈圧はアンジオテンシン負荷で 126/74 → 160/91 mmHg、ニトログリセリンで 111/73 mmHg。</a:t>
            </a:r>
          </a:p>
          <a:p>
            <a:r>
              <a:t>　d/a はアンジオテンシンで −0.40±0.13 → −0.62±0.19、ニトログリセリンで −0.25±0.12（いずれも P&lt;0.001）。</a:t>
            </a:r>
          </a:p>
          <a:p>
            <a:r>
              <a:t>　＝血管収縮で d/a はより負に、血管拡張で 0 に近づく。</a:t>
            </a:r>
          </a:p>
          <a:p>
            <a:r>
              <a:t>　負の d/a は 容積脈波 AIx と r=0.79、上行大動脈 AIx と r=0.80（いずれも P&lt;0.001）。</a:t>
            </a:r>
          </a:p>
          <a:p>
            <a:r>
              <a:t>・研究2：健診受診者600名（30代〜80代、各年代男女50名ずつ）。</a:t>
            </a:r>
          </a:p>
          <a:p>
            <a:r>
              <a:t>　b/a は加齢で増加、c/a・d/a・e/a は減少。加齢指数は y = 0.023x − 1.515（r=0.80、P&lt;0.001）。</a:t>
            </a:r>
          </a:p>
          <a:p>
            <a:r>
              <a:t>　糖尿病・高血圧・高コレステロール血症・虚血性心疾患のいずれかの既往を持つ126名の加齢指数は</a:t>
            </a:r>
          </a:p>
          <a:p>
            <a:r>
              <a:t>　−0.06±0.36 で、年齢マッチ対照 −0.22±0.41 より高値（P&lt;0.01）。女性が男性より高値（P&lt;0.01）。</a:t>
            </a:r>
          </a:p>
          <a:p>
            <a:endParaRPr/>
          </a:p>
          <a:p>
            <a:r>
              <a:t>② Bortolotto LA, et al. Am J Hypertens 2000;13:165–71.（PMID 10701816）</a:t>
            </a:r>
          </a:p>
          <a:p>
            <a:r>
              <a:t>・連続した本態性高血圧患者524例。うち動脈硬化性病変（AA）を有するもの140例。</a:t>
            </a:r>
          </a:p>
          <a:p>
            <a:r>
              <a:t>・AA 群 vs 非 AA 群：PWV 14.9±4 vs 12.4±2 m/s（P&lt;.001）、</a:t>
            </a:r>
          </a:p>
          <a:p>
            <a:r>
              <a:t>　SDPTG 加齢指数 −0.093±0.03 vs −0.271±0.018（P&lt;.001）、PTG AUI 0.322±0.16 vs 0.252±0.09（P&lt;.001）。</a:t>
            </a:r>
          </a:p>
          <a:p>
            <a:r>
              <a:t>・60歳以下では PWV のみ AA 群で高く、60歳超では PWV と SDPTG AI の両方が高値。</a:t>
            </a:r>
          </a:p>
          <a:p>
            <a:r>
              <a:t>・ただし AA の有無に対するロジスティック回帰では PWV が有意な独立規定因子で、</a:t>
            </a:r>
          </a:p>
          <a:p>
            <a:r>
              <a:t>　SDPTG-AI の寄与は弱かった。＝「高血圧患者の血管加齢評価に有用」という限定つきの結論。</a:t>
            </a:r>
          </a:p>
          <a:p>
            <a:endParaRPr/>
          </a:p>
          <a:p>
            <a:r>
              <a:t>③ Hashimoto J, et al. J Hypertens 2002;20:2415–22.（PMID 12473866）</a:t>
            </a:r>
          </a:p>
          <a:p>
            <a:r>
              <a:t>・治療中の高血圧患者294名（32〜91歳、平均61.4±10.5歳）。</a:t>
            </a:r>
          </a:p>
          <a:p>
            <a:r>
              <a:t>・重回帰で年齢・収縮期血圧・心拍数が PWV と独立に正相関。SDPTG 指標は年齢・血圧と独立に関連し、</a:t>
            </a:r>
          </a:p>
          <a:p>
            <a:r>
              <a:t>　D:A 比・AGI とは正、B:A 比とは負の相関。心拍数は D:A 比・AGI と負、B:A 比と正の相関。</a:t>
            </a:r>
          </a:p>
          <a:p>
            <a:r>
              <a:t>・PWV と SDPTG 指標は年齢・血圧という共通因子を持つが相互の相関は弱く、</a:t>
            </a:r>
          </a:p>
          <a:p>
            <a:r>
              <a:t>　中心部と末梢部の動脈特性について異なる情報を与えると結論。</a:t>
            </a:r>
          </a:p>
          <a:p>
            <a:endParaRPr/>
          </a:p>
          <a:p>
            <a:r>
              <a:t>読み方</a:t>
            </a:r>
          </a:p>
          <a:p>
            <a:r>
              <a:t>・d/a は「いま効いている薬・いまのトーヌス」を映す急性軸、AGI は「その人の血管年齢」を映す</a:t>
            </a:r>
          </a:p>
          <a:p>
            <a:r>
              <a:t>　半ば固定的な慢性軸。この二軸で読むのが SDPPG の使い方（6章の2軸整理につながる）。</a:t>
            </a:r>
          </a:p>
          <a:p>
            <a:r>
              <a:t>・限界：二次微分は高周波ノイズを2乗で増幅するため、平滑化・帯域制限の設定（サンプリング周波数、</a:t>
            </a:r>
          </a:p>
          <a:p>
            <a:r>
              <a:t>　カットオフ、差分幅）で b/a・d/a の値が変わる。文献間で数値を直接比べられないのはこのため。</a:t>
            </a:r>
          </a:p>
          <a:p>
            <a:r>
              <a:t>・b/a（大血管側）は再現性が比較的良いが、d/a・e/a（小血管側）は再現性が落ちる。</a:t>
            </a:r>
          </a:p>
          <a:p>
            <a:endParaRPr/>
          </a:p>
        </p:txBody>
      </p:sp>
      <p:sp>
        <p:nvSpPr>
          <p:cNvPr id="4" name="Slide Number Placeholder 3">
            <a:extLst>
              <a:ext uri="{FF2B5EF4-FFF2-40B4-BE49-F238E27FC236}">
                <a16:creationId xmlns:a16="http://schemas.microsoft.com/office/drawing/2014/main" id="{1D49C0F2-6B65-348A-402D-68732588F490}"/>
              </a:ext>
            </a:extLst>
          </p:cNvPr>
          <p:cNvSpPr>
            <a:spLocks noGrp="1"/>
          </p:cNvSpPr>
          <p:nvPr>
            <p:ph type="sldNum" sz="quarter" idx="5"/>
          </p:nvPr>
        </p:nvSpPr>
        <p:spPr/>
      </p:sp>
    </p:spTree>
    <p:extLst>
      <p:ext uri="{BB962C8B-B14F-4D97-AF65-F5344CB8AC3E}">
        <p14:creationId xmlns:p14="http://schemas.microsoft.com/office/powerpoint/2010/main" val="32098446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 SDPPG は何を測れたか（前ページの改善案）</a:t>
            </a:r>
          </a:p>
          <a:p>
            <a:endParaRPr/>
          </a:p>
          <a:p>
            <a:r>
              <a:t>前ページは「文献名 → 知見」を 5 行並べる形だった。何が言えて何が言えないのかを</a:t>
            </a:r>
          </a:p>
          <a:p>
            <a:r>
              <a:t>つかみやすくするため、**問いの軸で 3 列に組み替えた**のがこのページである。</a:t>
            </a:r>
          </a:p>
          <a:p>
            <a:endParaRPr/>
          </a:p>
          <a:p>
            <a:r>
              <a:t>【急性のトーヌス軸：○】</a:t>
            </a:r>
          </a:p>
          <a:p>
            <a:r>
              <a:t>・24. Takazawa 1998：上行大動脈圧を同時記録した 39 名。d/a はアンジオテンシン II で</a:t>
            </a:r>
          </a:p>
          <a:p>
            <a:r>
              <a:t>　−0.40±0.13 → −0.62±0.19、ニトログリセリンで −0.25±0.12（いずれも P&lt;0.001）。</a:t>
            </a:r>
          </a:p>
          <a:p>
            <a:r>
              <a:t>　血管収縮で d/a はより負に、血管拡張で 0 に近づく。＝薬理学的に鋭敏に動く。</a:t>
            </a:r>
          </a:p>
          <a:p>
            <a:endParaRPr/>
          </a:p>
          <a:p>
            <a:r>
              <a:t>【慢性の加齢軸：○】</a:t>
            </a:r>
          </a:p>
          <a:p>
            <a:r>
              <a:t>・24. Takazawa 1998：健診受診者 600 名。加齢指数 AGI は y = 0.023x − 1.515（r=0.80, P&lt;0.001）。</a:t>
            </a:r>
          </a:p>
          <a:p>
            <a:r>
              <a:t>・26. Otsuka 2006：一般集団 211 名。SDPTG 指標は Framingham risk score と相関</a:t>
            </a:r>
          </a:p>
          <a:p>
            <a:r>
              <a:t>　（b/a r=0.43(男)/0.54(女)、d/a r=−0.38/−0.58）。高リスク者の判別は感度・特異度とも 0.85。</a:t>
            </a:r>
          </a:p>
          <a:p>
            <a:endParaRPr/>
          </a:p>
          <a:p>
            <a:r>
              <a:t>【臓器障害・動脈硬化軸：×】</a:t>
            </a:r>
          </a:p>
          <a:p>
            <a:r>
              <a:t>・25. Bortolotto 2000：高血圧 524 例。動脈硬化性病変あり群で AGI −0.093 vs なし −0.271（P&lt;.001）</a:t>
            </a:r>
          </a:p>
          <a:p>
            <a:r>
              <a:t>　だが、ロジスティック回帰では PWV が有意な独立規定因子で SDPTG-AI の寄与は弱かった。</a:t>
            </a:r>
          </a:p>
          <a:p>
            <a:r>
              <a:t>・27. Tabara 2016（J-SHIPP）：b/a・d/a・AGI の強い規定因子は年齢・性・収縮期血圧・心拍数で、</a:t>
            </a:r>
          </a:p>
          <a:p>
            <a:r>
              <a:t>　頸動脈 IMT など臓器障害との関連は弱いか有意でない（b/a で β=0.069, P=0.002）。</a:t>
            </a:r>
          </a:p>
          <a:p>
            <a:endParaRPr/>
          </a:p>
          <a:p>
            <a:r>
              <a:t>【位置づけ】</a:t>
            </a:r>
          </a:p>
          <a:p>
            <a:r>
              <a:t>・16. Hashimoto 2002：治療中高血圧 294 名。PWV と SDPTG 指標は年齢・血圧という共通因子を</a:t>
            </a:r>
          </a:p>
          <a:p>
            <a:r>
              <a:t>　持つが相互の相関は弱く、中心部と末梢部について異なる情報を与える。</a:t>
            </a:r>
          </a:p>
          <a:p>
            <a:r>
              <a:t>　＝ SDPPG は PWV の代用ではない。別の軸として扱う。</a:t>
            </a:r>
          </a:p>
          <a:p>
            <a:endParaRPr/>
          </a:p>
          <a:p>
            <a:r>
              <a:t>【まとめ】</a:t>
            </a:r>
          </a:p>
          <a:p>
            <a:r>
              <a:t>SDPPG は「いま血管トーヌスがどう動いたか」と「年齢相応か」には答えられるが、</a:t>
            </a:r>
          </a:p>
          <a:p>
            <a:r>
              <a:t>「臓器障害があるか」には単独では答えられない。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23EE6-4D26-652B-390C-6C5CF4225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B697D-4BCF-08AA-6BC8-78CB39215A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117ECD-EF2E-3790-EFB6-5445C57B9497}"/>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A052C56-A64C-6701-08AD-D42F39C65B58}"/>
              </a:ext>
            </a:extLst>
          </p:cNvPr>
          <p:cNvSpPr>
            <a:spLocks noGrp="1"/>
          </p:cNvSpPr>
          <p:nvPr>
            <p:ph type="sldNum" sz="quarter" idx="5"/>
          </p:nvPr>
        </p:nvSpPr>
        <p:spPr/>
      </p:sp>
    </p:spTree>
    <p:extLst>
      <p:ext uri="{BB962C8B-B14F-4D97-AF65-F5344CB8AC3E}">
        <p14:creationId xmlns:p14="http://schemas.microsoft.com/office/powerpoint/2010/main" val="11946345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55AD-E244-D23A-4297-E6F28FA3D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73239-F92D-11DF-4446-9542B5CE3DB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73FD843-3800-0778-4849-6DA8FCA1CFB3}"/>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58E3A687-86C5-FF92-B3E2-6DA642E12B9F}"/>
              </a:ext>
            </a:extLst>
          </p:cNvPr>
          <p:cNvSpPr>
            <a:spLocks noGrp="1"/>
          </p:cNvSpPr>
          <p:nvPr>
            <p:ph type="sldNum" sz="quarter" idx="5"/>
          </p:nvPr>
        </p:nvSpPr>
        <p:spPr/>
      </p:sp>
    </p:spTree>
    <p:extLst>
      <p:ext uri="{BB962C8B-B14F-4D97-AF65-F5344CB8AC3E}">
        <p14:creationId xmlns:p14="http://schemas.microsoft.com/office/powerpoint/2010/main" val="6393901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6299A-76F4-5E53-39C2-CD7F997FE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2A9B8-01B6-0359-CB06-637718E150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FEC65F3-2C03-6E50-C084-608BC09B746F}"/>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EE5FF02B-6996-28EF-500A-81C33090C21D}"/>
              </a:ext>
            </a:extLst>
          </p:cNvPr>
          <p:cNvSpPr>
            <a:spLocks noGrp="1"/>
          </p:cNvSpPr>
          <p:nvPr>
            <p:ph type="sldNum" sz="quarter" idx="5"/>
          </p:nvPr>
        </p:nvSpPr>
        <p:spPr/>
      </p:sp>
    </p:spTree>
    <p:extLst>
      <p:ext uri="{BB962C8B-B14F-4D97-AF65-F5344CB8AC3E}">
        <p14:creationId xmlns:p14="http://schemas.microsoft.com/office/powerpoint/2010/main" val="19274093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1F5D-907A-5408-2294-D1635E782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5D77E-A48D-4F10-7339-A6CAF0EBCBC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E5749B-2AB0-7A13-E720-36673C05486B}"/>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D9CD6C61-19E9-2FCF-01B9-2341E17E4A2D}"/>
              </a:ext>
            </a:extLst>
          </p:cNvPr>
          <p:cNvSpPr>
            <a:spLocks noGrp="1"/>
          </p:cNvSpPr>
          <p:nvPr>
            <p:ph type="sldNum" sz="quarter" idx="5"/>
          </p:nvPr>
        </p:nvSpPr>
        <p:spPr/>
      </p:sp>
    </p:spTree>
    <p:extLst>
      <p:ext uri="{BB962C8B-B14F-4D97-AF65-F5344CB8AC3E}">
        <p14:creationId xmlns:p14="http://schemas.microsoft.com/office/powerpoint/2010/main" val="21171384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F680-1AF7-27A2-6E26-FA391AFDC7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5936F0-B182-F864-0D92-28F29E275F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9A86F4-E3C4-8497-E2A0-5435CE526A90}"/>
              </a:ext>
            </a:extLst>
          </p:cNvPr>
          <p:cNvSpPr>
            <a:spLocks noGrp="1"/>
          </p:cNvSpPr>
          <p:nvPr>
            <p:ph type="body" idx="1"/>
          </p:nvPr>
        </p:nvSpPr>
        <p:spPr/>
        <p:txBody>
          <a:bodyPr/>
          <a:lstStyle/>
          <a:p>
            <a:r>
              <a:rPr dirty="0"/>
              <a:t>読み方は2軸に整理する。左＝慢性（反射・スティフネス軸）、</a:t>
            </a:r>
            <a:r>
              <a:rPr dirty="0" err="1"/>
              <a:t>右＝急性（血管トーヌス軸</a:t>
            </a:r>
            <a:r>
              <a:rPr dirty="0"/>
              <a:t>）。</a:t>
            </a:r>
          </a:p>
          <a:p>
            <a:endParaRPr dirty="0"/>
          </a:p>
          <a:p>
            <a:r>
              <a:rPr dirty="0"/>
              <a:t>【</a:t>
            </a:r>
            <a:r>
              <a:rPr dirty="0" err="1"/>
              <a:t>左軸に足した一行：SI</a:t>
            </a:r>
            <a:r>
              <a:rPr dirty="0"/>
              <a:t> </a:t>
            </a:r>
            <a:r>
              <a:rPr dirty="0" err="1"/>
              <a:t>は血圧に強く依存する</a:t>
            </a:r>
            <a:r>
              <a:rPr dirty="0"/>
              <a:t>】</a:t>
            </a:r>
          </a:p>
          <a:p>
            <a:r>
              <a:rPr dirty="0"/>
              <a:t>SI </a:t>
            </a:r>
            <a:r>
              <a:rPr dirty="0" err="1"/>
              <a:t>は「大動脈</a:t>
            </a:r>
            <a:r>
              <a:rPr dirty="0"/>
              <a:t> PWV </a:t>
            </a:r>
            <a:r>
              <a:rPr dirty="0" err="1"/>
              <a:t>の代用」だが、PWV</a:t>
            </a:r>
            <a:r>
              <a:rPr dirty="0"/>
              <a:t> </a:t>
            </a:r>
            <a:r>
              <a:rPr dirty="0" err="1"/>
              <a:t>自体が測定時の伸展圧（血圧）に強く依存する</a:t>
            </a:r>
            <a:r>
              <a:rPr dirty="0"/>
              <a:t>。</a:t>
            </a:r>
          </a:p>
          <a:p>
            <a:r>
              <a:rPr dirty="0"/>
              <a:t>・</a:t>
            </a:r>
            <a:r>
              <a:rPr dirty="0" err="1"/>
              <a:t>機序：低い血圧では壁の張力をエラスチンが負担するが、血圧が上がるほど、より硬いコラーゲンが</a:t>
            </a:r>
            <a:endParaRPr dirty="0"/>
          </a:p>
          <a:p>
            <a:r>
              <a:rPr dirty="0"/>
              <a:t>　</a:t>
            </a:r>
            <a:r>
              <a:rPr dirty="0" err="1"/>
              <a:t>荷重を担うようになる（Charlton</a:t>
            </a:r>
            <a:r>
              <a:rPr dirty="0"/>
              <a:t> 2022 </a:t>
            </a:r>
            <a:r>
              <a:rPr dirty="0" err="1"/>
              <a:t>VascAgeNet</a:t>
            </a:r>
            <a:r>
              <a:rPr dirty="0"/>
              <a:t> </a:t>
            </a:r>
            <a:r>
              <a:rPr dirty="0" err="1"/>
              <a:t>総説</a:t>
            </a:r>
            <a:r>
              <a:rPr dirty="0"/>
              <a:t>, Am J </a:t>
            </a:r>
            <a:r>
              <a:rPr dirty="0" err="1"/>
              <a:t>Physiol</a:t>
            </a:r>
            <a:r>
              <a:rPr dirty="0"/>
              <a:t> Heart Circ </a:t>
            </a:r>
            <a:r>
              <a:rPr dirty="0" err="1"/>
              <a:t>Physiol</a:t>
            </a:r>
            <a:r>
              <a:rPr dirty="0"/>
              <a:t> 322:H493）。</a:t>
            </a:r>
          </a:p>
          <a:p>
            <a:r>
              <a:rPr dirty="0"/>
              <a:t>　</a:t>
            </a:r>
            <a:r>
              <a:rPr dirty="0" err="1"/>
              <a:t>つまり同じ血管でも「今の血圧」が高いほど硬く測れる</a:t>
            </a:r>
            <a:r>
              <a:rPr dirty="0"/>
              <a:t>。</a:t>
            </a:r>
          </a:p>
          <a:p>
            <a:r>
              <a:rPr dirty="0"/>
              <a:t>・</a:t>
            </a:r>
            <a:r>
              <a:rPr dirty="0" err="1"/>
              <a:t>降圧治療のメタ解析：PWV</a:t>
            </a:r>
            <a:r>
              <a:rPr dirty="0"/>
              <a:t> </a:t>
            </a:r>
            <a:r>
              <a:rPr dirty="0" err="1"/>
              <a:t>の低下は平均血圧</a:t>
            </a:r>
            <a:r>
              <a:rPr dirty="0"/>
              <a:t> −10 mmHg </a:t>
            </a:r>
            <a:r>
              <a:rPr dirty="0" err="1"/>
              <a:t>あたり</a:t>
            </a:r>
            <a:r>
              <a:rPr dirty="0"/>
              <a:t> −0.65 m/s（95%CI −0.46〜−0.83）で、</a:t>
            </a:r>
          </a:p>
          <a:p>
            <a:r>
              <a:rPr dirty="0"/>
              <a:t>　</a:t>
            </a:r>
            <a:r>
              <a:rPr dirty="0" err="1"/>
              <a:t>これは経壁圧を急性に変えたときの変化とほぼ同じ大きさ</a:t>
            </a:r>
            <a:r>
              <a:rPr dirty="0"/>
              <a:t>。＝</a:t>
            </a:r>
            <a:r>
              <a:rPr dirty="0" err="1"/>
              <a:t>治療による</a:t>
            </a:r>
            <a:r>
              <a:rPr dirty="0"/>
              <a:t> PWV </a:t>
            </a:r>
            <a:r>
              <a:rPr dirty="0" err="1"/>
              <a:t>低下の大部分は</a:t>
            </a:r>
            <a:endParaRPr dirty="0"/>
          </a:p>
          <a:p>
            <a:r>
              <a:rPr dirty="0"/>
              <a:t>　</a:t>
            </a:r>
            <a:r>
              <a:rPr dirty="0" err="1"/>
              <a:t>血圧低下で説明される（McNally</a:t>
            </a:r>
            <a:r>
              <a:rPr dirty="0"/>
              <a:t> R, et al. Hypertension 2024）。</a:t>
            </a:r>
          </a:p>
          <a:p>
            <a:r>
              <a:rPr dirty="0"/>
              <a:t>・</a:t>
            </a:r>
            <a:r>
              <a:rPr dirty="0" err="1"/>
              <a:t>昇圧薬による急性変化：L-NMMA・ノルアドレナリン・ドブタミンで</a:t>
            </a:r>
            <a:r>
              <a:rPr dirty="0"/>
              <a:t> </a:t>
            </a:r>
            <a:r>
              <a:rPr dirty="0" err="1"/>
              <a:t>cf</a:t>
            </a:r>
            <a:r>
              <a:rPr dirty="0"/>
              <a:t>-PWV </a:t>
            </a:r>
            <a:r>
              <a:rPr dirty="0" err="1"/>
              <a:t>を動かすと、その変化量は</a:t>
            </a:r>
            <a:endParaRPr dirty="0"/>
          </a:p>
          <a:p>
            <a:r>
              <a:rPr dirty="0"/>
              <a:t>　</a:t>
            </a:r>
            <a:r>
              <a:rPr dirty="0" err="1"/>
              <a:t>平均血圧の変化量とほぼ完全に相関した（R</a:t>
            </a:r>
            <a:r>
              <a:rPr dirty="0"/>
              <a:t>&gt;0.99, P&lt;0.0001）（Stewart AD, </a:t>
            </a:r>
            <a:r>
              <a:rPr dirty="0" err="1"/>
              <a:t>Millasseau</a:t>
            </a:r>
            <a:r>
              <a:rPr dirty="0"/>
              <a:t> SC, et al.</a:t>
            </a:r>
          </a:p>
          <a:p>
            <a:r>
              <a:rPr dirty="0"/>
              <a:t>　Hypertension 2003;42:915）。</a:t>
            </a:r>
          </a:p>
          <a:p>
            <a:r>
              <a:rPr dirty="0"/>
              <a:t>・</a:t>
            </a:r>
            <a:r>
              <a:rPr dirty="0" err="1"/>
              <a:t>指尖</a:t>
            </a:r>
            <a:r>
              <a:rPr dirty="0"/>
              <a:t> PPG </a:t>
            </a:r>
            <a:r>
              <a:rPr dirty="0" err="1"/>
              <a:t>で直接見た研究：健常者で</a:t>
            </a:r>
            <a:r>
              <a:rPr dirty="0"/>
              <a:t> SI </a:t>
            </a:r>
            <a:r>
              <a:rPr dirty="0" err="1"/>
              <a:t>は収縮期・拡張期血圧と有意に相関したが、RI</a:t>
            </a:r>
            <a:r>
              <a:rPr dirty="0"/>
              <a:t> </a:t>
            </a:r>
            <a:r>
              <a:rPr dirty="0" err="1"/>
              <a:t>はどちらとも</a:t>
            </a:r>
            <a:endParaRPr dirty="0"/>
          </a:p>
          <a:p>
            <a:r>
              <a:rPr dirty="0"/>
              <a:t>　</a:t>
            </a:r>
            <a:r>
              <a:rPr dirty="0" err="1"/>
              <a:t>相関しなかった（Padilla</a:t>
            </a:r>
            <a:r>
              <a:rPr dirty="0"/>
              <a:t> JM, et al. Cardiovasc Eng 2009;9:104）。</a:t>
            </a:r>
          </a:p>
          <a:p>
            <a:r>
              <a:rPr dirty="0"/>
              <a:t>　＝「SI </a:t>
            </a:r>
            <a:r>
              <a:rPr dirty="0" err="1"/>
              <a:t>は血圧側、RI</a:t>
            </a:r>
            <a:r>
              <a:rPr dirty="0"/>
              <a:t> </a:t>
            </a:r>
            <a:r>
              <a:rPr dirty="0" err="1"/>
              <a:t>はトーヌス側」という</a:t>
            </a:r>
            <a:r>
              <a:rPr dirty="0"/>
              <a:t> 2軸の分担と整合する。</a:t>
            </a:r>
          </a:p>
          <a:p>
            <a:endParaRPr dirty="0"/>
          </a:p>
          <a:p>
            <a:r>
              <a:rPr dirty="0"/>
              <a:t>→ </a:t>
            </a:r>
            <a:r>
              <a:rPr dirty="0" err="1"/>
              <a:t>読み替え：術中に</a:t>
            </a:r>
            <a:r>
              <a:rPr dirty="0"/>
              <a:t> SI </a:t>
            </a:r>
            <a:r>
              <a:rPr dirty="0" err="1"/>
              <a:t>が短時間で動いたら、それは「血管が硬くなった」のではなく</a:t>
            </a:r>
            <a:endParaRPr dirty="0"/>
          </a:p>
          <a:p>
            <a:r>
              <a:rPr dirty="0"/>
              <a:t>　「</a:t>
            </a:r>
            <a:r>
              <a:rPr dirty="0" err="1"/>
              <a:t>血圧が変わった」を見ている可能性が高い。硬さの指標としては弱点だが</a:t>
            </a:r>
            <a:r>
              <a:rPr dirty="0"/>
              <a:t>、</a:t>
            </a:r>
          </a:p>
          <a:p>
            <a:r>
              <a:rPr dirty="0"/>
              <a:t>　</a:t>
            </a:r>
            <a:r>
              <a:rPr dirty="0" err="1"/>
              <a:t>裏返せば</a:t>
            </a:r>
            <a:r>
              <a:rPr dirty="0"/>
              <a:t> SI（＝</a:t>
            </a:r>
            <a:r>
              <a:rPr dirty="0" err="1"/>
              <a:t>時相の軸）は血圧トレンドのモニターとして使える余地がある、という言い方ができる</a:t>
            </a:r>
            <a:r>
              <a:rPr dirty="0"/>
              <a:t>。</a:t>
            </a:r>
          </a:p>
          <a:p>
            <a:endParaRPr dirty="0"/>
          </a:p>
          <a:p>
            <a:r>
              <a:rPr dirty="0"/>
              <a:t>【</a:t>
            </a:r>
            <a:r>
              <a:rPr dirty="0" err="1"/>
              <a:t>慎重に言うべきこと</a:t>
            </a:r>
            <a:r>
              <a:rPr dirty="0"/>
              <a:t>】</a:t>
            </a:r>
          </a:p>
          <a:p>
            <a:r>
              <a:rPr dirty="0"/>
              <a:t>・</a:t>
            </a:r>
            <a:r>
              <a:rPr dirty="0" err="1"/>
              <a:t>Millasseau</a:t>
            </a:r>
            <a:r>
              <a:rPr dirty="0"/>
              <a:t> 2003（Am J </a:t>
            </a:r>
            <a:r>
              <a:rPr dirty="0" err="1"/>
              <a:t>Hypertens</a:t>
            </a:r>
            <a:r>
              <a:rPr dirty="0"/>
              <a:t> 16:467）では、SI_DVP </a:t>
            </a:r>
            <a:r>
              <a:rPr dirty="0" err="1"/>
              <a:t>はアンジオテンシンII・GTN</a:t>
            </a:r>
            <a:r>
              <a:rPr dirty="0"/>
              <a:t> </a:t>
            </a:r>
            <a:r>
              <a:rPr dirty="0" err="1"/>
              <a:t>でほとんど動かなかった</a:t>
            </a:r>
            <a:r>
              <a:rPr dirty="0"/>
              <a:t>。</a:t>
            </a:r>
          </a:p>
          <a:p>
            <a:r>
              <a:rPr dirty="0"/>
              <a:t>　</a:t>
            </a:r>
            <a:r>
              <a:rPr dirty="0" err="1"/>
              <a:t>薬剤ごとに「血圧を上げても大動脈の見かけの硬さは動かない」ことがあり、SI</a:t>
            </a:r>
            <a:r>
              <a:rPr dirty="0"/>
              <a:t> ＝ </a:t>
            </a:r>
            <a:r>
              <a:rPr dirty="0" err="1"/>
              <a:t>血圧、と単純化はできない</a:t>
            </a:r>
            <a:r>
              <a:rPr dirty="0"/>
              <a:t>。</a:t>
            </a:r>
          </a:p>
          <a:p>
            <a:r>
              <a:rPr dirty="0"/>
              <a:t>・SI </a:t>
            </a:r>
            <a:r>
              <a:rPr dirty="0" err="1"/>
              <a:t>自体が</a:t>
            </a:r>
            <a:r>
              <a:rPr dirty="0"/>
              <a:t> </a:t>
            </a:r>
            <a:r>
              <a:rPr dirty="0" err="1"/>
              <a:t>cf</a:t>
            </a:r>
            <a:r>
              <a:rPr dirty="0"/>
              <a:t>-PWV の代用として個人単位では不十分（r≈0.65、Bland–Altman ±4 m/s </a:t>
            </a:r>
            <a:r>
              <a:rPr dirty="0" err="1"/>
              <a:t>程度、Millasseau</a:t>
            </a:r>
            <a:r>
              <a:rPr dirty="0"/>
              <a:t> 2002）。</a:t>
            </a:r>
          </a:p>
          <a:p>
            <a:r>
              <a:rPr dirty="0"/>
              <a:t>・</a:t>
            </a:r>
            <a:r>
              <a:rPr dirty="0" err="1"/>
              <a:t>したがって「血圧トレンドの指標にもなりうる（かもしれない</a:t>
            </a:r>
            <a:r>
              <a:rPr dirty="0"/>
              <a:t>）」</a:t>
            </a:r>
            <a:r>
              <a:rPr dirty="0" err="1"/>
              <a:t>という仮説として提示し</a:t>
            </a:r>
            <a:r>
              <a:rPr dirty="0"/>
              <a:t>、</a:t>
            </a:r>
          </a:p>
          <a:p>
            <a:r>
              <a:rPr dirty="0"/>
              <a:t>　</a:t>
            </a:r>
            <a:r>
              <a:rPr dirty="0" err="1"/>
              <a:t>絶対値ではなく同一患者内の相対変化として扱う、という限定を必ず添える</a:t>
            </a:r>
            <a:r>
              <a:rPr dirty="0"/>
              <a:t>。</a:t>
            </a:r>
          </a:p>
          <a:p>
            <a:endParaRPr dirty="0"/>
          </a:p>
          <a:p>
            <a:r>
              <a:rPr dirty="0"/>
              <a:t>（</a:t>
            </a:r>
            <a:r>
              <a:rPr dirty="0" err="1"/>
              <a:t>加齢性変化については</a:t>
            </a:r>
            <a:r>
              <a:rPr dirty="0"/>
              <a:t> Allen 2020 doi:10.1088/1361-6579/ab9b67、AIx </a:t>
            </a:r>
            <a:r>
              <a:rPr dirty="0" err="1"/>
              <a:t>は</a:t>
            </a:r>
            <a:r>
              <a:rPr dirty="0"/>
              <a:t> </a:t>
            </a:r>
            <a:r>
              <a:rPr dirty="0" err="1"/>
              <a:t>Pilt</a:t>
            </a:r>
            <a:r>
              <a:rPr dirty="0"/>
              <a:t> 2014 </a:t>
            </a:r>
            <a:r>
              <a:rPr dirty="0" err="1"/>
              <a:t>も参照</a:t>
            </a:r>
            <a:r>
              <a:rPr dirty="0"/>
              <a:t>）</a:t>
            </a:r>
          </a:p>
        </p:txBody>
      </p:sp>
      <p:sp>
        <p:nvSpPr>
          <p:cNvPr id="4" name="スライド番号プレースホルダー 3">
            <a:extLst>
              <a:ext uri="{FF2B5EF4-FFF2-40B4-BE49-F238E27FC236}">
                <a16:creationId xmlns:a16="http://schemas.microsoft.com/office/drawing/2014/main" id="{B9E26898-7377-D0F3-B712-B35D976C1465}"/>
              </a:ext>
            </a:extLst>
          </p:cNvPr>
          <p:cNvSpPr>
            <a:spLocks noGrp="1"/>
          </p:cNvSpPr>
          <p:nvPr>
            <p:ph type="sldNum" sz="quarter" idx="5"/>
          </p:nvPr>
        </p:nvSpPr>
        <p:spPr/>
        <p:txBody>
          <a:bodyPr/>
          <a:lstStyle/>
          <a:p>
            <a:fld id="{4368CECF-0771-D84F-8D42-085DB944B0B8}" type="slidenum">
              <a:rPr kumimoji="1" lang="ja-JP" altLang="en-US" smtClean="0"/>
              <a:t>67</a:t>
            </a:fld>
            <a:endParaRPr kumimoji="1" lang="ja-JP" altLang="en-US"/>
          </a:p>
        </p:txBody>
      </p:sp>
    </p:spTree>
    <p:extLst>
      <p:ext uri="{BB962C8B-B14F-4D97-AF65-F5344CB8AC3E}">
        <p14:creationId xmlns:p14="http://schemas.microsoft.com/office/powerpoint/2010/main" val="19885354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本手法の最大の実務的な壁は、SpO</a:t>
            </a:r>
            <a:r>
              <a:rPr dirty="0"/>
              <a:t>₂ </a:t>
            </a:r>
            <a:r>
              <a:rPr dirty="0" err="1"/>
              <a:t>波形の反射波が「いくつ・どこに出るか」が一定しないこと</a:t>
            </a:r>
            <a:r>
              <a:rPr dirty="0"/>
              <a:t>。</a:t>
            </a:r>
          </a:p>
          <a:p>
            <a:r>
              <a:rPr dirty="0"/>
              <a:t>・</a:t>
            </a:r>
            <a:r>
              <a:rPr dirty="0" err="1"/>
              <a:t>若年・低トーヌスでは反射波が</a:t>
            </a:r>
            <a:r>
              <a:rPr dirty="0"/>
              <a:t> 2 </a:t>
            </a:r>
            <a:r>
              <a:rPr dirty="0" err="1"/>
              <a:t>つ見えることがあり、どちらを</a:t>
            </a:r>
            <a:r>
              <a:rPr dirty="0"/>
              <a:t> P2 </a:t>
            </a:r>
            <a:r>
              <a:rPr dirty="0" err="1"/>
              <a:t>とするかが決まらない</a:t>
            </a:r>
            <a:endParaRPr dirty="0"/>
          </a:p>
          <a:p>
            <a:r>
              <a:rPr dirty="0"/>
              <a:t>・</a:t>
            </a:r>
            <a:r>
              <a:rPr dirty="0" err="1"/>
              <a:t>典型例では反射波が</a:t>
            </a:r>
            <a:r>
              <a:rPr dirty="0"/>
              <a:t> 1 </a:t>
            </a:r>
            <a:r>
              <a:rPr dirty="0" err="1"/>
              <a:t>つで、重複切痕も明瞭に取れる</a:t>
            </a:r>
            <a:endParaRPr dirty="0"/>
          </a:p>
          <a:p>
            <a:r>
              <a:rPr dirty="0"/>
              <a:t>・大動脈が硬い（高齢・高スティフネス）と反射波が収縮期ピークに融合し、P2 </a:t>
            </a:r>
            <a:r>
              <a:rPr dirty="0" err="1"/>
              <a:t>という「点」が</a:t>
            </a:r>
            <a:endParaRPr dirty="0"/>
          </a:p>
          <a:p>
            <a:r>
              <a:rPr dirty="0"/>
              <a:t>　</a:t>
            </a:r>
            <a:r>
              <a:rPr dirty="0" err="1"/>
              <a:t>そもそも存在しなくなる</a:t>
            </a:r>
            <a:endParaRPr dirty="0"/>
          </a:p>
          <a:p>
            <a:r>
              <a:rPr dirty="0"/>
              <a:t>・</a:t>
            </a:r>
            <a:r>
              <a:rPr dirty="0" err="1"/>
              <a:t>過減衰・DN-less</a:t>
            </a:r>
            <a:r>
              <a:rPr dirty="0"/>
              <a:t> </a:t>
            </a:r>
            <a:r>
              <a:rPr dirty="0" err="1"/>
              <a:t>の信号では切痕そのものが消える</a:t>
            </a:r>
            <a:endParaRPr dirty="0"/>
          </a:p>
          <a:p>
            <a:r>
              <a:rPr dirty="0"/>
              <a:t>SI </a:t>
            </a:r>
            <a:r>
              <a:rPr dirty="0" err="1"/>
              <a:t>も</a:t>
            </a:r>
            <a:r>
              <a:rPr dirty="0"/>
              <a:t> RI </a:t>
            </a:r>
            <a:r>
              <a:rPr dirty="0" err="1"/>
              <a:t>も</a:t>
            </a:r>
            <a:r>
              <a:rPr dirty="0"/>
              <a:t> </a:t>
            </a:r>
            <a:r>
              <a:rPr dirty="0" err="1"/>
              <a:t>AIx</a:t>
            </a:r>
            <a:r>
              <a:rPr dirty="0"/>
              <a:t> も「P1 </a:t>
            </a:r>
            <a:r>
              <a:rPr dirty="0" err="1"/>
              <a:t>と</a:t>
            </a:r>
            <a:r>
              <a:rPr dirty="0"/>
              <a:t> P2 </a:t>
            </a:r>
            <a:r>
              <a:rPr dirty="0" err="1"/>
              <a:t>が同定できること」を前提にした指標なので、この前提が崩れる</a:t>
            </a:r>
            <a:endParaRPr dirty="0"/>
          </a:p>
          <a:p>
            <a:r>
              <a:rPr dirty="0" err="1"/>
              <a:t>波形では計算自体が成立しない。つまり単一の閾値・ルールで全患者・全拍を自動解析することは</a:t>
            </a:r>
            <a:endParaRPr dirty="0"/>
          </a:p>
          <a:p>
            <a:r>
              <a:rPr dirty="0" err="1"/>
              <a:t>できない</a:t>
            </a:r>
            <a:r>
              <a:rPr dirty="0"/>
              <a:t>。</a:t>
            </a:r>
          </a:p>
          <a:p>
            <a:r>
              <a:rPr dirty="0" err="1"/>
              <a:t>実務上の対応は、SDPPG</a:t>
            </a:r>
            <a:r>
              <a:rPr dirty="0"/>
              <a:t> </a:t>
            </a:r>
            <a:r>
              <a:rPr dirty="0" err="1"/>
              <a:t>による変曲点検出、低品質拍の除外、そして絶対値ではなく</a:t>
            </a:r>
            <a:endParaRPr dirty="0"/>
          </a:p>
          <a:p>
            <a:r>
              <a:rPr dirty="0" err="1"/>
              <a:t>自己基準（同一患者内の相対変化）での運用</a:t>
            </a:r>
            <a:r>
              <a:rPr dirty="0"/>
              <a:t>。(</a:t>
            </a:r>
            <a:r>
              <a:rPr dirty="0" err="1"/>
              <a:t>Elgendi</a:t>
            </a:r>
            <a:r>
              <a:rPr dirty="0"/>
              <a:t> 2012)</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70</a:t>
            </a:fld>
            <a:endParaRPr kumimoji="1" lang="ja-JP" altLang="en-US"/>
          </a:p>
        </p:txBody>
      </p:sp>
    </p:spTree>
    <p:extLst>
      <p:ext uri="{BB962C8B-B14F-4D97-AF65-F5344CB8AC3E}">
        <p14:creationId xmlns:p14="http://schemas.microsoft.com/office/powerpoint/2010/main" val="40536581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8C90B-C38C-9F84-4650-E12B1B4CE0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D08E72-E7BC-F6A5-A003-58BD35C7A6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55A61F-1B07-D593-6818-12F4E4242214}"/>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CD70CE38-97F3-4FCF-5C9D-BE87403C8145}"/>
              </a:ext>
            </a:extLst>
          </p:cNvPr>
          <p:cNvSpPr>
            <a:spLocks noGrp="1"/>
          </p:cNvSpPr>
          <p:nvPr>
            <p:ph type="sldNum" sz="quarter" idx="5"/>
          </p:nvPr>
        </p:nvSpPr>
        <p:spPr/>
        <p:txBody>
          <a:bodyPr/>
          <a:lstStyle/>
          <a:p>
            <a:fld id="{4368CECF-0771-D84F-8D42-085DB944B0B8}" type="slidenum">
              <a:rPr kumimoji="1" lang="ja-JP" altLang="en-US" smtClean="0"/>
              <a:t>71</a:t>
            </a:fld>
            <a:endParaRPr kumimoji="1" lang="ja-JP" altLang="en-US"/>
          </a:p>
        </p:txBody>
      </p:sp>
    </p:spTree>
    <p:extLst>
      <p:ext uri="{BB962C8B-B14F-4D97-AF65-F5344CB8AC3E}">
        <p14:creationId xmlns:p14="http://schemas.microsoft.com/office/powerpoint/2010/main" val="3436434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0C2A-B3B4-F8A2-CBFF-85DF6AD123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7E3F6C-66EF-F585-AB42-DBEC1E06B0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E72D68-B954-CB33-C31D-B83D126AFB7B}"/>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9C5BE1CF-9252-F03E-91D6-5E5A0F228D7F}"/>
              </a:ext>
            </a:extLst>
          </p:cNvPr>
          <p:cNvSpPr>
            <a:spLocks noGrp="1"/>
          </p:cNvSpPr>
          <p:nvPr>
            <p:ph type="sldNum" sz="quarter" idx="5"/>
          </p:nvPr>
        </p:nvSpPr>
        <p:spPr/>
        <p:txBody>
          <a:bodyPr/>
          <a:lstStyle/>
          <a:p>
            <a:fld id="{4368CECF-0771-D84F-8D42-085DB944B0B8}" type="slidenum">
              <a:rPr kumimoji="1" lang="ja-JP" altLang="en-US" smtClean="0"/>
              <a:t>72</a:t>
            </a:fld>
            <a:endParaRPr kumimoji="1" lang="ja-JP" altLang="en-US"/>
          </a:p>
        </p:txBody>
      </p:sp>
    </p:spTree>
    <p:extLst>
      <p:ext uri="{BB962C8B-B14F-4D97-AF65-F5344CB8AC3E}">
        <p14:creationId xmlns:p14="http://schemas.microsoft.com/office/powerpoint/2010/main" val="18394528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という考え方</a:t>
            </a:r>
          </a:p>
          <a:p>
            <a:endParaRPr/>
          </a:p>
          <a:p>
            <a:r>
              <a:t>PDA（pulse decomposition analysis, 脈波分解解析）は、PPG の一拍を</a:t>
            </a:r>
          </a:p>
          <a:p>
            <a:r>
              <a:t>「複数の成分波（基底関数）の線形和」としてモデル化し、そのパラメータを最小二乗などで</a:t>
            </a:r>
          </a:p>
          <a:p>
            <a:r>
              <a:t>当てはめる手法である。ちょうど複数の音源からの音波が重なって 1 つの波形になるのと同じで、</a:t>
            </a:r>
          </a:p>
          <a:p>
            <a:r>
              <a:t>心臓から来た前進波と、末梢から戻ってきた反射波の重ね合わせとして PPG を説明する。</a:t>
            </a:r>
          </a:p>
          <a:p>
            <a:endParaRPr/>
          </a:p>
          <a:p>
            <a:r>
              <a:t>■ なぜ必要か</a:t>
            </a:r>
          </a:p>
          <a:p>
            <a:r>
              <a:t>従来の SI（＝身長 ÷ ΔT）も RI（＝P2/P1）も、「P2 という点」の時刻と高さを必要とする。</a:t>
            </a:r>
          </a:p>
          <a:p>
            <a:r>
              <a:t>下降脚が平滑化して P2 が局所最大として存在しない波形（DN-less）では原理的に計算できず、</a:t>
            </a:r>
          </a:p>
          <a:p>
            <a:r>
              <a:t>検出できた症例だけを解析する選択バイアスが生じる。</a:t>
            </a:r>
          </a:p>
          <a:p>
            <a:r>
              <a:t>PDA は点を探さずモデルを当てはめるので、切痕が消えていても</a:t>
            </a:r>
          </a:p>
          <a:p>
            <a:r>
              <a:t>反射成分の時刻 τ と振幅 a を数値として返せる。</a:t>
            </a:r>
          </a:p>
          <a:p>
            <a:endParaRPr/>
          </a:p>
          <a:p>
            <a:r>
              <a:t>■ 得られる量</a:t>
            </a:r>
          </a:p>
          <a:p>
            <a:r>
              <a:t>・T1_2（前進波と反射波の時間差）→ SI に相当</a:t>
            </a:r>
          </a:p>
          <a:p>
            <a:r>
              <a:t>・R1_2（両者の振幅比）→ RI に相当</a:t>
            </a:r>
          </a:p>
          <a:p>
            <a:r>
              <a:t>・LVET（左室駆出時間）も導出できる</a:t>
            </a:r>
          </a:p>
          <a:p>
            <a:endParaRPr/>
          </a:p>
          <a:p>
            <a:r>
              <a:t>出典：40. Rubins 2008 ／ 41. Goswami 2010 ／ 42. Couceiro 2015</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合成波と成分波 ― 言葉の整理</a:t>
            </a:r>
          </a:p>
          <a:p>
            <a:endParaRPr/>
          </a:p>
          <a:p>
            <a:r>
              <a:t>本章では次のように言葉を使い分ける。</a:t>
            </a:r>
          </a:p>
          <a:p>
            <a:endParaRPr/>
          </a:p>
          <a:p>
            <a:r>
              <a:t>・合成波（composite wave）＝ モニタに映る、実際に記録された 1 拍の PPG 波形。</a:t>
            </a:r>
          </a:p>
          <a:p>
            <a:r>
              <a:t>・成分波（component wave）＝ 合成波を作っているとみなす個々の波。</a:t>
            </a:r>
          </a:p>
          <a:p>
            <a:r>
              <a:t>　　第 1 成分波 ＝ 心臓から来た前進波</a:t>
            </a:r>
          </a:p>
          <a:p>
            <a:r>
              <a:t>　　第 2 成分波 ＝ 末梢から戻ってきた反射波</a:t>
            </a:r>
          </a:p>
          <a:p>
            <a:r>
              <a:t>・基底関数（basis function）＝ 成分波の形を表す数式のテンプレート。</a:t>
            </a:r>
          </a:p>
          <a:p>
            <a:r>
              <a:t>　　ガウス関数・Gamma 分布・skewed-Gaussian などが使われる。</a:t>
            </a:r>
          </a:p>
          <a:p>
            <a:endParaRPr/>
          </a:p>
          <a:p>
            <a:r>
              <a:t>「山」という言い方は形を思い浮かべやすい一方で、</a:t>
            </a:r>
          </a:p>
          <a:p>
            <a:r>
              <a:t>本デックが一貫して使ってきた「前進波・反射波」という言葉と混ざるため用いない。</a:t>
            </a:r>
          </a:p>
          <a:p>
            <a:r>
              <a:t>波の話は「波」で統一する。</a:t>
            </a:r>
          </a:p>
          <a:p>
            <a:endParaRPr/>
          </a:p>
          <a:p>
            <a:r>
              <a:t>補足：この考え方は音の重ね合わせと同じである。複数の楽器の音が空気中で足し算されて</a:t>
            </a:r>
          </a:p>
          <a:p>
            <a:r>
              <a:t>1 つの波形になるのと同様に、PPG も前進波と反射波が足し算されて 1 つの波形になっている、</a:t>
            </a:r>
          </a:p>
          <a:p>
            <a:r>
              <a:t>と考える。</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4431A-32D6-3366-FBF7-F1CCFFB8F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6C5B0-F978-9974-43FD-7807E31113C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BA27DEB-EB8D-5CC1-EE28-05E079685F14}"/>
              </a:ext>
            </a:extLst>
          </p:cNvPr>
          <p:cNvSpPr>
            <a:spLocks noGrp="1"/>
          </p:cNvSpPr>
          <p:nvPr>
            <p:ph type="body" sz="quarter" idx="3"/>
          </p:nvPr>
        </p:nvSpPr>
        <p:spPr/>
        <p:txBody>
          <a:bodyPr/>
          <a:lstStyle/>
          <a:p>
            <a:r>
              <a:t>7.2 合成波と成分波 ― 言葉の整理</a:t>
            </a:r>
          </a:p>
          <a:p>
            <a:endParaRPr/>
          </a:p>
          <a:p>
            <a:r>
              <a:t>本章では次のように言葉を使い分ける。</a:t>
            </a:r>
          </a:p>
          <a:p>
            <a:endParaRPr/>
          </a:p>
          <a:p>
            <a:r>
              <a:t>・合成波（composite wave）＝ モニタに映る、実際に記録された 1 拍の PPG 波形。</a:t>
            </a:r>
          </a:p>
          <a:p>
            <a:r>
              <a:t>・成分波（component wave）＝ 合成波を作っているとみなす個々の波。</a:t>
            </a:r>
          </a:p>
          <a:p>
            <a:r>
              <a:t>　　第 1 成分波 ＝ 心臓から来た前進波</a:t>
            </a:r>
          </a:p>
          <a:p>
            <a:r>
              <a:t>　　第 2 成分波 ＝ 末梢から戻ってきた反射波</a:t>
            </a:r>
          </a:p>
          <a:p>
            <a:r>
              <a:t>・基底関数（basis function）＝ 成分波の形を表す数式のテンプレート。</a:t>
            </a:r>
          </a:p>
          <a:p>
            <a:r>
              <a:t>　　ガウス関数・Gamma 分布・skewed-Gaussian などが使われる。</a:t>
            </a:r>
          </a:p>
          <a:p>
            <a:endParaRPr/>
          </a:p>
          <a:p>
            <a:r>
              <a:t>「山」という言い方は形を思い浮かべやすい一方で、</a:t>
            </a:r>
          </a:p>
          <a:p>
            <a:r>
              <a:t>本デックが一貫して使ってきた「前進波・反射波」という言葉と混ざるため用いない。</a:t>
            </a:r>
          </a:p>
          <a:p>
            <a:r>
              <a:t>波の話は「波」で統一する。</a:t>
            </a:r>
          </a:p>
          <a:p>
            <a:endParaRPr/>
          </a:p>
          <a:p>
            <a:r>
              <a:t>補足：この考え方は音の重ね合わせと同じである。複数の楽器の音が空気中で足し算されて</a:t>
            </a:r>
          </a:p>
          <a:p>
            <a:r>
              <a:t>1 つの波形になるのと同様に、PPG も前進波と反射波が足し算されて 1 つの波形になっている、</a:t>
            </a:r>
          </a:p>
          <a:p>
            <a:r>
              <a:t>と考える。</a:t>
            </a:r>
          </a:p>
        </p:txBody>
      </p:sp>
      <p:sp>
        <p:nvSpPr>
          <p:cNvPr id="4" name="Slide Number Placeholder 3">
            <a:extLst>
              <a:ext uri="{FF2B5EF4-FFF2-40B4-BE49-F238E27FC236}">
                <a16:creationId xmlns:a16="http://schemas.microsoft.com/office/drawing/2014/main" id="{E61843F1-272E-73CC-91F7-BFA505EFF70B}"/>
              </a:ext>
            </a:extLst>
          </p:cNvPr>
          <p:cNvSpPr>
            <a:spLocks noGrp="1"/>
          </p:cNvSpPr>
          <p:nvPr>
            <p:ph type="sldNum" sz="quarter" idx="5"/>
          </p:nvPr>
        </p:nvSpPr>
        <p:spPr/>
      </p:sp>
    </p:spTree>
    <p:extLst>
      <p:ext uri="{BB962C8B-B14F-4D97-AF65-F5344CB8AC3E}">
        <p14:creationId xmlns:p14="http://schemas.microsoft.com/office/powerpoint/2010/main" val="239702990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基底関数とは</a:t>
            </a:r>
          </a:p>
          <a:p>
            <a:endParaRPr/>
          </a:p>
          <a:p>
            <a:r>
              <a:t>基底関数（basis function）は、成分波の形を表す数式のテンプレートである。</a:t>
            </a:r>
          </a:p>
          <a:p>
            <a:r>
              <a:t>1 本の成分波は、ふつう次の 3 つのパラメータで決まる。</a:t>
            </a:r>
          </a:p>
          <a:p>
            <a:endParaRPr/>
          </a:p>
          <a:p>
            <a:r>
              <a:t>・振幅 a … その成分波の高さ</a:t>
            </a:r>
          </a:p>
          <a:p>
            <a:r>
              <a:t>・位置 μ … その成分波の頂点が来る時刻</a:t>
            </a:r>
          </a:p>
          <a:p>
            <a:r>
              <a:t>・幅 σ  … その成分波の広がり（持続時間）</a:t>
            </a:r>
          </a:p>
          <a:p>
            <a:endParaRPr/>
          </a:p>
          <a:p>
            <a:r>
              <a:t>たとえばガウス関数なら</a:t>
            </a:r>
          </a:p>
          <a:p>
            <a:r>
              <a:t>　　f(t) = a・exp( −(t − μ)² / 2σ² )</a:t>
            </a:r>
          </a:p>
          <a:p>
            <a:r>
              <a:t>と書ける。合成波はこの成分波を n 本足し合わせたものとしてモデル化される。</a:t>
            </a:r>
          </a:p>
          <a:p>
            <a:r>
              <a:t>　　y(t) ≒ Σ f_k(t)　（k = 1 … n）</a:t>
            </a:r>
          </a:p>
          <a:p>
            <a:endParaRPr/>
          </a:p>
          <a:p>
            <a:r>
              <a:t>■ なぜ「関数」で表すのか</a:t>
            </a:r>
          </a:p>
          <a:p>
            <a:r>
              <a:t>点（切痕・P2）を探す方法は、その点が波形上に存在しないと破綻する。</a:t>
            </a:r>
          </a:p>
          <a:p>
            <a:r>
              <a:t>基底関数を当てはめる方法なら、点が見えなくても</a:t>
            </a:r>
          </a:p>
          <a:p>
            <a:r>
              <a:t>「第 2 成分波の位置 μ₂ と振幅 a₂ はいくつか」という形で答えが出る。</a:t>
            </a:r>
          </a:p>
          <a:p>
            <a:r>
              <a:t>これが PDA の核心である。</a:t>
            </a:r>
          </a:p>
          <a:p>
            <a:endParaRPr/>
          </a:p>
          <a:p>
            <a:r>
              <a:t>■ 使われる基底関数</a:t>
            </a:r>
          </a:p>
          <a:p>
            <a:r>
              <a:t>ガウス関数（対称）、Gamma 分布（非対称）、skewed-Gaussian（非対称）、</a:t>
            </a:r>
          </a:p>
          <a:p>
            <a:r>
              <a:t>Rayleigh 関数、log-normal など。次ページで形を比べる。</a:t>
            </a:r>
          </a:p>
          <a:p>
            <a:endParaRPr/>
          </a:p>
          <a:p>
            <a:r>
              <a:t>出典：40. Rubins 2008（ガウス当てはめの最初期）／43. Tigges 2017（基底関数の総当たり）</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1810E-77FD-0498-ACEC-704177185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2F172-0ABC-BCB8-DD17-44ED07C6EFE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BDA1A8D-F34F-CF13-5C3C-7B092248C41F}"/>
              </a:ext>
            </a:extLst>
          </p:cNvPr>
          <p:cNvSpPr>
            <a:spLocks noGrp="1"/>
          </p:cNvSpPr>
          <p:nvPr>
            <p:ph type="body" sz="quarter" idx="3"/>
          </p:nvPr>
        </p:nvSpPr>
        <p:spPr/>
        <p:txBody>
          <a:bodyPr/>
          <a:lstStyle/>
          <a:p>
            <a:r>
              <a:t>7.2 基底関数とは</a:t>
            </a:r>
          </a:p>
          <a:p>
            <a:endParaRPr/>
          </a:p>
          <a:p>
            <a:r>
              <a:t>基底関数（basis function）は、成分波の形を表す数式のテンプレートである。</a:t>
            </a:r>
          </a:p>
          <a:p>
            <a:r>
              <a:t>1 本の成分波は、ふつう次の 3 つのパラメータで決まる。</a:t>
            </a:r>
          </a:p>
          <a:p>
            <a:endParaRPr/>
          </a:p>
          <a:p>
            <a:r>
              <a:t>・振幅 a … その成分波の高さ</a:t>
            </a:r>
          </a:p>
          <a:p>
            <a:r>
              <a:t>・位置 μ … その成分波の頂点が来る時刻</a:t>
            </a:r>
          </a:p>
          <a:p>
            <a:r>
              <a:t>・幅 σ  … その成分波の広がり（持続時間）</a:t>
            </a:r>
          </a:p>
          <a:p>
            <a:endParaRPr/>
          </a:p>
          <a:p>
            <a:r>
              <a:t>たとえばガウス関数なら</a:t>
            </a:r>
          </a:p>
          <a:p>
            <a:r>
              <a:t>　　f(t) = a・exp( −(t − μ)² / 2σ² )</a:t>
            </a:r>
          </a:p>
          <a:p>
            <a:r>
              <a:t>と書ける。合成波はこの成分波を n 本足し合わせたものとしてモデル化される。</a:t>
            </a:r>
          </a:p>
          <a:p>
            <a:r>
              <a:t>　　y(t) ≒ Σ f_k(t)　（k = 1 … n）</a:t>
            </a:r>
          </a:p>
          <a:p>
            <a:endParaRPr/>
          </a:p>
          <a:p>
            <a:r>
              <a:t>■ なぜ「関数」で表すのか</a:t>
            </a:r>
          </a:p>
          <a:p>
            <a:r>
              <a:t>点（切痕・P2）を探す方法は、その点が波形上に存在しないと破綻する。</a:t>
            </a:r>
          </a:p>
          <a:p>
            <a:r>
              <a:t>基底関数を当てはめる方法なら、点が見えなくても</a:t>
            </a:r>
          </a:p>
          <a:p>
            <a:r>
              <a:t>「第 2 成分波の位置 μ₂ と振幅 a₂ はいくつか」という形で答えが出る。</a:t>
            </a:r>
          </a:p>
          <a:p>
            <a:r>
              <a:t>これが PDA の核心である。</a:t>
            </a:r>
          </a:p>
          <a:p>
            <a:endParaRPr/>
          </a:p>
          <a:p>
            <a:r>
              <a:t>■ 使われる基底関数</a:t>
            </a:r>
          </a:p>
          <a:p>
            <a:r>
              <a:t>ガウス関数（対称）、Gamma 分布（非対称）、skewed-Gaussian（非対称）、</a:t>
            </a:r>
          </a:p>
          <a:p>
            <a:r>
              <a:t>Rayleigh 関数、log-normal など。次ページで形を比べる。</a:t>
            </a:r>
          </a:p>
          <a:p>
            <a:endParaRPr/>
          </a:p>
          <a:p>
            <a:r>
              <a:t>出典：40. Rubins 2008（ガウス当てはめの最初期）／43. Tigges 2017（基底関数の総当たり）</a:t>
            </a:r>
          </a:p>
        </p:txBody>
      </p:sp>
      <p:sp>
        <p:nvSpPr>
          <p:cNvPr id="4" name="Slide Number Placeholder 3">
            <a:extLst>
              <a:ext uri="{FF2B5EF4-FFF2-40B4-BE49-F238E27FC236}">
                <a16:creationId xmlns:a16="http://schemas.microsoft.com/office/drawing/2014/main" id="{A8D747FD-3C19-DDB6-6251-8BBDD55E2DD1}"/>
              </a:ext>
            </a:extLst>
          </p:cNvPr>
          <p:cNvSpPr>
            <a:spLocks noGrp="1"/>
          </p:cNvSpPr>
          <p:nvPr>
            <p:ph type="sldNum" sz="quarter" idx="5"/>
          </p:nvPr>
        </p:nvSpPr>
        <p:spPr/>
      </p:sp>
    </p:spTree>
    <p:extLst>
      <p:ext uri="{BB962C8B-B14F-4D97-AF65-F5344CB8AC3E}">
        <p14:creationId xmlns:p14="http://schemas.microsoft.com/office/powerpoint/2010/main" val="31955571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7.2 </a:t>
            </a:r>
            <a:r>
              <a:rPr dirty="0" err="1"/>
              <a:t>どんな山（基底関数）を使うか</a:t>
            </a:r>
            <a:endParaRPr dirty="0"/>
          </a:p>
          <a:p>
            <a:endParaRPr dirty="0"/>
          </a:p>
          <a:p>
            <a:r>
              <a:rPr dirty="0"/>
              <a:t>・</a:t>
            </a:r>
            <a:r>
              <a:rPr dirty="0" err="1"/>
              <a:t>Gaussian（ガウス関数</a:t>
            </a:r>
            <a:r>
              <a:rPr dirty="0"/>
              <a:t>）＝</a:t>
            </a:r>
            <a:r>
              <a:rPr dirty="0" err="1"/>
              <a:t>左右対称の釣鐘型。数学的に扱いやすいが</a:t>
            </a:r>
            <a:r>
              <a:rPr dirty="0"/>
              <a:t>、</a:t>
            </a:r>
          </a:p>
          <a:p>
            <a:r>
              <a:rPr dirty="0"/>
              <a:t>　</a:t>
            </a:r>
            <a:r>
              <a:rPr dirty="0" err="1"/>
              <a:t>実際の脈波は「立ち上がりが急で、下りが緩やか」で非対称なので、当てはまりに限界がある</a:t>
            </a:r>
            <a:r>
              <a:rPr dirty="0"/>
              <a:t>。</a:t>
            </a:r>
          </a:p>
          <a:p>
            <a:r>
              <a:rPr dirty="0"/>
              <a:t>・Gamma </a:t>
            </a:r>
            <a:r>
              <a:rPr dirty="0" err="1"/>
              <a:t>分布＝非対称な減衰を表現できる。おもりをつけたバネが摩擦で徐々に振動を落とす</a:t>
            </a:r>
            <a:endParaRPr dirty="0"/>
          </a:p>
          <a:p>
            <a:r>
              <a:rPr dirty="0"/>
              <a:t>　</a:t>
            </a:r>
            <a:r>
              <a:rPr dirty="0" err="1"/>
              <a:t>ように、片側だけゆっくり戻る形。Fleischhauer</a:t>
            </a:r>
            <a:r>
              <a:rPr dirty="0"/>
              <a:t> 2020 </a:t>
            </a:r>
            <a:r>
              <a:rPr dirty="0" err="1"/>
              <a:t>では</a:t>
            </a:r>
            <a:r>
              <a:rPr dirty="0"/>
              <a:t> Gamma </a:t>
            </a:r>
            <a:r>
              <a:rPr dirty="0" err="1"/>
              <a:t>と</a:t>
            </a:r>
            <a:r>
              <a:rPr dirty="0"/>
              <a:t> Gaussian </a:t>
            </a:r>
            <a:r>
              <a:rPr dirty="0" err="1"/>
              <a:t>の組合せが</a:t>
            </a:r>
            <a:endParaRPr dirty="0"/>
          </a:p>
          <a:p>
            <a:r>
              <a:rPr dirty="0"/>
              <a:t>　</a:t>
            </a:r>
            <a:r>
              <a:rPr dirty="0" err="1"/>
              <a:t>最良で、カーネル</a:t>
            </a:r>
            <a:r>
              <a:rPr dirty="0"/>
              <a:t> 2 </a:t>
            </a:r>
            <a:r>
              <a:rPr dirty="0" err="1"/>
              <a:t>個が最もノイズ・体動に頑健（評価指標が</a:t>
            </a:r>
            <a:r>
              <a:rPr dirty="0"/>
              <a:t> 14.09% </a:t>
            </a:r>
            <a:r>
              <a:rPr dirty="0" err="1"/>
              <a:t>改善）だった</a:t>
            </a:r>
            <a:r>
              <a:rPr dirty="0"/>
              <a:t>。</a:t>
            </a:r>
          </a:p>
          <a:p>
            <a:r>
              <a:rPr dirty="0"/>
              <a:t>・</a:t>
            </a:r>
            <a:r>
              <a:rPr dirty="0" err="1"/>
              <a:t>skewed-Gaussian＝通常のガウス関数に歪みパラメータを</a:t>
            </a:r>
            <a:r>
              <a:rPr dirty="0"/>
              <a:t> 1 </a:t>
            </a:r>
            <a:r>
              <a:rPr dirty="0" err="1"/>
              <a:t>つ足したもの</a:t>
            </a:r>
            <a:r>
              <a:rPr dirty="0"/>
              <a:t>。</a:t>
            </a:r>
          </a:p>
          <a:p>
            <a:r>
              <a:rPr dirty="0"/>
              <a:t>　</a:t>
            </a:r>
            <a:r>
              <a:rPr dirty="0" err="1"/>
              <a:t>対称の山を土台にしているので頂点の位置や幅といった物理的意味が保たれやすい</a:t>
            </a:r>
            <a:r>
              <a:rPr dirty="0"/>
              <a:t>。</a:t>
            </a:r>
          </a:p>
          <a:p>
            <a:r>
              <a:rPr dirty="0"/>
              <a:t>　Basso 2024 </a:t>
            </a:r>
            <a:r>
              <a:rPr dirty="0" err="1"/>
              <a:t>は</a:t>
            </a:r>
            <a:r>
              <a:rPr dirty="0"/>
              <a:t> MIMIC-III </a:t>
            </a:r>
            <a:r>
              <a:rPr dirty="0" err="1"/>
              <a:t>の</a:t>
            </a:r>
            <a:r>
              <a:rPr dirty="0"/>
              <a:t> 8,000 </a:t>
            </a:r>
            <a:r>
              <a:rPr dirty="0" err="1"/>
              <a:t>拍で</a:t>
            </a:r>
            <a:r>
              <a:rPr dirty="0"/>
              <a:t> Gamma-Gaussian </a:t>
            </a:r>
            <a:r>
              <a:rPr dirty="0" err="1"/>
              <a:t>より有意に高精度、かつ</a:t>
            </a:r>
            <a:endParaRPr dirty="0"/>
          </a:p>
          <a:p>
            <a:r>
              <a:rPr dirty="0"/>
              <a:t>　</a:t>
            </a:r>
            <a:r>
              <a:rPr dirty="0" err="1"/>
              <a:t>ランダム初期値に対する感度が低く一貫して頑健だと報告した</a:t>
            </a:r>
            <a:endParaRPr dirty="0"/>
          </a:p>
          <a:p>
            <a:r>
              <a:rPr dirty="0"/>
              <a:t>　（</a:t>
            </a:r>
            <a:r>
              <a:rPr dirty="0" err="1"/>
              <a:t>裏を返せば従来モデルは初期値で答えが動く</a:t>
            </a:r>
            <a:r>
              <a:rPr dirty="0"/>
              <a:t>）。</a:t>
            </a:r>
          </a:p>
          <a:p>
            <a:r>
              <a:rPr dirty="0"/>
              <a:t>・</a:t>
            </a:r>
            <a:r>
              <a:rPr dirty="0" err="1"/>
              <a:t>ほかに</a:t>
            </a:r>
            <a:r>
              <a:rPr dirty="0"/>
              <a:t> Rayleigh </a:t>
            </a:r>
            <a:r>
              <a:rPr dirty="0" err="1"/>
              <a:t>関数、log-normal＋Gaussian（Sološenko</a:t>
            </a:r>
            <a:r>
              <a:rPr dirty="0"/>
              <a:t> 2017）なども使われている。</a:t>
            </a:r>
          </a:p>
          <a:p>
            <a:endParaRPr dirty="0"/>
          </a:p>
          <a:p>
            <a:r>
              <a:rPr dirty="0"/>
              <a:t>Tigges 2017 の総当たり（7,805 </a:t>
            </a:r>
            <a:r>
              <a:rPr dirty="0" err="1"/>
              <a:t>拍・AICc）では、最頻の最良モデル（スケール付き</a:t>
            </a:r>
            <a:r>
              <a:rPr dirty="0"/>
              <a:t> Gamma 3 </a:t>
            </a:r>
            <a:r>
              <a:rPr dirty="0" err="1"/>
              <a:t>個</a:t>
            </a:r>
            <a:r>
              <a:rPr dirty="0"/>
              <a:t>）</a:t>
            </a:r>
          </a:p>
          <a:p>
            <a:r>
              <a:rPr dirty="0" err="1"/>
              <a:t>でも</a:t>
            </a:r>
            <a:r>
              <a:rPr dirty="0"/>
              <a:t> 28.1%、</a:t>
            </a:r>
            <a:r>
              <a:rPr dirty="0" err="1"/>
              <a:t>次点の</a:t>
            </a:r>
            <a:r>
              <a:rPr dirty="0"/>
              <a:t> Rayleigh 2 </a:t>
            </a:r>
            <a:r>
              <a:rPr dirty="0" err="1"/>
              <a:t>個が</a:t>
            </a:r>
            <a:r>
              <a:rPr dirty="0"/>
              <a:t> 14.4%。</a:t>
            </a:r>
            <a:r>
              <a:rPr dirty="0" err="1"/>
              <a:t>単一の最良モデルは存在しない</a:t>
            </a:r>
            <a:r>
              <a:rPr dirty="0"/>
              <a:t>。</a:t>
            </a:r>
          </a:p>
          <a:p>
            <a:endParaRPr dirty="0"/>
          </a:p>
          <a:p>
            <a:r>
              <a:rPr dirty="0"/>
              <a:t>出典：43. Tigges 2017 ／ 35. Fleischhauer 2020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B515F-EF3C-EC57-8583-CF41D661D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D8B41-A2B6-3459-2C37-BBD9FC2860A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1B3932D-9514-4813-2A26-E21E4551FBF5}"/>
              </a:ext>
            </a:extLst>
          </p:cNvPr>
          <p:cNvSpPr>
            <a:spLocks noGrp="1"/>
          </p:cNvSpPr>
          <p:nvPr>
            <p:ph type="body" sz="quarter" idx="3"/>
          </p:nvPr>
        </p:nvSpPr>
        <p:spPr/>
        <p:txBody>
          <a:bodyPr/>
          <a:lstStyle/>
          <a:p>
            <a:r>
              <a:rPr dirty="0"/>
              <a:t>7.2 </a:t>
            </a:r>
            <a:r>
              <a:rPr dirty="0" err="1"/>
              <a:t>どんな山（基底関数）を使うか</a:t>
            </a:r>
            <a:endParaRPr dirty="0"/>
          </a:p>
          <a:p>
            <a:endParaRPr dirty="0"/>
          </a:p>
          <a:p>
            <a:r>
              <a:rPr dirty="0"/>
              <a:t>・</a:t>
            </a:r>
            <a:r>
              <a:rPr dirty="0" err="1"/>
              <a:t>Gaussian（ガウス関数</a:t>
            </a:r>
            <a:r>
              <a:rPr dirty="0"/>
              <a:t>）＝</a:t>
            </a:r>
            <a:r>
              <a:rPr dirty="0" err="1"/>
              <a:t>左右対称の釣鐘型。数学的に扱いやすいが</a:t>
            </a:r>
            <a:r>
              <a:rPr dirty="0"/>
              <a:t>、</a:t>
            </a:r>
          </a:p>
          <a:p>
            <a:r>
              <a:rPr dirty="0"/>
              <a:t>　</a:t>
            </a:r>
            <a:r>
              <a:rPr dirty="0" err="1"/>
              <a:t>実際の脈波は「立ち上がりが急で、下りが緩やか」で非対称なので、当てはまりに限界がある</a:t>
            </a:r>
            <a:r>
              <a:rPr dirty="0"/>
              <a:t>。</a:t>
            </a:r>
          </a:p>
          <a:p>
            <a:r>
              <a:rPr dirty="0"/>
              <a:t>・Gamma </a:t>
            </a:r>
            <a:r>
              <a:rPr dirty="0" err="1"/>
              <a:t>分布＝非対称な減衰を表現できる。おもりをつけたバネが摩擦で徐々に振動を落とす</a:t>
            </a:r>
            <a:endParaRPr dirty="0"/>
          </a:p>
          <a:p>
            <a:r>
              <a:rPr dirty="0"/>
              <a:t>　</a:t>
            </a:r>
            <a:r>
              <a:rPr dirty="0" err="1"/>
              <a:t>ように、片側だけゆっくり戻る形。Fleischhauer</a:t>
            </a:r>
            <a:r>
              <a:rPr dirty="0"/>
              <a:t> 2020 </a:t>
            </a:r>
            <a:r>
              <a:rPr dirty="0" err="1"/>
              <a:t>では</a:t>
            </a:r>
            <a:r>
              <a:rPr dirty="0"/>
              <a:t> Gamma </a:t>
            </a:r>
            <a:r>
              <a:rPr dirty="0" err="1"/>
              <a:t>と</a:t>
            </a:r>
            <a:r>
              <a:rPr dirty="0"/>
              <a:t> Gaussian </a:t>
            </a:r>
            <a:r>
              <a:rPr dirty="0" err="1"/>
              <a:t>の組合せが</a:t>
            </a:r>
            <a:endParaRPr dirty="0"/>
          </a:p>
          <a:p>
            <a:r>
              <a:rPr dirty="0"/>
              <a:t>　</a:t>
            </a:r>
            <a:r>
              <a:rPr dirty="0" err="1"/>
              <a:t>最良で、カーネル</a:t>
            </a:r>
            <a:r>
              <a:rPr dirty="0"/>
              <a:t> 2 </a:t>
            </a:r>
            <a:r>
              <a:rPr dirty="0" err="1"/>
              <a:t>個が最もノイズ・体動に頑健（評価指標が</a:t>
            </a:r>
            <a:r>
              <a:rPr dirty="0"/>
              <a:t> 14.09% </a:t>
            </a:r>
            <a:r>
              <a:rPr dirty="0" err="1"/>
              <a:t>改善）だった</a:t>
            </a:r>
            <a:r>
              <a:rPr dirty="0"/>
              <a:t>。</a:t>
            </a:r>
          </a:p>
          <a:p>
            <a:r>
              <a:rPr dirty="0"/>
              <a:t>・</a:t>
            </a:r>
            <a:r>
              <a:rPr dirty="0" err="1"/>
              <a:t>skewed-Gaussian＝通常のガウス関数に歪みパラメータを</a:t>
            </a:r>
            <a:r>
              <a:rPr dirty="0"/>
              <a:t> 1 </a:t>
            </a:r>
            <a:r>
              <a:rPr dirty="0" err="1"/>
              <a:t>つ足したもの</a:t>
            </a:r>
            <a:r>
              <a:rPr dirty="0"/>
              <a:t>。</a:t>
            </a:r>
          </a:p>
          <a:p>
            <a:r>
              <a:rPr dirty="0"/>
              <a:t>　</a:t>
            </a:r>
            <a:r>
              <a:rPr dirty="0" err="1"/>
              <a:t>対称の山を土台にしているので頂点の位置や幅といった物理的意味が保たれやすい</a:t>
            </a:r>
            <a:r>
              <a:rPr dirty="0"/>
              <a:t>。</a:t>
            </a:r>
          </a:p>
          <a:p>
            <a:r>
              <a:rPr dirty="0"/>
              <a:t>　Basso 2024 </a:t>
            </a:r>
            <a:r>
              <a:rPr dirty="0" err="1"/>
              <a:t>は</a:t>
            </a:r>
            <a:r>
              <a:rPr dirty="0"/>
              <a:t> MIMIC-III </a:t>
            </a:r>
            <a:r>
              <a:rPr dirty="0" err="1"/>
              <a:t>の</a:t>
            </a:r>
            <a:r>
              <a:rPr dirty="0"/>
              <a:t> 8,000 </a:t>
            </a:r>
            <a:r>
              <a:rPr dirty="0" err="1"/>
              <a:t>拍で</a:t>
            </a:r>
            <a:r>
              <a:rPr dirty="0"/>
              <a:t> Gamma-Gaussian </a:t>
            </a:r>
            <a:r>
              <a:rPr dirty="0" err="1"/>
              <a:t>より有意に高精度、かつ</a:t>
            </a:r>
            <a:endParaRPr dirty="0"/>
          </a:p>
          <a:p>
            <a:r>
              <a:rPr dirty="0"/>
              <a:t>　</a:t>
            </a:r>
            <a:r>
              <a:rPr dirty="0" err="1"/>
              <a:t>ランダム初期値に対する感度が低く一貫して頑健だと報告した</a:t>
            </a:r>
            <a:endParaRPr dirty="0"/>
          </a:p>
          <a:p>
            <a:r>
              <a:rPr dirty="0"/>
              <a:t>　（</a:t>
            </a:r>
            <a:r>
              <a:rPr dirty="0" err="1"/>
              <a:t>裏を返せば従来モデルは初期値で答えが動く</a:t>
            </a:r>
            <a:r>
              <a:rPr dirty="0"/>
              <a:t>）。</a:t>
            </a:r>
          </a:p>
          <a:p>
            <a:r>
              <a:rPr dirty="0"/>
              <a:t>・</a:t>
            </a:r>
            <a:r>
              <a:rPr dirty="0" err="1"/>
              <a:t>ほかに</a:t>
            </a:r>
            <a:r>
              <a:rPr dirty="0"/>
              <a:t> Rayleigh </a:t>
            </a:r>
            <a:r>
              <a:rPr dirty="0" err="1"/>
              <a:t>関数、log-normal＋Gaussian（Sološenko</a:t>
            </a:r>
            <a:r>
              <a:rPr dirty="0"/>
              <a:t> 2017）なども使われている。</a:t>
            </a:r>
          </a:p>
          <a:p>
            <a:endParaRPr dirty="0"/>
          </a:p>
          <a:p>
            <a:r>
              <a:rPr dirty="0"/>
              <a:t>Tigges 2017 の総当たり（7,805 </a:t>
            </a:r>
            <a:r>
              <a:rPr dirty="0" err="1"/>
              <a:t>拍・AICc）では、最頻の最良モデル（スケール付き</a:t>
            </a:r>
            <a:r>
              <a:rPr dirty="0"/>
              <a:t> Gamma 3 </a:t>
            </a:r>
            <a:r>
              <a:rPr dirty="0" err="1"/>
              <a:t>個</a:t>
            </a:r>
            <a:r>
              <a:rPr dirty="0"/>
              <a:t>）</a:t>
            </a:r>
          </a:p>
          <a:p>
            <a:r>
              <a:rPr dirty="0" err="1"/>
              <a:t>でも</a:t>
            </a:r>
            <a:r>
              <a:rPr dirty="0"/>
              <a:t> 28.1%、</a:t>
            </a:r>
            <a:r>
              <a:rPr dirty="0" err="1"/>
              <a:t>次点の</a:t>
            </a:r>
            <a:r>
              <a:rPr dirty="0"/>
              <a:t> Rayleigh 2 </a:t>
            </a:r>
            <a:r>
              <a:rPr dirty="0" err="1"/>
              <a:t>個が</a:t>
            </a:r>
            <a:r>
              <a:rPr dirty="0"/>
              <a:t> 14.4%。</a:t>
            </a:r>
            <a:r>
              <a:rPr dirty="0" err="1"/>
              <a:t>単一の最良モデルは存在しない</a:t>
            </a:r>
            <a:r>
              <a:rPr dirty="0"/>
              <a:t>。</a:t>
            </a:r>
          </a:p>
          <a:p>
            <a:endParaRPr dirty="0"/>
          </a:p>
          <a:p>
            <a:r>
              <a:rPr dirty="0"/>
              <a:t>出典：43. Tigges 2017 ／ 35. Fleischhauer 2020 ／ 44. Basso 2024</a:t>
            </a:r>
          </a:p>
        </p:txBody>
      </p:sp>
      <p:sp>
        <p:nvSpPr>
          <p:cNvPr id="4" name="Slide Number Placeholder 3">
            <a:extLst>
              <a:ext uri="{FF2B5EF4-FFF2-40B4-BE49-F238E27FC236}">
                <a16:creationId xmlns:a16="http://schemas.microsoft.com/office/drawing/2014/main" id="{F767655D-E850-DB35-F8EF-26F44D1383AD}"/>
              </a:ext>
            </a:extLst>
          </p:cNvPr>
          <p:cNvSpPr>
            <a:spLocks noGrp="1"/>
          </p:cNvSpPr>
          <p:nvPr>
            <p:ph type="sldNum" sz="quarter" idx="5"/>
          </p:nvPr>
        </p:nvSpPr>
        <p:spPr/>
      </p:sp>
    </p:spTree>
    <p:extLst>
      <p:ext uri="{BB962C8B-B14F-4D97-AF65-F5344CB8AC3E}">
        <p14:creationId xmlns:p14="http://schemas.microsoft.com/office/powerpoint/2010/main" val="416087957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成分波を何本使うか（カーネル数）</a:t>
            </a:r>
          </a:p>
          <a:p>
            <a:endParaRPr/>
          </a:p>
          <a:p>
            <a:r>
              <a:t>「カーネル」は、当てはめに使う基底関数 1 本 1 本のこと。</a:t>
            </a:r>
          </a:p>
          <a:p>
            <a:r>
              <a:t>何本使うか（カーネル数）は研究者が決める設計値であり、正解は決まっていない。</a:t>
            </a:r>
          </a:p>
          <a:p>
            <a:endParaRPr/>
          </a:p>
          <a:p>
            <a:r>
              <a:t>・2 本 … 前進波＋反射波。いちばん素直だが、拡張期の細かい形は表せない。</a:t>
            </a:r>
          </a:p>
          <a:p>
            <a:r>
              <a:t>・3〜5 本 … 反射が複数回戻ってくるとみなす。当てはまりは良くなるが、</a:t>
            </a:r>
          </a:p>
          <a:p>
            <a:r>
              <a:t>　　　　　　どの成分波が何に対応するかの解釈が曖昧になる。</a:t>
            </a:r>
          </a:p>
          <a:p>
            <a:endParaRPr/>
          </a:p>
          <a:p>
            <a:r>
              <a:t>■ 本数が増えるとどうなるか</a:t>
            </a:r>
          </a:p>
          <a:p>
            <a:r>
              <a:t>本数を増やせば残差はいくらでも小さくできる（過剰適合）。</a:t>
            </a:r>
          </a:p>
          <a:p>
            <a:r>
              <a:t>一方でパラメータが増えるほど解が一意でなくなり、初期値しだいで答えが動く。</a:t>
            </a:r>
          </a:p>
          <a:p>
            <a:r>
              <a:t>そこで情報量規準（AICc など）で「当てはまりの良さ」と「パラメータの少なさ」を</a:t>
            </a:r>
          </a:p>
          <a:p>
            <a:r>
              <a:t>つり合わせてモデルを選ぶ。</a:t>
            </a:r>
          </a:p>
          <a:p>
            <a:endParaRPr/>
          </a:p>
          <a:p>
            <a:r>
              <a:t>■ 実際の報告</a:t>
            </a:r>
          </a:p>
          <a:p>
            <a:r>
              <a:t>・Tigges 2017：指尖容積脈波 7,805 拍で 4 種の基底関数とモデル次数を総当たりし AICc で選択。</a:t>
            </a:r>
          </a:p>
          <a:p>
            <a:r>
              <a:t>　最頻の最良モデルは Gamma 3 本で 28.1%、次点は Rayleigh 2 本で 14.4%。</a:t>
            </a:r>
          </a:p>
          <a:p>
            <a:r>
              <a:t>　単一の最良モデルは存在しなかった。</a:t>
            </a:r>
          </a:p>
          <a:p>
            <a:r>
              <a:t>・Fleischhauer 2020：カーネル 2 本がノイズ・体動にもっとも頑健で、</a:t>
            </a:r>
          </a:p>
          <a:p>
            <a:r>
              <a:t>　評価指標が 14.09% 改善しつつ、より多いカーネルと同等に形態情報を保った。</a:t>
            </a:r>
          </a:p>
          <a:p>
            <a:endParaRPr/>
          </a:p>
          <a:p>
            <a:r>
              <a:t>→ 「多いほど良い」ではない。2 本が実用上のバランス点という報告が複数ある。</a:t>
            </a:r>
          </a:p>
          <a:p>
            <a:endParaRPr/>
          </a:p>
          <a:p>
            <a:r>
              <a:t>出典：43. Tigges 2017 ／ 35. Fleischhauer 2020</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4F24-30A4-7D30-4005-351F5E451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2882C-8702-BDC7-738A-ED84995FD8A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535622D-17B4-12EE-5A48-962C1B7BD9EA}"/>
              </a:ext>
            </a:extLst>
          </p:cNvPr>
          <p:cNvSpPr>
            <a:spLocks noGrp="1"/>
          </p:cNvSpPr>
          <p:nvPr>
            <p:ph type="body" sz="quarter" idx="3"/>
          </p:nvPr>
        </p:nvSpPr>
        <p:spPr/>
        <p:txBody>
          <a:bodyPr/>
          <a:lstStyle/>
          <a:p>
            <a:r>
              <a:rPr dirty="0"/>
              <a:t>7.2 </a:t>
            </a:r>
            <a:r>
              <a:rPr dirty="0" err="1"/>
              <a:t>成分波を何本使うか（カーネル数</a:t>
            </a:r>
            <a:r>
              <a:rPr dirty="0"/>
              <a:t>）</a:t>
            </a:r>
          </a:p>
          <a:p>
            <a:endParaRPr dirty="0"/>
          </a:p>
          <a:p>
            <a:r>
              <a:rPr dirty="0"/>
              <a:t>「</a:t>
            </a:r>
            <a:r>
              <a:rPr dirty="0" err="1"/>
              <a:t>カーネル」は、当てはめに使う基底関数</a:t>
            </a:r>
            <a:r>
              <a:rPr dirty="0"/>
              <a:t> 1 </a:t>
            </a:r>
            <a:r>
              <a:rPr dirty="0" err="1"/>
              <a:t>本</a:t>
            </a:r>
            <a:r>
              <a:rPr dirty="0"/>
              <a:t> 1 </a:t>
            </a:r>
            <a:r>
              <a:rPr dirty="0" err="1"/>
              <a:t>本のこと</a:t>
            </a:r>
            <a:r>
              <a:rPr dirty="0"/>
              <a:t>。</a:t>
            </a:r>
          </a:p>
          <a:p>
            <a:r>
              <a:rPr dirty="0" err="1"/>
              <a:t>何本使うか（カーネル数）は研究者が決める設計値であり、正解は決まっていない</a:t>
            </a:r>
            <a:r>
              <a:rPr dirty="0"/>
              <a:t>。</a:t>
            </a:r>
          </a:p>
          <a:p>
            <a:endParaRPr dirty="0"/>
          </a:p>
          <a:p>
            <a:r>
              <a:rPr dirty="0"/>
              <a:t>・2 </a:t>
            </a:r>
            <a:r>
              <a:rPr dirty="0" err="1"/>
              <a:t>本</a:t>
            </a:r>
            <a:r>
              <a:rPr dirty="0"/>
              <a:t> … </a:t>
            </a:r>
            <a:r>
              <a:rPr dirty="0" err="1"/>
              <a:t>前進波＋反射波。いちばん素直だが、拡張期の細かい形は表せない</a:t>
            </a:r>
            <a:r>
              <a:rPr dirty="0"/>
              <a:t>。</a:t>
            </a:r>
          </a:p>
          <a:p>
            <a:r>
              <a:rPr dirty="0"/>
              <a:t>・3〜5 </a:t>
            </a:r>
            <a:r>
              <a:rPr dirty="0" err="1"/>
              <a:t>本</a:t>
            </a:r>
            <a:r>
              <a:rPr dirty="0"/>
              <a:t> … </a:t>
            </a:r>
            <a:r>
              <a:rPr dirty="0" err="1"/>
              <a:t>反射が複数回戻ってくるとみなす。当てはまりは良くなるが</a:t>
            </a:r>
            <a:r>
              <a:rPr dirty="0"/>
              <a:t>、</a:t>
            </a:r>
          </a:p>
          <a:p>
            <a:r>
              <a:rPr dirty="0"/>
              <a:t>　　　　　　</a:t>
            </a:r>
            <a:r>
              <a:rPr dirty="0" err="1"/>
              <a:t>どの成分波が何に対応するかの解釈が曖昧になる</a:t>
            </a:r>
            <a:r>
              <a:rPr dirty="0"/>
              <a:t>。</a:t>
            </a:r>
          </a:p>
          <a:p>
            <a:endParaRPr lang="en-US" dirty="0"/>
          </a:p>
          <a:p>
            <a:r>
              <a:rPr kumimoji="1" lang="ja-JP" altLang="ja-JP" sz="1200" b="0" i="0" kern="1200">
                <a:solidFill>
                  <a:schemeClr val="tx1"/>
                </a:solidFill>
                <a:effectLst/>
                <a:latin typeface="+mn-lt"/>
                <a:ea typeface="+mn-ea"/>
                <a:cs typeface="+mn-cs"/>
              </a:rPr>
              <a:t>圧縮・波形合成が目的なら6本以上も使われる（PPG を6個のガウス関数で圧縮する報告や、3〜21個を比較した報告がある）。残差だけを基準にすれば本数に上限はないため。ここでの「×」は、成分波に生理学的な意味を持たせる場合の話</a:t>
            </a:r>
            <a:endParaRPr lang="en-US" dirty="0"/>
          </a:p>
          <a:p>
            <a:endParaRPr dirty="0"/>
          </a:p>
          <a:p>
            <a:r>
              <a:rPr dirty="0"/>
              <a:t>■ </a:t>
            </a:r>
            <a:r>
              <a:rPr dirty="0" err="1"/>
              <a:t>本数が増えるとどうなるか</a:t>
            </a:r>
            <a:endParaRPr dirty="0"/>
          </a:p>
          <a:p>
            <a:r>
              <a:rPr dirty="0" err="1"/>
              <a:t>本数を増やせば残差はいくらでも小さくできる（過剰適合</a:t>
            </a:r>
            <a:r>
              <a:rPr dirty="0"/>
              <a:t>）。</a:t>
            </a:r>
          </a:p>
          <a:p>
            <a:r>
              <a:rPr dirty="0" err="1"/>
              <a:t>一方でパラメータが増えるほど解が一意でなくなり、初期値しだいで答えが動く</a:t>
            </a:r>
            <a:r>
              <a:rPr dirty="0"/>
              <a:t>。</a:t>
            </a:r>
          </a:p>
          <a:p>
            <a:r>
              <a:rPr dirty="0" err="1"/>
              <a:t>そこで情報量規準（AICc</a:t>
            </a:r>
            <a:r>
              <a:rPr dirty="0"/>
              <a:t> </a:t>
            </a:r>
            <a:r>
              <a:rPr dirty="0" err="1"/>
              <a:t>など）で「当てはまりの良さ」と「パラメータの少なさ」を</a:t>
            </a:r>
            <a:endParaRPr dirty="0"/>
          </a:p>
          <a:p>
            <a:r>
              <a:rPr dirty="0" err="1"/>
              <a:t>つり合わせてモデルを選ぶ</a:t>
            </a:r>
            <a:r>
              <a:rPr dirty="0"/>
              <a:t>。</a:t>
            </a:r>
          </a:p>
          <a:p>
            <a:endParaRPr dirty="0"/>
          </a:p>
          <a:p>
            <a:r>
              <a:rPr dirty="0"/>
              <a:t>■ </a:t>
            </a:r>
            <a:r>
              <a:rPr dirty="0" err="1"/>
              <a:t>実際の報告</a:t>
            </a:r>
            <a:endParaRPr dirty="0"/>
          </a:p>
          <a:p>
            <a:r>
              <a:rPr dirty="0"/>
              <a:t>・Tigges 2017：指尖容積脈波 7,805 </a:t>
            </a:r>
            <a:r>
              <a:rPr dirty="0" err="1"/>
              <a:t>拍で</a:t>
            </a:r>
            <a:r>
              <a:rPr dirty="0"/>
              <a:t> 4 </a:t>
            </a:r>
            <a:r>
              <a:rPr dirty="0" err="1"/>
              <a:t>種の基底関数とモデル次数を総当たりし</a:t>
            </a:r>
            <a:r>
              <a:rPr dirty="0"/>
              <a:t> </a:t>
            </a:r>
            <a:r>
              <a:rPr dirty="0" err="1"/>
              <a:t>AICc</a:t>
            </a:r>
            <a:r>
              <a:rPr dirty="0"/>
              <a:t> </a:t>
            </a:r>
            <a:r>
              <a:rPr dirty="0" err="1"/>
              <a:t>で選択</a:t>
            </a:r>
            <a:r>
              <a:rPr dirty="0"/>
              <a:t>。</a:t>
            </a:r>
          </a:p>
          <a:p>
            <a:r>
              <a:rPr dirty="0"/>
              <a:t>　</a:t>
            </a:r>
            <a:r>
              <a:rPr dirty="0" err="1"/>
              <a:t>最頻の最良モデルは</a:t>
            </a:r>
            <a:r>
              <a:rPr dirty="0"/>
              <a:t> Gamma 3 </a:t>
            </a:r>
            <a:r>
              <a:rPr dirty="0" err="1"/>
              <a:t>本で</a:t>
            </a:r>
            <a:r>
              <a:rPr dirty="0"/>
              <a:t> 28.1%、</a:t>
            </a:r>
            <a:r>
              <a:rPr dirty="0" err="1"/>
              <a:t>次点は</a:t>
            </a:r>
            <a:r>
              <a:rPr dirty="0"/>
              <a:t> Rayleigh 2 </a:t>
            </a:r>
            <a:r>
              <a:rPr dirty="0" err="1"/>
              <a:t>本で</a:t>
            </a:r>
            <a:r>
              <a:rPr dirty="0"/>
              <a:t> 14.4%。</a:t>
            </a:r>
          </a:p>
          <a:p>
            <a:r>
              <a:rPr dirty="0"/>
              <a:t>　</a:t>
            </a:r>
            <a:r>
              <a:rPr dirty="0" err="1"/>
              <a:t>単一の最良モデルは存在しなかった</a:t>
            </a:r>
            <a:r>
              <a:rPr dirty="0"/>
              <a:t>。</a:t>
            </a:r>
          </a:p>
          <a:p>
            <a:r>
              <a:rPr dirty="0"/>
              <a:t>・Fleischhauer 2020：カーネル 2 </a:t>
            </a:r>
            <a:r>
              <a:rPr dirty="0" err="1"/>
              <a:t>本がノイズ・体動にもっとも頑健で</a:t>
            </a:r>
            <a:r>
              <a:rPr dirty="0"/>
              <a:t>、</a:t>
            </a:r>
          </a:p>
          <a:p>
            <a:r>
              <a:rPr dirty="0"/>
              <a:t>　</a:t>
            </a:r>
            <a:r>
              <a:rPr dirty="0" err="1"/>
              <a:t>評価指標が</a:t>
            </a:r>
            <a:r>
              <a:rPr dirty="0"/>
              <a:t> 14.09% </a:t>
            </a:r>
            <a:r>
              <a:rPr dirty="0" err="1"/>
              <a:t>改善しつつ、より多いカーネルと同等に形態情報を保った</a:t>
            </a:r>
            <a:r>
              <a:rPr dirty="0"/>
              <a:t>。</a:t>
            </a:r>
          </a:p>
          <a:p>
            <a:endParaRPr dirty="0"/>
          </a:p>
          <a:p>
            <a:r>
              <a:rPr dirty="0"/>
              <a:t>→ 「多いほど良い」ではない。2 </a:t>
            </a:r>
            <a:r>
              <a:rPr dirty="0" err="1"/>
              <a:t>本が実用上のバランス点という報告が複数ある</a:t>
            </a:r>
            <a:r>
              <a:rPr dirty="0"/>
              <a:t>。</a:t>
            </a:r>
          </a:p>
          <a:p>
            <a:endParaRPr dirty="0"/>
          </a:p>
          <a:p>
            <a:r>
              <a:rPr dirty="0"/>
              <a:t>出典：43. Tigges 2017 ／ 35. Fleischhauer 2020</a:t>
            </a:r>
          </a:p>
        </p:txBody>
      </p:sp>
      <p:sp>
        <p:nvSpPr>
          <p:cNvPr id="4" name="Slide Number Placeholder 3">
            <a:extLst>
              <a:ext uri="{FF2B5EF4-FFF2-40B4-BE49-F238E27FC236}">
                <a16:creationId xmlns:a16="http://schemas.microsoft.com/office/drawing/2014/main" id="{BC3B0E26-66F4-2555-9A82-8879BC418533}"/>
              </a:ext>
            </a:extLst>
          </p:cNvPr>
          <p:cNvSpPr>
            <a:spLocks noGrp="1"/>
          </p:cNvSpPr>
          <p:nvPr>
            <p:ph type="sldNum" sz="quarter" idx="5"/>
          </p:nvPr>
        </p:nvSpPr>
        <p:spPr/>
      </p:sp>
    </p:spTree>
    <p:extLst>
      <p:ext uri="{BB962C8B-B14F-4D97-AF65-F5344CB8AC3E}">
        <p14:creationId xmlns:p14="http://schemas.microsoft.com/office/powerpoint/2010/main" val="50586770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の手順</a:t>
            </a:r>
          </a:p>
          <a:p>
            <a:endParaRPr/>
          </a:p>
          <a:p>
            <a:r>
              <a:t>① 一拍ごとに切り出し、幅と振幅を正規化する。</a:t>
            </a:r>
          </a:p>
          <a:p>
            <a:r>
              <a:t>② 基底関数（山の形）の種類と個数を決める。ここが本手法の急所。</a:t>
            </a:r>
          </a:p>
          <a:p>
            <a:r>
              <a:t>   Gaussian／Gamma／skewed-Gaussian／Rayleigh／log-normal、カーネル数は 2〜5 と</a:t>
            </a:r>
          </a:p>
          <a:p>
            <a:r>
              <a:t>   研究ごとに割れている。</a:t>
            </a:r>
          </a:p>
          <a:p>
            <a:r>
              <a:t>③ 重み付き最小二乗などでパラメータ（位置・高さ・幅）を推定する。</a:t>
            </a:r>
          </a:p>
          <a:p>
            <a:r>
              <a:t>   初期値の選び方で解が動くことが知られている。</a:t>
            </a:r>
          </a:p>
          <a:p>
            <a:r>
              <a:t>④ 得られた成分波どうしの時間差 T1_2 と振幅比 R1_2 を、それぞれ SI・RI に対応させる。</a:t>
            </a:r>
          </a:p>
          <a:p>
            <a:endParaRPr/>
          </a:p>
          <a:p>
            <a:r>
              <a:t>■ ② が決着していないことの意味</a:t>
            </a:r>
          </a:p>
          <a:p>
            <a:r>
              <a:t>Tigges 2017 は 7,805 拍を対象に 4 種の基底関数とモデル次数を総当たりし、AICc で選択した。</a:t>
            </a:r>
          </a:p>
          <a:p>
            <a:r>
              <a:t>最頻の最良モデル（Gamma 3 個）でも全体の 28.1%、次点（Rayleigh 2 個）が 14.4% で、</a:t>
            </a:r>
          </a:p>
          <a:p>
            <a:r>
              <a:t>両者を足しても半数に満たない。単一の最良モデルは存在しない。</a:t>
            </a:r>
          </a:p>
          <a:p>
            <a:r>
              <a:t>これは「分解」という逆問題が一意に解けていないことの直接の表れである。</a:t>
            </a:r>
          </a:p>
          <a:p>
            <a:endParaRPr/>
          </a:p>
          <a:p>
            <a:r>
              <a:t>出典：42. Couceiro 2015 ／ 43. Tigges 2017 ／ 35. Fleischhauer 2020</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7.3 </a:t>
            </a:r>
            <a:r>
              <a:rPr dirty="0" err="1"/>
              <a:t>当てはめの計算</a:t>
            </a:r>
            <a:r>
              <a:rPr dirty="0"/>
              <a:t> ― </a:t>
            </a:r>
            <a:r>
              <a:rPr dirty="0" err="1"/>
              <a:t>何をどう決めているのか</a:t>
            </a:r>
            <a:endParaRPr dirty="0"/>
          </a:p>
          <a:p>
            <a:endParaRPr dirty="0"/>
          </a:p>
          <a:p>
            <a:r>
              <a:rPr dirty="0"/>
              <a:t>■ </a:t>
            </a:r>
            <a:r>
              <a:rPr dirty="0" err="1"/>
              <a:t>目的関数</a:t>
            </a:r>
            <a:endParaRPr dirty="0"/>
          </a:p>
          <a:p>
            <a:r>
              <a:rPr dirty="0" err="1"/>
              <a:t>実測した合成波</a:t>
            </a:r>
            <a:r>
              <a:rPr dirty="0"/>
              <a:t> y(t) </a:t>
            </a:r>
            <a:r>
              <a:rPr dirty="0" err="1"/>
              <a:t>と、モデルが作る合成波</a:t>
            </a:r>
            <a:r>
              <a:rPr dirty="0"/>
              <a:t> </a:t>
            </a:r>
            <a:r>
              <a:rPr dirty="0" err="1"/>
              <a:t>ŷ</a:t>
            </a:r>
            <a:r>
              <a:rPr dirty="0"/>
              <a:t>(t)=Σf_k(t) </a:t>
            </a:r>
            <a:r>
              <a:rPr dirty="0" err="1"/>
              <a:t>の差（残差）を</a:t>
            </a:r>
            <a:r>
              <a:rPr dirty="0"/>
              <a:t>、</a:t>
            </a:r>
          </a:p>
          <a:p>
            <a:r>
              <a:rPr dirty="0" err="1"/>
              <a:t>全時点で二乗して足し合わせた値（残差平方和</a:t>
            </a:r>
            <a:r>
              <a:rPr dirty="0"/>
              <a:t> RSS）を最小にするパラメータを探す。</a:t>
            </a:r>
          </a:p>
          <a:p>
            <a:r>
              <a:rPr dirty="0"/>
              <a:t>　　RSS = </a:t>
            </a:r>
            <a:r>
              <a:rPr dirty="0" err="1"/>
              <a:t>Σ_t</a:t>
            </a:r>
            <a:r>
              <a:rPr dirty="0"/>
              <a:t> { y(t) − </a:t>
            </a:r>
            <a:r>
              <a:rPr dirty="0" err="1"/>
              <a:t>ŷ</a:t>
            </a:r>
            <a:r>
              <a:rPr dirty="0"/>
              <a:t>(t) }²</a:t>
            </a:r>
          </a:p>
          <a:p>
            <a:r>
              <a:rPr dirty="0" err="1"/>
              <a:t>サンプル点ごとに重みを変える重み付き最小二乗（WLS）を使う実装もある</a:t>
            </a:r>
            <a:endParaRPr dirty="0"/>
          </a:p>
          <a:p>
            <a:r>
              <a:rPr dirty="0"/>
              <a:t>（Wang L 2013 </a:t>
            </a:r>
            <a:r>
              <a:rPr dirty="0" err="1"/>
              <a:t>は重みを多基準意思決定法で最適化している</a:t>
            </a:r>
            <a:r>
              <a:rPr dirty="0"/>
              <a:t>）。</a:t>
            </a:r>
          </a:p>
          <a:p>
            <a:endParaRPr dirty="0"/>
          </a:p>
          <a:p>
            <a:r>
              <a:rPr dirty="0"/>
              <a:t>■ </a:t>
            </a:r>
            <a:r>
              <a:rPr dirty="0" err="1"/>
              <a:t>解き方</a:t>
            </a:r>
            <a:endParaRPr dirty="0"/>
          </a:p>
          <a:p>
            <a:r>
              <a:rPr dirty="0" err="1"/>
              <a:t>パラメータについて非線形なので、解析的には解けない</a:t>
            </a:r>
            <a:r>
              <a:rPr dirty="0"/>
              <a:t>。</a:t>
            </a:r>
          </a:p>
          <a:p>
            <a:r>
              <a:rPr dirty="0"/>
              <a:t>Levenberg–Marquardt </a:t>
            </a:r>
            <a:r>
              <a:rPr dirty="0" err="1"/>
              <a:t>法などの反復計算で、初期値から少しずつ動かして最小値を探す</a:t>
            </a:r>
            <a:r>
              <a:rPr dirty="0"/>
              <a:t>。</a:t>
            </a:r>
          </a:p>
          <a:p>
            <a:endParaRPr dirty="0"/>
          </a:p>
          <a:p>
            <a:r>
              <a:rPr dirty="0"/>
              <a:t>■ </a:t>
            </a:r>
            <a:r>
              <a:rPr dirty="0" err="1"/>
              <a:t>初期値の問題</a:t>
            </a:r>
            <a:endParaRPr dirty="0"/>
          </a:p>
          <a:p>
            <a:r>
              <a:rPr dirty="0" err="1"/>
              <a:t>反復計算は初期値の近くの谷（局所解）に落ちる。したがって</a:t>
            </a:r>
            <a:endParaRPr dirty="0"/>
          </a:p>
          <a:p>
            <a:r>
              <a:rPr dirty="0"/>
              <a:t>「</a:t>
            </a:r>
            <a:r>
              <a:rPr dirty="0" err="1"/>
              <a:t>同じ波形・同じモデルでも、初期値を変えると別の答えが出る」ことが起こる</a:t>
            </a:r>
            <a:r>
              <a:rPr dirty="0"/>
              <a:t>。</a:t>
            </a:r>
          </a:p>
          <a:p>
            <a:r>
              <a:rPr dirty="0"/>
              <a:t>Basso 2024 </a:t>
            </a:r>
            <a:r>
              <a:rPr dirty="0" err="1"/>
              <a:t>は</a:t>
            </a:r>
            <a:r>
              <a:rPr dirty="0"/>
              <a:t> skewed-Gaussian </a:t>
            </a:r>
            <a:r>
              <a:rPr dirty="0" err="1"/>
              <a:t>モデルがランダム初期値に対して感度が低く</a:t>
            </a:r>
            <a:endParaRPr dirty="0"/>
          </a:p>
          <a:p>
            <a:r>
              <a:rPr dirty="0" err="1"/>
              <a:t>一貫して頑健だったと報告しており、これは裏を返せば</a:t>
            </a:r>
            <a:endParaRPr dirty="0"/>
          </a:p>
          <a:p>
            <a:r>
              <a:rPr dirty="0" err="1"/>
              <a:t>従来モデルでは初期値で答えが動いていたということである</a:t>
            </a:r>
            <a:r>
              <a:rPr dirty="0"/>
              <a:t>。</a:t>
            </a:r>
          </a:p>
          <a:p>
            <a:endParaRPr dirty="0"/>
          </a:p>
          <a:p>
            <a:r>
              <a:rPr dirty="0"/>
              <a:t>■ </a:t>
            </a:r>
            <a:r>
              <a:rPr dirty="0" err="1"/>
              <a:t>当てはまりの評価</a:t>
            </a:r>
            <a:endParaRPr dirty="0"/>
          </a:p>
          <a:p>
            <a:r>
              <a:rPr dirty="0"/>
              <a:t>・</a:t>
            </a:r>
            <a:r>
              <a:rPr dirty="0" err="1"/>
              <a:t>残差平方和</a:t>
            </a:r>
            <a:r>
              <a:rPr dirty="0"/>
              <a:t> </a:t>
            </a:r>
            <a:r>
              <a:rPr dirty="0" err="1"/>
              <a:t>RSS、正規化</a:t>
            </a:r>
            <a:r>
              <a:rPr dirty="0"/>
              <a:t> RMSE、R²</a:t>
            </a:r>
          </a:p>
          <a:p>
            <a:r>
              <a:rPr dirty="0"/>
              <a:t>・</a:t>
            </a:r>
            <a:r>
              <a:rPr dirty="0" err="1"/>
              <a:t>モデル選択には補正赤池情報量規準</a:t>
            </a:r>
            <a:r>
              <a:rPr dirty="0"/>
              <a:t> </a:t>
            </a:r>
            <a:r>
              <a:rPr dirty="0" err="1"/>
              <a:t>AICc（当てはまりとパラメータ数のつり合い</a:t>
            </a:r>
            <a:r>
              <a:rPr dirty="0"/>
              <a:t>）</a:t>
            </a:r>
          </a:p>
          <a:p>
            <a:r>
              <a:rPr dirty="0"/>
              <a:t>Couceiro 2015 </a:t>
            </a:r>
            <a:r>
              <a:rPr dirty="0" err="1"/>
              <a:t>の</a:t>
            </a:r>
            <a:r>
              <a:rPr dirty="0"/>
              <a:t> 5 </a:t>
            </a:r>
            <a:r>
              <a:rPr dirty="0" err="1"/>
              <a:t>ガウスモデルでは、LVET</a:t>
            </a:r>
            <a:r>
              <a:rPr dirty="0"/>
              <a:t> </a:t>
            </a:r>
            <a:r>
              <a:rPr dirty="0" err="1"/>
              <a:t>絶対誤差</a:t>
            </a:r>
            <a:r>
              <a:rPr dirty="0"/>
              <a:t> 15.41±13.66 </a:t>
            </a:r>
            <a:r>
              <a:rPr dirty="0" err="1"/>
              <a:t>ms、ρ</a:t>
            </a:r>
            <a:r>
              <a:rPr dirty="0"/>
              <a:t>=0.78 </a:t>
            </a:r>
            <a:r>
              <a:rPr dirty="0" err="1"/>
              <a:t>が得られている</a:t>
            </a:r>
            <a:r>
              <a:rPr dirty="0"/>
              <a:t>。</a:t>
            </a:r>
          </a:p>
          <a:p>
            <a:endParaRPr dirty="0"/>
          </a:p>
          <a:p>
            <a:r>
              <a:rPr dirty="0"/>
              <a:t>出典：42. Couceiro 2015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7.4 分解から何が得られるか</a:t>
            </a:r>
          </a:p>
          <a:p>
            <a:endParaRPr/>
          </a:p>
          <a:p>
            <a:r>
              <a:t>分解が終わると、各成分波の（高さ a・位置 μ・幅 σ）が数値として手に入る。</a:t>
            </a:r>
          </a:p>
          <a:p>
            <a:r>
              <a:t>そこから従来の指標を作り直せる。</a:t>
            </a:r>
          </a:p>
          <a:p>
            <a:endParaRPr/>
          </a:p>
          <a:p>
            <a:r>
              <a:t>・時間差 T1_2 ＝ μ₂ − μ₁（第1成分波と第2成分波の頂点の時刻差）</a:t>
            </a:r>
          </a:p>
          <a:p>
            <a:r>
              <a:t>　　→ 従来の ΔT に相当。SI ＝ 身長 ÷ T1_2 として再定義できる。</a:t>
            </a:r>
          </a:p>
          <a:p>
            <a:r>
              <a:t>・振幅比 R1_2 ＝ a₂ / a₁</a:t>
            </a:r>
          </a:p>
          <a:p>
            <a:r>
              <a:t>　　→ 従来の RI（P2/P1）に相当。</a:t>
            </a:r>
          </a:p>
          <a:p>
            <a:r>
              <a:t>・LVET（左室駆出時間）も、収縮期成分の微分解析から推定できる（Couceiro 2012）。</a:t>
            </a:r>
          </a:p>
          <a:p>
            <a:endParaRPr/>
          </a:p>
          <a:p>
            <a:r>
              <a:t>■ 従来法との決定的な違い</a:t>
            </a:r>
          </a:p>
          <a:p>
            <a:r>
              <a:t>従来法は「切痕・P2 という点」が波形上に存在しないと計算できない。</a:t>
            </a:r>
          </a:p>
          <a:p>
            <a:r>
              <a:t>分解法は点を探さないので、切痕が消えている波形（DN-less）でも</a:t>
            </a:r>
          </a:p>
          <a:p>
            <a:r>
              <a:t>μ₂ と a₂ という数値が返ってくる。これが本章の要点である。</a:t>
            </a:r>
          </a:p>
          <a:p>
            <a:endParaRPr/>
          </a:p>
          <a:p>
            <a:r>
              <a:t>■ ただし</a:t>
            </a:r>
          </a:p>
          <a:p>
            <a:r>
              <a:t>Couceiro 2015 では、振幅比 R1_2 はすべての参照値と低相関だった。</a:t>
            </a:r>
          </a:p>
          <a:p>
            <a:r>
              <a:t>時間側の T1_2 でも総末梢血管抵抗係数との相関は ρ=0.45 にとどまる。</a:t>
            </a:r>
          </a:p>
          <a:p>
            <a:r>
              <a:t>値が返ってくることと、その値が臨床的に意味を持つことは別である。</a:t>
            </a:r>
          </a:p>
          <a:p>
            <a:endParaRPr/>
          </a:p>
          <a:p>
            <a:r>
              <a:t>出典：45. Couceiro 2012 ／ 41. Goswami 2010 ／ 42. Couceiro 2015</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7.5 </a:t>
            </a:r>
            <a:r>
              <a:rPr dirty="0" err="1"/>
              <a:t>重要文献の全体像</a:t>
            </a:r>
            <a:endParaRPr dirty="0"/>
          </a:p>
          <a:p>
            <a:endParaRPr dirty="0"/>
          </a:p>
          <a:p>
            <a:r>
              <a:rPr dirty="0"/>
              <a:t>PDA </a:t>
            </a:r>
            <a:r>
              <a:rPr dirty="0" err="1"/>
              <a:t>をめぐる</a:t>
            </a:r>
            <a:r>
              <a:rPr dirty="0"/>
              <a:t> 9 </a:t>
            </a:r>
            <a:r>
              <a:rPr dirty="0" err="1"/>
              <a:t>本を、役割で</a:t>
            </a:r>
            <a:r>
              <a:rPr dirty="0"/>
              <a:t> 4 </a:t>
            </a:r>
            <a:r>
              <a:rPr dirty="0" err="1"/>
              <a:t>群に分けて並べた。次ページ以降で</a:t>
            </a:r>
            <a:r>
              <a:rPr dirty="0"/>
              <a:t> 1 </a:t>
            </a:r>
            <a:r>
              <a:rPr dirty="0" err="1"/>
              <a:t>本ずつ扱う</a:t>
            </a:r>
            <a:r>
              <a:rPr dirty="0"/>
              <a:t>。</a:t>
            </a:r>
          </a:p>
          <a:p>
            <a:endParaRPr dirty="0"/>
          </a:p>
          <a:p>
            <a:r>
              <a:rPr dirty="0"/>
              <a:t>【A </a:t>
            </a:r>
            <a:r>
              <a:rPr dirty="0" err="1"/>
              <a:t>群：指標を作った</a:t>
            </a:r>
            <a:r>
              <a:rPr dirty="0"/>
              <a:t>】</a:t>
            </a:r>
          </a:p>
          <a:p>
            <a:r>
              <a:rPr dirty="0"/>
              <a:t>・40. Rubins 2008 … </a:t>
            </a:r>
            <a:r>
              <a:rPr dirty="0" err="1"/>
              <a:t>ガウス当てはめから</a:t>
            </a:r>
            <a:r>
              <a:rPr dirty="0"/>
              <a:t> RI </a:t>
            </a:r>
            <a:r>
              <a:rPr dirty="0" err="1"/>
              <a:t>を出した最初期（健常者</a:t>
            </a:r>
            <a:r>
              <a:rPr dirty="0"/>
              <a:t> 40 </a:t>
            </a:r>
            <a:r>
              <a:rPr dirty="0" err="1"/>
              <a:t>名</a:t>
            </a:r>
            <a:r>
              <a:rPr dirty="0"/>
              <a:t>）</a:t>
            </a:r>
          </a:p>
          <a:p>
            <a:r>
              <a:rPr dirty="0"/>
              <a:t>・41. Goswami 2010 … Rayleigh 2 </a:t>
            </a:r>
            <a:r>
              <a:rPr dirty="0" err="1"/>
              <a:t>波合成モデルで</a:t>
            </a:r>
            <a:r>
              <a:rPr dirty="0"/>
              <a:t> SI </a:t>
            </a:r>
            <a:r>
              <a:rPr dirty="0" err="1"/>
              <a:t>と</a:t>
            </a:r>
            <a:r>
              <a:rPr dirty="0"/>
              <a:t> RI を同時に導出（113 </a:t>
            </a:r>
            <a:r>
              <a:rPr dirty="0" err="1"/>
              <a:t>信号</a:t>
            </a:r>
            <a:r>
              <a:rPr dirty="0"/>
              <a:t>）</a:t>
            </a:r>
          </a:p>
          <a:p>
            <a:r>
              <a:rPr dirty="0"/>
              <a:t>・45. Couceiro 2012 … </a:t>
            </a:r>
            <a:r>
              <a:rPr dirty="0" err="1"/>
              <a:t>多ガウス分解から</a:t>
            </a:r>
            <a:r>
              <a:rPr dirty="0"/>
              <a:t> LVET </a:t>
            </a:r>
            <a:r>
              <a:rPr dirty="0" err="1"/>
              <a:t>を推定（誤差</a:t>
            </a:r>
            <a:r>
              <a:rPr dirty="0"/>
              <a:t> 15.84±13.56 </a:t>
            </a:r>
            <a:r>
              <a:rPr dirty="0" err="1"/>
              <a:t>ms</a:t>
            </a:r>
            <a:r>
              <a:rPr dirty="0"/>
              <a:t>）</a:t>
            </a:r>
          </a:p>
          <a:p>
            <a:r>
              <a:rPr dirty="0"/>
              <a:t>・42. Couceiro 2015 … 5 </a:t>
            </a:r>
            <a:r>
              <a:rPr dirty="0" err="1"/>
              <a:t>ガウス分解を血圧・総末梢血管抵抗係数まで対比した到達点</a:t>
            </a:r>
            <a:endParaRPr dirty="0"/>
          </a:p>
          <a:p>
            <a:endParaRPr dirty="0"/>
          </a:p>
          <a:p>
            <a:r>
              <a:rPr dirty="0"/>
              <a:t>【B </a:t>
            </a:r>
            <a:r>
              <a:rPr dirty="0" err="1"/>
              <a:t>群：モデルの選び方</a:t>
            </a:r>
            <a:r>
              <a:rPr dirty="0"/>
              <a:t>】</a:t>
            </a:r>
          </a:p>
          <a:p>
            <a:r>
              <a:rPr dirty="0"/>
              <a:t>・43. Tigges 2017 … 7,805 </a:t>
            </a:r>
            <a:r>
              <a:rPr dirty="0" err="1"/>
              <a:t>拍の総当たり。最頻モデルでも</a:t>
            </a:r>
            <a:r>
              <a:rPr dirty="0"/>
              <a:t> 28.1%</a:t>
            </a:r>
          </a:p>
          <a:p>
            <a:r>
              <a:rPr dirty="0"/>
              <a:t>・35. Fleischhauer 2020 … </a:t>
            </a:r>
            <a:r>
              <a:rPr dirty="0" err="1"/>
              <a:t>Gamma＋Gaussian・カーネル</a:t>
            </a:r>
            <a:r>
              <a:rPr dirty="0"/>
              <a:t> 2 本が最も頑健（14.09% </a:t>
            </a:r>
            <a:r>
              <a:rPr dirty="0" err="1"/>
              <a:t>改善</a:t>
            </a:r>
            <a:r>
              <a:rPr dirty="0"/>
              <a:t>）</a:t>
            </a:r>
          </a:p>
          <a:p>
            <a:r>
              <a:rPr dirty="0"/>
              <a:t>・44. Basso 2024 … </a:t>
            </a:r>
            <a:r>
              <a:rPr dirty="0" err="1"/>
              <a:t>skewed-Gaussian。初期値に頑健（MIMIC-III</a:t>
            </a:r>
            <a:r>
              <a:rPr dirty="0"/>
              <a:t> 8,000 </a:t>
            </a:r>
            <a:r>
              <a:rPr dirty="0" err="1"/>
              <a:t>拍</a:t>
            </a:r>
            <a:r>
              <a:rPr dirty="0"/>
              <a:t>）</a:t>
            </a:r>
          </a:p>
          <a:p>
            <a:endParaRPr dirty="0"/>
          </a:p>
          <a:p>
            <a:r>
              <a:rPr dirty="0"/>
              <a:t>【C </a:t>
            </a:r>
            <a:r>
              <a:rPr dirty="0" err="1"/>
              <a:t>群：臨床応用</a:t>
            </a:r>
            <a:r>
              <a:rPr dirty="0"/>
              <a:t>】</a:t>
            </a:r>
          </a:p>
          <a:p>
            <a:r>
              <a:rPr dirty="0"/>
              <a:t>・46. Baruch 2014 … PDA </a:t>
            </a:r>
            <a:r>
              <a:rPr dirty="0" err="1"/>
              <a:t>由来の</a:t>
            </a:r>
            <a:r>
              <a:rPr dirty="0"/>
              <a:t> P2P1・T13 で中心動脈圧を推定（63 名、R²=0.92）</a:t>
            </a:r>
          </a:p>
          <a:p>
            <a:endParaRPr dirty="0"/>
          </a:p>
          <a:p>
            <a:r>
              <a:rPr dirty="0"/>
              <a:t>【D </a:t>
            </a:r>
            <a:r>
              <a:rPr dirty="0" err="1"/>
              <a:t>群：比較対象</a:t>
            </a:r>
            <a:r>
              <a:rPr dirty="0"/>
              <a:t>】</a:t>
            </a:r>
          </a:p>
          <a:p>
            <a:r>
              <a:rPr dirty="0"/>
              <a:t>・34. Pal 2024 … </a:t>
            </a:r>
            <a:r>
              <a:rPr dirty="0" err="1"/>
              <a:t>分解ではなく切痕を直接検出する</a:t>
            </a:r>
            <a:r>
              <a:rPr dirty="0"/>
              <a:t> IEM </a:t>
            </a:r>
            <a:r>
              <a:rPr dirty="0" err="1"/>
              <a:t>法。DN-less</a:t>
            </a:r>
            <a:r>
              <a:rPr dirty="0"/>
              <a:t> </a:t>
            </a:r>
            <a:r>
              <a:rPr dirty="0" err="1"/>
              <a:t>という語の出典</a:t>
            </a:r>
            <a:endParaRPr dirty="0"/>
          </a:p>
          <a:p>
            <a:endParaRPr dirty="0"/>
          </a:p>
          <a:p>
            <a:r>
              <a:rPr dirty="0"/>
              <a:t>【</a:t>
            </a:r>
            <a:r>
              <a:rPr dirty="0" err="1"/>
              <a:t>読みどころ</a:t>
            </a:r>
            <a:r>
              <a:rPr dirty="0"/>
              <a:t>】</a:t>
            </a:r>
          </a:p>
          <a:p>
            <a:r>
              <a:rPr dirty="0"/>
              <a:t>A </a:t>
            </a:r>
            <a:r>
              <a:rPr dirty="0" err="1"/>
              <a:t>群を時系列に読むと</a:t>
            </a:r>
            <a:r>
              <a:rPr dirty="0"/>
              <a:t>、「</a:t>
            </a:r>
            <a:r>
              <a:rPr dirty="0" err="1"/>
              <a:t>点を探すのをやめて波を当てはめる」という発想の転換も</a:t>
            </a:r>
            <a:r>
              <a:rPr dirty="0"/>
              <a:t>、</a:t>
            </a:r>
          </a:p>
          <a:p>
            <a:r>
              <a:rPr dirty="0" err="1"/>
              <a:t>そこから</a:t>
            </a:r>
            <a:r>
              <a:rPr dirty="0"/>
              <a:t> SI・RI </a:t>
            </a:r>
            <a:r>
              <a:rPr dirty="0" err="1"/>
              <a:t>を作り直すことも、血圧・血管抵抗と対比することも</a:t>
            </a:r>
            <a:r>
              <a:rPr dirty="0"/>
              <a:t>、</a:t>
            </a:r>
          </a:p>
          <a:p>
            <a:r>
              <a:rPr dirty="0"/>
              <a:t>2008〜2015 </a:t>
            </a:r>
            <a:r>
              <a:rPr dirty="0" err="1"/>
              <a:t>年にすべて実施済みだとわかる。しかも成績は芳しくない</a:t>
            </a:r>
            <a:r>
              <a:rPr dirty="0"/>
              <a:t>。</a:t>
            </a:r>
          </a:p>
          <a:p>
            <a:r>
              <a:rPr dirty="0"/>
              <a:t>B </a:t>
            </a:r>
            <a:r>
              <a:rPr dirty="0" err="1"/>
              <a:t>群は、その手法がいまだに一意に解けていないことを示す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1C41C-4152-8826-0969-7789F2473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3AAD3-5CA5-B9D4-A430-838CF606B5A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4C75333-C979-01B5-C5F3-BDF3267A274A}"/>
              </a:ext>
            </a:extLst>
          </p:cNvPr>
          <p:cNvSpPr>
            <a:spLocks noGrp="1"/>
          </p:cNvSpPr>
          <p:nvPr>
            <p:ph type="body" sz="quarter" idx="3"/>
          </p:nvPr>
        </p:nvSpPr>
        <p:spPr/>
        <p:txBody>
          <a:bodyPr/>
          <a:lstStyle/>
          <a:p>
            <a:r>
              <a:rPr dirty="0"/>
              <a:t>7.5 </a:t>
            </a:r>
            <a:r>
              <a:rPr dirty="0" err="1"/>
              <a:t>重要文献の全体像</a:t>
            </a:r>
            <a:endParaRPr dirty="0"/>
          </a:p>
          <a:p>
            <a:endParaRPr dirty="0"/>
          </a:p>
          <a:p>
            <a:r>
              <a:rPr dirty="0"/>
              <a:t>PDA </a:t>
            </a:r>
            <a:r>
              <a:rPr dirty="0" err="1"/>
              <a:t>をめぐる</a:t>
            </a:r>
            <a:r>
              <a:rPr dirty="0"/>
              <a:t> 9 </a:t>
            </a:r>
            <a:r>
              <a:rPr dirty="0" err="1"/>
              <a:t>本を、役割で</a:t>
            </a:r>
            <a:r>
              <a:rPr dirty="0"/>
              <a:t> 4 </a:t>
            </a:r>
            <a:r>
              <a:rPr dirty="0" err="1"/>
              <a:t>群に分けて並べた。次ページ以降で</a:t>
            </a:r>
            <a:r>
              <a:rPr dirty="0"/>
              <a:t> 1 </a:t>
            </a:r>
            <a:r>
              <a:rPr dirty="0" err="1"/>
              <a:t>本ずつ扱う</a:t>
            </a:r>
            <a:r>
              <a:rPr dirty="0"/>
              <a:t>。</a:t>
            </a:r>
          </a:p>
          <a:p>
            <a:endParaRPr dirty="0"/>
          </a:p>
          <a:p>
            <a:r>
              <a:rPr dirty="0"/>
              <a:t>【A </a:t>
            </a:r>
            <a:r>
              <a:rPr dirty="0" err="1"/>
              <a:t>群：指標を作った</a:t>
            </a:r>
            <a:r>
              <a:rPr dirty="0"/>
              <a:t>】</a:t>
            </a:r>
          </a:p>
          <a:p>
            <a:r>
              <a:rPr dirty="0"/>
              <a:t>・40. Rubins 2008 … </a:t>
            </a:r>
            <a:r>
              <a:rPr dirty="0" err="1"/>
              <a:t>ガウス当てはめから</a:t>
            </a:r>
            <a:r>
              <a:rPr dirty="0"/>
              <a:t> RI </a:t>
            </a:r>
            <a:r>
              <a:rPr dirty="0" err="1"/>
              <a:t>を出した最初期（健常者</a:t>
            </a:r>
            <a:r>
              <a:rPr dirty="0"/>
              <a:t> 40 </a:t>
            </a:r>
            <a:r>
              <a:rPr dirty="0" err="1"/>
              <a:t>名</a:t>
            </a:r>
            <a:r>
              <a:rPr dirty="0"/>
              <a:t>）</a:t>
            </a:r>
          </a:p>
          <a:p>
            <a:r>
              <a:rPr dirty="0"/>
              <a:t>・41. Goswami 2010 … Rayleigh 2 </a:t>
            </a:r>
            <a:r>
              <a:rPr dirty="0" err="1"/>
              <a:t>波合成モデルで</a:t>
            </a:r>
            <a:r>
              <a:rPr dirty="0"/>
              <a:t> SI </a:t>
            </a:r>
            <a:r>
              <a:rPr dirty="0" err="1"/>
              <a:t>と</a:t>
            </a:r>
            <a:r>
              <a:rPr dirty="0"/>
              <a:t> RI を同時に導出（113 </a:t>
            </a:r>
            <a:r>
              <a:rPr dirty="0" err="1"/>
              <a:t>信号</a:t>
            </a:r>
            <a:r>
              <a:rPr dirty="0"/>
              <a:t>）</a:t>
            </a:r>
          </a:p>
          <a:p>
            <a:r>
              <a:rPr dirty="0"/>
              <a:t>・45. Couceiro 2012 … </a:t>
            </a:r>
            <a:r>
              <a:rPr dirty="0" err="1"/>
              <a:t>多ガウス分解から</a:t>
            </a:r>
            <a:r>
              <a:rPr dirty="0"/>
              <a:t> LVET </a:t>
            </a:r>
            <a:r>
              <a:rPr dirty="0" err="1"/>
              <a:t>を推定（誤差</a:t>
            </a:r>
            <a:r>
              <a:rPr dirty="0"/>
              <a:t> 15.84±13.56 </a:t>
            </a:r>
            <a:r>
              <a:rPr dirty="0" err="1"/>
              <a:t>ms</a:t>
            </a:r>
            <a:r>
              <a:rPr dirty="0"/>
              <a:t>）</a:t>
            </a:r>
          </a:p>
          <a:p>
            <a:r>
              <a:rPr dirty="0"/>
              <a:t>・42. Couceiro 2015 … 5 </a:t>
            </a:r>
            <a:r>
              <a:rPr dirty="0" err="1"/>
              <a:t>ガウス分解を血圧・総末梢血管抵抗係数まで対比した到達点</a:t>
            </a:r>
            <a:endParaRPr dirty="0"/>
          </a:p>
          <a:p>
            <a:endParaRPr dirty="0"/>
          </a:p>
          <a:p>
            <a:r>
              <a:rPr dirty="0"/>
              <a:t>【B </a:t>
            </a:r>
            <a:r>
              <a:rPr dirty="0" err="1"/>
              <a:t>群：モデルの選び方</a:t>
            </a:r>
            <a:r>
              <a:rPr dirty="0"/>
              <a:t>】</a:t>
            </a:r>
          </a:p>
          <a:p>
            <a:r>
              <a:rPr dirty="0"/>
              <a:t>・43. Tigges 2017 … 7,805 </a:t>
            </a:r>
            <a:r>
              <a:rPr dirty="0" err="1"/>
              <a:t>拍の総当たり。最頻モデルでも</a:t>
            </a:r>
            <a:r>
              <a:rPr dirty="0"/>
              <a:t> 28.1%</a:t>
            </a:r>
          </a:p>
          <a:p>
            <a:r>
              <a:rPr dirty="0"/>
              <a:t>・35. Fleischhauer 2020 … </a:t>
            </a:r>
            <a:r>
              <a:rPr dirty="0" err="1"/>
              <a:t>Gamma＋Gaussian・カーネル</a:t>
            </a:r>
            <a:r>
              <a:rPr dirty="0"/>
              <a:t> 2 本が最も頑健（14.09% </a:t>
            </a:r>
            <a:r>
              <a:rPr dirty="0" err="1"/>
              <a:t>改善</a:t>
            </a:r>
            <a:r>
              <a:rPr dirty="0"/>
              <a:t>）</a:t>
            </a:r>
          </a:p>
          <a:p>
            <a:r>
              <a:rPr dirty="0"/>
              <a:t>・44. Basso 2024 … </a:t>
            </a:r>
            <a:r>
              <a:rPr dirty="0" err="1"/>
              <a:t>skewed-Gaussian。初期値に頑健（MIMIC-III</a:t>
            </a:r>
            <a:r>
              <a:rPr dirty="0"/>
              <a:t> 8,000 </a:t>
            </a:r>
            <a:r>
              <a:rPr dirty="0" err="1"/>
              <a:t>拍</a:t>
            </a:r>
            <a:r>
              <a:rPr dirty="0"/>
              <a:t>）</a:t>
            </a:r>
          </a:p>
          <a:p>
            <a:endParaRPr dirty="0"/>
          </a:p>
          <a:p>
            <a:r>
              <a:rPr dirty="0"/>
              <a:t>【C </a:t>
            </a:r>
            <a:r>
              <a:rPr dirty="0" err="1"/>
              <a:t>群：臨床応用</a:t>
            </a:r>
            <a:r>
              <a:rPr dirty="0"/>
              <a:t>】</a:t>
            </a:r>
          </a:p>
          <a:p>
            <a:r>
              <a:rPr dirty="0"/>
              <a:t>・46. Baruch 2014 … PDA </a:t>
            </a:r>
            <a:r>
              <a:rPr dirty="0" err="1"/>
              <a:t>由来の</a:t>
            </a:r>
            <a:r>
              <a:rPr dirty="0"/>
              <a:t> P2P1・T13 で中心動脈圧を推定（63 名、R²=0.92）</a:t>
            </a:r>
          </a:p>
          <a:p>
            <a:endParaRPr dirty="0"/>
          </a:p>
          <a:p>
            <a:r>
              <a:rPr dirty="0"/>
              <a:t>【D </a:t>
            </a:r>
            <a:r>
              <a:rPr dirty="0" err="1"/>
              <a:t>群：比較対象</a:t>
            </a:r>
            <a:r>
              <a:rPr dirty="0"/>
              <a:t>】</a:t>
            </a:r>
          </a:p>
          <a:p>
            <a:r>
              <a:rPr dirty="0"/>
              <a:t>・34. Pal 2024 … </a:t>
            </a:r>
            <a:r>
              <a:rPr dirty="0" err="1"/>
              <a:t>分解ではなく切痕を直接検出する</a:t>
            </a:r>
            <a:r>
              <a:rPr dirty="0"/>
              <a:t> IEM </a:t>
            </a:r>
            <a:r>
              <a:rPr dirty="0" err="1"/>
              <a:t>法。DN-less</a:t>
            </a:r>
            <a:r>
              <a:rPr dirty="0"/>
              <a:t> </a:t>
            </a:r>
            <a:r>
              <a:rPr dirty="0" err="1"/>
              <a:t>という語の出典</a:t>
            </a:r>
            <a:endParaRPr dirty="0"/>
          </a:p>
          <a:p>
            <a:endParaRPr dirty="0"/>
          </a:p>
          <a:p>
            <a:r>
              <a:rPr dirty="0"/>
              <a:t>【</a:t>
            </a:r>
            <a:r>
              <a:rPr dirty="0" err="1"/>
              <a:t>読みどころ</a:t>
            </a:r>
            <a:r>
              <a:rPr dirty="0"/>
              <a:t>】</a:t>
            </a:r>
          </a:p>
          <a:p>
            <a:r>
              <a:rPr dirty="0"/>
              <a:t>A </a:t>
            </a:r>
            <a:r>
              <a:rPr dirty="0" err="1"/>
              <a:t>群を時系列に読むと</a:t>
            </a:r>
            <a:r>
              <a:rPr dirty="0"/>
              <a:t>、「</a:t>
            </a:r>
            <a:r>
              <a:rPr dirty="0" err="1"/>
              <a:t>点を探すのをやめて波を当てはめる」という発想の転換も</a:t>
            </a:r>
            <a:r>
              <a:rPr dirty="0"/>
              <a:t>、</a:t>
            </a:r>
          </a:p>
          <a:p>
            <a:r>
              <a:rPr dirty="0" err="1"/>
              <a:t>そこから</a:t>
            </a:r>
            <a:r>
              <a:rPr dirty="0"/>
              <a:t> SI・RI </a:t>
            </a:r>
            <a:r>
              <a:rPr dirty="0" err="1"/>
              <a:t>を作り直すことも、血圧・血管抵抗と対比することも</a:t>
            </a:r>
            <a:r>
              <a:rPr dirty="0"/>
              <a:t>、</a:t>
            </a:r>
          </a:p>
          <a:p>
            <a:r>
              <a:rPr dirty="0"/>
              <a:t>2008〜2015 </a:t>
            </a:r>
            <a:r>
              <a:rPr dirty="0" err="1"/>
              <a:t>年にすべて実施済みだとわかる。しかも成績は芳しくない</a:t>
            </a:r>
            <a:r>
              <a:rPr dirty="0"/>
              <a:t>。</a:t>
            </a:r>
          </a:p>
          <a:p>
            <a:r>
              <a:rPr dirty="0"/>
              <a:t>B </a:t>
            </a:r>
            <a:r>
              <a:rPr dirty="0" err="1"/>
              <a:t>群は、その手法がいまだに一意に解けていないことを示す</a:t>
            </a:r>
            <a:r>
              <a:rPr dirty="0"/>
              <a:t>。</a:t>
            </a:r>
          </a:p>
        </p:txBody>
      </p:sp>
      <p:sp>
        <p:nvSpPr>
          <p:cNvPr id="4" name="Slide Number Placeholder 3">
            <a:extLst>
              <a:ext uri="{FF2B5EF4-FFF2-40B4-BE49-F238E27FC236}">
                <a16:creationId xmlns:a16="http://schemas.microsoft.com/office/drawing/2014/main" id="{CAECD2B4-C080-42A6-C3D9-0E7F8D2F9890}"/>
              </a:ext>
            </a:extLst>
          </p:cNvPr>
          <p:cNvSpPr>
            <a:spLocks noGrp="1"/>
          </p:cNvSpPr>
          <p:nvPr>
            <p:ph type="sldNum" sz="quarter" idx="5"/>
          </p:nvPr>
        </p:nvSpPr>
        <p:spPr/>
      </p:sp>
    </p:spTree>
    <p:extLst>
      <p:ext uri="{BB962C8B-B14F-4D97-AF65-F5344CB8AC3E}">
        <p14:creationId xmlns:p14="http://schemas.microsoft.com/office/powerpoint/2010/main" val="410158157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Rubins 2008</a:t>
            </a:r>
          </a:p>
          <a:p>
            <a:endParaRPr/>
          </a:p>
          <a:p>
            <a:r>
              <a:t>Rubins U. Finger and ear photoplethysmogram waveform analysis by fitting with Gaussians. Med Biol Eng Comput 2008;46:1271–6.</a:t>
            </a:r>
          </a:p>
          <a:p>
            <a:endParaRPr/>
          </a:p>
          <a:p>
            <a:r>
              <a:t>比較対照は同一波形から微分法で求めた同じ指標。</a:t>
            </a:r>
          </a:p>
          <a:p>
            <a:r>
              <a:t>「分解由来の RI」の最初期の報告として位置づけられる。</a:t>
            </a:r>
          </a:p>
          <a:p>
            <a:r>
              <a:t>PMID 18855034</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Goswami 2010</a:t>
            </a:r>
          </a:p>
          <a:p>
            <a:endParaRPr/>
          </a:p>
          <a:p>
            <a:r>
              <a:t>Goswami D, et al. A new two-pulse synthesis model for digital volume pulse signal analysis. Cardiovasc Eng 2010;10:109–17.</a:t>
            </a:r>
          </a:p>
          <a:p>
            <a:endParaRPr/>
          </a:p>
          <a:p>
            <a:r>
              <a:t>新指標 differential pulse spread（DPS）も提案している。</a:t>
            </a:r>
          </a:p>
          <a:p>
            <a:r>
              <a:t>基底関数がガウス関数とは限らないことを早くから示した例でもある。</a:t>
            </a:r>
          </a:p>
          <a:p>
            <a:r>
              <a:t>PMID 20734136</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Couceiro 2012</a:t>
            </a:r>
          </a:p>
          <a:p>
            <a:endParaRPr/>
          </a:p>
          <a:p>
            <a:r>
              <a:t>Couceiro R, et al. Multi-Gaussian fitting for the assessment of left ventricular ejection time from the photoplethysmogram. Annu Int Conf IEEE EMBC 2012;2012:3951–4.</a:t>
            </a:r>
          </a:p>
          <a:p>
            <a:endParaRPr/>
          </a:p>
          <a:p>
            <a:r>
              <a:t>比較対照は Chan らの既存 LVET 推定アルゴリズムと心エコー参照値。</a:t>
            </a:r>
          </a:p>
          <a:p>
            <a:r>
              <a:t>PMID 23366792</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Couceiro 2015</a:t>
            </a:r>
          </a:p>
          <a:p>
            <a:endParaRPr/>
          </a:p>
          <a:p>
            <a:r>
              <a:t>Couceiro R, et al. Assessment of cardiovascular function from multi-Gaussian fitting of a finger photoplethysmogram. Physiol Meas 2015;36:1801–25.</a:t>
            </a:r>
          </a:p>
          <a:p>
            <a:endParaRPr/>
          </a:p>
          <a:p>
            <a:r>
              <a:t>本デックにとって最も重要な 1 本。</a:t>
            </a:r>
          </a:p>
          <a:p>
            <a:r>
              <a:t>「分解由来の SI・RI を血圧・総末梢血管抵抗係数と対比する」という設問は</a:t>
            </a:r>
          </a:p>
          <a:p>
            <a:r>
              <a:t>2015 年に既に実施済みであり、しかも成績が芳しくない。</a:t>
            </a:r>
          </a:p>
          <a:p>
            <a:r>
              <a:t>失神を経験した患者では SI と収縮期血圧・平均血圧の一致が最高で 0.57。</a:t>
            </a:r>
          </a:p>
          <a:p>
            <a:r>
              <a:t>→ 主要評価項目は振幅側ではなく時間側に置くべき、という設計上の含意。</a:t>
            </a:r>
          </a:p>
          <a:p>
            <a:r>
              <a:t>PMID 26235798</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Tigges 2017</a:t>
            </a:r>
          </a:p>
          <a:p>
            <a:endParaRPr/>
          </a:p>
          <a:p>
            <a:r>
              <a:t>Tigges T, et al. Model selection for the pulse decomposition analysis of fingertip photoplethysmograms. Annu Int Conf IEEE EMBC 2017;2017:4014–7.</a:t>
            </a:r>
          </a:p>
          <a:p>
            <a:endParaRPr/>
          </a:p>
          <a:p>
            <a:r>
              <a:t>単一の最良モデルは存在しない。</a:t>
            </a:r>
          </a:p>
          <a:p>
            <a:r>
              <a:t>これは分解という逆問題が一意に解けていないことの直接の根拠であり、</a:t>
            </a:r>
          </a:p>
          <a:p>
            <a:r>
              <a:t>分解成分に「前進波」「反射波」という部位名を割り当てること自体の弱さにもつながる。</a:t>
            </a:r>
          </a:p>
          <a:p>
            <a:r>
              <a:t>PMID 29060777</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Fleischhauer</a:t>
            </a:r>
          </a:p>
          <a:p>
            <a:endParaRPr/>
          </a:p>
          <a:p>
            <a:r>
              <a:t>Fleischhauer V, et al. Pulse decomposition analysis in photoplethysmography imaging. Physiol Meas 2020;41:095009.</a:t>
            </a:r>
          </a:p>
          <a:p>
            <a:endParaRPr/>
          </a:p>
          <a:p>
            <a:r>
              <a:t>初期値設定の影響も検討している。</a:t>
            </a:r>
          </a:p>
          <a:p>
            <a:r>
              <a:t>アルゴリズム間の差と初期値依存性を実証した文献。</a:t>
            </a:r>
          </a:p>
          <a:p>
            <a:r>
              <a:t>PMID 33021236</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Basso 2024</a:t>
            </a:r>
          </a:p>
          <a:p>
            <a:endParaRPr/>
          </a:p>
          <a:p>
            <a:r>
              <a:t>Basso G, et al. A skewed-Gaussian model for pulse decomposition analysis of photoplethysmography signals. Physiol Meas 2024;45(11):12507. Bland-Altman でバイアスも評価している（数値は抄録に記載なし）。</a:t>
            </a:r>
          </a:p>
          <a:p>
            <a:r>
              <a:t>基底関数の選択が決着していないことの実例であると同時に、</a:t>
            </a:r>
          </a:p>
          <a:p>
            <a:r>
              <a:t>非対称基底の採用という対策の根拠でもある。</a:t>
            </a:r>
          </a:p>
          <a:p>
            <a:r>
              <a:t>PMID 39577084</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Baruch 2014</a:t>
            </a:r>
          </a:p>
          <a:p>
            <a:endParaRPr/>
          </a:p>
          <a:p>
            <a:r>
              <a:t>Baruch MC, et al. Validation of the pulse decomposition analysis algorithm using central arterial blood pressure. Biomed Eng Online 2014;13:96.</a:t>
            </a:r>
          </a:p>
          <a:p>
            <a:endParaRPr/>
          </a:p>
          <a:p>
            <a:r>
              <a:t>中心ラインカテーテルによる中心動脈圧の実測値と比較。</a:t>
            </a:r>
          </a:p>
          <a:p>
            <a:r>
              <a:t>Bland-Altman は AAMI SP-10 のトレンド基準内。</a:t>
            </a:r>
          </a:p>
          <a:p>
            <a:r>
              <a:t>PDA を製品化している系譜（CareTaker／Vitalstream）があり、</a:t>
            </a:r>
          </a:p>
          <a:p>
            <a:r>
              <a:t>実装を検討する場合は特許調査が別途必要になる。</a:t>
            </a:r>
          </a:p>
          <a:p>
            <a:r>
              <a:t>PMID 25005686</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Pal 2024</a:t>
            </a:r>
          </a:p>
          <a:p>
            <a:endParaRPr/>
          </a:p>
          <a:p>
            <a:r>
              <a:t>Pal R, et al. An algorithm to detect dicrotic notch in arterial blood pressure and photoplethysmography waveforms using the iterative envelope mean method. Comput Methods Programs Biomed 2024;254:108283.</a:t>
            </a:r>
          </a:p>
          <a:p>
            <a:endParaRPr/>
          </a:p>
          <a:p>
            <a:r>
              <a:t>収縮期相持続時間 SPD の相関は PPG で R²=0.98（n=86,764, p&lt;.001）。</a:t>
            </a:r>
          </a:p>
          <a:p>
            <a:r>
              <a:t>SNR −12 dB まで高い検出率を維持。</a:t>
            </a:r>
          </a:p>
          <a:p>
            <a:r>
              <a:t>分解法（PDA）ではなく「切痕を直接検出する」系統の到達点であり、</a:t>
            </a:r>
          </a:p>
          <a:p>
            <a:r>
              <a:t>PDA の比較対象になる。</a:t>
            </a:r>
          </a:p>
          <a:p>
            <a:r>
              <a:t>PMID 38901273</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a:t>
            </a:r>
            <a:r>
              <a:rPr dirty="0" err="1"/>
              <a:t>の限界</a:t>
            </a:r>
            <a:endParaRPr dirty="0"/>
          </a:p>
          <a:p>
            <a:endParaRPr dirty="0"/>
          </a:p>
          <a:p>
            <a:r>
              <a:rPr dirty="0"/>
              <a:t>① </a:t>
            </a:r>
            <a:r>
              <a:rPr dirty="0" err="1"/>
              <a:t>逆問題が一意に解けていない</a:t>
            </a:r>
            <a:endParaRPr dirty="0"/>
          </a:p>
          <a:p>
            <a:r>
              <a:rPr dirty="0"/>
              <a:t>　　</a:t>
            </a:r>
            <a:r>
              <a:rPr dirty="0" err="1"/>
              <a:t>Gaussian／Gamma／skewed-Gaussian／Rayleigh、カーネル数</a:t>
            </a:r>
            <a:r>
              <a:rPr dirty="0"/>
              <a:t> 2〜5 </a:t>
            </a:r>
            <a:r>
              <a:rPr dirty="0" err="1"/>
              <a:t>と研究ごとに最良が異なる</a:t>
            </a:r>
            <a:endParaRPr dirty="0"/>
          </a:p>
          <a:p>
            <a:r>
              <a:rPr dirty="0"/>
              <a:t>　　（Tigges 2017 </a:t>
            </a:r>
            <a:r>
              <a:rPr dirty="0" err="1"/>
              <a:t>の総当たりで最頻モデルでも</a:t>
            </a:r>
            <a:r>
              <a:rPr dirty="0"/>
              <a:t> 28.1%）。Basso 2024 </a:t>
            </a:r>
            <a:r>
              <a:rPr dirty="0" err="1"/>
              <a:t>が示した初期値依存性も</a:t>
            </a:r>
            <a:endParaRPr dirty="0"/>
          </a:p>
          <a:p>
            <a:r>
              <a:rPr dirty="0"/>
              <a:t>　　</a:t>
            </a:r>
            <a:r>
              <a:rPr dirty="0" err="1"/>
              <a:t>同じ根を持つ</a:t>
            </a:r>
            <a:r>
              <a:rPr dirty="0"/>
              <a:t>。</a:t>
            </a:r>
          </a:p>
          <a:p>
            <a:endParaRPr dirty="0"/>
          </a:p>
          <a:p>
            <a:r>
              <a:rPr dirty="0"/>
              <a:t>② </a:t>
            </a:r>
            <a:r>
              <a:rPr dirty="0" err="1"/>
              <a:t>物理的な帰属が数値モデルから支持されていない</a:t>
            </a:r>
            <a:endParaRPr dirty="0"/>
          </a:p>
          <a:p>
            <a:r>
              <a:rPr dirty="0"/>
              <a:t>　　Epstein 2014 </a:t>
            </a:r>
            <a:r>
              <a:rPr dirty="0" err="1"/>
              <a:t>は手の主要動脈を含む</a:t>
            </a:r>
            <a:r>
              <a:rPr dirty="0"/>
              <a:t> 75 </a:t>
            </a:r>
            <a:r>
              <a:rPr dirty="0" err="1"/>
              <a:t>本の動脈網を表現した非線形</a:t>
            </a:r>
            <a:r>
              <a:rPr dirty="0"/>
              <a:t> 1 </a:t>
            </a:r>
            <a:r>
              <a:rPr dirty="0" err="1"/>
              <a:t>次元モデルで</a:t>
            </a:r>
            <a:r>
              <a:rPr dirty="0"/>
              <a:t>、</a:t>
            </a:r>
          </a:p>
          <a:p>
            <a:r>
              <a:rPr dirty="0"/>
              <a:t>　　SI </a:t>
            </a:r>
            <a:r>
              <a:rPr dirty="0" err="1"/>
              <a:t>が大動脈</a:t>
            </a:r>
            <a:r>
              <a:rPr dirty="0"/>
              <a:t> PWV </a:t>
            </a:r>
            <a:r>
              <a:rPr dirty="0" err="1"/>
              <a:t>の直接の代用ではないこと、さらに</a:t>
            </a:r>
            <a:endParaRPr dirty="0"/>
          </a:p>
          <a:p>
            <a:r>
              <a:rPr dirty="0"/>
              <a:t>　　**</a:t>
            </a:r>
            <a:r>
              <a:rPr dirty="0" err="1"/>
              <a:t>第</a:t>
            </a:r>
            <a:r>
              <a:rPr dirty="0"/>
              <a:t> 2 </a:t>
            </a:r>
            <a:r>
              <a:rPr dirty="0" err="1"/>
              <a:t>ピークは末梢反射ではなく動脈網内部のインピーダンス不整合が主因</a:t>
            </a:r>
            <a:r>
              <a:rPr dirty="0"/>
              <a:t>**</a:t>
            </a:r>
            <a:r>
              <a:rPr dirty="0" err="1"/>
              <a:t>であり</a:t>
            </a:r>
            <a:r>
              <a:rPr dirty="0"/>
              <a:t>、</a:t>
            </a:r>
          </a:p>
          <a:p>
            <a:r>
              <a:rPr dirty="0"/>
              <a:t>　　</a:t>
            </a:r>
            <a:r>
              <a:rPr dirty="0" err="1"/>
              <a:t>上肢の末梢反射はむしろ第</a:t>
            </a:r>
            <a:r>
              <a:rPr dirty="0"/>
              <a:t> 1 </a:t>
            </a:r>
            <a:r>
              <a:rPr dirty="0" err="1"/>
              <a:t>ピークの到達時刻を遅らせることを示した</a:t>
            </a:r>
            <a:r>
              <a:rPr dirty="0"/>
              <a:t>。</a:t>
            </a:r>
          </a:p>
          <a:p>
            <a:r>
              <a:rPr dirty="0"/>
              <a:t>　　「2 </a:t>
            </a:r>
            <a:r>
              <a:rPr dirty="0" err="1"/>
              <a:t>番目の山＝末梢からの反射波」というラベルは自明ではない</a:t>
            </a:r>
            <a:r>
              <a:rPr dirty="0"/>
              <a:t>。</a:t>
            </a:r>
          </a:p>
          <a:p>
            <a:r>
              <a:rPr dirty="0"/>
              <a:t>　　</a:t>
            </a:r>
            <a:r>
              <a:rPr dirty="0" err="1"/>
              <a:t>当てはまりがいくら改善しても、この帰属が誤っていれば</a:t>
            </a:r>
            <a:endParaRPr dirty="0"/>
          </a:p>
          <a:p>
            <a:r>
              <a:rPr dirty="0"/>
              <a:t>　　</a:t>
            </a:r>
            <a:r>
              <a:rPr dirty="0" err="1"/>
              <a:t>そこから作った</a:t>
            </a:r>
            <a:r>
              <a:rPr dirty="0"/>
              <a:t> RI・SI </a:t>
            </a:r>
            <a:r>
              <a:rPr dirty="0" err="1"/>
              <a:t>の生理学的意味は変わってしまう</a:t>
            </a:r>
            <a:r>
              <a:rPr dirty="0"/>
              <a:t>。</a:t>
            </a:r>
          </a:p>
          <a:p>
            <a:endParaRPr dirty="0"/>
          </a:p>
          <a:p>
            <a:r>
              <a:rPr dirty="0"/>
              <a:t>③ </a:t>
            </a:r>
            <a:r>
              <a:rPr dirty="0" err="1"/>
              <a:t>振幅側の成績が一貫して弱い</a:t>
            </a:r>
            <a:endParaRPr dirty="0"/>
          </a:p>
          <a:p>
            <a:r>
              <a:rPr dirty="0"/>
              <a:t>　　Couceiro 2015 </a:t>
            </a:r>
            <a:r>
              <a:rPr dirty="0" err="1"/>
              <a:t>の</a:t>
            </a:r>
            <a:r>
              <a:rPr dirty="0"/>
              <a:t> R1_2（モデル由来の </a:t>
            </a:r>
            <a:r>
              <a:rPr dirty="0" err="1"/>
              <a:t>RI）はすべての参照値と低相関</a:t>
            </a:r>
            <a:r>
              <a:rPr dirty="0"/>
              <a:t>。</a:t>
            </a:r>
          </a:p>
          <a:p>
            <a:r>
              <a:rPr dirty="0"/>
              <a:t>　　</a:t>
            </a:r>
            <a:r>
              <a:rPr dirty="0" err="1"/>
              <a:t>時間側の</a:t>
            </a:r>
            <a:r>
              <a:rPr dirty="0"/>
              <a:t> T1_2 </a:t>
            </a:r>
            <a:r>
              <a:rPr dirty="0" err="1"/>
              <a:t>ですら</a:t>
            </a:r>
            <a:r>
              <a:rPr dirty="0"/>
              <a:t> TPRI </a:t>
            </a:r>
            <a:r>
              <a:rPr dirty="0" err="1"/>
              <a:t>との</a:t>
            </a:r>
            <a:r>
              <a:rPr dirty="0"/>
              <a:t> </a:t>
            </a:r>
            <a:r>
              <a:rPr dirty="0" err="1"/>
              <a:t>ρ</a:t>
            </a:r>
            <a:r>
              <a:rPr dirty="0"/>
              <a:t>=0.45 </a:t>
            </a:r>
            <a:r>
              <a:rPr dirty="0" err="1"/>
              <a:t>にとどまる</a:t>
            </a:r>
            <a:r>
              <a:rPr dirty="0"/>
              <a:t>。</a:t>
            </a:r>
          </a:p>
          <a:p>
            <a:endParaRPr dirty="0"/>
          </a:p>
          <a:p>
            <a:r>
              <a:rPr dirty="0"/>
              <a:t>→ </a:t>
            </a:r>
            <a:r>
              <a:rPr dirty="0" err="1"/>
              <a:t>検証設計としては、真値が既知の仮想被験者データベース（Charlton</a:t>
            </a:r>
            <a:r>
              <a:rPr dirty="0"/>
              <a:t> 2019）で</a:t>
            </a:r>
          </a:p>
          <a:p>
            <a:r>
              <a:rPr dirty="0"/>
              <a:t>　 </a:t>
            </a:r>
            <a:r>
              <a:rPr dirty="0" err="1"/>
              <a:t>先に帰属を確かめるのが筋である</a:t>
            </a:r>
            <a:r>
              <a:rPr dirty="0"/>
              <a:t>。</a:t>
            </a:r>
          </a:p>
          <a:p>
            <a:endParaRPr dirty="0"/>
          </a:p>
          <a:p>
            <a:r>
              <a:rPr dirty="0"/>
              <a:t>出典：42. Couceiro 2015 ／ 43. Tigges 2017 ／ 44. Basso 2024 ／ 47. Epstein 2014</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参考文献の続き（16〜29）。29 は 4.3 で用いた Coutrot 2019。</a:t>
            </a:r>
          </a:p>
          <a:p>
            <a:r>
              <a:t>1枚に28件を並べると下端がはみ出していたため2枚に分割し、本文を 10.5pt にした。</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初期値の決め方</a:t>
            </a:r>
          </a:p>
          <a:p/>
          <a:p>
            <a:r>
              <a:t>反復計算は初期値の近くの谷に落ちるので、初期値をどう置くかが結果を左右する。</a:t>
            </a:r>
          </a:p>
          <a:p>
            <a:r>
              <a:t>方式は大きく3つあり、どれを使うかは研究ごとに違う。</a:t>
            </a:r>
          </a:p>
          <a:p/>
          <a:p>
            <a:r>
              <a:t>■ ランドマーク方式（主流）</a:t>
            </a:r>
          </a:p>
          <a:p>
            <a:r>
              <a:t>1次微分でピーク、2次微分で変曲点・肩を検出し、その時刻を成分波の位置 μ の初期値にする。</a:t>
            </a:r>
          </a:p>
          <a:p>
            <a:r>
              <a:t>高さ a はその時刻の振幅、幅 σ は半値全幅 ÷ 2.355 から見積もる。</a:t>
            </a:r>
          </a:p>
          <a:p>
            <a:r>
              <a:t>生理学的に妥当な初期値が得られるので収束が速い。</a:t>
            </a:r>
          </a:p>
          <a:p>
            <a:r>
              <a:t>弱点は DN-less 波形で、目印が消えるのではなく「弱くなってノイズと区別できなくなる」こと。</a:t>
            </a:r>
          </a:p>
          <a:p>
            <a:r>
              <a:t>Pal 2024 の報告では、従来の2次微分法による重複切痕の検出誤差は 0.0968 秒（SD 0.0909）で、</a:t>
            </a:r>
          </a:p>
          <a:p>
            <a:r>
              <a:t>IEM 法の 0.0046 秒（SD 0.0029）と桁で違う。使えないのではなく不安定である。</a:t>
            </a:r>
          </a:p>
          <a:p/>
          <a:p>
            <a:r>
              <a:t>■ 前の拍を引き継ぐ</a:t>
            </a:r>
          </a:p>
          <a:p>
            <a:r>
              <a:t>直前の拍で得た解を次の拍の初期値にする。目印に依存せず、指標が拍ごとに跳ばないので、</a:t>
            </a:r>
          </a:p>
          <a:p>
            <a:r>
              <a:t>麻酔導入時のようにトーヌスが動く場面のトレンド表示に向く。</a:t>
            </a:r>
          </a:p>
          <a:p>
            <a:r>
              <a:t>ただし前の拍が誤っていると引きずる。</a:t>
            </a:r>
          </a:p>
          <a:p/>
          <a:p>
            <a:r>
              <a:t>■ 多点スタート・大域最適化</a:t>
            </a:r>
          </a:p>
          <a:p>
            <a:r>
              <a:t>多数のランダム初期値から当てはめて最良を選ぶ、あるいは粒子群最適化などの大域探索を使う。</a:t>
            </a:r>
          </a:p>
          <a:p>
            <a:r>
              <a:t>初期値依存を避けられるが計算量は増える。</a:t>
            </a:r>
          </a:p>
          <a:p>
            <a:r>
              <a:t>なおランダム初期値は本来アルゴリズムの頑健性を評価する手段であり</a:t>
            </a:r>
          </a:p>
          <a:p>
            <a:r>
              <a:t>（Basso 2024 はこの方法で skewed-Gaussian の初期値感度の低さを示した）、</a:t>
            </a:r>
          </a:p>
          <a:p>
            <a:r>
              <a:t>実運用の推奨ではない。</a:t>
            </a:r>
          </a:p>
          <a:p/>
          <a:p>
            <a:r>
              <a:t>■ 基底関数が決めるのは「翻訳の式」だけ</a:t>
            </a:r>
          </a:p>
          <a:p>
            <a:r>
              <a:t>方式は研究者が選ぶが、ランドマークをパラメータに直す式は基底関数で決まる。</a:t>
            </a:r>
          </a:p>
          <a:p>
            <a:r>
              <a:t>Gaussian は μ が頂点の時刻なのでそのまま入れられるが、</a:t>
            </a:r>
          </a:p>
          <a:p>
            <a:r>
              <a:t>Rayleigh は μ が立ち上がりの時刻で頂点は μ+σ なので、μ = 頂点時刻 − σ として入れる。</a:t>
            </a:r>
          </a:p>
          <a:p>
            <a:r>
              <a:t>Gamma は形状・尺度パラメータから逆算する。</a:t>
            </a:r>
          </a:p>
          <a:p/>
          <a:p>
            <a:r>
              <a:t>■ 境界条件</a:t>
            </a:r>
          </a:p>
          <a:p>
            <a:r>
              <a:t>初期値と同じくらい結果を左右するが、論文では細部として扱われがちである。</a:t>
            </a:r>
          </a:p>
          <a:p>
            <a:r>
              <a:t>・a &gt; 0 … 負の成分波（引き算で辻褄を合わせる解）を禁じる</a:t>
            </a:r>
          </a:p>
          <a:p>
            <a:r>
              <a:t>・μ₁ &lt; μ₂ &lt; … の順序制約 … N 本のモデルには N! 通りの等価な解がある。</a:t>
            </a:r>
          </a:p>
          <a:p>
            <a:r>
              <a:t>　順序を固定しないと、拍ごとに「第2成分波」が指す対象が入れ替わり、時系列で追えなくなる。</a:t>
            </a:r>
          </a:p>
          <a:p>
            <a:r>
              <a:t>　実務上いちばん効く制約。</a:t>
            </a:r>
          </a:p>
          <a:p>
            <a:r>
              <a:t>・σ の上下限 … 細すぎるカーネル（ノイズを吸う）と太すぎるカーネル（ベースラインを吸う）を防ぐ</a:t>
            </a:r>
          </a:p>
          <a:p/>
          <a:p>
            <a:r>
              <a:t>出典：42. Couceiro 2015 ／ 45. Couceiro 2012 ／ 44. Basso 2024</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当てはめの選び方 ― 目的関数と探索法は別物</a:t>
            </a:r>
          </a:p>
          <a:p/>
          <a:p>
            <a:r>
              <a:t>混同されやすいが、「何を最小にするか（目的関数）」と「どうやって最小値を探すか（探索法）」</a:t>
            </a:r>
          </a:p>
          <a:p>
            <a:r>
              <a:t>は独立した選択である。</a:t>
            </a:r>
          </a:p>
          <a:p/>
          <a:p>
            <a:r>
              <a:t>■ 目的関数</a:t>
            </a:r>
          </a:p>
          <a:p>
            <a:r>
              <a:t>・残差平方和 RSS ＝ 実測とモデルの差を二乗して全時点で合計したもの。事実上の標準。</a:t>
            </a:r>
          </a:p>
          <a:p>
            <a:r>
              <a:t>　二乗するのは、符号を消すため、大きなズレを重く見るため、微分できて計算しやすいため。</a:t>
            </a:r>
          </a:p>
          <a:p>
            <a:r>
              <a:t>　統計的な裏づけもあり、ノイズが平均ゼロ・分散一定の正規分布に従い各時点で独立であれば、</a:t>
            </a:r>
          </a:p>
          <a:p>
            <a:r>
              <a:t>　RSS を最小にするパラメータは最尤推定値と厳密に一致する。恣意的な選択ではない。</a:t>
            </a:r>
          </a:p>
          <a:p>
            <a:r>
              <a:t>・重み付き最小二乗 WLS ＝ 時点ごとに重みを変える。</a:t>
            </a:r>
          </a:p>
          <a:p>
            <a:r>
              <a:t>　RSS は全時点を平等に扱うため、サンプル点の多い拡張期の平坦部が、点数の少ない</a:t>
            </a:r>
          </a:p>
          <a:p>
            <a:r>
              <a:t>　収縮期ピーク付近より結果を支配してしまう。臨床的に見たいのは後者なので、その補正。</a:t>
            </a:r>
          </a:p>
          <a:p>
            <a:r>
              <a:t>　Wang L 2013 は重みを多基準意思決定法で最適化している。</a:t>
            </a:r>
          </a:p>
          <a:p>
            <a:r>
              <a:t>・ロバスト損失（Huber、soft-L1）＝ 大きな残差の重みを下げる。体動アーチファクトに強い。</a:t>
            </a:r>
          </a:p>
          <a:p>
            <a:r>
              <a:t>・ベイズ・MAP・正則化 ＝ パラメータに事前分布や罰則を課す。非一意性そのものを抑える点で</a:t>
            </a:r>
          </a:p>
          <a:p>
            <a:r>
              <a:t>　原理的には最も筋が良いが、PDA ではまだ一般的でない。</a:t>
            </a:r>
          </a:p>
          <a:p/>
          <a:p>
            <a:r>
              <a:t>■ 探索法（目的関数は RSS のまま変えない）</a:t>
            </a:r>
          </a:p>
          <a:p>
            <a:r>
              <a:t>・Levenberg–Marquardt 法 ＝ 標準。最急降下法と Gauss–Newton 法を減衰係数で切り替える。</a:t>
            </a:r>
          </a:p>
          <a:p>
            <a:r>
              <a:t>　速いが局所解に落ちる。</a:t>
            </a:r>
          </a:p>
          <a:p>
            <a:r>
              <a:t>・大域最適化（粒子群最適化、人工蜂コロニー、遺伝的アルゴリズム）＝ 局所解を回避。計算量増。</a:t>
            </a:r>
          </a:p>
          <a:p>
            <a:r>
              <a:t>・変数分離 VARPRO ＝ 高さ a はモデルに線形に入るので、μ と σ が決まれば a は</a:t>
            </a:r>
          </a:p>
          <a:p>
            <a:r>
              <a:t>　線形最小二乗で厳密に解ける。反復すべき非線形パラメータが 3N から 2N に減り、</a:t>
            </a:r>
          </a:p>
          <a:p>
            <a:r>
              <a:t>　初期値依存が下がる。</a:t>
            </a:r>
          </a:p>
          <a:p>
            <a:r>
              <a:t>・逐次剥ぎ取り ＝ 大きい山から順に当てはめて引いていく。初期値づくりの前処理としても使う。</a:t>
            </a:r>
          </a:p>
          <a:p/>
          <a:p>
            <a:r>
              <a:t>■ まとめ</a:t>
            </a:r>
          </a:p>
          <a:p>
            <a:r>
              <a:t>目的関数の骨格はほぼ全文献で共通であり、論文ごとに違うのは重み付けと探索アルゴリズム、</a:t>
            </a:r>
          </a:p>
          <a:p>
            <a:r>
              <a:t>そして前スライドの初期値の作り方である。</a:t>
            </a:r>
          </a:p>
          <a:p/>
          <a:p>
            <a:r>
              <a:t>出典：42. Couceiro 2015 ／ 43. Tigges 2017 ／ 44. Basso 2024</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収束の検算 ― 値が返ってきたら確認すること</a:t>
            </a:r>
          </a:p>
          <a:p/>
          <a:p>
            <a:r>
              <a:t>当てはめは必ず何らかの値を返す。返ってきたこと自体は成功を意味しない。</a:t>
            </a:r>
          </a:p>
          <a:p/>
          <a:p>
            <a:r>
              <a:t>■ ① 境界に張り付いていないか</a:t>
            </a:r>
          </a:p>
          <a:p>
            <a:r>
              <a:t>パラメータが設定した上限・下限に達したまま止まっている場合、最適化は「そこから先に</a:t>
            </a:r>
          </a:p>
          <a:p>
            <a:r>
              <a:t>行きたかったのに行けなかった」状態である。モデルの形か本数か境界の置き方が</a:t>
            </a:r>
          </a:p>
          <a:p>
            <a:r>
              <a:t>その波形に合っていない。値は使えない。</a:t>
            </a:r>
          </a:p>
          <a:p/>
          <a:p>
            <a:r>
              <a:t>■ ② 振幅がほぼゼロのカーネルが無いか</a:t>
            </a:r>
          </a:p>
          <a:p>
            <a:r>
              <a:t>実質的に使われていないカーネルがあるということは、その拍にはその本数が多すぎる。</a:t>
            </a:r>
          </a:p>
          <a:p>
            <a:r>
              <a:t>本数を減らすか、AICc などのモデル選択に委ねる。</a:t>
            </a:r>
          </a:p>
          <a:p/>
          <a:p>
            <a:r>
              <a:t>■ ③ 初期値を変えても同じ解に収束するか</a:t>
            </a:r>
          </a:p>
          <a:p>
            <a:r>
              <a:t>複数の初期値から当てはめて、同じ解に落ちるかを見る。これが最も直接的な非一意性の検査。</a:t>
            </a:r>
          </a:p>
          <a:p>
            <a:r>
              <a:t>合成波形での検証では、カーネル2本のときはランダム初期値の 96% が同じ解に収束したのに対し、</a:t>
            </a:r>
          </a:p>
          <a:p>
            <a:r>
              <a:t>6本では 1.3% しか到達しなかった。本数が多いほど「実行するたびに違う答えが出る」状態に近づく。</a:t>
            </a:r>
          </a:p>
          <a:p/>
          <a:p>
            <a:r>
              <a:t>■ ④ 残差プロファイルの幅</a:t>
            </a:r>
          </a:p>
          <a:p>
            <a:r>
              <a:t>時間差 T を固定して残りのパラメータだけ最適化し、T を動かしながら残差を描く</a:t>
            </a:r>
          </a:p>
          <a:p>
            <a:r>
              <a:t>（プロファイル法。同定可能性の標準的な診断）。谷が鋭ければ T は決まっており、</a:t>
            </a:r>
          </a:p>
          <a:p>
            <a:r>
              <a:t>平らならデータは T を決めていない。</a:t>
            </a:r>
          </a:p>
          <a:p>
            <a:r>
              <a:t>合成波形での検証では、切痕がある波形では T の区別できない範囲が ±5 ms 未満だったのに対し、</a:t>
            </a:r>
          </a:p>
          <a:p>
            <a:r>
              <a:t>切痕が消えた波形では 75〜110 ms（幅 35 ms）に広がった。</a:t>
            </a:r>
          </a:p>
          <a:p>
            <a:r>
              <a:t>このとき最良解の残差はどちらも 0.9% 前後で同じであり、</a:t>
            </a:r>
          </a:p>
          <a:p>
            <a:r>
              <a:t>残差を見ても不確かさの差はまったく分からない。</a:t>
            </a:r>
          </a:p>
          <a:p/>
          <a:p>
            <a:r>
              <a:t>■ 要点</a:t>
            </a:r>
          </a:p>
          <a:p>
            <a:r>
              <a:t>残差の小ささは当てはまりの指標であって、解の確からしさの指標ではない。</a:t>
            </a:r>
          </a:p>
          <a:p>
            <a:r>
              <a:t>点推定だけでなく、その拍で値がどこまで決まっているかを併せて出すことが望ましい。</a:t>
            </a:r>
          </a:p>
          <a:p>
            <a:r>
              <a:t>追加コストは「T を数十点で固定して当てはめ直す」だけである。</a:t>
            </a:r>
          </a:p>
          <a:p/>
          <a:p>
            <a:r>
              <a:t>（③④の数値は合成波形による検証例であり、文献値ではない。）</a:t>
            </a:r>
          </a:p>
          <a:p/>
          <a:p>
            <a:r>
              <a:t>出典：43. Tigges 2017 ／ 44. Basso 2024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3.png"/><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06F4D-CC38-C2F8-0A88-B7AF90ADD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00115-DF01-9B57-B621-2A10CF5BA13B}"/>
              </a:ext>
            </a:extLst>
          </p:cNvPr>
          <p:cNvSpPr>
            <a:spLocks noGrp="1"/>
          </p:cNvSpPr>
          <p:nvPr>
            <p:ph type="ctrTitle"/>
          </p:nvPr>
        </p:nvSpPr>
        <p:spPr>
          <a:xfrm>
            <a:off x="517460" y="1191722"/>
            <a:ext cx="11157079" cy="3303864"/>
          </a:xfrm>
        </p:spPr>
        <p:txBody>
          <a:bodyPr>
            <a:noAutofit/>
          </a:bodyPr>
          <a:lstStyle/>
          <a:p>
            <a:pPr>
              <a:lnSpc>
                <a:spcPct val="150000"/>
              </a:lnSpc>
              <a:spcAft>
                <a:spcPts val="600"/>
              </a:spcAft>
            </a:pPr>
            <a:r>
              <a:rPr lang="en-US" sz="4800" b="1" dirty="0" err="1">
                <a:solidFill>
                  <a:srgbClr val="262626"/>
                </a:solidFill>
                <a:latin typeface="Meiryo"/>
                <a:ea typeface="Meiryo"/>
                <a:cs typeface="Meiryo"/>
              </a:rPr>
              <a:t>光電式容積脈波記録法：PhotoPlethysmoGraphy</a:t>
            </a:r>
            <a:r>
              <a:rPr lang="en-US" sz="4800" b="1" dirty="0">
                <a:solidFill>
                  <a:srgbClr val="262626"/>
                </a:solidFill>
                <a:latin typeface="Meiryo"/>
                <a:ea typeface="Meiryo"/>
                <a:cs typeface="Meiryo"/>
              </a:rPr>
              <a:t>（</a:t>
            </a:r>
            <a:r>
              <a:rPr lang="en" altLang="ja-JP" sz="4800" b="1" dirty="0">
                <a:solidFill>
                  <a:srgbClr val="262626"/>
                </a:solidFill>
                <a:latin typeface="Meiryo"/>
                <a:ea typeface="Meiryo"/>
                <a:cs typeface="Meiryo"/>
              </a:rPr>
              <a:t> PPG </a:t>
            </a:r>
            <a:r>
              <a:rPr lang="en-US" sz="4800" b="1" dirty="0">
                <a:solidFill>
                  <a:srgbClr val="262626"/>
                </a:solidFill>
                <a:latin typeface="Meiryo"/>
                <a:ea typeface="Meiryo"/>
                <a:cs typeface="Meiryo"/>
              </a:rPr>
              <a:t>）</a:t>
            </a:r>
            <a:br>
              <a:rPr lang="en-US" sz="4800" b="1" dirty="0">
                <a:solidFill>
                  <a:srgbClr val="262626"/>
                </a:solidFill>
                <a:latin typeface="Meiryo"/>
                <a:ea typeface="Meiryo"/>
                <a:cs typeface="Meiryo"/>
              </a:rPr>
            </a:br>
            <a:r>
              <a:rPr sz="4800" b="1" dirty="0" err="1">
                <a:solidFill>
                  <a:srgbClr val="262626"/>
                </a:solidFill>
                <a:latin typeface="Meiryo"/>
                <a:ea typeface="Meiryo"/>
                <a:cs typeface="Meiryo"/>
              </a:rPr>
              <a:t>波形解析</a:t>
            </a:r>
            <a:r>
              <a:rPr lang="ja-JP" altLang="en-US" sz="4800" b="1">
                <a:solidFill>
                  <a:srgbClr val="262626"/>
                </a:solidFill>
                <a:latin typeface="Meiryo"/>
                <a:ea typeface="Meiryo"/>
                <a:cs typeface="Meiryo"/>
              </a:rPr>
              <a:t>について</a:t>
            </a:r>
            <a:endParaRPr sz="4800" b="1" dirty="0">
              <a:solidFill>
                <a:srgbClr val="262626"/>
              </a:solidFill>
              <a:latin typeface="Meiryo"/>
              <a:ea typeface="Meiryo"/>
              <a:cs typeface="Meiryo"/>
            </a:endParaRPr>
          </a:p>
        </p:txBody>
      </p:sp>
      <p:sp>
        <p:nvSpPr>
          <p:cNvPr id="3" name="Subtitle 2">
            <a:extLst>
              <a:ext uri="{FF2B5EF4-FFF2-40B4-BE49-F238E27FC236}">
                <a16:creationId xmlns:a16="http://schemas.microsoft.com/office/drawing/2014/main" id="{68FAD383-7C85-64B8-3A0D-6A86EE5DD97D}"/>
              </a:ext>
            </a:extLst>
          </p:cNvPr>
          <p:cNvSpPr>
            <a:spLocks noGrp="1"/>
          </p:cNvSpPr>
          <p:nvPr>
            <p:ph type="subTitle" idx="1"/>
          </p:nvPr>
        </p:nvSpPr>
        <p:spPr>
          <a:xfrm>
            <a:off x="1511999" y="4015274"/>
            <a:ext cx="9144000" cy="1655762"/>
          </a:xfrm>
        </p:spPr>
        <p:txBody>
          <a:bodyPr>
            <a:normAutofit/>
          </a:bodyPr>
          <a:lstStyle/>
          <a:p>
            <a:pPr algn="ctr">
              <a:spcAft>
                <a:spcPts val="400"/>
              </a:spcAft>
            </a:pPr>
            <a:endParaRPr lang="en-US" sz="2200" b="0" dirty="0">
              <a:solidFill>
                <a:srgbClr val="808080"/>
              </a:solidFill>
              <a:latin typeface="Meiryo"/>
              <a:ea typeface="Meiryo"/>
              <a:cs typeface="Meiryo"/>
            </a:endParaRPr>
          </a:p>
          <a:p>
            <a:pPr algn="ctr">
              <a:spcAft>
                <a:spcPts val="400"/>
              </a:spcAft>
            </a:pPr>
            <a:endParaRPr sz="2200" b="0" dirty="0">
              <a:solidFill>
                <a:srgbClr val="808080"/>
              </a:solidFill>
              <a:latin typeface="Meiryo"/>
              <a:ea typeface="Meiryo"/>
              <a:cs typeface="Meiryo"/>
            </a:endParaRPr>
          </a:p>
          <a:p>
            <a:pPr algn="ctr">
              <a:spcAft>
                <a:spcPts val="400"/>
              </a:spcAft>
            </a:pPr>
            <a:r>
              <a:rPr sz="2200" b="0" dirty="0">
                <a:solidFill>
                  <a:srgbClr val="262626"/>
                </a:solidFill>
                <a:latin typeface="Meiryo"/>
                <a:ea typeface="Meiryo"/>
                <a:cs typeface="Meiryo"/>
              </a:rPr>
              <a:t>川副 靖晃</a:t>
            </a:r>
          </a:p>
        </p:txBody>
      </p:sp>
      <p:pic>
        <p:nvPicPr>
          <p:cNvPr id="4" name="Picture 3" descr="01_hero.png">
            <a:extLst>
              <a:ext uri="{FF2B5EF4-FFF2-40B4-BE49-F238E27FC236}">
                <a16:creationId xmlns:a16="http://schemas.microsoft.com/office/drawing/2014/main" id="{41F42534-4E2B-4E55-CF2F-2632C2CEB70C}"/>
              </a:ext>
            </a:extLst>
          </p:cNvPr>
          <p:cNvPicPr>
            <a:picLocks noChangeAspect="1"/>
          </p:cNvPicPr>
          <p:nvPr/>
        </p:nvPicPr>
        <p:blipFill>
          <a:blip r:embed="rId3"/>
          <a:stretch>
            <a:fillRect/>
          </a:stretch>
        </p:blipFill>
        <p:spPr>
          <a:xfrm>
            <a:off x="4744259" y="5580000"/>
            <a:ext cx="2679481" cy="1044000"/>
          </a:xfrm>
          <a:prstGeom prst="rect">
            <a:avLst/>
          </a:prstGeom>
        </p:spPr>
      </p:pic>
    </p:spTree>
    <p:extLst>
      <p:ext uri="{BB962C8B-B14F-4D97-AF65-F5344CB8AC3E}">
        <p14:creationId xmlns:p14="http://schemas.microsoft.com/office/powerpoint/2010/main" val="64890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2ECB-9F6F-AE99-94C6-56000401B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DACE4-668A-D2E2-5CFB-29DB39041AB3}"/>
              </a:ext>
            </a:extLst>
          </p:cNvPr>
          <p:cNvSpPr>
            <a:spLocks noGrp="1"/>
          </p:cNvSpPr>
          <p:nvPr>
            <p:ph type="title"/>
          </p:nvPr>
        </p:nvSpPr>
        <p:spPr/>
        <p:txBody>
          <a:bodyPr/>
          <a:lstStyle/>
          <a:p>
            <a:pPr algn="l"/>
            <a:r>
              <a:rPr sz="4600" dirty="0">
                <a:latin typeface="Meiryo"/>
                <a:ea typeface="Meiryo"/>
                <a:cs typeface="Meiryo"/>
              </a:rPr>
              <a:t>用語の整理</a:t>
            </a:r>
          </a:p>
        </p:txBody>
      </p:sp>
      <p:sp>
        <p:nvSpPr>
          <p:cNvPr id="12" name="Off-page Connector 4">
            <a:extLst>
              <a:ext uri="{FF2B5EF4-FFF2-40B4-BE49-F238E27FC236}">
                <a16:creationId xmlns:a16="http://schemas.microsoft.com/office/drawing/2014/main" id="{32CBB9D4-72FC-CE51-CD8B-FDB4CF9593A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BBB0670E-8FB2-AC3B-96A2-C01F2B37CDC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428407F8-90F9-7A3F-9A34-CC570C2CA47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989C7F27-A16F-4EF6-7A91-EB05CEE76A5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7D6E77E0-89EF-FA99-E9A8-75B42B3E7E9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a:extLst>
              <a:ext uri="{FF2B5EF4-FFF2-40B4-BE49-F238E27FC236}">
                <a16:creationId xmlns:a16="http://schemas.microsoft.com/office/drawing/2014/main" id="{37C19857-83F1-BA8D-C641-222B8CF685A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a:t>
            </a:r>
          </a:p>
        </p:txBody>
      </p:sp>
      <p:sp>
        <p:nvSpPr>
          <p:cNvPr id="18" name="Rounded Rectangle 17">
            <a:extLst>
              <a:ext uri="{FF2B5EF4-FFF2-40B4-BE49-F238E27FC236}">
                <a16:creationId xmlns:a16="http://schemas.microsoft.com/office/drawing/2014/main" id="{150D3D67-74A1-7228-7D80-EA72776A3C77}"/>
              </a:ext>
            </a:extLst>
          </p:cNvPr>
          <p:cNvSpPr/>
          <p:nvPr/>
        </p:nvSpPr>
        <p:spPr>
          <a:xfrm>
            <a:off x="390816" y="2413935"/>
            <a:ext cx="352044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EAF29409-8F38-B8CA-A09C-2C59E4668EDD}"/>
              </a:ext>
            </a:extLst>
          </p:cNvPr>
          <p:cNvSpPr txBox="1"/>
          <p:nvPr/>
        </p:nvSpPr>
        <p:spPr>
          <a:xfrm>
            <a:off x="573696" y="2642535"/>
            <a:ext cx="3154680" cy="634166"/>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PPG</a:t>
            </a:r>
          </a:p>
        </p:txBody>
      </p:sp>
      <p:sp>
        <p:nvSpPr>
          <p:cNvPr id="20" name="TextBox 19">
            <a:extLst>
              <a:ext uri="{FF2B5EF4-FFF2-40B4-BE49-F238E27FC236}">
                <a16:creationId xmlns:a16="http://schemas.microsoft.com/office/drawing/2014/main" id="{A9EFB892-AC88-D9CB-4EA0-73175B966B30}"/>
              </a:ext>
            </a:extLst>
          </p:cNvPr>
          <p:cNvSpPr txBox="1"/>
          <p:nvPr/>
        </p:nvSpPr>
        <p:spPr>
          <a:xfrm>
            <a:off x="573696" y="3191175"/>
            <a:ext cx="3154680" cy="1330390"/>
          </a:xfrm>
          <a:prstGeom prst="rect">
            <a:avLst/>
          </a:prstGeom>
          <a:noFill/>
        </p:spPr>
        <p:txBody>
          <a:bodyPr wrap="square" lIns="0" tIns="0" rIns="0" bIns="0" anchor="t">
            <a:spAutoFit/>
          </a:bodyPr>
          <a:lstStyle/>
          <a:p>
            <a:pPr algn="ctr">
              <a:spcAft>
                <a:spcPts val="400"/>
              </a:spcAft>
            </a:pPr>
            <a:r>
              <a:rPr lang="ja-JP" altLang="en-US" sz="2300">
                <a:solidFill>
                  <a:srgbClr val="262626"/>
                </a:solidFill>
                <a:latin typeface="Meiryo"/>
                <a:ea typeface="Meiryo"/>
                <a:cs typeface="Meiryo"/>
              </a:rPr>
              <a:t>光により</a:t>
            </a:r>
            <a:r>
              <a:rPr sz="2300" b="0" dirty="0" err="1">
                <a:solidFill>
                  <a:srgbClr val="262626"/>
                </a:solidFill>
                <a:latin typeface="Meiryo"/>
                <a:ea typeface="Meiryo"/>
                <a:cs typeface="Meiryo"/>
              </a:rPr>
              <a:t>血液量変化を</a:t>
            </a:r>
            <a:r>
              <a:rPr lang="ja-JP" altLang="en-US" sz="2300" b="0">
                <a:solidFill>
                  <a:srgbClr val="262626"/>
                </a:solidFill>
                <a:latin typeface="Meiryo"/>
                <a:ea typeface="Meiryo"/>
                <a:cs typeface="Meiryo"/>
              </a:rPr>
              <a:t>検出する脈波測定方法</a:t>
            </a:r>
            <a:endParaRPr sz="2300" b="0" dirty="0">
              <a:solidFill>
                <a:srgbClr val="262626"/>
              </a:solidFill>
              <a:latin typeface="Meiryo"/>
              <a:ea typeface="Meiryo"/>
              <a:cs typeface="Meiryo"/>
            </a:endParaRPr>
          </a:p>
        </p:txBody>
      </p:sp>
      <p:sp>
        <p:nvSpPr>
          <p:cNvPr id="21" name="Right Arrow 20">
            <a:extLst>
              <a:ext uri="{FF2B5EF4-FFF2-40B4-BE49-F238E27FC236}">
                <a16:creationId xmlns:a16="http://schemas.microsoft.com/office/drawing/2014/main" id="{3939B752-9763-B2B9-09FC-A1E798FDBEE1}"/>
              </a:ext>
            </a:extLst>
          </p:cNvPr>
          <p:cNvSpPr/>
          <p:nvPr/>
        </p:nvSpPr>
        <p:spPr>
          <a:xfrm>
            <a:off x="4048416"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a:extLst>
              <a:ext uri="{FF2B5EF4-FFF2-40B4-BE49-F238E27FC236}">
                <a16:creationId xmlns:a16="http://schemas.microsoft.com/office/drawing/2014/main" id="{0FE3AB1D-C75F-9871-04EC-479CC7BB067B}"/>
              </a:ext>
            </a:extLst>
          </p:cNvPr>
          <p:cNvSpPr/>
          <p:nvPr/>
        </p:nvSpPr>
        <p:spPr>
          <a:xfrm>
            <a:off x="4752504" y="2413935"/>
            <a:ext cx="3520440"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33F70F4F-CE63-E23E-79D9-2B0D6F15E6EF}"/>
              </a:ext>
            </a:extLst>
          </p:cNvPr>
          <p:cNvSpPr txBox="1"/>
          <p:nvPr/>
        </p:nvSpPr>
        <p:spPr>
          <a:xfrm>
            <a:off x="4935384" y="2642535"/>
            <a:ext cx="3154680" cy="634166"/>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PPG 波形</a:t>
            </a:r>
          </a:p>
        </p:txBody>
      </p:sp>
      <p:sp>
        <p:nvSpPr>
          <p:cNvPr id="24" name="TextBox 23">
            <a:extLst>
              <a:ext uri="{FF2B5EF4-FFF2-40B4-BE49-F238E27FC236}">
                <a16:creationId xmlns:a16="http://schemas.microsoft.com/office/drawing/2014/main" id="{34F9D872-DF80-C90F-413D-3CB1DE063F97}"/>
              </a:ext>
            </a:extLst>
          </p:cNvPr>
          <p:cNvSpPr txBox="1"/>
          <p:nvPr/>
        </p:nvSpPr>
        <p:spPr>
          <a:xfrm>
            <a:off x="4935384" y="3191175"/>
            <a:ext cx="3154680" cy="956692"/>
          </a:xfrm>
          <a:prstGeom prst="rect">
            <a:avLst/>
          </a:prstGeom>
          <a:noFill/>
        </p:spPr>
        <p:txBody>
          <a:bodyPr wrap="square" lIns="0" tIns="0" rIns="0" bIns="0" anchor="t">
            <a:spAutoFit/>
          </a:bodyPr>
          <a:lstStyle/>
          <a:p>
            <a:pPr algn="ctr">
              <a:spcAft>
                <a:spcPts val="400"/>
              </a:spcAft>
            </a:pPr>
            <a:r>
              <a:rPr sz="2300" b="0">
                <a:solidFill>
                  <a:srgbClr val="262626"/>
                </a:solidFill>
                <a:latin typeface="Meiryo"/>
                <a:ea typeface="Meiryo"/>
                <a:cs typeface="Meiryo"/>
              </a:rPr>
              <a:t>得られた波</a:t>
            </a:r>
          </a:p>
          <a:p>
            <a:pPr algn="ctr">
              <a:spcAft>
                <a:spcPts val="400"/>
              </a:spcAft>
            </a:pPr>
            <a:r>
              <a:rPr sz="2300" b="0">
                <a:solidFill>
                  <a:srgbClr val="262626"/>
                </a:solidFill>
                <a:latin typeface="Meiryo"/>
                <a:ea typeface="Meiryo"/>
                <a:cs typeface="Meiryo"/>
              </a:rPr>
              <a:t>＝ 容積脈波</a:t>
            </a:r>
          </a:p>
        </p:txBody>
      </p:sp>
      <p:sp>
        <p:nvSpPr>
          <p:cNvPr id="25" name="Right Arrow 24">
            <a:extLst>
              <a:ext uri="{FF2B5EF4-FFF2-40B4-BE49-F238E27FC236}">
                <a16:creationId xmlns:a16="http://schemas.microsoft.com/office/drawing/2014/main" id="{5ADA7861-730B-7259-EC24-EF084D4F76E9}"/>
              </a:ext>
            </a:extLst>
          </p:cNvPr>
          <p:cNvSpPr/>
          <p:nvPr/>
        </p:nvSpPr>
        <p:spPr>
          <a:xfrm>
            <a:off x="8410104"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a:extLst>
              <a:ext uri="{FF2B5EF4-FFF2-40B4-BE49-F238E27FC236}">
                <a16:creationId xmlns:a16="http://schemas.microsoft.com/office/drawing/2014/main" id="{9EB29FAA-F593-0915-5268-833A542CE4F6}"/>
              </a:ext>
            </a:extLst>
          </p:cNvPr>
          <p:cNvSpPr/>
          <p:nvPr/>
        </p:nvSpPr>
        <p:spPr>
          <a:xfrm>
            <a:off x="9114192" y="2413935"/>
            <a:ext cx="2487168"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47E03627-34FC-A9AB-C1BA-4B88E40E3150}"/>
              </a:ext>
            </a:extLst>
          </p:cNvPr>
          <p:cNvSpPr txBox="1"/>
          <p:nvPr/>
        </p:nvSpPr>
        <p:spPr>
          <a:xfrm>
            <a:off x="9251352" y="2642535"/>
            <a:ext cx="2212848" cy="634166"/>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SpO₂</a:t>
            </a:r>
          </a:p>
        </p:txBody>
      </p:sp>
      <p:sp>
        <p:nvSpPr>
          <p:cNvPr id="28" name="TextBox 27">
            <a:extLst>
              <a:ext uri="{FF2B5EF4-FFF2-40B4-BE49-F238E27FC236}">
                <a16:creationId xmlns:a16="http://schemas.microsoft.com/office/drawing/2014/main" id="{58C51AA9-60BA-2B9B-5827-9CE94ADEF5DE}"/>
              </a:ext>
            </a:extLst>
          </p:cNvPr>
          <p:cNvSpPr txBox="1"/>
          <p:nvPr/>
        </p:nvSpPr>
        <p:spPr>
          <a:xfrm>
            <a:off x="9114192" y="3191175"/>
            <a:ext cx="2487168" cy="132714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波から計算した</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酸素飽和度</a:t>
            </a:r>
            <a:endParaRPr sz="2200" b="0" dirty="0">
              <a:solidFill>
                <a:srgbClr val="262626"/>
              </a:solidFill>
              <a:latin typeface="Meiryo"/>
              <a:ea typeface="Meiryo"/>
              <a:cs typeface="Meiryo"/>
            </a:endParaRPr>
          </a:p>
        </p:txBody>
      </p:sp>
      <p:sp>
        <p:nvSpPr>
          <p:cNvPr id="41" name="PageNo">
            <a:extLst>
              <a:ext uri="{FF2B5EF4-FFF2-40B4-BE49-F238E27FC236}">
                <a16:creationId xmlns:a16="http://schemas.microsoft.com/office/drawing/2014/main" id="{3EB2A65D-8124-C549-AC5A-7CFFA388A673}"/>
              </a:ext>
            </a:extLst>
          </p:cNvPr>
          <p:cNvSpPr txBox="1"/>
          <p:nvPr/>
        </p:nvSpPr>
        <p:spPr>
          <a:xfrm>
            <a:off x="10456716" y="6615533"/>
            <a:ext cx="1005840" cy="219456"/>
          </a:xfrm>
          <a:prstGeom prst="rect">
            <a:avLst/>
          </a:prstGeom>
          <a:noFill/>
        </p:spPr>
        <p:txBody>
          <a:bodyPr wrap="none">
            <a:spAutoFit/>
          </a:bodyPr>
          <a:lstStyle/>
          <a:p>
            <a:pPr algn="r"/>
            <a:r>
              <a:rPr sz="1200" dirty="0">
                <a:solidFill>
                  <a:srgbClr val="808080"/>
                </a:solidFill>
                <a:latin typeface="Meiryo"/>
                <a:ea typeface="Meiryo"/>
                <a:cs typeface="Meiryo"/>
              </a:rPr>
              <a:t>2/71</a:t>
            </a:r>
          </a:p>
        </p:txBody>
      </p:sp>
      <p:sp>
        <p:nvSpPr>
          <p:cNvPr id="5" name="Rounded Rectangle 25">
            <a:extLst>
              <a:ext uri="{FF2B5EF4-FFF2-40B4-BE49-F238E27FC236}">
                <a16:creationId xmlns:a16="http://schemas.microsoft.com/office/drawing/2014/main" id="{76F8BC04-E993-DEC1-D083-69FB424B965B}"/>
              </a:ext>
            </a:extLst>
          </p:cNvPr>
          <p:cNvSpPr/>
          <p:nvPr/>
        </p:nvSpPr>
        <p:spPr>
          <a:xfrm>
            <a:off x="6504934" y="4493906"/>
            <a:ext cx="4175519" cy="1684644"/>
          </a:xfrm>
          <a:prstGeom prst="roundRect">
            <a:avLst/>
          </a:prstGeom>
          <a:solidFill>
            <a:srgbClr val="F2F2F2"/>
          </a:solidFill>
          <a:ln w="2857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26">
            <a:extLst>
              <a:ext uri="{FF2B5EF4-FFF2-40B4-BE49-F238E27FC236}">
                <a16:creationId xmlns:a16="http://schemas.microsoft.com/office/drawing/2014/main" id="{A68FFC8F-2BB2-8395-8C71-8940E190A791}"/>
              </a:ext>
            </a:extLst>
          </p:cNvPr>
          <p:cNvSpPr txBox="1"/>
          <p:nvPr/>
        </p:nvSpPr>
        <p:spPr>
          <a:xfrm>
            <a:off x="6573514" y="4717739"/>
            <a:ext cx="4038358" cy="1189847"/>
          </a:xfrm>
          <a:prstGeom prst="rect">
            <a:avLst/>
          </a:prstGeom>
          <a:noFill/>
        </p:spPr>
        <p:txBody>
          <a:bodyPr wrap="square" lIns="0" tIns="0" rIns="0" bIns="0" anchor="t">
            <a:spAutoFit/>
          </a:bodyPr>
          <a:lstStyle/>
          <a:p>
            <a:pPr algn="ctr"/>
            <a:r>
              <a:rPr lang="ja-JP" altLang="en-US" sz="3000" b="1">
                <a:solidFill>
                  <a:schemeClr val="accent4">
                    <a:lumMod val="75000"/>
                  </a:schemeClr>
                </a:solidFill>
                <a:latin typeface="Meiryo"/>
                <a:ea typeface="Meiryo"/>
                <a:cs typeface="Meiryo"/>
              </a:rPr>
              <a:t>パルスオキシメトリー</a:t>
            </a:r>
            <a:endParaRPr sz="3000" b="1" dirty="0">
              <a:solidFill>
                <a:schemeClr val="accent4">
                  <a:lumMod val="75000"/>
                </a:schemeClr>
              </a:solidFill>
              <a:latin typeface="Meiryo"/>
              <a:ea typeface="Meiryo"/>
              <a:cs typeface="Meiryo"/>
            </a:endParaRPr>
          </a:p>
        </p:txBody>
      </p:sp>
      <p:sp>
        <p:nvSpPr>
          <p:cNvPr id="7" name="TextBox 27">
            <a:extLst>
              <a:ext uri="{FF2B5EF4-FFF2-40B4-BE49-F238E27FC236}">
                <a16:creationId xmlns:a16="http://schemas.microsoft.com/office/drawing/2014/main" id="{FC895717-5939-40C2-738A-5761E764598C}"/>
              </a:ext>
            </a:extLst>
          </p:cNvPr>
          <p:cNvSpPr txBox="1"/>
          <p:nvPr/>
        </p:nvSpPr>
        <p:spPr>
          <a:xfrm>
            <a:off x="6504934" y="5266379"/>
            <a:ext cx="4175518" cy="919646"/>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a:t>
            </a:r>
            <a:r>
              <a:rPr lang="ja-JP" altLang="en-US" sz="2200" b="0">
                <a:solidFill>
                  <a:srgbClr val="262626"/>
                </a:solidFill>
                <a:latin typeface="Meiryo"/>
                <a:ea typeface="Meiryo"/>
                <a:cs typeface="Meiryo"/>
              </a:rPr>
              <a:t>経皮的に</a:t>
            </a:r>
            <a:r>
              <a:rPr lang="en-US" altLang="ja-JP" sz="2200" b="0" dirty="0">
                <a:solidFill>
                  <a:srgbClr val="262626"/>
                </a:solidFill>
                <a:latin typeface="Meiryo"/>
                <a:ea typeface="Meiryo"/>
                <a:cs typeface="Meiryo"/>
              </a:rPr>
              <a:t>SaO2</a:t>
            </a:r>
            <a:r>
              <a:rPr lang="ja-JP" altLang="en-US" sz="2200" b="0">
                <a:solidFill>
                  <a:srgbClr val="262626"/>
                </a:solidFill>
                <a:latin typeface="Meiryo"/>
                <a:ea typeface="Meiryo"/>
                <a:cs typeface="Meiryo"/>
              </a:rPr>
              <a:t>を</a:t>
            </a:r>
            <a:endParaRPr lang="en-US" altLang="ja-JP" sz="2200" dirty="0">
              <a:solidFill>
                <a:srgbClr val="262626"/>
              </a:solidFill>
              <a:latin typeface="Meiryo"/>
              <a:ea typeface="Meiryo"/>
              <a:cs typeface="Meiryo"/>
            </a:endParaRPr>
          </a:p>
          <a:p>
            <a:pPr algn="ctr">
              <a:spcAft>
                <a:spcPts val="400"/>
              </a:spcAft>
            </a:pPr>
            <a:r>
              <a:rPr lang="ja-JP" altLang="en-US" sz="2200" b="0">
                <a:solidFill>
                  <a:srgbClr val="262626"/>
                </a:solidFill>
                <a:latin typeface="Meiryo"/>
                <a:ea typeface="Meiryo"/>
                <a:cs typeface="Meiryo"/>
              </a:rPr>
              <a:t>推定する方法</a:t>
            </a:r>
            <a:endParaRPr sz="2200" b="0" dirty="0">
              <a:solidFill>
                <a:srgbClr val="262626"/>
              </a:solidFill>
              <a:latin typeface="Meiryo"/>
              <a:ea typeface="Meiryo"/>
              <a:cs typeface="Meiryo"/>
            </a:endParaRPr>
          </a:p>
        </p:txBody>
      </p:sp>
      <p:sp>
        <p:nvSpPr>
          <p:cNvPr id="4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2/71</a:t>
            </a:r>
          </a:p>
        </p:txBody>
      </p:sp>
    </p:spTree>
    <p:extLst>
      <p:ext uri="{BB962C8B-B14F-4D97-AF65-F5344CB8AC3E}">
        <p14:creationId xmlns:p14="http://schemas.microsoft.com/office/powerpoint/2010/main" val="1987446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00" dirty="0" err="1">
                <a:latin typeface="Meiryo"/>
                <a:ea typeface="Meiryo"/>
                <a:cs typeface="Meiryo"/>
              </a:rPr>
              <a:t>メニュ</a:t>
            </a:r>
            <a:r>
              <a:rPr sz="4600" dirty="0">
                <a:latin typeface="Meiryo"/>
                <a:ea typeface="Meiryo"/>
                <a:cs typeface="Meiryo"/>
              </a:rPr>
              <a:t>ー</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59536" y="1536192"/>
            <a:ext cx="10579608" cy="4956048"/>
          </a:xfrm>
          <a:prstGeom prst="rect">
            <a:avLst/>
          </a:prstGeom>
          <a:noFill/>
        </p:spPr>
        <p:txBody>
          <a:bodyPr wrap="square" lIns="0" tIns="0" rIns="0" bIns="0" anchor="ctr">
            <a:spAutoFit/>
          </a:bodyPr>
          <a:lstStyle/>
          <a:p>
            <a:pPr>
              <a:lnSpc>
                <a:spcPct val="145000"/>
              </a:lnSpc>
            </a:pPr>
            <a:r>
              <a:rPr sz="3400" b="1">
                <a:solidFill>
                  <a:srgbClr val="BF9000"/>
                </a:solidFill>
                <a:latin typeface="Meiryo"/>
                <a:ea typeface="Meiryo"/>
                <a:cs typeface="Meiryo"/>
              </a:rPr>
              <a:t>1. </a:t>
            </a:r>
            <a:r>
              <a:rPr sz="3400" b="1">
                <a:solidFill>
                  <a:srgbClr val="262626"/>
                </a:solidFill>
                <a:latin typeface="Meiryo"/>
                <a:ea typeface="Meiryo"/>
                <a:cs typeface="Meiryo"/>
              </a:rPr>
              <a:t>PPGの基礎</a:t>
            </a:r>
          </a:p>
          <a:p>
            <a:pPr>
              <a:lnSpc>
                <a:spcPct val="145000"/>
              </a:lnSpc>
            </a:pPr>
            <a:r>
              <a:rPr sz="3400" b="1">
                <a:solidFill>
                  <a:srgbClr val="BF9000"/>
                </a:solidFill>
                <a:latin typeface="Meiryo"/>
                <a:ea typeface="Meiryo"/>
                <a:cs typeface="Meiryo"/>
              </a:rPr>
              <a:t>2. </a:t>
            </a:r>
            <a:r>
              <a:rPr sz="3400" b="1">
                <a:solidFill>
                  <a:srgbClr val="262626"/>
                </a:solidFill>
                <a:latin typeface="Meiryo"/>
                <a:ea typeface="Meiryo"/>
                <a:cs typeface="Meiryo"/>
              </a:rPr>
              <a:t>波形への影響</a:t>
            </a:r>
          </a:p>
          <a:p>
            <a:pPr>
              <a:lnSpc>
                <a:spcPct val="145000"/>
              </a:lnSpc>
            </a:pPr>
            <a:r>
              <a:rPr sz="3400" b="1">
                <a:solidFill>
                  <a:srgbClr val="BF9000"/>
                </a:solidFill>
                <a:latin typeface="Meiryo"/>
                <a:ea typeface="Meiryo"/>
                <a:cs typeface="Meiryo"/>
              </a:rPr>
              <a:t>3. </a:t>
            </a:r>
            <a:r>
              <a:rPr sz="3400" b="1">
                <a:solidFill>
                  <a:srgbClr val="262626"/>
                </a:solidFill>
                <a:latin typeface="Meiryo"/>
                <a:ea typeface="Meiryo"/>
                <a:cs typeface="Meiryo"/>
              </a:rPr>
              <a:t>波形の定量化</a:t>
            </a:r>
          </a:p>
          <a:p>
            <a:pPr>
              <a:lnSpc>
                <a:spcPct val="145000"/>
              </a:lnSpc>
            </a:pPr>
            <a:r>
              <a:rPr sz="3400" b="1">
                <a:solidFill>
                  <a:srgbClr val="BF9000"/>
                </a:solidFill>
                <a:latin typeface="Meiryo"/>
                <a:ea typeface="Meiryo"/>
                <a:cs typeface="Meiryo"/>
              </a:rPr>
              <a:t>4. </a:t>
            </a:r>
            <a:r>
              <a:rPr sz="3400" b="1">
                <a:solidFill>
                  <a:srgbClr val="262626"/>
                </a:solidFill>
                <a:latin typeface="Meiryo"/>
                <a:ea typeface="Meiryo"/>
                <a:cs typeface="Meiryo"/>
              </a:rPr>
              <a:t>限界</a:t>
            </a:r>
          </a:p>
          <a:p>
            <a:pPr>
              <a:lnSpc>
                <a:spcPct val="145000"/>
              </a:lnSpc>
            </a:pPr>
            <a:r>
              <a:rPr sz="3400" b="1">
                <a:solidFill>
                  <a:srgbClr val="BF9000"/>
                </a:solidFill>
                <a:latin typeface="Meiryo"/>
                <a:ea typeface="Meiryo"/>
                <a:cs typeface="Meiryo"/>
              </a:rPr>
              <a:t>5. </a:t>
            </a:r>
            <a:r>
              <a:rPr sz="3400" b="1">
                <a:solidFill>
                  <a:srgbClr val="262626"/>
                </a:solidFill>
                <a:latin typeface="Meiryo"/>
                <a:ea typeface="Meiryo"/>
                <a:cs typeface="Meiryo"/>
              </a:rPr>
              <a:t>PDA（波形分解）</a:t>
            </a:r>
          </a:p>
        </p:txBody>
      </p:sp>
      <p:sp>
        <p:nvSpPr>
          <p:cNvPr id="1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 PPGの基礎</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BF9000"/>
                </a:solidFill>
                <a:latin typeface="Meiryo"/>
                <a:ea typeface="Meiryo"/>
                <a:cs typeface="Meiryo"/>
              </a:rPr>
              <a:t>1. </a:t>
            </a:r>
            <a:r>
              <a:rPr sz="3200" b="1">
                <a:solidFill>
                  <a:srgbClr val="262626"/>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1.1 </a:t>
            </a:r>
            <a:r>
              <a:rPr sz="2900" b="0">
                <a:solidFill>
                  <a:srgbClr val="262626"/>
                </a:solidFill>
                <a:latin typeface="Meiryo"/>
                <a:ea typeface="Meiryo"/>
                <a:cs typeface="Meiryo"/>
              </a:rPr>
              <a:t>SpO₂の測定原理</a:t>
            </a:r>
          </a:p>
          <a:p>
            <a:pPr>
              <a:lnSpc>
                <a:spcPct val="145000"/>
              </a:lnSpc>
            </a:pPr>
            <a:r>
              <a:rPr sz="2900" b="1">
                <a:solidFill>
                  <a:srgbClr val="BF9000"/>
                </a:solidFill>
                <a:latin typeface="Meiryo"/>
                <a:ea typeface="Meiryo"/>
                <a:cs typeface="Meiryo"/>
              </a:rPr>
              <a:t>1.2 </a:t>
            </a:r>
            <a:r>
              <a:rPr sz="2900" b="0">
                <a:solidFill>
                  <a:srgbClr val="262626"/>
                </a:solidFill>
                <a:latin typeface="Meiryo"/>
                <a:ea typeface="Meiryo"/>
                <a:cs typeface="Meiryo"/>
              </a:rPr>
              <a:t>PPGが測るもの</a:t>
            </a:r>
          </a:p>
          <a:p>
            <a:pPr>
              <a:lnSpc>
                <a:spcPct val="145000"/>
              </a:lnSpc>
            </a:pPr>
            <a:r>
              <a:rPr sz="2900" b="1">
                <a:solidFill>
                  <a:srgbClr val="BF9000"/>
                </a:solidFill>
                <a:latin typeface="Meiryo"/>
                <a:ea typeface="Meiryo"/>
                <a:cs typeface="Meiryo"/>
              </a:rPr>
              <a:t>1.3 </a:t>
            </a:r>
            <a:r>
              <a:rPr sz="2900" b="0">
                <a:solidFill>
                  <a:srgbClr val="262626"/>
                </a:solidFill>
                <a:latin typeface="Meiryo"/>
                <a:ea typeface="Meiryo"/>
                <a:cs typeface="Meiryo"/>
              </a:rPr>
              <a:t>前進波の成因</a:t>
            </a:r>
          </a:p>
          <a:p>
            <a:pPr>
              <a:lnSpc>
                <a:spcPct val="145000"/>
              </a:lnSpc>
            </a:pPr>
            <a:r>
              <a:rPr sz="2900" b="1">
                <a:solidFill>
                  <a:srgbClr val="BF9000"/>
                </a:solidFill>
                <a:latin typeface="Meiryo"/>
                <a:ea typeface="Meiryo"/>
                <a:cs typeface="Meiryo"/>
              </a:rPr>
              <a:t>1.4 </a:t>
            </a:r>
            <a:r>
              <a:rPr sz="2900" b="0">
                <a:solidFill>
                  <a:srgbClr val="262626"/>
                </a:solidFill>
                <a:latin typeface="Meiryo"/>
                <a:ea typeface="Meiryo"/>
                <a:cs typeface="Meiryo"/>
              </a:rPr>
              <a:t>反射波の成因</a:t>
            </a:r>
          </a:p>
          <a:p>
            <a:pPr>
              <a:lnSpc>
                <a:spcPct val="145000"/>
              </a:lnSpc>
            </a:pPr>
            <a:r>
              <a:rPr sz="2900" b="1">
                <a:solidFill>
                  <a:srgbClr val="BF9000"/>
                </a:solidFill>
                <a:latin typeface="Meiryo"/>
                <a:ea typeface="Meiryo"/>
                <a:cs typeface="Meiryo"/>
              </a:rPr>
              <a:t>1.5 </a:t>
            </a:r>
            <a:r>
              <a:rPr sz="2900" b="0">
                <a:solidFill>
                  <a:srgbClr val="262626"/>
                </a:solidFill>
                <a:latin typeface="Meiryo"/>
                <a:ea typeface="Meiryo"/>
                <a:cs typeface="Meiryo"/>
              </a:rPr>
              <a:t>PPG基礎まとめ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8C2FD-694C-4897-9A75-2D5D9B7FE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E8B2F-E956-0B37-F20F-63DF2F5F4167}"/>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A9D36CE-3772-F005-B54C-9329ADA7F08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01E0A5A-858A-8F2B-FBB6-6D1BA67FFAF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4E62E14-CF5D-EBCC-627E-B7B49B8D7BA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4007B9C-4CFC-CD55-E599-C1CA9B596D0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D22D81F5-A6DB-CCD5-0FBD-589BB65E18A2}"/>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 name="コンテンツ プレースホルダー 2">
            <a:extLst>
              <a:ext uri="{FF2B5EF4-FFF2-40B4-BE49-F238E27FC236}">
                <a16:creationId xmlns:a16="http://schemas.microsoft.com/office/drawing/2014/main" id="{829068BC-7154-CBB1-D545-27AC73B2F90F}"/>
              </a:ext>
            </a:extLst>
          </p:cNvPr>
          <p:cNvSpPr>
            <a:spLocks noGrp="1"/>
          </p:cNvSpPr>
          <p:nvPr>
            <p:ph idx="1"/>
          </p:nvPr>
        </p:nvSpPr>
        <p:spPr>
          <a:xfrm>
            <a:off x="838199" y="1825625"/>
            <a:ext cx="10720319" cy="4351338"/>
          </a:xfrm>
        </p:spPr>
        <p:txBody>
          <a:bodyPr/>
          <a:lstStyle/>
          <a:p>
            <a:pPr>
              <a:spcAft>
                <a:spcPts val="1000"/>
              </a:spcAft>
            </a:pPr>
            <a:r>
              <a:rPr lang="en-US" altLang="ja-JP" dirty="0">
                <a:latin typeface="+mj-ea"/>
                <a:ea typeface="+mj-ea"/>
              </a:rPr>
              <a:t>SpO₂</a:t>
            </a:r>
            <a:r>
              <a:rPr lang="ja-JP" altLang="en-US">
                <a:latin typeface="+mj-ea"/>
                <a:ea typeface="+mj-ea"/>
              </a:rPr>
              <a:t>は</a:t>
            </a:r>
            <a:r>
              <a:rPr lang="en-US" altLang="ja-JP" dirty="0">
                <a:latin typeface="+mj-ea"/>
                <a:ea typeface="+mj-ea"/>
              </a:rPr>
              <a:t>SaO2</a:t>
            </a:r>
            <a:r>
              <a:rPr lang="ja-JP" altLang="en-US">
                <a:latin typeface="+mj-ea"/>
                <a:ea typeface="+mj-ea"/>
              </a:rPr>
              <a:t>を経皮的に推定した値である。</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は動脈血中の酸素に結合している</a:t>
            </a:r>
            <a:r>
              <a:rPr lang="en-US" altLang="ja-JP" dirty="0">
                <a:latin typeface="+mj-ea"/>
                <a:ea typeface="+mj-ea"/>
              </a:rPr>
              <a:t>Hb</a:t>
            </a:r>
            <a:r>
              <a:rPr lang="ja-JP" altLang="en-US">
                <a:latin typeface="+mj-ea"/>
                <a:ea typeface="+mj-ea"/>
              </a:rPr>
              <a:t>の割合。</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は酸素化評価のゴールドスタンダード。</a:t>
            </a:r>
            <a:endParaRPr lang="en-US" altLang="ja-JP" dirty="0">
              <a:latin typeface="+mj-ea"/>
              <a:ea typeface="+mj-ea"/>
            </a:endParaRPr>
          </a:p>
          <a:p>
            <a:pPr>
              <a:spcAft>
                <a:spcPts val="1000"/>
              </a:spcAft>
            </a:pPr>
            <a:endParaRPr lang="en-US" altLang="ja-JP" dirty="0">
              <a:latin typeface="+mj-ea"/>
              <a:ea typeface="+mj-ea"/>
            </a:endParaRPr>
          </a:p>
          <a:p>
            <a:pPr>
              <a:spcAft>
                <a:spcPts val="1000"/>
              </a:spcAft>
            </a:pPr>
            <a:r>
              <a:rPr lang="ja-JP" altLang="en-US">
                <a:latin typeface="+mj-ea"/>
                <a:ea typeface="+mj-ea"/>
              </a:rPr>
              <a:t>パルスオキシメーターはどのように</a:t>
            </a:r>
            <a:r>
              <a:rPr lang="en-US" altLang="ja-JP" dirty="0">
                <a:latin typeface="+mj-ea"/>
                <a:ea typeface="+mj-ea"/>
              </a:rPr>
              <a:t>SaO2</a:t>
            </a:r>
            <a:r>
              <a:rPr lang="ja-JP" altLang="en-US">
                <a:latin typeface="+mj-ea"/>
                <a:ea typeface="+mj-ea"/>
              </a:rPr>
              <a:t>を推定しているのか？</a:t>
            </a:r>
            <a:endParaRPr lang="en-US" altLang="ja-JP" dirty="0">
              <a:latin typeface="+mj-ea"/>
              <a:ea typeface="+mj-ea"/>
            </a:endParaRPr>
          </a:p>
          <a:p>
            <a:endParaRPr kumimoji="1" lang="ja-JP" altLang="en-US">
              <a:latin typeface="+mj-ea"/>
              <a:ea typeface="+mj-ea"/>
            </a:endParaRPr>
          </a:p>
        </p:txBody>
      </p:sp>
      <p:sp>
        <p:nvSpPr>
          <p:cNvPr id="18" name="Source"/>
          <p:cNvSpPr txBox="1"/>
          <p:nvPr/>
        </p:nvSpPr>
        <p:spPr>
          <a:xfrm>
            <a:off x="720000" y="6606000"/>
            <a:ext cx="10881360" cy="276999"/>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2. Aoyagi 2003　／　3. Chan 2013、　Ahmed 2005</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5/71</a:t>
            </a:r>
          </a:p>
        </p:txBody>
      </p:sp>
    </p:spTree>
    <p:extLst>
      <p:ext uri="{BB962C8B-B14F-4D97-AF65-F5344CB8AC3E}">
        <p14:creationId xmlns:p14="http://schemas.microsoft.com/office/powerpoint/2010/main" val="143635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93A90-F67A-A2B1-0655-922448B56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0EB0-BCC2-59EA-3577-30ECE03291F0}"/>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8E0C622D-099F-3BC2-502E-CA90E240FE44}"/>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C3E3CA0A-6432-5BF5-4E88-00101C7C8F2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D1FED4B9-71C9-D8E8-F0F6-0211DC785F0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48402B-7E67-103C-3AAE-637FE8C8366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319683B-9818-6005-6ED1-8ED17FE303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20" name="fig_spectra" descr="f_spo2_spectra.png">
            <a:extLst>
              <a:ext uri="{FF2B5EF4-FFF2-40B4-BE49-F238E27FC236}">
                <a16:creationId xmlns:a16="http://schemas.microsoft.com/office/drawing/2014/main" id="{7BB0358E-BFC2-F1D4-4FB0-8D5C77C32EEC}"/>
              </a:ext>
            </a:extLst>
          </p:cNvPr>
          <p:cNvPicPr>
            <a:picLocks noChangeAspect="1"/>
          </p:cNvPicPr>
          <p:nvPr/>
        </p:nvPicPr>
        <p:blipFill>
          <a:blip r:embed="rId3"/>
          <a:stretch>
            <a:fillRect/>
          </a:stretch>
        </p:blipFill>
        <p:spPr>
          <a:xfrm>
            <a:off x="6625764" y="2015999"/>
            <a:ext cx="3479861" cy="3024000"/>
          </a:xfrm>
          <a:prstGeom prst="rect">
            <a:avLst/>
          </a:prstGeom>
        </p:spPr>
      </p:pic>
      <p:sp>
        <p:nvSpPr>
          <p:cNvPr id="22" name="TextBox 21">
            <a:extLst>
              <a:ext uri="{FF2B5EF4-FFF2-40B4-BE49-F238E27FC236}">
                <a16:creationId xmlns:a16="http://schemas.microsoft.com/office/drawing/2014/main" id="{4E769FE3-5506-60DB-856E-01798BA749F0}"/>
              </a:ext>
            </a:extLst>
          </p:cNvPr>
          <p:cNvSpPr txBox="1"/>
          <p:nvPr/>
        </p:nvSpPr>
        <p:spPr>
          <a:xfrm>
            <a:off x="6739488"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660 nm</a:t>
            </a:r>
          </a:p>
        </p:txBody>
      </p:sp>
      <p:sp>
        <p:nvSpPr>
          <p:cNvPr id="23" name="TextBox 22">
            <a:extLst>
              <a:ext uri="{FF2B5EF4-FFF2-40B4-BE49-F238E27FC236}">
                <a16:creationId xmlns:a16="http://schemas.microsoft.com/office/drawing/2014/main" id="{F6BC3CAA-B677-4E61-B4DE-EF4258C4FB92}"/>
              </a:ext>
            </a:extLst>
          </p:cNvPr>
          <p:cNvSpPr txBox="1"/>
          <p:nvPr/>
        </p:nvSpPr>
        <p:spPr>
          <a:xfrm>
            <a:off x="8978689"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940 nm</a:t>
            </a:r>
          </a:p>
        </p:txBody>
      </p:sp>
      <p:sp>
        <p:nvSpPr>
          <p:cNvPr id="24" name="TextBox 23">
            <a:extLst>
              <a:ext uri="{FF2B5EF4-FFF2-40B4-BE49-F238E27FC236}">
                <a16:creationId xmlns:a16="http://schemas.microsoft.com/office/drawing/2014/main" id="{54C657B8-4AE2-2B27-5248-5B59F92DDB7E}"/>
              </a:ext>
            </a:extLst>
          </p:cNvPr>
          <p:cNvSpPr txBox="1"/>
          <p:nvPr/>
        </p:nvSpPr>
        <p:spPr>
          <a:xfrm>
            <a:off x="6869149" y="5006911"/>
            <a:ext cx="3290966" cy="338554"/>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0072B2"/>
                </a:solidFill>
                <a:latin typeface="Meiryo"/>
                <a:ea typeface="Meiryo"/>
                <a:cs typeface="Meiryo"/>
              </a:rPr>
              <a:t>赤</a:t>
            </a:r>
            <a:r>
              <a:rPr sz="2200" b="1" dirty="0" err="1">
                <a:solidFill>
                  <a:srgbClr val="0072B2"/>
                </a:solidFill>
                <a:latin typeface="Meiryo"/>
                <a:ea typeface="Meiryo"/>
                <a:cs typeface="Meiryo"/>
              </a:rPr>
              <a:t>色光</a:t>
            </a:r>
            <a:r>
              <a:rPr sz="2200" b="1" dirty="0">
                <a:solidFill>
                  <a:srgbClr val="0072B2"/>
                </a:solidFill>
                <a:latin typeface="Meiryo"/>
                <a:ea typeface="Meiryo"/>
                <a:cs typeface="Meiryo"/>
              </a:rPr>
              <a:t> 660 nm </a:t>
            </a:r>
            <a:r>
              <a:rPr lang="ja-JP" altLang="en-US" sz="2200" b="1">
                <a:solidFill>
                  <a:srgbClr val="0072B2"/>
                </a:solidFill>
                <a:latin typeface="Meiryo"/>
                <a:ea typeface="Meiryo"/>
                <a:cs typeface="Meiryo"/>
              </a:rPr>
              <a:t>→</a:t>
            </a:r>
            <a:r>
              <a:rPr sz="2200" b="1" dirty="0">
                <a:solidFill>
                  <a:srgbClr val="0072B2"/>
                </a:solidFill>
                <a:latin typeface="Meiryo"/>
                <a:ea typeface="Meiryo"/>
                <a:cs typeface="Meiryo"/>
              </a:rPr>
              <a:t> </a:t>
            </a:r>
            <a:r>
              <a:rPr lang="en-US" altLang="ja-JP" sz="2200" b="1" dirty="0" err="1">
                <a:solidFill>
                  <a:srgbClr val="0072B2"/>
                </a:solidFill>
                <a:latin typeface="Meiryo"/>
                <a:ea typeface="Meiryo"/>
                <a:cs typeface="Meiryo"/>
              </a:rPr>
              <a:t>H</a:t>
            </a:r>
            <a:r>
              <a:rPr sz="2200" b="1" dirty="0" err="1">
                <a:solidFill>
                  <a:srgbClr val="0072B2"/>
                </a:solidFill>
                <a:latin typeface="Meiryo"/>
                <a:ea typeface="Meiryo"/>
                <a:cs typeface="Meiryo"/>
              </a:rPr>
              <a:t>Hb</a:t>
            </a:r>
            <a:r>
              <a:rPr sz="2200" b="1" dirty="0">
                <a:solidFill>
                  <a:srgbClr val="0072B2"/>
                </a:solidFill>
                <a:latin typeface="Meiryo"/>
                <a:ea typeface="Meiryo"/>
                <a:cs typeface="Meiryo"/>
              </a:rPr>
              <a:t> </a:t>
            </a:r>
          </a:p>
        </p:txBody>
      </p:sp>
      <p:sp>
        <p:nvSpPr>
          <p:cNvPr id="25" name="TextBox 24">
            <a:extLst>
              <a:ext uri="{FF2B5EF4-FFF2-40B4-BE49-F238E27FC236}">
                <a16:creationId xmlns:a16="http://schemas.microsoft.com/office/drawing/2014/main" id="{34D904B3-6616-CE00-13CC-0EF39BB3057C}"/>
              </a:ext>
            </a:extLst>
          </p:cNvPr>
          <p:cNvSpPr txBox="1"/>
          <p:nvPr/>
        </p:nvSpPr>
        <p:spPr>
          <a:xfrm>
            <a:off x="6869149" y="5402911"/>
            <a:ext cx="3430426" cy="338554"/>
          </a:xfrm>
          <a:prstGeom prst="rect">
            <a:avLst/>
          </a:prstGeom>
          <a:noFill/>
        </p:spPr>
        <p:txBody>
          <a:bodyPr wrap="none" lIns="0" tIns="0" rIns="0" bIns="0" anchor="ctr">
            <a:spAutoFit/>
          </a:bodyPr>
          <a:lstStyle/>
          <a:p>
            <a:r>
              <a:rPr sz="2200" b="1" dirty="0" err="1">
                <a:solidFill>
                  <a:srgbClr val="D55E00"/>
                </a:solidFill>
                <a:latin typeface="Meiryo"/>
                <a:ea typeface="Meiryo"/>
                <a:cs typeface="Meiryo"/>
              </a:rPr>
              <a:t>赤外光</a:t>
            </a:r>
            <a:r>
              <a:rPr sz="2200" b="1" dirty="0">
                <a:solidFill>
                  <a:srgbClr val="D55E00"/>
                </a:solidFill>
                <a:latin typeface="Meiryo"/>
                <a:ea typeface="Meiryo"/>
                <a:cs typeface="Meiryo"/>
              </a:rPr>
              <a:t> 940 nm </a:t>
            </a:r>
            <a:r>
              <a:rPr lang="ja-JP" altLang="en-US" sz="2200" b="1">
                <a:solidFill>
                  <a:srgbClr val="D55E00"/>
                </a:solidFill>
                <a:latin typeface="Meiryo"/>
                <a:ea typeface="Meiryo"/>
                <a:cs typeface="Meiryo"/>
              </a:rPr>
              <a:t>→</a:t>
            </a:r>
            <a:r>
              <a:rPr sz="2200" b="1" dirty="0">
                <a:solidFill>
                  <a:srgbClr val="D55E00"/>
                </a:solidFill>
                <a:latin typeface="Meiryo"/>
                <a:ea typeface="Meiryo"/>
                <a:cs typeface="Meiryo"/>
              </a:rPr>
              <a:t> </a:t>
            </a:r>
            <a:r>
              <a:rPr lang="en" altLang="ja-JP" sz="2200" b="1" dirty="0">
                <a:solidFill>
                  <a:srgbClr val="D55E00"/>
                </a:solidFill>
                <a:latin typeface="Meiryo"/>
                <a:ea typeface="Meiryo"/>
                <a:cs typeface="Meiryo"/>
              </a:rPr>
              <a:t>O₂ </a:t>
            </a:r>
            <a:r>
              <a:rPr sz="2200" b="1" dirty="0">
                <a:solidFill>
                  <a:srgbClr val="D55E00"/>
                </a:solidFill>
                <a:latin typeface="Meiryo"/>
                <a:ea typeface="Meiryo"/>
                <a:cs typeface="Meiryo"/>
              </a:rPr>
              <a:t>Hb</a:t>
            </a:r>
          </a:p>
        </p:txBody>
      </p:sp>
      <p:sp>
        <p:nvSpPr>
          <p:cNvPr id="4" name="Rounded Rectangle 25">
            <a:extLst>
              <a:ext uri="{FF2B5EF4-FFF2-40B4-BE49-F238E27FC236}">
                <a16:creationId xmlns:a16="http://schemas.microsoft.com/office/drawing/2014/main" id="{82EFDEDC-6707-898A-918A-BBA9422162AC}"/>
              </a:ext>
            </a:extLst>
          </p:cNvPr>
          <p:cNvSpPr/>
          <p:nvPr/>
        </p:nvSpPr>
        <p:spPr>
          <a:xfrm>
            <a:off x="995967" y="2951223"/>
            <a:ext cx="4605830" cy="172308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O2HbとHHbは吸光度が違う</a:t>
            </a:r>
            <a:endParaRPr sz="2400" b="1" dirty="0">
              <a:solidFill>
                <a:srgbClr val="262626"/>
              </a:solidFill>
              <a:latin typeface="Meiryo"/>
              <a:ea typeface="Meiryo"/>
              <a:cs typeface="Meiryo"/>
            </a:endParaRPr>
          </a:p>
        </p:txBody>
      </p:sp>
      <p:sp>
        <p:nvSpPr>
          <p:cNvPr id="2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a:t>
            </a:r>
          </a:p>
        </p:txBody>
      </p:sp>
    </p:spTree>
    <p:extLst>
      <p:ext uri="{BB962C8B-B14F-4D97-AF65-F5344CB8AC3E}">
        <p14:creationId xmlns:p14="http://schemas.microsoft.com/office/powerpoint/2010/main" val="565512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F38-8D96-0A52-868E-A2118F86B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6965-335C-A22E-F093-A0985E6238B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996C8E-94C0-375A-90F8-A6FBE470E85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4EC87173-9741-4795-CA15-E7CF4CEB6DA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4CEBD50-A62D-986F-1C38-26D78D610F7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E89D78F-940A-12C3-98E4-693AEBB52C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2F7F1A20-200D-89FF-D5E5-7F6A57BDFF4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7A9738C4-4366-AAED-08A4-502037497F45}"/>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B1D890AC-477C-CAF6-168A-91C737EE8919}"/>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BC81F91-0B68-364C-1BAC-0895369DD8D2}"/>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DFE83EE1-B768-0321-D84D-0F7948A6088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37A650-CAE7-7B6F-0890-B4DD112EE98F}"/>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CBB492EF-E1AE-F62C-FE07-8198C8340B06}"/>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a:t>
            </a:r>
          </a:p>
        </p:txBody>
      </p:sp>
    </p:spTree>
    <p:extLst>
      <p:ext uri="{BB962C8B-B14F-4D97-AF65-F5344CB8AC3E}">
        <p14:creationId xmlns:p14="http://schemas.microsoft.com/office/powerpoint/2010/main" val="1684810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854-E3CB-EDE1-70FF-444551AEC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F0B92-35CA-E879-39AA-0CA30029F33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78B1DB27-8E8F-CEF8-2CB9-5E534D1EEF2D}"/>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2CD04F2-1C84-27A7-E0B7-AD77CDE12A4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852448D-4A81-7AAC-B5E7-3557C8B0646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4FF3A9C-68FD-35EC-C080-80904DED805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EE56CE6-37DD-F462-84D4-0EA06909920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0DCF7FE7-3B26-9289-625A-D37926EF98FF}"/>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F011360F-E6C2-BBA0-4C72-01EEEF696133}"/>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A84F9400-A9EE-F686-F763-FBA9E8F5120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EF6BF04E-90FA-6A5C-B11F-A89F559D16A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9B227C-424B-FF8C-3228-BF16FDB454E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F9D670D0-7593-669E-DF00-25384BA744ED}"/>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7E044192-7ABD-3367-E1CA-D8ABFD96D756}"/>
              </a:ext>
            </a:extLst>
          </p:cNvPr>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C09FBA29-02AC-CE79-80FB-B0D36A24DB42}"/>
              </a:ext>
            </a:extLst>
          </p:cNvPr>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a:t>
            </a:r>
          </a:p>
        </p:txBody>
      </p:sp>
    </p:spTree>
    <p:extLst>
      <p:ext uri="{BB962C8B-B14F-4D97-AF65-F5344CB8AC3E}">
        <p14:creationId xmlns:p14="http://schemas.microsoft.com/office/powerpoint/2010/main" val="1237144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D746-D724-AF64-493F-D6B9CBE82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5D1D-70E4-FBA7-F83B-2496A92DA1FD}"/>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18F264E-EDA4-8488-BE23-4CC9C5BCC0D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B9CA89B-D756-D82D-651F-22549BC6D39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4AF7B09-D6FC-9667-1F0B-E09BE716FF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E4A8DF70-A28C-38E6-0D07-941534B183A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8C49741A-BCD1-C630-9ED6-2EEA7C756F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D5DE044F-460A-E2FF-0BD3-DEC0BB446256}"/>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2A9E9DBB-C7CF-6A30-8780-0FF99F220214}"/>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67F772F7-5025-E253-1367-7EF6F8A35FD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676C2E62-B192-0207-6F9B-14C6A99A5487}"/>
              </a:ext>
            </a:extLst>
          </p:cNvPr>
          <p:cNvPicPr>
            <a:picLocks noChangeAspect="1"/>
          </p:cNvPicPr>
          <p:nvPr/>
        </p:nvPicPr>
        <p:blipFill>
          <a:blip r:embed="rId4"/>
          <a:stretch>
            <a:fillRect/>
          </a:stretch>
        </p:blipFill>
        <p:spPr>
          <a:xfrm>
            <a:off x="6640145" y="1571270"/>
            <a:ext cx="4337875" cy="3024000"/>
          </a:xfrm>
          <a:prstGeom prst="rect">
            <a:avLst/>
          </a:prstGeom>
        </p:spPr>
      </p:pic>
      <p:sp>
        <p:nvSpPr>
          <p:cNvPr id="22" name="TextBox 21">
            <a:extLst>
              <a:ext uri="{FF2B5EF4-FFF2-40B4-BE49-F238E27FC236}">
                <a16:creationId xmlns:a16="http://schemas.microsoft.com/office/drawing/2014/main" id="{29B29EDA-DCA4-27AB-8C50-E1792491D39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642CAA70-6344-1593-DE98-C5CF27B31DC4}"/>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833E7898-24B9-3FC7-ACBD-30796044C35A}"/>
              </a:ext>
            </a:extLst>
          </p:cNvPr>
          <p:cNvSpPr txBox="1"/>
          <p:nvPr/>
        </p:nvSpPr>
        <p:spPr>
          <a:xfrm>
            <a:off x="7635894" y="2509423"/>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105B1721-3DB2-AB29-ED41-82BB8AAFBB33}"/>
              </a:ext>
            </a:extLst>
          </p:cNvPr>
          <p:cNvSpPr txBox="1"/>
          <p:nvPr/>
        </p:nvSpPr>
        <p:spPr>
          <a:xfrm>
            <a:off x="7635894" y="3700009"/>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6" name="Rounded Rectangle 25">
            <a:extLst>
              <a:ext uri="{FF2B5EF4-FFF2-40B4-BE49-F238E27FC236}">
                <a16:creationId xmlns:a16="http://schemas.microsoft.com/office/drawing/2014/main" id="{819240EA-C12F-123D-1210-AC093C6B6FBB}"/>
              </a:ext>
            </a:extLst>
          </p:cNvPr>
          <p:cNvSpPr/>
          <p:nvPr/>
        </p:nvSpPr>
        <p:spPr>
          <a:xfrm>
            <a:off x="6091592" y="4816850"/>
            <a:ext cx="5457584" cy="1325563"/>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a:t>
            </a:r>
            <a:r>
              <a:rPr lang="ja-JP" altLang="en-US" sz="2400" b="1">
                <a:solidFill>
                  <a:schemeClr val="tx1"/>
                </a:solidFill>
                <a:latin typeface="Meiryo"/>
                <a:ea typeface="Meiryo"/>
                <a:cs typeface="Meiryo"/>
              </a:rPr>
              <a:t>動脈血の</a:t>
            </a:r>
            <a:r>
              <a:rPr lang="en-US" altLang="ja-JP" sz="2400" b="1" dirty="0">
                <a:solidFill>
                  <a:schemeClr val="tx1"/>
                </a:solidFill>
                <a:latin typeface="Meiryo"/>
                <a:ea typeface="Meiryo"/>
                <a:cs typeface="Meiryo"/>
              </a:rPr>
              <a:t> </a:t>
            </a:r>
            <a:r>
              <a:rPr lang="en" altLang="ja-JP" sz="2400" b="1" dirty="0">
                <a:solidFill>
                  <a:srgbClr val="D55E00"/>
                </a:solidFill>
                <a:latin typeface="Meiryo"/>
                <a:ea typeface="Meiryo"/>
                <a:cs typeface="Meiryo"/>
              </a:rPr>
              <a:t>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で非拍動成分を除く</a:t>
            </a:r>
            <a:endParaRPr sz="24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a:t>
            </a:r>
          </a:p>
        </p:txBody>
      </p:sp>
    </p:spTree>
    <p:extLst>
      <p:ext uri="{BB962C8B-B14F-4D97-AF65-F5344CB8AC3E}">
        <p14:creationId xmlns:p14="http://schemas.microsoft.com/office/powerpoint/2010/main" val="1683894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DE69-82D3-AD5B-CFBE-CFEB6B707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8B47B-D71E-F528-DC21-4207271B4BD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EB68108E-D56D-D2FE-6A95-6AFF4141C08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9B98BAC-ED75-3091-DFD4-2055811DC18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070F443-ED2C-E481-8075-6BF6CD4B953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E7ABE82-AE34-DBD8-51F8-C576F890DA6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3A1766E-8FDE-2D67-EAA8-9CF5A0E8BD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671C795A-39A0-0F8C-6364-F516729C58C0}"/>
              </a:ext>
            </a:extLst>
          </p:cNvPr>
          <p:cNvSpPr txBox="1"/>
          <p:nvPr/>
        </p:nvSpPr>
        <p:spPr>
          <a:xfrm>
            <a:off x="4969880" y="2698563"/>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70156F4-1C44-3299-5196-6543B5023B59}"/>
              </a:ext>
            </a:extLst>
          </p:cNvPr>
          <p:cNvSpPr txBox="1"/>
          <p:nvPr/>
        </p:nvSpPr>
        <p:spPr>
          <a:xfrm>
            <a:off x="3599763" y="4057392"/>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3A2BA00-D26D-D3EF-749A-289F98062ED8}"/>
              </a:ext>
            </a:extLst>
          </p:cNvPr>
          <p:cNvSpPr txBox="1"/>
          <p:nvPr/>
        </p:nvSpPr>
        <p:spPr>
          <a:xfrm>
            <a:off x="3882238" y="2898617"/>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56AACF86-978F-44BC-D2E0-1A46847AF410}"/>
              </a:ext>
            </a:extLst>
          </p:cNvPr>
          <p:cNvCxnSpPr>
            <a:cxnSpLocks/>
          </p:cNvCxnSpPr>
          <p:nvPr/>
        </p:nvCxnSpPr>
        <p:spPr>
          <a:xfrm>
            <a:off x="5005146" y="3153474"/>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a:t>
            </a:r>
          </a:p>
        </p:txBody>
      </p:sp>
    </p:spTree>
    <p:extLst>
      <p:ext uri="{BB962C8B-B14F-4D97-AF65-F5344CB8AC3E}">
        <p14:creationId xmlns:p14="http://schemas.microsoft.com/office/powerpoint/2010/main" val="127196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E781-C379-328F-DD39-10AD1E4F6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BD815-6901-B5AD-16B0-30111B30B4E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51514755-D727-039C-97EF-F111B7D0E4E0}"/>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FAF4D02A-E95F-3ED3-56DA-7A760F80A9D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AC11D3C-C6C9-6C7B-69AA-54886D6B678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C01BD48-408B-FFEA-38CD-2EFBF2C721C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A479A1A-9188-6C69-8D9E-0207089C5BA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C2AD21ED-7230-B8AF-C43F-21C68FD52DF9}"/>
              </a:ext>
            </a:extLst>
          </p:cNvPr>
          <p:cNvSpPr txBox="1"/>
          <p:nvPr/>
        </p:nvSpPr>
        <p:spPr>
          <a:xfrm>
            <a:off x="2662110" y="2640506"/>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BB0B0E8-BC72-F328-BA26-3A59E264E815}"/>
              </a:ext>
            </a:extLst>
          </p:cNvPr>
          <p:cNvSpPr txBox="1"/>
          <p:nvPr/>
        </p:nvSpPr>
        <p:spPr>
          <a:xfrm>
            <a:off x="1291993" y="3999335"/>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EE4B20C-7323-02FF-9476-6537183B16B1}"/>
              </a:ext>
            </a:extLst>
          </p:cNvPr>
          <p:cNvSpPr txBox="1"/>
          <p:nvPr/>
        </p:nvSpPr>
        <p:spPr>
          <a:xfrm>
            <a:off x="1574468" y="2840560"/>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770C4FA7-3629-8CB8-8F31-EF8D211C2E66}"/>
              </a:ext>
            </a:extLst>
          </p:cNvPr>
          <p:cNvCxnSpPr>
            <a:cxnSpLocks/>
          </p:cNvCxnSpPr>
          <p:nvPr/>
        </p:nvCxnSpPr>
        <p:spPr>
          <a:xfrm>
            <a:off x="2697376" y="3095417"/>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25">
            <a:extLst>
              <a:ext uri="{FF2B5EF4-FFF2-40B4-BE49-F238E27FC236}">
                <a16:creationId xmlns:a16="http://schemas.microsoft.com/office/drawing/2014/main" id="{C511A174-F59F-B836-29E4-CB4EB16BE94F}"/>
              </a:ext>
            </a:extLst>
          </p:cNvPr>
          <p:cNvSpPr/>
          <p:nvPr/>
        </p:nvSpPr>
        <p:spPr>
          <a:xfrm>
            <a:off x="1236000" y="578015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で動脈血成分にし</a:t>
            </a:r>
            <a:r>
              <a:rPr lang="en-US" sz="2400" b="1" dirty="0">
                <a:solidFill>
                  <a:srgbClr val="262626"/>
                </a:solidFill>
                <a:latin typeface="Meiryo"/>
                <a:ea typeface="Meiryo"/>
                <a:cs typeface="Meiryo"/>
              </a:rPr>
              <a:t>、</a:t>
            </a:r>
            <a:r>
              <a:rPr lang="en" altLang="ja-JP" sz="2400" b="1" dirty="0" err="1">
                <a:solidFill>
                  <a:srgbClr val="D55E00"/>
                </a:solidFill>
                <a:latin typeface="Meiryo"/>
                <a:ea typeface="Meiryo"/>
                <a:cs typeface="Meiryo"/>
              </a:rPr>
              <a:t>O₂Hb</a:t>
            </a:r>
            <a:r>
              <a:rPr lang="ja-JP" altLang="en-US" sz="2400" b="1">
                <a:solidFill>
                  <a:schemeClr val="tx1"/>
                </a:solidFill>
                <a:latin typeface="Meiryo"/>
                <a:ea typeface="Meiryo"/>
                <a:cs typeface="Meiryo"/>
              </a:rPr>
              <a:t>と</a:t>
            </a:r>
            <a:r>
              <a:rPr lang="en-US" altLang="ja-JP" sz="2400" b="1" dirty="0" err="1">
                <a:solidFill>
                  <a:srgbClr val="0072B2"/>
                </a:solidFill>
                <a:latin typeface="Meiryo"/>
                <a:ea typeface="Meiryo"/>
                <a:cs typeface="Meiryo"/>
              </a:rPr>
              <a:t>HHb</a:t>
            </a:r>
            <a:r>
              <a:rPr lang="ja-JP" altLang="en-US" sz="2400" b="1">
                <a:solidFill>
                  <a:schemeClr val="tx1"/>
                </a:solidFill>
                <a:latin typeface="Meiryo"/>
                <a:ea typeface="Meiryo"/>
                <a:cs typeface="Meiryo"/>
              </a:rPr>
              <a:t>の比をとった</a:t>
            </a:r>
            <a:r>
              <a:rPr lang="en" altLang="ja-JP" sz="2400" b="1" dirty="0">
                <a:solidFill>
                  <a:schemeClr val="tx1"/>
                </a:solidFill>
                <a:latin typeface="Meiryo"/>
                <a:ea typeface="Meiryo"/>
                <a:cs typeface="Meiryo"/>
              </a:rPr>
              <a:t> </a:t>
            </a:r>
            <a:endParaRPr sz="2400" b="1" dirty="0">
              <a:solidFill>
                <a:schemeClr val="tx1"/>
              </a:solidFill>
              <a:latin typeface="Meiryo"/>
              <a:ea typeface="Meiryo"/>
              <a:cs typeface="Meiryo"/>
            </a:endParaRPr>
          </a:p>
        </p:txBody>
      </p:sp>
      <p:pic>
        <p:nvPicPr>
          <p:cNvPr id="19" name="fig_spectra" descr="f_spo2_spectra.png">
            <a:extLst>
              <a:ext uri="{FF2B5EF4-FFF2-40B4-BE49-F238E27FC236}">
                <a16:creationId xmlns:a16="http://schemas.microsoft.com/office/drawing/2014/main" id="{D50D47BC-E9FD-83BB-CE1F-FB92D00C2E43}"/>
              </a:ext>
            </a:extLst>
          </p:cNvPr>
          <p:cNvPicPr>
            <a:picLocks noChangeAspect="1"/>
          </p:cNvPicPr>
          <p:nvPr/>
        </p:nvPicPr>
        <p:blipFill>
          <a:blip r:embed="rId3"/>
          <a:stretch>
            <a:fillRect/>
          </a:stretch>
        </p:blipFill>
        <p:spPr>
          <a:xfrm>
            <a:off x="9438701" y="2985425"/>
            <a:ext cx="1914641" cy="1663823"/>
          </a:xfrm>
          <a:prstGeom prst="rect">
            <a:avLst/>
          </a:prstGeom>
        </p:spPr>
      </p:pic>
      <p:sp>
        <p:nvSpPr>
          <p:cNvPr id="20" name="TextBox 21">
            <a:extLst>
              <a:ext uri="{FF2B5EF4-FFF2-40B4-BE49-F238E27FC236}">
                <a16:creationId xmlns:a16="http://schemas.microsoft.com/office/drawing/2014/main" id="{9216A2DD-A730-87DC-C5D6-104BE726E473}"/>
              </a:ext>
            </a:extLst>
          </p:cNvPr>
          <p:cNvSpPr txBox="1"/>
          <p:nvPr/>
        </p:nvSpPr>
        <p:spPr>
          <a:xfrm>
            <a:off x="9667453" y="2648746"/>
            <a:ext cx="256480" cy="307777"/>
          </a:xfrm>
          <a:prstGeom prst="rect">
            <a:avLst/>
          </a:prstGeom>
          <a:noFill/>
        </p:spPr>
        <p:txBody>
          <a:bodyPr wrap="none" lIns="0" tIns="0" rIns="0" bIns="0" anchor="ctr">
            <a:spAutoFit/>
          </a:bodyPr>
          <a:lstStyle/>
          <a:p>
            <a:pPr algn="ctr"/>
            <a:r>
              <a:rPr lang="ja-JP" altLang="en-US" sz="2000" b="1">
                <a:solidFill>
                  <a:srgbClr val="0072B2"/>
                </a:solidFill>
                <a:latin typeface="Meiryo"/>
                <a:ea typeface="Meiryo"/>
                <a:cs typeface="Meiryo"/>
              </a:rPr>
              <a:t>赤</a:t>
            </a:r>
            <a:endParaRPr lang="en-US" altLang="ja-JP" sz="2000" b="1" dirty="0">
              <a:latin typeface="Meiryo"/>
              <a:ea typeface="Meiryo"/>
              <a:cs typeface="Meiryo"/>
            </a:endParaRPr>
          </a:p>
        </p:txBody>
      </p:sp>
      <p:sp>
        <p:nvSpPr>
          <p:cNvPr id="21" name="TextBox 22">
            <a:extLst>
              <a:ext uri="{FF2B5EF4-FFF2-40B4-BE49-F238E27FC236}">
                <a16:creationId xmlns:a16="http://schemas.microsoft.com/office/drawing/2014/main" id="{5CE9272C-C8B5-E9E0-DC9D-E667F2BEC444}"/>
              </a:ext>
            </a:extLst>
          </p:cNvPr>
          <p:cNvSpPr txBox="1"/>
          <p:nvPr/>
        </p:nvSpPr>
        <p:spPr>
          <a:xfrm>
            <a:off x="10788661" y="2648745"/>
            <a:ext cx="512961" cy="307777"/>
          </a:xfrm>
          <a:prstGeom prst="rect">
            <a:avLst/>
          </a:prstGeom>
          <a:noFill/>
        </p:spPr>
        <p:txBody>
          <a:bodyPr wrap="none" lIns="0" tIns="0" rIns="0" bIns="0" anchor="ctr">
            <a:spAutoFit/>
          </a:bodyPr>
          <a:lstStyle/>
          <a:p>
            <a:pPr algn="ctr">
              <a:spcBef>
                <a:spcPts val="0"/>
              </a:spcBef>
              <a:spcAft>
                <a:spcPts val="0"/>
              </a:spcAft>
            </a:pPr>
            <a:r>
              <a:rPr lang="en-US" sz="2000" b="1" dirty="0" err="1">
                <a:solidFill>
                  <a:srgbClr val="D55E00"/>
                </a:solidFill>
                <a:latin typeface="Meiryo"/>
                <a:ea typeface="Meiryo"/>
                <a:cs typeface="Meiryo"/>
              </a:rPr>
              <a:t>赤外</a:t>
            </a:r>
            <a:endParaRPr sz="2000" b="1" dirty="0">
              <a:solidFill>
                <a:schemeClr val="accent3"/>
              </a:solidFill>
              <a:latin typeface="Meiryo"/>
              <a:ea typeface="Meiryo"/>
              <a:cs typeface="Meiryo"/>
            </a:endParaRPr>
          </a:p>
        </p:txBody>
      </p:sp>
      <p:pic>
        <p:nvPicPr>
          <p:cNvPr id="23" name="fig_signal" descr="f11_signal.png">
            <a:extLst>
              <a:ext uri="{FF2B5EF4-FFF2-40B4-BE49-F238E27FC236}">
                <a16:creationId xmlns:a16="http://schemas.microsoft.com/office/drawing/2014/main" id="{F2E70046-EF7C-3371-CA42-0B47FD71A17E}"/>
              </a:ext>
            </a:extLst>
          </p:cNvPr>
          <p:cNvPicPr>
            <a:picLocks noChangeAspect="1"/>
          </p:cNvPicPr>
          <p:nvPr/>
        </p:nvPicPr>
        <p:blipFill>
          <a:blip r:embed="rId4"/>
          <a:stretch>
            <a:fillRect/>
          </a:stretch>
        </p:blipFill>
        <p:spPr>
          <a:xfrm>
            <a:off x="6885863" y="3021275"/>
            <a:ext cx="2048853" cy="1428287"/>
          </a:xfrm>
          <a:prstGeom prst="rect">
            <a:avLst/>
          </a:prstGeom>
        </p:spPr>
      </p:pic>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a:t>
            </a:r>
          </a:p>
        </p:txBody>
      </p:sp>
    </p:spTree>
    <p:extLst>
      <p:ext uri="{BB962C8B-B14F-4D97-AF65-F5344CB8AC3E}">
        <p14:creationId xmlns:p14="http://schemas.microsoft.com/office/powerpoint/2010/main" val="2973052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92F3-CC16-4BE4-EECB-B07536256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DD56F-375A-ECA5-EF52-F9B4FFE7834F}"/>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62003C50-0946-BE08-1DCB-782C001E016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6E08B49-D90C-0AF3-512D-2BC21FD0CC5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05A4842-4D68-85CD-9430-3D539DA8DE4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D19E03E-C126-A196-7C93-6AD210386A6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0AC3373A-18C8-EBE5-BDC9-E07163E7BE4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BFF777B3-6953-3586-45E8-2AF7964E9C6F}"/>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41027131-7DE3-409A-2020-7854B55610AC}"/>
              </a:ext>
            </a:extLst>
          </p:cNvPr>
          <p:cNvSpPr txBox="1"/>
          <p:nvPr/>
        </p:nvSpPr>
        <p:spPr>
          <a:xfrm>
            <a:off x="583020" y="4238813"/>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41AFD698-29F8-4B08-402C-13E77E75C9B3}"/>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1856A65F-D379-8E71-391C-1CF73EADD557}"/>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18">
            <a:extLst>
              <a:ext uri="{FF2B5EF4-FFF2-40B4-BE49-F238E27FC236}">
                <a16:creationId xmlns:a16="http://schemas.microsoft.com/office/drawing/2014/main" id="{9CED8767-6BF3-8EA0-8F87-22C8D4EBEBB5}"/>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6" name="fig_calib" descr="f_spo2_calib.png">
            <a:extLst>
              <a:ext uri="{FF2B5EF4-FFF2-40B4-BE49-F238E27FC236}">
                <a16:creationId xmlns:a16="http://schemas.microsoft.com/office/drawing/2014/main" id="{2DE2DC97-6121-8AD5-9B06-16D98FA76519}"/>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9" name="TextBox 18">
            <a:extLst>
              <a:ext uri="{FF2B5EF4-FFF2-40B4-BE49-F238E27FC236}">
                <a16:creationId xmlns:a16="http://schemas.microsoft.com/office/drawing/2014/main" id="{9A2992B8-6BDA-AE8F-09EE-CD3A772CD3B7}"/>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19" name="テキスト ボックス 18">
            <a:extLst>
              <a:ext uri="{FF2B5EF4-FFF2-40B4-BE49-F238E27FC236}">
                <a16:creationId xmlns:a16="http://schemas.microsoft.com/office/drawing/2014/main" id="{6AB88125-D6EA-275F-1C3D-C28AC5906615}"/>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0" name="テキスト ボックス 19">
            <a:extLst>
              <a:ext uri="{FF2B5EF4-FFF2-40B4-BE49-F238E27FC236}">
                <a16:creationId xmlns:a16="http://schemas.microsoft.com/office/drawing/2014/main" id="{5FABEF62-388E-ED3A-E9E3-5FA514926AF6}"/>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1" name="テキスト ボックス 20">
            <a:extLst>
              <a:ext uri="{FF2B5EF4-FFF2-40B4-BE49-F238E27FC236}">
                <a16:creationId xmlns:a16="http://schemas.microsoft.com/office/drawing/2014/main" id="{6D73AF31-3BE1-BE30-7323-513A21BDB122}"/>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a:t>
            </a:r>
          </a:p>
        </p:txBody>
      </p:sp>
    </p:spTree>
    <p:extLst>
      <p:ext uri="{BB962C8B-B14F-4D97-AF65-F5344CB8AC3E}">
        <p14:creationId xmlns:p14="http://schemas.microsoft.com/office/powerpoint/2010/main" val="4207516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00EA-8DE8-CEA6-793D-3C9AAF647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E946C-592F-FEA9-5FAD-AF8D3DA91708}"/>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FF32DBAC-C626-61BC-431C-BFD4D3725BDA}"/>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EC775667-C64E-846A-F7FB-2049EF8F069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BE0793C-A633-62EF-B32A-975B4754EEB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0C9124B-56CC-A567-DCEE-BCB595F8ACB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EA8FFDD-4534-1A5C-5494-90ABB37335F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9434E1E4-3859-A30E-A9C6-F65269BC5CFB}"/>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5" name="テキスト ボックス 4">
            <a:extLst>
              <a:ext uri="{FF2B5EF4-FFF2-40B4-BE49-F238E27FC236}">
                <a16:creationId xmlns:a16="http://schemas.microsoft.com/office/drawing/2014/main" id="{B24F7411-D60A-13ED-524F-98E4A86747B7}"/>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B135F6BD-B69B-126C-17D8-0DDE0E155EF6}"/>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06C4E28E-D78C-AB11-11A9-C187756FF4E2}"/>
              </a:ext>
            </a:extLst>
          </p:cNvPr>
          <p:cNvSpPr txBox="1"/>
          <p:nvPr/>
        </p:nvSpPr>
        <p:spPr>
          <a:xfrm>
            <a:off x="1988403" y="4306474"/>
            <a:ext cx="2089034" cy="1569660"/>
          </a:xfrm>
          <a:prstGeom prst="rect">
            <a:avLst/>
          </a:prstGeom>
          <a:noFill/>
        </p:spPr>
        <p:txBody>
          <a:bodyPr wrap="none" rtlCol="0">
            <a:spAutoFit/>
          </a:bodyPr>
          <a:lstStyle/>
          <a:p>
            <a:pPr algn="ctr"/>
            <a:r>
              <a:rPr kumimoji="1" lang="ja-JP" altLang="en-US" sz="3200" b="1">
                <a:latin typeface="+mj-ea"/>
                <a:ea typeface="+mj-ea"/>
              </a:rPr>
              <a:t>↓</a:t>
            </a:r>
            <a:endParaRPr kumimoji="1" lang="en-US" altLang="ja-JP" sz="3200" b="1" dirty="0">
              <a:latin typeface="+mj-ea"/>
              <a:ea typeface="+mj-ea"/>
            </a:endParaRPr>
          </a:p>
          <a:p>
            <a:pPr algn="ctr"/>
            <a:endParaRPr kumimoji="1" lang="en-US" altLang="ja-JP" sz="3200" b="1" dirty="0">
              <a:latin typeface="+mj-ea"/>
              <a:ea typeface="+mj-ea"/>
            </a:endParaRPr>
          </a:p>
          <a:p>
            <a:pPr algn="ctr"/>
            <a:r>
              <a:rPr lang="en-US" altLang="ja-JP" sz="3200" b="1" dirty="0">
                <a:latin typeface="+mj-ea"/>
                <a:ea typeface="+mj-ea"/>
              </a:rPr>
              <a:t>SpO₂</a:t>
            </a:r>
            <a:r>
              <a:rPr lang="ja-JP" altLang="en-US" sz="3200" b="1">
                <a:latin typeface="+mj-ea"/>
                <a:ea typeface="+mj-ea"/>
              </a:rPr>
              <a:t>決定</a:t>
            </a:r>
            <a:endParaRPr kumimoji="1" lang="ja-JP" altLang="en-US" sz="3200" b="1">
              <a:latin typeface="+mj-ea"/>
              <a:ea typeface="+mj-ea"/>
            </a:endParaRPr>
          </a:p>
        </p:txBody>
      </p:sp>
      <p:sp>
        <p:nvSpPr>
          <p:cNvPr id="4" name="TextBox 18">
            <a:extLst>
              <a:ext uri="{FF2B5EF4-FFF2-40B4-BE49-F238E27FC236}">
                <a16:creationId xmlns:a16="http://schemas.microsoft.com/office/drawing/2014/main" id="{7BE2AC6C-5E04-2BB8-5CFB-211FCC713823}"/>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22" name="fig_calib" descr="f_spo2_calib.png">
            <a:extLst>
              <a:ext uri="{FF2B5EF4-FFF2-40B4-BE49-F238E27FC236}">
                <a16:creationId xmlns:a16="http://schemas.microsoft.com/office/drawing/2014/main" id="{535361BC-26D6-8B05-A4D1-81B3819BF9BD}"/>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23" name="TextBox 18">
            <a:extLst>
              <a:ext uri="{FF2B5EF4-FFF2-40B4-BE49-F238E27FC236}">
                <a16:creationId xmlns:a16="http://schemas.microsoft.com/office/drawing/2014/main" id="{6560D9B5-125B-6596-5521-4DA1EAACA04F}"/>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24" name="テキスト ボックス 23">
            <a:extLst>
              <a:ext uri="{FF2B5EF4-FFF2-40B4-BE49-F238E27FC236}">
                <a16:creationId xmlns:a16="http://schemas.microsoft.com/office/drawing/2014/main" id="{661D48D2-3AAF-417B-F177-E5E0167778AF}"/>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5" name="テキスト ボックス 24">
            <a:extLst>
              <a:ext uri="{FF2B5EF4-FFF2-40B4-BE49-F238E27FC236}">
                <a16:creationId xmlns:a16="http://schemas.microsoft.com/office/drawing/2014/main" id="{95A85D45-3CD3-3571-7513-305F82F23954}"/>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7" name="テキスト ボックス 26">
            <a:extLst>
              <a:ext uri="{FF2B5EF4-FFF2-40B4-BE49-F238E27FC236}">
                <a16:creationId xmlns:a16="http://schemas.microsoft.com/office/drawing/2014/main" id="{7F038007-00B8-3212-FD5D-8E93B283E290}"/>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a:t>
            </a:r>
          </a:p>
        </p:txBody>
      </p:sp>
    </p:spTree>
    <p:extLst>
      <p:ext uri="{BB962C8B-B14F-4D97-AF65-F5344CB8AC3E}">
        <p14:creationId xmlns:p14="http://schemas.microsoft.com/office/powerpoint/2010/main" val="1175598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Rounded Rectangle 25"/>
          <p:cNvSpPr/>
          <p:nvPr/>
        </p:nvSpPr>
        <p:spPr>
          <a:xfrm>
            <a:off x="540000" y="1872000"/>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DC の中身</a:t>
            </a:r>
          </a:p>
        </p:txBody>
      </p:sp>
      <p:sp>
        <p:nvSpPr>
          <p:cNvPr id="27" name="TextBox 26"/>
          <p:cNvSpPr txBox="1"/>
          <p:nvPr/>
        </p:nvSpPr>
        <p:spPr>
          <a:xfrm>
            <a:off x="3311999" y="192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DC ＝ 静脈血 ＋ 組織 ＋ 拡張期の動脈血</a:t>
            </a:r>
          </a:p>
          <a:p>
            <a:pPr algn="l">
              <a:spcAft>
                <a:spcPts val="400"/>
              </a:spcAft>
            </a:pPr>
            <a:r>
              <a:rPr sz="2400" b="1">
                <a:solidFill>
                  <a:srgbClr val="262626"/>
                </a:solidFill>
                <a:latin typeface="Meiryo"/>
                <a:ea typeface="Meiryo"/>
                <a:cs typeface="Meiryo"/>
              </a:rPr>
              <a:t>「動脈成分を除いた値」ではない</a:t>
            </a:r>
          </a:p>
        </p:txBody>
      </p:sp>
      <p:sp>
        <p:nvSpPr>
          <p:cNvPr id="28" name="Rounded Rectangle 27"/>
          <p:cNvSpPr/>
          <p:nvPr/>
        </p:nvSpPr>
        <p:spPr>
          <a:xfrm>
            <a:off x="540000" y="295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理論では</a:t>
            </a:r>
          </a:p>
        </p:txBody>
      </p:sp>
      <p:sp>
        <p:nvSpPr>
          <p:cNvPr id="29" name="TextBox 28"/>
          <p:cNvSpPr txBox="1"/>
          <p:nvPr/>
        </p:nvSpPr>
        <p:spPr>
          <a:xfrm>
            <a:off x="3311999" y="300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R と SaO₂ の関係を決めるのは</a:t>
            </a:r>
          </a:p>
          <a:p>
            <a:pPr algn="l">
              <a:spcAft>
                <a:spcPts val="400"/>
              </a:spcAft>
            </a:pPr>
            <a:r>
              <a:rPr sz="2400" b="1">
                <a:solidFill>
                  <a:srgbClr val="262626"/>
                </a:solidFill>
                <a:latin typeface="Meiryo"/>
                <a:ea typeface="Meiryo"/>
                <a:cs typeface="Meiryo"/>
              </a:rPr>
              <a:t>拍動で膨らむ区画の 実効光路長</a:t>
            </a:r>
          </a:p>
        </p:txBody>
      </p:sp>
      <p:sp>
        <p:nvSpPr>
          <p:cNvPr id="30" name="Rounded Rectangle 29"/>
          <p:cNvSpPr/>
          <p:nvPr/>
        </p:nvSpPr>
        <p:spPr>
          <a:xfrm>
            <a:off x="540000" y="403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実務では</a:t>
            </a:r>
          </a:p>
        </p:txBody>
      </p:sp>
      <p:sp>
        <p:nvSpPr>
          <p:cNvPr id="31" name="TextBox 30"/>
          <p:cNvSpPr txBox="1"/>
          <p:nvPr/>
        </p:nvSpPr>
        <p:spPr>
          <a:xfrm>
            <a:off x="3311999" y="408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メーカーの経験的較正（健常者の低酸素負荷）に</a:t>
            </a:r>
          </a:p>
          <a:p>
            <a:pPr algn="l">
              <a:spcAft>
                <a:spcPts val="400"/>
              </a:spcAft>
            </a:pPr>
            <a:r>
              <a:rPr sz="2400" b="1">
                <a:solidFill>
                  <a:srgbClr val="262626"/>
                </a:solidFill>
                <a:latin typeface="Meiryo"/>
                <a:ea typeface="Meiryo"/>
                <a:cs typeface="Meiryo"/>
              </a:rPr>
              <a:t>織り込み済み ＝ 通常の臨床精度 約3〜4% に収まる</a:t>
            </a:r>
          </a:p>
        </p:txBody>
      </p:sp>
      <p:sp>
        <p:nvSpPr>
          <p:cNvPr id="32" name="Rounded Rectangle 31"/>
          <p:cNvSpPr/>
          <p:nvPr/>
        </p:nvSpPr>
        <p:spPr>
          <a:xfrm>
            <a:off x="540000" y="5148000"/>
            <a:ext cx="11160000" cy="1044000"/>
          </a:xfrm>
          <a:prstGeom prst="roundRect">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600" b="1">
                <a:solidFill>
                  <a:srgbClr val="C00000"/>
                </a:solidFill>
                <a:latin typeface="Meiryo"/>
                <a:ea typeface="Meiryo"/>
                <a:cs typeface="Meiryo"/>
              </a:rPr>
              <a:t>較正の前提（健常成人）から外れると 誤差が拡大</a:t>
            </a:r>
          </a:p>
          <a:p>
            <a:pPr algn="ctr">
              <a:spcAft>
                <a:spcPts val="400"/>
              </a:spcAft>
            </a:pPr>
            <a:r>
              <a:rPr sz="2200" b="1">
                <a:solidFill>
                  <a:srgbClr val="262626"/>
                </a:solidFill>
                <a:latin typeface="Meiryo"/>
                <a:ea typeface="Meiryo"/>
                <a:cs typeface="Meiryo"/>
              </a:rPr>
              <a:t>末梢循環不全・色素沈着・異常Hb血症 → hidden hypoxemia</a:t>
            </a:r>
          </a:p>
        </p:txBody>
      </p:sp>
      <p:sp>
        <p:nvSpPr>
          <p:cNvPr id="21" name="Title 1">
            <a:extLst>
              <a:ext uri="{FF2B5EF4-FFF2-40B4-BE49-F238E27FC236}">
                <a16:creationId xmlns:a16="http://schemas.microsoft.com/office/drawing/2014/main" id="{9C289714-CA7F-A992-D29E-FA3F2A8F0919}"/>
              </a:ext>
            </a:extLst>
          </p:cNvPr>
          <p:cNvSpPr>
            <a:spLocks noGrp="1"/>
          </p:cNvSpPr>
          <p:nvPr>
            <p:ph type="title"/>
          </p:nvPr>
        </p:nvSpPr>
        <p:spPr>
          <a:xfrm>
            <a:off x="838200" y="365125"/>
            <a:ext cx="10515600" cy="1325563"/>
          </a:xfrm>
        </p:spPr>
        <p:txBody>
          <a:bodyPr/>
          <a:lstStyle/>
          <a:p>
            <a:pPr algn="l"/>
            <a:r>
              <a:rPr lang="ja-JP" altLang="en-US" sz="4600">
                <a:latin typeface="Meiryo"/>
                <a:ea typeface="Meiryo"/>
                <a:cs typeface="Meiryo"/>
              </a:rPr>
              <a:t>＊</a:t>
            </a:r>
            <a:r>
              <a:rPr sz="4600" dirty="0">
                <a:latin typeface="Meiryo"/>
                <a:ea typeface="Meiryo"/>
                <a:cs typeface="Meiryo"/>
              </a:rPr>
              <a:t> </a:t>
            </a:r>
            <a:r>
              <a:rPr lang="ja-JP" altLang="en-US" sz="4600">
                <a:latin typeface="Meiryo"/>
                <a:ea typeface="Meiryo"/>
                <a:cs typeface="Meiryo"/>
              </a:rPr>
              <a:t>残存動脈血について</a:t>
            </a:r>
            <a:endParaRPr sz="4600" dirty="0">
              <a:latin typeface="Meiryo"/>
              <a:ea typeface="Meiryo"/>
              <a:cs typeface="Meiryo"/>
            </a:endParaRPr>
          </a:p>
        </p:txBody>
      </p:sp>
      <p:sp>
        <p:nvSpPr>
          <p:cNvPr id="24" name="Off-page Connector 4">
            <a:extLst>
              <a:ext uri="{FF2B5EF4-FFF2-40B4-BE49-F238E27FC236}">
                <a16:creationId xmlns:a16="http://schemas.microsoft.com/office/drawing/2014/main" id="{C104181C-0595-D25E-7899-9F2DCB22F14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3" name="Off-page Connector 5">
            <a:extLst>
              <a:ext uri="{FF2B5EF4-FFF2-40B4-BE49-F238E27FC236}">
                <a16:creationId xmlns:a16="http://schemas.microsoft.com/office/drawing/2014/main" id="{EA49AC02-5603-00BB-9B05-6D21BBB53617}"/>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4" name="Off-page Connector 6">
            <a:extLst>
              <a:ext uri="{FF2B5EF4-FFF2-40B4-BE49-F238E27FC236}">
                <a16:creationId xmlns:a16="http://schemas.microsoft.com/office/drawing/2014/main" id="{7A5D9E57-43B6-61F5-36A0-644FFF1B3D9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5" name="Off-page Connector 7">
            <a:extLst>
              <a:ext uri="{FF2B5EF4-FFF2-40B4-BE49-F238E27FC236}">
                <a16:creationId xmlns:a16="http://schemas.microsoft.com/office/drawing/2014/main" id="{07F9C134-3BEB-BE77-FA16-60912303DD6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 name="Off-page Connector 8">
            <a:extLst>
              <a:ext uri="{FF2B5EF4-FFF2-40B4-BE49-F238E27FC236}">
                <a16:creationId xmlns:a16="http://schemas.microsoft.com/office/drawing/2014/main" id="{3371D76A-1D43-0092-31D3-891C741D4E7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213F-9AE9-B5AC-84A0-67940F4F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D50A5-B875-0F0F-A113-235E673577E2}"/>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0688F5D-D548-0A86-F3D6-30A76BA0AE93}"/>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14174C3-B500-4C63-8093-152A3DC4D75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7022DA7-F402-260A-E6AB-D42D417F0E4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1341152-344E-FDA7-4360-6157383A803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0916281-6882-F039-A2CF-2DC1C57137C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7051BD20-0A34-9524-08F0-F6BE167243B8}"/>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74A3A49C-E169-31EF-4BB4-FB61F82262E5}"/>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44784786-4896-08CD-2FD0-53229D7EE7A7}"/>
              </a:ext>
            </a:extLst>
          </p:cNvPr>
          <p:cNvPicPr>
            <a:picLocks noChangeAspect="1"/>
          </p:cNvPicPr>
          <p:nvPr/>
        </p:nvPicPr>
        <p:blipFill>
          <a:blip r:embed="rId3"/>
          <a:stretch>
            <a:fillRect/>
          </a:stretch>
        </p:blipFill>
        <p:spPr>
          <a:xfrm>
            <a:off x="1344680" y="2287984"/>
            <a:ext cx="3472386" cy="3024000"/>
          </a:xfrm>
          <a:prstGeom prst="rect">
            <a:avLst/>
          </a:prstGeom>
        </p:spPr>
      </p:pic>
      <p:sp>
        <p:nvSpPr>
          <p:cNvPr id="22" name="TextBox 21">
            <a:extLst>
              <a:ext uri="{FF2B5EF4-FFF2-40B4-BE49-F238E27FC236}">
                <a16:creationId xmlns:a16="http://schemas.microsoft.com/office/drawing/2014/main" id="{2066DA1A-3FD9-A447-50FA-1AD2CD87C05D}"/>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723C4902-E489-8214-E816-7EAC05EC4922}"/>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F56FCA1C-98A4-3F27-AE39-4E09D28B9542}"/>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pic>
        <p:nvPicPr>
          <p:cNvPr id="7" name="fig_wave_vessel" descr="f13_fwd_vessel.png">
            <a:extLst>
              <a:ext uri="{FF2B5EF4-FFF2-40B4-BE49-F238E27FC236}">
                <a16:creationId xmlns:a16="http://schemas.microsoft.com/office/drawing/2014/main" id="{DC7C24AC-9D0E-3C17-CD73-33033FD18424}"/>
              </a:ext>
            </a:extLst>
          </p:cNvPr>
          <p:cNvPicPr>
            <a:picLocks noChangeAspect="1"/>
          </p:cNvPicPr>
          <p:nvPr/>
        </p:nvPicPr>
        <p:blipFill>
          <a:blip r:embed="rId4"/>
          <a:stretch>
            <a:fillRect/>
          </a:stretch>
        </p:blipFill>
        <p:spPr>
          <a:xfrm>
            <a:off x="6528609" y="2501383"/>
            <a:ext cx="4635000" cy="1854000"/>
          </a:xfrm>
          <a:prstGeom prst="rect">
            <a:avLst/>
          </a:prstGeom>
        </p:spPr>
      </p:pic>
      <p:sp>
        <p:nvSpPr>
          <p:cNvPr id="9" name="TextBox 31">
            <a:extLst>
              <a:ext uri="{FF2B5EF4-FFF2-40B4-BE49-F238E27FC236}">
                <a16:creationId xmlns:a16="http://schemas.microsoft.com/office/drawing/2014/main" id="{DE476DB9-2F08-E52B-79F9-1E42C79A6973}"/>
              </a:ext>
            </a:extLst>
          </p:cNvPr>
          <p:cNvSpPr txBox="1"/>
          <p:nvPr/>
        </p:nvSpPr>
        <p:spPr>
          <a:xfrm>
            <a:off x="6195908" y="4781721"/>
            <a:ext cx="4889159"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a:t>
            </a:r>
            <a:r>
              <a:rPr lang="ja-JP" altLang="en-US" sz="2200" b="1">
                <a:solidFill>
                  <a:srgbClr val="262626"/>
                </a:solidFill>
                <a:latin typeface="Meiryo"/>
                <a:ea typeface="Meiryo"/>
                <a:cs typeface="Meiryo"/>
              </a:rPr>
              <a:t>脈波の到着部分だけ拡張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8/71</a:t>
            </a:r>
          </a:p>
        </p:txBody>
      </p:sp>
    </p:spTree>
    <p:extLst>
      <p:ext uri="{BB962C8B-B14F-4D97-AF65-F5344CB8AC3E}">
        <p14:creationId xmlns:p14="http://schemas.microsoft.com/office/powerpoint/2010/main" val="345179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0BC-8FAF-F7C7-7383-588024CD5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391AB-30D4-16FE-A773-CDD11104935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DFA500C-62FD-C61C-440B-D282AE95D768}"/>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1FDF07FD-64A3-8600-6089-5023ABDEFB4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179FA7F2-CCEF-EBFA-FEE4-82F76D25D74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DE2DD8F-07F9-5271-4D4F-8CC8593B2CC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89610E2-4A20-D8D1-36A7-2042EF05F69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B45D55D9-0758-2EDF-21AD-A8773EB056B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6026DB75-E07A-9910-5530-06D50593B15F}"/>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E4B504-ED83-9FEA-E9B1-570F44D5C927}"/>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24F8A84-ABDA-5698-CC03-741E16541371}"/>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5D643E03-693C-B5E6-8F65-FE06C441565A}"/>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9/71</a:t>
            </a:r>
          </a:p>
        </p:txBody>
      </p:sp>
    </p:spTree>
    <p:extLst>
      <p:ext uri="{BB962C8B-B14F-4D97-AF65-F5344CB8AC3E}">
        <p14:creationId xmlns:p14="http://schemas.microsoft.com/office/powerpoint/2010/main" val="369948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FE66-A2D6-86A2-6910-772B202D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D029F-EA12-E8FC-37D3-7672B7953ED1}"/>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5A3A22C-DD21-2A35-E6D4-D71B8EE9CEC4}"/>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97994337-F97D-F511-039A-36C0B616600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4C41C884-4F38-6BE1-7757-C4929BD12AC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E9007E8-091B-2031-20CE-927B601E4A2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F288B1B-105A-B675-DBBE-6EE6B929B8C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7004FBEB-B6BC-4C74-695B-C5B300C694D8}"/>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1EC58F54-9E55-0E48-152E-CF5DFB79B63E}"/>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2F0C9D03-4CC7-9E88-EDC8-107FAD6A1791}"/>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8E300BEE-8DD4-B48B-2043-A073CEB14D0C}"/>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0901AABF-0E7D-1849-A425-BEDA70C3F452}"/>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 name="Rounded Rectangle 29">
            <a:extLst>
              <a:ext uri="{FF2B5EF4-FFF2-40B4-BE49-F238E27FC236}">
                <a16:creationId xmlns:a16="http://schemas.microsoft.com/office/drawing/2014/main" id="{C659F48E-451B-DDC8-74EF-4F7A5B41C4E9}"/>
              </a:ext>
            </a:extLst>
          </p:cNvPr>
          <p:cNvSpPr/>
          <p:nvPr/>
        </p:nvSpPr>
        <p:spPr>
          <a:xfrm>
            <a:off x="6369835" y="2669015"/>
            <a:ext cx="5516264" cy="244232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nSpc>
                <a:spcPct val="150000"/>
              </a:lnSpc>
              <a:spcBef>
                <a:spcPts val="0"/>
              </a:spcBef>
              <a:spcAft>
                <a:spcPts val="0"/>
              </a:spcAft>
            </a:pPr>
            <a:r>
              <a:rPr lang="en-US" altLang="ja-JP" sz="2400" b="1" dirty="0">
                <a:solidFill>
                  <a:srgbClr val="262626"/>
                </a:solidFill>
                <a:latin typeface="Meiryo"/>
                <a:ea typeface="Meiryo"/>
                <a:cs typeface="Meiryo"/>
              </a:rPr>
              <a:t>PPG</a:t>
            </a:r>
            <a:r>
              <a:rPr lang="ja-JP" altLang="en-US" sz="2400" b="1">
                <a:solidFill>
                  <a:srgbClr val="262626"/>
                </a:solidFill>
                <a:latin typeface="Meiryo"/>
                <a:ea typeface="Meiryo"/>
                <a:cs typeface="Meiryo"/>
              </a:rPr>
              <a:t>の測定対象：</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心臓から拍出された血液量</a:t>
            </a:r>
            <a:r>
              <a:rPr lang="en-US" altLang="ja-JP" sz="2400" b="1" dirty="0">
                <a:solidFill>
                  <a:srgbClr val="262626"/>
                </a:solidFill>
                <a:latin typeface="Meiryo"/>
                <a:ea typeface="Meiryo"/>
                <a:cs typeface="Meiryo"/>
              </a:rPr>
              <a:t>	×</a:t>
            </a:r>
          </a:p>
          <a:p>
            <a:pPr>
              <a:lnSpc>
                <a:spcPct val="150000"/>
              </a:lnSpc>
              <a:spcBef>
                <a:spcPts val="0"/>
              </a:spcBef>
              <a:spcAft>
                <a:spcPts val="0"/>
              </a:spcAft>
            </a:pPr>
            <a:r>
              <a:rPr lang="ja-JP" altLang="en-US" sz="2400" b="1">
                <a:solidFill>
                  <a:srgbClr val="262626"/>
                </a:solidFill>
                <a:latin typeface="Meiryo"/>
                <a:ea typeface="Meiryo"/>
                <a:cs typeface="Meiryo"/>
              </a:rPr>
              <a:t>血管伸展による</a:t>
            </a:r>
            <a:r>
              <a:rPr lang="ja-JP" altLang="en-US" sz="2800" b="1">
                <a:solidFill>
                  <a:srgbClr val="262626"/>
                </a:solidFill>
                <a:latin typeface="Meiryo"/>
                <a:ea typeface="Meiryo"/>
                <a:cs typeface="Meiryo"/>
              </a:rPr>
              <a:t>容積変化</a:t>
            </a:r>
            <a:r>
              <a:rPr lang="en-US" altLang="ja-JP" sz="2400" b="1" dirty="0">
                <a:solidFill>
                  <a:srgbClr val="262626"/>
                </a:solidFill>
                <a:latin typeface="Meiryo"/>
                <a:ea typeface="Meiryo"/>
                <a:cs typeface="Meiryo"/>
              </a:rPr>
              <a:t>		</a:t>
            </a:r>
            <a:r>
              <a:rPr lang="ja-JP" altLang="en-US" sz="2800" b="1">
                <a:solidFill>
                  <a:srgbClr val="262626"/>
                </a:solidFill>
                <a:latin typeface="Meiryo"/>
                <a:ea typeface="Meiryo"/>
                <a:cs typeface="Meiryo"/>
              </a:rPr>
              <a:t>○</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（圧脈波による受動的な影響）</a:t>
            </a:r>
            <a:endParaRPr lang="en-US" altLang="ja-JP" sz="2400" b="1" dirty="0">
              <a:solidFill>
                <a:srgbClr val="262626"/>
              </a:solidFill>
              <a:latin typeface="Meiryo"/>
              <a:ea typeface="Meiryo"/>
              <a:cs typeface="Meiryo"/>
            </a:endParaRPr>
          </a:p>
        </p:txBody>
      </p:sp>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9/71</a:t>
            </a:r>
          </a:p>
        </p:txBody>
      </p:sp>
    </p:spTree>
    <p:extLst>
      <p:ext uri="{BB962C8B-B14F-4D97-AF65-F5344CB8AC3E}">
        <p14:creationId xmlns:p14="http://schemas.microsoft.com/office/powerpoint/2010/main" val="1376433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CDAA-9D94-ACD5-034F-DDBE40AB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020E-2B48-211E-9647-9A074D5B2AD2}"/>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CF05AF-A6AE-3792-77C3-0945EDDA239B}"/>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D9368F35-DAF4-0299-E19E-1A85D98B57B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F31C7102-666D-2300-7BB5-04622393766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789A6A2-6371-82EE-F033-517F09DF8BD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AFB85EB6-3472-5741-36C2-EEFFB2FF48B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body" descr="f12_body.png">
            <a:extLst>
              <a:ext uri="{FF2B5EF4-FFF2-40B4-BE49-F238E27FC236}">
                <a16:creationId xmlns:a16="http://schemas.microsoft.com/office/drawing/2014/main" id="{79419894-41D9-0EF9-319A-4BD819C5A915}"/>
              </a:ext>
            </a:extLst>
          </p:cNvPr>
          <p:cNvPicPr>
            <a:picLocks noChangeAspect="1"/>
          </p:cNvPicPr>
          <p:nvPr/>
        </p:nvPicPr>
        <p:blipFill>
          <a:blip r:embed="rId3"/>
          <a:stretch>
            <a:fillRect/>
          </a:stretch>
        </p:blipFill>
        <p:spPr>
          <a:xfrm>
            <a:off x="864000" y="1994629"/>
            <a:ext cx="4608000" cy="3744000"/>
          </a:xfrm>
          <a:prstGeom prst="rect">
            <a:avLst/>
          </a:prstGeom>
        </p:spPr>
      </p:pic>
      <p:sp>
        <p:nvSpPr>
          <p:cNvPr id="20" name="TextBox 19">
            <a:extLst>
              <a:ext uri="{FF2B5EF4-FFF2-40B4-BE49-F238E27FC236}">
                <a16:creationId xmlns:a16="http://schemas.microsoft.com/office/drawing/2014/main" id="{12A5DE94-7B01-CF7B-72BB-15451DCD013E}"/>
              </a:ext>
            </a:extLst>
          </p:cNvPr>
          <p:cNvSpPr txBox="1"/>
          <p:nvPr/>
        </p:nvSpPr>
        <p:spPr>
          <a:xfrm>
            <a:off x="921600" y="2282629"/>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a:extLst>
              <a:ext uri="{FF2B5EF4-FFF2-40B4-BE49-F238E27FC236}">
                <a16:creationId xmlns:a16="http://schemas.microsoft.com/office/drawing/2014/main" id="{58293747-D317-5DCB-543D-BE3EE44BEA3F}"/>
              </a:ext>
            </a:extLst>
          </p:cNvPr>
          <p:cNvSpPr txBox="1"/>
          <p:nvPr/>
        </p:nvSpPr>
        <p:spPr>
          <a:xfrm>
            <a:off x="4320000" y="2282629"/>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a:extLst>
              <a:ext uri="{FF2B5EF4-FFF2-40B4-BE49-F238E27FC236}">
                <a16:creationId xmlns:a16="http://schemas.microsoft.com/office/drawing/2014/main" id="{08F0CCF5-5144-43D6-1BB6-2BD2945944B1}"/>
              </a:ext>
            </a:extLst>
          </p:cNvPr>
          <p:cNvSpPr txBox="1"/>
          <p:nvPr/>
        </p:nvSpPr>
        <p:spPr>
          <a:xfrm>
            <a:off x="2390400" y="3895429"/>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a:extLst>
              <a:ext uri="{FF2B5EF4-FFF2-40B4-BE49-F238E27FC236}">
                <a16:creationId xmlns:a16="http://schemas.microsoft.com/office/drawing/2014/main" id="{95D17C31-CE9F-6436-E3EC-9C203ACDF047}"/>
              </a:ext>
            </a:extLst>
          </p:cNvPr>
          <p:cNvSpPr txBox="1"/>
          <p:nvPr/>
        </p:nvSpPr>
        <p:spPr>
          <a:xfrm>
            <a:off x="2476800" y="5177029"/>
            <a:ext cx="2988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下半身へ</a:t>
            </a:r>
          </a:p>
        </p:txBody>
      </p:sp>
      <p:sp>
        <p:nvSpPr>
          <p:cNvPr id="24" name="TextBox 23">
            <a:extLst>
              <a:ext uri="{FF2B5EF4-FFF2-40B4-BE49-F238E27FC236}">
                <a16:creationId xmlns:a16="http://schemas.microsoft.com/office/drawing/2014/main" id="{21710870-005C-97CF-8DE7-7788C39CC068}"/>
              </a:ext>
            </a:extLst>
          </p:cNvPr>
          <p:cNvSpPr txBox="1"/>
          <p:nvPr/>
        </p:nvSpPr>
        <p:spPr>
          <a:xfrm>
            <a:off x="6300001" y="266156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09782EA6-1EFE-C8D6-6352-C0C1C5F33A9C}"/>
              </a:ext>
            </a:extLst>
          </p:cNvPr>
          <p:cNvSpPr/>
          <p:nvPr/>
        </p:nvSpPr>
        <p:spPr>
          <a:xfrm>
            <a:off x="6300001" y="305764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1CC4D179-FBED-65C3-02F3-34A54B8BCE13}"/>
              </a:ext>
            </a:extLst>
          </p:cNvPr>
          <p:cNvPicPr>
            <a:picLocks noChangeAspect="1"/>
          </p:cNvPicPr>
          <p:nvPr/>
        </p:nvPicPr>
        <p:blipFill>
          <a:blip r:embed="rId4"/>
          <a:stretch>
            <a:fillRect/>
          </a:stretch>
        </p:blipFill>
        <p:spPr>
          <a:xfrm>
            <a:off x="6300001" y="3791732"/>
            <a:ext cx="4635000" cy="1854000"/>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9/71</a:t>
            </a:r>
          </a:p>
        </p:txBody>
      </p:sp>
    </p:spTree>
    <p:extLst>
      <p:ext uri="{BB962C8B-B14F-4D97-AF65-F5344CB8AC3E}">
        <p14:creationId xmlns:p14="http://schemas.microsoft.com/office/powerpoint/2010/main" val="250876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1.4  </a:t>
            </a:r>
            <a:r>
              <a:rPr sz="4600" dirty="0" err="1">
                <a:latin typeface="Meiryo"/>
                <a:ea typeface="Meiryo"/>
                <a:cs typeface="Meiryo"/>
              </a:rPr>
              <a:t>反射波の成因</a:t>
            </a:r>
            <a:endParaRPr sz="4600" dirty="0">
              <a:latin typeface="Meiryo"/>
              <a:ea typeface="Meiryo"/>
              <a:cs typeface="Meiryo"/>
            </a:endParaRPr>
          </a:p>
        </p:txBody>
      </p:sp>
      <p:sp>
        <p:nvSpPr>
          <p:cNvPr id="13"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body" descr="f13_body.png"/>
          <p:cNvPicPr>
            <a:picLocks noChangeAspect="1"/>
          </p:cNvPicPr>
          <p:nvPr/>
        </p:nvPicPr>
        <p:blipFill>
          <a:blip r:embed="rId3"/>
          <a:stretch>
            <a:fillRect/>
          </a:stretch>
        </p:blipFill>
        <p:spPr>
          <a:xfrm>
            <a:off x="864000" y="1707040"/>
            <a:ext cx="4608000" cy="3744000"/>
          </a:xfrm>
          <a:prstGeom prst="rect">
            <a:avLst/>
          </a:prstGeom>
        </p:spPr>
      </p:pic>
      <p:sp>
        <p:nvSpPr>
          <p:cNvPr id="20" name="TextBox 19"/>
          <p:cNvSpPr txBox="1"/>
          <p:nvPr/>
        </p:nvSpPr>
        <p:spPr>
          <a:xfrm>
            <a:off x="921600" y="199504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p:cNvSpPr txBox="1"/>
          <p:nvPr/>
        </p:nvSpPr>
        <p:spPr>
          <a:xfrm>
            <a:off x="4320000" y="199504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p:cNvSpPr txBox="1"/>
          <p:nvPr/>
        </p:nvSpPr>
        <p:spPr>
          <a:xfrm>
            <a:off x="2390400" y="360784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p:cNvSpPr txBox="1"/>
          <p:nvPr/>
        </p:nvSpPr>
        <p:spPr>
          <a:xfrm>
            <a:off x="2476800" y="4550886"/>
            <a:ext cx="319638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262626"/>
                </a:solidFill>
                <a:latin typeface="Meiryo"/>
                <a:ea typeface="Meiryo"/>
                <a:cs typeface="Meiryo"/>
              </a:rPr>
              <a:t>体幹</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下肢</a:t>
            </a:r>
            <a:r>
              <a:rPr lang="ja-JP" altLang="en-US" sz="2200" b="1">
                <a:solidFill>
                  <a:srgbClr val="262626"/>
                </a:solidFill>
                <a:latin typeface="Meiryo"/>
                <a:ea typeface="Meiryo"/>
                <a:cs typeface="Meiryo"/>
              </a:rPr>
              <a:t>の長経路</a:t>
            </a:r>
            <a:endParaRPr sz="2200" b="1" dirty="0">
              <a:solidFill>
                <a:srgbClr val="262626"/>
              </a:solidFill>
              <a:latin typeface="Meiryo"/>
              <a:ea typeface="Meiryo"/>
              <a:cs typeface="Meiryo"/>
            </a:endParaRPr>
          </a:p>
          <a:p>
            <a:pPr algn="l">
              <a:spcBef>
                <a:spcPts val="0"/>
              </a:spcBef>
              <a:spcAft>
                <a:spcPts val="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主な</a:t>
            </a:r>
            <a:r>
              <a:rPr lang="ja-JP" altLang="en-US" sz="2200" b="1">
                <a:solidFill>
                  <a:srgbClr val="262626"/>
                </a:solidFill>
                <a:latin typeface="Meiryo"/>
                <a:ea typeface="Meiryo"/>
                <a:cs typeface="Meiryo"/>
              </a:rPr>
              <a:t>見かけの</a:t>
            </a:r>
            <a:r>
              <a:rPr sz="2200" b="1" dirty="0" err="1">
                <a:solidFill>
                  <a:srgbClr val="262626"/>
                </a:solidFill>
                <a:latin typeface="Meiryo"/>
                <a:ea typeface="Meiryo"/>
                <a:cs typeface="Meiryo"/>
              </a:rPr>
              <a:t>反射部位</a:t>
            </a:r>
            <a:endParaRPr sz="2200" b="1" dirty="0">
              <a:solidFill>
                <a:srgbClr val="262626"/>
              </a:solidFill>
              <a:latin typeface="Meiryo"/>
              <a:ea typeface="Meiryo"/>
              <a:cs typeface="Meiryo"/>
            </a:endParaRPr>
          </a:p>
        </p:txBody>
      </p:sp>
      <p:sp>
        <p:nvSpPr>
          <p:cNvPr id="25" name="TextBox 24"/>
          <p:cNvSpPr txBox="1"/>
          <p:nvPr/>
        </p:nvSpPr>
        <p:spPr>
          <a:xfrm>
            <a:off x="6665099" y="2384183"/>
            <a:ext cx="423192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D55E00"/>
                </a:solidFill>
                <a:latin typeface="Meiryo"/>
                <a:ea typeface="Meiryo"/>
                <a:cs typeface="Meiryo"/>
              </a:rPr>
              <a:t>体幹から下肢を中心とした</a:t>
            </a:r>
            <a:r>
              <a:rPr sz="2200" b="1" dirty="0" err="1">
                <a:solidFill>
                  <a:srgbClr val="D55E00"/>
                </a:solidFill>
                <a:latin typeface="Meiryo"/>
                <a:ea typeface="Meiryo"/>
                <a:cs typeface="Meiryo"/>
              </a:rPr>
              <a:t>反射</a:t>
            </a:r>
            <a:r>
              <a:rPr lang="ja-JP" altLang="en-US" sz="2200" b="1">
                <a:solidFill>
                  <a:srgbClr val="D55E00"/>
                </a:solidFill>
                <a:latin typeface="Meiryo"/>
                <a:ea typeface="Meiryo"/>
                <a:cs typeface="Meiryo"/>
              </a:rPr>
              <a:t>が</a:t>
            </a:r>
            <a:endParaRPr lang="en-US" altLang="ja-JP" sz="2200" b="1" dirty="0">
              <a:solidFill>
                <a:srgbClr val="D55E00"/>
              </a:solidFill>
              <a:latin typeface="Meiryo"/>
              <a:ea typeface="Meiryo"/>
              <a:cs typeface="Meiryo"/>
            </a:endParaRPr>
          </a:p>
          <a:p>
            <a:r>
              <a:rPr lang="ja-JP" altLang="en-US" sz="2200" b="1">
                <a:solidFill>
                  <a:srgbClr val="D55E00"/>
                </a:solidFill>
                <a:latin typeface="Meiryo"/>
                <a:ea typeface="Meiryo"/>
                <a:cs typeface="Meiryo"/>
              </a:rPr>
              <a:t>大動脈を遡って再度測定部位へ</a:t>
            </a:r>
            <a:endParaRPr sz="2200" b="1" dirty="0">
              <a:solidFill>
                <a:srgbClr val="D55E00"/>
              </a:solidFill>
              <a:latin typeface="Meiryo"/>
              <a:ea typeface="Meiryo"/>
              <a:cs typeface="Meiryo"/>
            </a:endParaRPr>
          </a:p>
        </p:txBody>
      </p:sp>
      <p:pic>
        <p:nvPicPr>
          <p:cNvPr id="27" name="fig_wave" descr="f13_wave.png"/>
          <p:cNvPicPr>
            <a:picLocks noChangeAspect="1"/>
          </p:cNvPicPr>
          <p:nvPr/>
        </p:nvPicPr>
        <p:blipFill>
          <a:blip r:embed="rId4"/>
          <a:stretch>
            <a:fillRect/>
          </a:stretch>
        </p:blipFill>
        <p:spPr>
          <a:xfrm>
            <a:off x="6384001" y="3402644"/>
            <a:ext cx="4320000" cy="1584000"/>
          </a:xfrm>
          <a:prstGeom prst="rect">
            <a:avLst/>
          </a:prstGeom>
        </p:spPr>
      </p:pic>
      <p:sp>
        <p:nvSpPr>
          <p:cNvPr id="28" name="TextBox 27"/>
          <p:cNvSpPr txBox="1"/>
          <p:nvPr/>
        </p:nvSpPr>
        <p:spPr>
          <a:xfrm>
            <a:off x="9120001" y="3834645"/>
            <a:ext cx="2304000" cy="3600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重複切痕</a:t>
            </a:r>
          </a:p>
        </p:txBody>
      </p:sp>
      <p:sp>
        <p:nvSpPr>
          <p:cNvPr id="29" name="TextBox 28"/>
          <p:cNvSpPr txBox="1"/>
          <p:nvPr/>
        </p:nvSpPr>
        <p:spPr>
          <a:xfrm>
            <a:off x="7421357" y="5195368"/>
            <a:ext cx="2821285" cy="338554"/>
          </a:xfrm>
          <a:prstGeom prst="rect">
            <a:avLst/>
          </a:prstGeom>
          <a:noFill/>
        </p:spPr>
        <p:txBody>
          <a:bodyPr wrap="none" lIns="0" tIns="0" rIns="0" bIns="0" anchor="ctr">
            <a:spAutoFit/>
          </a:bodyPr>
          <a:lstStyle/>
          <a:p>
            <a:pPr algn="ctr">
              <a:spcBef>
                <a:spcPts val="0"/>
              </a:spcBef>
              <a:spcAft>
                <a:spcPts val="0"/>
              </a:spcAft>
            </a:pPr>
            <a:r>
              <a:rPr lang="ja-JP" altLang="en-US" sz="2200" b="1">
                <a:solidFill>
                  <a:srgbClr val="262626"/>
                </a:solidFill>
                <a:latin typeface="Meiryo"/>
                <a:ea typeface="Meiryo"/>
                <a:cs typeface="Meiryo"/>
              </a:rPr>
              <a:t>指先</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前進波＋反射波</a:t>
            </a:r>
            <a:endParaRPr sz="2200" b="1" dirty="0">
              <a:solidFill>
                <a:srgbClr val="262626"/>
              </a:solidFill>
              <a:latin typeface="Meiryo"/>
              <a:ea typeface="Meiryo"/>
              <a:cs typeface="Meiryo"/>
            </a:endParaRPr>
          </a:p>
        </p:txBody>
      </p:sp>
      <p:sp>
        <p:nvSpPr>
          <p:cNvPr id="30" name="Rounded Rectangle 29"/>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err="1">
                <a:solidFill>
                  <a:srgbClr val="262626"/>
                </a:solidFill>
                <a:latin typeface="Meiryo"/>
                <a:ea typeface="Meiryo"/>
                <a:cs typeface="Meiryo"/>
              </a:rPr>
              <a:t>前進波と反射波の合成によりPPG波形は成り立つ</a:t>
            </a:r>
            <a:endParaRPr sz="2400" b="1" dirty="0">
              <a:solidFill>
                <a:srgbClr val="262626"/>
              </a:solidFill>
              <a:latin typeface="Meiryo"/>
              <a:ea typeface="Meiryo"/>
              <a:cs typeface="Meiryo"/>
            </a:endParaRPr>
          </a:p>
        </p:txBody>
      </p:sp>
      <p:sp>
        <p:nvSpPr>
          <p:cNvPr id="3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　／　6. Millasseau 2002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10/71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1.5  PPG基礎まとめ</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　／　5. Politi 2016</a:t>
            </a:r>
          </a:p>
        </p:txBody>
      </p:sp>
      <p:sp>
        <p:nvSpPr>
          <p:cNvPr id="18" name="Rounded Rectangle 17"/>
          <p:cNvSpPr/>
          <p:nvPr/>
        </p:nvSpPr>
        <p:spPr>
          <a:xfrm>
            <a:off x="502920" y="1737360"/>
            <a:ext cx="35295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endParaRPr dirty="0"/>
          </a:p>
        </p:txBody>
      </p:sp>
      <p:sp>
        <p:nvSpPr>
          <p:cNvPr id="19" name="TextBox 18"/>
          <p:cNvSpPr txBox="1"/>
          <p:nvPr/>
        </p:nvSpPr>
        <p:spPr>
          <a:xfrm>
            <a:off x="685800" y="1883664"/>
            <a:ext cx="548640" cy="597121"/>
          </a:xfrm>
          <a:prstGeom prst="rect">
            <a:avLst/>
          </a:prstGeom>
          <a:noFill/>
        </p:spPr>
        <p:txBody>
          <a:bodyPr wrap="square" lIns="0" tIns="0" rIns="0" bIns="0" anchor="t">
            <a:spAutoFit/>
          </a:bodyPr>
          <a:lstStyle/>
          <a:p>
            <a:pPr algn="l"/>
            <a:r>
              <a:rPr sz="2800" b="1">
                <a:solidFill>
                  <a:srgbClr val="0072B2"/>
                </a:solidFill>
                <a:latin typeface="Meiryo"/>
                <a:ea typeface="Meiryo"/>
                <a:cs typeface="Meiryo"/>
              </a:rPr>
              <a:t>①</a:t>
            </a:r>
          </a:p>
        </p:txBody>
      </p:sp>
      <p:sp>
        <p:nvSpPr>
          <p:cNvPr id="20" name="TextBox 19"/>
          <p:cNvSpPr txBox="1"/>
          <p:nvPr/>
        </p:nvSpPr>
        <p:spPr>
          <a:xfrm>
            <a:off x="1234440" y="1920240"/>
            <a:ext cx="2651760" cy="541553"/>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SpO₂</a:t>
            </a:r>
            <a:r>
              <a:rPr lang="en-US" sz="2500" b="1" dirty="0">
                <a:solidFill>
                  <a:srgbClr val="0072B2"/>
                </a:solidFill>
                <a:latin typeface="Meiryo"/>
                <a:ea typeface="Meiryo"/>
                <a:cs typeface="Meiryo"/>
              </a:rPr>
              <a:t> </a:t>
            </a:r>
            <a:r>
              <a:rPr lang="en-US" sz="2500" b="1" dirty="0" err="1">
                <a:solidFill>
                  <a:srgbClr val="0072B2"/>
                </a:solidFill>
                <a:latin typeface="Meiryo"/>
                <a:ea typeface="Meiryo"/>
                <a:cs typeface="Meiryo"/>
              </a:rPr>
              <a:t>測定原理</a:t>
            </a:r>
            <a:endParaRPr sz="2500" b="1" dirty="0">
              <a:solidFill>
                <a:srgbClr val="0072B2"/>
              </a:solidFill>
              <a:latin typeface="Meiryo"/>
              <a:ea typeface="Meiryo"/>
              <a:cs typeface="Meiryo"/>
            </a:endParaRPr>
          </a:p>
        </p:txBody>
      </p:sp>
      <p:sp>
        <p:nvSpPr>
          <p:cNvPr id="21" name="TextBox 20"/>
          <p:cNvSpPr txBox="1"/>
          <p:nvPr/>
        </p:nvSpPr>
        <p:spPr>
          <a:xfrm>
            <a:off x="731520" y="2514600"/>
            <a:ext cx="3108960" cy="2018032"/>
          </a:xfrm>
          <a:prstGeom prst="rect">
            <a:avLst/>
          </a:prstGeom>
          <a:noFill/>
        </p:spPr>
        <p:txBody>
          <a:bodyPr wrap="square" lIns="0" tIns="0" rIns="0" bIns="0" anchor="t">
            <a:spAutoFit/>
          </a:bodyPr>
          <a:lstStyle/>
          <a:p>
            <a:pPr algn="l">
              <a:lnSpc>
                <a:spcPct val="120000"/>
              </a:lnSpc>
              <a:spcAft>
                <a:spcPts val="600"/>
              </a:spcAft>
            </a:pPr>
            <a:r>
              <a:rPr sz="2300" b="0">
                <a:solidFill>
                  <a:srgbClr val="262626"/>
                </a:solidFill>
                <a:latin typeface="Meiryo"/>
                <a:ea typeface="Meiryo"/>
                <a:cs typeface="Meiryo"/>
              </a:rPr>
              <a:t>赤色光と赤外光の</a:t>
            </a:r>
          </a:p>
          <a:p>
            <a:pPr algn="l">
              <a:lnSpc>
                <a:spcPct val="120000"/>
              </a:lnSpc>
              <a:spcAft>
                <a:spcPts val="600"/>
              </a:spcAft>
            </a:pPr>
            <a:r>
              <a:rPr sz="2300" b="0">
                <a:solidFill>
                  <a:srgbClr val="262626"/>
                </a:solidFill>
                <a:latin typeface="Meiryo"/>
                <a:ea typeface="Meiryo"/>
                <a:cs typeface="Meiryo"/>
              </a:rPr>
              <a:t>吸収の比 R を</a:t>
            </a:r>
          </a:p>
          <a:p>
            <a:pPr algn="l">
              <a:lnSpc>
                <a:spcPct val="120000"/>
              </a:lnSpc>
              <a:spcAft>
                <a:spcPts val="600"/>
              </a:spcAft>
            </a:pPr>
            <a:r>
              <a:rPr sz="2300" b="0">
                <a:solidFill>
                  <a:srgbClr val="262626"/>
                </a:solidFill>
                <a:latin typeface="Meiryo"/>
                <a:ea typeface="Meiryo"/>
                <a:cs typeface="Meiryo"/>
              </a:rPr>
              <a:t>健常者の較正表に</a:t>
            </a:r>
          </a:p>
          <a:p>
            <a:pPr algn="l">
              <a:lnSpc>
                <a:spcPct val="120000"/>
              </a:lnSpc>
              <a:spcAft>
                <a:spcPts val="600"/>
              </a:spcAft>
            </a:pPr>
            <a:r>
              <a:rPr sz="2300" b="0">
                <a:solidFill>
                  <a:srgbClr val="262626"/>
                </a:solidFill>
                <a:latin typeface="Meiryo"/>
                <a:ea typeface="Meiryo"/>
                <a:cs typeface="Meiryo"/>
              </a:rPr>
              <a:t>当てはめた推定値</a:t>
            </a:r>
          </a:p>
        </p:txBody>
      </p:sp>
      <p:sp>
        <p:nvSpPr>
          <p:cNvPr id="22" name="Rounded Rectangle 21"/>
          <p:cNvSpPr/>
          <p:nvPr/>
        </p:nvSpPr>
        <p:spPr>
          <a:xfrm>
            <a:off x="4306824" y="1737360"/>
            <a:ext cx="3529584" cy="30175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489704" y="1883664"/>
            <a:ext cx="548640" cy="597121"/>
          </a:xfrm>
          <a:prstGeom prst="rect">
            <a:avLst/>
          </a:prstGeom>
          <a:noFill/>
        </p:spPr>
        <p:txBody>
          <a:bodyPr wrap="square" lIns="0" tIns="0" rIns="0" bIns="0" anchor="t">
            <a:spAutoFit/>
          </a:bodyPr>
          <a:lstStyle/>
          <a:p>
            <a:pPr algn="l"/>
            <a:r>
              <a:rPr sz="2800" b="1">
                <a:solidFill>
                  <a:srgbClr val="D55E00"/>
                </a:solidFill>
                <a:latin typeface="Meiryo"/>
                <a:ea typeface="Meiryo"/>
                <a:cs typeface="Meiryo"/>
              </a:rPr>
              <a:t>②</a:t>
            </a:r>
          </a:p>
        </p:txBody>
      </p:sp>
      <p:sp>
        <p:nvSpPr>
          <p:cNvPr id="24" name="TextBox 23"/>
          <p:cNvSpPr txBox="1"/>
          <p:nvPr/>
        </p:nvSpPr>
        <p:spPr>
          <a:xfrm>
            <a:off x="5038344" y="1920240"/>
            <a:ext cx="2651760" cy="541553"/>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PPG </a:t>
            </a:r>
            <a:r>
              <a:rPr lang="ja-JP" altLang="en-US" sz="2500" b="1">
                <a:solidFill>
                  <a:srgbClr val="D55E00"/>
                </a:solidFill>
                <a:latin typeface="Meiryo"/>
                <a:ea typeface="Meiryo"/>
                <a:cs typeface="Meiryo"/>
              </a:rPr>
              <a:t>が測るもの</a:t>
            </a:r>
            <a:endParaRPr sz="2500" b="1" dirty="0">
              <a:solidFill>
                <a:srgbClr val="D55E00"/>
              </a:solidFill>
              <a:latin typeface="Meiryo"/>
              <a:ea typeface="Meiryo"/>
              <a:cs typeface="Meiryo"/>
            </a:endParaRPr>
          </a:p>
        </p:txBody>
      </p:sp>
      <p:sp>
        <p:nvSpPr>
          <p:cNvPr id="25" name="TextBox 24"/>
          <p:cNvSpPr txBox="1"/>
          <p:nvPr/>
        </p:nvSpPr>
        <p:spPr>
          <a:xfrm>
            <a:off x="4535424" y="2514600"/>
            <a:ext cx="3108960" cy="2004395"/>
          </a:xfrm>
          <a:prstGeom prst="rect">
            <a:avLst/>
          </a:prstGeom>
          <a:noFill/>
        </p:spPr>
        <p:txBody>
          <a:bodyPr wrap="square" lIns="0" tIns="0" rIns="0" bIns="0" anchor="t">
            <a:spAutoFit/>
          </a:bodyPr>
          <a:lstStyle/>
          <a:p>
            <a:pPr algn="l">
              <a:lnSpc>
                <a:spcPct val="120000"/>
              </a:lnSpc>
              <a:spcAft>
                <a:spcPts val="600"/>
              </a:spcAft>
            </a:pPr>
            <a:r>
              <a:rPr lang="ja-JP" altLang="en-US" sz="2300">
                <a:solidFill>
                  <a:srgbClr val="262626"/>
                </a:solidFill>
                <a:latin typeface="Meiryo"/>
                <a:ea typeface="Meiryo"/>
                <a:cs typeface="Meiryo"/>
              </a:rPr>
              <a:t>脈波による局所的な</a:t>
            </a:r>
            <a:endParaRPr sz="2300" b="0" dirty="0">
              <a:solidFill>
                <a:srgbClr val="262626"/>
              </a:solidFill>
              <a:latin typeface="Meiryo"/>
              <a:ea typeface="Meiryo"/>
              <a:cs typeface="Meiryo"/>
            </a:endParaRPr>
          </a:p>
          <a:p>
            <a:pPr algn="l">
              <a:lnSpc>
                <a:spcPct val="120000"/>
              </a:lnSpc>
              <a:spcAft>
                <a:spcPts val="600"/>
              </a:spcAft>
            </a:pPr>
            <a:r>
              <a:rPr lang="ja-JP" altLang="en-US" sz="2300" b="0">
                <a:solidFill>
                  <a:srgbClr val="262626"/>
                </a:solidFill>
                <a:latin typeface="Meiryo"/>
                <a:ea typeface="Meiryo"/>
                <a:cs typeface="Meiryo"/>
              </a:rPr>
              <a:t>血管伸展にともなう</a:t>
            </a:r>
            <a:endParaRPr lang="en-US" altLang="ja-JP" sz="2300" b="0" dirty="0">
              <a:solidFill>
                <a:srgbClr val="262626"/>
              </a:solidFill>
              <a:latin typeface="Meiryo"/>
              <a:ea typeface="Meiryo"/>
              <a:cs typeface="Meiryo"/>
            </a:endParaRPr>
          </a:p>
          <a:p>
            <a:pPr algn="l">
              <a:lnSpc>
                <a:spcPct val="120000"/>
              </a:lnSpc>
              <a:spcAft>
                <a:spcPts val="600"/>
              </a:spcAft>
            </a:pPr>
            <a:r>
              <a:rPr sz="2800" b="1" dirty="0" err="1">
                <a:solidFill>
                  <a:srgbClr val="262626"/>
                </a:solidFill>
                <a:latin typeface="Meiryo"/>
                <a:ea typeface="Meiryo"/>
                <a:cs typeface="Meiryo"/>
              </a:rPr>
              <a:t>容積の変化</a:t>
            </a:r>
            <a:endParaRPr sz="2800" b="1" dirty="0">
              <a:solidFill>
                <a:srgbClr val="262626"/>
              </a:solidFill>
              <a:latin typeface="Meiryo"/>
              <a:ea typeface="Meiryo"/>
              <a:cs typeface="Meiryo"/>
            </a:endParaRPr>
          </a:p>
          <a:p>
            <a:pPr algn="l">
              <a:lnSpc>
                <a:spcPct val="120000"/>
              </a:lnSpc>
              <a:spcAft>
                <a:spcPts val="600"/>
              </a:spcAft>
            </a:pPr>
            <a:endParaRPr sz="2300" b="0" dirty="0">
              <a:solidFill>
                <a:srgbClr val="262626"/>
              </a:solidFill>
              <a:latin typeface="Meiryo"/>
              <a:ea typeface="Meiryo"/>
              <a:cs typeface="Meiryo"/>
            </a:endParaRPr>
          </a:p>
        </p:txBody>
      </p:sp>
      <p:sp>
        <p:nvSpPr>
          <p:cNvPr id="26" name="Rounded Rectangle 25"/>
          <p:cNvSpPr/>
          <p:nvPr/>
        </p:nvSpPr>
        <p:spPr>
          <a:xfrm>
            <a:off x="8110728" y="1737360"/>
            <a:ext cx="35295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93608" y="1883664"/>
            <a:ext cx="548640" cy="597121"/>
          </a:xfrm>
          <a:prstGeom prst="rect">
            <a:avLst/>
          </a:prstGeom>
          <a:noFill/>
        </p:spPr>
        <p:txBody>
          <a:bodyPr wrap="square" lIns="0" tIns="0" rIns="0" bIns="0" anchor="t">
            <a:spAutoFit/>
          </a:bodyPr>
          <a:lstStyle/>
          <a:p>
            <a:pPr algn="l"/>
            <a:r>
              <a:rPr sz="2800" b="1">
                <a:solidFill>
                  <a:srgbClr val="00A8AA"/>
                </a:solidFill>
                <a:latin typeface="Meiryo"/>
                <a:ea typeface="Meiryo"/>
                <a:cs typeface="Meiryo"/>
              </a:rPr>
              <a:t>③</a:t>
            </a:r>
          </a:p>
        </p:txBody>
      </p:sp>
      <p:sp>
        <p:nvSpPr>
          <p:cNvPr id="28" name="TextBox 27"/>
          <p:cNvSpPr txBox="1"/>
          <p:nvPr/>
        </p:nvSpPr>
        <p:spPr>
          <a:xfrm>
            <a:off x="8842248" y="1920240"/>
            <a:ext cx="2651760" cy="541553"/>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波形の成り立ち</a:t>
            </a:r>
          </a:p>
        </p:txBody>
      </p:sp>
      <p:sp>
        <p:nvSpPr>
          <p:cNvPr id="29" name="TextBox 28"/>
          <p:cNvSpPr txBox="1"/>
          <p:nvPr/>
        </p:nvSpPr>
        <p:spPr>
          <a:xfrm>
            <a:off x="8339328" y="2514600"/>
            <a:ext cx="3108960" cy="1101629"/>
          </a:xfrm>
          <a:prstGeom prst="rect">
            <a:avLst/>
          </a:prstGeom>
          <a:noFill/>
        </p:spPr>
        <p:txBody>
          <a:bodyPr wrap="square" lIns="0" tIns="0" rIns="0" bIns="0" anchor="t">
            <a:spAutoFit/>
          </a:bodyPr>
          <a:lstStyle/>
          <a:p>
            <a:pPr algn="l">
              <a:spcAft>
                <a:spcPts val="600"/>
              </a:spcAft>
            </a:pPr>
            <a:r>
              <a:rPr sz="2800" b="1" dirty="0" err="1">
                <a:solidFill>
                  <a:srgbClr val="262626"/>
                </a:solidFill>
                <a:latin typeface="Meiryo"/>
                <a:ea typeface="Meiryo"/>
                <a:cs typeface="Meiryo"/>
              </a:rPr>
              <a:t>前進波</a:t>
            </a:r>
            <a:r>
              <a:rPr sz="2300" b="0" dirty="0">
                <a:solidFill>
                  <a:srgbClr val="262626"/>
                </a:solidFill>
                <a:latin typeface="Meiryo"/>
                <a:ea typeface="Meiryo"/>
                <a:cs typeface="Meiryo"/>
              </a:rPr>
              <a:t> ＋ </a:t>
            </a:r>
            <a:r>
              <a:rPr sz="2800" b="1" dirty="0" err="1">
                <a:solidFill>
                  <a:srgbClr val="262626"/>
                </a:solidFill>
                <a:latin typeface="Meiryo"/>
                <a:ea typeface="Meiryo"/>
                <a:cs typeface="Meiryo"/>
              </a:rPr>
              <a:t>反射波</a:t>
            </a:r>
            <a:endParaRPr sz="2800" b="1" dirty="0">
              <a:solidFill>
                <a:srgbClr val="262626"/>
              </a:solidFill>
              <a:latin typeface="Meiryo"/>
              <a:ea typeface="Meiryo"/>
              <a:cs typeface="Meiryo"/>
            </a:endParaRPr>
          </a:p>
          <a:p>
            <a:pPr algn="l">
              <a:spcAft>
                <a:spcPts val="600"/>
              </a:spcAft>
            </a:pPr>
            <a:r>
              <a:rPr sz="2300" b="0" dirty="0" err="1">
                <a:solidFill>
                  <a:srgbClr val="262626"/>
                </a:solidFill>
                <a:latin typeface="Meiryo"/>
                <a:ea typeface="Meiryo"/>
                <a:cs typeface="Meiryo"/>
              </a:rPr>
              <a:t>の合成</a:t>
            </a:r>
            <a:endParaRPr sz="2300" b="0" dirty="0">
              <a:solidFill>
                <a:srgbClr val="262626"/>
              </a:solidFill>
              <a:latin typeface="Meiryo"/>
              <a:ea typeface="Meiryo"/>
              <a:cs typeface="Meiryo"/>
            </a:endParaRPr>
          </a:p>
        </p:txBody>
      </p:sp>
      <p:sp>
        <p:nvSpPr>
          <p:cNvPr id="30" name="Rounded Rectangle 29"/>
          <p:cNvSpPr/>
          <p:nvPr/>
        </p:nvSpPr>
        <p:spPr>
          <a:xfrm>
            <a:off x="502920" y="5029200"/>
            <a:ext cx="11183112"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230368"/>
            <a:ext cx="10789920" cy="1049305"/>
          </a:xfrm>
          <a:prstGeom prst="rect">
            <a:avLst/>
          </a:prstGeom>
          <a:noFill/>
        </p:spPr>
        <p:txBody>
          <a:bodyPr wrap="square" lIns="0" tIns="0" rIns="0" bIns="0" anchor="t">
            <a:spAutoFit/>
          </a:bodyPr>
          <a:lstStyle/>
          <a:p>
            <a:pPr algn="ctr">
              <a:spcAft>
                <a:spcPts val="400"/>
              </a:spcAft>
            </a:pPr>
            <a:r>
              <a:rPr lang="en-US" altLang="ja-JP" sz="2700" b="1" dirty="0" err="1">
                <a:solidFill>
                  <a:srgbClr val="262626"/>
                </a:solidFill>
                <a:latin typeface="Meiryo"/>
                <a:ea typeface="Meiryo"/>
                <a:cs typeface="Meiryo"/>
              </a:rPr>
              <a:t>PPG</a:t>
            </a:r>
            <a:r>
              <a:rPr sz="2700" b="1" dirty="0" err="1">
                <a:solidFill>
                  <a:srgbClr val="262626"/>
                </a:solidFill>
                <a:latin typeface="Meiryo"/>
                <a:ea typeface="Meiryo"/>
                <a:cs typeface="Meiryo"/>
              </a:rPr>
              <a:t>波形は</a:t>
            </a:r>
            <a:r>
              <a:rPr sz="2700" b="1" dirty="0">
                <a:solidFill>
                  <a:srgbClr val="262626"/>
                </a:solidFill>
                <a:latin typeface="Meiryo"/>
                <a:ea typeface="Meiryo"/>
                <a:cs typeface="Meiryo"/>
              </a:rPr>
              <a:t> </a:t>
            </a:r>
            <a:r>
              <a:rPr sz="2700" b="1" dirty="0" err="1">
                <a:solidFill>
                  <a:srgbClr val="BF9000"/>
                </a:solidFill>
                <a:latin typeface="Meiryo"/>
                <a:ea typeface="Meiryo"/>
                <a:cs typeface="Meiryo"/>
              </a:rPr>
              <a:t>どのような因子</a:t>
            </a:r>
            <a:r>
              <a:rPr sz="2700" b="1" dirty="0">
                <a:solidFill>
                  <a:srgbClr val="262626"/>
                </a:solidFill>
                <a:latin typeface="Meiryo"/>
                <a:ea typeface="Meiryo"/>
                <a:cs typeface="Meiryo"/>
              </a:rPr>
              <a:t> </a:t>
            </a:r>
            <a:r>
              <a:rPr sz="2700" b="1" dirty="0" err="1">
                <a:solidFill>
                  <a:srgbClr val="262626"/>
                </a:solidFill>
                <a:latin typeface="Meiryo"/>
                <a:ea typeface="Meiryo"/>
                <a:cs typeface="Meiryo"/>
              </a:rPr>
              <a:t>に影響を受けるのか</a:t>
            </a:r>
            <a:endParaRPr sz="2700" b="1" dirty="0">
              <a:solidFill>
                <a:srgbClr val="262626"/>
              </a:solidFill>
              <a:latin typeface="Meiryo"/>
              <a:ea typeface="Meiryo"/>
              <a:cs typeface="Meiryo"/>
            </a:endParaRPr>
          </a:p>
          <a:p>
            <a:pPr algn="ctr">
              <a:spcAft>
                <a:spcPts val="40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次章から</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加齢・循環・麻酔</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の順に見ていく</a:t>
            </a:r>
            <a:endParaRPr sz="2400" b="1" dirty="0">
              <a:solidFill>
                <a:srgbClr val="262626"/>
              </a:solidFill>
              <a:latin typeface="Meiryo"/>
              <a:ea typeface="Meiryo"/>
              <a:cs typeface="Meiryo"/>
            </a:endParaRP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11/71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185628-72CC-53D2-71C2-CF0C5DF854AE}"/>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p:cNvSpPr txBox="1"/>
          <p:nvPr/>
        </p:nvSpPr>
        <p:spPr>
          <a:xfrm>
            <a:off x="822960" y="1536192"/>
            <a:ext cx="5029200" cy="4956048"/>
          </a:xfrm>
          <a:prstGeom prst="rect">
            <a:avLst/>
          </a:prstGeom>
          <a:noFill/>
        </p:spPr>
        <p:txBody>
          <a:bodyPr wrap="square" lIns="0" tIns="0" rIns="0" bIns="0" anchor="t"/>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BF9000"/>
                </a:solidFill>
                <a:latin typeface="Meiryo"/>
                <a:ea typeface="Meiryo"/>
                <a:cs typeface="Meiryo"/>
              </a:rPr>
              <a:t>2. </a:t>
            </a:r>
            <a:r>
              <a:rPr sz="3200" b="1">
                <a:solidFill>
                  <a:srgbClr val="262626"/>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959"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2.1 </a:t>
            </a:r>
            <a:r>
              <a:rPr sz="2900" b="0">
                <a:solidFill>
                  <a:srgbClr val="262626"/>
                </a:solidFill>
                <a:latin typeface="Meiryo"/>
                <a:ea typeface="Meiryo"/>
                <a:cs typeface="Meiryo"/>
              </a:rPr>
              <a:t>加齢の影響</a:t>
            </a:r>
          </a:p>
          <a:p>
            <a:pPr>
              <a:lnSpc>
                <a:spcPct val="145000"/>
              </a:lnSpc>
            </a:pPr>
            <a:r>
              <a:rPr sz="2900" b="1">
                <a:solidFill>
                  <a:srgbClr val="BF9000"/>
                </a:solidFill>
                <a:latin typeface="Meiryo"/>
                <a:ea typeface="Meiryo"/>
                <a:cs typeface="Meiryo"/>
              </a:rPr>
              <a:t>2.2 </a:t>
            </a:r>
            <a:r>
              <a:rPr sz="2900" b="0">
                <a:solidFill>
                  <a:srgbClr val="262626"/>
                </a:solidFill>
                <a:latin typeface="Meiryo"/>
                <a:ea typeface="Meiryo"/>
                <a:cs typeface="Meiryo"/>
              </a:rPr>
              <a:t>循環の変化</a:t>
            </a:r>
          </a:p>
          <a:p>
            <a:pPr>
              <a:lnSpc>
                <a:spcPct val="145000"/>
              </a:lnSpc>
            </a:pPr>
            <a:r>
              <a:rPr sz="2900" b="1">
                <a:solidFill>
                  <a:srgbClr val="BF9000"/>
                </a:solidFill>
                <a:latin typeface="Meiryo"/>
                <a:ea typeface="Meiryo"/>
                <a:cs typeface="Meiryo"/>
              </a:rPr>
              <a:t>2.3 </a:t>
            </a:r>
            <a:r>
              <a:rPr sz="2900" b="0">
                <a:solidFill>
                  <a:srgbClr val="262626"/>
                </a:solidFill>
                <a:latin typeface="Meiryo"/>
                <a:ea typeface="Meiryo"/>
                <a:cs typeface="Meiryo"/>
              </a:rPr>
              <a:t>麻酔中の変化</a:t>
            </a:r>
          </a:p>
        </p:txBody>
      </p:sp>
      <p:sp>
        <p:nvSpPr>
          <p:cNvPr id="96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12/71</a:t>
            </a:r>
          </a:p>
        </p:txBody>
      </p:sp>
    </p:spTree>
    <p:extLst>
      <p:ext uri="{BB962C8B-B14F-4D97-AF65-F5344CB8AC3E}">
        <p14:creationId xmlns:p14="http://schemas.microsoft.com/office/powerpoint/2010/main" val="1349306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D585-C2E4-BE11-73F6-9C986485CE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BF9000"/>
                </a:solidFill>
                <a:latin typeface="Meiryo"/>
                <a:ea typeface="Meiryo"/>
                <a:cs typeface="Meiryo"/>
              </a:rPr>
              <a:t>　2.1 </a:t>
            </a:r>
            <a:r>
              <a:rPr sz="2700" b="1">
                <a:solidFill>
                  <a:srgbClr val="262626"/>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2.1 </a:t>
            </a:r>
            <a:r>
              <a:rPr sz="3000" b="1">
                <a:solidFill>
                  <a:srgbClr val="262626"/>
                </a:solidFill>
                <a:latin typeface="Meiryo"/>
                <a:ea typeface="Meiryo"/>
                <a:cs typeface="Meiryo"/>
              </a:rPr>
              <a:t>加齢の影響</a:t>
            </a:r>
          </a:p>
          <a:p>
            <a:pPr>
              <a:lnSpc>
                <a:spcPct val="142000"/>
              </a:lnSpc>
            </a:pPr>
            <a:r>
              <a:rPr sz="2700" b="1">
                <a:solidFill>
                  <a:srgbClr val="BF9000"/>
                </a:solidFill>
                <a:latin typeface="Meiryo"/>
                <a:ea typeface="Meiryo"/>
                <a:cs typeface="Meiryo"/>
              </a:rPr>
              <a:t>2.1.1 </a:t>
            </a:r>
            <a:r>
              <a:rPr sz="2700" b="0">
                <a:solidFill>
                  <a:srgbClr val="262626"/>
                </a:solidFill>
                <a:latin typeface="Meiryo"/>
                <a:ea typeface="Meiryo"/>
                <a:cs typeface="Meiryo"/>
              </a:rPr>
              <a:t>フラミンガム研究</a:t>
            </a:r>
          </a:p>
          <a:p>
            <a:pPr>
              <a:lnSpc>
                <a:spcPct val="142000"/>
              </a:lnSpc>
            </a:pPr>
            <a:r>
              <a:rPr sz="2700" b="1">
                <a:solidFill>
                  <a:srgbClr val="BF9000"/>
                </a:solidFill>
                <a:latin typeface="Meiryo"/>
                <a:ea typeface="Meiryo"/>
                <a:cs typeface="Meiryo"/>
              </a:rPr>
              <a:t>2.1.2 </a:t>
            </a:r>
            <a:r>
              <a:rPr sz="2700" b="0">
                <a:solidFill>
                  <a:srgbClr val="262626"/>
                </a:solidFill>
                <a:latin typeface="Meiryo"/>
                <a:ea typeface="Meiryo"/>
                <a:cs typeface="Meiryo"/>
              </a:rPr>
              <a:t>UK Biobank</a:t>
            </a:r>
          </a:p>
          <a:p>
            <a:pPr>
              <a:lnSpc>
                <a:spcPct val="142000"/>
              </a:lnSpc>
            </a:pPr>
            <a:r>
              <a:rPr sz="2700" b="1">
                <a:solidFill>
                  <a:srgbClr val="BF9000"/>
                </a:solidFill>
                <a:latin typeface="Meiryo"/>
                <a:ea typeface="Meiryo"/>
                <a:cs typeface="Meiryo"/>
              </a:rPr>
              <a:t>2.1.3 </a:t>
            </a:r>
            <a:r>
              <a:rPr sz="2700" b="0">
                <a:solidFill>
                  <a:srgbClr val="262626"/>
                </a:solidFill>
                <a:latin typeface="Meiryo"/>
                <a:ea typeface="Meiryo"/>
                <a:cs typeface="Meiryo"/>
              </a:rPr>
              <a:t>切痕平滑化の理由</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13/71</a:t>
            </a:r>
          </a:p>
        </p:txBody>
      </p:sp>
    </p:spTree>
    <p:extLst>
      <p:ext uri="{BB962C8B-B14F-4D97-AF65-F5344CB8AC3E}">
        <p14:creationId xmlns:p14="http://schemas.microsoft.com/office/powerpoint/2010/main" val="3094319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FF89-B285-9CE6-7A63-68741F97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1AB-7969-FFD4-7E38-EED96D163515}"/>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841E0964-E45F-CE29-98E0-A7115AB44B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3132FED-6E38-D861-03F7-D7A42E9905A8}"/>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2ABAE9C-A018-D5B5-84EE-739957BE8E1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EAC09DD2-957B-97D5-4F0D-ECDD552C40C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071E0BA8-F957-7153-77B9-719EDC30588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lead"/>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4" name="fact1">
            <a:extLst>
              <a:ext uri="{FF2B5EF4-FFF2-40B4-BE49-F238E27FC236}">
                <a16:creationId xmlns:a16="http://schemas.microsoft.com/office/drawing/2014/main" id="{E9CB1BDA-6335-6B88-D851-03BD5F7CC4E8}"/>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14/71</a:t>
            </a:r>
          </a:p>
        </p:txBody>
      </p:sp>
    </p:spTree>
    <p:extLst>
      <p:ext uri="{BB962C8B-B14F-4D97-AF65-F5344CB8AC3E}">
        <p14:creationId xmlns:p14="http://schemas.microsoft.com/office/powerpoint/2010/main" val="1456926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968F-ADEA-D170-C699-C12C4AFC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01E03-EEF2-C812-5C12-A17A8C5D2F4D}"/>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F904641B-85DE-8E6C-6C6E-CB18D8B400D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5F5129B-29D5-4A3F-C7CF-A62583168D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453A6919-A47D-1801-425D-36733C9C187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416F21FD-7073-1352-B10A-D94472A0B49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28C88997-B342-0DC0-B064-6EE32E8FEF7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lead">
            <a:extLst>
              <a:ext uri="{FF2B5EF4-FFF2-40B4-BE49-F238E27FC236}">
                <a16:creationId xmlns:a16="http://schemas.microsoft.com/office/drawing/2014/main" id="{F8EC53D6-55CF-9E98-3B56-78CF9A0EB19F}"/>
              </a:ext>
            </a:extLst>
          </p:cNvPr>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a:extLst>
              <a:ext uri="{FF2B5EF4-FFF2-40B4-BE49-F238E27FC236}">
                <a16:creationId xmlns:a16="http://schemas.microsoft.com/office/drawing/2014/main" id="{E9D390A7-1B50-043A-92FB-213A4D9A4214}"/>
              </a:ext>
            </a:extLst>
          </p:cNvPr>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a:extLst>
              <a:ext uri="{FF2B5EF4-FFF2-40B4-BE49-F238E27FC236}">
                <a16:creationId xmlns:a16="http://schemas.microsoft.com/office/drawing/2014/main" id="{206FE081-ED3A-4FC5-288E-D1CEF3A2E35E}"/>
              </a:ext>
            </a:extLst>
          </p:cNvPr>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a:extLst>
              <a:ext uri="{FF2B5EF4-FFF2-40B4-BE49-F238E27FC236}">
                <a16:creationId xmlns:a16="http://schemas.microsoft.com/office/drawing/2014/main" id="{015B7C19-73C4-B5A6-9724-4A6AD846E664}"/>
              </a:ext>
            </a:extLst>
          </p:cNvPr>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3" name="callout">
            <a:extLst>
              <a:ext uri="{FF2B5EF4-FFF2-40B4-BE49-F238E27FC236}">
                <a16:creationId xmlns:a16="http://schemas.microsoft.com/office/drawing/2014/main" id="{8972EB66-69B1-1329-DF72-0CA13CFBD1AF}"/>
              </a:ext>
            </a:extLst>
          </p:cNvPr>
          <p:cNvSpPr/>
          <p:nvPr/>
        </p:nvSpPr>
        <p:spPr>
          <a:xfrm>
            <a:off x="548639" y="5568236"/>
            <a:ext cx="11119103" cy="583429"/>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指尖脈波波形と年齢や冠動脈疾患の関連を調べた</a:t>
            </a:r>
            <a:endParaRPr sz="2200" b="1" dirty="0">
              <a:solidFill>
                <a:srgbClr val="262626"/>
              </a:solidFill>
              <a:latin typeface="Meiryo"/>
              <a:ea typeface="Meiryo"/>
              <a:cs typeface="Meiryo"/>
            </a:endParaRPr>
          </a:p>
        </p:txBody>
      </p:sp>
      <p:sp>
        <p:nvSpPr>
          <p:cNvPr id="4" name="fact1">
            <a:extLst>
              <a:ext uri="{FF2B5EF4-FFF2-40B4-BE49-F238E27FC236}">
                <a16:creationId xmlns:a16="http://schemas.microsoft.com/office/drawing/2014/main" id="{917550F6-F1DD-C512-E172-D3C4EBCD1DB3}"/>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14/71</a:t>
            </a:r>
          </a:p>
        </p:txBody>
      </p:sp>
    </p:spTree>
    <p:extLst>
      <p:ext uri="{BB962C8B-B14F-4D97-AF65-F5344CB8AC3E}">
        <p14:creationId xmlns:p14="http://schemas.microsoft.com/office/powerpoint/2010/main" val="3721215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552F-549D-3330-54DB-E3DA47239846}"/>
            </a:ext>
          </a:extLst>
        </p:cNvPr>
        <p:cNvGrpSpPr/>
        <p:nvPr/>
      </p:nvGrpSpPr>
      <p:grpSpPr>
        <a:xfrm>
          <a:off x="0" y="0"/>
          <a:ext cx="0" cy="0"/>
          <a:chOff x="0" y="0"/>
          <a:chExt cx="0" cy="0"/>
        </a:xfrm>
      </p:grpSpPr>
      <p:pic>
        <p:nvPicPr>
          <p:cNvPr id="305" name="fig_dawber4" descr="f21_dawber4.png"/>
          <p:cNvPicPr>
            <a:picLocks noChangeAspect="1"/>
          </p:cNvPicPr>
          <p:nvPr/>
        </p:nvPicPr>
        <p:blipFill>
          <a:blip r:embed="rId3"/>
          <a:stretch>
            <a:fillRect/>
          </a:stretch>
        </p:blipFill>
        <p:spPr>
          <a:xfrm>
            <a:off x="929973" y="1800000"/>
            <a:ext cx="10308054" cy="4320000"/>
          </a:xfrm>
          <a:prstGeom prst="rect">
            <a:avLst/>
          </a:prstGeom>
        </p:spPr>
      </p:pic>
      <p:sp>
        <p:nvSpPr>
          <p:cNvPr id="2" name="Title 1">
            <a:extLst>
              <a:ext uri="{FF2B5EF4-FFF2-40B4-BE49-F238E27FC236}">
                <a16:creationId xmlns:a16="http://schemas.microsoft.com/office/drawing/2014/main" id="{D1790004-114C-1086-8AE9-614102C58CAE}"/>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CF5250E4-BF8B-FA72-0DFB-3EA3DB46D0A3}"/>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6D3C1C6F-DF04-39D8-502A-90D8AC4C36A7}"/>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BA91245A-7E70-1C7A-29F0-7C654549335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3D627800-83D0-BA96-6B79-FB0DC61A2EA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B07CD557-6D40-D3B8-CF8F-157FA4F6A15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0" name="c1"/>
          <p:cNvSpPr txBox="1"/>
          <p:nvPr/>
        </p:nvSpPr>
        <p:spPr>
          <a:xfrm>
            <a:off x="755460" y="188640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p:cNvSpPr txBox="1"/>
          <p:nvPr/>
        </p:nvSpPr>
        <p:spPr>
          <a:xfrm>
            <a:off x="3381125" y="1886400"/>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p:cNvSpPr txBox="1"/>
          <p:nvPr/>
        </p:nvSpPr>
        <p:spPr>
          <a:xfrm>
            <a:off x="6012905" y="188640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p:cNvSpPr txBox="1"/>
          <p:nvPr/>
        </p:nvSpPr>
        <p:spPr>
          <a:xfrm>
            <a:off x="8579368" y="1886400"/>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
        <p:nvSpPr>
          <p:cNvPr id="304" name="cap"/>
          <p:cNvSpPr txBox="1"/>
          <p:nvPr/>
        </p:nvSpPr>
        <p:spPr>
          <a:xfrm>
            <a:off x="929973" y="5904000"/>
            <a:ext cx="10308054" cy="302400"/>
          </a:xfrm>
          <a:prstGeom prst="rect">
            <a:avLst/>
          </a:prstGeom>
          <a:noFill/>
        </p:spPr>
        <p:txBody>
          <a:bodyPr wrap="square" lIns="0" tIns="0" rIns="0" bIns="0" anchor="t">
            <a:noAutofit/>
          </a:bodyPr>
          <a:lstStyle/>
          <a:p>
            <a:pPr algn="ctr"/>
            <a:r>
              <a:rPr lang="ja-JP" altLang="en-US" sz="2200" b="1">
                <a:solidFill>
                  <a:srgbClr val="262626"/>
                </a:solidFill>
                <a:latin typeface="Meiryo"/>
                <a:ea typeface="Meiryo"/>
                <a:cs typeface="Meiryo"/>
              </a:rPr>
              <a:t>指尖脈波を切痕の位置で</a:t>
            </a:r>
            <a:r>
              <a:rPr lang="en-US" altLang="ja-JP" sz="2200" b="1" dirty="0">
                <a:solidFill>
                  <a:srgbClr val="262626"/>
                </a:solidFill>
                <a:latin typeface="Meiryo"/>
                <a:ea typeface="Meiryo"/>
                <a:cs typeface="Meiryo"/>
              </a:rPr>
              <a:t>class </a:t>
            </a:r>
            <a:r>
              <a:rPr lang="ja-JP" altLang="en-US" sz="2200" b="1">
                <a:solidFill>
                  <a:srgbClr val="262626"/>
                </a:solidFill>
                <a:latin typeface="Meiryo"/>
                <a:ea typeface="Meiryo"/>
                <a:cs typeface="Meiryo"/>
              </a:rPr>
              <a:t>分類　年齢や冠動脈疾患との関連を調べた</a:t>
            </a:r>
            <a:endParaRPr lang="ja-JP" altLang="en-US" sz="2200" b="1" dirty="0">
              <a:solidFill>
                <a:srgbClr val="262626"/>
              </a:solidFill>
              <a:latin typeface="Meiryo"/>
              <a:ea typeface="Meiryo"/>
              <a:cs typeface="Meiryo"/>
            </a:endParaRPr>
          </a:p>
        </p:txBody>
      </p:sp>
      <p:sp>
        <p:nvSpPr>
          <p:cNvPr id="30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14/71</a:t>
            </a:r>
          </a:p>
        </p:txBody>
      </p:sp>
    </p:spTree>
    <p:extLst>
      <p:ext uri="{BB962C8B-B14F-4D97-AF65-F5344CB8AC3E}">
        <p14:creationId xmlns:p14="http://schemas.microsoft.com/office/powerpoint/2010/main" val="1765431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30B3-0213-CD15-2271-9D28D1145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DB7B5-0971-C91D-B79B-B3B77CD76673}"/>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5C0ACB27-B69D-B9B2-DB81-8531DE017F3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FC547875-78D1-A2D2-4C07-144DD4697DD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6D9E636-69FF-F206-BC02-D24D3AB3B9B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2891074C-1B7C-667C-2B02-AD3856DB771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7F9B3F51-14B6-D571-3688-70FC3099113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0" name="c1">
            <a:extLst>
              <a:ext uri="{FF2B5EF4-FFF2-40B4-BE49-F238E27FC236}">
                <a16:creationId xmlns:a16="http://schemas.microsoft.com/office/drawing/2014/main" id="{D4DBE8DF-21F8-4CF5-24FE-DBC30F3F1213}"/>
              </a:ext>
            </a:extLst>
          </p:cNvPr>
          <p:cNvSpPr txBox="1"/>
          <p:nvPr/>
        </p:nvSpPr>
        <p:spPr>
          <a:xfrm>
            <a:off x="239612" y="2446996"/>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a:extLst>
              <a:ext uri="{FF2B5EF4-FFF2-40B4-BE49-F238E27FC236}">
                <a16:creationId xmlns:a16="http://schemas.microsoft.com/office/drawing/2014/main" id="{A982EAFB-5973-9850-9BC7-220A7C8199AE}"/>
              </a:ext>
            </a:extLst>
          </p:cNvPr>
          <p:cNvSpPr txBox="1"/>
          <p:nvPr/>
        </p:nvSpPr>
        <p:spPr>
          <a:xfrm>
            <a:off x="3353587" y="2446996"/>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a:extLst>
              <a:ext uri="{FF2B5EF4-FFF2-40B4-BE49-F238E27FC236}">
                <a16:creationId xmlns:a16="http://schemas.microsoft.com/office/drawing/2014/main" id="{FFB383E3-636C-0892-2784-B994B87D7A26}"/>
              </a:ext>
            </a:extLst>
          </p:cNvPr>
          <p:cNvSpPr txBox="1"/>
          <p:nvPr/>
        </p:nvSpPr>
        <p:spPr>
          <a:xfrm>
            <a:off x="6317553" y="2446996"/>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a:extLst>
              <a:ext uri="{FF2B5EF4-FFF2-40B4-BE49-F238E27FC236}">
                <a16:creationId xmlns:a16="http://schemas.microsoft.com/office/drawing/2014/main" id="{82DF3CD3-71A8-E76E-FBAD-BB4AE090C956}"/>
              </a:ext>
            </a:extLst>
          </p:cNvPr>
          <p:cNvSpPr txBox="1"/>
          <p:nvPr/>
        </p:nvSpPr>
        <p:spPr>
          <a:xfrm>
            <a:off x="9340689" y="2446996"/>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pic>
        <p:nvPicPr>
          <p:cNvPr id="3" name="図 2">
            <a:extLst>
              <a:ext uri="{FF2B5EF4-FFF2-40B4-BE49-F238E27FC236}">
                <a16:creationId xmlns:a16="http://schemas.microsoft.com/office/drawing/2014/main" id="{66299B97-0090-66DC-34D9-27419A7550FD}"/>
              </a:ext>
            </a:extLst>
          </p:cNvPr>
          <p:cNvPicPr>
            <a:picLocks noChangeAspect="1"/>
          </p:cNvPicPr>
          <p:nvPr/>
        </p:nvPicPr>
        <p:blipFill rotWithShape="1">
          <a:blip r:embed="rId3"/>
          <a:srcRect t="27054" r="24870" b="48502"/>
          <a:stretch>
            <a:fillRect/>
          </a:stretch>
        </p:blipFill>
        <p:spPr>
          <a:xfrm>
            <a:off x="3159318" y="3780847"/>
            <a:ext cx="2862470" cy="1325563"/>
          </a:xfrm>
          <a:prstGeom prst="rect">
            <a:avLst/>
          </a:prstGeom>
        </p:spPr>
      </p:pic>
      <p:pic>
        <p:nvPicPr>
          <p:cNvPr id="4" name="図 3">
            <a:extLst>
              <a:ext uri="{FF2B5EF4-FFF2-40B4-BE49-F238E27FC236}">
                <a16:creationId xmlns:a16="http://schemas.microsoft.com/office/drawing/2014/main" id="{A5114804-75F7-28A7-0A6B-F433C0D762F2}"/>
              </a:ext>
            </a:extLst>
          </p:cNvPr>
          <p:cNvPicPr>
            <a:picLocks noChangeAspect="1"/>
          </p:cNvPicPr>
          <p:nvPr/>
        </p:nvPicPr>
        <p:blipFill>
          <a:blip r:embed="rId3"/>
          <a:srcRect l="3013" t="2610" r="21857" b="72946"/>
          <a:stretch>
            <a:fillRect/>
          </a:stretch>
        </p:blipFill>
        <p:spPr>
          <a:xfrm>
            <a:off x="148424" y="3780847"/>
            <a:ext cx="2862470" cy="1325563"/>
          </a:xfrm>
          <a:prstGeom prst="rect">
            <a:avLst/>
          </a:prstGeom>
        </p:spPr>
      </p:pic>
      <p:pic>
        <p:nvPicPr>
          <p:cNvPr id="5" name="図 4">
            <a:extLst>
              <a:ext uri="{FF2B5EF4-FFF2-40B4-BE49-F238E27FC236}">
                <a16:creationId xmlns:a16="http://schemas.microsoft.com/office/drawing/2014/main" id="{0E4B2E59-1360-99D4-DD5D-2170A0FDA1FA}"/>
              </a:ext>
            </a:extLst>
          </p:cNvPr>
          <p:cNvPicPr>
            <a:picLocks noChangeAspect="1"/>
          </p:cNvPicPr>
          <p:nvPr/>
        </p:nvPicPr>
        <p:blipFill>
          <a:blip r:embed="rId3"/>
          <a:srcRect l="3013" t="51498" r="21857" b="24140"/>
          <a:stretch>
            <a:fillRect/>
          </a:stretch>
        </p:blipFill>
        <p:spPr>
          <a:xfrm>
            <a:off x="6170212" y="3780847"/>
            <a:ext cx="2862470" cy="1321124"/>
          </a:xfrm>
          <a:prstGeom prst="rect">
            <a:avLst/>
          </a:prstGeom>
        </p:spPr>
      </p:pic>
      <p:pic>
        <p:nvPicPr>
          <p:cNvPr id="6" name="図 5">
            <a:extLst>
              <a:ext uri="{FF2B5EF4-FFF2-40B4-BE49-F238E27FC236}">
                <a16:creationId xmlns:a16="http://schemas.microsoft.com/office/drawing/2014/main" id="{54828E6E-F6C7-2302-BBD2-9A9F69237FF9}"/>
              </a:ext>
            </a:extLst>
          </p:cNvPr>
          <p:cNvPicPr>
            <a:picLocks noChangeAspect="1"/>
          </p:cNvPicPr>
          <p:nvPr/>
        </p:nvPicPr>
        <p:blipFill>
          <a:blip r:embed="rId3"/>
          <a:srcRect l="3013" t="75860" r="21857"/>
          <a:stretch>
            <a:fillRect/>
          </a:stretch>
        </p:blipFill>
        <p:spPr>
          <a:xfrm>
            <a:off x="9181106" y="3792884"/>
            <a:ext cx="2862470" cy="1309087"/>
          </a:xfrm>
          <a:prstGeom prst="rect">
            <a:avLst/>
          </a:prstGeom>
        </p:spPr>
      </p:pic>
      <p:sp>
        <p:nvSpPr>
          <p:cNvPr id="30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14/71</a:t>
            </a:r>
          </a:p>
        </p:txBody>
      </p:sp>
    </p:spTree>
    <p:extLst>
      <p:ext uri="{BB962C8B-B14F-4D97-AF65-F5344CB8AC3E}">
        <p14:creationId xmlns:p14="http://schemas.microsoft.com/office/powerpoint/2010/main" val="1642908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BDBF7-ADC4-A5AA-A03C-7F9C1F764F15}"/>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C53FAAD1-E8F8-0F7C-AC7B-929B3E0DD4D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B7D39D22-0973-23D9-5AC9-28DC1AD506DF}"/>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6D74B60B-1522-5A22-9D8B-83BAA12F749D}"/>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15/71</a:t>
            </a:r>
          </a:p>
        </p:txBody>
      </p:sp>
    </p:spTree>
    <p:extLst>
      <p:ext uri="{BB962C8B-B14F-4D97-AF65-F5344CB8AC3E}">
        <p14:creationId xmlns:p14="http://schemas.microsoft.com/office/powerpoint/2010/main" val="745935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2FF0DBA-ECBC-8830-B575-566CBAFAD46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CF99ACD6-6813-4DAD-7730-8BB6669A38B2}"/>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8B14757C-13FD-7C8F-FBE7-0C476725B37F}"/>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7" name="callout">
            <a:extLst>
              <a:ext uri="{FF2B5EF4-FFF2-40B4-BE49-F238E27FC236}">
                <a16:creationId xmlns:a16="http://schemas.microsoft.com/office/drawing/2014/main" id="{A48A420C-F01C-9675-D690-5B862DADF8D5}"/>
              </a:ext>
            </a:extLst>
          </p:cNvPr>
          <p:cNvSpPr/>
          <p:nvPr/>
        </p:nvSpPr>
        <p:spPr>
          <a:xfrm>
            <a:off x="536448" y="2538644"/>
            <a:ext cx="11119103" cy="1780711"/>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chemeClr val="tx1"/>
                </a:solidFill>
              </a:rPr>
              <a:t>高齢者の方が切痕が平滑になりやすい。</a:t>
            </a:r>
            <a:endParaRPr lang="en-US" altLang="ja-JP" sz="2800" b="1" dirty="0">
              <a:solidFill>
                <a:schemeClr val="tx1"/>
              </a:solidFill>
            </a:endParaRPr>
          </a:p>
          <a:p>
            <a:pPr algn="ctr">
              <a:lnSpc>
                <a:spcPct val="150000"/>
              </a:lnSpc>
            </a:pPr>
            <a:r>
              <a:rPr lang="ja-JP" altLang="en-US" sz="2800" b="1">
                <a:solidFill>
                  <a:schemeClr val="tx1"/>
                </a:solidFill>
              </a:rPr>
              <a:t>切痕が平滑である方が冠動脈疾患を持つ人の割合が増える。</a:t>
            </a:r>
            <a:endParaRPr sz="2200" b="1" dirty="0">
              <a:solidFill>
                <a:schemeClr val="tx1"/>
              </a:solidFill>
              <a:latin typeface="Meiryo"/>
              <a:ea typeface="Meiryo"/>
              <a:cs typeface="Meiryo"/>
            </a:endParaRPr>
          </a:p>
        </p:txBody>
      </p:sp>
      <p:sp>
        <p:nvSpPr>
          <p:cNvPr id="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16/71</a:t>
            </a:r>
          </a:p>
        </p:txBody>
      </p:sp>
    </p:spTree>
    <p:extLst>
      <p:ext uri="{BB962C8B-B14F-4D97-AF65-F5344CB8AC3E}">
        <p14:creationId xmlns:p14="http://schemas.microsoft.com/office/powerpoint/2010/main" val="2595402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1733-745F-0EFD-5630-D33A63647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8BA87-019C-0EEE-D56B-C1A2D554C2DE}"/>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58B9F97-3077-8EBB-5EEE-0A55DBA0AF9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0F6E5B49-B78E-51F0-52DB-22FDC48255B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D4DE397A-B087-3B19-7E27-47311D2D718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CBE4A483-A7B7-8535-E3B5-96609FFDCD01}"/>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FFC52689-4F8F-542B-D8DA-CF3BB5F375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 name="lead">
            <a:extLst>
              <a:ext uri="{FF2B5EF4-FFF2-40B4-BE49-F238E27FC236}">
                <a16:creationId xmlns:a16="http://schemas.microsoft.com/office/drawing/2014/main" id="{526F467B-1137-959F-016C-95A0046B7EEB}"/>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53CD82EB-1A70-2A49-0DBE-7B4C5B2BFBB6}"/>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0507FA75-00C2-B002-C40E-5D97843DE899}"/>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044B09EA-7AFA-3517-723F-914A205FB697}"/>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DEBDC9D6-71D4-256E-A441-19D7FAC18EB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17/71</a:t>
            </a:r>
          </a:p>
        </p:txBody>
      </p:sp>
    </p:spTree>
    <p:extLst>
      <p:ext uri="{BB962C8B-B14F-4D97-AF65-F5344CB8AC3E}">
        <p14:creationId xmlns:p14="http://schemas.microsoft.com/office/powerpoint/2010/main" val="3043704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EF48-854D-4EF6-C11B-6F29BB873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0BB31-5495-A77C-D834-615AF52AB217}"/>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639B582-06D1-DFEC-B7DD-7B27D05A009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9A81368-A28A-7342-364F-C1780B8D7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5292455A-92CA-67BF-D4ED-968B236466A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EE37C782-574B-FAFD-5DE4-4F964522B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DC3326B9-8F76-788E-AF3E-C5A98E4F4A7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 name="lead">
            <a:extLst>
              <a:ext uri="{FF2B5EF4-FFF2-40B4-BE49-F238E27FC236}">
                <a16:creationId xmlns:a16="http://schemas.microsoft.com/office/drawing/2014/main" id="{F6B2A981-DF9E-8B8B-4366-BACBF5734F93}"/>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C0E7C231-1C03-4C2A-990C-4FBE42DCA163}"/>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C156D6C8-B1C8-2860-7AB4-DA1E14CEC910}"/>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28C1DA1A-5C57-1005-4BC2-631CE8F28061}"/>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3" name="callout">
            <a:extLst>
              <a:ext uri="{FF2B5EF4-FFF2-40B4-BE49-F238E27FC236}">
                <a16:creationId xmlns:a16="http://schemas.microsoft.com/office/drawing/2014/main" id="{25B5E446-BAFA-EC66-9AC7-D735C6BF6339}"/>
              </a:ext>
            </a:extLst>
          </p:cNvPr>
          <p:cNvSpPr/>
          <p:nvPr/>
        </p:nvSpPr>
        <p:spPr>
          <a:xfrm>
            <a:off x="548639" y="5488710"/>
            <a:ext cx="11113007" cy="65785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PPG</a:t>
            </a:r>
            <a:r>
              <a:rPr lang="ja-JP" altLang="en-US" sz="2600" b="1">
                <a:solidFill>
                  <a:srgbClr val="262626"/>
                </a:solidFill>
                <a:latin typeface="Meiryo"/>
                <a:ea typeface="Meiryo"/>
                <a:cs typeface="Meiryo"/>
              </a:rPr>
              <a:t>波形を機械学習し、切痕の平滑さと各種疾患の関連を調べた</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B332B328-27A5-105B-7A2F-CACD865F3B5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17/71</a:t>
            </a:r>
          </a:p>
        </p:txBody>
      </p:sp>
    </p:spTree>
    <p:extLst>
      <p:ext uri="{BB962C8B-B14F-4D97-AF65-F5344CB8AC3E}">
        <p14:creationId xmlns:p14="http://schemas.microsoft.com/office/powerpoint/2010/main" val="2391532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83A-C2A9-F647-ADBE-D5CB6D4F8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C163-F393-8064-6BAA-D9F5CFF6DA31}"/>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59F57616-1BE7-4156-91C0-DC582D1AE70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7E160212-A50C-ABF3-1B9E-694C7EEFAA7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2F101920-C64C-DEC2-9F51-9DA11464CB5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8E7FD405-5255-6666-D847-F08EFC902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C86A3FE9-B677-40CE-1AFB-5B56F269C89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1" name="図 10">
            <a:extLst>
              <a:ext uri="{FF2B5EF4-FFF2-40B4-BE49-F238E27FC236}">
                <a16:creationId xmlns:a16="http://schemas.microsoft.com/office/drawing/2014/main" id="{EE5BBC1A-3689-6085-055C-20750B8DA905}"/>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DAE11561-6EFA-9874-E89A-8BBB010948E0}"/>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17/71</a:t>
            </a:r>
          </a:p>
        </p:txBody>
      </p:sp>
    </p:spTree>
    <p:extLst>
      <p:ext uri="{BB962C8B-B14F-4D97-AF65-F5344CB8AC3E}">
        <p14:creationId xmlns:p14="http://schemas.microsoft.com/office/powerpoint/2010/main" val="1615702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ACB8-DCD9-F0FE-6F6A-9CF362E72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135C-9592-0C51-C9AA-F33BA50304ED}"/>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050492A9-66EC-FA98-B419-C261262F827E}"/>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1A1AE54-3A35-6730-B959-E69049BC0A6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0BFF12C2-90BD-E92E-0118-D412BA221E7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3301B627-1673-7484-3485-877B8873E62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971DCEDA-7638-2156-8F9F-6FD6C8DBE5F3}"/>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1" name="図 10">
            <a:extLst>
              <a:ext uri="{FF2B5EF4-FFF2-40B4-BE49-F238E27FC236}">
                <a16:creationId xmlns:a16="http://schemas.microsoft.com/office/drawing/2014/main" id="{5AE9E7C1-EAA3-62C2-8F3E-50B3F0EFAC47}"/>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7BA7E091-456D-3E23-4930-6776B6F92097}"/>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4" name="callout">
            <a:extLst>
              <a:ext uri="{FF2B5EF4-FFF2-40B4-BE49-F238E27FC236}">
                <a16:creationId xmlns:a16="http://schemas.microsoft.com/office/drawing/2014/main" id="{9B6B7DC0-E5C7-B684-E2DA-0B0CBDCB724B}"/>
              </a:ext>
            </a:extLst>
          </p:cNvPr>
          <p:cNvSpPr/>
          <p:nvPr/>
        </p:nvSpPr>
        <p:spPr>
          <a:xfrm>
            <a:off x="1518506" y="3076168"/>
            <a:ext cx="9154988" cy="183101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切痕が平滑であるほど、</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高血圧・冠動脈疾患・心不全・死亡 が増加する。</a:t>
            </a:r>
          </a:p>
        </p:txBody>
      </p:sp>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17/71</a:t>
            </a:r>
          </a:p>
        </p:txBody>
      </p:sp>
    </p:spTree>
    <p:extLst>
      <p:ext uri="{BB962C8B-B14F-4D97-AF65-F5344CB8AC3E}">
        <p14:creationId xmlns:p14="http://schemas.microsoft.com/office/powerpoint/2010/main" val="2871937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1_stiffness_series.png"/>
          <p:cNvPicPr>
            <a:picLocks noChangeAspect="1"/>
          </p:cNvPicPr>
          <p:nvPr/>
        </p:nvPicPr>
        <p:blipFill>
          <a:blip r:embed="rId3"/>
          <a:stretch>
            <a:fillRect/>
          </a:stretch>
        </p:blipFill>
        <p:spPr>
          <a:xfrm>
            <a:off x="1564000" y="1597656"/>
            <a:ext cx="9040000" cy="4320000"/>
          </a:xfrm>
          <a:prstGeom prst="rect">
            <a:avLst/>
          </a:prstGeom>
        </p:spPr>
      </p:pic>
      <p:sp>
        <p:nvSpPr>
          <p:cNvPr id="270" name="t_g"/>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18/71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5C80-85A1-E59A-EC49-BD19C22E1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D3EAE-E61A-69EB-5F86-CDAF8BC3B97F}"/>
              </a:ext>
            </a:extLst>
          </p:cNvPr>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a:extLst>
              <a:ext uri="{FF2B5EF4-FFF2-40B4-BE49-F238E27FC236}">
                <a16:creationId xmlns:a16="http://schemas.microsoft.com/office/drawing/2014/main" id="{827E9629-B337-1E99-36C5-1F4AA5193957}"/>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2C1D0BED-F892-AF73-6B88-1E38B9DE7A82}"/>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71795643-C707-315F-6EF9-6B6628DD473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77CE50C-7179-C763-5B90-9459E154E63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AE672F60-FAEC-3346-FF59-1B6F1C83939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1_stiffness_series.png">
            <a:extLst>
              <a:ext uri="{FF2B5EF4-FFF2-40B4-BE49-F238E27FC236}">
                <a16:creationId xmlns:a16="http://schemas.microsoft.com/office/drawing/2014/main" id="{B2A0FFB8-9E06-274E-CB88-667C604AA887}"/>
              </a:ext>
            </a:extLst>
          </p:cNvPr>
          <p:cNvPicPr>
            <a:picLocks noChangeAspect="1"/>
          </p:cNvPicPr>
          <p:nvPr/>
        </p:nvPicPr>
        <p:blipFill>
          <a:blip r:embed="rId3"/>
          <a:stretch>
            <a:fillRect/>
          </a:stretch>
        </p:blipFill>
        <p:spPr>
          <a:xfrm>
            <a:off x="1564000" y="1597656"/>
            <a:ext cx="9040000" cy="4320000"/>
          </a:xfrm>
          <a:prstGeom prst="rect">
            <a:avLst/>
          </a:prstGeom>
        </p:spPr>
      </p:pic>
      <p:sp>
        <p:nvSpPr>
          <p:cNvPr id="270" name="t_g">
            <a:extLst>
              <a:ext uri="{FF2B5EF4-FFF2-40B4-BE49-F238E27FC236}">
                <a16:creationId xmlns:a16="http://schemas.microsoft.com/office/drawing/2014/main" id="{E63171B8-4D19-7F60-33E4-5CCE68416AC4}"/>
              </a:ext>
            </a:extLst>
          </p:cNvPr>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a:extLst>
              <a:ext uri="{FF2B5EF4-FFF2-40B4-BE49-F238E27FC236}">
                <a16:creationId xmlns:a16="http://schemas.microsoft.com/office/drawing/2014/main" id="{A5A14D11-A6D9-AD7A-CB87-BC4B86D571A9}"/>
              </a:ext>
            </a:extLst>
          </p:cNvPr>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a:extLst>
              <a:ext uri="{FF2B5EF4-FFF2-40B4-BE49-F238E27FC236}">
                <a16:creationId xmlns:a16="http://schemas.microsoft.com/office/drawing/2014/main" id="{5590840A-784F-7DD5-1871-AED26F4D85A2}"/>
              </a:ext>
            </a:extLst>
          </p:cNvP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a:extLst>
              <a:ext uri="{FF2B5EF4-FFF2-40B4-BE49-F238E27FC236}">
                <a16:creationId xmlns:a16="http://schemas.microsoft.com/office/drawing/2014/main" id="{1C740D0E-37D3-CEA6-5822-56CD14E4ECAC}"/>
              </a:ext>
            </a:extLst>
          </p:cNvPr>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4" name="callout">
            <a:extLst>
              <a:ext uri="{FF2B5EF4-FFF2-40B4-BE49-F238E27FC236}">
                <a16:creationId xmlns:a16="http://schemas.microsoft.com/office/drawing/2014/main" id="{27CEA4E8-9A6A-58AB-9954-21E599EFD001}"/>
              </a:ext>
            </a:extLst>
          </p:cNvPr>
          <p:cNvSpPr/>
          <p:nvPr/>
        </p:nvSpPr>
        <p:spPr>
          <a:xfrm>
            <a:off x="916600" y="2919225"/>
            <a:ext cx="10515600" cy="187560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切痕の消失は</a:t>
            </a:r>
            <a:r>
              <a:rPr lang="ja-JP" altLang="en-US" sz="4000" b="1">
                <a:solidFill>
                  <a:srgbClr val="262626"/>
                </a:solidFill>
                <a:latin typeface="Meiryo"/>
                <a:ea typeface="Meiryo"/>
                <a:cs typeface="Meiryo"/>
              </a:rPr>
              <a:t>動脈硬化</a:t>
            </a:r>
            <a:r>
              <a:rPr lang="ja-JP" altLang="en-US" sz="2800" b="1">
                <a:solidFill>
                  <a:srgbClr val="262626"/>
                </a:solidFill>
                <a:latin typeface="Meiryo"/>
                <a:ea typeface="Meiryo"/>
                <a:cs typeface="Meiryo"/>
              </a:rPr>
              <a:t>の進行具合と関連する。</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消失具合が強いほど動脈硬化性疾患と関連する。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18/71</a:t>
            </a:r>
          </a:p>
        </p:txBody>
      </p:sp>
    </p:spTree>
    <p:extLst>
      <p:ext uri="{BB962C8B-B14F-4D97-AF65-F5344CB8AC3E}">
        <p14:creationId xmlns:p14="http://schemas.microsoft.com/office/powerpoint/2010/main" val="270521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BF9000"/>
                </a:solidFill>
                <a:latin typeface="Meiryo"/>
                <a:ea typeface="Meiryo"/>
                <a:cs typeface="Meiryo"/>
              </a:rPr>
              <a:t>　2.2 </a:t>
            </a:r>
            <a:r>
              <a:rPr sz="2700" b="1">
                <a:solidFill>
                  <a:srgbClr val="262626"/>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2.2 </a:t>
            </a:r>
            <a:r>
              <a:rPr sz="3000" b="1">
                <a:solidFill>
                  <a:srgbClr val="262626"/>
                </a:solidFill>
                <a:latin typeface="Meiryo"/>
                <a:ea typeface="Meiryo"/>
                <a:cs typeface="Meiryo"/>
              </a:rPr>
              <a:t>循環の変化</a:t>
            </a:r>
          </a:p>
          <a:p>
            <a:pPr>
              <a:lnSpc>
                <a:spcPct val="142000"/>
              </a:lnSpc>
            </a:pPr>
            <a:r>
              <a:rPr sz="2700" b="1">
                <a:solidFill>
                  <a:srgbClr val="BF9000"/>
                </a:solidFill>
                <a:latin typeface="Meiryo"/>
                <a:ea typeface="Meiryo"/>
                <a:cs typeface="Meiryo"/>
              </a:rPr>
              <a:t>2.2.1 </a:t>
            </a:r>
            <a:r>
              <a:rPr sz="2700" b="0">
                <a:solidFill>
                  <a:srgbClr val="262626"/>
                </a:solidFill>
                <a:latin typeface="Meiryo"/>
                <a:ea typeface="Meiryo"/>
                <a:cs typeface="Meiryo"/>
              </a:rPr>
              <a:t>前負荷</a:t>
            </a:r>
          </a:p>
          <a:p>
            <a:pPr>
              <a:lnSpc>
                <a:spcPct val="142000"/>
              </a:lnSpc>
            </a:pPr>
            <a:r>
              <a:rPr sz="2700" b="1">
                <a:solidFill>
                  <a:srgbClr val="BF9000"/>
                </a:solidFill>
                <a:latin typeface="Meiryo"/>
                <a:ea typeface="Meiryo"/>
                <a:cs typeface="Meiryo"/>
              </a:rPr>
              <a:t>2.2.2 </a:t>
            </a:r>
            <a:r>
              <a:rPr sz="2700" b="0">
                <a:solidFill>
                  <a:srgbClr val="262626"/>
                </a:solidFill>
                <a:latin typeface="Meiryo"/>
                <a:ea typeface="Meiryo"/>
                <a:cs typeface="Meiryo"/>
              </a:rPr>
              <a:t>後負荷：末梢</a:t>
            </a:r>
          </a:p>
          <a:p>
            <a:pPr>
              <a:lnSpc>
                <a:spcPct val="142000"/>
              </a:lnSpc>
            </a:pPr>
            <a:r>
              <a:rPr sz="2700" b="1">
                <a:solidFill>
                  <a:srgbClr val="BF9000"/>
                </a:solidFill>
                <a:latin typeface="Meiryo"/>
                <a:ea typeface="Meiryo"/>
                <a:cs typeface="Meiryo"/>
              </a:rPr>
              <a:t>2.2.3 </a:t>
            </a:r>
            <a:r>
              <a:rPr sz="2700" b="0">
                <a:solidFill>
                  <a:srgbClr val="262626"/>
                </a:solidFill>
                <a:latin typeface="Meiryo"/>
                <a:ea typeface="Meiryo"/>
                <a:cs typeface="Meiryo"/>
              </a:rPr>
              <a:t>後負荷の違い</a:t>
            </a:r>
          </a:p>
          <a:p>
            <a:pPr>
              <a:lnSpc>
                <a:spcPct val="142000"/>
              </a:lnSpc>
            </a:pPr>
            <a:r>
              <a:rPr sz="2700" b="1">
                <a:solidFill>
                  <a:srgbClr val="BF9000"/>
                </a:solidFill>
                <a:latin typeface="Meiryo"/>
                <a:ea typeface="Meiryo"/>
                <a:cs typeface="Meiryo"/>
              </a:rPr>
              <a:t>2.2.4 </a:t>
            </a:r>
            <a:r>
              <a:rPr sz="2700" b="0">
                <a:solidFill>
                  <a:srgbClr val="262626"/>
                </a:solidFill>
                <a:latin typeface="Meiryo"/>
                <a:ea typeface="Meiryo"/>
                <a:cs typeface="Meiryo"/>
              </a:rPr>
              <a:t>心収縮力</a:t>
            </a:r>
          </a:p>
          <a:p>
            <a:pPr>
              <a:lnSpc>
                <a:spcPct val="142000"/>
              </a:lnSpc>
            </a:pPr>
            <a:r>
              <a:rPr sz="2700" b="1">
                <a:solidFill>
                  <a:srgbClr val="BF9000"/>
                </a:solidFill>
                <a:latin typeface="Meiryo"/>
                <a:ea typeface="Meiryo"/>
                <a:cs typeface="Meiryo"/>
              </a:rPr>
              <a:t>2.2.5 </a:t>
            </a:r>
            <a:r>
              <a:rPr sz="2700" b="0">
                <a:solidFill>
                  <a:srgbClr val="262626"/>
                </a:solidFill>
                <a:latin typeface="Meiryo"/>
                <a:ea typeface="Meiryo"/>
                <a:cs typeface="Meiryo"/>
              </a:rPr>
              <a:t>心拍数</a:t>
            </a:r>
          </a:p>
          <a:p>
            <a:pPr>
              <a:lnSpc>
                <a:spcPct val="142000"/>
              </a:lnSpc>
            </a:pPr>
            <a:r>
              <a:rPr sz="2700" b="1">
                <a:solidFill>
                  <a:srgbClr val="BF9000"/>
                </a:solidFill>
                <a:latin typeface="Meiryo"/>
                <a:ea typeface="Meiryo"/>
                <a:cs typeface="Meiryo"/>
              </a:rPr>
              <a:t>2.2.6 </a:t>
            </a:r>
            <a:r>
              <a:rPr sz="2700" b="0">
                <a:solidFill>
                  <a:srgbClr val="262626"/>
                </a:solidFill>
                <a:latin typeface="Meiryo"/>
                <a:ea typeface="Meiryo"/>
                <a:cs typeface="Meiryo"/>
              </a:rPr>
              <a:t>波形変化まとめ</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19/71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BC60-406C-AB35-6E25-6C26C37A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AE8E6-AFF7-0B1A-53C3-83B8DB469A70}"/>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26963288-D6CC-5161-0FD1-8819F2D9083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82384CD-2B24-41DF-9BE1-EF322BE7004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35840E4-246E-6456-1486-0D3C7096DEE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93AE1F30-16AE-6EEF-D45F-9B4E35B0C99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75DFDAB-E462-B320-678B-2D7F9FEFD04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4" name="図 3">
            <a:extLst>
              <a:ext uri="{FF2B5EF4-FFF2-40B4-BE49-F238E27FC236}">
                <a16:creationId xmlns:a16="http://schemas.microsoft.com/office/drawing/2014/main" id="{1DF4DAE4-C276-A673-424B-A341DE4BDD37}"/>
              </a:ext>
            </a:extLst>
          </p:cNvPr>
          <p:cNvPicPr>
            <a:picLocks noChangeAspect="1"/>
          </p:cNvPicPr>
          <p:nvPr/>
        </p:nvPicPr>
        <p:blipFill>
          <a:blip r:embed="rId3"/>
          <a:stretch>
            <a:fillRect/>
          </a:stretch>
        </p:blipFill>
        <p:spPr>
          <a:xfrm>
            <a:off x="313380" y="1662997"/>
            <a:ext cx="3940602" cy="3012788"/>
          </a:xfrm>
          <a:prstGeom prst="rect">
            <a:avLst/>
          </a:prstGeom>
        </p:spPr>
      </p:pic>
      <p:sp>
        <p:nvSpPr>
          <p:cNvPr id="6" name="テキスト ボックス 5">
            <a:extLst>
              <a:ext uri="{FF2B5EF4-FFF2-40B4-BE49-F238E27FC236}">
                <a16:creationId xmlns:a16="http://schemas.microsoft.com/office/drawing/2014/main" id="{E4F3E7F8-03AC-648B-BB45-D2A2EE8702AC}"/>
              </a:ext>
            </a:extLst>
          </p:cNvPr>
          <p:cNvSpPr txBox="1"/>
          <p:nvPr/>
        </p:nvSpPr>
        <p:spPr>
          <a:xfrm>
            <a:off x="338270" y="4854138"/>
            <a:ext cx="11515460" cy="1573508"/>
          </a:xfrm>
          <a:prstGeom prst="rect">
            <a:avLst/>
          </a:prstGeom>
          <a:noFill/>
        </p:spPr>
        <p:txBody>
          <a:bodyPr wrap="none" rtlCol="0">
            <a:spAutoFit/>
          </a:bodyPr>
          <a:lstStyle/>
          <a:p>
            <a:pPr>
              <a:lnSpc>
                <a:spcPct val="150000"/>
              </a:lnSpc>
            </a:pPr>
            <a:r>
              <a:rPr lang="ja-JP" altLang="en-US" sz="2200"/>
              <a:t>自発呼吸下の健常ボランティア</a:t>
            </a:r>
            <a:r>
              <a:rPr lang="en-US" altLang="ja-JP" sz="2200" dirty="0"/>
              <a:t>11</a:t>
            </a:r>
            <a:r>
              <a:rPr lang="ja-JP" altLang="en-US" sz="2200"/>
              <a:t>人に対し、下半身陰圧（</a:t>
            </a:r>
            <a:r>
              <a:rPr lang="en-US" altLang="ja-JP" sz="2200" dirty="0"/>
              <a:t>Lower body negative pressure</a:t>
            </a:r>
            <a:r>
              <a:rPr lang="ja-JP" altLang="en-US" sz="2200"/>
              <a:t>）で</a:t>
            </a:r>
            <a:endParaRPr lang="en-US" altLang="ja-JP" sz="2200" dirty="0"/>
          </a:p>
          <a:p>
            <a:pPr>
              <a:lnSpc>
                <a:spcPct val="150000"/>
              </a:lnSpc>
            </a:pPr>
            <a:r>
              <a:rPr lang="ja-JP" altLang="en-US" sz="2200"/>
              <a:t>循環血液量減少を再現し、</a:t>
            </a:r>
            <a:r>
              <a:rPr lang="en-US" altLang="ja-JP" sz="2200" dirty="0"/>
              <a:t>PPG</a:t>
            </a:r>
            <a:r>
              <a:rPr lang="ja-JP" altLang="en-US" sz="2200"/>
              <a:t>波形変化を観察した。</a:t>
            </a:r>
            <a:endParaRPr lang="en-US" altLang="ja-JP" sz="2200" dirty="0"/>
          </a:p>
          <a:p>
            <a:pPr>
              <a:lnSpc>
                <a:spcPct val="150000"/>
              </a:lnSpc>
            </a:pPr>
            <a:r>
              <a:rPr lang="ja-JP" altLang="en-US" sz="2200"/>
              <a:t>ピーク、高さ、幅、傾斜、面積の項目を検討。</a:t>
            </a:r>
            <a:endParaRPr lang="en-US" altLang="ja-JP" sz="2200" dirty="0"/>
          </a:p>
        </p:txBody>
      </p:sp>
      <p:pic>
        <p:nvPicPr>
          <p:cNvPr id="9" name="図 8">
            <a:extLst>
              <a:ext uri="{FF2B5EF4-FFF2-40B4-BE49-F238E27FC236}">
                <a16:creationId xmlns:a16="http://schemas.microsoft.com/office/drawing/2014/main" id="{8409AFFA-6FAF-66F4-C19C-48A04D529BCD}"/>
              </a:ext>
            </a:extLst>
          </p:cNvPr>
          <p:cNvPicPr>
            <a:picLocks noChangeAspect="1"/>
          </p:cNvPicPr>
          <p:nvPr/>
        </p:nvPicPr>
        <p:blipFill>
          <a:blip r:embed="rId4"/>
          <a:stretch>
            <a:fillRect/>
          </a:stretch>
        </p:blipFill>
        <p:spPr>
          <a:xfrm>
            <a:off x="4253982" y="1783314"/>
            <a:ext cx="7772400" cy="2365030"/>
          </a:xfrm>
          <a:prstGeom prst="rect">
            <a:avLst/>
          </a:prstGeom>
        </p:spPr>
      </p:pic>
      <p:sp>
        <p:nvSpPr>
          <p:cNvPr id="19" name="正方形/長方形 18">
            <a:extLst>
              <a:ext uri="{FF2B5EF4-FFF2-40B4-BE49-F238E27FC236}">
                <a16:creationId xmlns:a16="http://schemas.microsoft.com/office/drawing/2014/main" id="{BDBE8768-AAF0-0C39-482B-086EB88E8FD3}"/>
              </a:ext>
            </a:extLst>
          </p:cNvPr>
          <p:cNvSpPr/>
          <p:nvPr/>
        </p:nvSpPr>
        <p:spPr>
          <a:xfrm>
            <a:off x="6473371" y="1662997"/>
            <a:ext cx="406400" cy="354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20/71</a:t>
            </a:r>
          </a:p>
        </p:txBody>
      </p:sp>
    </p:spTree>
    <p:extLst>
      <p:ext uri="{BB962C8B-B14F-4D97-AF65-F5344CB8AC3E}">
        <p14:creationId xmlns:p14="http://schemas.microsoft.com/office/powerpoint/2010/main" val="1611663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30A6-2A5B-FC4D-3096-44A246F34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CFE63-08C5-9A4F-1932-A931EC6F9A8F}"/>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BB430936-BF81-CADE-E9A4-F650B73DB6A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4433F5A-EB95-5445-9E58-B41A531867D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6B151D6-0B8E-7C8B-7284-D5E615151D8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CAB8C086-C182-C46B-478C-16D81A95A8F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0FE34E6-4AB2-3F68-108C-4E3DBE5DB32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5" name="図 4">
            <a:extLst>
              <a:ext uri="{FF2B5EF4-FFF2-40B4-BE49-F238E27FC236}">
                <a16:creationId xmlns:a16="http://schemas.microsoft.com/office/drawing/2014/main" id="{CC5DFA9D-C3D7-B753-C02F-F00F3F11CAB2}"/>
              </a:ext>
            </a:extLst>
          </p:cNvPr>
          <p:cNvPicPr>
            <a:picLocks noChangeAspect="1"/>
          </p:cNvPicPr>
          <p:nvPr/>
        </p:nvPicPr>
        <p:blipFill>
          <a:blip r:embed="rId3"/>
          <a:srcRect l="1551" b="2497"/>
          <a:stretch>
            <a:fillRect/>
          </a:stretch>
        </p:blipFill>
        <p:spPr>
          <a:xfrm>
            <a:off x="295933" y="1690688"/>
            <a:ext cx="7258586" cy="4697309"/>
          </a:xfrm>
          <a:prstGeom prst="rect">
            <a:avLst/>
          </a:prstGeom>
        </p:spPr>
      </p:pic>
      <p:pic>
        <p:nvPicPr>
          <p:cNvPr id="3" name="Picture 8" descr="09b_preload_overlay.png">
            <a:extLst>
              <a:ext uri="{FF2B5EF4-FFF2-40B4-BE49-F238E27FC236}">
                <a16:creationId xmlns:a16="http://schemas.microsoft.com/office/drawing/2014/main" id="{68CE830F-1028-A26D-05F5-066DFC60D4C7}"/>
              </a:ext>
            </a:extLst>
          </p:cNvPr>
          <p:cNvPicPr>
            <a:picLocks noChangeAspect="1"/>
          </p:cNvPicPr>
          <p:nvPr/>
        </p:nvPicPr>
        <p:blipFill>
          <a:blip r:embed="rId4"/>
          <a:srcRect t="22374" r="28310"/>
          <a:stretch>
            <a:fillRect/>
          </a:stretch>
        </p:blipFill>
        <p:spPr>
          <a:xfrm>
            <a:off x="7199538" y="2753186"/>
            <a:ext cx="5391438" cy="2694404"/>
          </a:xfrm>
          <a:prstGeom prst="rect">
            <a:avLst/>
          </a:prstGeom>
        </p:spPr>
      </p:pic>
      <p:sp>
        <p:nvSpPr>
          <p:cNvPr id="7" name="lg1">
            <a:extLst>
              <a:ext uri="{FF2B5EF4-FFF2-40B4-BE49-F238E27FC236}">
                <a16:creationId xmlns:a16="http://schemas.microsoft.com/office/drawing/2014/main" id="{818DCE95-A46E-741B-4692-46C7F3A7DA8D}"/>
              </a:ext>
            </a:extLst>
          </p:cNvPr>
          <p:cNvSpPr txBox="1"/>
          <p:nvPr/>
        </p:nvSpPr>
        <p:spPr>
          <a:xfrm>
            <a:off x="10406786" y="2105925"/>
            <a:ext cx="1785214" cy="211487"/>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9" name="lg2">
            <a:extLst>
              <a:ext uri="{FF2B5EF4-FFF2-40B4-BE49-F238E27FC236}">
                <a16:creationId xmlns:a16="http://schemas.microsoft.com/office/drawing/2014/main" id="{9B60C0BF-4ADF-41B8-E481-AFF9CDF58DA0}"/>
              </a:ext>
            </a:extLst>
          </p:cNvPr>
          <p:cNvSpPr txBox="1"/>
          <p:nvPr/>
        </p:nvSpPr>
        <p:spPr>
          <a:xfrm>
            <a:off x="10406786" y="2567812"/>
            <a:ext cx="2604167" cy="614258"/>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（LBNP）</a:t>
            </a:r>
            <a:endParaRPr lang="ja-JP" altLang="en-US" sz="2200" b="1" dirty="0">
              <a:solidFill>
                <a:srgbClr val="E8853B"/>
              </a:solidFill>
              <a:latin typeface="Meiryo"/>
              <a:ea typeface="Meiryo"/>
              <a:cs typeface="Meiryo"/>
            </a:endParaRPr>
          </a:p>
        </p:txBody>
      </p:sp>
      <p:pic>
        <p:nvPicPr>
          <p:cNvPr id="18" name="Picture 8" descr="09b_preload_overlay.png">
            <a:extLst>
              <a:ext uri="{FF2B5EF4-FFF2-40B4-BE49-F238E27FC236}">
                <a16:creationId xmlns:a16="http://schemas.microsoft.com/office/drawing/2014/main" id="{EE87D3CC-BEB4-3BE0-2AD3-E01ABF10B594}"/>
              </a:ext>
            </a:extLst>
          </p:cNvPr>
          <p:cNvPicPr>
            <a:picLocks noChangeAspect="1"/>
          </p:cNvPicPr>
          <p:nvPr/>
        </p:nvPicPr>
        <p:blipFill>
          <a:blip r:embed="rId4"/>
          <a:srcRect l="56359" r="31022" b="72445"/>
          <a:stretch>
            <a:fillRect/>
          </a:stretch>
        </p:blipFill>
        <p:spPr>
          <a:xfrm>
            <a:off x="8897795" y="1792010"/>
            <a:ext cx="1543195" cy="1555256"/>
          </a:xfrm>
          <a:prstGeom prst="rect">
            <a:avLst/>
          </a:prstGeom>
        </p:spPr>
      </p:pic>
      <p:sp>
        <p:nvSpPr>
          <p:cNvPr id="4" name="callout">
            <a:extLst>
              <a:ext uri="{FF2B5EF4-FFF2-40B4-BE49-F238E27FC236}">
                <a16:creationId xmlns:a16="http://schemas.microsoft.com/office/drawing/2014/main" id="{1781950C-5AA7-ED02-0C1A-220540C87262}"/>
              </a:ext>
            </a:extLst>
          </p:cNvPr>
          <p:cNvSpPr/>
          <p:nvPr/>
        </p:nvSpPr>
        <p:spPr>
          <a:xfrm>
            <a:off x="7673745" y="5218959"/>
            <a:ext cx="4341548" cy="82801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262626"/>
                </a:solidFill>
                <a:latin typeface="Meiryo"/>
                <a:ea typeface="Meiryo"/>
                <a:cs typeface="Meiryo"/>
              </a:rPr>
              <a:t>高さ・面積・傾き・幅 が低下</a:t>
            </a:r>
            <a:endParaRPr lang="ja-JP" altLang="en-US" sz="2400" b="1" dirty="0">
              <a:solidFill>
                <a:srgbClr val="262626"/>
              </a:solidFill>
              <a:latin typeface="Meiryo"/>
              <a:ea typeface="Meiryo"/>
              <a:cs typeface="Meiryo"/>
            </a:endParaRPr>
          </a:p>
        </p:txBody>
      </p:sp>
      <p:sp>
        <p:nvSpPr>
          <p:cNvPr id="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20/71</a:t>
            </a:r>
          </a:p>
        </p:txBody>
      </p:sp>
    </p:spTree>
    <p:extLst>
      <p:ext uri="{BB962C8B-B14F-4D97-AF65-F5344CB8AC3E}">
        <p14:creationId xmlns:p14="http://schemas.microsoft.com/office/powerpoint/2010/main" val="2724995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3AE4-12D1-0CF5-A97A-DCFA55FB8828}"/>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7356DC41-20D4-C3A9-2FA2-9A406D2F7F39}"/>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CC555787-B884-6BA7-F3AA-5408C737906E}"/>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D636C95D-DB7D-0974-7314-B94868B13417}"/>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D3908B6-884F-A3C2-250E-298711EB5D90}"/>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C5DA544-8DA7-FFDE-3A04-58A3DB87D66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8610E29-7B73-C4FB-A7D5-A25DCFF9A99B}"/>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D81379C4-00EB-AD7E-D19C-D28035851DA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0_svr.png">
            <a:extLst>
              <a:ext uri="{FF2B5EF4-FFF2-40B4-BE49-F238E27FC236}">
                <a16:creationId xmlns:a16="http://schemas.microsoft.com/office/drawing/2014/main" id="{2BA34126-022A-3DDD-0F79-8FEE29376CAC}"/>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617D00CD-0BCE-FB86-85CC-8377B455D112}"/>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29C3172F-1A04-41E8-E03B-40077384F00A}"/>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FA304C0D-1D7A-8D2C-0191-02206FD3C5C7}"/>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94999B29-D753-BFA3-6518-C23DF092F91E}"/>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F4A0F85A-3673-3E17-A05A-E12333A95C66}"/>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E7DEAB5A-38B4-A4E8-7836-B7E43B0F40F4}"/>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9" name="テキスト ボックス 18">
            <a:extLst>
              <a:ext uri="{FF2B5EF4-FFF2-40B4-BE49-F238E27FC236}">
                <a16:creationId xmlns:a16="http://schemas.microsoft.com/office/drawing/2014/main" id="{D5A65DD6-5058-26B0-247A-72F1D01B1E45}"/>
              </a:ext>
            </a:extLst>
          </p:cNvPr>
          <p:cNvSpPr txBox="1"/>
          <p:nvPr/>
        </p:nvSpPr>
        <p:spPr>
          <a:xfrm>
            <a:off x="1593004" y="6023470"/>
            <a:ext cx="9005992" cy="461665"/>
          </a:xfrm>
          <a:prstGeom prst="rect">
            <a:avLst/>
          </a:prstGeom>
          <a:noFill/>
        </p:spPr>
        <p:txBody>
          <a:bodyPr wrap="none" rtlCol="0">
            <a:spAutoFit/>
          </a:bodyPr>
          <a:lstStyle/>
          <a:p>
            <a:r>
              <a:rPr kumimoji="1" lang="ja-JP" altLang="en-US" sz="2400"/>
              <a:t>健常成人ボランティアに血管拡張・収縮薬投与で</a:t>
            </a:r>
            <a:r>
              <a:rPr kumimoji="1" lang="en-US" altLang="ja-JP" sz="2400" dirty="0"/>
              <a:t>PPG</a:t>
            </a:r>
            <a:r>
              <a:rPr kumimoji="1" lang="ja-JP" altLang="en-US" sz="2400"/>
              <a:t>変化をみた</a:t>
            </a: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21/71</a:t>
            </a:r>
          </a:p>
        </p:txBody>
      </p:sp>
    </p:spTree>
    <p:extLst>
      <p:ext uri="{BB962C8B-B14F-4D97-AF65-F5344CB8AC3E}">
        <p14:creationId xmlns:p14="http://schemas.microsoft.com/office/powerpoint/2010/main" val="36977261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5079-4508-5497-F141-DE50AAEB0CD4}"/>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362C4290-EED1-422F-7FB5-DE381B417B94}"/>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1F8D11BB-63E2-2C0D-B496-60630080BA1D}"/>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C083CA8D-3BBE-F5CA-B54B-8409E047B57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FBE6D318-39BC-0336-CD5D-ADDF24B6F10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502A3E9-1080-0116-E2BC-E596A6E5C2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84FD6F8-1B4F-A6F3-1451-20BF39490F7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7BF977B-436D-4F41-8C39-B2239A9F9D2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0_svr.png">
            <a:extLst>
              <a:ext uri="{FF2B5EF4-FFF2-40B4-BE49-F238E27FC236}">
                <a16:creationId xmlns:a16="http://schemas.microsoft.com/office/drawing/2014/main" id="{402398F5-DD06-139E-7A44-EE16134071DF}"/>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4B67D30A-7DF0-7C19-4766-97B9ECCFC945}"/>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61F99186-825D-A604-DC5F-FD6FD8767F62}"/>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015AD26D-E5C6-2A54-3035-ED8289FFCE0A}"/>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1270D8DB-21FC-FF91-74DE-8B78AF8E028C}"/>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316FD39C-1145-369B-2504-A1474B245055}"/>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B20288AD-2CAE-65BF-CD0A-C086DF9ECA29}"/>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8" name="callout">
            <a:extLst>
              <a:ext uri="{FF2B5EF4-FFF2-40B4-BE49-F238E27FC236}">
                <a16:creationId xmlns:a16="http://schemas.microsoft.com/office/drawing/2014/main" id="{339F7693-591D-47A2-F762-B4C7374D22E7}"/>
              </a:ext>
            </a:extLst>
          </p:cNvPr>
          <p:cNvSpPr/>
          <p:nvPr/>
        </p:nvSpPr>
        <p:spPr>
          <a:xfrm>
            <a:off x="2077574" y="5922712"/>
            <a:ext cx="8036851" cy="52749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1A1A1A"/>
                </a:solidFill>
                <a:latin typeface="Meiryo"/>
                <a:ea typeface="Meiryo"/>
                <a:cs typeface="Meiryo"/>
              </a:rPr>
              <a:t>血管ト⁠ー⁠ヌ⁠スの変化 → 反射波の高さが変わる</a:t>
            </a:r>
            <a:endParaRPr lang="ja-JP" altLang="en-US" sz="2400" b="1" dirty="0">
              <a:solidFill>
                <a:srgbClr val="1A1A1A"/>
              </a:solidFill>
              <a:latin typeface="Meiryo"/>
              <a:ea typeface="Meiryo"/>
              <a:cs typeface="Meiryo"/>
            </a:endParaRP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21/71</a:t>
            </a:r>
          </a:p>
        </p:txBody>
      </p:sp>
    </p:spTree>
    <p:extLst>
      <p:ext uri="{BB962C8B-B14F-4D97-AF65-F5344CB8AC3E}">
        <p14:creationId xmlns:p14="http://schemas.microsoft.com/office/powerpoint/2010/main" val="3237688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7490-8D86-DB93-6569-A0209107F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E9A4A-0427-4ADE-C047-AB3E3303090B}"/>
              </a:ext>
            </a:extLst>
          </p:cNvPr>
          <p:cNvSpPr>
            <a:spLocks noGrp="1"/>
          </p:cNvSpPr>
          <p:nvPr>
            <p:ph type="title"/>
          </p:nvPr>
        </p:nvSpPr>
        <p:spPr/>
        <p:txBody>
          <a:bodyPr>
            <a:normAutofit/>
          </a:bodyPr>
          <a:lstStyle/>
          <a:p>
            <a:pPr algn="l"/>
            <a:r>
              <a:rPr sz="4600" dirty="0">
                <a:latin typeface="Meiryo"/>
                <a:ea typeface="Meiryo"/>
                <a:cs typeface="Meiryo"/>
              </a:rPr>
              <a:t>2.2.3  後負荷の違い</a:t>
            </a:r>
          </a:p>
        </p:txBody>
      </p:sp>
      <p:sp>
        <p:nvSpPr>
          <p:cNvPr id="13" name="Off-page Connector 4">
            <a:extLst>
              <a:ext uri="{FF2B5EF4-FFF2-40B4-BE49-F238E27FC236}">
                <a16:creationId xmlns:a16="http://schemas.microsoft.com/office/drawing/2014/main" id="{266F0750-78FA-66BC-C93C-64F9454D878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AA5EE62-C4C5-B94B-E592-7F32385B2E0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43B9E573-13FF-914F-45E0-3A2F9B8FDA0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4F19F32C-C429-2EB8-0D25-9B3C13EDFD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57EC0EF8-6A25-DB92-5EF8-FE7093DCF6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07_factor_2axis.png">
            <a:extLst>
              <a:ext uri="{FF2B5EF4-FFF2-40B4-BE49-F238E27FC236}">
                <a16:creationId xmlns:a16="http://schemas.microsoft.com/office/drawing/2014/main" id="{8C69438D-BFC6-745C-FA3A-8DA981B5ED57}"/>
              </a:ext>
            </a:extLst>
          </p:cNvPr>
          <p:cNvPicPr>
            <a:picLocks noChangeAspect="1"/>
          </p:cNvPicPr>
          <p:nvPr/>
        </p:nvPicPr>
        <p:blipFill>
          <a:blip r:embed="rId3"/>
          <a:srcRect t="16134" b="47584"/>
          <a:stretch>
            <a:fillRect/>
          </a:stretch>
        </p:blipFill>
        <p:spPr>
          <a:xfrm>
            <a:off x="1482436" y="2123504"/>
            <a:ext cx="8328377" cy="1763007"/>
          </a:xfrm>
          <a:prstGeom prst="rect">
            <a:avLst/>
          </a:prstGeom>
        </p:spPr>
      </p:pic>
      <p:pic>
        <p:nvPicPr>
          <p:cNvPr id="250" name="Picture 8b" descr="07_factor_2axis.png">
            <a:extLst>
              <a:ext uri="{FF2B5EF4-FFF2-40B4-BE49-F238E27FC236}">
                <a16:creationId xmlns:a16="http://schemas.microsoft.com/office/drawing/2014/main" id="{63DBEBD7-4675-D2B3-2C9A-6D1A5FB77D10}"/>
              </a:ext>
            </a:extLst>
          </p:cNvPr>
          <p:cNvPicPr>
            <a:picLocks noChangeAspect="1"/>
          </p:cNvPicPr>
          <p:nvPr/>
        </p:nvPicPr>
        <p:blipFill>
          <a:blip r:embed="rId3"/>
          <a:srcRect t="56511"/>
          <a:stretch>
            <a:fillRect/>
          </a:stretch>
        </p:blipFill>
        <p:spPr>
          <a:xfrm>
            <a:off x="1482436" y="4341629"/>
            <a:ext cx="8328377" cy="2113221"/>
          </a:xfrm>
          <a:prstGeom prst="rect">
            <a:avLst/>
          </a:prstGeom>
        </p:spPr>
      </p:pic>
      <p:sp>
        <p:nvSpPr>
          <p:cNvPr id="210" name="h1">
            <a:extLst>
              <a:ext uri="{FF2B5EF4-FFF2-40B4-BE49-F238E27FC236}">
                <a16:creationId xmlns:a16="http://schemas.microsoft.com/office/drawing/2014/main" id="{9643E6C4-AD3E-16B9-9985-622F9A8505C1}"/>
              </a:ext>
            </a:extLst>
          </p:cNvPr>
          <p:cNvSpPr txBox="1"/>
          <p:nvPr/>
        </p:nvSpPr>
        <p:spPr>
          <a:xfrm>
            <a:off x="1519437" y="1812138"/>
            <a:ext cx="9335082" cy="434794"/>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① 末梢血管</a:t>
            </a:r>
            <a:r>
              <a:rPr lang="ja-JP" altLang="en-US" sz="2200" b="1" dirty="0">
                <a:solidFill>
                  <a:srgbClr val="E8853B"/>
                </a:solidFill>
                <a:latin typeface="Meiryo"/>
                <a:ea typeface="Meiryo"/>
                <a:cs typeface="Meiryo"/>
              </a:rPr>
              <a:t>トーヌス ↑ → 反射波・切痕が「高く</a:t>
            </a:r>
            <a:r>
              <a:rPr lang="ja-JP" altLang="en-US" sz="2200" b="1">
                <a:solidFill>
                  <a:srgbClr val="E8853B"/>
                </a:solidFill>
                <a:latin typeface="Meiryo"/>
                <a:ea typeface="Meiryo"/>
                <a:cs typeface="Meiryo"/>
              </a:rPr>
              <a:t>」なる</a:t>
            </a:r>
            <a:endParaRPr lang="ja-JP" altLang="en-US" sz="2200" b="1" dirty="0">
              <a:solidFill>
                <a:srgbClr val="E8853B"/>
              </a:solidFill>
              <a:latin typeface="Meiryo"/>
              <a:ea typeface="Meiryo"/>
              <a:cs typeface="Meiryo"/>
            </a:endParaRPr>
          </a:p>
        </p:txBody>
      </p:sp>
      <p:sp>
        <p:nvSpPr>
          <p:cNvPr id="211" name="takasa">
            <a:extLst>
              <a:ext uri="{FF2B5EF4-FFF2-40B4-BE49-F238E27FC236}">
                <a16:creationId xmlns:a16="http://schemas.microsoft.com/office/drawing/2014/main" id="{B7012E9E-EB04-35BE-FBFB-C8FADEF34CFA}"/>
              </a:ext>
            </a:extLst>
          </p:cNvPr>
          <p:cNvSpPr txBox="1"/>
          <p:nvPr/>
        </p:nvSpPr>
        <p:spPr>
          <a:xfrm>
            <a:off x="9225548" y="2914543"/>
            <a:ext cx="1937942" cy="304356"/>
          </a:xfrm>
          <a:prstGeom prst="rect">
            <a:avLst/>
          </a:prstGeom>
          <a:noFill/>
        </p:spPr>
        <p:txBody>
          <a:bodyPr wrap="square" lIns="0" tIns="0" rIns="0" bIns="0" anchor="t">
            <a:normAutofit lnSpcReduction="10000"/>
          </a:bodyPr>
          <a:lstStyle/>
          <a:p>
            <a:pPr algn="l"/>
            <a:r>
              <a:rPr lang="ja-JP" altLang="en-US" sz="2000" b="1" dirty="0">
                <a:solidFill>
                  <a:srgbClr val="E8853B"/>
                </a:solidFill>
                <a:latin typeface="Meiryo"/>
                <a:ea typeface="Meiryo"/>
                <a:cs typeface="Meiryo"/>
              </a:rPr>
              <a:t>高さ↑</a:t>
            </a:r>
          </a:p>
        </p:txBody>
      </p:sp>
      <p:sp>
        <p:nvSpPr>
          <p:cNvPr id="212" name="h2">
            <a:extLst>
              <a:ext uri="{FF2B5EF4-FFF2-40B4-BE49-F238E27FC236}">
                <a16:creationId xmlns:a16="http://schemas.microsoft.com/office/drawing/2014/main" id="{CF326274-D609-3E77-0B78-BE0B3A09D728}"/>
              </a:ext>
            </a:extLst>
          </p:cNvPr>
          <p:cNvSpPr txBox="1"/>
          <p:nvPr/>
        </p:nvSpPr>
        <p:spPr>
          <a:xfrm>
            <a:off x="1519437" y="4311240"/>
            <a:ext cx="11427118" cy="478274"/>
          </a:xfrm>
          <a:prstGeom prst="rect">
            <a:avLst/>
          </a:prstGeom>
          <a:noFill/>
        </p:spPr>
        <p:txBody>
          <a:bodyPr wrap="square" lIns="0" tIns="0" rIns="0" bIns="0" anchor="t">
            <a:noAutofit/>
          </a:bodyPr>
          <a:lstStyle/>
          <a:p>
            <a:pPr algn="l"/>
            <a:r>
              <a:rPr lang="ja-JP" altLang="en-US" sz="2200" b="1">
                <a:solidFill>
                  <a:srgbClr val="B8860B"/>
                </a:solidFill>
                <a:latin typeface="Meiryo"/>
                <a:ea typeface="Meiryo"/>
                <a:cs typeface="Meiryo"/>
              </a:rPr>
              <a:t>② 大血管スティフネス </a:t>
            </a:r>
            <a:r>
              <a:rPr lang="ja-JP" altLang="en-US" sz="2200" b="1" dirty="0">
                <a:solidFill>
                  <a:srgbClr val="B8860B"/>
                </a:solidFill>
                <a:latin typeface="Meiryo"/>
                <a:ea typeface="Meiryo"/>
                <a:cs typeface="Meiryo"/>
              </a:rPr>
              <a:t>↑ → 反射波が「早く</a:t>
            </a:r>
            <a:r>
              <a:rPr lang="ja-JP" altLang="en-US" sz="2200" b="1">
                <a:solidFill>
                  <a:srgbClr val="B8860B"/>
                </a:solidFill>
                <a:latin typeface="Meiryo"/>
                <a:ea typeface="Meiryo"/>
                <a:cs typeface="Meiryo"/>
              </a:rPr>
              <a:t>」帰る→ 反射波の時相が早くなる</a:t>
            </a:r>
            <a:endParaRPr lang="ja-JP" altLang="en-US" sz="2200" b="1" dirty="0">
              <a:solidFill>
                <a:srgbClr val="B8860B"/>
              </a:solidFill>
              <a:latin typeface="Meiryo"/>
              <a:ea typeface="Meiryo"/>
              <a:cs typeface="Meiryo"/>
            </a:endParaRPr>
          </a:p>
        </p:txBody>
      </p:sp>
      <p:sp>
        <p:nvSpPr>
          <p:cNvPr id="213" name="jiso">
            <a:extLst>
              <a:ext uri="{FF2B5EF4-FFF2-40B4-BE49-F238E27FC236}">
                <a16:creationId xmlns:a16="http://schemas.microsoft.com/office/drawing/2014/main" id="{0954FE5B-58A2-1FC2-8F70-714A7560119B}"/>
              </a:ext>
            </a:extLst>
          </p:cNvPr>
          <p:cNvSpPr txBox="1"/>
          <p:nvPr/>
        </p:nvSpPr>
        <p:spPr>
          <a:xfrm>
            <a:off x="8492796" y="5262282"/>
            <a:ext cx="2003446" cy="359899"/>
          </a:xfrm>
          <a:prstGeom prst="rect">
            <a:avLst/>
          </a:prstGeom>
          <a:noFill/>
        </p:spPr>
        <p:txBody>
          <a:bodyPr wrap="square" lIns="0" tIns="0" rIns="0" bIns="0" anchor="t">
            <a:normAutofit/>
          </a:bodyPr>
          <a:lstStyle/>
          <a:p>
            <a:pPr algn="ctr"/>
            <a:r>
              <a:rPr lang="ja-JP" altLang="en-US" sz="2000" b="1" dirty="0">
                <a:solidFill>
                  <a:srgbClr val="B8860B"/>
                </a:solidFill>
                <a:latin typeface="Meiryo"/>
                <a:ea typeface="Meiryo"/>
                <a:cs typeface="Meiryo"/>
              </a:rPr>
              <a:t>時相 早い</a:t>
            </a:r>
          </a:p>
        </p:txBody>
      </p:sp>
      <p:sp>
        <p:nvSpPr>
          <p:cNvPr id="214" name="henkyoku">
            <a:extLst>
              <a:ext uri="{FF2B5EF4-FFF2-40B4-BE49-F238E27FC236}">
                <a16:creationId xmlns:a16="http://schemas.microsoft.com/office/drawing/2014/main" id="{668686BA-9DCF-A97F-1960-0E5256FBD843}"/>
              </a:ext>
            </a:extLst>
          </p:cNvPr>
          <p:cNvSpPr txBox="1"/>
          <p:nvPr/>
        </p:nvSpPr>
        <p:spPr>
          <a:xfrm>
            <a:off x="3804411" y="5142663"/>
            <a:ext cx="2544787" cy="1118607"/>
          </a:xfrm>
          <a:prstGeom prst="rect">
            <a:avLst/>
          </a:prstGeom>
          <a:noFill/>
        </p:spPr>
        <p:txBody>
          <a:bodyPr wrap="square" lIns="0" tIns="0" rIns="0" bIns="0" anchor="t">
            <a:normAutofit/>
          </a:bodyPr>
          <a:lstStyle/>
          <a:p>
            <a:pPr algn="ctr"/>
            <a:r>
              <a:rPr lang="ja-JP" altLang="en-US" sz="2000" b="1">
                <a:solidFill>
                  <a:srgbClr val="B8860B"/>
                </a:solidFill>
                <a:latin typeface="Meiryo"/>
                <a:ea typeface="Meiryo"/>
                <a:cs typeface="Meiryo"/>
              </a:rPr>
              <a:t>変曲点</a:t>
            </a:r>
            <a:endParaRPr lang="en-US" altLang="ja-JP" sz="2000" b="1" dirty="0">
              <a:solidFill>
                <a:srgbClr val="B8860B"/>
              </a:solidFill>
              <a:latin typeface="Meiryo"/>
              <a:ea typeface="Meiryo"/>
              <a:cs typeface="Meiryo"/>
            </a:endParaRPr>
          </a:p>
          <a:p>
            <a:pPr algn="ctr"/>
            <a:r>
              <a:rPr lang="ja-JP" altLang="en-US" sz="2000" b="1">
                <a:solidFill>
                  <a:srgbClr val="B8860B"/>
                </a:solidFill>
                <a:latin typeface="Meiryo"/>
                <a:ea typeface="Meiryo"/>
                <a:cs typeface="Meiryo"/>
              </a:rPr>
              <a:t>（</a:t>
            </a:r>
            <a:r>
              <a:rPr lang="ja-JP" altLang="en-US" sz="2000" b="1" dirty="0">
                <a:solidFill>
                  <a:srgbClr val="B8860B"/>
                </a:solidFill>
                <a:latin typeface="Meiryo"/>
                <a:ea typeface="Meiryo"/>
                <a:cs typeface="Meiryo"/>
              </a:rPr>
              <a:t>早期反射）</a:t>
            </a:r>
          </a:p>
        </p:txBody>
      </p:sp>
      <p:sp>
        <p:nvSpPr>
          <p:cNvPr id="25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8. Cunningham 2023　／　12. Millasseau 2003</a:t>
            </a:r>
          </a:p>
        </p:txBody>
      </p:sp>
      <p:sp>
        <p:nvSpPr>
          <p:cNvPr id="2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22/71</a:t>
            </a:r>
          </a:p>
        </p:txBody>
      </p:sp>
    </p:spTree>
    <p:extLst>
      <p:ext uri="{BB962C8B-B14F-4D97-AF65-F5344CB8AC3E}">
        <p14:creationId xmlns:p14="http://schemas.microsoft.com/office/powerpoint/2010/main" val="2016611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A99F-D3E2-0A55-7651-45CB6F7C7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B9FC1-392B-D89A-B3BA-5DD88EE8DAAD}"/>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126E03C4-F53B-BA3C-D275-D8315E03369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8B3E220-3FD2-DDF1-01D2-B71CB4E0DF6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0CE0B28-7751-0C47-1746-00AF0782105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DAD2652-C4D4-7C04-0797-291338CB77D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F813FD56-8ACC-F3A2-8638-3AE16EA54B2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42" name="cap2">
            <a:extLst>
              <a:ext uri="{FF2B5EF4-FFF2-40B4-BE49-F238E27FC236}">
                <a16:creationId xmlns:a16="http://schemas.microsoft.com/office/drawing/2014/main" id="{B4A3164A-BA51-5B5B-9E14-47E2B5B27E86}"/>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DC659E-F481-D246-F1F4-84BF134878FE}"/>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68BAC6D6-AFF7-91F1-D127-4A1338A9238D}"/>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52CDD66F-2601-0627-925D-D72C2AC987B4}"/>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5B32805A-91E7-52DA-14E9-C0BC5E99A850}"/>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23/71</a:t>
            </a:r>
          </a:p>
        </p:txBody>
      </p:sp>
    </p:spTree>
    <p:extLst>
      <p:ext uri="{BB962C8B-B14F-4D97-AF65-F5344CB8AC3E}">
        <p14:creationId xmlns:p14="http://schemas.microsoft.com/office/powerpoint/2010/main" val="3599404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7E2-CB29-6C3A-54EF-2F3CF659D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B4B2C-40F7-9B11-9106-6C7BA8C92E96}"/>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4BBC1839-0F94-62AC-D516-F62061BB4DF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7FDB4DE-382B-9981-CBEC-1B04AD4688C3}"/>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F09464F3-7A64-0929-25AD-97C2BAC7A15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DA7D32-18CE-D37C-31D8-E9B5A128805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F546107B-EA50-9F53-3DB5-88C566EAD65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42" name="cap2">
            <a:extLst>
              <a:ext uri="{FF2B5EF4-FFF2-40B4-BE49-F238E27FC236}">
                <a16:creationId xmlns:a16="http://schemas.microsoft.com/office/drawing/2014/main" id="{2BDAAE34-6C1B-7AD6-FE22-745AD7543112}"/>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1A316D-FD0D-D887-2EA0-3CFE25CEB391}"/>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850F751C-6284-6659-FF2E-19D1C159CC76}"/>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808CDE7B-3AC6-DB22-8B0D-F28819F1EFAF}"/>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17930FC6-DA6D-B19A-0A0A-A79B48B7D69E}"/>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19" name="テキスト ボックス 18">
            <a:extLst>
              <a:ext uri="{FF2B5EF4-FFF2-40B4-BE49-F238E27FC236}">
                <a16:creationId xmlns:a16="http://schemas.microsoft.com/office/drawing/2014/main" id="{148B0A2B-1259-1A22-B626-B10B9B6E4E91}"/>
              </a:ext>
            </a:extLst>
          </p:cNvPr>
          <p:cNvSpPr txBox="1"/>
          <p:nvPr/>
        </p:nvSpPr>
        <p:spPr>
          <a:xfrm>
            <a:off x="2101156" y="5386527"/>
            <a:ext cx="7989688" cy="1065676"/>
          </a:xfrm>
          <a:prstGeom prst="rect">
            <a:avLst/>
          </a:prstGeom>
          <a:noFill/>
        </p:spPr>
        <p:txBody>
          <a:bodyPr wrap="none" rtlCol="0">
            <a:spAutoFit/>
          </a:bodyPr>
          <a:lstStyle/>
          <a:p>
            <a:pPr>
              <a:lnSpc>
                <a:spcPct val="150000"/>
              </a:lnSpc>
            </a:pPr>
            <a:r>
              <a:rPr lang="en-US" altLang="ja-JP" sz="2200" dirty="0"/>
              <a:t>PPG</a:t>
            </a:r>
            <a:r>
              <a:rPr lang="ja-JP" altLang="en-US" sz="2200"/>
              <a:t>波形の立ち上がり勾配は末梢血管抵抗にも影響を受ける。</a:t>
            </a:r>
            <a:endParaRPr lang="en-US" altLang="ja-JP" sz="2200" dirty="0"/>
          </a:p>
          <a:p>
            <a:pPr>
              <a:lnSpc>
                <a:spcPct val="150000"/>
              </a:lnSpc>
            </a:pPr>
            <a:r>
              <a:rPr kumimoji="1" lang="ja-JP" altLang="en-US" sz="2200"/>
              <a:t>単一の</a:t>
            </a:r>
            <a:r>
              <a:rPr kumimoji="1" lang="en-US" altLang="ja-JP" sz="2200" dirty="0"/>
              <a:t>PPG</a:t>
            </a:r>
            <a:r>
              <a:rPr kumimoji="1" lang="ja-JP" altLang="en-US" sz="2200"/>
              <a:t>信号から収縮性のみを分離するのは技術的に困難。</a:t>
            </a: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23/71</a:t>
            </a:r>
          </a:p>
        </p:txBody>
      </p:sp>
    </p:spTree>
    <p:extLst>
      <p:ext uri="{BB962C8B-B14F-4D97-AF65-F5344CB8AC3E}">
        <p14:creationId xmlns:p14="http://schemas.microsoft.com/office/powerpoint/2010/main" val="1662370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2.2.5  心拍数</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4B243921-2DC2-956B-8955-4BE8E945D2FF}"/>
              </a:ext>
            </a:extLst>
          </p:cNvPr>
          <p:cNvPicPr>
            <a:picLocks noChangeAspect="1"/>
          </p:cNvPicPr>
          <p:nvPr/>
        </p:nvPicPr>
        <p:blipFill>
          <a:blip r:embed="rId3"/>
          <a:srcRect l="71670" t="12610"/>
          <a:stretch>
            <a:fillRect/>
          </a:stretch>
        </p:blipFill>
        <p:spPr>
          <a:xfrm>
            <a:off x="2209800" y="1595154"/>
            <a:ext cx="4433712" cy="4041598"/>
          </a:xfrm>
          <a:prstGeom prst="rect">
            <a:avLst/>
          </a:prstGeom>
        </p:spPr>
      </p:pic>
      <p:pic>
        <p:nvPicPr>
          <p:cNvPr id="6" name="図 5">
            <a:extLst>
              <a:ext uri="{FF2B5EF4-FFF2-40B4-BE49-F238E27FC236}">
                <a16:creationId xmlns:a16="http://schemas.microsoft.com/office/drawing/2014/main" id="{0D6441C1-E3C6-DC13-81F3-F5CA72815B3F}"/>
              </a:ext>
            </a:extLst>
          </p:cNvPr>
          <p:cNvPicPr>
            <a:picLocks noChangeAspect="1"/>
          </p:cNvPicPr>
          <p:nvPr/>
        </p:nvPicPr>
        <p:blipFill rotWithShape="1">
          <a:blip r:embed="rId3"/>
          <a:srcRect l="1877" t="44555" r="91446" b="35539"/>
          <a:stretch>
            <a:fillRect/>
          </a:stretch>
        </p:blipFill>
        <p:spPr>
          <a:xfrm>
            <a:off x="838200" y="3397458"/>
            <a:ext cx="1044979" cy="920578"/>
          </a:xfrm>
          <a:prstGeom prst="rect">
            <a:avLst/>
          </a:prstGeom>
        </p:spPr>
      </p:pic>
      <p:sp>
        <p:nvSpPr>
          <p:cNvPr id="9014" name="legend"/>
          <p:cNvSpPr txBox="1"/>
          <p:nvPr/>
        </p:nvSpPr>
        <p:spPr>
          <a:xfrm>
            <a:off x="7950519" y="2317256"/>
            <a:ext cx="3168000" cy="1548000"/>
          </a:xfrm>
          <a:prstGeom prst="rect">
            <a:avLst/>
          </a:prstGeom>
          <a:noFill/>
        </p:spPr>
        <p:txBody>
          <a:bodyPr wrap="square" lIns="0" tIns="0" rIns="0" bIns="0" anchor="t">
            <a:noAutofit/>
          </a:bodyPr>
          <a:lstStyle/>
          <a:p>
            <a:pPr algn="l"/>
            <a:r>
              <a:rPr lang="ja-JP" altLang="en-US" sz="2400" b="1" dirty="0">
                <a:solidFill>
                  <a:srgbClr val="0000FF"/>
                </a:solidFill>
                <a:latin typeface="Meiryo"/>
                <a:ea typeface="Meiryo"/>
                <a:cs typeface="Meiryo"/>
              </a:rPr>
              <a:t>■ </a:t>
            </a:r>
            <a:r>
              <a:rPr lang="ja-JP" altLang="en-US" sz="2400" b="1" dirty="0">
                <a:solidFill>
                  <a:srgbClr val="262626"/>
                </a:solidFill>
                <a:latin typeface="Meiryo"/>
                <a:ea typeface="Meiryo"/>
                <a:cs typeface="Meiryo"/>
              </a:rPr>
              <a:t>高心拍  +1SD</a:t>
            </a:r>
          </a:p>
          <a:p>
            <a:pPr algn="l"/>
            <a:r>
              <a:rPr lang="ja-JP" altLang="en-US" sz="2400" b="1" dirty="0">
                <a:solidFill>
                  <a:srgbClr val="000000"/>
                </a:solidFill>
                <a:latin typeface="Meiryo"/>
                <a:ea typeface="Meiryo"/>
                <a:cs typeface="Meiryo"/>
              </a:rPr>
              <a:t>■ </a:t>
            </a:r>
            <a:r>
              <a:rPr lang="ja-JP" altLang="en-US" sz="2400" b="1" dirty="0">
                <a:solidFill>
                  <a:srgbClr val="262626"/>
                </a:solidFill>
                <a:latin typeface="Meiryo"/>
                <a:ea typeface="Meiryo"/>
                <a:cs typeface="Meiryo"/>
              </a:rPr>
              <a:t>基準</a:t>
            </a:r>
          </a:p>
          <a:p>
            <a:pPr algn="l"/>
            <a:r>
              <a:rPr lang="ja-JP" altLang="en-US" sz="2400" b="1" dirty="0">
                <a:solidFill>
                  <a:srgbClr val="FF0000"/>
                </a:solidFill>
                <a:latin typeface="Meiryo"/>
                <a:ea typeface="Meiryo"/>
                <a:cs typeface="Meiryo"/>
              </a:rPr>
              <a:t>■ </a:t>
            </a:r>
            <a:r>
              <a:rPr lang="ja-JP" altLang="en-US" sz="2400" b="1" dirty="0">
                <a:solidFill>
                  <a:srgbClr val="262626"/>
                </a:solidFill>
                <a:latin typeface="Meiryo"/>
                <a:ea typeface="Meiryo"/>
                <a:cs typeface="Meiryo"/>
              </a:rPr>
              <a:t>低心拍  −1SD</a:t>
            </a:r>
          </a:p>
        </p:txBody>
      </p:sp>
      <p:sp>
        <p:nvSpPr>
          <p:cNvPr id="5" name="cap2">
            <a:extLst>
              <a:ext uri="{FF2B5EF4-FFF2-40B4-BE49-F238E27FC236}">
                <a16:creationId xmlns:a16="http://schemas.microsoft.com/office/drawing/2014/main" id="{E23ACC53-4CC6-9721-14E9-8A78AC97A7BE}"/>
              </a:ext>
            </a:extLst>
          </p:cNvPr>
          <p:cNvSpPr txBox="1"/>
          <p:nvPr/>
        </p:nvSpPr>
        <p:spPr>
          <a:xfrm>
            <a:off x="3927324" y="5209448"/>
            <a:ext cx="11134389" cy="468327"/>
          </a:xfrm>
          <a:prstGeom prst="rect">
            <a:avLst/>
          </a:prstGeom>
          <a:noFill/>
        </p:spPr>
        <p:txBody>
          <a:bodyPr wrap="square" lIns="0" tIns="0" rIns="0" bIns="0" anchor="t">
            <a:noAutofit/>
          </a:bodyPr>
          <a:lstStyle/>
          <a:p>
            <a:pPr algn="ctr"/>
            <a:r>
              <a:rPr lang="ja-JP" altLang="en-US" b="0">
                <a:solidFill>
                  <a:srgbClr val="8C8C8C"/>
                </a:solidFill>
                <a:latin typeface="Meiryo"/>
                <a:ea typeface="Meiryo"/>
                <a:cs typeface="Meiryo"/>
              </a:rPr>
              <a:t>※ 計算モデル</a:t>
            </a:r>
            <a:r>
              <a:rPr lang="ja-JP" altLang="en-US" b="0" dirty="0">
                <a:solidFill>
                  <a:srgbClr val="8C8C8C"/>
                </a:solidFill>
                <a:latin typeface="Meiryo"/>
                <a:ea typeface="Meiryo"/>
                <a:cs typeface="Meiryo"/>
              </a:rPr>
              <a:t>から</a:t>
            </a:r>
            <a:r>
              <a:rPr lang="ja-JP" altLang="en-US" b="0">
                <a:solidFill>
                  <a:srgbClr val="8C8C8C"/>
                </a:solidFill>
                <a:latin typeface="Meiryo"/>
                <a:ea typeface="Meiryo"/>
                <a:cs typeface="Meiryo"/>
              </a:rPr>
              <a:t>の外挿</a:t>
            </a:r>
            <a:endParaRPr lang="ja-JP" altLang="en-US" b="0" dirty="0">
              <a:solidFill>
                <a:srgbClr val="8C8C8C"/>
              </a:solidFill>
              <a:latin typeface="Meiryo"/>
              <a:ea typeface="Meiryo"/>
              <a:cs typeface="Meiryo"/>
            </a:endParaRPr>
          </a:p>
        </p:txBody>
      </p:sp>
      <p:sp>
        <p:nvSpPr>
          <p:cNvPr id="7" name="Rounded Rectangle 29">
            <a:extLst>
              <a:ext uri="{FF2B5EF4-FFF2-40B4-BE49-F238E27FC236}">
                <a16:creationId xmlns:a16="http://schemas.microsoft.com/office/drawing/2014/main" id="{934C5BEC-F28D-9BF0-28B7-FD36A2F15742}"/>
              </a:ext>
            </a:extLst>
          </p:cNvPr>
          <p:cNvSpPr/>
          <p:nvPr/>
        </p:nvSpPr>
        <p:spPr>
          <a:xfrm>
            <a:off x="876000" y="5754806"/>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HR </a:t>
            </a:r>
            <a:r>
              <a:rPr lang="ja-JP" altLang="en-US" sz="2400" b="1">
                <a:solidFill>
                  <a:schemeClr val="tx1"/>
                </a:solidFill>
              </a:rPr>
              <a:t>↑ → 左室収縮時間</a:t>
            </a:r>
            <a:r>
              <a:rPr lang="en-US" altLang="ja-JP" sz="2400" b="1" dirty="0">
                <a:solidFill>
                  <a:schemeClr val="tx1"/>
                </a:solidFill>
              </a:rPr>
              <a:t> </a:t>
            </a:r>
            <a:r>
              <a:rPr lang="ja-JP" altLang="en-US" sz="2400" b="1">
                <a:solidFill>
                  <a:schemeClr val="tx1"/>
                </a:solidFill>
              </a:rPr>
              <a:t>↓ → 前進波幅</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反射波振幅</a:t>
            </a:r>
            <a:r>
              <a:rPr lang="en-US" altLang="ja-JP" sz="2400" b="1" dirty="0">
                <a:solidFill>
                  <a:schemeClr val="tx1"/>
                </a:solidFill>
              </a:rPr>
              <a:t> </a:t>
            </a:r>
            <a:r>
              <a:rPr lang="ja-JP" altLang="en-US" sz="2400" b="1">
                <a:solidFill>
                  <a:schemeClr val="tx1"/>
                </a:solidFill>
              </a:rPr>
              <a:t>↓</a:t>
            </a:r>
          </a:p>
        </p:txBody>
      </p:sp>
      <p:sp>
        <p:nvSpPr>
          <p:cNvPr id="901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901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24/71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2.2.6  波形変化まとめ</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h_因子"/>
          <p:cNvSpPr txBox="1"/>
          <p:nvPr/>
        </p:nvSpPr>
        <p:spPr>
          <a:xfrm>
            <a:off x="548640" y="1793288"/>
            <a:ext cx="2368296"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因子</a:t>
            </a:r>
          </a:p>
        </p:txBody>
      </p:sp>
      <p:sp>
        <p:nvSpPr>
          <p:cNvPr id="19" name="h_波形"/>
          <p:cNvSpPr txBox="1"/>
          <p:nvPr/>
        </p:nvSpPr>
        <p:spPr>
          <a:xfrm>
            <a:off x="3054095" y="1834323"/>
            <a:ext cx="2971801" cy="338554"/>
          </a:xfrm>
          <a:prstGeom prst="rect">
            <a:avLst/>
          </a:prstGeom>
          <a:noFill/>
        </p:spPr>
        <p:txBody>
          <a:bodyPr wrap="square" lIns="0" tIns="0" rIns="0" bIns="0" anchor="ctr">
            <a:spAutoFit/>
          </a:bodyPr>
          <a:lstStyle/>
          <a:p>
            <a:pPr algn="ctr"/>
            <a:r>
              <a:rPr sz="2200" b="1" dirty="0" err="1">
                <a:solidFill>
                  <a:srgbClr val="262626"/>
                </a:solidFill>
                <a:latin typeface="Meiryo"/>
                <a:ea typeface="Meiryo"/>
                <a:cs typeface="Meiryo"/>
              </a:rPr>
              <a:t>波形</a:t>
            </a:r>
            <a:r>
              <a:rPr lang="en-US" sz="2200" b="1" dirty="0">
                <a:solidFill>
                  <a:srgbClr val="262626"/>
                </a:solidFill>
                <a:latin typeface="Meiryo"/>
                <a:ea typeface="Meiryo"/>
                <a:cs typeface="Meiryo"/>
              </a:rPr>
              <a:t> </a:t>
            </a:r>
            <a:r>
              <a:rPr lang="en-US" sz="1600" dirty="0">
                <a:solidFill>
                  <a:srgbClr val="262626"/>
                </a:solidFill>
                <a:latin typeface="Meiryo"/>
                <a:ea typeface="Meiryo"/>
                <a:cs typeface="Meiryo"/>
              </a:rPr>
              <a:t>( </a:t>
            </a:r>
            <a:r>
              <a:rPr lang="ja-JP" altLang="en-US" sz="1600" b="1">
                <a:solidFill>
                  <a:srgbClr val="808080"/>
                </a:solidFill>
                <a:latin typeface="Meiryo"/>
                <a:ea typeface="Meiryo"/>
                <a:cs typeface="Meiryo"/>
              </a:rPr>
              <a:t>灰＝基準</a:t>
            </a:r>
            <a:r>
              <a:rPr lang="en-US" altLang="ja-JP" sz="1600" b="1" dirty="0">
                <a:solidFill>
                  <a:srgbClr val="808080"/>
                </a:solidFill>
                <a:latin typeface="Meiryo"/>
                <a:ea typeface="Meiryo"/>
                <a:cs typeface="Meiryo"/>
              </a:rPr>
              <a:t> </a:t>
            </a:r>
            <a:r>
              <a:rPr lang="ja-JP" altLang="en-US" sz="1600" b="1">
                <a:solidFill>
                  <a:srgbClr val="808080"/>
                </a:solidFill>
                <a:latin typeface="Meiryo"/>
                <a:ea typeface="Meiryo"/>
                <a:cs typeface="Meiryo"/>
              </a:rPr>
              <a:t>青＝因子</a:t>
            </a:r>
            <a:r>
              <a:rPr lang="ja-JP" altLang="en-US" sz="1600">
                <a:solidFill>
                  <a:srgbClr val="808080"/>
                </a:solidFill>
                <a:latin typeface="Meiryo"/>
                <a:ea typeface="Meiryo"/>
                <a:cs typeface="Meiryo"/>
              </a:rPr>
              <a:t>↑</a:t>
            </a:r>
            <a:r>
              <a:rPr lang="en-US" altLang="ja-JP" sz="1600" dirty="0">
                <a:solidFill>
                  <a:srgbClr val="262626"/>
                </a:solidFill>
                <a:latin typeface="Meiryo"/>
                <a:ea typeface="Meiryo"/>
                <a:cs typeface="Meiryo"/>
              </a:rPr>
              <a:t>)</a:t>
            </a:r>
            <a:endParaRPr sz="1600" dirty="0">
              <a:solidFill>
                <a:srgbClr val="262626"/>
              </a:solidFill>
              <a:latin typeface="Meiryo"/>
              <a:ea typeface="Meiryo"/>
              <a:cs typeface="Meiryo"/>
            </a:endParaRPr>
          </a:p>
        </p:txBody>
      </p:sp>
      <p:sp>
        <p:nvSpPr>
          <p:cNvPr id="20" name="h_変化"/>
          <p:cNvSpPr txBox="1"/>
          <p:nvPr/>
        </p:nvSpPr>
        <p:spPr>
          <a:xfrm>
            <a:off x="6025896" y="1834323"/>
            <a:ext cx="3291840" cy="338554"/>
          </a:xfrm>
          <a:prstGeom prst="rect">
            <a:avLst/>
          </a:prstGeom>
          <a:noFill/>
        </p:spPr>
        <p:txBody>
          <a:bodyPr wrap="square" lIns="0" tIns="0" rIns="0" bIns="0" anchor="ctr">
            <a:spAutoFit/>
          </a:bodyPr>
          <a:lstStyle/>
          <a:p>
            <a:pPr algn="ctr"/>
            <a:r>
              <a:rPr lang="ja-JP" altLang="en-US" sz="2200" b="1">
                <a:solidFill>
                  <a:srgbClr val="262626"/>
                </a:solidFill>
                <a:latin typeface="Meiryo"/>
                <a:ea typeface="Meiryo"/>
                <a:cs typeface="Meiryo"/>
              </a:rPr>
              <a:t>主な</a:t>
            </a:r>
            <a:r>
              <a:rPr sz="2200" b="1" dirty="0" err="1">
                <a:solidFill>
                  <a:srgbClr val="262626"/>
                </a:solidFill>
                <a:latin typeface="Meiryo"/>
                <a:ea typeface="Meiryo"/>
                <a:cs typeface="Meiryo"/>
              </a:rPr>
              <a:t>変化</a:t>
            </a:r>
            <a:r>
              <a:rPr lang="ja-JP" altLang="en-US" sz="2200" b="1">
                <a:solidFill>
                  <a:srgbClr val="262626"/>
                </a:solidFill>
                <a:latin typeface="Meiryo"/>
                <a:ea typeface="Meiryo"/>
                <a:cs typeface="Meiryo"/>
              </a:rPr>
              <a:t>対象</a:t>
            </a:r>
            <a:endParaRPr sz="2200" b="1" dirty="0">
              <a:solidFill>
                <a:srgbClr val="262626"/>
              </a:solidFill>
              <a:latin typeface="Meiryo"/>
              <a:ea typeface="Meiryo"/>
              <a:cs typeface="Meiryo"/>
            </a:endParaRPr>
          </a:p>
        </p:txBody>
      </p:sp>
      <p:sp>
        <p:nvSpPr>
          <p:cNvPr id="21" name="h_文献強度"/>
          <p:cNvSpPr txBox="1"/>
          <p:nvPr/>
        </p:nvSpPr>
        <p:spPr>
          <a:xfrm>
            <a:off x="9454896" y="1793288"/>
            <a:ext cx="2112264"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文献強度</a:t>
            </a:r>
          </a:p>
        </p:txBody>
      </p:sp>
      <p:sp>
        <p:nvSpPr>
          <p:cNvPr id="22" name="f0"/>
          <p:cNvSpPr/>
          <p:nvPr/>
        </p:nvSpPr>
        <p:spPr>
          <a:xfrm>
            <a:off x="548640" y="2287064"/>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前負荷</a:t>
            </a:r>
            <a:r>
              <a:rPr sz="2200" b="1" dirty="0">
                <a:solidFill>
                  <a:srgbClr val="262626"/>
                </a:solidFill>
                <a:latin typeface="Meiryo"/>
                <a:ea typeface="Meiryo"/>
                <a:cs typeface="Meiryo"/>
              </a:rPr>
              <a:t> </a:t>
            </a:r>
          </a:p>
        </p:txBody>
      </p:sp>
      <p:sp>
        <p:nvSpPr>
          <p:cNvPr id="23" name="wbox0"/>
          <p:cNvSpPr/>
          <p:nvPr/>
        </p:nvSpPr>
        <p:spPr>
          <a:xfrm>
            <a:off x="3054096" y="2287064"/>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wbase0"/>
          <p:cNvCxnSpPr/>
          <p:nvPr/>
        </p:nvCxnSpPr>
        <p:spPr>
          <a:xfrm>
            <a:off x="3163824" y="2908856"/>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g0"/>
          <p:cNvSpPr/>
          <p:nvPr/>
        </p:nvSpPr>
        <p:spPr>
          <a:xfrm>
            <a:off x="3163824" y="2529321"/>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c0"/>
          <p:cNvSpPr/>
          <p:nvPr/>
        </p:nvSpPr>
        <p:spPr>
          <a:xfrm>
            <a:off x="3163824" y="2416745"/>
            <a:ext cx="2615184" cy="492111"/>
          </a:xfrm>
          <a:custGeom>
            <a:avLst/>
            <a:gdLst/>
            <a:ahLst/>
            <a:cxnLst/>
            <a:rect l="l" t="t" r="r" b="b"/>
            <a:pathLst>
              <a:path w="2615184" h="492111">
                <a:moveTo>
                  <a:pt x="0" y="491357"/>
                </a:moveTo>
                <a:lnTo>
                  <a:pt x="14610" y="490991"/>
                </a:lnTo>
                <a:lnTo>
                  <a:pt x="29220" y="490468"/>
                </a:lnTo>
                <a:lnTo>
                  <a:pt x="43830" y="489729"/>
                </a:lnTo>
                <a:lnTo>
                  <a:pt x="58440" y="488702"/>
                </a:lnTo>
                <a:lnTo>
                  <a:pt x="73050" y="487293"/>
                </a:lnTo>
                <a:lnTo>
                  <a:pt x="87660" y="485385"/>
                </a:lnTo>
                <a:lnTo>
                  <a:pt x="102270" y="482839"/>
                </a:lnTo>
                <a:lnTo>
                  <a:pt x="116880" y="479487"/>
                </a:lnTo>
                <a:lnTo>
                  <a:pt x="131490" y="475136"/>
                </a:lnTo>
                <a:lnTo>
                  <a:pt x="146100" y="469569"/>
                </a:lnTo>
                <a:lnTo>
                  <a:pt x="160710" y="462547"/>
                </a:lnTo>
                <a:lnTo>
                  <a:pt x="175320" y="453820"/>
                </a:lnTo>
                <a:lnTo>
                  <a:pt x="189930" y="443131"/>
                </a:lnTo>
                <a:lnTo>
                  <a:pt x="204540" y="430235"/>
                </a:lnTo>
                <a:lnTo>
                  <a:pt x="219149" y="414915"/>
                </a:lnTo>
                <a:lnTo>
                  <a:pt x="233759" y="396995"/>
                </a:lnTo>
                <a:lnTo>
                  <a:pt x="248369" y="376369"/>
                </a:lnTo>
                <a:lnTo>
                  <a:pt x="262979" y="353017"/>
                </a:lnTo>
                <a:lnTo>
                  <a:pt x="277589" y="327028"/>
                </a:lnTo>
                <a:lnTo>
                  <a:pt x="292199" y="298611"/>
                </a:lnTo>
                <a:lnTo>
                  <a:pt x="306809" y="268117"/>
                </a:lnTo>
                <a:lnTo>
                  <a:pt x="321419" y="236031"/>
                </a:lnTo>
                <a:lnTo>
                  <a:pt x="336029" y="202979"/>
                </a:lnTo>
                <a:lnTo>
                  <a:pt x="350639" y="169708"/>
                </a:lnTo>
                <a:lnTo>
                  <a:pt x="365249" y="137063"/>
                </a:lnTo>
                <a:lnTo>
                  <a:pt x="379859" y="105957"/>
                </a:lnTo>
                <a:lnTo>
                  <a:pt x="394469" y="77328"/>
                </a:lnTo>
                <a:lnTo>
                  <a:pt x="409079" y="52091"/>
                </a:lnTo>
                <a:lnTo>
                  <a:pt x="423689" y="31095"/>
                </a:lnTo>
                <a:lnTo>
                  <a:pt x="438299" y="15067"/>
                </a:lnTo>
                <a:lnTo>
                  <a:pt x="452909" y="4577"/>
                </a:lnTo>
                <a:lnTo>
                  <a:pt x="467519" y="0"/>
                </a:lnTo>
                <a:lnTo>
                  <a:pt x="482129" y="1493"/>
                </a:lnTo>
                <a:lnTo>
                  <a:pt x="496739" y="8985"/>
                </a:lnTo>
                <a:lnTo>
                  <a:pt x="511349" y="22182"/>
                </a:lnTo>
                <a:lnTo>
                  <a:pt x="525959" y="40581"/>
                </a:lnTo>
                <a:lnTo>
                  <a:pt x="540569" y="63505"/>
                </a:lnTo>
                <a:lnTo>
                  <a:pt x="555179" y="90138"/>
                </a:lnTo>
                <a:lnTo>
                  <a:pt x="569789" y="119573"/>
                </a:lnTo>
                <a:lnTo>
                  <a:pt x="584399" y="150859"/>
                </a:lnTo>
                <a:lnTo>
                  <a:pt x="599009" y="183052"/>
                </a:lnTo>
                <a:lnTo>
                  <a:pt x="613619" y="215254"/>
                </a:lnTo>
                <a:lnTo>
                  <a:pt x="628229" y="246654"/>
                </a:lnTo>
                <a:lnTo>
                  <a:pt x="642839" y="276552"/>
                </a:lnTo>
                <a:lnTo>
                  <a:pt x="657448" y="304383"/>
                </a:lnTo>
                <a:lnTo>
                  <a:pt x="672058" y="329717"/>
                </a:lnTo>
                <a:lnTo>
                  <a:pt x="686668" y="352267"/>
                </a:lnTo>
                <a:lnTo>
                  <a:pt x="701278" y="371874"/>
                </a:lnTo>
                <a:lnTo>
                  <a:pt x="715888" y="388499"/>
                </a:lnTo>
                <a:lnTo>
                  <a:pt x="730498" y="402196"/>
                </a:lnTo>
                <a:lnTo>
                  <a:pt x="745108" y="413101"/>
                </a:lnTo>
                <a:lnTo>
                  <a:pt x="759718" y="421405"/>
                </a:lnTo>
                <a:lnTo>
                  <a:pt x="774328" y="427337"/>
                </a:lnTo>
                <a:lnTo>
                  <a:pt x="788938" y="431146"/>
                </a:lnTo>
                <a:lnTo>
                  <a:pt x="803548" y="433087"/>
                </a:lnTo>
                <a:lnTo>
                  <a:pt x="818158" y="433411"/>
                </a:lnTo>
                <a:lnTo>
                  <a:pt x="832768" y="432355"/>
                </a:lnTo>
                <a:lnTo>
                  <a:pt x="847378" y="430139"/>
                </a:lnTo>
                <a:lnTo>
                  <a:pt x="861988" y="426963"/>
                </a:lnTo>
                <a:lnTo>
                  <a:pt x="876598" y="423006"/>
                </a:lnTo>
                <a:lnTo>
                  <a:pt x="891208" y="418428"/>
                </a:lnTo>
                <a:lnTo>
                  <a:pt x="905818" y="413370"/>
                </a:lnTo>
                <a:lnTo>
                  <a:pt x="920428" y="407959"/>
                </a:lnTo>
                <a:lnTo>
                  <a:pt x="935038" y="402309"/>
                </a:lnTo>
                <a:lnTo>
                  <a:pt x="949648" y="396523"/>
                </a:lnTo>
                <a:lnTo>
                  <a:pt x="964258" y="390697"/>
                </a:lnTo>
                <a:lnTo>
                  <a:pt x="978868" y="384920"/>
                </a:lnTo>
                <a:lnTo>
                  <a:pt x="993478" y="379275"/>
                </a:lnTo>
                <a:lnTo>
                  <a:pt x="1008088" y="373840"/>
                </a:lnTo>
                <a:lnTo>
                  <a:pt x="1022698" y="368690"/>
                </a:lnTo>
                <a:lnTo>
                  <a:pt x="1037308" y="363894"/>
                </a:lnTo>
                <a:lnTo>
                  <a:pt x="1051918" y="359517"/>
                </a:lnTo>
                <a:lnTo>
                  <a:pt x="1066528" y="355618"/>
                </a:lnTo>
                <a:lnTo>
                  <a:pt x="1081138" y="352251"/>
                </a:lnTo>
                <a:lnTo>
                  <a:pt x="1095747" y="349462"/>
                </a:lnTo>
                <a:lnTo>
                  <a:pt x="1110357" y="347290"/>
                </a:lnTo>
                <a:lnTo>
                  <a:pt x="1124967" y="345764"/>
                </a:lnTo>
                <a:lnTo>
                  <a:pt x="1139577" y="344906"/>
                </a:lnTo>
                <a:lnTo>
                  <a:pt x="1154187" y="344729"/>
                </a:lnTo>
                <a:lnTo>
                  <a:pt x="1168797" y="345234"/>
                </a:lnTo>
                <a:lnTo>
                  <a:pt x="1183407" y="346416"/>
                </a:lnTo>
                <a:lnTo>
                  <a:pt x="1198017" y="348257"/>
                </a:lnTo>
                <a:lnTo>
                  <a:pt x="1212627" y="350733"/>
                </a:lnTo>
                <a:lnTo>
                  <a:pt x="1227237" y="353810"/>
                </a:lnTo>
                <a:lnTo>
                  <a:pt x="1241847" y="357446"/>
                </a:lnTo>
                <a:lnTo>
                  <a:pt x="1256457" y="361593"/>
                </a:lnTo>
                <a:lnTo>
                  <a:pt x="1271067" y="366199"/>
                </a:lnTo>
                <a:lnTo>
                  <a:pt x="1285677" y="371205"/>
                </a:lnTo>
                <a:lnTo>
                  <a:pt x="1300287" y="376549"/>
                </a:lnTo>
                <a:lnTo>
                  <a:pt x="1314897" y="382169"/>
                </a:lnTo>
                <a:lnTo>
                  <a:pt x="1329507" y="387999"/>
                </a:lnTo>
                <a:lnTo>
                  <a:pt x="1344117" y="393977"/>
                </a:lnTo>
                <a:lnTo>
                  <a:pt x="1358727" y="400041"/>
                </a:lnTo>
                <a:lnTo>
                  <a:pt x="1373337" y="406129"/>
                </a:lnTo>
                <a:lnTo>
                  <a:pt x="1387947" y="412187"/>
                </a:lnTo>
                <a:lnTo>
                  <a:pt x="1402557" y="418162"/>
                </a:lnTo>
                <a:lnTo>
                  <a:pt x="1417167" y="424007"/>
                </a:lnTo>
                <a:lnTo>
                  <a:pt x="1431777" y="429681"/>
                </a:lnTo>
                <a:lnTo>
                  <a:pt x="1446387" y="435146"/>
                </a:lnTo>
                <a:lnTo>
                  <a:pt x="1460997" y="440375"/>
                </a:lnTo>
                <a:lnTo>
                  <a:pt x="1475607" y="445340"/>
                </a:lnTo>
                <a:lnTo>
                  <a:pt x="1490217" y="450025"/>
                </a:lnTo>
                <a:lnTo>
                  <a:pt x="1504827" y="454417"/>
                </a:lnTo>
                <a:lnTo>
                  <a:pt x="1519437" y="458506"/>
                </a:lnTo>
                <a:lnTo>
                  <a:pt x="1534046" y="462290"/>
                </a:lnTo>
                <a:lnTo>
                  <a:pt x="1548656" y="465771"/>
                </a:lnTo>
                <a:lnTo>
                  <a:pt x="1563266" y="468953"/>
                </a:lnTo>
                <a:lnTo>
                  <a:pt x="1577876" y="471845"/>
                </a:lnTo>
                <a:lnTo>
                  <a:pt x="1592486" y="474458"/>
                </a:lnTo>
                <a:lnTo>
                  <a:pt x="1607096" y="476806"/>
                </a:lnTo>
                <a:lnTo>
                  <a:pt x="1621706" y="478902"/>
                </a:lnTo>
                <a:lnTo>
                  <a:pt x="1636316" y="480764"/>
                </a:lnTo>
                <a:lnTo>
                  <a:pt x="1650926" y="482409"/>
                </a:lnTo>
                <a:lnTo>
                  <a:pt x="1665536" y="483854"/>
                </a:lnTo>
                <a:lnTo>
                  <a:pt x="1680146" y="485116"/>
                </a:lnTo>
                <a:lnTo>
                  <a:pt x="1694756" y="486213"/>
                </a:lnTo>
                <a:lnTo>
                  <a:pt x="1709366" y="487161"/>
                </a:lnTo>
                <a:lnTo>
                  <a:pt x="1723976" y="487975"/>
                </a:lnTo>
                <a:lnTo>
                  <a:pt x="1738586" y="488672"/>
                </a:lnTo>
                <a:lnTo>
                  <a:pt x="1753196" y="489264"/>
                </a:lnTo>
                <a:lnTo>
                  <a:pt x="1767806" y="489766"/>
                </a:lnTo>
                <a:lnTo>
                  <a:pt x="1782416" y="490188"/>
                </a:lnTo>
                <a:lnTo>
                  <a:pt x="1797026" y="490541"/>
                </a:lnTo>
                <a:lnTo>
                  <a:pt x="1811636" y="490836"/>
                </a:lnTo>
                <a:lnTo>
                  <a:pt x="1826246" y="491080"/>
                </a:lnTo>
                <a:lnTo>
                  <a:pt x="1840856" y="491281"/>
                </a:lnTo>
                <a:lnTo>
                  <a:pt x="1855466" y="491446"/>
                </a:lnTo>
                <a:lnTo>
                  <a:pt x="1870076" y="491580"/>
                </a:lnTo>
                <a:lnTo>
                  <a:pt x="1884686" y="491690"/>
                </a:lnTo>
                <a:lnTo>
                  <a:pt x="1899296" y="491778"/>
                </a:lnTo>
                <a:lnTo>
                  <a:pt x="1913906" y="491849"/>
                </a:lnTo>
                <a:lnTo>
                  <a:pt x="1928516" y="491906"/>
                </a:lnTo>
                <a:lnTo>
                  <a:pt x="1943126" y="491951"/>
                </a:lnTo>
                <a:lnTo>
                  <a:pt x="1957736" y="491987"/>
                </a:lnTo>
                <a:lnTo>
                  <a:pt x="1972345" y="492015"/>
                </a:lnTo>
                <a:lnTo>
                  <a:pt x="1986955" y="492038"/>
                </a:lnTo>
                <a:lnTo>
                  <a:pt x="2001565" y="492055"/>
                </a:lnTo>
                <a:lnTo>
                  <a:pt x="2016175" y="492068"/>
                </a:lnTo>
                <a:lnTo>
                  <a:pt x="2030785" y="492079"/>
                </a:lnTo>
                <a:lnTo>
                  <a:pt x="2045395" y="492087"/>
                </a:lnTo>
                <a:lnTo>
                  <a:pt x="2060005" y="492093"/>
                </a:lnTo>
                <a:lnTo>
                  <a:pt x="2074615" y="492097"/>
                </a:lnTo>
                <a:lnTo>
                  <a:pt x="2089225" y="492101"/>
                </a:lnTo>
                <a:lnTo>
                  <a:pt x="2103835" y="492103"/>
                </a:lnTo>
                <a:lnTo>
                  <a:pt x="2118445" y="492105"/>
                </a:lnTo>
                <a:lnTo>
                  <a:pt x="2133055" y="492107"/>
                </a:lnTo>
                <a:lnTo>
                  <a:pt x="2147665" y="492108"/>
                </a:lnTo>
                <a:lnTo>
                  <a:pt x="2162275" y="492109"/>
                </a:lnTo>
                <a:lnTo>
                  <a:pt x="2176885" y="492109"/>
                </a:lnTo>
                <a:lnTo>
                  <a:pt x="2191495" y="492110"/>
                </a:lnTo>
                <a:lnTo>
                  <a:pt x="2206105" y="492110"/>
                </a:lnTo>
                <a:lnTo>
                  <a:pt x="2220715" y="492110"/>
                </a:lnTo>
                <a:lnTo>
                  <a:pt x="2235325" y="492111"/>
                </a:lnTo>
                <a:lnTo>
                  <a:pt x="2249935" y="492111"/>
                </a:lnTo>
                <a:lnTo>
                  <a:pt x="2264545" y="492111"/>
                </a:lnTo>
                <a:lnTo>
                  <a:pt x="2279155" y="492111"/>
                </a:lnTo>
                <a:lnTo>
                  <a:pt x="2293765" y="492111"/>
                </a:lnTo>
                <a:lnTo>
                  <a:pt x="2308375" y="492111"/>
                </a:lnTo>
                <a:lnTo>
                  <a:pt x="2322985" y="492111"/>
                </a:lnTo>
                <a:lnTo>
                  <a:pt x="2337595" y="492111"/>
                </a:lnTo>
                <a:lnTo>
                  <a:pt x="2352205" y="492111"/>
                </a:lnTo>
                <a:lnTo>
                  <a:pt x="2366815" y="492111"/>
                </a:lnTo>
                <a:lnTo>
                  <a:pt x="2381425" y="492111"/>
                </a:lnTo>
                <a:lnTo>
                  <a:pt x="2396035" y="492111"/>
                </a:lnTo>
                <a:lnTo>
                  <a:pt x="2410644" y="492111"/>
                </a:lnTo>
                <a:lnTo>
                  <a:pt x="2425254" y="492111"/>
                </a:lnTo>
                <a:lnTo>
                  <a:pt x="2439864" y="492111"/>
                </a:lnTo>
                <a:lnTo>
                  <a:pt x="2454474" y="492111"/>
                </a:lnTo>
                <a:lnTo>
                  <a:pt x="2469084" y="492111"/>
                </a:lnTo>
                <a:lnTo>
                  <a:pt x="2483694" y="492111"/>
                </a:lnTo>
                <a:lnTo>
                  <a:pt x="2498304" y="492111"/>
                </a:lnTo>
                <a:lnTo>
                  <a:pt x="2512914" y="492111"/>
                </a:lnTo>
                <a:lnTo>
                  <a:pt x="2527524" y="492111"/>
                </a:lnTo>
                <a:lnTo>
                  <a:pt x="2542134" y="492111"/>
                </a:lnTo>
                <a:lnTo>
                  <a:pt x="2556744" y="492111"/>
                </a:lnTo>
                <a:lnTo>
                  <a:pt x="2571354" y="492111"/>
                </a:lnTo>
                <a:lnTo>
                  <a:pt x="2585964" y="492111"/>
                </a:lnTo>
                <a:lnTo>
                  <a:pt x="2600574" y="492111"/>
                </a:lnTo>
                <a:lnTo>
                  <a:pt x="2615184" y="492111"/>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0"/>
          <p:cNvSpPr txBox="1"/>
          <p:nvPr/>
        </p:nvSpPr>
        <p:spPr>
          <a:xfrm>
            <a:off x="6025896" y="2456115"/>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全体の</a:t>
            </a:r>
            <a:r>
              <a:rPr sz="2200" b="1" dirty="0" err="1">
                <a:solidFill>
                  <a:srgbClr val="262626"/>
                </a:solidFill>
                <a:latin typeface="Meiryo"/>
                <a:ea typeface="Meiryo"/>
                <a:cs typeface="Meiryo"/>
              </a:rPr>
              <a:t>振幅</a:t>
            </a:r>
            <a:endParaRPr sz="2200" b="1" dirty="0">
              <a:solidFill>
                <a:srgbClr val="262626"/>
              </a:solidFill>
              <a:latin typeface="Meiryo"/>
              <a:ea typeface="Meiryo"/>
              <a:cs typeface="Meiryo"/>
            </a:endParaRPr>
          </a:p>
        </p:txBody>
      </p:sp>
      <p:sp>
        <p:nvSpPr>
          <p:cNvPr id="26" name="g0"/>
          <p:cNvSpPr/>
          <p:nvPr/>
        </p:nvSpPr>
        <p:spPr>
          <a:xfrm>
            <a:off x="9454896" y="2287064"/>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27" name="f1"/>
          <p:cNvSpPr/>
          <p:nvPr/>
        </p:nvSpPr>
        <p:spPr>
          <a:xfrm>
            <a:off x="548640" y="3036872"/>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大血管の硬さ</a:t>
            </a:r>
            <a:r>
              <a:rPr sz="2200" b="1" dirty="0">
                <a:solidFill>
                  <a:srgbClr val="262626"/>
                </a:solidFill>
                <a:latin typeface="Meiryo"/>
                <a:ea typeface="Meiryo"/>
                <a:cs typeface="Meiryo"/>
              </a:rPr>
              <a:t> </a:t>
            </a:r>
          </a:p>
        </p:txBody>
      </p:sp>
      <p:sp>
        <p:nvSpPr>
          <p:cNvPr id="28" name="wbox1"/>
          <p:cNvSpPr/>
          <p:nvPr/>
        </p:nvSpPr>
        <p:spPr>
          <a:xfrm>
            <a:off x="3054096" y="3036872"/>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wbase1"/>
          <p:cNvCxnSpPr/>
          <p:nvPr/>
        </p:nvCxnSpPr>
        <p:spPr>
          <a:xfrm>
            <a:off x="3163824" y="3658664"/>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1"/>
          <p:cNvSpPr/>
          <p:nvPr/>
        </p:nvSpPr>
        <p:spPr>
          <a:xfrm>
            <a:off x="3163824" y="3279129"/>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1"/>
          <p:cNvSpPr/>
          <p:nvPr/>
        </p:nvSpPr>
        <p:spPr>
          <a:xfrm>
            <a:off x="3163824" y="3212402"/>
            <a:ext cx="2615184" cy="446262"/>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1"/>
          <p:cNvSpPr txBox="1"/>
          <p:nvPr/>
        </p:nvSpPr>
        <p:spPr>
          <a:xfrm>
            <a:off x="6025896" y="3205923"/>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の時相</a:t>
            </a:r>
            <a:endParaRPr sz="2200" b="1" dirty="0">
              <a:solidFill>
                <a:srgbClr val="262626"/>
              </a:solidFill>
              <a:latin typeface="Meiryo"/>
              <a:ea typeface="Meiryo"/>
              <a:cs typeface="Meiryo"/>
            </a:endParaRPr>
          </a:p>
        </p:txBody>
      </p:sp>
      <p:sp>
        <p:nvSpPr>
          <p:cNvPr id="31" name="g1"/>
          <p:cNvSpPr/>
          <p:nvPr/>
        </p:nvSpPr>
        <p:spPr>
          <a:xfrm>
            <a:off x="9454896" y="3036872"/>
            <a:ext cx="2112264" cy="676656"/>
          </a:xfrm>
          <a:prstGeom prst="roundRect">
            <a:avLst>
              <a:gd name="adj" fmla="val 40000"/>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実測+モデル</a:t>
            </a:r>
          </a:p>
        </p:txBody>
      </p:sp>
      <p:sp>
        <p:nvSpPr>
          <p:cNvPr id="32" name="f2"/>
          <p:cNvSpPr/>
          <p:nvPr/>
        </p:nvSpPr>
        <p:spPr>
          <a:xfrm>
            <a:off x="548640" y="3786680"/>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末梢トーヌス</a:t>
            </a:r>
            <a:r>
              <a:rPr sz="2200" b="1" dirty="0">
                <a:solidFill>
                  <a:srgbClr val="262626"/>
                </a:solidFill>
                <a:latin typeface="Meiryo"/>
                <a:ea typeface="Meiryo"/>
                <a:cs typeface="Meiryo"/>
              </a:rPr>
              <a:t> </a:t>
            </a:r>
          </a:p>
        </p:txBody>
      </p:sp>
      <p:sp>
        <p:nvSpPr>
          <p:cNvPr id="33" name="wbox2"/>
          <p:cNvSpPr/>
          <p:nvPr/>
        </p:nvSpPr>
        <p:spPr>
          <a:xfrm>
            <a:off x="3054096" y="3786680"/>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wbase2"/>
          <p:cNvCxnSpPr/>
          <p:nvPr/>
        </p:nvCxnSpPr>
        <p:spPr>
          <a:xfrm>
            <a:off x="3163824" y="4408472"/>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 name="wg2"/>
          <p:cNvSpPr/>
          <p:nvPr/>
        </p:nvSpPr>
        <p:spPr>
          <a:xfrm>
            <a:off x="3163824" y="4028937"/>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c2"/>
          <p:cNvSpPr/>
          <p:nvPr/>
        </p:nvSpPr>
        <p:spPr>
          <a:xfrm>
            <a:off x="3163824" y="4028338"/>
            <a:ext cx="2615184" cy="380134"/>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2"/>
          <p:cNvSpPr txBox="1"/>
          <p:nvPr/>
        </p:nvSpPr>
        <p:spPr>
          <a:xfrm>
            <a:off x="6025896" y="3955731"/>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の振幅</a:t>
            </a:r>
            <a:endParaRPr sz="2200" b="1" dirty="0">
              <a:solidFill>
                <a:srgbClr val="262626"/>
              </a:solidFill>
              <a:latin typeface="Meiryo"/>
              <a:ea typeface="Meiryo"/>
              <a:cs typeface="Meiryo"/>
            </a:endParaRPr>
          </a:p>
        </p:txBody>
      </p:sp>
      <p:sp>
        <p:nvSpPr>
          <p:cNvPr id="36" name="g2"/>
          <p:cNvSpPr/>
          <p:nvPr/>
        </p:nvSpPr>
        <p:spPr>
          <a:xfrm>
            <a:off x="9454896" y="3786680"/>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37" name="f3"/>
          <p:cNvSpPr/>
          <p:nvPr/>
        </p:nvSpPr>
        <p:spPr>
          <a:xfrm>
            <a:off x="548640" y="4536488"/>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心収縮力</a:t>
            </a:r>
            <a:r>
              <a:rPr sz="2200" b="1" dirty="0">
                <a:solidFill>
                  <a:srgbClr val="262626"/>
                </a:solidFill>
                <a:latin typeface="Meiryo"/>
                <a:ea typeface="Meiryo"/>
                <a:cs typeface="Meiryo"/>
              </a:rPr>
              <a:t> </a:t>
            </a:r>
          </a:p>
        </p:txBody>
      </p:sp>
      <p:sp>
        <p:nvSpPr>
          <p:cNvPr id="38" name="wbox3"/>
          <p:cNvSpPr/>
          <p:nvPr/>
        </p:nvSpPr>
        <p:spPr>
          <a:xfrm>
            <a:off x="3054096" y="4536488"/>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wbase3"/>
          <p:cNvCxnSpPr/>
          <p:nvPr/>
        </p:nvCxnSpPr>
        <p:spPr>
          <a:xfrm>
            <a:off x="3163824" y="5158280"/>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3"/>
          <p:cNvSpPr/>
          <p:nvPr/>
        </p:nvSpPr>
        <p:spPr>
          <a:xfrm>
            <a:off x="3163824" y="4778745"/>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wc3"/>
          <p:cNvSpPr/>
          <p:nvPr/>
        </p:nvSpPr>
        <p:spPr>
          <a:xfrm>
            <a:off x="3163824" y="4722504"/>
            <a:ext cx="2615184" cy="435776"/>
          </a:xfrm>
          <a:custGeom>
            <a:avLst/>
            <a:gdLst/>
            <a:ahLst/>
            <a:cxnLst/>
            <a:rect l="l" t="t" r="r" b="b"/>
            <a:pathLst>
              <a:path w="2615184" h="435776">
                <a:moveTo>
                  <a:pt x="0" y="435629"/>
                </a:moveTo>
                <a:lnTo>
                  <a:pt x="14610" y="435522"/>
                </a:lnTo>
                <a:lnTo>
                  <a:pt x="29220" y="435346"/>
                </a:lnTo>
                <a:lnTo>
                  <a:pt x="43830" y="435060"/>
                </a:lnTo>
                <a:lnTo>
                  <a:pt x="58440" y="434608"/>
                </a:lnTo>
                <a:lnTo>
                  <a:pt x="73050" y="433906"/>
                </a:lnTo>
                <a:lnTo>
                  <a:pt x="87660" y="432840"/>
                </a:lnTo>
                <a:lnTo>
                  <a:pt x="102270" y="431255"/>
                </a:lnTo>
                <a:lnTo>
                  <a:pt x="116880" y="428948"/>
                </a:lnTo>
                <a:lnTo>
                  <a:pt x="131490" y="425664"/>
                </a:lnTo>
                <a:lnTo>
                  <a:pt x="146100" y="421089"/>
                </a:lnTo>
                <a:lnTo>
                  <a:pt x="160710" y="414855"/>
                </a:lnTo>
                <a:lnTo>
                  <a:pt x="175320" y="406551"/>
                </a:lnTo>
                <a:lnTo>
                  <a:pt x="189930" y="395739"/>
                </a:lnTo>
                <a:lnTo>
                  <a:pt x="204540" y="381985"/>
                </a:lnTo>
                <a:lnTo>
                  <a:pt x="219149" y="364902"/>
                </a:lnTo>
                <a:lnTo>
                  <a:pt x="233759" y="344195"/>
                </a:lnTo>
                <a:lnTo>
                  <a:pt x="248369" y="319723"/>
                </a:lnTo>
                <a:lnTo>
                  <a:pt x="262979" y="291550"/>
                </a:lnTo>
                <a:lnTo>
                  <a:pt x="277589" y="259997"/>
                </a:lnTo>
                <a:lnTo>
                  <a:pt x="292199" y="225677"/>
                </a:lnTo>
                <a:lnTo>
                  <a:pt x="306809" y="189500"/>
                </a:lnTo>
                <a:lnTo>
                  <a:pt x="321419" y="152663"/>
                </a:lnTo>
                <a:lnTo>
                  <a:pt x="336029" y="116593"/>
                </a:lnTo>
                <a:lnTo>
                  <a:pt x="350639" y="82863"/>
                </a:lnTo>
                <a:lnTo>
                  <a:pt x="365249" y="53086"/>
                </a:lnTo>
                <a:lnTo>
                  <a:pt x="379859" y="28785"/>
                </a:lnTo>
                <a:lnTo>
                  <a:pt x="394469" y="11263"/>
                </a:lnTo>
                <a:lnTo>
                  <a:pt x="409079" y="1488"/>
                </a:lnTo>
                <a:lnTo>
                  <a:pt x="423689" y="0"/>
                </a:lnTo>
                <a:lnTo>
                  <a:pt x="438299" y="6858"/>
                </a:lnTo>
                <a:lnTo>
                  <a:pt x="452909" y="21639"/>
                </a:lnTo>
                <a:lnTo>
                  <a:pt x="467519" y="43470"/>
                </a:lnTo>
                <a:lnTo>
                  <a:pt x="482129" y="71115"/>
                </a:lnTo>
                <a:lnTo>
                  <a:pt x="496739" y="103083"/>
                </a:lnTo>
                <a:lnTo>
                  <a:pt x="511349" y="137758"/>
                </a:lnTo>
                <a:lnTo>
                  <a:pt x="525959" y="173526"/>
                </a:lnTo>
                <a:lnTo>
                  <a:pt x="540569" y="208893"/>
                </a:lnTo>
                <a:lnTo>
                  <a:pt x="555179" y="242576"/>
                </a:lnTo>
                <a:lnTo>
                  <a:pt x="569789" y="273565"/>
                </a:lnTo>
                <a:lnTo>
                  <a:pt x="584399" y="301148"/>
                </a:lnTo>
                <a:lnTo>
                  <a:pt x="599009" y="324911"/>
                </a:lnTo>
                <a:lnTo>
                  <a:pt x="613619" y="344709"/>
                </a:lnTo>
                <a:lnTo>
                  <a:pt x="628229" y="360620"/>
                </a:lnTo>
                <a:lnTo>
                  <a:pt x="642839" y="372891"/>
                </a:lnTo>
                <a:lnTo>
                  <a:pt x="657448" y="381880"/>
                </a:lnTo>
                <a:lnTo>
                  <a:pt x="672058" y="388007"/>
                </a:lnTo>
                <a:lnTo>
                  <a:pt x="686668" y="391710"/>
                </a:lnTo>
                <a:lnTo>
                  <a:pt x="701278" y="393411"/>
                </a:lnTo>
                <a:lnTo>
                  <a:pt x="715888" y="393495"/>
                </a:lnTo>
                <a:lnTo>
                  <a:pt x="730498" y="392301"/>
                </a:lnTo>
                <a:lnTo>
                  <a:pt x="745108" y="390113"/>
                </a:lnTo>
                <a:lnTo>
                  <a:pt x="759718" y="387164"/>
                </a:lnTo>
                <a:lnTo>
                  <a:pt x="774328" y="383644"/>
                </a:lnTo>
                <a:lnTo>
                  <a:pt x="788938" y="379704"/>
                </a:lnTo>
                <a:lnTo>
                  <a:pt x="803548" y="375464"/>
                </a:lnTo>
                <a:lnTo>
                  <a:pt x="818158" y="371025"/>
                </a:lnTo>
                <a:lnTo>
                  <a:pt x="832768" y="366468"/>
                </a:lnTo>
                <a:lnTo>
                  <a:pt x="847378" y="361866"/>
                </a:lnTo>
                <a:lnTo>
                  <a:pt x="861988" y="357281"/>
                </a:lnTo>
                <a:lnTo>
                  <a:pt x="876598" y="352774"/>
                </a:lnTo>
                <a:lnTo>
                  <a:pt x="891208" y="348401"/>
                </a:lnTo>
                <a:lnTo>
                  <a:pt x="905818" y="344215"/>
                </a:lnTo>
                <a:lnTo>
                  <a:pt x="920428" y="340270"/>
                </a:lnTo>
                <a:lnTo>
                  <a:pt x="935038" y="336613"/>
                </a:lnTo>
                <a:lnTo>
                  <a:pt x="949648" y="333292"/>
                </a:lnTo>
                <a:lnTo>
                  <a:pt x="964258" y="330349"/>
                </a:lnTo>
                <a:lnTo>
                  <a:pt x="978868" y="327824"/>
                </a:lnTo>
                <a:lnTo>
                  <a:pt x="993478" y="325750"/>
                </a:lnTo>
                <a:lnTo>
                  <a:pt x="1008088" y="324155"/>
                </a:lnTo>
                <a:lnTo>
                  <a:pt x="1022698" y="323062"/>
                </a:lnTo>
                <a:lnTo>
                  <a:pt x="1037308" y="322485"/>
                </a:lnTo>
                <a:lnTo>
                  <a:pt x="1051918" y="322432"/>
                </a:lnTo>
                <a:lnTo>
                  <a:pt x="1066528" y="322905"/>
                </a:lnTo>
                <a:lnTo>
                  <a:pt x="1081138" y="323896"/>
                </a:lnTo>
                <a:lnTo>
                  <a:pt x="1095747" y="325392"/>
                </a:lnTo>
                <a:lnTo>
                  <a:pt x="1110357" y="327372"/>
                </a:lnTo>
                <a:lnTo>
                  <a:pt x="1124967" y="329810"/>
                </a:lnTo>
                <a:lnTo>
                  <a:pt x="1139577" y="332672"/>
                </a:lnTo>
                <a:lnTo>
                  <a:pt x="1154187" y="335922"/>
                </a:lnTo>
                <a:lnTo>
                  <a:pt x="1168797" y="339517"/>
                </a:lnTo>
                <a:lnTo>
                  <a:pt x="1183407" y="343413"/>
                </a:lnTo>
                <a:lnTo>
                  <a:pt x="1198017" y="347561"/>
                </a:lnTo>
                <a:lnTo>
                  <a:pt x="1212627" y="351913"/>
                </a:lnTo>
                <a:lnTo>
                  <a:pt x="1227237" y="356420"/>
                </a:lnTo>
                <a:lnTo>
                  <a:pt x="1241847" y="361032"/>
                </a:lnTo>
                <a:lnTo>
                  <a:pt x="1256457" y="365702"/>
                </a:lnTo>
                <a:lnTo>
                  <a:pt x="1271067" y="370384"/>
                </a:lnTo>
                <a:lnTo>
                  <a:pt x="1285677" y="375037"/>
                </a:lnTo>
                <a:lnTo>
                  <a:pt x="1300287" y="379619"/>
                </a:lnTo>
                <a:lnTo>
                  <a:pt x="1314897" y="384096"/>
                </a:lnTo>
                <a:lnTo>
                  <a:pt x="1329507" y="388437"/>
                </a:lnTo>
                <a:lnTo>
                  <a:pt x="1344117" y="392613"/>
                </a:lnTo>
                <a:lnTo>
                  <a:pt x="1358727" y="396604"/>
                </a:lnTo>
                <a:lnTo>
                  <a:pt x="1373337" y="400390"/>
                </a:lnTo>
                <a:lnTo>
                  <a:pt x="1387947" y="403958"/>
                </a:lnTo>
                <a:lnTo>
                  <a:pt x="1402557" y="407299"/>
                </a:lnTo>
                <a:lnTo>
                  <a:pt x="1417167" y="410407"/>
                </a:lnTo>
                <a:lnTo>
                  <a:pt x="1431777" y="413281"/>
                </a:lnTo>
                <a:lnTo>
                  <a:pt x="1446387" y="415921"/>
                </a:lnTo>
                <a:lnTo>
                  <a:pt x="1460997" y="418333"/>
                </a:lnTo>
                <a:lnTo>
                  <a:pt x="1475607" y="420523"/>
                </a:lnTo>
                <a:lnTo>
                  <a:pt x="1490217" y="422499"/>
                </a:lnTo>
                <a:lnTo>
                  <a:pt x="1504827" y="424273"/>
                </a:lnTo>
                <a:lnTo>
                  <a:pt x="1519437" y="425856"/>
                </a:lnTo>
                <a:lnTo>
                  <a:pt x="1534046" y="427261"/>
                </a:lnTo>
                <a:lnTo>
                  <a:pt x="1548656" y="428501"/>
                </a:lnTo>
                <a:lnTo>
                  <a:pt x="1563266" y="429589"/>
                </a:lnTo>
                <a:lnTo>
                  <a:pt x="1577876" y="430539"/>
                </a:lnTo>
                <a:lnTo>
                  <a:pt x="1592486" y="431363"/>
                </a:lnTo>
                <a:lnTo>
                  <a:pt x="1607096" y="432075"/>
                </a:lnTo>
                <a:lnTo>
                  <a:pt x="1621706" y="432686"/>
                </a:lnTo>
                <a:lnTo>
                  <a:pt x="1636316" y="433209"/>
                </a:lnTo>
                <a:lnTo>
                  <a:pt x="1650926" y="433653"/>
                </a:lnTo>
                <a:lnTo>
                  <a:pt x="1665536" y="434028"/>
                </a:lnTo>
                <a:lnTo>
                  <a:pt x="1680146" y="434343"/>
                </a:lnTo>
                <a:lnTo>
                  <a:pt x="1694756" y="434608"/>
                </a:lnTo>
                <a:lnTo>
                  <a:pt x="1709366" y="434827"/>
                </a:lnTo>
                <a:lnTo>
                  <a:pt x="1723976" y="435009"/>
                </a:lnTo>
                <a:lnTo>
                  <a:pt x="1738586" y="435159"/>
                </a:lnTo>
                <a:lnTo>
                  <a:pt x="1753196" y="435282"/>
                </a:lnTo>
                <a:lnTo>
                  <a:pt x="1767806" y="435383"/>
                </a:lnTo>
                <a:lnTo>
                  <a:pt x="1782416" y="435464"/>
                </a:lnTo>
                <a:lnTo>
                  <a:pt x="1797026" y="435530"/>
                </a:lnTo>
                <a:lnTo>
                  <a:pt x="1811636" y="435582"/>
                </a:lnTo>
                <a:lnTo>
                  <a:pt x="1826246" y="435624"/>
                </a:lnTo>
                <a:lnTo>
                  <a:pt x="1840856" y="435658"/>
                </a:lnTo>
                <a:lnTo>
                  <a:pt x="1855466" y="435685"/>
                </a:lnTo>
                <a:lnTo>
                  <a:pt x="1870076" y="435705"/>
                </a:lnTo>
                <a:lnTo>
                  <a:pt x="1884686" y="435722"/>
                </a:lnTo>
                <a:lnTo>
                  <a:pt x="1899296" y="435735"/>
                </a:lnTo>
                <a:lnTo>
                  <a:pt x="1913906" y="435745"/>
                </a:lnTo>
                <a:lnTo>
                  <a:pt x="1928516" y="435752"/>
                </a:lnTo>
                <a:lnTo>
                  <a:pt x="1943126" y="435758"/>
                </a:lnTo>
                <a:lnTo>
                  <a:pt x="1957736" y="435763"/>
                </a:lnTo>
                <a:lnTo>
                  <a:pt x="1972345" y="435766"/>
                </a:lnTo>
                <a:lnTo>
                  <a:pt x="1986955" y="435769"/>
                </a:lnTo>
                <a:lnTo>
                  <a:pt x="2001565" y="435770"/>
                </a:lnTo>
                <a:lnTo>
                  <a:pt x="2016175" y="435772"/>
                </a:lnTo>
                <a:lnTo>
                  <a:pt x="2030785" y="435773"/>
                </a:lnTo>
                <a:lnTo>
                  <a:pt x="2045395" y="435774"/>
                </a:lnTo>
                <a:lnTo>
                  <a:pt x="2060005" y="435774"/>
                </a:lnTo>
                <a:lnTo>
                  <a:pt x="2074615" y="435775"/>
                </a:lnTo>
                <a:lnTo>
                  <a:pt x="2089225" y="435775"/>
                </a:lnTo>
                <a:lnTo>
                  <a:pt x="2103835" y="435775"/>
                </a:lnTo>
                <a:lnTo>
                  <a:pt x="2118445" y="435776"/>
                </a:lnTo>
                <a:lnTo>
                  <a:pt x="2133055" y="435776"/>
                </a:lnTo>
                <a:lnTo>
                  <a:pt x="2147665" y="435776"/>
                </a:lnTo>
                <a:lnTo>
                  <a:pt x="2162275" y="435776"/>
                </a:lnTo>
                <a:lnTo>
                  <a:pt x="2176885" y="435776"/>
                </a:lnTo>
                <a:lnTo>
                  <a:pt x="2191495" y="435776"/>
                </a:lnTo>
                <a:lnTo>
                  <a:pt x="2206105" y="435776"/>
                </a:lnTo>
                <a:lnTo>
                  <a:pt x="2220715" y="435776"/>
                </a:lnTo>
                <a:lnTo>
                  <a:pt x="2235325" y="435776"/>
                </a:lnTo>
                <a:lnTo>
                  <a:pt x="2249935" y="435776"/>
                </a:lnTo>
                <a:lnTo>
                  <a:pt x="2264545" y="435776"/>
                </a:lnTo>
                <a:lnTo>
                  <a:pt x="2279155" y="435776"/>
                </a:lnTo>
                <a:lnTo>
                  <a:pt x="2293765" y="435776"/>
                </a:lnTo>
                <a:lnTo>
                  <a:pt x="2308375" y="435776"/>
                </a:lnTo>
                <a:lnTo>
                  <a:pt x="2322985" y="435776"/>
                </a:lnTo>
                <a:lnTo>
                  <a:pt x="2337595" y="435776"/>
                </a:lnTo>
                <a:lnTo>
                  <a:pt x="2352205" y="435776"/>
                </a:lnTo>
                <a:lnTo>
                  <a:pt x="2366815" y="435776"/>
                </a:lnTo>
                <a:lnTo>
                  <a:pt x="2381425" y="435776"/>
                </a:lnTo>
                <a:lnTo>
                  <a:pt x="2396035" y="435776"/>
                </a:lnTo>
                <a:lnTo>
                  <a:pt x="2410644" y="435776"/>
                </a:lnTo>
                <a:lnTo>
                  <a:pt x="2425254" y="435776"/>
                </a:lnTo>
                <a:lnTo>
                  <a:pt x="2439864" y="435776"/>
                </a:lnTo>
                <a:lnTo>
                  <a:pt x="2454474" y="435776"/>
                </a:lnTo>
                <a:lnTo>
                  <a:pt x="2469084" y="435776"/>
                </a:lnTo>
                <a:lnTo>
                  <a:pt x="2483694" y="435776"/>
                </a:lnTo>
                <a:lnTo>
                  <a:pt x="2498304" y="435776"/>
                </a:lnTo>
                <a:lnTo>
                  <a:pt x="2512914" y="435776"/>
                </a:lnTo>
                <a:lnTo>
                  <a:pt x="2527524" y="435776"/>
                </a:lnTo>
                <a:lnTo>
                  <a:pt x="2542134" y="435776"/>
                </a:lnTo>
                <a:lnTo>
                  <a:pt x="2556744" y="435776"/>
                </a:lnTo>
                <a:lnTo>
                  <a:pt x="2571354" y="435776"/>
                </a:lnTo>
                <a:lnTo>
                  <a:pt x="2585964" y="435776"/>
                </a:lnTo>
                <a:lnTo>
                  <a:pt x="2600574" y="435776"/>
                </a:lnTo>
                <a:lnTo>
                  <a:pt x="2615184" y="435776"/>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m3"/>
          <p:cNvSpPr txBox="1"/>
          <p:nvPr/>
        </p:nvSpPr>
        <p:spPr>
          <a:xfrm>
            <a:off x="6025896" y="4705539"/>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前進波の傾き</a:t>
            </a:r>
            <a:endParaRPr sz="2200" b="1" dirty="0">
              <a:solidFill>
                <a:srgbClr val="262626"/>
              </a:solidFill>
              <a:latin typeface="Meiryo"/>
              <a:ea typeface="Meiryo"/>
              <a:cs typeface="Meiryo"/>
            </a:endParaRPr>
          </a:p>
        </p:txBody>
      </p:sp>
      <p:sp>
        <p:nvSpPr>
          <p:cNvPr id="43" name="f4"/>
          <p:cNvSpPr/>
          <p:nvPr/>
        </p:nvSpPr>
        <p:spPr>
          <a:xfrm>
            <a:off x="548640" y="5286296"/>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心拍数</a:t>
            </a:r>
            <a:r>
              <a:rPr sz="2200" b="1" dirty="0">
                <a:solidFill>
                  <a:srgbClr val="262626"/>
                </a:solidFill>
                <a:latin typeface="Meiryo"/>
                <a:ea typeface="Meiryo"/>
                <a:cs typeface="Meiryo"/>
              </a:rPr>
              <a:t> </a:t>
            </a:r>
          </a:p>
        </p:txBody>
      </p:sp>
      <p:sp>
        <p:nvSpPr>
          <p:cNvPr id="44" name="wbox4"/>
          <p:cNvSpPr/>
          <p:nvPr/>
        </p:nvSpPr>
        <p:spPr>
          <a:xfrm>
            <a:off x="3054096" y="5286296"/>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wbase4"/>
          <p:cNvCxnSpPr/>
          <p:nvPr/>
        </p:nvCxnSpPr>
        <p:spPr>
          <a:xfrm>
            <a:off x="3163824" y="5908088"/>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6" name="wg4"/>
          <p:cNvSpPr/>
          <p:nvPr/>
        </p:nvSpPr>
        <p:spPr>
          <a:xfrm>
            <a:off x="3163824" y="5528553"/>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wc4"/>
          <p:cNvSpPr/>
          <p:nvPr/>
        </p:nvSpPr>
        <p:spPr>
          <a:xfrm>
            <a:off x="3163824" y="5529482"/>
            <a:ext cx="2615184" cy="378598"/>
          </a:xfrm>
          <a:custGeom>
            <a:avLst/>
            <a:gdLst/>
            <a:ahLst/>
            <a:cxnLst/>
            <a:rect l="l" t="t" r="r" b="b"/>
            <a:pathLst>
              <a:path w="2615184" h="378598">
                <a:moveTo>
                  <a:pt x="0" y="378026"/>
                </a:moveTo>
                <a:lnTo>
                  <a:pt x="14610" y="377683"/>
                </a:lnTo>
                <a:lnTo>
                  <a:pt x="29220" y="377163"/>
                </a:lnTo>
                <a:lnTo>
                  <a:pt x="43830" y="376387"/>
                </a:lnTo>
                <a:lnTo>
                  <a:pt x="58440" y="375254"/>
                </a:lnTo>
                <a:lnTo>
                  <a:pt x="73050" y="373627"/>
                </a:lnTo>
                <a:lnTo>
                  <a:pt x="87660" y="371339"/>
                </a:lnTo>
                <a:lnTo>
                  <a:pt x="102270" y="368181"/>
                </a:lnTo>
                <a:lnTo>
                  <a:pt x="116880" y="363906"/>
                </a:lnTo>
                <a:lnTo>
                  <a:pt x="131490" y="358233"/>
                </a:lnTo>
                <a:lnTo>
                  <a:pt x="146100" y="350855"/>
                </a:lnTo>
                <a:lnTo>
                  <a:pt x="160710" y="341451"/>
                </a:lnTo>
                <a:lnTo>
                  <a:pt x="175320" y="329714"/>
                </a:lnTo>
                <a:lnTo>
                  <a:pt x="189930" y="315370"/>
                </a:lnTo>
                <a:lnTo>
                  <a:pt x="204540" y="298219"/>
                </a:lnTo>
                <a:lnTo>
                  <a:pt x="219149" y="278165"/>
                </a:lnTo>
                <a:lnTo>
                  <a:pt x="233759" y="255258"/>
                </a:lnTo>
                <a:lnTo>
                  <a:pt x="248369" y="229720"/>
                </a:lnTo>
                <a:lnTo>
                  <a:pt x="262979" y="201971"/>
                </a:lnTo>
                <a:lnTo>
                  <a:pt x="277589" y="172636"/>
                </a:lnTo>
                <a:lnTo>
                  <a:pt x="292199" y="142538"/>
                </a:lnTo>
                <a:lnTo>
                  <a:pt x="306809" y="112670"/>
                </a:lnTo>
                <a:lnTo>
                  <a:pt x="321419" y="84145"/>
                </a:lnTo>
                <a:lnTo>
                  <a:pt x="336029" y="58130"/>
                </a:lnTo>
                <a:lnTo>
                  <a:pt x="350639" y="35771"/>
                </a:lnTo>
                <a:lnTo>
                  <a:pt x="365249" y="18106"/>
                </a:lnTo>
                <a:lnTo>
                  <a:pt x="379859" y="5985"/>
                </a:lnTo>
                <a:lnTo>
                  <a:pt x="394469" y="0"/>
                </a:lnTo>
                <a:lnTo>
                  <a:pt x="409079" y="435"/>
                </a:lnTo>
                <a:lnTo>
                  <a:pt x="423689" y="7243"/>
                </a:lnTo>
                <a:lnTo>
                  <a:pt x="438299" y="20043"/>
                </a:lnTo>
                <a:lnTo>
                  <a:pt x="452909" y="38161"/>
                </a:lnTo>
                <a:lnTo>
                  <a:pt x="467519" y="60676"/>
                </a:lnTo>
                <a:lnTo>
                  <a:pt x="482129" y="86496"/>
                </a:lnTo>
                <a:lnTo>
                  <a:pt x="496739" y="114443"/>
                </a:lnTo>
                <a:lnTo>
                  <a:pt x="511349" y="143334"/>
                </a:lnTo>
                <a:lnTo>
                  <a:pt x="525959" y="172056"/>
                </a:lnTo>
                <a:lnTo>
                  <a:pt x="540569" y="199633"/>
                </a:lnTo>
                <a:lnTo>
                  <a:pt x="555179" y="225265"/>
                </a:lnTo>
                <a:lnTo>
                  <a:pt x="569789" y="248356"/>
                </a:lnTo>
                <a:lnTo>
                  <a:pt x="584399" y="268516"/>
                </a:lnTo>
                <a:lnTo>
                  <a:pt x="599009" y="285553"/>
                </a:lnTo>
                <a:lnTo>
                  <a:pt x="613619" y="299445"/>
                </a:lnTo>
                <a:lnTo>
                  <a:pt x="628229" y="310310"/>
                </a:lnTo>
                <a:lnTo>
                  <a:pt x="642839" y="318369"/>
                </a:lnTo>
                <a:lnTo>
                  <a:pt x="657448" y="323910"/>
                </a:lnTo>
                <a:lnTo>
                  <a:pt x="672058" y="327260"/>
                </a:lnTo>
                <a:lnTo>
                  <a:pt x="686668" y="328757"/>
                </a:lnTo>
                <a:lnTo>
                  <a:pt x="701278" y="328729"/>
                </a:lnTo>
                <a:lnTo>
                  <a:pt x="715888" y="327482"/>
                </a:lnTo>
                <a:lnTo>
                  <a:pt x="730498" y="325295"/>
                </a:lnTo>
                <a:lnTo>
                  <a:pt x="745108" y="322412"/>
                </a:lnTo>
                <a:lnTo>
                  <a:pt x="759718" y="319046"/>
                </a:lnTo>
                <a:lnTo>
                  <a:pt x="774328" y="315382"/>
                </a:lnTo>
                <a:lnTo>
                  <a:pt x="788938" y="311577"/>
                </a:lnTo>
                <a:lnTo>
                  <a:pt x="803548" y="307766"/>
                </a:lnTo>
                <a:lnTo>
                  <a:pt x="818158" y="304066"/>
                </a:lnTo>
                <a:lnTo>
                  <a:pt x="832768" y="300578"/>
                </a:lnTo>
                <a:lnTo>
                  <a:pt x="847378" y="297388"/>
                </a:lnTo>
                <a:lnTo>
                  <a:pt x="861988" y="294571"/>
                </a:lnTo>
                <a:lnTo>
                  <a:pt x="876598" y="292191"/>
                </a:lnTo>
                <a:lnTo>
                  <a:pt x="891208" y="290298"/>
                </a:lnTo>
                <a:lnTo>
                  <a:pt x="905818" y="288934"/>
                </a:lnTo>
                <a:lnTo>
                  <a:pt x="920428" y="288128"/>
                </a:lnTo>
                <a:lnTo>
                  <a:pt x="935038" y="287897"/>
                </a:lnTo>
                <a:lnTo>
                  <a:pt x="949648" y="288246"/>
                </a:lnTo>
                <a:lnTo>
                  <a:pt x="964258" y="289169"/>
                </a:lnTo>
                <a:lnTo>
                  <a:pt x="978868" y="290649"/>
                </a:lnTo>
                <a:lnTo>
                  <a:pt x="993478" y="292659"/>
                </a:lnTo>
                <a:lnTo>
                  <a:pt x="1008088" y="295160"/>
                </a:lnTo>
                <a:lnTo>
                  <a:pt x="1022698" y="298107"/>
                </a:lnTo>
                <a:lnTo>
                  <a:pt x="1037308" y="301447"/>
                </a:lnTo>
                <a:lnTo>
                  <a:pt x="1051918" y="305123"/>
                </a:lnTo>
                <a:lnTo>
                  <a:pt x="1066528" y="309071"/>
                </a:lnTo>
                <a:lnTo>
                  <a:pt x="1081138" y="313229"/>
                </a:lnTo>
                <a:lnTo>
                  <a:pt x="1095747" y="317532"/>
                </a:lnTo>
                <a:lnTo>
                  <a:pt x="1110357" y="321916"/>
                </a:lnTo>
                <a:lnTo>
                  <a:pt x="1124967" y="326323"/>
                </a:lnTo>
                <a:lnTo>
                  <a:pt x="1139577" y="330697"/>
                </a:lnTo>
                <a:lnTo>
                  <a:pt x="1154187" y="334985"/>
                </a:lnTo>
                <a:lnTo>
                  <a:pt x="1168797" y="339144"/>
                </a:lnTo>
                <a:lnTo>
                  <a:pt x="1183407" y="343135"/>
                </a:lnTo>
                <a:lnTo>
                  <a:pt x="1198017" y="346927"/>
                </a:lnTo>
                <a:lnTo>
                  <a:pt x="1212627" y="350494"/>
                </a:lnTo>
                <a:lnTo>
                  <a:pt x="1227237" y="353820"/>
                </a:lnTo>
                <a:lnTo>
                  <a:pt x="1241847" y="356892"/>
                </a:lnTo>
                <a:lnTo>
                  <a:pt x="1256457" y="359705"/>
                </a:lnTo>
                <a:lnTo>
                  <a:pt x="1271067" y="362259"/>
                </a:lnTo>
                <a:lnTo>
                  <a:pt x="1285677" y="364558"/>
                </a:lnTo>
                <a:lnTo>
                  <a:pt x="1300287" y="366612"/>
                </a:lnTo>
                <a:lnTo>
                  <a:pt x="1314897" y="368430"/>
                </a:lnTo>
                <a:lnTo>
                  <a:pt x="1329507" y="370029"/>
                </a:lnTo>
                <a:lnTo>
                  <a:pt x="1344117" y="371422"/>
                </a:lnTo>
                <a:lnTo>
                  <a:pt x="1358727" y="372628"/>
                </a:lnTo>
                <a:lnTo>
                  <a:pt x="1373337" y="373663"/>
                </a:lnTo>
                <a:lnTo>
                  <a:pt x="1387947" y="374545"/>
                </a:lnTo>
                <a:lnTo>
                  <a:pt x="1402557" y="375291"/>
                </a:lnTo>
                <a:lnTo>
                  <a:pt x="1417167" y="375917"/>
                </a:lnTo>
                <a:lnTo>
                  <a:pt x="1431777" y="376439"/>
                </a:lnTo>
                <a:lnTo>
                  <a:pt x="1446387" y="376871"/>
                </a:lnTo>
                <a:lnTo>
                  <a:pt x="1460997" y="377226"/>
                </a:lnTo>
                <a:lnTo>
                  <a:pt x="1475607" y="377515"/>
                </a:lnTo>
                <a:lnTo>
                  <a:pt x="1490217" y="377749"/>
                </a:lnTo>
                <a:lnTo>
                  <a:pt x="1504827" y="377937"/>
                </a:lnTo>
                <a:lnTo>
                  <a:pt x="1519437" y="378087"/>
                </a:lnTo>
                <a:lnTo>
                  <a:pt x="1534046" y="378207"/>
                </a:lnTo>
                <a:lnTo>
                  <a:pt x="1548656" y="378300"/>
                </a:lnTo>
                <a:lnTo>
                  <a:pt x="1563266" y="378373"/>
                </a:lnTo>
                <a:lnTo>
                  <a:pt x="1577876" y="378430"/>
                </a:lnTo>
                <a:lnTo>
                  <a:pt x="1592486" y="378474"/>
                </a:lnTo>
                <a:lnTo>
                  <a:pt x="1607096" y="378508"/>
                </a:lnTo>
                <a:lnTo>
                  <a:pt x="1621706" y="378533"/>
                </a:lnTo>
                <a:lnTo>
                  <a:pt x="1636316" y="378552"/>
                </a:lnTo>
                <a:lnTo>
                  <a:pt x="1650926" y="378567"/>
                </a:lnTo>
                <a:lnTo>
                  <a:pt x="1665536" y="378577"/>
                </a:lnTo>
                <a:lnTo>
                  <a:pt x="1680146" y="378585"/>
                </a:lnTo>
                <a:lnTo>
                  <a:pt x="1694756" y="378591"/>
                </a:lnTo>
                <a:lnTo>
                  <a:pt x="1709366" y="378595"/>
                </a:lnTo>
                <a:lnTo>
                  <a:pt x="1723976" y="378597"/>
                </a:lnTo>
                <a:lnTo>
                  <a:pt x="1738586" y="378598"/>
                </a:lnTo>
                <a:lnTo>
                  <a:pt x="1753196" y="378598"/>
                </a:lnTo>
                <a:lnTo>
                  <a:pt x="1767806" y="378595"/>
                </a:lnTo>
                <a:lnTo>
                  <a:pt x="1782416" y="378589"/>
                </a:lnTo>
                <a:lnTo>
                  <a:pt x="1797026" y="378578"/>
                </a:lnTo>
                <a:lnTo>
                  <a:pt x="1811636" y="378558"/>
                </a:lnTo>
                <a:lnTo>
                  <a:pt x="1826246" y="378524"/>
                </a:lnTo>
                <a:lnTo>
                  <a:pt x="1840856" y="378468"/>
                </a:lnTo>
                <a:lnTo>
                  <a:pt x="1855466" y="378375"/>
                </a:lnTo>
                <a:lnTo>
                  <a:pt x="1870076" y="378226"/>
                </a:lnTo>
                <a:lnTo>
                  <a:pt x="1884686" y="377992"/>
                </a:lnTo>
                <a:lnTo>
                  <a:pt x="1899296" y="377632"/>
                </a:lnTo>
                <a:lnTo>
                  <a:pt x="1913906" y="377085"/>
                </a:lnTo>
                <a:lnTo>
                  <a:pt x="1928516" y="376273"/>
                </a:lnTo>
                <a:lnTo>
                  <a:pt x="1943126" y="375088"/>
                </a:lnTo>
                <a:lnTo>
                  <a:pt x="1957736" y="373393"/>
                </a:lnTo>
                <a:lnTo>
                  <a:pt x="1972345" y="371013"/>
                </a:lnTo>
                <a:lnTo>
                  <a:pt x="1986955" y="367735"/>
                </a:lnTo>
                <a:lnTo>
                  <a:pt x="2001565" y="363309"/>
                </a:lnTo>
                <a:lnTo>
                  <a:pt x="2016175" y="357450"/>
                </a:lnTo>
                <a:lnTo>
                  <a:pt x="2030785" y="349848"/>
                </a:lnTo>
                <a:lnTo>
                  <a:pt x="2045395" y="340184"/>
                </a:lnTo>
                <a:lnTo>
                  <a:pt x="2060005" y="328151"/>
                </a:lnTo>
                <a:lnTo>
                  <a:pt x="2074615" y="313486"/>
                </a:lnTo>
                <a:lnTo>
                  <a:pt x="2089225" y="295998"/>
                </a:lnTo>
                <a:lnTo>
                  <a:pt x="2103835" y="275608"/>
                </a:lnTo>
                <a:lnTo>
                  <a:pt x="2118445" y="252386"/>
                </a:lnTo>
                <a:lnTo>
                  <a:pt x="2133055" y="226577"/>
                </a:lnTo>
                <a:lnTo>
                  <a:pt x="2147665" y="198628"/>
                </a:lnTo>
                <a:lnTo>
                  <a:pt x="2162275" y="169191"/>
                </a:lnTo>
                <a:lnTo>
                  <a:pt x="2176885" y="139113"/>
                </a:lnTo>
                <a:lnTo>
                  <a:pt x="2191495" y="109407"/>
                </a:lnTo>
                <a:lnTo>
                  <a:pt x="2206105" y="81200"/>
                </a:lnTo>
                <a:lnTo>
                  <a:pt x="2220715" y="55666"/>
                </a:lnTo>
                <a:lnTo>
                  <a:pt x="2235325" y="33947"/>
                </a:lnTo>
                <a:lnTo>
                  <a:pt x="2249935" y="17068"/>
                </a:lnTo>
                <a:lnTo>
                  <a:pt x="2264545" y="5860"/>
                </a:lnTo>
                <a:lnTo>
                  <a:pt x="2279155" y="887"/>
                </a:lnTo>
                <a:lnTo>
                  <a:pt x="2293765" y="2404"/>
                </a:lnTo>
                <a:lnTo>
                  <a:pt x="2308375" y="10334"/>
                </a:lnTo>
                <a:lnTo>
                  <a:pt x="2322985" y="24273"/>
                </a:lnTo>
                <a:lnTo>
                  <a:pt x="2337595" y="43524"/>
                </a:lnTo>
                <a:lnTo>
                  <a:pt x="2352205" y="67158"/>
                </a:lnTo>
                <a:lnTo>
                  <a:pt x="2366815" y="94084"/>
                </a:lnTo>
                <a:lnTo>
                  <a:pt x="2381425" y="123134"/>
                </a:lnTo>
                <a:lnTo>
                  <a:pt x="2396035" y="153148"/>
                </a:lnTo>
                <a:lnTo>
                  <a:pt x="2410644" y="183044"/>
                </a:lnTo>
                <a:lnTo>
                  <a:pt x="2425254" y="211882"/>
                </a:lnTo>
                <a:lnTo>
                  <a:pt x="2439864" y="238902"/>
                </a:lnTo>
                <a:lnTo>
                  <a:pt x="2454474" y="263548"/>
                </a:lnTo>
                <a:lnTo>
                  <a:pt x="2469084" y="285470"/>
                </a:lnTo>
                <a:lnTo>
                  <a:pt x="2483694" y="304507"/>
                </a:lnTo>
                <a:lnTo>
                  <a:pt x="2498304" y="320662"/>
                </a:lnTo>
                <a:lnTo>
                  <a:pt x="2512914" y="334071"/>
                </a:lnTo>
                <a:lnTo>
                  <a:pt x="2527524" y="344964"/>
                </a:lnTo>
                <a:lnTo>
                  <a:pt x="2542134" y="353628"/>
                </a:lnTo>
                <a:lnTo>
                  <a:pt x="2556744" y="360378"/>
                </a:lnTo>
                <a:lnTo>
                  <a:pt x="2571354" y="365532"/>
                </a:lnTo>
                <a:lnTo>
                  <a:pt x="2585964" y="369389"/>
                </a:lnTo>
                <a:lnTo>
                  <a:pt x="2600574" y="372220"/>
                </a:lnTo>
                <a:lnTo>
                  <a:pt x="2615184" y="374257"/>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m4"/>
          <p:cNvSpPr txBox="1"/>
          <p:nvPr/>
        </p:nvSpPr>
        <p:spPr>
          <a:xfrm>
            <a:off x="6025896" y="5455347"/>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前進波横幅・反射波振幅</a:t>
            </a:r>
            <a:endParaRPr sz="2200" b="1" dirty="0">
              <a:solidFill>
                <a:srgbClr val="262626"/>
              </a:solidFill>
              <a:latin typeface="Meiryo"/>
              <a:ea typeface="Meiryo"/>
              <a:cs typeface="Meiryo"/>
            </a:endParaRPr>
          </a:p>
        </p:txBody>
      </p:sp>
      <p:sp>
        <p:nvSpPr>
          <p:cNvPr id="49" name="g4"/>
          <p:cNvSpPr/>
          <p:nvPr/>
        </p:nvSpPr>
        <p:spPr>
          <a:xfrm>
            <a:off x="9454896" y="5286296"/>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17" name="g4">
            <a:extLst>
              <a:ext uri="{FF2B5EF4-FFF2-40B4-BE49-F238E27FC236}">
                <a16:creationId xmlns:a16="http://schemas.microsoft.com/office/drawing/2014/main" id="{D3A909D8-DD59-169C-8FF0-1812ECEB36AC}"/>
              </a:ext>
            </a:extLst>
          </p:cNvPr>
          <p:cNvSpPr/>
          <p:nvPr/>
        </p:nvSpPr>
        <p:spPr>
          <a:xfrm>
            <a:off x="9454896" y="4536488"/>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5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10. Alian 2011　／　11. Chowienczyk 1999　／　13. Pagoulatou 2021　／　17. Charlton 2019</a:t>
            </a:r>
          </a:p>
        </p:txBody>
      </p:sp>
      <p:sp>
        <p:nvSpPr>
          <p:cNvPr id="5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25/71</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BF9000"/>
                </a:solidFill>
                <a:latin typeface="Meiryo"/>
                <a:ea typeface="Meiryo"/>
                <a:cs typeface="Meiryo"/>
              </a:rPr>
              <a:t>　2.3 </a:t>
            </a:r>
            <a:r>
              <a:rPr sz="2700" b="1">
                <a:solidFill>
                  <a:srgbClr val="262626"/>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2.3 </a:t>
            </a:r>
            <a:r>
              <a:rPr sz="3000" b="1">
                <a:solidFill>
                  <a:srgbClr val="262626"/>
                </a:solidFill>
                <a:latin typeface="Meiryo"/>
                <a:ea typeface="Meiryo"/>
                <a:cs typeface="Meiryo"/>
              </a:rPr>
              <a:t>麻酔中の変化</a:t>
            </a:r>
          </a:p>
          <a:p>
            <a:pPr>
              <a:lnSpc>
                <a:spcPct val="142000"/>
              </a:lnSpc>
            </a:pPr>
            <a:r>
              <a:rPr sz="2700" b="1">
                <a:solidFill>
                  <a:srgbClr val="BF9000"/>
                </a:solidFill>
                <a:latin typeface="Meiryo"/>
                <a:ea typeface="Meiryo"/>
                <a:cs typeface="Meiryo"/>
              </a:rPr>
              <a:t>2.3.1 </a:t>
            </a:r>
            <a:r>
              <a:rPr sz="2700" b="0">
                <a:solidFill>
                  <a:srgbClr val="262626"/>
                </a:solidFill>
                <a:latin typeface="Meiryo"/>
                <a:ea typeface="Meiryo"/>
                <a:cs typeface="Meiryo"/>
              </a:rPr>
              <a:t>切痕位置とトーヌス</a:t>
            </a:r>
          </a:p>
          <a:p>
            <a:pPr>
              <a:lnSpc>
                <a:spcPct val="142000"/>
              </a:lnSpc>
            </a:pPr>
            <a:r>
              <a:rPr sz="2700" b="1">
                <a:solidFill>
                  <a:srgbClr val="BF9000"/>
                </a:solidFill>
                <a:latin typeface="Meiryo"/>
                <a:ea typeface="Meiryo"/>
                <a:cs typeface="Meiryo"/>
              </a:rPr>
              <a:t>2.3.2 </a:t>
            </a:r>
            <a:r>
              <a:rPr sz="2700" b="0">
                <a:solidFill>
                  <a:srgbClr val="262626"/>
                </a:solidFill>
                <a:latin typeface="Meiryo"/>
                <a:ea typeface="Meiryo"/>
                <a:cs typeface="Meiryo"/>
              </a:rPr>
              <a:t>波形の6分類</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26/71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2.3.1  切痕位置とトーヌス</a:t>
            </a:r>
          </a:p>
        </p:txBody>
      </p:sp>
      <p:sp>
        <p:nvSpPr>
          <p:cNvPr id="14"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3_murray.png"/>
          <p:cNvPicPr>
            <a:picLocks noChangeAspect="1"/>
          </p:cNvPicPr>
          <p:nvPr/>
        </p:nvPicPr>
        <p:blipFill>
          <a:blip r:embed="rId3"/>
          <a:stretch>
            <a:fillRect/>
          </a:stretch>
        </p:blipFill>
        <p:spPr>
          <a:xfrm>
            <a:off x="1555975" y="1185660"/>
            <a:ext cx="9384005" cy="5052926"/>
          </a:xfrm>
          <a:prstGeom prst="rect">
            <a:avLst/>
          </a:prstGeom>
        </p:spPr>
      </p:pic>
      <p:sp>
        <p:nvSpPr>
          <p:cNvPr id="240" name="t_g"/>
          <p:cNvSpPr txBox="1"/>
          <p:nvPr/>
        </p:nvSpPr>
        <p:spPr>
          <a:xfrm>
            <a:off x="1087393" y="1921645"/>
            <a:ext cx="3424088" cy="401087"/>
          </a:xfrm>
          <a:prstGeom prst="rect">
            <a:avLst/>
          </a:prstGeom>
          <a:noFill/>
        </p:spPr>
        <p:txBody>
          <a:bodyPr wrap="square" lIns="0" tIns="0" rIns="0" bIns="0" anchor="t">
            <a:noAutofit/>
          </a:bodyPr>
          <a:lstStyle/>
          <a:p>
            <a:pPr algn="ctr"/>
            <a:r>
              <a:rPr lang="ja-JP" altLang="en-US" sz="2200" b="1" dirty="0">
                <a:solidFill>
                  <a:srgbClr val="5FA83D"/>
                </a:solidFill>
                <a:latin typeface="Meiryo"/>
                <a:ea typeface="Meiryo"/>
                <a:cs typeface="Meiryo"/>
              </a:rPr>
              <a:t>正常トーヌス</a:t>
            </a:r>
          </a:p>
        </p:txBody>
      </p:sp>
      <p:sp>
        <p:nvSpPr>
          <p:cNvPr id="241" name="t_r"/>
          <p:cNvSpPr txBox="1"/>
          <p:nvPr/>
        </p:nvSpPr>
        <p:spPr>
          <a:xfrm>
            <a:off x="4081830" y="1903279"/>
            <a:ext cx="4028339" cy="401087"/>
          </a:xfrm>
          <a:prstGeom prst="rect">
            <a:avLst/>
          </a:prstGeom>
          <a:noFill/>
        </p:spPr>
        <p:txBody>
          <a:bodyPr wrap="square" lIns="0" tIns="0" rIns="0" bIns="0" anchor="t">
            <a:normAutofit/>
          </a:bodyPr>
          <a:lstStyle/>
          <a:p>
            <a:pPr algn="ctr"/>
            <a:r>
              <a:rPr lang="ja-JP" altLang="en-US" sz="2200" b="1" dirty="0">
                <a:solidFill>
                  <a:srgbClr val="C0121F"/>
                </a:solidFill>
                <a:latin typeface="Meiryo"/>
                <a:ea typeface="Meiryo"/>
                <a:cs typeface="Meiryo"/>
              </a:rPr>
              <a:t>血管収縮（浅麻酔・昇圧）</a:t>
            </a:r>
          </a:p>
        </p:txBody>
      </p:sp>
      <p:sp>
        <p:nvSpPr>
          <p:cNvPr id="242" name="t_b"/>
          <p:cNvSpPr txBox="1"/>
          <p:nvPr/>
        </p:nvSpPr>
        <p:spPr>
          <a:xfrm>
            <a:off x="7629416" y="1903279"/>
            <a:ext cx="4028339" cy="401087"/>
          </a:xfrm>
          <a:prstGeom prst="rect">
            <a:avLst/>
          </a:prstGeom>
          <a:noFill/>
        </p:spPr>
        <p:txBody>
          <a:bodyPr wrap="square" lIns="0" tIns="0" rIns="0" bIns="0" anchor="t">
            <a:normAutofit/>
          </a:bodyPr>
          <a:lstStyle/>
          <a:p>
            <a:pPr algn="ctr"/>
            <a:r>
              <a:rPr lang="ja-JP" altLang="en-US" sz="2200" b="1" dirty="0">
                <a:solidFill>
                  <a:srgbClr val="3F72C4"/>
                </a:solidFill>
                <a:latin typeface="Meiryo"/>
                <a:ea typeface="Meiryo"/>
                <a:cs typeface="Meiryo"/>
              </a:rPr>
              <a:t>血管拡張（深麻酔・降圧）</a:t>
            </a:r>
          </a:p>
        </p:txBody>
      </p:sp>
      <p:sp>
        <p:nvSpPr>
          <p:cNvPr id="243" name="s_g"/>
          <p:cNvSpPr txBox="1"/>
          <p:nvPr/>
        </p:nvSpPr>
        <p:spPr>
          <a:xfrm>
            <a:off x="1393547" y="5190144"/>
            <a:ext cx="2813979" cy="311957"/>
          </a:xfrm>
          <a:prstGeom prst="rect">
            <a:avLst/>
          </a:prstGeom>
          <a:noFill/>
        </p:spPr>
        <p:txBody>
          <a:bodyPr wrap="square" lIns="0" tIns="0" rIns="0" bIns="0" anchor="t">
            <a:normAutofit/>
          </a:bodyPr>
          <a:lstStyle/>
          <a:p>
            <a:pPr algn="ctr"/>
            <a:r>
              <a:rPr lang="ja-JP" altLang="en-US" b="1" dirty="0">
                <a:solidFill>
                  <a:srgbClr val="5FA83D"/>
                </a:solidFill>
                <a:latin typeface="Meiryo"/>
                <a:ea typeface="Meiryo"/>
                <a:cs typeface="Meiryo"/>
              </a:rPr>
              <a:t>切痕：中 ・ 振幅：中</a:t>
            </a:r>
          </a:p>
        </p:txBody>
      </p:sp>
      <p:sp>
        <p:nvSpPr>
          <p:cNvPr id="244" name="s_r"/>
          <p:cNvSpPr txBox="1"/>
          <p:nvPr/>
        </p:nvSpPr>
        <p:spPr>
          <a:xfrm>
            <a:off x="4440717" y="5190143"/>
            <a:ext cx="3310564" cy="311957"/>
          </a:xfrm>
          <a:prstGeom prst="rect">
            <a:avLst/>
          </a:prstGeom>
          <a:noFill/>
        </p:spPr>
        <p:txBody>
          <a:bodyPr wrap="square" lIns="0" tIns="0" rIns="0" bIns="0" anchor="t">
            <a:normAutofit/>
          </a:bodyPr>
          <a:lstStyle/>
          <a:p>
            <a:pPr algn="ctr"/>
            <a:r>
              <a:rPr lang="ja-JP" altLang="en-US" b="1" dirty="0">
                <a:solidFill>
                  <a:srgbClr val="C0121F"/>
                </a:solidFill>
                <a:latin typeface="Meiryo"/>
                <a:ea typeface="Meiryo"/>
                <a:cs typeface="Meiryo"/>
              </a:rPr>
              <a:t>切痕位置↑ ・ 振幅↓</a:t>
            </a:r>
          </a:p>
        </p:txBody>
      </p:sp>
      <p:sp>
        <p:nvSpPr>
          <p:cNvPr id="245" name="s_b"/>
          <p:cNvSpPr txBox="1"/>
          <p:nvPr/>
        </p:nvSpPr>
        <p:spPr>
          <a:xfrm>
            <a:off x="7529237" y="5190143"/>
            <a:ext cx="3310564" cy="311957"/>
          </a:xfrm>
          <a:prstGeom prst="rect">
            <a:avLst/>
          </a:prstGeom>
          <a:noFill/>
        </p:spPr>
        <p:txBody>
          <a:bodyPr wrap="square" lIns="0" tIns="0" rIns="0" bIns="0" anchor="t">
            <a:normAutofit/>
          </a:bodyPr>
          <a:lstStyle/>
          <a:p>
            <a:pPr algn="ctr"/>
            <a:r>
              <a:rPr lang="ja-JP" altLang="en-US" b="1" dirty="0">
                <a:solidFill>
                  <a:srgbClr val="3F72C4"/>
                </a:solidFill>
                <a:latin typeface="Meiryo"/>
                <a:ea typeface="Meiryo"/>
                <a:cs typeface="Meiryo"/>
              </a:rPr>
              <a:t>切痕位置↓ ・ 振幅↑</a:t>
            </a:r>
          </a:p>
        </p:txBody>
      </p:sp>
      <p:sp>
        <p:nvSpPr>
          <p:cNvPr id="24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19. Murray 1996</a:t>
            </a:r>
          </a:p>
        </p:txBody>
      </p:sp>
      <p:sp>
        <p:nvSpPr>
          <p:cNvPr id="2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27/71</a:t>
            </a:r>
          </a:p>
        </p:txBody>
      </p:sp>
    </p:spTree>
    <p:extLst>
      <p:ext uri="{BB962C8B-B14F-4D97-AF65-F5344CB8AC3E}">
        <p14:creationId xmlns:p14="http://schemas.microsoft.com/office/powerpoint/2010/main" val="786175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2E25-3834-FFF5-C1F9-8915F22C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1CE18-A000-3BE7-F918-94B3DFE349BF}"/>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49A4D507-BB9B-3AF5-BCF2-47C5A02DF53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5C2685D-08EF-D887-88C4-558BE54B19EF}"/>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BC46FA6-A2A0-6D46-F748-A5C12DA8AA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FFB54AC-B2B2-2999-329E-1B3A1DA6E28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669F7C6E-EF6A-F551-5CC0-25FD3ECC55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5_tusman.png">
            <a:extLst>
              <a:ext uri="{FF2B5EF4-FFF2-40B4-BE49-F238E27FC236}">
                <a16:creationId xmlns:a16="http://schemas.microsoft.com/office/drawing/2014/main" id="{5629390F-4A41-9297-E2B0-AF511FF69391}"/>
              </a:ext>
            </a:extLst>
          </p:cNvPr>
          <p:cNvPicPr>
            <a:picLocks noChangeAspect="1"/>
          </p:cNvPicPr>
          <p:nvPr/>
        </p:nvPicPr>
        <p:blipFill>
          <a:blip r:embed="rId3"/>
          <a:stretch>
            <a:fillRect/>
          </a:stretch>
        </p:blipFill>
        <p:spPr>
          <a:xfrm>
            <a:off x="720986" y="1800000"/>
            <a:ext cx="10726027" cy="4320000"/>
          </a:xfrm>
          <a:prstGeom prst="rect">
            <a:avLst/>
          </a:prstGeom>
        </p:spPr>
      </p:pic>
      <p:sp>
        <p:nvSpPr>
          <p:cNvPr id="18" name="TextBox 17">
            <a:extLst>
              <a:ext uri="{FF2B5EF4-FFF2-40B4-BE49-F238E27FC236}">
                <a16:creationId xmlns:a16="http://schemas.microsoft.com/office/drawing/2014/main" id="{9B8A685E-2720-EFFA-9D6C-ADFA47F6207D}"/>
              </a:ext>
            </a:extLst>
          </p:cNvPr>
          <p:cNvSpPr txBox="1"/>
          <p:nvPr/>
        </p:nvSpPr>
        <p:spPr>
          <a:xfrm>
            <a:off x="2156683" y="1783080"/>
            <a:ext cx="1487587" cy="456535"/>
          </a:xfrm>
          <a:prstGeom prst="rect">
            <a:avLst/>
          </a:prstGeom>
          <a:noFill/>
        </p:spPr>
        <p:txBody>
          <a:bodyPr wrap="none" lIns="25400" tIns="12700" rIns="25400" bIns="12700">
            <a:spAutoFit/>
          </a:bodyPr>
          <a:lstStyle/>
          <a:p>
            <a:pPr algn="ctr"/>
            <a:r>
              <a:rPr sz="2800" b="1">
                <a:solidFill>
                  <a:srgbClr val="4472C4"/>
                </a:solidFill>
                <a:latin typeface="Meiryo"/>
                <a:ea typeface="Meiryo"/>
                <a:cs typeface="Meiryo"/>
              </a:rPr>
              <a:t>血管収縮</a:t>
            </a:r>
          </a:p>
        </p:txBody>
      </p:sp>
      <p:sp>
        <p:nvSpPr>
          <p:cNvPr id="19" name="TextBox 18">
            <a:extLst>
              <a:ext uri="{FF2B5EF4-FFF2-40B4-BE49-F238E27FC236}">
                <a16:creationId xmlns:a16="http://schemas.microsoft.com/office/drawing/2014/main" id="{64964FFB-D78D-4944-7A45-68E9B13D4A6E}"/>
              </a:ext>
            </a:extLst>
          </p:cNvPr>
          <p:cNvSpPr txBox="1"/>
          <p:nvPr/>
        </p:nvSpPr>
        <p:spPr>
          <a:xfrm>
            <a:off x="5011153" y="1783080"/>
            <a:ext cx="769441" cy="456535"/>
          </a:xfrm>
          <a:prstGeom prst="rect">
            <a:avLst/>
          </a:prstGeom>
          <a:noFill/>
        </p:spPr>
        <p:txBody>
          <a:bodyPr wrap="none" lIns="25400" tIns="12700" rIns="25400" bIns="12700">
            <a:spAutoFit/>
          </a:bodyPr>
          <a:lstStyle/>
          <a:p>
            <a:pPr algn="ctr"/>
            <a:r>
              <a:rPr sz="2800" b="1">
                <a:solidFill>
                  <a:srgbClr val="70AD47"/>
                </a:solidFill>
                <a:latin typeface="Meiryo"/>
                <a:ea typeface="Meiryo"/>
                <a:cs typeface="Meiryo"/>
              </a:rPr>
              <a:t>正常</a:t>
            </a:r>
          </a:p>
        </p:txBody>
      </p:sp>
      <p:sp>
        <p:nvSpPr>
          <p:cNvPr id="20" name="TextBox 19">
            <a:extLst>
              <a:ext uri="{FF2B5EF4-FFF2-40B4-BE49-F238E27FC236}">
                <a16:creationId xmlns:a16="http://schemas.microsoft.com/office/drawing/2014/main" id="{6E421EF3-E9EF-67C8-BD8C-61A328D9FDC4}"/>
              </a:ext>
            </a:extLst>
          </p:cNvPr>
          <p:cNvSpPr txBox="1"/>
          <p:nvPr/>
        </p:nvSpPr>
        <p:spPr>
          <a:xfrm>
            <a:off x="8178007" y="1783080"/>
            <a:ext cx="1487587" cy="456535"/>
          </a:xfrm>
          <a:prstGeom prst="rect">
            <a:avLst/>
          </a:prstGeom>
          <a:noFill/>
        </p:spPr>
        <p:txBody>
          <a:bodyPr wrap="none" lIns="25400" tIns="12700" rIns="25400" bIns="12700">
            <a:spAutoFit/>
          </a:bodyPr>
          <a:lstStyle/>
          <a:p>
            <a:pPr algn="ctr"/>
            <a:r>
              <a:rPr sz="2800" b="1">
                <a:solidFill>
                  <a:srgbClr val="8A3B00"/>
                </a:solidFill>
                <a:latin typeface="Meiryo"/>
                <a:ea typeface="Meiryo"/>
                <a:cs typeface="Meiryo"/>
              </a:rPr>
              <a:t>血管拡張</a:t>
            </a:r>
          </a:p>
        </p:txBody>
      </p:sp>
      <p:sp>
        <p:nvSpPr>
          <p:cNvPr id="21" name="TextBox 20">
            <a:extLst>
              <a:ext uri="{FF2B5EF4-FFF2-40B4-BE49-F238E27FC236}">
                <a16:creationId xmlns:a16="http://schemas.microsoft.com/office/drawing/2014/main" id="{D72ADAEF-B48D-EB66-FE3A-AC3F3759E781}"/>
              </a:ext>
            </a:extLst>
          </p:cNvPr>
          <p:cNvSpPr txBox="1"/>
          <p:nvPr/>
        </p:nvSpPr>
        <p:spPr>
          <a:xfrm>
            <a:off x="1714683" y="2856879"/>
            <a:ext cx="788486" cy="302647"/>
          </a:xfrm>
          <a:prstGeom prst="rect">
            <a:avLst/>
          </a:prstGeom>
          <a:noFill/>
        </p:spPr>
        <p:txBody>
          <a:bodyPr wrap="none" lIns="25400" tIns="12700" rIns="25400" bIns="12700">
            <a:spAutoFit/>
          </a:bodyPr>
          <a:lstStyle/>
          <a:p>
            <a:pPr algn="ctr"/>
            <a:r>
              <a:rPr b="0" dirty="0">
                <a:solidFill>
                  <a:srgbClr val="8C8C8C"/>
                </a:solidFill>
                <a:latin typeface="Meiryo"/>
                <a:ea typeface="Meiryo"/>
                <a:cs typeface="Meiryo"/>
              </a:rPr>
              <a:t>severe</a:t>
            </a:r>
          </a:p>
        </p:txBody>
      </p:sp>
      <p:sp>
        <p:nvSpPr>
          <p:cNvPr id="22" name="TextBox 21">
            <a:extLst>
              <a:ext uri="{FF2B5EF4-FFF2-40B4-BE49-F238E27FC236}">
                <a16:creationId xmlns:a16="http://schemas.microsoft.com/office/drawing/2014/main" id="{DDB977FB-4CA6-27B9-81F4-DB06B8F3637C}"/>
              </a:ext>
            </a:extLst>
          </p:cNvPr>
          <p:cNvSpPr txBox="1"/>
          <p:nvPr/>
        </p:nvSpPr>
        <p:spPr>
          <a:xfrm>
            <a:off x="3220107"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3" name="TextBox 22">
            <a:extLst>
              <a:ext uri="{FF2B5EF4-FFF2-40B4-BE49-F238E27FC236}">
                <a16:creationId xmlns:a16="http://schemas.microsoft.com/office/drawing/2014/main" id="{58C0E1E8-FFF3-34F9-C4A9-120D29685B1B}"/>
              </a:ext>
            </a:extLst>
          </p:cNvPr>
          <p:cNvSpPr txBox="1"/>
          <p:nvPr/>
        </p:nvSpPr>
        <p:spPr>
          <a:xfrm>
            <a:off x="6806653" y="2856879"/>
            <a:ext cx="655629"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slight</a:t>
            </a:r>
          </a:p>
        </p:txBody>
      </p:sp>
      <p:sp>
        <p:nvSpPr>
          <p:cNvPr id="24" name="TextBox 23">
            <a:extLst>
              <a:ext uri="{FF2B5EF4-FFF2-40B4-BE49-F238E27FC236}">
                <a16:creationId xmlns:a16="http://schemas.microsoft.com/office/drawing/2014/main" id="{1DB50F6C-A843-A198-923E-3D09134C7438}"/>
              </a:ext>
            </a:extLst>
          </p:cNvPr>
          <p:cNvSpPr txBox="1"/>
          <p:nvPr/>
        </p:nvSpPr>
        <p:spPr>
          <a:xfrm>
            <a:off x="8244735"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5" name="TextBox 24">
            <a:extLst>
              <a:ext uri="{FF2B5EF4-FFF2-40B4-BE49-F238E27FC236}">
                <a16:creationId xmlns:a16="http://schemas.microsoft.com/office/drawing/2014/main" id="{8EE01CE3-12CB-24CA-9A06-8F6BAE405904}"/>
              </a:ext>
            </a:extLst>
          </p:cNvPr>
          <p:cNvSpPr txBox="1"/>
          <p:nvPr/>
        </p:nvSpPr>
        <p:spPr>
          <a:xfrm>
            <a:off x="10088758" y="2856879"/>
            <a:ext cx="78848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severe</a:t>
            </a:r>
          </a:p>
        </p:txBody>
      </p:sp>
      <p:sp>
        <p:nvSpPr>
          <p:cNvPr id="26" name="TextBox 25">
            <a:extLst>
              <a:ext uri="{FF2B5EF4-FFF2-40B4-BE49-F238E27FC236}">
                <a16:creationId xmlns:a16="http://schemas.microsoft.com/office/drawing/2014/main" id="{7935C084-AE8B-8914-6EB6-C95ADF998EFB}"/>
              </a:ext>
            </a:extLst>
          </p:cNvPr>
          <p:cNvSpPr txBox="1"/>
          <p:nvPr/>
        </p:nvSpPr>
        <p:spPr>
          <a:xfrm>
            <a:off x="132039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a:t>
            </a:r>
          </a:p>
        </p:txBody>
      </p:sp>
      <p:sp>
        <p:nvSpPr>
          <p:cNvPr id="27" name="TextBox 26">
            <a:extLst>
              <a:ext uri="{FF2B5EF4-FFF2-40B4-BE49-F238E27FC236}">
                <a16:creationId xmlns:a16="http://schemas.microsoft.com/office/drawing/2014/main" id="{7F32B748-9FD6-5E3D-A361-143B593F4D11}"/>
              </a:ext>
            </a:extLst>
          </p:cNvPr>
          <p:cNvSpPr txBox="1"/>
          <p:nvPr/>
        </p:nvSpPr>
        <p:spPr>
          <a:xfrm>
            <a:off x="299740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II</a:t>
            </a:r>
          </a:p>
        </p:txBody>
      </p:sp>
      <p:sp>
        <p:nvSpPr>
          <p:cNvPr id="28" name="TextBox 27">
            <a:extLst>
              <a:ext uri="{FF2B5EF4-FFF2-40B4-BE49-F238E27FC236}">
                <a16:creationId xmlns:a16="http://schemas.microsoft.com/office/drawing/2014/main" id="{EA55B207-9AA9-6EAD-4E57-5D5178E80E5A}"/>
              </a:ext>
            </a:extLst>
          </p:cNvPr>
          <p:cNvSpPr txBox="1"/>
          <p:nvPr/>
        </p:nvSpPr>
        <p:spPr>
          <a:xfrm>
            <a:off x="4674412" y="5120640"/>
            <a:ext cx="1828800" cy="329184"/>
          </a:xfrm>
          <a:prstGeom prst="rect">
            <a:avLst/>
          </a:prstGeom>
          <a:noFill/>
        </p:spPr>
        <p:txBody>
          <a:bodyPr wrap="none" lIns="25400" tIns="12700" rIns="25400" bIns="12700">
            <a:spAutoFit/>
          </a:bodyPr>
          <a:lstStyle/>
          <a:p>
            <a:pPr algn="ctr"/>
            <a:r>
              <a:rPr sz="1500" b="1">
                <a:solidFill>
                  <a:srgbClr val="70AD47"/>
                </a:solidFill>
                <a:latin typeface="Meiryo"/>
                <a:ea typeface="Meiryo"/>
                <a:cs typeface="Meiryo"/>
              </a:rPr>
              <a:t>Class III</a:t>
            </a:r>
          </a:p>
        </p:txBody>
      </p:sp>
      <p:sp>
        <p:nvSpPr>
          <p:cNvPr id="29" name="TextBox 28">
            <a:extLst>
              <a:ext uri="{FF2B5EF4-FFF2-40B4-BE49-F238E27FC236}">
                <a16:creationId xmlns:a16="http://schemas.microsoft.com/office/drawing/2014/main" id="{093ECF76-0F3E-2BF5-C081-48A28FE51A22}"/>
              </a:ext>
            </a:extLst>
          </p:cNvPr>
          <p:cNvSpPr txBox="1"/>
          <p:nvPr/>
        </p:nvSpPr>
        <p:spPr>
          <a:xfrm>
            <a:off x="6355994"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IV</a:t>
            </a:r>
          </a:p>
        </p:txBody>
      </p:sp>
      <p:sp>
        <p:nvSpPr>
          <p:cNvPr id="30" name="TextBox 29">
            <a:extLst>
              <a:ext uri="{FF2B5EF4-FFF2-40B4-BE49-F238E27FC236}">
                <a16:creationId xmlns:a16="http://schemas.microsoft.com/office/drawing/2014/main" id="{2381C2C1-93BF-6D30-CEF5-AAA5E72F6642}"/>
              </a:ext>
            </a:extLst>
          </p:cNvPr>
          <p:cNvSpPr txBox="1"/>
          <p:nvPr/>
        </p:nvSpPr>
        <p:spPr>
          <a:xfrm>
            <a:off x="8032089"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V</a:t>
            </a:r>
          </a:p>
        </p:txBody>
      </p:sp>
      <p:sp>
        <p:nvSpPr>
          <p:cNvPr id="31" name="TextBox 30">
            <a:extLst>
              <a:ext uri="{FF2B5EF4-FFF2-40B4-BE49-F238E27FC236}">
                <a16:creationId xmlns:a16="http://schemas.microsoft.com/office/drawing/2014/main" id="{F910EA68-CBFF-B379-3A8A-2D363A3B64D7}"/>
              </a:ext>
            </a:extLst>
          </p:cNvPr>
          <p:cNvSpPr txBox="1"/>
          <p:nvPr/>
        </p:nvSpPr>
        <p:spPr>
          <a:xfrm>
            <a:off x="9704527" y="5120640"/>
            <a:ext cx="1828800" cy="329184"/>
          </a:xfrm>
          <a:prstGeom prst="rect">
            <a:avLst/>
          </a:prstGeom>
          <a:noFill/>
        </p:spPr>
        <p:txBody>
          <a:bodyPr wrap="none" lIns="25400" tIns="12700" rIns="25400" bIns="12700">
            <a:spAutoFit/>
          </a:bodyPr>
          <a:lstStyle/>
          <a:p>
            <a:pPr algn="ctr"/>
            <a:r>
              <a:rPr sz="1500" b="1">
                <a:solidFill>
                  <a:srgbClr val="C00000"/>
                </a:solidFill>
                <a:latin typeface="Meiryo"/>
                <a:ea typeface="Meiryo"/>
                <a:cs typeface="Meiryo"/>
              </a:rPr>
              <a:t>Class VI</a:t>
            </a:r>
          </a:p>
        </p:txBody>
      </p:sp>
      <p:sp>
        <p:nvSpPr>
          <p:cNvPr id="32" name="TextBox 31">
            <a:extLst>
              <a:ext uri="{FF2B5EF4-FFF2-40B4-BE49-F238E27FC236}">
                <a16:creationId xmlns:a16="http://schemas.microsoft.com/office/drawing/2014/main" id="{AE24AB45-2B70-815A-7C05-CD0E978C4492}"/>
              </a:ext>
            </a:extLst>
          </p:cNvPr>
          <p:cNvSpPr txBox="1"/>
          <p:nvPr/>
        </p:nvSpPr>
        <p:spPr>
          <a:xfrm rot="16200000">
            <a:off x="104997" y="4002952"/>
            <a:ext cx="1200650" cy="333425"/>
          </a:xfrm>
          <a:prstGeom prst="rect">
            <a:avLst/>
          </a:prstGeom>
          <a:noFill/>
        </p:spPr>
        <p:txBody>
          <a:bodyPr wrap="none" lIns="25400" tIns="12700" rIns="25400" bIns="12700">
            <a:spAutoFit/>
          </a:bodyPr>
          <a:lstStyle/>
          <a:p>
            <a:pPr algn="ctr"/>
            <a:r>
              <a:rPr sz="2000" b="1">
                <a:solidFill>
                  <a:srgbClr val="272727"/>
                </a:solidFill>
                <a:latin typeface="Meiryo"/>
                <a:ea typeface="Meiryo"/>
                <a:cs typeface="Meiryo"/>
              </a:rPr>
              <a:t>PPG 振幅</a:t>
            </a:r>
          </a:p>
        </p:txBody>
      </p:sp>
      <p:sp>
        <p:nvSpPr>
          <p:cNvPr id="4" name="テキスト ボックス 3">
            <a:extLst>
              <a:ext uri="{FF2B5EF4-FFF2-40B4-BE49-F238E27FC236}">
                <a16:creationId xmlns:a16="http://schemas.microsoft.com/office/drawing/2014/main" id="{6D828D3A-5ACF-C19C-0C7E-81F1ABBA3109}"/>
              </a:ext>
            </a:extLst>
          </p:cNvPr>
          <p:cNvSpPr txBox="1"/>
          <p:nvPr/>
        </p:nvSpPr>
        <p:spPr>
          <a:xfrm>
            <a:off x="1951104" y="5559458"/>
            <a:ext cx="8676158" cy="895630"/>
          </a:xfrm>
          <a:prstGeom prst="rect">
            <a:avLst/>
          </a:prstGeom>
          <a:noFill/>
        </p:spPr>
        <p:txBody>
          <a:bodyPr wrap="none" rtlCol="0">
            <a:spAutoFit/>
          </a:bodyPr>
          <a:lstStyle/>
          <a:p>
            <a:pPr>
              <a:lnSpc>
                <a:spcPct val="110000"/>
              </a:lnSpc>
            </a:pPr>
            <a:r>
              <a:rPr lang="en-US" altLang="ja-JP" sz="2400" b="1" dirty="0">
                <a:latin typeface="Meiryo"/>
                <a:ea typeface="Meiryo"/>
                <a:cs typeface="Meiryo"/>
              </a:rPr>
              <a:t>CABG</a:t>
            </a:r>
            <a:r>
              <a:rPr lang="ja-JP" altLang="en-US" sz="2400" b="1">
                <a:latin typeface="Meiryo"/>
                <a:ea typeface="Meiryo"/>
                <a:cs typeface="Meiryo"/>
              </a:rPr>
              <a:t>症例で</a:t>
            </a:r>
            <a:r>
              <a:rPr lang="en-US" altLang="ja-JP" sz="2400" b="1" dirty="0">
                <a:latin typeface="Meiryo"/>
                <a:ea typeface="Meiryo"/>
                <a:cs typeface="Meiryo"/>
              </a:rPr>
              <a:t>PPG</a:t>
            </a:r>
            <a:r>
              <a:rPr lang="ja-JP" altLang="en-US" sz="2400" b="1">
                <a:latin typeface="Meiryo"/>
                <a:ea typeface="Meiryo"/>
                <a:cs typeface="Meiryo"/>
              </a:rPr>
              <a:t>波形を</a:t>
            </a:r>
            <a:r>
              <a:rPr lang="en-US" altLang="ja-JP" sz="2400" b="1" dirty="0">
                <a:latin typeface="Meiryo"/>
                <a:ea typeface="Meiryo"/>
                <a:cs typeface="Meiryo"/>
              </a:rPr>
              <a:t> </a:t>
            </a:r>
            <a:r>
              <a:rPr lang="ja-JP" altLang="en-US" sz="2400" b="1">
                <a:latin typeface="Meiryo"/>
                <a:ea typeface="Meiryo"/>
                <a:cs typeface="Meiryo"/>
              </a:rPr>
              <a:t>切痕位置</a:t>
            </a:r>
            <a:r>
              <a:rPr lang="en-US" altLang="ja-JP" sz="2400" b="1" dirty="0">
                <a:latin typeface="Meiryo"/>
                <a:ea typeface="Meiryo"/>
                <a:cs typeface="Meiryo"/>
              </a:rPr>
              <a:t> × </a:t>
            </a:r>
            <a:r>
              <a:rPr lang="ja-JP" altLang="en-US" sz="2400" b="1">
                <a:latin typeface="Meiryo"/>
                <a:ea typeface="Meiryo"/>
                <a:cs typeface="Meiryo"/>
              </a:rPr>
              <a:t>振幅 で</a:t>
            </a:r>
            <a:r>
              <a:rPr lang="en-US" altLang="ja-JP" sz="2400" b="1" dirty="0">
                <a:latin typeface="Meiryo"/>
                <a:ea typeface="Meiryo"/>
                <a:cs typeface="Meiryo"/>
              </a:rPr>
              <a:t>6</a:t>
            </a:r>
            <a:r>
              <a:rPr lang="ja-JP" altLang="en-US" sz="2400" b="1">
                <a:latin typeface="Meiryo"/>
                <a:ea typeface="Meiryo"/>
                <a:cs typeface="Meiryo"/>
              </a:rPr>
              <a:t>つに分類。　</a:t>
            </a:r>
            <a:endParaRPr lang="en-US" altLang="ja-JP" sz="2400" b="1" dirty="0">
              <a:latin typeface="Meiryo"/>
              <a:ea typeface="Meiryo"/>
              <a:cs typeface="Meiryo"/>
            </a:endParaRPr>
          </a:p>
          <a:p>
            <a:pPr>
              <a:lnSpc>
                <a:spcPct val="110000"/>
              </a:lnSpc>
            </a:pPr>
            <a:r>
              <a:rPr lang="ja-JP" altLang="en-US" sz="2400" b="1">
                <a:latin typeface="Meiryo"/>
                <a:ea typeface="Meiryo"/>
                <a:cs typeface="Meiryo"/>
              </a:rPr>
              <a:t>分類が血圧変化や循環パラメータと関連があるか調べた。</a:t>
            </a:r>
            <a:endParaRPr kumimoji="1" lang="ja-JP" altLang="en-US" sz="2400" b="1"/>
          </a:p>
        </p:txBody>
      </p:sp>
      <p:sp>
        <p:nvSpPr>
          <p:cNvPr id="3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3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28/71</a:t>
            </a:r>
          </a:p>
        </p:txBody>
      </p:sp>
    </p:spTree>
    <p:extLst>
      <p:ext uri="{BB962C8B-B14F-4D97-AF65-F5344CB8AC3E}">
        <p14:creationId xmlns:p14="http://schemas.microsoft.com/office/powerpoint/2010/main" val="18334007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1BB2-C3AC-D389-0079-C15A9126A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0CFEC-44D8-2442-2332-E2F79E8A884C}"/>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934E9F3E-5064-B3E8-CB0F-6905C4297CE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23BEF27-76BB-81FA-1A7D-8F14768898A9}"/>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723B94C-9217-9F4A-91DE-BF5AFA255F1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9EC3082-930D-D3C0-51FF-267D58BF216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583A65C-CA72-2CB4-70BD-1B35910DF08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5_tusman.png">
            <a:extLst>
              <a:ext uri="{FF2B5EF4-FFF2-40B4-BE49-F238E27FC236}">
                <a16:creationId xmlns:a16="http://schemas.microsoft.com/office/drawing/2014/main" id="{17DF98B4-4112-E40F-4C68-F344E0D26A6B}"/>
              </a:ext>
            </a:extLst>
          </p:cNvPr>
          <p:cNvPicPr>
            <a:picLocks noChangeAspect="1"/>
          </p:cNvPicPr>
          <p:nvPr/>
        </p:nvPicPr>
        <p:blipFill>
          <a:blip r:embed="rId3"/>
          <a:stretch>
            <a:fillRect/>
          </a:stretch>
        </p:blipFill>
        <p:spPr>
          <a:xfrm>
            <a:off x="720986" y="1800000"/>
            <a:ext cx="10726027" cy="4320000"/>
          </a:xfrm>
          <a:prstGeom prst="rect">
            <a:avLst/>
          </a:prstGeom>
        </p:spPr>
      </p:pic>
      <p:pic>
        <p:nvPicPr>
          <p:cNvPr id="3" name="図 2">
            <a:extLst>
              <a:ext uri="{FF2B5EF4-FFF2-40B4-BE49-F238E27FC236}">
                <a16:creationId xmlns:a16="http://schemas.microsoft.com/office/drawing/2014/main" id="{A236D4E2-3099-F0FD-523C-93E225DCA580}"/>
              </a:ext>
            </a:extLst>
          </p:cNvPr>
          <p:cNvPicPr>
            <a:picLocks noChangeAspect="1"/>
          </p:cNvPicPr>
          <p:nvPr/>
        </p:nvPicPr>
        <p:blipFill>
          <a:blip r:embed="rId4"/>
          <a:stretch>
            <a:fillRect/>
          </a:stretch>
        </p:blipFill>
        <p:spPr>
          <a:xfrm>
            <a:off x="744987" y="1690688"/>
            <a:ext cx="11115624" cy="4050414"/>
          </a:xfrm>
          <a:prstGeom prst="rect">
            <a:avLst/>
          </a:prstGeom>
        </p:spPr>
      </p:pic>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28/71</a:t>
            </a:r>
          </a:p>
        </p:txBody>
      </p:sp>
    </p:spTree>
    <p:extLst>
      <p:ext uri="{BB962C8B-B14F-4D97-AF65-F5344CB8AC3E}">
        <p14:creationId xmlns:p14="http://schemas.microsoft.com/office/powerpoint/2010/main" val="668389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815C-2CC2-3F24-F6F3-6185A510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72301-5AC6-3B3A-71EE-CC2222AA02BF}"/>
              </a:ext>
            </a:extLst>
          </p:cNvPr>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a:extLst>
              <a:ext uri="{FF2B5EF4-FFF2-40B4-BE49-F238E27FC236}">
                <a16:creationId xmlns:a16="http://schemas.microsoft.com/office/drawing/2014/main" id="{C4009E35-BB85-D0CA-44E6-8905B9D59A1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93209FE-98B2-0622-AFB2-ED8DDD424E8C}"/>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a:extLst>
              <a:ext uri="{FF2B5EF4-FFF2-40B4-BE49-F238E27FC236}">
                <a16:creationId xmlns:a16="http://schemas.microsoft.com/office/drawing/2014/main" id="{53D5C8C7-03C9-3FD5-5085-51D16DA9741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FD89725-E1CF-4E4A-3D78-94A042C0121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67E5518A-5231-37E1-3F1D-2C1084D722E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8DF31F8E-F11A-C9E0-1E9F-EDEE84B3DB8A}"/>
              </a:ext>
            </a:extLst>
          </p:cNvPr>
          <p:cNvPicPr>
            <a:picLocks noChangeAspect="1"/>
          </p:cNvPicPr>
          <p:nvPr/>
        </p:nvPicPr>
        <p:blipFill>
          <a:blip r:embed="rId3"/>
          <a:stretch>
            <a:fillRect/>
          </a:stretch>
        </p:blipFill>
        <p:spPr>
          <a:xfrm>
            <a:off x="1349391" y="1555420"/>
            <a:ext cx="9497786" cy="5086680"/>
          </a:xfrm>
          <a:prstGeom prst="rect">
            <a:avLst/>
          </a:prstGeom>
        </p:spPr>
      </p:pic>
      <p:sp>
        <p:nvSpPr>
          <p:cNvPr id="4" name="callout">
            <a:extLst>
              <a:ext uri="{FF2B5EF4-FFF2-40B4-BE49-F238E27FC236}">
                <a16:creationId xmlns:a16="http://schemas.microsoft.com/office/drawing/2014/main" id="{B5086CE6-A9B1-B237-A41A-55E5CFE6DB85}"/>
              </a:ext>
            </a:extLst>
          </p:cNvPr>
          <p:cNvSpPr/>
          <p:nvPr/>
        </p:nvSpPr>
        <p:spPr>
          <a:xfrm>
            <a:off x="1344822" y="5861538"/>
            <a:ext cx="9509697" cy="382641"/>
          </a:xfrm>
          <a:prstGeom prst="roundRect">
            <a:avLst>
              <a:gd name="adj" fmla="val 12000"/>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29/71</a:t>
            </a:r>
          </a:p>
        </p:txBody>
      </p:sp>
    </p:spTree>
    <p:extLst>
      <p:ext uri="{BB962C8B-B14F-4D97-AF65-F5344CB8AC3E}">
        <p14:creationId xmlns:p14="http://schemas.microsoft.com/office/powerpoint/2010/main" val="2033962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2019（心臓手術 15 名・190 エピソード）</a:t>
            </a:r>
          </a:p>
        </p:txBody>
      </p:sp>
      <p:sp>
        <p:nvSpPr>
          <p:cNvPr id="18" name="Rounded Rectangle 17"/>
          <p:cNvSpPr/>
          <p:nvPr/>
        </p:nvSpPr>
        <p:spPr>
          <a:xfrm>
            <a:off x="502920" y="1783080"/>
            <a:ext cx="3529584" cy="1234440"/>
          </a:xfrm>
          <a:prstGeom prst="round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0" name="TextBox 19"/>
          <p:cNvSpPr txBox="1"/>
          <p:nvPr/>
        </p:nvSpPr>
        <p:spPr>
          <a:xfrm>
            <a:off x="594360"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血管収縮</a:t>
            </a:r>
          </a:p>
        </p:txBody>
      </p:sp>
      <p:sp>
        <p:nvSpPr>
          <p:cNvPr id="21" name="Rounded Rectangle 20"/>
          <p:cNvSpPr/>
          <p:nvPr/>
        </p:nvSpPr>
        <p:spPr>
          <a:xfrm>
            <a:off x="4306824" y="1783080"/>
            <a:ext cx="3529584" cy="1234440"/>
          </a:xfrm>
          <a:prstGeom prst="roundRect">
            <a:avLst/>
          </a:prstGeom>
          <a:solidFill>
            <a:srgbClr val="4E8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398264"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3" name="TextBox 22"/>
          <p:cNvSpPr txBox="1"/>
          <p:nvPr/>
        </p:nvSpPr>
        <p:spPr>
          <a:xfrm>
            <a:off x="4398264"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正常</a:t>
            </a:r>
          </a:p>
        </p:txBody>
      </p:sp>
      <p:sp>
        <p:nvSpPr>
          <p:cNvPr id="24" name="Rounded Rectangle 23"/>
          <p:cNvSpPr/>
          <p:nvPr/>
        </p:nvSpPr>
        <p:spPr>
          <a:xfrm>
            <a:off x="8110728" y="1783080"/>
            <a:ext cx="3529584" cy="1234440"/>
          </a:xfrm>
          <a:prstGeom prst="round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02168"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IV〜VI</a:t>
            </a:r>
          </a:p>
        </p:txBody>
      </p:sp>
      <p:sp>
        <p:nvSpPr>
          <p:cNvPr id="26" name="TextBox 25"/>
          <p:cNvSpPr txBox="1"/>
          <p:nvPr/>
        </p:nvSpPr>
        <p:spPr>
          <a:xfrm>
            <a:off x="8202168"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血管拡張</a:t>
            </a:r>
          </a:p>
        </p:txBody>
      </p:sp>
      <p:sp>
        <p:nvSpPr>
          <p:cNvPr id="27" name="Rounded Rectangle 26"/>
          <p:cNvSpPr/>
          <p:nvPr/>
        </p:nvSpPr>
        <p:spPr>
          <a:xfrm>
            <a:off x="502920" y="3291840"/>
            <a:ext cx="11183112" cy="13258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3493008"/>
            <a:ext cx="10789920" cy="541553"/>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収縮期血圧との相関</a:t>
            </a:r>
          </a:p>
        </p:txBody>
      </p:sp>
      <p:sp>
        <p:nvSpPr>
          <p:cNvPr id="29" name="TextBox 28"/>
          <p:cNvSpPr txBox="1"/>
          <p:nvPr/>
        </p:nvSpPr>
        <p:spPr>
          <a:xfrm>
            <a:off x="685800" y="3977640"/>
            <a:ext cx="10789920" cy="671212"/>
          </a:xfrm>
          <a:prstGeom prst="rect">
            <a:avLst/>
          </a:prstGeom>
          <a:noFill/>
        </p:spPr>
        <p:txBody>
          <a:bodyPr wrap="square" lIns="0" tIns="0" rIns="0" bIns="0" anchor="t">
            <a:spAutoFit/>
          </a:bodyPr>
          <a:lstStyle/>
          <a:p>
            <a:pPr algn="ctr"/>
            <a:r>
              <a:rPr sz="3200" b="1">
                <a:solidFill>
                  <a:srgbClr val="0072B2"/>
                </a:solidFill>
                <a:latin typeface="Meiryo"/>
                <a:ea typeface="Meiryo"/>
                <a:cs typeface="Meiryo"/>
              </a:rPr>
              <a:t>r ＝ −0.90　（P&lt;0.0001）</a:t>
            </a:r>
          </a:p>
        </p:txBody>
      </p:sp>
      <p:sp>
        <p:nvSpPr>
          <p:cNvPr id="30" name="Rounded Rectangle 29"/>
          <p:cNvSpPr/>
          <p:nvPr/>
        </p:nvSpPr>
        <p:spPr>
          <a:xfrm>
            <a:off x="502920" y="4846320"/>
            <a:ext cx="11183112" cy="12344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047488"/>
            <a:ext cx="10789920" cy="1067828"/>
          </a:xfrm>
          <a:prstGeom prst="rect">
            <a:avLst/>
          </a:prstGeom>
          <a:noFill/>
        </p:spPr>
        <p:txBody>
          <a:bodyPr wrap="square" lIns="0" tIns="0" rIns="0" bIns="0" anchor="t">
            <a:spAutoFit/>
          </a:bodyPr>
          <a:lstStyle/>
          <a:p>
            <a:pPr algn="ctr">
              <a:spcAft>
                <a:spcPts val="400"/>
              </a:spcAft>
            </a:pPr>
            <a:r>
              <a:rPr sz="2600" b="1">
                <a:solidFill>
                  <a:srgbClr val="262626"/>
                </a:solidFill>
                <a:latin typeface="Meiryo"/>
                <a:ea typeface="Meiryo"/>
                <a:cs typeface="Meiryo"/>
              </a:rPr>
              <a:t>低血圧の検出　感度 100%　・　特異度 97.9%</a:t>
            </a:r>
          </a:p>
          <a:p>
            <a:pPr algn="ctr">
              <a:spcAft>
                <a:spcPts val="400"/>
              </a:spcAft>
            </a:pPr>
            <a:r>
              <a:rPr sz="2600" b="1">
                <a:solidFill>
                  <a:srgbClr val="262626"/>
                </a:solidFill>
                <a:latin typeface="Meiryo"/>
                <a:ea typeface="Meiryo"/>
                <a:cs typeface="Meiryo"/>
              </a:rPr>
              <a:t>高血圧の検出　感度 94.9%　・　特異度 99.2%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29/71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2.3.3  導入時の低血圧</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deflabel"/>
          <p:cNvSpPr txBox="1"/>
          <p:nvPr/>
        </p:nvSpPr>
        <p:spPr>
          <a:xfrm>
            <a:off x="566928" y="1664208"/>
            <a:ext cx="5760720" cy="420624"/>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Dicpleth ＝ 切痕の高さ ÷ 脈波振幅</a:t>
            </a:r>
          </a:p>
        </p:txBody>
      </p:sp>
      <p:sp>
        <p:nvSpPr>
          <p:cNvPr id="18" name="pbox0"/>
          <p:cNvSpPr/>
          <p:nvPr/>
        </p:nvSpPr>
        <p:spPr>
          <a:xfrm>
            <a:off x="5486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pb0"/>
          <p:cNvCxnSpPr/>
          <p:nvPr/>
        </p:nvCxnSpPr>
        <p:spPr>
          <a:xfrm>
            <a:off x="6766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pw0"/>
          <p:cNvSpPr/>
          <p:nvPr/>
        </p:nvSpPr>
        <p:spPr>
          <a:xfrm>
            <a:off x="676656" y="2770032"/>
            <a:ext cx="2487168" cy="1125312"/>
          </a:xfrm>
          <a:custGeom>
            <a:avLst/>
            <a:gdLst/>
            <a:ahLst/>
            <a:cxnLst/>
            <a:rect l="l" t="t" r="r" b="b"/>
            <a:pathLst>
              <a:path w="2487168" h="1125312">
                <a:moveTo>
                  <a:pt x="0" y="1124624"/>
                </a:moveTo>
                <a:lnTo>
                  <a:pt x="13895" y="1124278"/>
                </a:lnTo>
                <a:lnTo>
                  <a:pt x="27790" y="1123775"/>
                </a:lnTo>
                <a:lnTo>
                  <a:pt x="41684" y="1123055"/>
                </a:lnTo>
                <a:lnTo>
                  <a:pt x="55579" y="1122035"/>
                </a:lnTo>
                <a:lnTo>
                  <a:pt x="69474" y="1120609"/>
                </a:lnTo>
                <a:lnTo>
                  <a:pt x="83369" y="1118641"/>
                </a:lnTo>
                <a:lnTo>
                  <a:pt x="97264" y="1115956"/>
                </a:lnTo>
                <a:lnTo>
                  <a:pt x="111158" y="1112342"/>
                </a:lnTo>
                <a:lnTo>
                  <a:pt x="125053" y="1107538"/>
                </a:lnTo>
                <a:lnTo>
                  <a:pt x="138948" y="1101234"/>
                </a:lnTo>
                <a:lnTo>
                  <a:pt x="152843" y="1093068"/>
                </a:lnTo>
                <a:lnTo>
                  <a:pt x="166738" y="1082628"/>
                </a:lnTo>
                <a:lnTo>
                  <a:pt x="180632" y="1069457"/>
                </a:lnTo>
                <a:lnTo>
                  <a:pt x="194527" y="1053061"/>
                </a:lnTo>
                <a:lnTo>
                  <a:pt x="208422" y="1032923"/>
                </a:lnTo>
                <a:lnTo>
                  <a:pt x="222317" y="1008527"/>
                </a:lnTo>
                <a:lnTo>
                  <a:pt x="236211" y="979384"/>
                </a:lnTo>
                <a:lnTo>
                  <a:pt x="250106" y="945061"/>
                </a:lnTo>
                <a:lnTo>
                  <a:pt x="264001" y="905218"/>
                </a:lnTo>
                <a:lnTo>
                  <a:pt x="277896" y="859651"/>
                </a:lnTo>
                <a:lnTo>
                  <a:pt x="291791" y="808329"/>
                </a:lnTo>
                <a:lnTo>
                  <a:pt x="305685" y="751430"/>
                </a:lnTo>
                <a:lnTo>
                  <a:pt x="319580" y="689376"/>
                </a:lnTo>
                <a:lnTo>
                  <a:pt x="333475" y="622850"/>
                </a:lnTo>
                <a:lnTo>
                  <a:pt x="347370" y="552813"/>
                </a:lnTo>
                <a:lnTo>
                  <a:pt x="361265" y="480490"/>
                </a:lnTo>
                <a:lnTo>
                  <a:pt x="375159" y="407355"/>
                </a:lnTo>
                <a:lnTo>
                  <a:pt x="389054" y="335082"/>
                </a:lnTo>
                <a:lnTo>
                  <a:pt x="402949" y="265494"/>
                </a:lnTo>
                <a:lnTo>
                  <a:pt x="416844" y="200486"/>
                </a:lnTo>
                <a:lnTo>
                  <a:pt x="430739" y="141940"/>
                </a:lnTo>
                <a:lnTo>
                  <a:pt x="444633" y="91638"/>
                </a:lnTo>
                <a:lnTo>
                  <a:pt x="458528" y="51165"/>
                </a:lnTo>
                <a:lnTo>
                  <a:pt x="472423" y="21831"/>
                </a:lnTo>
                <a:lnTo>
                  <a:pt x="486318" y="4592"/>
                </a:lnTo>
                <a:lnTo>
                  <a:pt x="500213" y="0"/>
                </a:lnTo>
                <a:lnTo>
                  <a:pt x="514107" y="8168"/>
                </a:lnTo>
                <a:lnTo>
                  <a:pt x="528002" y="28764"/>
                </a:lnTo>
                <a:lnTo>
                  <a:pt x="541897" y="61027"/>
                </a:lnTo>
                <a:lnTo>
                  <a:pt x="555792" y="103809"/>
                </a:lnTo>
                <a:lnTo>
                  <a:pt x="569687" y="155638"/>
                </a:lnTo>
                <a:lnTo>
                  <a:pt x="583581" y="214796"/>
                </a:lnTo>
                <a:lnTo>
                  <a:pt x="597476" y="279404"/>
                </a:lnTo>
                <a:lnTo>
                  <a:pt x="611371" y="347519"/>
                </a:lnTo>
                <a:lnTo>
                  <a:pt x="625266" y="417220"/>
                </a:lnTo>
                <a:lnTo>
                  <a:pt x="639160" y="486687"/>
                </a:lnTo>
                <a:lnTo>
                  <a:pt x="653055" y="554272"/>
                </a:lnTo>
                <a:lnTo>
                  <a:pt x="666950" y="618552"/>
                </a:lnTo>
                <a:lnTo>
                  <a:pt x="680845" y="678358"/>
                </a:lnTo>
                <a:lnTo>
                  <a:pt x="694740" y="732797"/>
                </a:lnTo>
                <a:lnTo>
                  <a:pt x="708634" y="781249"/>
                </a:lnTo>
                <a:lnTo>
                  <a:pt x="722529" y="823356"/>
                </a:lnTo>
                <a:lnTo>
                  <a:pt x="736424" y="858991"/>
                </a:lnTo>
                <a:lnTo>
                  <a:pt x="750319" y="888232"/>
                </a:lnTo>
                <a:lnTo>
                  <a:pt x="764214" y="911320"/>
                </a:lnTo>
                <a:lnTo>
                  <a:pt x="778108" y="928621"/>
                </a:lnTo>
                <a:lnTo>
                  <a:pt x="792003" y="940590"/>
                </a:lnTo>
                <a:lnTo>
                  <a:pt x="805898" y="947736"/>
                </a:lnTo>
                <a:lnTo>
                  <a:pt x="819793" y="950594"/>
                </a:lnTo>
                <a:lnTo>
                  <a:pt x="833688" y="949702"/>
                </a:lnTo>
                <a:lnTo>
                  <a:pt x="847582" y="945582"/>
                </a:lnTo>
                <a:lnTo>
                  <a:pt x="861477" y="938730"/>
                </a:lnTo>
                <a:lnTo>
                  <a:pt x="875372" y="929607"/>
                </a:lnTo>
                <a:lnTo>
                  <a:pt x="889267" y="918637"/>
                </a:lnTo>
                <a:lnTo>
                  <a:pt x="903162" y="906206"/>
                </a:lnTo>
                <a:lnTo>
                  <a:pt x="917056" y="892665"/>
                </a:lnTo>
                <a:lnTo>
                  <a:pt x="930951" y="878333"/>
                </a:lnTo>
                <a:lnTo>
                  <a:pt x="944846" y="863500"/>
                </a:lnTo>
                <a:lnTo>
                  <a:pt x="958741" y="848433"/>
                </a:lnTo>
                <a:lnTo>
                  <a:pt x="972636" y="833377"/>
                </a:lnTo>
                <a:lnTo>
                  <a:pt x="986530" y="818560"/>
                </a:lnTo>
                <a:lnTo>
                  <a:pt x="1000425" y="804193"/>
                </a:lnTo>
                <a:lnTo>
                  <a:pt x="1014320" y="790476"/>
                </a:lnTo>
                <a:lnTo>
                  <a:pt x="1028215" y="777592"/>
                </a:lnTo>
                <a:lnTo>
                  <a:pt x="1042109" y="765712"/>
                </a:lnTo>
                <a:lnTo>
                  <a:pt x="1056004" y="754991"/>
                </a:lnTo>
                <a:lnTo>
                  <a:pt x="1069899" y="745570"/>
                </a:lnTo>
                <a:lnTo>
                  <a:pt x="1083794" y="737572"/>
                </a:lnTo>
                <a:lnTo>
                  <a:pt x="1097689" y="731102"/>
                </a:lnTo>
                <a:lnTo>
                  <a:pt x="1111583" y="726246"/>
                </a:lnTo>
                <a:lnTo>
                  <a:pt x="1125478" y="723067"/>
                </a:lnTo>
                <a:lnTo>
                  <a:pt x="1139373" y="721609"/>
                </a:lnTo>
                <a:lnTo>
                  <a:pt x="1153268" y="721890"/>
                </a:lnTo>
                <a:lnTo>
                  <a:pt x="1167163" y="723907"/>
                </a:lnTo>
                <a:lnTo>
                  <a:pt x="1181057" y="727636"/>
                </a:lnTo>
                <a:lnTo>
                  <a:pt x="1194952" y="733028"/>
                </a:lnTo>
                <a:lnTo>
                  <a:pt x="1208847" y="740015"/>
                </a:lnTo>
                <a:lnTo>
                  <a:pt x="1222742" y="748508"/>
                </a:lnTo>
                <a:lnTo>
                  <a:pt x="1236637" y="758402"/>
                </a:lnTo>
                <a:lnTo>
                  <a:pt x="1250531" y="769577"/>
                </a:lnTo>
                <a:lnTo>
                  <a:pt x="1264426" y="781898"/>
                </a:lnTo>
                <a:lnTo>
                  <a:pt x="1278321" y="795221"/>
                </a:lnTo>
                <a:lnTo>
                  <a:pt x="1292216" y="809395"/>
                </a:lnTo>
                <a:lnTo>
                  <a:pt x="1306111" y="824263"/>
                </a:lnTo>
                <a:lnTo>
                  <a:pt x="1320005" y="839669"/>
                </a:lnTo>
                <a:lnTo>
                  <a:pt x="1333900" y="855454"/>
                </a:lnTo>
                <a:lnTo>
                  <a:pt x="1347795" y="871466"/>
                </a:lnTo>
                <a:lnTo>
                  <a:pt x="1361690" y="887557"/>
                </a:lnTo>
                <a:lnTo>
                  <a:pt x="1375585" y="903588"/>
                </a:lnTo>
                <a:lnTo>
                  <a:pt x="1389479" y="919429"/>
                </a:lnTo>
                <a:lnTo>
                  <a:pt x="1403374" y="934962"/>
                </a:lnTo>
                <a:lnTo>
                  <a:pt x="1417269" y="950082"/>
                </a:lnTo>
                <a:lnTo>
                  <a:pt x="1431164" y="964697"/>
                </a:lnTo>
                <a:lnTo>
                  <a:pt x="1445059" y="978727"/>
                </a:lnTo>
                <a:lnTo>
                  <a:pt x="1458953" y="992108"/>
                </a:lnTo>
                <a:lnTo>
                  <a:pt x="1472848" y="1004790"/>
                </a:lnTo>
                <a:lnTo>
                  <a:pt x="1486743" y="1016734"/>
                </a:lnTo>
                <a:lnTo>
                  <a:pt x="1500638" y="1027916"/>
                </a:lnTo>
                <a:lnTo>
                  <a:pt x="1514532" y="1038323"/>
                </a:lnTo>
                <a:lnTo>
                  <a:pt x="1528427" y="1047953"/>
                </a:lnTo>
                <a:lnTo>
                  <a:pt x="1542322" y="1056813"/>
                </a:lnTo>
                <a:lnTo>
                  <a:pt x="1556217" y="1064920"/>
                </a:lnTo>
                <a:lnTo>
                  <a:pt x="1570112" y="1072297"/>
                </a:lnTo>
                <a:lnTo>
                  <a:pt x="1584006" y="1078974"/>
                </a:lnTo>
                <a:lnTo>
                  <a:pt x="1597901" y="1084984"/>
                </a:lnTo>
                <a:lnTo>
                  <a:pt x="1611796" y="1090366"/>
                </a:lnTo>
                <a:lnTo>
                  <a:pt x="1625691" y="1095160"/>
                </a:lnTo>
                <a:lnTo>
                  <a:pt x="1639586" y="1099409"/>
                </a:lnTo>
                <a:lnTo>
                  <a:pt x="1653480" y="1103155"/>
                </a:lnTo>
                <a:lnTo>
                  <a:pt x="1667375" y="1106441"/>
                </a:lnTo>
                <a:lnTo>
                  <a:pt x="1681270" y="1109309"/>
                </a:lnTo>
                <a:lnTo>
                  <a:pt x="1695165" y="1111799"/>
                </a:lnTo>
                <a:lnTo>
                  <a:pt x="1709060" y="1113951"/>
                </a:lnTo>
                <a:lnTo>
                  <a:pt x="1722954" y="1115802"/>
                </a:lnTo>
                <a:lnTo>
                  <a:pt x="1736849" y="1117385"/>
                </a:lnTo>
                <a:lnTo>
                  <a:pt x="1750744" y="1118734"/>
                </a:lnTo>
                <a:lnTo>
                  <a:pt x="1764639" y="1119876"/>
                </a:lnTo>
                <a:lnTo>
                  <a:pt x="1778534" y="1120839"/>
                </a:lnTo>
                <a:lnTo>
                  <a:pt x="1792428" y="1121648"/>
                </a:lnTo>
                <a:lnTo>
                  <a:pt x="1806323" y="1122323"/>
                </a:lnTo>
                <a:lnTo>
                  <a:pt x="1820218" y="1122885"/>
                </a:lnTo>
                <a:lnTo>
                  <a:pt x="1834113" y="1123349"/>
                </a:lnTo>
                <a:lnTo>
                  <a:pt x="1848008" y="1123731"/>
                </a:lnTo>
                <a:lnTo>
                  <a:pt x="1861902" y="1124045"/>
                </a:lnTo>
                <a:lnTo>
                  <a:pt x="1875797" y="1124300"/>
                </a:lnTo>
                <a:lnTo>
                  <a:pt x="1889692" y="1124508"/>
                </a:lnTo>
                <a:lnTo>
                  <a:pt x="1903587" y="1124676"/>
                </a:lnTo>
                <a:lnTo>
                  <a:pt x="1917481" y="1124811"/>
                </a:lnTo>
                <a:lnTo>
                  <a:pt x="1931376" y="1124919"/>
                </a:lnTo>
                <a:lnTo>
                  <a:pt x="1945271" y="1125005"/>
                </a:lnTo>
                <a:lnTo>
                  <a:pt x="1959166" y="1125073"/>
                </a:lnTo>
                <a:lnTo>
                  <a:pt x="1973061" y="1125127"/>
                </a:lnTo>
                <a:lnTo>
                  <a:pt x="1986955" y="1125169"/>
                </a:lnTo>
                <a:lnTo>
                  <a:pt x="2000850" y="1125202"/>
                </a:lnTo>
                <a:lnTo>
                  <a:pt x="2014745" y="1125228"/>
                </a:lnTo>
                <a:lnTo>
                  <a:pt x="2028640" y="1125248"/>
                </a:lnTo>
                <a:lnTo>
                  <a:pt x="2042535" y="1125264"/>
                </a:lnTo>
                <a:lnTo>
                  <a:pt x="2056429" y="1125276"/>
                </a:lnTo>
                <a:lnTo>
                  <a:pt x="2070324" y="1125285"/>
                </a:lnTo>
                <a:lnTo>
                  <a:pt x="2084219" y="1125291"/>
                </a:lnTo>
                <a:lnTo>
                  <a:pt x="2098114" y="1125297"/>
                </a:lnTo>
                <a:lnTo>
                  <a:pt x="2112009" y="1125301"/>
                </a:lnTo>
                <a:lnTo>
                  <a:pt x="2125903" y="1125304"/>
                </a:lnTo>
                <a:lnTo>
                  <a:pt x="2139798" y="1125306"/>
                </a:lnTo>
                <a:lnTo>
                  <a:pt x="2153693" y="1125307"/>
                </a:lnTo>
                <a:lnTo>
                  <a:pt x="2167588" y="1125309"/>
                </a:lnTo>
                <a:lnTo>
                  <a:pt x="2181483" y="1125310"/>
                </a:lnTo>
                <a:lnTo>
                  <a:pt x="2195377" y="1125310"/>
                </a:lnTo>
                <a:lnTo>
                  <a:pt x="2209272" y="1125311"/>
                </a:lnTo>
                <a:lnTo>
                  <a:pt x="2223167" y="1125311"/>
                </a:lnTo>
                <a:lnTo>
                  <a:pt x="2237062" y="1125311"/>
                </a:lnTo>
                <a:lnTo>
                  <a:pt x="2250957" y="1125312"/>
                </a:lnTo>
                <a:lnTo>
                  <a:pt x="2264851" y="1125312"/>
                </a:lnTo>
                <a:lnTo>
                  <a:pt x="2278746" y="1125312"/>
                </a:lnTo>
                <a:lnTo>
                  <a:pt x="2292641" y="1125312"/>
                </a:lnTo>
                <a:lnTo>
                  <a:pt x="2306536" y="1125312"/>
                </a:lnTo>
                <a:lnTo>
                  <a:pt x="2320430" y="1125312"/>
                </a:lnTo>
                <a:lnTo>
                  <a:pt x="2334325" y="1125312"/>
                </a:lnTo>
                <a:lnTo>
                  <a:pt x="2348220" y="1125312"/>
                </a:lnTo>
                <a:lnTo>
                  <a:pt x="2362115" y="1125312"/>
                </a:lnTo>
                <a:lnTo>
                  <a:pt x="2376010" y="1125312"/>
                </a:lnTo>
                <a:lnTo>
                  <a:pt x="2389904" y="1125312"/>
                </a:lnTo>
                <a:lnTo>
                  <a:pt x="2403799" y="1125312"/>
                </a:lnTo>
                <a:lnTo>
                  <a:pt x="2417694" y="1125312"/>
                </a:lnTo>
                <a:lnTo>
                  <a:pt x="2431589" y="1125312"/>
                </a:lnTo>
                <a:lnTo>
                  <a:pt x="2445484" y="1125312"/>
                </a:lnTo>
                <a:lnTo>
                  <a:pt x="2459378" y="1125312"/>
                </a:lnTo>
                <a:lnTo>
                  <a:pt x="2473273" y="1125312"/>
                </a:lnTo>
                <a:lnTo>
                  <a:pt x="2487168" y="1125312"/>
                </a:lnTo>
              </a:path>
            </a:pathLst>
          </a:custGeom>
          <a:noFill/>
          <a:ln w="317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pn0"/>
          <p:cNvCxnSpPr/>
          <p:nvPr/>
        </p:nvCxnSpPr>
        <p:spPr>
          <a:xfrm>
            <a:off x="676656" y="3720734"/>
            <a:ext cx="823253" cy="0"/>
          </a:xfrm>
          <a:prstGeom prst="line">
            <a:avLst/>
          </a:prstGeom>
          <a:ln w="12700">
            <a:solidFill>
              <a:srgbClr val="808080"/>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pd0"/>
          <p:cNvSpPr/>
          <p:nvPr/>
        </p:nvSpPr>
        <p:spPr>
          <a:xfrm>
            <a:off x="1440473" y="3661298"/>
            <a:ext cx="118872" cy="118872"/>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lab0"/>
          <p:cNvSpPr txBox="1"/>
          <p:nvPr/>
        </p:nvSpPr>
        <p:spPr>
          <a:xfrm>
            <a:off x="548640" y="3986784"/>
            <a:ext cx="2743200" cy="402336"/>
          </a:xfrm>
          <a:prstGeom prst="rect">
            <a:avLst/>
          </a:prstGeom>
          <a:noFill/>
        </p:spPr>
        <p:txBody>
          <a:bodyPr wrap="square" lIns="0" tIns="0" rIns="0" bIns="0" anchor="ctr">
            <a:spAutoFit/>
          </a:bodyPr>
          <a:lstStyle/>
          <a:p>
            <a:pPr algn="ctr"/>
            <a:r>
              <a:rPr sz="2200" b="1">
                <a:solidFill>
                  <a:srgbClr val="808080"/>
                </a:solidFill>
                <a:latin typeface="Meiryo"/>
                <a:ea typeface="Meiryo"/>
                <a:cs typeface="Meiryo"/>
              </a:rPr>
              <a:t>導入前</a:t>
            </a:r>
          </a:p>
        </p:txBody>
      </p:sp>
      <p:sp>
        <p:nvSpPr>
          <p:cNvPr id="23" name="pnote0"/>
          <p:cNvSpPr txBox="1"/>
          <p:nvPr/>
        </p:nvSpPr>
        <p:spPr>
          <a:xfrm>
            <a:off x="5486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高い</a:t>
            </a:r>
          </a:p>
        </p:txBody>
      </p:sp>
      <p:sp>
        <p:nvSpPr>
          <p:cNvPr id="24" name="pbox1"/>
          <p:cNvSpPr/>
          <p:nvPr/>
        </p:nvSpPr>
        <p:spPr>
          <a:xfrm>
            <a:off x="35204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pb1"/>
          <p:cNvCxnSpPr/>
          <p:nvPr/>
        </p:nvCxnSpPr>
        <p:spPr>
          <a:xfrm>
            <a:off x="36484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 name="pw1"/>
          <p:cNvSpPr/>
          <p:nvPr/>
        </p:nvSpPr>
        <p:spPr>
          <a:xfrm>
            <a:off x="3648456" y="2414589"/>
            <a:ext cx="2487168" cy="1480755"/>
          </a:xfrm>
          <a:custGeom>
            <a:avLst/>
            <a:gdLst/>
            <a:ahLst/>
            <a:cxnLst/>
            <a:rect l="l" t="t" r="r" b="b"/>
            <a:pathLst>
              <a:path w="2487168" h="1480755">
                <a:moveTo>
                  <a:pt x="0" y="1479671"/>
                </a:moveTo>
                <a:lnTo>
                  <a:pt x="13895" y="1479109"/>
                </a:lnTo>
                <a:lnTo>
                  <a:pt x="27790" y="1478285"/>
                </a:lnTo>
                <a:lnTo>
                  <a:pt x="41684" y="1477094"/>
                </a:lnTo>
                <a:lnTo>
                  <a:pt x="55579" y="1475397"/>
                </a:lnTo>
                <a:lnTo>
                  <a:pt x="69474" y="1473010"/>
                </a:lnTo>
                <a:lnTo>
                  <a:pt x="83369" y="1469699"/>
                </a:lnTo>
                <a:lnTo>
                  <a:pt x="97264" y="1465168"/>
                </a:lnTo>
                <a:lnTo>
                  <a:pt x="111158" y="1459054"/>
                </a:lnTo>
                <a:lnTo>
                  <a:pt x="125053" y="1450916"/>
                </a:lnTo>
                <a:lnTo>
                  <a:pt x="138948" y="1440234"/>
                </a:lnTo>
                <a:lnTo>
                  <a:pt x="152843" y="1426412"/>
                </a:lnTo>
                <a:lnTo>
                  <a:pt x="166738" y="1408779"/>
                </a:lnTo>
                <a:lnTo>
                  <a:pt x="180632" y="1386608"/>
                </a:lnTo>
                <a:lnTo>
                  <a:pt x="194527" y="1359135"/>
                </a:lnTo>
                <a:lnTo>
                  <a:pt x="208422" y="1325593"/>
                </a:lnTo>
                <a:lnTo>
                  <a:pt x="222317" y="1285258"/>
                </a:lnTo>
                <a:lnTo>
                  <a:pt x="236211" y="1237492"/>
                </a:lnTo>
                <a:lnTo>
                  <a:pt x="250106" y="1181812"/>
                </a:lnTo>
                <a:lnTo>
                  <a:pt x="264001" y="1117944"/>
                </a:lnTo>
                <a:lnTo>
                  <a:pt x="277896" y="1045895"/>
                </a:lnTo>
                <a:lnTo>
                  <a:pt x="291791" y="966003"/>
                </a:lnTo>
                <a:lnTo>
                  <a:pt x="305685" y="878994"/>
                </a:lnTo>
                <a:lnTo>
                  <a:pt x="319580" y="786004"/>
                </a:lnTo>
                <a:lnTo>
                  <a:pt x="333475" y="688596"/>
                </a:lnTo>
                <a:lnTo>
                  <a:pt x="347370" y="588737"/>
                </a:lnTo>
                <a:lnTo>
                  <a:pt x="361265" y="488750"/>
                </a:lnTo>
                <a:lnTo>
                  <a:pt x="375159" y="391241"/>
                </a:lnTo>
                <a:lnTo>
                  <a:pt x="389054" y="298992"/>
                </a:lnTo>
                <a:lnTo>
                  <a:pt x="402949" y="214833"/>
                </a:lnTo>
                <a:lnTo>
                  <a:pt x="416844" y="141502"/>
                </a:lnTo>
                <a:lnTo>
                  <a:pt x="430739" y="81498"/>
                </a:lnTo>
                <a:lnTo>
                  <a:pt x="444633" y="36938"/>
                </a:lnTo>
                <a:lnTo>
                  <a:pt x="458528" y="9435"/>
                </a:lnTo>
                <a:lnTo>
                  <a:pt x="472423" y="0"/>
                </a:lnTo>
                <a:lnTo>
                  <a:pt x="486318" y="8980"/>
                </a:lnTo>
                <a:lnTo>
                  <a:pt x="500213" y="36037"/>
                </a:lnTo>
                <a:lnTo>
                  <a:pt x="514107" y="80167"/>
                </a:lnTo>
                <a:lnTo>
                  <a:pt x="528002" y="139763"/>
                </a:lnTo>
                <a:lnTo>
                  <a:pt x="541897" y="212709"/>
                </a:lnTo>
                <a:lnTo>
                  <a:pt x="555792" y="296507"/>
                </a:lnTo>
                <a:lnTo>
                  <a:pt x="569687" y="388414"/>
                </a:lnTo>
                <a:lnTo>
                  <a:pt x="583581" y="485592"/>
                </a:lnTo>
                <a:lnTo>
                  <a:pt x="597476" y="585245"/>
                </a:lnTo>
                <a:lnTo>
                  <a:pt x="611371" y="684751"/>
                </a:lnTo>
                <a:lnTo>
                  <a:pt x="625266" y="781767"/>
                </a:lnTo>
                <a:lnTo>
                  <a:pt x="639160" y="874301"/>
                </a:lnTo>
                <a:lnTo>
                  <a:pt x="653055" y="960767"/>
                </a:lnTo>
                <a:lnTo>
                  <a:pt x="666950" y="1039998"/>
                </a:lnTo>
                <a:lnTo>
                  <a:pt x="680845" y="1111240"/>
                </a:lnTo>
                <a:lnTo>
                  <a:pt x="694740" y="1174120"/>
                </a:lnTo>
                <a:lnTo>
                  <a:pt x="708634" y="1228602"/>
                </a:lnTo>
                <a:lnTo>
                  <a:pt x="722529" y="1274922"/>
                </a:lnTo>
                <a:lnTo>
                  <a:pt x="736424" y="1313530"/>
                </a:lnTo>
                <a:lnTo>
                  <a:pt x="750319" y="1345027"/>
                </a:lnTo>
                <a:lnTo>
                  <a:pt x="764214" y="1370101"/>
                </a:lnTo>
                <a:lnTo>
                  <a:pt x="778108" y="1389484"/>
                </a:lnTo>
                <a:lnTo>
                  <a:pt x="792003" y="1403900"/>
                </a:lnTo>
                <a:lnTo>
                  <a:pt x="805898" y="1414042"/>
                </a:lnTo>
                <a:lnTo>
                  <a:pt x="819793" y="1420546"/>
                </a:lnTo>
                <a:lnTo>
                  <a:pt x="833688" y="1423974"/>
                </a:lnTo>
                <a:lnTo>
                  <a:pt x="847582" y="1424817"/>
                </a:lnTo>
                <a:lnTo>
                  <a:pt x="861477" y="1423488"/>
                </a:lnTo>
                <a:lnTo>
                  <a:pt x="875372" y="1420328"/>
                </a:lnTo>
                <a:lnTo>
                  <a:pt x="889267" y="1415616"/>
                </a:lnTo>
                <a:lnTo>
                  <a:pt x="903162" y="1409580"/>
                </a:lnTo>
                <a:lnTo>
                  <a:pt x="917056" y="1402400"/>
                </a:lnTo>
                <a:lnTo>
                  <a:pt x="930951" y="1394226"/>
                </a:lnTo>
                <a:lnTo>
                  <a:pt x="944846" y="1385181"/>
                </a:lnTo>
                <a:lnTo>
                  <a:pt x="958741" y="1375375"/>
                </a:lnTo>
                <a:lnTo>
                  <a:pt x="972636" y="1364906"/>
                </a:lnTo>
                <a:lnTo>
                  <a:pt x="986530" y="1353871"/>
                </a:lnTo>
                <a:lnTo>
                  <a:pt x="1000425" y="1342364"/>
                </a:lnTo>
                <a:lnTo>
                  <a:pt x="1014320" y="1330487"/>
                </a:lnTo>
                <a:lnTo>
                  <a:pt x="1028215" y="1318346"/>
                </a:lnTo>
                <a:lnTo>
                  <a:pt x="1042109" y="1306053"/>
                </a:lnTo>
                <a:lnTo>
                  <a:pt x="1056004" y="1293729"/>
                </a:lnTo>
                <a:lnTo>
                  <a:pt x="1069899" y="1281500"/>
                </a:lnTo>
                <a:lnTo>
                  <a:pt x="1083794" y="1269499"/>
                </a:lnTo>
                <a:lnTo>
                  <a:pt x="1097689" y="1257861"/>
                </a:lnTo>
                <a:lnTo>
                  <a:pt x="1111583" y="1246724"/>
                </a:lnTo>
                <a:lnTo>
                  <a:pt x="1125478" y="1236226"/>
                </a:lnTo>
                <a:lnTo>
                  <a:pt x="1139373" y="1226498"/>
                </a:lnTo>
                <a:lnTo>
                  <a:pt x="1153268" y="1217669"/>
                </a:lnTo>
                <a:lnTo>
                  <a:pt x="1167163" y="1209858"/>
                </a:lnTo>
                <a:lnTo>
                  <a:pt x="1181057" y="1203172"/>
                </a:lnTo>
                <a:lnTo>
                  <a:pt x="1194952" y="1197704"/>
                </a:lnTo>
                <a:lnTo>
                  <a:pt x="1208847" y="1193533"/>
                </a:lnTo>
                <a:lnTo>
                  <a:pt x="1222742" y="1190718"/>
                </a:lnTo>
                <a:lnTo>
                  <a:pt x="1236637" y="1189300"/>
                </a:lnTo>
                <a:lnTo>
                  <a:pt x="1250531" y="1189300"/>
                </a:lnTo>
                <a:lnTo>
                  <a:pt x="1264426" y="1190718"/>
                </a:lnTo>
                <a:lnTo>
                  <a:pt x="1278321" y="1193533"/>
                </a:lnTo>
                <a:lnTo>
                  <a:pt x="1292216" y="1197704"/>
                </a:lnTo>
                <a:lnTo>
                  <a:pt x="1306111" y="1203172"/>
                </a:lnTo>
                <a:lnTo>
                  <a:pt x="1320005" y="1209858"/>
                </a:lnTo>
                <a:lnTo>
                  <a:pt x="1333900" y="1217670"/>
                </a:lnTo>
                <a:lnTo>
                  <a:pt x="1347795" y="1226499"/>
                </a:lnTo>
                <a:lnTo>
                  <a:pt x="1361690" y="1236227"/>
                </a:lnTo>
                <a:lnTo>
                  <a:pt x="1375585" y="1246727"/>
                </a:lnTo>
                <a:lnTo>
                  <a:pt x="1389479" y="1257866"/>
                </a:lnTo>
                <a:lnTo>
                  <a:pt x="1403374" y="1269507"/>
                </a:lnTo>
                <a:lnTo>
                  <a:pt x="1417269" y="1281514"/>
                </a:lnTo>
                <a:lnTo>
                  <a:pt x="1431164" y="1293753"/>
                </a:lnTo>
                <a:lnTo>
                  <a:pt x="1445059" y="1306094"/>
                </a:lnTo>
                <a:lnTo>
                  <a:pt x="1458953" y="1318414"/>
                </a:lnTo>
                <a:lnTo>
                  <a:pt x="1472848" y="1330599"/>
                </a:lnTo>
                <a:lnTo>
                  <a:pt x="1486743" y="1342545"/>
                </a:lnTo>
                <a:lnTo>
                  <a:pt x="1500638" y="1354160"/>
                </a:lnTo>
                <a:lnTo>
                  <a:pt x="1514532" y="1365363"/>
                </a:lnTo>
                <a:lnTo>
                  <a:pt x="1528427" y="1376086"/>
                </a:lnTo>
                <a:lnTo>
                  <a:pt x="1542322" y="1386274"/>
                </a:lnTo>
                <a:lnTo>
                  <a:pt x="1556217" y="1395886"/>
                </a:lnTo>
                <a:lnTo>
                  <a:pt x="1570112" y="1404890"/>
                </a:lnTo>
                <a:lnTo>
                  <a:pt x="1584006" y="1413269"/>
                </a:lnTo>
                <a:lnTo>
                  <a:pt x="1597901" y="1421015"/>
                </a:lnTo>
                <a:lnTo>
                  <a:pt x="1611796" y="1428129"/>
                </a:lnTo>
                <a:lnTo>
                  <a:pt x="1625691" y="1434621"/>
                </a:lnTo>
                <a:lnTo>
                  <a:pt x="1639586" y="1440509"/>
                </a:lnTo>
                <a:lnTo>
                  <a:pt x="1653480" y="1445817"/>
                </a:lnTo>
                <a:lnTo>
                  <a:pt x="1667375" y="1450572"/>
                </a:lnTo>
                <a:lnTo>
                  <a:pt x="1681270" y="1454807"/>
                </a:lnTo>
                <a:lnTo>
                  <a:pt x="1695165" y="1458556"/>
                </a:lnTo>
                <a:lnTo>
                  <a:pt x="1709060" y="1461856"/>
                </a:lnTo>
                <a:lnTo>
                  <a:pt x="1722954" y="1464743"/>
                </a:lnTo>
                <a:lnTo>
                  <a:pt x="1736849" y="1467256"/>
                </a:lnTo>
                <a:lnTo>
                  <a:pt x="1750744" y="1469429"/>
                </a:lnTo>
                <a:lnTo>
                  <a:pt x="1764639" y="1471299"/>
                </a:lnTo>
                <a:lnTo>
                  <a:pt x="1778534" y="1472898"/>
                </a:lnTo>
                <a:lnTo>
                  <a:pt x="1792428" y="1474259"/>
                </a:lnTo>
                <a:lnTo>
                  <a:pt x="1806323" y="1475410"/>
                </a:lnTo>
                <a:lnTo>
                  <a:pt x="1820218" y="1476379"/>
                </a:lnTo>
                <a:lnTo>
                  <a:pt x="1834113" y="1477189"/>
                </a:lnTo>
                <a:lnTo>
                  <a:pt x="1848008" y="1477864"/>
                </a:lnTo>
                <a:lnTo>
                  <a:pt x="1861902" y="1478422"/>
                </a:lnTo>
                <a:lnTo>
                  <a:pt x="1875797" y="1478882"/>
                </a:lnTo>
                <a:lnTo>
                  <a:pt x="1889692" y="1479258"/>
                </a:lnTo>
                <a:lnTo>
                  <a:pt x="1903587" y="1479565"/>
                </a:lnTo>
                <a:lnTo>
                  <a:pt x="1917481" y="1479813"/>
                </a:lnTo>
                <a:lnTo>
                  <a:pt x="1931376" y="1480013"/>
                </a:lnTo>
                <a:lnTo>
                  <a:pt x="1945271" y="1480174"/>
                </a:lnTo>
                <a:lnTo>
                  <a:pt x="1959166" y="1480302"/>
                </a:lnTo>
                <a:lnTo>
                  <a:pt x="1973061" y="1480403"/>
                </a:lnTo>
                <a:lnTo>
                  <a:pt x="1986955" y="1480483"/>
                </a:lnTo>
                <a:lnTo>
                  <a:pt x="2000850" y="1480546"/>
                </a:lnTo>
                <a:lnTo>
                  <a:pt x="2014745" y="1480595"/>
                </a:lnTo>
                <a:lnTo>
                  <a:pt x="2028640" y="1480634"/>
                </a:lnTo>
                <a:lnTo>
                  <a:pt x="2042535" y="1480663"/>
                </a:lnTo>
                <a:lnTo>
                  <a:pt x="2056429" y="1480686"/>
                </a:lnTo>
                <a:lnTo>
                  <a:pt x="2070324" y="1480703"/>
                </a:lnTo>
                <a:lnTo>
                  <a:pt x="2084219" y="1480716"/>
                </a:lnTo>
                <a:lnTo>
                  <a:pt x="2098114" y="1480726"/>
                </a:lnTo>
                <a:lnTo>
                  <a:pt x="2112009" y="1480734"/>
                </a:lnTo>
                <a:lnTo>
                  <a:pt x="2125903" y="1480739"/>
                </a:lnTo>
                <a:lnTo>
                  <a:pt x="2139798" y="1480744"/>
                </a:lnTo>
                <a:lnTo>
                  <a:pt x="2153693" y="1480747"/>
                </a:lnTo>
                <a:lnTo>
                  <a:pt x="2167588" y="1480749"/>
                </a:lnTo>
                <a:lnTo>
                  <a:pt x="2181483" y="1480751"/>
                </a:lnTo>
                <a:lnTo>
                  <a:pt x="2195377" y="1480752"/>
                </a:lnTo>
                <a:lnTo>
                  <a:pt x="2209272" y="1480753"/>
                </a:lnTo>
                <a:lnTo>
                  <a:pt x="2223167" y="1480753"/>
                </a:lnTo>
                <a:lnTo>
                  <a:pt x="2237062" y="1480754"/>
                </a:lnTo>
                <a:lnTo>
                  <a:pt x="2250957" y="1480754"/>
                </a:lnTo>
                <a:lnTo>
                  <a:pt x="2264851" y="1480754"/>
                </a:lnTo>
                <a:lnTo>
                  <a:pt x="2278746" y="1480755"/>
                </a:lnTo>
                <a:lnTo>
                  <a:pt x="2292641" y="1480755"/>
                </a:lnTo>
                <a:lnTo>
                  <a:pt x="2306536" y="1480755"/>
                </a:lnTo>
                <a:lnTo>
                  <a:pt x="2320430" y="1480755"/>
                </a:lnTo>
                <a:lnTo>
                  <a:pt x="2334325" y="1480755"/>
                </a:lnTo>
                <a:lnTo>
                  <a:pt x="2348220" y="1480755"/>
                </a:lnTo>
                <a:lnTo>
                  <a:pt x="2362115" y="1480755"/>
                </a:lnTo>
                <a:lnTo>
                  <a:pt x="2376010" y="1480755"/>
                </a:lnTo>
                <a:lnTo>
                  <a:pt x="2389904" y="1480755"/>
                </a:lnTo>
                <a:lnTo>
                  <a:pt x="2403799" y="1480755"/>
                </a:lnTo>
                <a:lnTo>
                  <a:pt x="2417694" y="1480755"/>
                </a:lnTo>
                <a:lnTo>
                  <a:pt x="2431589" y="1480755"/>
                </a:lnTo>
                <a:lnTo>
                  <a:pt x="2445484" y="1480755"/>
                </a:lnTo>
                <a:lnTo>
                  <a:pt x="2459378" y="1480755"/>
                </a:lnTo>
                <a:lnTo>
                  <a:pt x="2473273" y="1480755"/>
                </a:lnTo>
                <a:lnTo>
                  <a:pt x="2487168" y="1480755"/>
                </a:lnTo>
              </a:path>
            </a:pathLst>
          </a:custGeom>
          <a:noFill/>
          <a:ln w="317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pn1"/>
          <p:cNvCxnSpPr/>
          <p:nvPr/>
        </p:nvCxnSpPr>
        <p:spPr>
          <a:xfrm>
            <a:off x="3648456" y="3839428"/>
            <a:ext cx="845637" cy="0"/>
          </a:xfrm>
          <a:prstGeom prst="line">
            <a:avLst/>
          </a:prstGeom>
          <a:ln w="12700">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pd1"/>
          <p:cNvSpPr/>
          <p:nvPr/>
        </p:nvSpPr>
        <p:spPr>
          <a:xfrm>
            <a:off x="4434657" y="3779992"/>
            <a:ext cx="118872" cy="118872"/>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lab1"/>
          <p:cNvSpPr txBox="1"/>
          <p:nvPr/>
        </p:nvSpPr>
        <p:spPr>
          <a:xfrm>
            <a:off x="3520440" y="3986784"/>
            <a:ext cx="2743200" cy="402336"/>
          </a:xfrm>
          <a:prstGeom prst="rect">
            <a:avLst/>
          </a:prstGeom>
          <a:noFill/>
        </p:spPr>
        <p:txBody>
          <a:bodyPr wrap="square" lIns="0" tIns="0" rIns="0" bIns="0" anchor="ctr">
            <a:spAutoFit/>
          </a:bodyPr>
          <a:lstStyle/>
          <a:p>
            <a:pPr algn="ctr"/>
            <a:r>
              <a:rPr sz="2200" b="1">
                <a:solidFill>
                  <a:srgbClr val="D55E00"/>
                </a:solidFill>
                <a:latin typeface="Meiryo"/>
                <a:ea typeface="Meiryo"/>
                <a:cs typeface="Meiryo"/>
              </a:rPr>
              <a:t>低血圧時</a:t>
            </a:r>
          </a:p>
        </p:txBody>
      </p:sp>
      <p:sp>
        <p:nvSpPr>
          <p:cNvPr id="29" name="pnote1"/>
          <p:cNvSpPr txBox="1"/>
          <p:nvPr/>
        </p:nvSpPr>
        <p:spPr>
          <a:xfrm>
            <a:off x="35204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低い・振幅↑</a:t>
            </a:r>
          </a:p>
        </p:txBody>
      </p:sp>
      <p:sp>
        <p:nvSpPr>
          <p:cNvPr id="30" name="auc0"/>
          <p:cNvSpPr/>
          <p:nvPr/>
        </p:nvSpPr>
        <p:spPr>
          <a:xfrm>
            <a:off x="6583680" y="168249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ΔDicpleth　AUC 0.86</a:t>
            </a:r>
          </a:p>
          <a:p>
            <a:pPr algn="ctr"/>
            <a:r>
              <a:rPr sz="2200" b="1">
                <a:solidFill>
                  <a:srgbClr val="262626"/>
                </a:solidFill>
                <a:latin typeface="Meiryo"/>
                <a:ea typeface="Meiryo"/>
                <a:cs typeface="Meiryo"/>
              </a:rPr>
              <a:t>閾値 −19%　感度79%・特異度84%</a:t>
            </a:r>
          </a:p>
        </p:txBody>
      </p:sp>
      <p:sp>
        <p:nvSpPr>
          <p:cNvPr id="31" name="auc1"/>
          <p:cNvSpPr/>
          <p:nvPr/>
        </p:nvSpPr>
        <p:spPr>
          <a:xfrm>
            <a:off x="6583680" y="277977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ΔPI　AUC 0.83</a:t>
            </a:r>
          </a:p>
          <a:p>
            <a:pPr algn="ctr"/>
            <a:r>
              <a:rPr sz="2200" b="1">
                <a:solidFill>
                  <a:srgbClr val="262626"/>
                </a:solidFill>
                <a:latin typeface="Meiryo"/>
                <a:ea typeface="Meiryo"/>
                <a:cs typeface="Meiryo"/>
              </a:rPr>
              <a:t>閾値 +51%　感度82%・特異度74%</a:t>
            </a:r>
          </a:p>
        </p:txBody>
      </p:sp>
      <p:sp>
        <p:nvSpPr>
          <p:cNvPr id="32" name="auc2"/>
          <p:cNvSpPr/>
          <p:nvPr/>
        </p:nvSpPr>
        <p:spPr>
          <a:xfrm>
            <a:off x="6583680" y="3877056"/>
            <a:ext cx="4956048" cy="969264"/>
          </a:xfrm>
          <a:prstGeom prst="roundRect">
            <a:avLst>
              <a:gd name="adj" fmla="val 16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2つを併用　AUC 0.91</a:t>
            </a:r>
          </a:p>
          <a:p>
            <a:pPr algn="ctr"/>
            <a:r>
              <a:rPr sz="2200" b="1">
                <a:solidFill>
                  <a:srgbClr val="262626"/>
                </a:solidFill>
                <a:latin typeface="Meiryo"/>
                <a:ea typeface="Meiryo"/>
                <a:cs typeface="Meiryo"/>
              </a:rPr>
              <a:t>感度・特異度 とも 84%</a:t>
            </a:r>
          </a:p>
        </p:txBody>
      </p:sp>
      <p:sp>
        <p:nvSpPr>
          <p:cNvPr id="33" name="callout"/>
          <p:cNvSpPr/>
          <p:nvPr/>
        </p:nvSpPr>
        <p:spPr>
          <a:xfrm>
            <a:off x="548640" y="5138928"/>
            <a:ext cx="10954512" cy="1042416"/>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262626"/>
                </a:solidFill>
                <a:latin typeface="Meiryo"/>
                <a:ea typeface="Meiryo"/>
                <a:cs typeface="Meiryo"/>
              </a:rPr>
              <a:t>昇圧薬の投与中も MAP と連動して動く</a:t>
            </a:r>
          </a:p>
          <a:p>
            <a:pPr algn="ctr"/>
            <a:r>
              <a:rPr sz="2200" b="1">
                <a:solidFill>
                  <a:srgbClr val="262626"/>
                </a:solidFill>
                <a:latin typeface="Meiryo"/>
                <a:ea typeface="Meiryo"/>
                <a:cs typeface="Meiryo"/>
              </a:rPr>
              <a:t>ΔDicpleth  r = 0.73　／　ΔPI  r = −0.62（P&lt;0.001）</a:t>
            </a:r>
          </a:p>
        </p:txBody>
      </p:sp>
      <p:sp>
        <p:nvSpPr>
          <p:cNvPr id="3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21. Coutrot 2019（全身麻酔導入 61 名）</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 波形の定量化</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BF9000"/>
                </a:solidFill>
                <a:latin typeface="Meiryo"/>
                <a:ea typeface="Meiryo"/>
                <a:cs typeface="Meiryo"/>
              </a:rPr>
              <a:t>3. </a:t>
            </a:r>
            <a:r>
              <a:rPr sz="3200" b="1">
                <a:solidFill>
                  <a:srgbClr val="262626"/>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3.1 </a:t>
            </a:r>
            <a:r>
              <a:rPr sz="2900" b="0">
                <a:solidFill>
                  <a:srgbClr val="262626"/>
                </a:solidFill>
                <a:latin typeface="Meiryo"/>
                <a:ea typeface="Meiryo"/>
                <a:cs typeface="Meiryo"/>
              </a:rPr>
              <a:t>Stiffness Index (SI)</a:t>
            </a:r>
          </a:p>
          <a:p>
            <a:pPr>
              <a:lnSpc>
                <a:spcPct val="145000"/>
              </a:lnSpc>
            </a:pPr>
            <a:r>
              <a:rPr sz="2900" b="1">
                <a:solidFill>
                  <a:srgbClr val="BF9000"/>
                </a:solidFill>
                <a:latin typeface="Meiryo"/>
                <a:ea typeface="Meiryo"/>
                <a:cs typeface="Meiryo"/>
              </a:rPr>
              <a:t>3.2 </a:t>
            </a:r>
            <a:r>
              <a:rPr sz="2900" b="0">
                <a:solidFill>
                  <a:srgbClr val="262626"/>
                </a:solidFill>
                <a:latin typeface="Meiryo"/>
                <a:ea typeface="Meiryo"/>
                <a:cs typeface="Meiryo"/>
              </a:rPr>
              <a:t>Reflection Index (RI)</a:t>
            </a:r>
          </a:p>
          <a:p>
            <a:pPr>
              <a:lnSpc>
                <a:spcPct val="145000"/>
              </a:lnSpc>
            </a:pPr>
            <a:r>
              <a:rPr sz="2900" b="1">
                <a:solidFill>
                  <a:srgbClr val="BF9000"/>
                </a:solidFill>
                <a:latin typeface="Meiryo"/>
                <a:ea typeface="Meiryo"/>
                <a:cs typeface="Meiryo"/>
              </a:rPr>
              <a:t>3.3 </a:t>
            </a:r>
            <a:r>
              <a:rPr sz="2900" b="0">
                <a:solidFill>
                  <a:srgbClr val="262626"/>
                </a:solidFill>
                <a:latin typeface="Meiryo"/>
                <a:ea typeface="Meiryo"/>
                <a:cs typeface="Meiryo"/>
              </a:rPr>
              <a:t>加速度脈波 SDPPG</a:t>
            </a:r>
          </a:p>
          <a:p>
            <a:pPr>
              <a:lnSpc>
                <a:spcPct val="145000"/>
              </a:lnSpc>
            </a:pPr>
            <a:r>
              <a:rPr sz="2900" b="1">
                <a:solidFill>
                  <a:srgbClr val="BF9000"/>
                </a:solidFill>
                <a:latin typeface="Meiryo"/>
                <a:ea typeface="Meiryo"/>
                <a:cs typeface="Meiryo"/>
              </a:rPr>
              <a:t>3.4 </a:t>
            </a:r>
            <a:r>
              <a:rPr sz="2900" b="0">
                <a:solidFill>
                  <a:srgbClr val="262626"/>
                </a:solidFill>
                <a:latin typeface="Meiryo"/>
                <a:ea typeface="Meiryo"/>
                <a:cs typeface="Meiryo"/>
              </a:rPr>
              <a:t>定量化指標まとめ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30/71</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si" descr="f51_s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052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412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p:cNvSpPr txBox="1"/>
          <p:nvPr/>
        </p:nvSpPr>
        <p:spPr>
          <a:xfrm>
            <a:off x="5112000" y="5004000"/>
            <a:ext cx="1152000" cy="378000"/>
          </a:xfrm>
          <a:prstGeom prst="rect">
            <a:avLst/>
          </a:prstGeom>
          <a:noFill/>
        </p:spPr>
        <p:txBody>
          <a:bodyPr wrap="none" lIns="0" tIns="0" rIns="0" bIns="0" anchor="ctr">
            <a:spAutoFit/>
          </a:bodyPr>
          <a:lstStyle/>
          <a:p>
            <a:pPr algn="ctr">
              <a:spcBef>
                <a:spcPts val="0"/>
              </a:spcBef>
              <a:spcAft>
                <a:spcPts val="0"/>
              </a:spcAft>
            </a:pPr>
            <a:r>
              <a:rPr sz="2400" b="1">
                <a:solidFill>
                  <a:srgbClr val="BF9000"/>
                </a:solidFill>
                <a:latin typeface="Meiryo"/>
                <a:ea typeface="Meiryo"/>
                <a:cs typeface="Meiryo"/>
              </a:rPr>
              <a:t>ΔT</a:t>
            </a:r>
          </a:p>
        </p:txBody>
      </p:sp>
      <p:sp>
        <p:nvSpPr>
          <p:cNvPr id="22" name="Rounded Rectangle 21"/>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 </a:t>
            </a:r>
            <a:r>
              <a:rPr sz="2600" b="1" dirty="0" err="1">
                <a:solidFill>
                  <a:srgbClr val="262626"/>
                </a:solidFill>
                <a:latin typeface="Meiryo"/>
                <a:ea typeface="Meiryo"/>
                <a:cs typeface="Meiryo"/>
              </a:rPr>
              <a:t>身長</a:t>
            </a:r>
            <a:r>
              <a:rPr sz="2600" b="1" dirty="0">
                <a:solidFill>
                  <a:srgbClr val="262626"/>
                </a:solidFill>
                <a:latin typeface="Meiryo"/>
                <a:ea typeface="Meiryo"/>
                <a:cs typeface="Meiryo"/>
              </a:rPr>
              <a:t> ÷ ΔT</a:t>
            </a:r>
          </a:p>
          <a:p>
            <a:pPr algn="ctr">
              <a:spcBef>
                <a:spcPts val="0"/>
              </a:spcBef>
              <a:spcAft>
                <a:spcPts val="0"/>
              </a:spcAft>
            </a:pPr>
            <a:r>
              <a:rPr sz="2200" b="1" dirty="0" err="1">
                <a:solidFill>
                  <a:srgbClr val="262626"/>
                </a:solidFill>
                <a:latin typeface="Meiryo"/>
                <a:ea typeface="Meiryo"/>
                <a:cs typeface="Meiryo"/>
              </a:rPr>
              <a:t>大動脈の硬さを反映</a:t>
            </a:r>
            <a:endParaRPr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31/71</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A238-20C4-7D4C-7799-A9FB3EC89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F5D0B-40AF-A2F0-0DD2-80CC350F3BD0}"/>
              </a:ext>
            </a:extLst>
          </p:cNvPr>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a:extLst>
              <a:ext uri="{FF2B5EF4-FFF2-40B4-BE49-F238E27FC236}">
                <a16:creationId xmlns:a16="http://schemas.microsoft.com/office/drawing/2014/main" id="{69355710-BBA3-115E-E2C7-A8DB4769F04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D9EFE41-777E-CF2B-430A-5D836004108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99947AF-BEB1-7A3D-0D60-0F8D393BEE31}"/>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A2AB76F2-CE51-776B-20C0-C0E39D591E6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CE4331C7-8C2C-C0B0-00DB-2D9F5906F12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F685F716-4BEB-6267-1B6E-136F25AE4C48}"/>
              </a:ext>
            </a:extLst>
          </p:cNvPr>
          <p:cNvPicPr>
            <a:picLocks noChangeAspect="1"/>
          </p:cNvPicPr>
          <p:nvPr/>
        </p:nvPicPr>
        <p:blipFill>
          <a:blip r:embed="rId3"/>
          <a:srcRect r="52357"/>
          <a:stretch>
            <a:fillRect/>
          </a:stretch>
        </p:blipFill>
        <p:spPr>
          <a:xfrm>
            <a:off x="741476" y="1700213"/>
            <a:ext cx="4686300" cy="4400448"/>
          </a:xfrm>
          <a:prstGeom prst="rect">
            <a:avLst/>
          </a:prstGeom>
        </p:spPr>
      </p:pic>
      <p:sp>
        <p:nvSpPr>
          <p:cNvPr id="4" name="テキスト ボックス 3">
            <a:extLst>
              <a:ext uri="{FF2B5EF4-FFF2-40B4-BE49-F238E27FC236}">
                <a16:creationId xmlns:a16="http://schemas.microsoft.com/office/drawing/2014/main" id="{3EE5EB3D-2DE0-7C24-5AD3-67C9530F495F}"/>
              </a:ext>
            </a:extLst>
          </p:cNvPr>
          <p:cNvSpPr txBox="1"/>
          <p:nvPr/>
        </p:nvSpPr>
        <p:spPr>
          <a:xfrm>
            <a:off x="6909208" y="2002868"/>
            <a:ext cx="3945311" cy="3108543"/>
          </a:xfrm>
          <a:prstGeom prst="rect">
            <a:avLst/>
          </a:prstGeom>
          <a:noFill/>
        </p:spPr>
        <p:txBody>
          <a:bodyPr wrap="none" rtlCol="0">
            <a:spAutoFit/>
          </a:bodyPr>
          <a:lstStyle/>
          <a:p>
            <a:r>
              <a:rPr lang="ja-JP" altLang="en-US" sz="2800"/>
              <a:t>健常成人</a:t>
            </a:r>
            <a:r>
              <a:rPr lang="en-US" altLang="ja-JP" sz="2800" dirty="0"/>
              <a:t>87</a:t>
            </a:r>
            <a:r>
              <a:rPr lang="ja-JP" altLang="en-US" sz="2800"/>
              <a:t>人で計測</a:t>
            </a:r>
            <a:endParaRPr lang="en-US" altLang="ja-JP" sz="2800" dirty="0"/>
          </a:p>
          <a:p>
            <a:endParaRPr lang="en-US" altLang="ja-JP" sz="2800" dirty="0"/>
          </a:p>
          <a:p>
            <a:r>
              <a:rPr lang="ja-JP" altLang="ja-JP" sz="2800" b="1"/>
              <a:t>SI</a:t>
            </a:r>
            <a:r>
              <a:rPr lang="ja-JP" altLang="en-US" sz="2800" b="1"/>
              <a:t>と</a:t>
            </a:r>
            <a:r>
              <a:rPr lang="ja-JP" altLang="ja-JP" sz="2800" b="1"/>
              <a:t>年齢</a:t>
            </a:r>
            <a:r>
              <a:rPr lang="ja-JP" altLang="en-US" sz="2800" b="1"/>
              <a:t>　</a:t>
            </a:r>
            <a:endParaRPr lang="en-US" altLang="ja-JP" sz="2800" b="1" dirty="0"/>
          </a:p>
          <a:p>
            <a:r>
              <a:rPr lang="en-US" altLang="ja-JP" sz="2800" dirty="0"/>
              <a:t>	</a:t>
            </a:r>
            <a:r>
              <a:rPr lang="ja-JP" altLang="ja-JP" sz="2800"/>
              <a:t>r = 0.67、P&lt;0.0001</a:t>
            </a:r>
            <a:endParaRPr lang="en-US" altLang="ja-JP" sz="2800" dirty="0"/>
          </a:p>
          <a:p>
            <a:endParaRPr lang="en-US" altLang="ja-JP" sz="2800" dirty="0"/>
          </a:p>
          <a:p>
            <a:r>
              <a:rPr lang="en-US" altLang="ja-JP" sz="2800" b="1" dirty="0"/>
              <a:t>S</a:t>
            </a:r>
            <a:r>
              <a:rPr lang="ja-JP" altLang="ja-JP" sz="2800" b="1"/>
              <a:t>I</a:t>
            </a:r>
            <a:r>
              <a:rPr lang="ja-JP" altLang="en-US" sz="2800" b="1"/>
              <a:t>と</a:t>
            </a:r>
            <a:r>
              <a:rPr lang="ja-JP" altLang="ja-JP" sz="2800" b="1"/>
              <a:t> PWVcf </a:t>
            </a:r>
            <a:r>
              <a:rPr lang="ja-JP" altLang="en-US" sz="2800" b="1"/>
              <a:t>　</a:t>
            </a:r>
            <a:endParaRPr lang="en-US" altLang="ja-JP" sz="2800" b="1" dirty="0"/>
          </a:p>
          <a:p>
            <a:r>
              <a:rPr lang="en-US" altLang="ja-JP" sz="2800" dirty="0"/>
              <a:t>	</a:t>
            </a:r>
            <a:r>
              <a:rPr lang="ja-JP" altLang="ja-JP" sz="2800"/>
              <a:t>r =0.65、P&lt;0.0001</a:t>
            </a:r>
            <a:endParaRPr lang="en-US" altLang="ja-JP" sz="2800" dirty="0"/>
          </a:p>
        </p:txBody>
      </p:sp>
      <p:sp>
        <p:nvSpPr>
          <p:cNvPr id="5" name="テキスト ボックス 4">
            <a:extLst>
              <a:ext uri="{FF2B5EF4-FFF2-40B4-BE49-F238E27FC236}">
                <a16:creationId xmlns:a16="http://schemas.microsoft.com/office/drawing/2014/main" id="{25577C28-11A3-C308-D54B-DDC1AEC1FCB2}"/>
              </a:ext>
            </a:extLst>
          </p:cNvPr>
          <p:cNvSpPr txBox="1"/>
          <p:nvPr/>
        </p:nvSpPr>
        <p:spPr>
          <a:xfrm>
            <a:off x="838200" y="6044593"/>
            <a:ext cx="4600105" cy="400110"/>
          </a:xfrm>
          <a:prstGeom prst="rect">
            <a:avLst/>
          </a:prstGeom>
          <a:noFill/>
        </p:spPr>
        <p:txBody>
          <a:bodyPr wrap="none" rtlCol="0">
            <a:spAutoFit/>
          </a:bodyPr>
          <a:lstStyle/>
          <a:p>
            <a:r>
              <a:rPr lang="ja-JP" altLang="ja-JP" sz="2000" b="1"/>
              <a:t>PWVcf</a:t>
            </a:r>
            <a:r>
              <a:rPr lang="ja-JP" altLang="en-US" sz="2000" b="1"/>
              <a:t>：</a:t>
            </a:r>
            <a:r>
              <a:rPr lang="ja-JP" altLang="ja-JP" sz="2000" b="1"/>
              <a:t>頸動脈–大腿動脈脈波伝播速度</a:t>
            </a:r>
          </a:p>
        </p:txBody>
      </p:sp>
      <p:sp>
        <p:nvSpPr>
          <p:cNvPr id="6" name="Rounded Rectangle 21">
            <a:extLst>
              <a:ext uri="{FF2B5EF4-FFF2-40B4-BE49-F238E27FC236}">
                <a16:creationId xmlns:a16="http://schemas.microsoft.com/office/drawing/2014/main" id="{81C8F315-7A19-16F7-6685-36BB9429E8EC}"/>
              </a:ext>
            </a:extLst>
          </p:cNvPr>
          <p:cNvSpPr/>
          <p:nvPr/>
        </p:nvSpPr>
        <p:spPr>
          <a:xfrm>
            <a:off x="5862603" y="5430241"/>
            <a:ext cx="6038519" cy="74449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a:t>
            </a:r>
            <a:r>
              <a:rPr lang="en-US" sz="2600" b="1" dirty="0" err="1">
                <a:solidFill>
                  <a:srgbClr val="262626"/>
                </a:solidFill>
                <a:latin typeface="Meiryo"/>
                <a:ea typeface="Meiryo"/>
                <a:cs typeface="Meiryo"/>
              </a:rPr>
              <a:t>は年齢や脈波伝播速度と関連する</a:t>
            </a:r>
            <a:endParaRPr sz="22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31/71</a:t>
            </a:r>
          </a:p>
        </p:txBody>
      </p:sp>
    </p:spTree>
    <p:extLst>
      <p:ext uri="{BB962C8B-B14F-4D97-AF65-F5344CB8AC3E}">
        <p14:creationId xmlns:p14="http://schemas.microsoft.com/office/powerpoint/2010/main" val="1008639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ri" descr="f52_r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124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520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a:solidFill>
                  <a:srgbClr val="262626"/>
                </a:solidFill>
                <a:latin typeface="Meiryo"/>
                <a:ea typeface="Meiryo"/>
                <a:cs typeface="Meiryo"/>
              </a:rPr>
              <a:t>RI ＝ P2 ÷ P1</a:t>
            </a:r>
          </a:p>
          <a:p>
            <a:pPr algn="ctr">
              <a:spcBef>
                <a:spcPts val="0"/>
              </a:spcBef>
              <a:spcAft>
                <a:spcPts val="0"/>
              </a:spcAft>
            </a:pPr>
            <a:r>
              <a:rPr sz="2200" b="1">
                <a:solidFill>
                  <a:srgbClr val="262626"/>
                </a:solidFill>
                <a:latin typeface="Meiryo"/>
                <a:ea typeface="Meiryo"/>
                <a:cs typeface="Meiryo"/>
              </a:rPr>
              <a:t>末梢血管トーヌス（反射の大きさ）を反映</a:t>
            </a:r>
          </a:p>
        </p:txBody>
      </p:sp>
      <p:sp>
        <p:nvSpPr>
          <p:cNvPr id="2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19EF-DBC9-EB20-10C0-EC248698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8725C-CB53-105E-8C3B-A9F29A5B0055}"/>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2C144E0A-3C51-DA3E-A0F1-BDA2BF58066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73C3379-5C69-FB45-DFA3-9408AB29665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1B0C08A-4EA6-C6D5-FE63-E066B0ED9D0A}"/>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9A04435-9816-C39B-3616-AAE3265F2CA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7700E4AC-08F9-85FD-8F5B-A203E84C276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639150FC-4759-1D06-47BB-13778B76B92D}"/>
              </a:ext>
            </a:extLst>
          </p:cNvPr>
          <p:cNvPicPr>
            <a:picLocks noChangeAspect="1"/>
          </p:cNvPicPr>
          <p:nvPr/>
        </p:nvPicPr>
        <p:blipFill>
          <a:blip r:embed="rId3"/>
          <a:srcRect r="48043" b="54220"/>
          <a:stretch>
            <a:fillRect/>
          </a:stretch>
        </p:blipFill>
        <p:spPr>
          <a:xfrm>
            <a:off x="560616" y="2390494"/>
            <a:ext cx="4801419" cy="3100651"/>
          </a:xfrm>
          <a:prstGeom prst="rect">
            <a:avLst/>
          </a:prstGeom>
        </p:spPr>
      </p:pic>
      <p:pic>
        <p:nvPicPr>
          <p:cNvPr id="4" name="図 3">
            <a:extLst>
              <a:ext uri="{FF2B5EF4-FFF2-40B4-BE49-F238E27FC236}">
                <a16:creationId xmlns:a16="http://schemas.microsoft.com/office/drawing/2014/main" id="{962BB7AC-DA1C-BE16-D3C7-0E9FFD71C17D}"/>
              </a:ext>
            </a:extLst>
          </p:cNvPr>
          <p:cNvPicPr>
            <a:picLocks noChangeAspect="1"/>
          </p:cNvPicPr>
          <p:nvPr/>
        </p:nvPicPr>
        <p:blipFill>
          <a:blip r:embed="rId4"/>
          <a:srcRect r="47305" b="49958"/>
          <a:stretch>
            <a:fillRect/>
          </a:stretch>
        </p:blipFill>
        <p:spPr>
          <a:xfrm>
            <a:off x="6135826" y="2171223"/>
            <a:ext cx="4801419" cy="3419682"/>
          </a:xfrm>
          <a:prstGeom prst="rect">
            <a:avLst/>
          </a:prstGeom>
        </p:spPr>
      </p:pic>
      <p:sp>
        <p:nvSpPr>
          <p:cNvPr id="5" name="テキスト ボックス 4">
            <a:extLst>
              <a:ext uri="{FF2B5EF4-FFF2-40B4-BE49-F238E27FC236}">
                <a16:creationId xmlns:a16="http://schemas.microsoft.com/office/drawing/2014/main" id="{753EB817-69D7-0093-73A0-71C10EA3B760}"/>
              </a:ext>
            </a:extLst>
          </p:cNvPr>
          <p:cNvSpPr txBox="1"/>
          <p:nvPr/>
        </p:nvSpPr>
        <p:spPr>
          <a:xfrm>
            <a:off x="1975759" y="1820747"/>
            <a:ext cx="2749471" cy="400110"/>
          </a:xfrm>
          <a:prstGeom prst="rect">
            <a:avLst/>
          </a:prstGeom>
          <a:noFill/>
        </p:spPr>
        <p:txBody>
          <a:bodyPr wrap="none" rtlCol="0">
            <a:spAutoFit/>
          </a:bodyPr>
          <a:lstStyle/>
          <a:p>
            <a:r>
              <a:rPr kumimoji="1" lang="ja-JP" altLang="en-US" sz="2000" b="1"/>
              <a:t>アンジオテンシン投与</a:t>
            </a:r>
          </a:p>
        </p:txBody>
      </p:sp>
      <p:sp>
        <p:nvSpPr>
          <p:cNvPr id="6" name="テキスト ボックス 5">
            <a:extLst>
              <a:ext uri="{FF2B5EF4-FFF2-40B4-BE49-F238E27FC236}">
                <a16:creationId xmlns:a16="http://schemas.microsoft.com/office/drawing/2014/main" id="{EDE3662F-A2C0-DA98-F494-3AA126BCECEE}"/>
              </a:ext>
            </a:extLst>
          </p:cNvPr>
          <p:cNvSpPr txBox="1"/>
          <p:nvPr/>
        </p:nvSpPr>
        <p:spPr>
          <a:xfrm>
            <a:off x="7543533" y="1820747"/>
            <a:ext cx="2749471" cy="400110"/>
          </a:xfrm>
          <a:prstGeom prst="rect">
            <a:avLst/>
          </a:prstGeom>
          <a:noFill/>
        </p:spPr>
        <p:txBody>
          <a:bodyPr wrap="none" rtlCol="0">
            <a:spAutoFit/>
          </a:bodyPr>
          <a:lstStyle/>
          <a:p>
            <a:r>
              <a:rPr kumimoji="1" lang="ja-JP" altLang="en-US" sz="2000" b="1"/>
              <a:t>ニトログリセリン投与</a:t>
            </a:r>
          </a:p>
        </p:txBody>
      </p:sp>
      <p:sp>
        <p:nvSpPr>
          <p:cNvPr id="7" name="Rounded Rectangle 20">
            <a:extLst>
              <a:ext uri="{FF2B5EF4-FFF2-40B4-BE49-F238E27FC236}">
                <a16:creationId xmlns:a16="http://schemas.microsoft.com/office/drawing/2014/main" id="{A886D300-A0C7-4945-DFC8-15572E105CB1}"/>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は血管収縮・拡張薬と用量依存性に反応する</a:t>
            </a:r>
            <a:endParaRPr sz="24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32/71</a:t>
            </a:r>
          </a:p>
        </p:txBody>
      </p:sp>
    </p:spTree>
    <p:extLst>
      <p:ext uri="{BB962C8B-B14F-4D97-AF65-F5344CB8AC3E}">
        <p14:creationId xmlns:p14="http://schemas.microsoft.com/office/powerpoint/2010/main" val="31964551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3D79-A0ED-99D2-A804-31F5C81C9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491EC-D70F-DD18-A8BB-8C48A3E5DB47}"/>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3B4A464C-D41B-8A70-9B6A-F8C7D77DA374}"/>
              </a:ext>
            </a:extLst>
          </p:cNvPr>
          <p:cNvSpPr/>
          <p:nvPr/>
        </p:nvSpPr>
        <p:spPr>
          <a:xfrm>
            <a:off x="90817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3D3B515-6204-82D0-BAC6-F007934E6F04}"/>
              </a:ext>
            </a:extLst>
          </p:cNvPr>
          <p:cNvSpPr/>
          <p:nvPr/>
        </p:nvSpPr>
        <p:spPr>
          <a:xfrm>
            <a:off x="97009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2D096EE-A4A9-02F4-9620-C4F2691BB487}"/>
              </a:ext>
            </a:extLst>
          </p:cNvPr>
          <p:cNvSpPr/>
          <p:nvPr/>
        </p:nvSpPr>
        <p:spPr>
          <a:xfrm>
            <a:off x="10320119" y="50400"/>
            <a:ext cx="576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4EC13131-6B2A-58CE-87C7-489AE5F06A33}"/>
              </a:ext>
            </a:extLst>
          </p:cNvPr>
          <p:cNvSpPr/>
          <p:nvPr/>
        </p:nvSpPr>
        <p:spPr>
          <a:xfrm>
            <a:off x="109393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BFAF256-89BC-3031-019F-D4E5A1B7EC48}"/>
              </a:ext>
            </a:extLst>
          </p:cNvPr>
          <p:cNvSpPr/>
          <p:nvPr/>
        </p:nvSpPr>
        <p:spPr>
          <a:xfrm>
            <a:off x="115585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22" name="図 21">
            <a:extLst>
              <a:ext uri="{FF2B5EF4-FFF2-40B4-BE49-F238E27FC236}">
                <a16:creationId xmlns:a16="http://schemas.microsoft.com/office/drawing/2014/main" id="{4D09E345-A83C-BB82-B903-B4F55D561CCB}"/>
              </a:ext>
            </a:extLst>
          </p:cNvPr>
          <p:cNvPicPr>
            <a:picLocks noChangeAspect="1"/>
          </p:cNvPicPr>
          <p:nvPr/>
        </p:nvPicPr>
        <p:blipFill>
          <a:blip r:embed="rId3"/>
          <a:stretch>
            <a:fillRect/>
          </a:stretch>
        </p:blipFill>
        <p:spPr>
          <a:xfrm>
            <a:off x="540000" y="1728000"/>
            <a:ext cx="6480000" cy="3780000"/>
          </a:xfrm>
          <a:prstGeom prst="rect">
            <a:avLst/>
          </a:prstGeom>
        </p:spPr>
      </p:pic>
      <p:sp>
        <p:nvSpPr>
          <p:cNvPr id="23" name="テキスト ボックス 22">
            <a:extLst>
              <a:ext uri="{FF2B5EF4-FFF2-40B4-BE49-F238E27FC236}">
                <a16:creationId xmlns:a16="http://schemas.microsoft.com/office/drawing/2014/main" id="{67803B91-A8D8-913C-8686-EE0BC9521B48}"/>
              </a:ext>
            </a:extLst>
          </p:cNvPr>
          <p:cNvSpPr txBox="1"/>
          <p:nvPr/>
        </p:nvSpPr>
        <p:spPr>
          <a:xfrm>
            <a:off x="7307169" y="1800000"/>
            <a:ext cx="4680000" cy="3195747"/>
          </a:xfrm>
          <a:prstGeom prst="rect">
            <a:avLst/>
          </a:prstGeom>
          <a:noFill/>
        </p:spPr>
        <p:txBody>
          <a:bodyPr wrap="square" rtlCol="0">
            <a:spAutoFit/>
          </a:bodyPr>
          <a:lstStyle/>
          <a:p>
            <a:pPr>
              <a:spcAft>
                <a:spcPts val="200"/>
              </a:spcAft>
            </a:pPr>
            <a:r>
              <a:rPr kumimoji="1" lang="en-US" altLang="ja-JP" sz="2200" dirty="0">
                <a:latin typeface="+mn-ea"/>
              </a:rPr>
              <a:t>SVR </a:t>
            </a:r>
            <a:r>
              <a:rPr kumimoji="1" lang="ja-JP" altLang="en-US" sz="2200">
                <a:latin typeface="+mn-ea"/>
              </a:rPr>
              <a:t>で</a:t>
            </a:r>
            <a:r>
              <a:rPr kumimoji="1" lang="en-US" altLang="ja-JP" sz="2200" dirty="0">
                <a:latin typeface="+mn-ea"/>
              </a:rPr>
              <a:t> </a:t>
            </a:r>
            <a:r>
              <a:rPr kumimoji="1" lang="en-US" altLang="ja-JP" sz="2200" dirty="0" err="1">
                <a:latin typeface="+mn-ea"/>
              </a:rPr>
              <a:t>低・中・高</a:t>
            </a:r>
            <a:r>
              <a:rPr kumimoji="1" lang="en-US" altLang="ja-JP" sz="2200" dirty="0">
                <a:latin typeface="+mn-ea"/>
              </a:rPr>
              <a:t> </a:t>
            </a:r>
            <a:r>
              <a:rPr kumimoji="1" lang="ja-JP" altLang="en-US" sz="2200">
                <a:latin typeface="+mn-ea"/>
              </a:rPr>
              <a:t>の３群</a:t>
            </a:r>
            <a:r>
              <a:rPr kumimoji="1" lang="en-US" altLang="ja-JP" sz="2200" dirty="0" err="1">
                <a:latin typeface="+mn-ea"/>
              </a:rPr>
              <a:t>に分けて</a:t>
            </a:r>
            <a:endParaRPr kumimoji="1" lang="en-US" altLang="ja-JP" dirty="0">
              <a:latin typeface="+mn-ea"/>
            </a:endParaRPr>
          </a:p>
          <a:p>
            <a:pPr>
              <a:spcAft>
                <a:spcPts val="200"/>
              </a:spcAft>
            </a:pPr>
            <a:r>
              <a:rPr kumimoji="1" lang="en-US" altLang="ja-JP" sz="2200" dirty="0">
                <a:latin typeface="+mn-ea"/>
              </a:rPr>
              <a:t>PPG </a:t>
            </a:r>
            <a:r>
              <a:rPr kumimoji="1" lang="en-US" altLang="ja-JP" sz="2200" dirty="0" err="1">
                <a:latin typeface="+mn-ea"/>
              </a:rPr>
              <a:t>特徴量やバイタル</a:t>
            </a:r>
            <a:r>
              <a:rPr kumimoji="1" lang="ja-JP" altLang="en-US" sz="2200">
                <a:latin typeface="+mn-ea"/>
              </a:rPr>
              <a:t>サインで　分類可能か</a:t>
            </a:r>
            <a:r>
              <a:rPr kumimoji="1" lang="en-US" altLang="ja-JP" sz="2200" dirty="0" err="1">
                <a:latin typeface="+mn-ea"/>
              </a:rPr>
              <a:t>検討</a:t>
            </a:r>
            <a:r>
              <a:rPr kumimoji="1" lang="ja-JP" altLang="en-US" sz="2200">
                <a:latin typeface="+mn-ea"/>
              </a:rPr>
              <a:t>した。</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ICU 患者 48人</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・低SVR で RI は低下する</a:t>
            </a:r>
            <a:endParaRPr kumimoji="1" lang="en-US" altLang="ja-JP" dirty="0">
              <a:latin typeface="+mn-ea"/>
            </a:endParaRPr>
          </a:p>
          <a:p>
            <a:pPr>
              <a:spcAft>
                <a:spcPts val="200"/>
              </a:spcAft>
            </a:pPr>
            <a:r>
              <a:rPr kumimoji="1" lang="en-US" altLang="ja-JP" sz="2200" dirty="0">
                <a:latin typeface="+mn-ea"/>
              </a:rPr>
              <a:t>・</a:t>
            </a:r>
            <a:r>
              <a:rPr kumimoji="1" lang="en-US" altLang="ja-JP" sz="2200" dirty="0" err="1">
                <a:latin typeface="+mn-ea"/>
              </a:rPr>
              <a:t>単独の特徴量では識別能力が</a:t>
            </a:r>
            <a:r>
              <a:rPr kumimoji="1" lang="ja-JP" altLang="en-US" sz="2200">
                <a:latin typeface="+mn-ea"/>
              </a:rPr>
              <a:t>高め</a:t>
            </a:r>
            <a:endParaRPr kumimoji="1" lang="en-US" altLang="ja-JP" sz="2200" dirty="0">
              <a:latin typeface="+mn-ea"/>
            </a:endParaRPr>
          </a:p>
          <a:p>
            <a:pPr>
              <a:spcAft>
                <a:spcPts val="200"/>
              </a:spcAft>
            </a:pPr>
            <a:r>
              <a:rPr lang="ja-JP" altLang="en-US" sz="2200">
                <a:latin typeface="+mn-ea"/>
              </a:rPr>
              <a:t>・RI 単独 κ=0.33</a:t>
            </a:r>
            <a:endParaRPr kumimoji="1" lang="en-US" altLang="ja-JP" dirty="0">
              <a:latin typeface="+mn-ea"/>
            </a:endParaRPr>
          </a:p>
        </p:txBody>
      </p:sp>
      <p:sp>
        <p:nvSpPr>
          <p:cNvPr id="3" name="callout">
            <a:extLst>
              <a:ext uri="{FF2B5EF4-FFF2-40B4-BE49-F238E27FC236}">
                <a16:creationId xmlns:a16="http://schemas.microsoft.com/office/drawing/2014/main" id="{71DB1571-7D05-1607-6033-17C6704F9E20}"/>
              </a:ext>
            </a:extLst>
          </p:cNvPr>
          <p:cNvSpPr/>
          <p:nvPr/>
        </p:nvSpPr>
        <p:spPr>
          <a:xfrm>
            <a:off x="540001" y="4504179"/>
            <a:ext cx="6480000" cy="216000"/>
          </a:xfrm>
          <a:prstGeom prst="roundRect">
            <a:avLst>
              <a:gd name="adj" fmla="val 21191"/>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2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22. Lee 2011（ICU 48 名）</a:t>
            </a:r>
          </a:p>
        </p:txBody>
      </p:sp>
      <p:sp>
        <p:nvSpPr>
          <p:cNvPr id="2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32/71</a:t>
            </a:r>
          </a:p>
        </p:txBody>
      </p:sp>
    </p:spTree>
    <p:extLst>
      <p:ext uri="{BB962C8B-B14F-4D97-AF65-F5344CB8AC3E}">
        <p14:creationId xmlns:p14="http://schemas.microsoft.com/office/powerpoint/2010/main" val="7859751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621EB6-121F-AD4D-699D-FAE858E8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7913-E1A2-6038-1CFC-011E88F2F4B0}"/>
              </a:ext>
            </a:extLst>
          </p:cNvPr>
          <p:cNvSpPr>
            <a:spLocks noGrp="1"/>
          </p:cNvSpPr>
          <p:nvPr>
            <p:ph type="title"/>
          </p:nvPr>
        </p:nvSpPr>
        <p:spPr/>
        <p:txBody>
          <a:bodyPr/>
          <a:lstStyle/>
          <a:p>
            <a:pPr algn="l"/>
            <a:r>
              <a:rPr sz="4600" dirty="0">
                <a:latin typeface="Meiryo"/>
                <a:ea typeface="Meiryo"/>
                <a:cs typeface="Meiryo"/>
              </a:rPr>
              <a:t>3.2  RI と心拍数</a:t>
            </a:r>
          </a:p>
        </p:txBody>
      </p:sp>
      <p:sp>
        <p:nvSpPr>
          <p:cNvPr id="13" name="Off-page Connector 4">
            <a:extLst>
              <a:ext uri="{FF2B5EF4-FFF2-40B4-BE49-F238E27FC236}">
                <a16:creationId xmlns:a16="http://schemas.microsoft.com/office/drawing/2014/main" id="{1BA6D5A7-BC18-F2B2-F176-8988D990CA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8236811D-30B0-5D80-F614-1DF55396C8E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0440796-214F-A8DD-9634-78690288DEF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00420769-5585-1A4A-A236-ECF033DA04F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E3DD97E-2E2A-A71D-8837-2ED6C40DFFA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wbox"/>
          <p:cNvSpPr/>
          <p:nvPr/>
        </p:nvSpPr>
        <p:spPr>
          <a:xfrm>
            <a:off x="548640" y="2157984"/>
            <a:ext cx="5577840" cy="2139696"/>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wbase"/>
          <p:cNvCxnSpPr/>
          <p:nvPr/>
        </p:nvCxnSpPr>
        <p:spPr>
          <a:xfrm>
            <a:off x="731520" y="4023360"/>
            <a:ext cx="5212080"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_low"/>
          <p:cNvSpPr/>
          <p:nvPr/>
        </p:nvSpPr>
        <p:spPr>
          <a:xfrm>
            <a:off x="731520" y="2232758"/>
            <a:ext cx="5212080" cy="1790602"/>
          </a:xfrm>
          <a:custGeom>
            <a:avLst/>
            <a:gdLst/>
            <a:ahLst/>
            <a:cxnLst/>
            <a:rect l="l" t="t" r="r" b="b"/>
            <a:pathLst>
              <a:path w="5212080" h="1790602">
                <a:moveTo>
                  <a:pt x="0" y="1788206"/>
                </a:moveTo>
                <a:lnTo>
                  <a:pt x="29118" y="1787153"/>
                </a:lnTo>
                <a:lnTo>
                  <a:pt x="58236" y="1785689"/>
                </a:lnTo>
                <a:lnTo>
                  <a:pt x="87353" y="1783675"/>
                </a:lnTo>
                <a:lnTo>
                  <a:pt x="116471" y="1780936"/>
                </a:lnTo>
                <a:lnTo>
                  <a:pt x="145589" y="1777251"/>
                </a:lnTo>
                <a:lnTo>
                  <a:pt x="174707" y="1772351"/>
                </a:lnTo>
                <a:lnTo>
                  <a:pt x="203824" y="1765910"/>
                </a:lnTo>
                <a:lnTo>
                  <a:pt x="232942" y="1757537"/>
                </a:lnTo>
                <a:lnTo>
                  <a:pt x="262060" y="1746780"/>
                </a:lnTo>
                <a:lnTo>
                  <a:pt x="291178" y="1733118"/>
                </a:lnTo>
                <a:lnTo>
                  <a:pt x="320295" y="1715972"/>
                </a:lnTo>
                <a:lnTo>
                  <a:pt x="349413" y="1694706"/>
                </a:lnTo>
                <a:lnTo>
                  <a:pt x="378531" y="1668644"/>
                </a:lnTo>
                <a:lnTo>
                  <a:pt x="407649" y="1637091"/>
                </a:lnTo>
                <a:lnTo>
                  <a:pt x="436766" y="1599358"/>
                </a:lnTo>
                <a:lnTo>
                  <a:pt x="465884" y="1554794"/>
                </a:lnTo>
                <a:lnTo>
                  <a:pt x="495002" y="1502828"/>
                </a:lnTo>
                <a:lnTo>
                  <a:pt x="524120" y="1443014"/>
                </a:lnTo>
                <a:lnTo>
                  <a:pt x="553238" y="1375073"/>
                </a:lnTo>
                <a:lnTo>
                  <a:pt x="582355" y="1298949"/>
                </a:lnTo>
                <a:lnTo>
                  <a:pt x="611473" y="1214844"/>
                </a:lnTo>
                <a:lnTo>
                  <a:pt x="640591" y="1123266"/>
                </a:lnTo>
                <a:lnTo>
                  <a:pt x="669709" y="1025052"/>
                </a:lnTo>
                <a:lnTo>
                  <a:pt x="698826" y="921386"/>
                </a:lnTo>
                <a:lnTo>
                  <a:pt x="727944" y="813794"/>
                </a:lnTo>
                <a:lnTo>
                  <a:pt x="757062" y="704130"/>
                </a:lnTo>
                <a:lnTo>
                  <a:pt x="786180" y="594527"/>
                </a:lnTo>
                <a:lnTo>
                  <a:pt x="815297" y="487342"/>
                </a:lnTo>
                <a:lnTo>
                  <a:pt x="844415" y="385074"/>
                </a:lnTo>
                <a:lnTo>
                  <a:pt x="873533" y="290269"/>
                </a:lnTo>
                <a:lnTo>
                  <a:pt x="902651" y="205415"/>
                </a:lnTo>
                <a:lnTo>
                  <a:pt x="931768" y="132834"/>
                </a:lnTo>
                <a:lnTo>
                  <a:pt x="960886" y="74568"/>
                </a:lnTo>
                <a:lnTo>
                  <a:pt x="990004" y="32288"/>
                </a:lnTo>
                <a:lnTo>
                  <a:pt x="1019122" y="7202"/>
                </a:lnTo>
                <a:lnTo>
                  <a:pt x="1048240" y="0"/>
                </a:lnTo>
                <a:lnTo>
                  <a:pt x="1077357" y="10810"/>
                </a:lnTo>
                <a:lnTo>
                  <a:pt x="1106475" y="39195"/>
                </a:lnTo>
                <a:lnTo>
                  <a:pt x="1135593" y="84168"/>
                </a:lnTo>
                <a:lnTo>
                  <a:pt x="1164711" y="144245"/>
                </a:lnTo>
                <a:lnTo>
                  <a:pt x="1193828" y="217511"/>
                </a:lnTo>
                <a:lnTo>
                  <a:pt x="1222946" y="301715"/>
                </a:lnTo>
                <a:lnTo>
                  <a:pt x="1252064" y="394372"/>
                </a:lnTo>
                <a:lnTo>
                  <a:pt x="1281182" y="492871"/>
                </a:lnTo>
                <a:lnTo>
                  <a:pt x="1310299" y="594588"/>
                </a:lnTo>
                <a:lnTo>
                  <a:pt x="1339417" y="696987"/>
                </a:lnTo>
                <a:lnTo>
                  <a:pt x="1368535" y="797707"/>
                </a:lnTo>
                <a:lnTo>
                  <a:pt x="1397653" y="894641"/>
                </a:lnTo>
                <a:lnTo>
                  <a:pt x="1426771" y="985985"/>
                </a:lnTo>
                <a:lnTo>
                  <a:pt x="1455888" y="1070275"/>
                </a:lnTo>
                <a:lnTo>
                  <a:pt x="1485006" y="1146400"/>
                </a:lnTo>
                <a:lnTo>
                  <a:pt x="1514124" y="1213600"/>
                </a:lnTo>
                <a:lnTo>
                  <a:pt x="1543242" y="1271442"/>
                </a:lnTo>
                <a:lnTo>
                  <a:pt x="1572359" y="1319794"/>
                </a:lnTo>
                <a:lnTo>
                  <a:pt x="1601477" y="1358783"/>
                </a:lnTo>
                <a:lnTo>
                  <a:pt x="1630595" y="1388748"/>
                </a:lnTo>
                <a:lnTo>
                  <a:pt x="1659713" y="1410198"/>
                </a:lnTo>
                <a:lnTo>
                  <a:pt x="1688830" y="1423764"/>
                </a:lnTo>
                <a:lnTo>
                  <a:pt x="1717948" y="1430160"/>
                </a:lnTo>
                <a:lnTo>
                  <a:pt x="1747066" y="1430147"/>
                </a:lnTo>
                <a:lnTo>
                  <a:pt x="1776184" y="1424501"/>
                </a:lnTo>
                <a:lnTo>
                  <a:pt x="1805301" y="1413993"/>
                </a:lnTo>
                <a:lnTo>
                  <a:pt x="1834419" y="1399369"/>
                </a:lnTo>
                <a:lnTo>
                  <a:pt x="1863537" y="1381338"/>
                </a:lnTo>
                <a:lnTo>
                  <a:pt x="1892655" y="1360571"/>
                </a:lnTo>
                <a:lnTo>
                  <a:pt x="1921773" y="1337690"/>
                </a:lnTo>
                <a:lnTo>
                  <a:pt x="1950890" y="1313273"/>
                </a:lnTo>
                <a:lnTo>
                  <a:pt x="1980008" y="1287854"/>
                </a:lnTo>
                <a:lnTo>
                  <a:pt x="2009126" y="1261925"/>
                </a:lnTo>
                <a:lnTo>
                  <a:pt x="2038244" y="1235943"/>
                </a:lnTo>
                <a:lnTo>
                  <a:pt x="2067361" y="1210327"/>
                </a:lnTo>
                <a:lnTo>
                  <a:pt x="2096479" y="1185467"/>
                </a:lnTo>
                <a:lnTo>
                  <a:pt x="2125597" y="1161721"/>
                </a:lnTo>
                <a:lnTo>
                  <a:pt x="2154715" y="1139418"/>
                </a:lnTo>
                <a:lnTo>
                  <a:pt x="2183832" y="1118861"/>
                </a:lnTo>
                <a:lnTo>
                  <a:pt x="2212950" y="1100319"/>
                </a:lnTo>
                <a:lnTo>
                  <a:pt x="2242068" y="1084036"/>
                </a:lnTo>
                <a:lnTo>
                  <a:pt x="2271186" y="1070222"/>
                </a:lnTo>
                <a:lnTo>
                  <a:pt x="2300303" y="1059054"/>
                </a:lnTo>
                <a:lnTo>
                  <a:pt x="2329421" y="1050677"/>
                </a:lnTo>
                <a:lnTo>
                  <a:pt x="2358539" y="1045198"/>
                </a:lnTo>
                <a:lnTo>
                  <a:pt x="2387657" y="1042688"/>
                </a:lnTo>
                <a:lnTo>
                  <a:pt x="2416775" y="1043181"/>
                </a:lnTo>
                <a:lnTo>
                  <a:pt x="2445892" y="1046675"/>
                </a:lnTo>
                <a:lnTo>
                  <a:pt x="2475010" y="1053127"/>
                </a:lnTo>
                <a:lnTo>
                  <a:pt x="2504128" y="1062462"/>
                </a:lnTo>
                <a:lnTo>
                  <a:pt x="2533246" y="1074570"/>
                </a:lnTo>
                <a:lnTo>
                  <a:pt x="2562363" y="1089307"/>
                </a:lnTo>
                <a:lnTo>
                  <a:pt x="2591481" y="1106504"/>
                </a:lnTo>
                <a:lnTo>
                  <a:pt x="2620599" y="1125963"/>
                </a:lnTo>
                <a:lnTo>
                  <a:pt x="2649717" y="1147465"/>
                </a:lnTo>
                <a:lnTo>
                  <a:pt x="2678834" y="1170775"/>
                </a:lnTo>
                <a:lnTo>
                  <a:pt x="2707952" y="1195642"/>
                </a:lnTo>
                <a:lnTo>
                  <a:pt x="2737070" y="1221809"/>
                </a:lnTo>
                <a:lnTo>
                  <a:pt x="2766188" y="1249012"/>
                </a:lnTo>
                <a:lnTo>
                  <a:pt x="2795305" y="1276989"/>
                </a:lnTo>
                <a:lnTo>
                  <a:pt x="2824423" y="1305479"/>
                </a:lnTo>
                <a:lnTo>
                  <a:pt x="2853541" y="1334232"/>
                </a:lnTo>
                <a:lnTo>
                  <a:pt x="2882659" y="1363007"/>
                </a:lnTo>
                <a:lnTo>
                  <a:pt x="2911777" y="1391579"/>
                </a:lnTo>
                <a:lnTo>
                  <a:pt x="2940894" y="1419740"/>
                </a:lnTo>
                <a:lnTo>
                  <a:pt x="2970012" y="1447300"/>
                </a:lnTo>
                <a:lnTo>
                  <a:pt x="2999130" y="1474090"/>
                </a:lnTo>
                <a:lnTo>
                  <a:pt x="3028248" y="1499963"/>
                </a:lnTo>
                <a:lnTo>
                  <a:pt x="3057365" y="1524795"/>
                </a:lnTo>
                <a:lnTo>
                  <a:pt x="3086483" y="1548482"/>
                </a:lnTo>
                <a:lnTo>
                  <a:pt x="3115601" y="1570946"/>
                </a:lnTo>
                <a:lnTo>
                  <a:pt x="3144719" y="1592127"/>
                </a:lnTo>
                <a:lnTo>
                  <a:pt x="3173836" y="1611987"/>
                </a:lnTo>
                <a:lnTo>
                  <a:pt x="3202954" y="1630506"/>
                </a:lnTo>
                <a:lnTo>
                  <a:pt x="3232072" y="1647683"/>
                </a:lnTo>
                <a:lnTo>
                  <a:pt x="3261190" y="1663529"/>
                </a:lnTo>
                <a:lnTo>
                  <a:pt x="3290307" y="1678073"/>
                </a:lnTo>
                <a:lnTo>
                  <a:pt x="3319425" y="1691354"/>
                </a:lnTo>
                <a:lnTo>
                  <a:pt x="3348543" y="1703419"/>
                </a:lnTo>
                <a:lnTo>
                  <a:pt x="3377661" y="1714325"/>
                </a:lnTo>
                <a:lnTo>
                  <a:pt x="3406779" y="1724135"/>
                </a:lnTo>
                <a:lnTo>
                  <a:pt x="3435896" y="1732917"/>
                </a:lnTo>
                <a:lnTo>
                  <a:pt x="3465014" y="1740740"/>
                </a:lnTo>
                <a:lnTo>
                  <a:pt x="3494132" y="1747675"/>
                </a:lnTo>
                <a:lnTo>
                  <a:pt x="3523250" y="1753794"/>
                </a:lnTo>
                <a:lnTo>
                  <a:pt x="3552367" y="1759168"/>
                </a:lnTo>
                <a:lnTo>
                  <a:pt x="3581485" y="1763865"/>
                </a:lnTo>
                <a:lnTo>
                  <a:pt x="3610603" y="1767952"/>
                </a:lnTo>
                <a:lnTo>
                  <a:pt x="3639721" y="1771492"/>
                </a:lnTo>
                <a:lnTo>
                  <a:pt x="3668838" y="1774543"/>
                </a:lnTo>
                <a:lnTo>
                  <a:pt x="3697956" y="1777161"/>
                </a:lnTo>
                <a:lnTo>
                  <a:pt x="3727074" y="1779398"/>
                </a:lnTo>
                <a:lnTo>
                  <a:pt x="3756192" y="1781300"/>
                </a:lnTo>
                <a:lnTo>
                  <a:pt x="3785309" y="1782910"/>
                </a:lnTo>
                <a:lnTo>
                  <a:pt x="3814427" y="1784267"/>
                </a:lnTo>
                <a:lnTo>
                  <a:pt x="3843545" y="1785405"/>
                </a:lnTo>
                <a:lnTo>
                  <a:pt x="3872663" y="1786357"/>
                </a:lnTo>
                <a:lnTo>
                  <a:pt x="3901781" y="1787148"/>
                </a:lnTo>
                <a:lnTo>
                  <a:pt x="3930898" y="1787803"/>
                </a:lnTo>
                <a:lnTo>
                  <a:pt x="3960016" y="1788342"/>
                </a:lnTo>
                <a:lnTo>
                  <a:pt x="3989134" y="1788786"/>
                </a:lnTo>
                <a:lnTo>
                  <a:pt x="4018252" y="1789148"/>
                </a:lnTo>
                <a:lnTo>
                  <a:pt x="4047369" y="1789442"/>
                </a:lnTo>
                <a:lnTo>
                  <a:pt x="4076487" y="1789681"/>
                </a:lnTo>
                <a:lnTo>
                  <a:pt x="4105605" y="1789873"/>
                </a:lnTo>
                <a:lnTo>
                  <a:pt x="4134723" y="1790028"/>
                </a:lnTo>
                <a:lnTo>
                  <a:pt x="4163840" y="1790151"/>
                </a:lnTo>
                <a:lnTo>
                  <a:pt x="4192958" y="1790250"/>
                </a:lnTo>
                <a:lnTo>
                  <a:pt x="4222076" y="1790328"/>
                </a:lnTo>
                <a:lnTo>
                  <a:pt x="4251194" y="1790390"/>
                </a:lnTo>
                <a:lnTo>
                  <a:pt x="4280312" y="1790438"/>
                </a:lnTo>
                <a:lnTo>
                  <a:pt x="4309429" y="1790476"/>
                </a:lnTo>
                <a:lnTo>
                  <a:pt x="4338547" y="1790505"/>
                </a:lnTo>
                <a:lnTo>
                  <a:pt x="4367665" y="1790528"/>
                </a:lnTo>
                <a:lnTo>
                  <a:pt x="4396783" y="1790546"/>
                </a:lnTo>
                <a:lnTo>
                  <a:pt x="4425900" y="1790560"/>
                </a:lnTo>
                <a:lnTo>
                  <a:pt x="4455018" y="1790570"/>
                </a:lnTo>
                <a:lnTo>
                  <a:pt x="4484136" y="1790578"/>
                </a:lnTo>
                <a:lnTo>
                  <a:pt x="4513254" y="1790584"/>
                </a:lnTo>
                <a:lnTo>
                  <a:pt x="4542371" y="1790589"/>
                </a:lnTo>
                <a:lnTo>
                  <a:pt x="4571489" y="1790592"/>
                </a:lnTo>
                <a:lnTo>
                  <a:pt x="4600607" y="1790595"/>
                </a:lnTo>
                <a:lnTo>
                  <a:pt x="4629725" y="1790597"/>
                </a:lnTo>
                <a:lnTo>
                  <a:pt x="4658842" y="1790598"/>
                </a:lnTo>
                <a:lnTo>
                  <a:pt x="4687960" y="1790599"/>
                </a:lnTo>
                <a:lnTo>
                  <a:pt x="4717078" y="1790600"/>
                </a:lnTo>
                <a:lnTo>
                  <a:pt x="4746196" y="1790600"/>
                </a:lnTo>
                <a:lnTo>
                  <a:pt x="4775314" y="1790601"/>
                </a:lnTo>
                <a:lnTo>
                  <a:pt x="4804431" y="1790601"/>
                </a:lnTo>
                <a:lnTo>
                  <a:pt x="4833549" y="1790601"/>
                </a:lnTo>
                <a:lnTo>
                  <a:pt x="4862667" y="1790602"/>
                </a:lnTo>
                <a:lnTo>
                  <a:pt x="4891785" y="1790602"/>
                </a:lnTo>
                <a:lnTo>
                  <a:pt x="4920902" y="1790602"/>
                </a:lnTo>
                <a:lnTo>
                  <a:pt x="4950020" y="1790602"/>
                </a:lnTo>
                <a:lnTo>
                  <a:pt x="4979138" y="1790602"/>
                </a:lnTo>
                <a:lnTo>
                  <a:pt x="5008256" y="1790602"/>
                </a:lnTo>
                <a:lnTo>
                  <a:pt x="5037373" y="1790602"/>
                </a:lnTo>
                <a:lnTo>
                  <a:pt x="5066491" y="1790602"/>
                </a:lnTo>
                <a:lnTo>
                  <a:pt x="5095609" y="1790602"/>
                </a:lnTo>
                <a:lnTo>
                  <a:pt x="5124727" y="1790602"/>
                </a:lnTo>
                <a:lnTo>
                  <a:pt x="5153844" y="1790602"/>
                </a:lnTo>
                <a:lnTo>
                  <a:pt x="5182962" y="1790602"/>
                </a:lnTo>
                <a:lnTo>
                  <a:pt x="5212080" y="1790602"/>
                </a:lnTo>
              </a:path>
            </a:pathLst>
          </a:custGeom>
          <a:no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_high"/>
          <p:cNvSpPr/>
          <p:nvPr/>
        </p:nvSpPr>
        <p:spPr>
          <a:xfrm>
            <a:off x="731520" y="2236453"/>
            <a:ext cx="5212080" cy="1786907"/>
          </a:xfrm>
          <a:custGeom>
            <a:avLst/>
            <a:gdLst/>
            <a:ahLst/>
            <a:cxnLst/>
            <a:rect l="l" t="t" r="r" b="b"/>
            <a:pathLst>
              <a:path w="5212080" h="1786907">
                <a:moveTo>
                  <a:pt x="0" y="1786604"/>
                </a:moveTo>
                <a:lnTo>
                  <a:pt x="29118" y="1786419"/>
                </a:lnTo>
                <a:lnTo>
                  <a:pt x="58236" y="1786130"/>
                </a:lnTo>
                <a:lnTo>
                  <a:pt x="87353" y="1785687"/>
                </a:lnTo>
                <a:lnTo>
                  <a:pt x="116471" y="1785018"/>
                </a:lnTo>
                <a:lnTo>
                  <a:pt x="145589" y="1784021"/>
                </a:lnTo>
                <a:lnTo>
                  <a:pt x="174707" y="1782556"/>
                </a:lnTo>
                <a:lnTo>
                  <a:pt x="203824" y="1780436"/>
                </a:lnTo>
                <a:lnTo>
                  <a:pt x="232942" y="1777413"/>
                </a:lnTo>
                <a:lnTo>
                  <a:pt x="262060" y="1773164"/>
                </a:lnTo>
                <a:lnTo>
                  <a:pt x="291178" y="1767283"/>
                </a:lnTo>
                <a:lnTo>
                  <a:pt x="320295" y="1759261"/>
                </a:lnTo>
                <a:lnTo>
                  <a:pt x="349413" y="1748484"/>
                </a:lnTo>
                <a:lnTo>
                  <a:pt x="378531" y="1734224"/>
                </a:lnTo>
                <a:lnTo>
                  <a:pt x="407649" y="1715644"/>
                </a:lnTo>
                <a:lnTo>
                  <a:pt x="436766" y="1691809"/>
                </a:lnTo>
                <a:lnTo>
                  <a:pt x="465884" y="1661708"/>
                </a:lnTo>
                <a:lnTo>
                  <a:pt x="495002" y="1624296"/>
                </a:lnTo>
                <a:lnTo>
                  <a:pt x="524120" y="1578547"/>
                </a:lnTo>
                <a:lnTo>
                  <a:pt x="553238" y="1523517"/>
                </a:lnTo>
                <a:lnTo>
                  <a:pt x="582355" y="1458432"/>
                </a:lnTo>
                <a:lnTo>
                  <a:pt x="611473" y="1382774"/>
                </a:lnTo>
                <a:lnTo>
                  <a:pt x="640591" y="1296377"/>
                </a:lnTo>
                <a:lnTo>
                  <a:pt x="669709" y="1199516"/>
                </a:lnTo>
                <a:lnTo>
                  <a:pt x="698826" y="1092987"/>
                </a:lnTo>
                <a:lnTo>
                  <a:pt x="727944" y="978158"/>
                </a:lnTo>
                <a:lnTo>
                  <a:pt x="757062" y="856998"/>
                </a:lnTo>
                <a:lnTo>
                  <a:pt x="786180" y="732056"/>
                </a:lnTo>
                <a:lnTo>
                  <a:pt x="815297" y="606402"/>
                </a:lnTo>
                <a:lnTo>
                  <a:pt x="844415" y="483523"/>
                </a:lnTo>
                <a:lnTo>
                  <a:pt x="873533" y="367169"/>
                </a:lnTo>
                <a:lnTo>
                  <a:pt x="902651" y="261172"/>
                </a:lnTo>
                <a:lnTo>
                  <a:pt x="931768" y="169238"/>
                </a:lnTo>
                <a:lnTo>
                  <a:pt x="960886" y="94725"/>
                </a:lnTo>
                <a:lnTo>
                  <a:pt x="990004" y="40443"/>
                </a:lnTo>
                <a:lnTo>
                  <a:pt x="1019122" y="8466"/>
                </a:lnTo>
                <a:lnTo>
                  <a:pt x="1048240" y="0"/>
                </a:lnTo>
                <a:lnTo>
                  <a:pt x="1077357" y="15297"/>
                </a:lnTo>
                <a:lnTo>
                  <a:pt x="1106475" y="53636"/>
                </a:lnTo>
                <a:lnTo>
                  <a:pt x="1135593" y="113367"/>
                </a:lnTo>
                <a:lnTo>
                  <a:pt x="1164711" y="192021"/>
                </a:lnTo>
                <a:lnTo>
                  <a:pt x="1193828" y="286461"/>
                </a:lnTo>
                <a:lnTo>
                  <a:pt x="1222946" y="393080"/>
                </a:lnTo>
                <a:lnTo>
                  <a:pt x="1252064" y="508014"/>
                </a:lnTo>
                <a:lnTo>
                  <a:pt x="1281182" y="627355"/>
                </a:lnTo>
                <a:lnTo>
                  <a:pt x="1310299" y="747358"/>
                </a:lnTo>
                <a:lnTo>
                  <a:pt x="1339417" y="864606"/>
                </a:lnTo>
                <a:lnTo>
                  <a:pt x="1368535" y="976154"/>
                </a:lnTo>
                <a:lnTo>
                  <a:pt x="1397653" y="1079609"/>
                </a:lnTo>
                <a:lnTo>
                  <a:pt x="1426771" y="1173182"/>
                </a:lnTo>
                <a:lnTo>
                  <a:pt x="1455888" y="1255685"/>
                </a:lnTo>
                <a:lnTo>
                  <a:pt x="1485006" y="1326499"/>
                </a:lnTo>
                <a:lnTo>
                  <a:pt x="1514124" y="1385508"/>
                </a:lnTo>
                <a:lnTo>
                  <a:pt x="1543242" y="1433020"/>
                </a:lnTo>
                <a:lnTo>
                  <a:pt x="1572359" y="1469678"/>
                </a:lnTo>
                <a:lnTo>
                  <a:pt x="1601477" y="1496364"/>
                </a:lnTo>
                <a:lnTo>
                  <a:pt x="1630595" y="1514117"/>
                </a:lnTo>
                <a:lnTo>
                  <a:pt x="1659713" y="1524056"/>
                </a:lnTo>
                <a:lnTo>
                  <a:pt x="1688830" y="1527321"/>
                </a:lnTo>
                <a:lnTo>
                  <a:pt x="1717948" y="1525023"/>
                </a:lnTo>
                <a:lnTo>
                  <a:pt x="1747066" y="1518215"/>
                </a:lnTo>
                <a:lnTo>
                  <a:pt x="1776184" y="1507868"/>
                </a:lnTo>
                <a:lnTo>
                  <a:pt x="1805301" y="1494864"/>
                </a:lnTo>
                <a:lnTo>
                  <a:pt x="1834419" y="1479993"/>
                </a:lnTo>
                <a:lnTo>
                  <a:pt x="1863537" y="1463953"/>
                </a:lnTo>
                <a:lnTo>
                  <a:pt x="1892655" y="1447362"/>
                </a:lnTo>
                <a:lnTo>
                  <a:pt x="1921773" y="1430763"/>
                </a:lnTo>
                <a:lnTo>
                  <a:pt x="1950890" y="1414632"/>
                </a:lnTo>
                <a:lnTo>
                  <a:pt x="1980008" y="1399384"/>
                </a:lnTo>
                <a:lnTo>
                  <a:pt x="2009126" y="1385379"/>
                </a:lnTo>
                <a:lnTo>
                  <a:pt x="2038244" y="1372930"/>
                </a:lnTo>
                <a:lnTo>
                  <a:pt x="2067361" y="1362299"/>
                </a:lnTo>
                <a:lnTo>
                  <a:pt x="2096479" y="1353703"/>
                </a:lnTo>
                <a:lnTo>
                  <a:pt x="2125597" y="1347315"/>
                </a:lnTo>
                <a:lnTo>
                  <a:pt x="2154715" y="1343260"/>
                </a:lnTo>
                <a:lnTo>
                  <a:pt x="2183832" y="1341620"/>
                </a:lnTo>
                <a:lnTo>
                  <a:pt x="2212950" y="1342432"/>
                </a:lnTo>
                <a:lnTo>
                  <a:pt x="2242068" y="1345689"/>
                </a:lnTo>
                <a:lnTo>
                  <a:pt x="2271186" y="1351340"/>
                </a:lnTo>
                <a:lnTo>
                  <a:pt x="2300303" y="1359294"/>
                </a:lnTo>
                <a:lnTo>
                  <a:pt x="2329421" y="1369424"/>
                </a:lnTo>
                <a:lnTo>
                  <a:pt x="2358539" y="1381569"/>
                </a:lnTo>
                <a:lnTo>
                  <a:pt x="2387657" y="1395537"/>
                </a:lnTo>
                <a:lnTo>
                  <a:pt x="2416775" y="1411114"/>
                </a:lnTo>
                <a:lnTo>
                  <a:pt x="2445892" y="1428068"/>
                </a:lnTo>
                <a:lnTo>
                  <a:pt x="2475010" y="1446152"/>
                </a:lnTo>
                <a:lnTo>
                  <a:pt x="2504128" y="1465116"/>
                </a:lnTo>
                <a:lnTo>
                  <a:pt x="2533246" y="1484705"/>
                </a:lnTo>
                <a:lnTo>
                  <a:pt x="2562363" y="1504673"/>
                </a:lnTo>
                <a:lnTo>
                  <a:pt x="2591481" y="1524779"/>
                </a:lnTo>
                <a:lnTo>
                  <a:pt x="2620599" y="1544800"/>
                </a:lnTo>
                <a:lnTo>
                  <a:pt x="2649717" y="1564530"/>
                </a:lnTo>
                <a:lnTo>
                  <a:pt x="2678834" y="1583781"/>
                </a:lnTo>
                <a:lnTo>
                  <a:pt x="2707952" y="1602393"/>
                </a:lnTo>
                <a:lnTo>
                  <a:pt x="2737070" y="1620226"/>
                </a:lnTo>
                <a:lnTo>
                  <a:pt x="2766188" y="1637170"/>
                </a:lnTo>
                <a:lnTo>
                  <a:pt x="2795305" y="1653135"/>
                </a:lnTo>
                <a:lnTo>
                  <a:pt x="2824423" y="1668059"/>
                </a:lnTo>
                <a:lnTo>
                  <a:pt x="2853541" y="1681902"/>
                </a:lnTo>
                <a:lnTo>
                  <a:pt x="2882659" y="1694647"/>
                </a:lnTo>
                <a:lnTo>
                  <a:pt x="2911777" y="1706293"/>
                </a:lnTo>
                <a:lnTo>
                  <a:pt x="2940894" y="1716858"/>
                </a:lnTo>
                <a:lnTo>
                  <a:pt x="2970012" y="1726376"/>
                </a:lnTo>
                <a:lnTo>
                  <a:pt x="2999130" y="1734890"/>
                </a:lnTo>
                <a:lnTo>
                  <a:pt x="3028248" y="1742454"/>
                </a:lnTo>
                <a:lnTo>
                  <a:pt x="3057365" y="1749128"/>
                </a:lnTo>
                <a:lnTo>
                  <a:pt x="3086483" y="1754978"/>
                </a:lnTo>
                <a:lnTo>
                  <a:pt x="3115601" y="1760071"/>
                </a:lnTo>
                <a:lnTo>
                  <a:pt x="3144719" y="1764476"/>
                </a:lnTo>
                <a:lnTo>
                  <a:pt x="3173836" y="1768262"/>
                </a:lnTo>
                <a:lnTo>
                  <a:pt x="3202954" y="1771495"/>
                </a:lnTo>
                <a:lnTo>
                  <a:pt x="3232072" y="1774238"/>
                </a:lnTo>
                <a:lnTo>
                  <a:pt x="3261190" y="1776550"/>
                </a:lnTo>
                <a:lnTo>
                  <a:pt x="3290307" y="1778487"/>
                </a:lnTo>
                <a:lnTo>
                  <a:pt x="3319425" y="1780100"/>
                </a:lnTo>
                <a:lnTo>
                  <a:pt x="3348543" y="1781434"/>
                </a:lnTo>
                <a:lnTo>
                  <a:pt x="3377661" y="1782531"/>
                </a:lnTo>
                <a:lnTo>
                  <a:pt x="3406779" y="1783428"/>
                </a:lnTo>
                <a:lnTo>
                  <a:pt x="3435896" y="1784156"/>
                </a:lnTo>
                <a:lnTo>
                  <a:pt x="3465014" y="1784744"/>
                </a:lnTo>
                <a:lnTo>
                  <a:pt x="3494132" y="1785215"/>
                </a:lnTo>
                <a:lnTo>
                  <a:pt x="3523250" y="1785591"/>
                </a:lnTo>
                <a:lnTo>
                  <a:pt x="3552367" y="1785890"/>
                </a:lnTo>
                <a:lnTo>
                  <a:pt x="3581485" y="1786125"/>
                </a:lnTo>
                <a:lnTo>
                  <a:pt x="3610603" y="1786309"/>
                </a:lnTo>
                <a:lnTo>
                  <a:pt x="3639721" y="1786452"/>
                </a:lnTo>
                <a:lnTo>
                  <a:pt x="3668838" y="1786563"/>
                </a:lnTo>
                <a:lnTo>
                  <a:pt x="3697956" y="1786648"/>
                </a:lnTo>
                <a:lnTo>
                  <a:pt x="3727074" y="1786713"/>
                </a:lnTo>
                <a:lnTo>
                  <a:pt x="3756192" y="1786763"/>
                </a:lnTo>
                <a:lnTo>
                  <a:pt x="3785309" y="1786800"/>
                </a:lnTo>
                <a:lnTo>
                  <a:pt x="3814427" y="1786829"/>
                </a:lnTo>
                <a:lnTo>
                  <a:pt x="3843545" y="1786850"/>
                </a:lnTo>
                <a:lnTo>
                  <a:pt x="3872663" y="1786865"/>
                </a:lnTo>
                <a:lnTo>
                  <a:pt x="3901781" y="1786877"/>
                </a:lnTo>
                <a:lnTo>
                  <a:pt x="3930898" y="1786885"/>
                </a:lnTo>
                <a:lnTo>
                  <a:pt x="3960016" y="1786891"/>
                </a:lnTo>
                <a:lnTo>
                  <a:pt x="3989134" y="1786896"/>
                </a:lnTo>
                <a:lnTo>
                  <a:pt x="4018252" y="1786899"/>
                </a:lnTo>
                <a:lnTo>
                  <a:pt x="4047369" y="1786901"/>
                </a:lnTo>
                <a:lnTo>
                  <a:pt x="4076487" y="1786903"/>
                </a:lnTo>
                <a:lnTo>
                  <a:pt x="4105605" y="1786904"/>
                </a:lnTo>
                <a:lnTo>
                  <a:pt x="4134723" y="1786905"/>
                </a:lnTo>
                <a:lnTo>
                  <a:pt x="4163840" y="1786906"/>
                </a:lnTo>
                <a:lnTo>
                  <a:pt x="4192958" y="1786906"/>
                </a:lnTo>
                <a:lnTo>
                  <a:pt x="4222076" y="1786906"/>
                </a:lnTo>
                <a:lnTo>
                  <a:pt x="4251194" y="1786907"/>
                </a:lnTo>
                <a:lnTo>
                  <a:pt x="4280312" y="1786907"/>
                </a:lnTo>
                <a:lnTo>
                  <a:pt x="4309429" y="1786907"/>
                </a:lnTo>
                <a:lnTo>
                  <a:pt x="4338547" y="1786907"/>
                </a:lnTo>
                <a:lnTo>
                  <a:pt x="4367665" y="1786907"/>
                </a:lnTo>
                <a:lnTo>
                  <a:pt x="4396783" y="1786907"/>
                </a:lnTo>
                <a:lnTo>
                  <a:pt x="4425900" y="1786907"/>
                </a:lnTo>
                <a:lnTo>
                  <a:pt x="4455018" y="1786907"/>
                </a:lnTo>
                <a:lnTo>
                  <a:pt x="4484136" y="1786907"/>
                </a:lnTo>
                <a:lnTo>
                  <a:pt x="4513254" y="1786907"/>
                </a:lnTo>
                <a:lnTo>
                  <a:pt x="4542371" y="1786907"/>
                </a:lnTo>
                <a:lnTo>
                  <a:pt x="4571489" y="1786907"/>
                </a:lnTo>
                <a:lnTo>
                  <a:pt x="4600607" y="1786907"/>
                </a:lnTo>
                <a:lnTo>
                  <a:pt x="4629725" y="1786907"/>
                </a:lnTo>
                <a:lnTo>
                  <a:pt x="4658842" y="1786907"/>
                </a:lnTo>
                <a:lnTo>
                  <a:pt x="4687960" y="1786907"/>
                </a:lnTo>
                <a:lnTo>
                  <a:pt x="4717078" y="1786907"/>
                </a:lnTo>
                <a:lnTo>
                  <a:pt x="4746196" y="1786907"/>
                </a:lnTo>
                <a:lnTo>
                  <a:pt x="4775314" y="1786907"/>
                </a:lnTo>
                <a:lnTo>
                  <a:pt x="4804431" y="1786907"/>
                </a:lnTo>
                <a:lnTo>
                  <a:pt x="4833549" y="1786907"/>
                </a:lnTo>
                <a:lnTo>
                  <a:pt x="4862667" y="1786907"/>
                </a:lnTo>
                <a:lnTo>
                  <a:pt x="4891785" y="1786907"/>
                </a:lnTo>
                <a:lnTo>
                  <a:pt x="4920902" y="1786907"/>
                </a:lnTo>
                <a:lnTo>
                  <a:pt x="4950020" y="1786907"/>
                </a:lnTo>
                <a:lnTo>
                  <a:pt x="4979138" y="1786907"/>
                </a:lnTo>
                <a:lnTo>
                  <a:pt x="5008256" y="1786907"/>
                </a:lnTo>
                <a:lnTo>
                  <a:pt x="5037373" y="1786907"/>
                </a:lnTo>
                <a:lnTo>
                  <a:pt x="5066491" y="1786907"/>
                </a:lnTo>
                <a:lnTo>
                  <a:pt x="5095609" y="1786907"/>
                </a:lnTo>
                <a:lnTo>
                  <a:pt x="5124727" y="1786907"/>
                </a:lnTo>
                <a:lnTo>
                  <a:pt x="5153844" y="1786907"/>
                </a:lnTo>
                <a:lnTo>
                  <a:pt x="5182962" y="1786907"/>
                </a:lnTo>
                <a:lnTo>
                  <a:pt x="5212080" y="1786907"/>
                </a:lnTo>
              </a:path>
            </a:pathLst>
          </a:cu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_low"/>
          <p:cNvSpPr/>
          <p:nvPr/>
        </p:nvSpPr>
        <p:spPr>
          <a:xfrm>
            <a:off x="3063505" y="3211272"/>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_high"/>
          <p:cNvSpPr/>
          <p:nvPr/>
        </p:nvSpPr>
        <p:spPr>
          <a:xfrm>
            <a:off x="2855543" y="3514031"/>
            <a:ext cx="128016" cy="128016"/>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gend"/>
          <p:cNvSpPr txBox="1"/>
          <p:nvPr/>
        </p:nvSpPr>
        <p:spPr>
          <a:xfrm>
            <a:off x="3626617" y="4404673"/>
            <a:ext cx="3291840" cy="402336"/>
          </a:xfrm>
          <a:prstGeom prst="rect">
            <a:avLst/>
          </a:prstGeom>
          <a:noFill/>
        </p:spPr>
        <p:txBody>
          <a:bodyPr wrap="square" lIns="0" tIns="0" rIns="0" bIns="0" anchor="ctr">
            <a:spAutoFit/>
          </a:bodyPr>
          <a:lstStyle/>
          <a:p>
            <a:pPr algn="l"/>
            <a:r>
              <a:rPr sz="2200" b="1">
                <a:solidFill>
                  <a:srgbClr val="808080"/>
                </a:solidFill>
                <a:latin typeface="Meiryo"/>
                <a:ea typeface="Meiryo"/>
                <a:cs typeface="Meiryo"/>
              </a:rPr>
              <a:t>低心拍</a:t>
            </a:r>
            <a:r>
              <a:rPr sz="2200" b="1">
                <a:solidFill>
                  <a:srgbClr val="262626"/>
                </a:solidFill>
                <a:latin typeface="Meiryo"/>
                <a:ea typeface="Meiryo"/>
                <a:cs typeface="Meiryo"/>
              </a:rPr>
              <a:t>　／　</a:t>
            </a:r>
            <a:r>
              <a:rPr sz="2200" b="1">
                <a:solidFill>
                  <a:srgbClr val="0072B2"/>
                </a:solidFill>
                <a:latin typeface="Meiryo"/>
                <a:ea typeface="Meiryo"/>
                <a:cs typeface="Meiryo"/>
              </a:rPr>
              <a:t>高心拍</a:t>
            </a:r>
          </a:p>
        </p:txBody>
      </p:sp>
      <p:sp>
        <p:nvSpPr>
          <p:cNvPr id="24" name="rilab"/>
          <p:cNvSpPr txBox="1"/>
          <p:nvPr/>
        </p:nvSpPr>
        <p:spPr>
          <a:xfrm>
            <a:off x="3877056" y="2194560"/>
            <a:ext cx="2194560" cy="914400"/>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P2/P1 ＝ RI</a:t>
            </a:r>
          </a:p>
          <a:p>
            <a:pPr algn="l"/>
            <a:r>
              <a:rPr sz="2200" b="1">
                <a:solidFill>
                  <a:srgbClr val="262626"/>
                </a:solidFill>
                <a:latin typeface="Meiryo"/>
                <a:ea typeface="Meiryo"/>
                <a:cs typeface="Meiryo"/>
              </a:rPr>
              <a:t>HR↑ → RI↓</a:t>
            </a:r>
          </a:p>
        </p:txBody>
      </p:sp>
      <p:sp>
        <p:nvSpPr>
          <p:cNvPr id="25" name="pt0"/>
          <p:cNvSpPr/>
          <p:nvPr/>
        </p:nvSpPr>
        <p:spPr>
          <a:xfrm>
            <a:off x="6419088" y="2157984"/>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RI は HR の影響を受ける</a:t>
            </a:r>
          </a:p>
        </p:txBody>
      </p:sp>
      <p:sp>
        <p:nvSpPr>
          <p:cNvPr id="27" name="pt2"/>
          <p:cNvSpPr/>
          <p:nvPr/>
        </p:nvSpPr>
        <p:spPr>
          <a:xfrm>
            <a:off x="6419088" y="3474720"/>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PPG の RI に確立した補正式なし</a:t>
            </a:r>
          </a:p>
        </p:txBody>
      </p:sp>
      <p:sp>
        <p:nvSpPr>
          <p:cNvPr id="28" name="callout"/>
          <p:cNvSpPr/>
          <p:nvPr/>
        </p:nvSpPr>
        <p:spPr>
          <a:xfrm>
            <a:off x="548640" y="5120640"/>
            <a:ext cx="10991088" cy="106070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C00000"/>
                </a:solidFill>
                <a:latin typeface="Meiryo"/>
                <a:ea typeface="Meiryo"/>
                <a:cs typeface="Meiryo"/>
              </a:rPr>
              <a:t>RI 単独で トーヌスを語らない</a:t>
            </a:r>
          </a:p>
          <a:p>
            <a:pPr algn="ctr"/>
            <a:r>
              <a:rPr sz="2200" b="1">
                <a:solidFill>
                  <a:srgbClr val="262626"/>
                </a:solidFill>
                <a:latin typeface="Meiryo"/>
                <a:ea typeface="Meiryo"/>
                <a:cs typeface="Meiryo"/>
              </a:rPr>
              <a:t>経時比較は HR をそろえる　／　RI は HR と併記して解釈</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Tree>
    <p:extLst>
      <p:ext uri="{BB962C8B-B14F-4D97-AF65-F5344CB8AC3E}">
        <p14:creationId xmlns:p14="http://schemas.microsoft.com/office/powerpoint/2010/main" val="178077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5AB5-62E7-2957-C4A4-3C2B2E264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8B12D-4579-D621-91F6-FC3E2300A14E}"/>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4AE854FB-7763-74A3-33B4-EB15866EF5C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5A21CFF-0263-8C66-F570-3EF27321C77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017F691-B5DE-A682-AC9A-C061DAAF234F}"/>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168E6F26-1772-B5A4-645D-085E8A17C02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16C3531-BDC7-581D-EA06-A8B8571AFD0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sdppg" descr="image.png">
            <a:extLst>
              <a:ext uri="{FF2B5EF4-FFF2-40B4-BE49-F238E27FC236}">
                <a16:creationId xmlns:a16="http://schemas.microsoft.com/office/drawing/2014/main" id="{8C4CFCCE-27B5-D2AF-0026-0D40D6B89C78}"/>
              </a:ext>
            </a:extLst>
          </p:cNvPr>
          <p:cNvPicPr>
            <a:picLocks noChangeAspect="1"/>
          </p:cNvPicPr>
          <p:nvPr/>
        </p:nvPicPr>
        <p:blipFill>
          <a:blip r:embed="rId3"/>
          <a:stretch>
            <a:fillRect/>
          </a:stretch>
        </p:blipFill>
        <p:spPr>
          <a:xfrm>
            <a:off x="1625105" y="1835999"/>
            <a:ext cx="6336000" cy="3960000"/>
          </a:xfrm>
          <a:prstGeom prst="rect">
            <a:avLst/>
          </a:prstGeom>
        </p:spPr>
      </p:pic>
      <p:sp>
        <p:nvSpPr>
          <p:cNvPr id="19" name="TextBox 18">
            <a:extLst>
              <a:ext uri="{FF2B5EF4-FFF2-40B4-BE49-F238E27FC236}">
                <a16:creationId xmlns:a16="http://schemas.microsoft.com/office/drawing/2014/main" id="{4BE9FE95-37E9-0E76-1D4A-BC6F614E59D7}"/>
              </a:ext>
            </a:extLst>
          </p:cNvPr>
          <p:cNvSpPr txBox="1"/>
          <p:nvPr/>
        </p:nvSpPr>
        <p:spPr>
          <a:xfrm>
            <a:off x="500549" y="194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原波形 PPG</a:t>
            </a:r>
          </a:p>
        </p:txBody>
      </p:sp>
      <p:sp>
        <p:nvSpPr>
          <p:cNvPr id="21" name="TextBox 20">
            <a:extLst>
              <a:ext uri="{FF2B5EF4-FFF2-40B4-BE49-F238E27FC236}">
                <a16:creationId xmlns:a16="http://schemas.microsoft.com/office/drawing/2014/main" id="{F19B4D6B-BE3F-4AC3-35BB-35AA6E377D40}"/>
              </a:ext>
            </a:extLst>
          </p:cNvPr>
          <p:cNvSpPr txBox="1"/>
          <p:nvPr/>
        </p:nvSpPr>
        <p:spPr>
          <a:xfrm>
            <a:off x="500549" y="4086000"/>
            <a:ext cx="2240998"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A8AA"/>
                </a:solidFill>
                <a:latin typeface="Meiryo"/>
                <a:ea typeface="Meiryo"/>
                <a:cs typeface="Meiryo"/>
              </a:rPr>
              <a:t>二次微分</a:t>
            </a:r>
            <a:r>
              <a:rPr sz="2200" b="1" dirty="0">
                <a:solidFill>
                  <a:srgbClr val="00A8AA"/>
                </a:solidFill>
                <a:latin typeface="Meiryo"/>
                <a:ea typeface="Meiryo"/>
                <a:cs typeface="Meiryo"/>
              </a:rPr>
              <a:t> SDPPG</a:t>
            </a:r>
            <a:endParaRPr lang="en-US" sz="2200" b="1" dirty="0">
              <a:solidFill>
                <a:srgbClr val="00A8AA"/>
              </a:solidFill>
              <a:latin typeface="Meiryo"/>
              <a:ea typeface="Meiryo"/>
              <a:cs typeface="Meiryo"/>
            </a:endParaRPr>
          </a:p>
        </p:txBody>
      </p:sp>
      <p:sp>
        <p:nvSpPr>
          <p:cNvPr id="23" name="Rounded Rectangle 22">
            <a:extLst>
              <a:ext uri="{FF2B5EF4-FFF2-40B4-BE49-F238E27FC236}">
                <a16:creationId xmlns:a16="http://schemas.microsoft.com/office/drawing/2014/main" id="{22594183-3678-C70E-EED7-7361DFB0C4C5}"/>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A9B8F385-3709-EEE8-5E2E-752CA308BB4C}"/>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sp>
        <p:nvSpPr>
          <p:cNvPr id="6" name="テキスト ボックス 5">
            <a:extLst>
              <a:ext uri="{FF2B5EF4-FFF2-40B4-BE49-F238E27FC236}">
                <a16:creationId xmlns:a16="http://schemas.microsoft.com/office/drawing/2014/main" id="{7EDD8D34-52AC-C545-1024-247767B86617}"/>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3" name="テキスト ボックス 2">
            <a:extLst>
              <a:ext uri="{FF2B5EF4-FFF2-40B4-BE49-F238E27FC236}">
                <a16:creationId xmlns:a16="http://schemas.microsoft.com/office/drawing/2014/main" id="{D90946D4-5E1D-11B6-E5C2-06A0D9567897}"/>
              </a:ext>
            </a:extLst>
          </p:cNvPr>
          <p:cNvSpPr txBox="1"/>
          <p:nvPr/>
        </p:nvSpPr>
        <p:spPr>
          <a:xfrm>
            <a:off x="5017477" y="5401745"/>
            <a:ext cx="2929905" cy="338554"/>
          </a:xfrm>
          <a:prstGeom prst="rect">
            <a:avLst/>
          </a:prstGeom>
          <a:noFill/>
        </p:spPr>
        <p:txBody>
          <a:bodyPr wrap="none" rtlCol="0">
            <a:spAutoFit/>
          </a:bodyPr>
          <a:lstStyle/>
          <a:p>
            <a:r>
              <a:rPr lang="en-US" altLang="ja-JP" sz="1600" b="1" dirty="0">
                <a:solidFill>
                  <a:srgbClr val="00A8AA"/>
                </a:solidFill>
                <a:latin typeface="Meiryo"/>
                <a:ea typeface="Meiryo"/>
                <a:cs typeface="Meiryo"/>
              </a:rPr>
              <a:t>Second Derivative of PPG</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33/71</a:t>
            </a:r>
          </a:p>
        </p:txBody>
      </p:sp>
    </p:spTree>
    <p:extLst>
      <p:ext uri="{BB962C8B-B14F-4D97-AF65-F5344CB8AC3E}">
        <p14:creationId xmlns:p14="http://schemas.microsoft.com/office/powerpoint/2010/main" val="5183498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17EE-6908-300F-949E-A63FBBD27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15EC-F06D-9088-6B2F-D537E8063CDB}"/>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F82859B7-7A8B-D6BA-99A5-6386B3561DA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15DFAAE-E79C-4B59-124F-EA9B54F59FF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5C38581-8D3D-3E39-4649-60E4AB87418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BBE12F32-226A-723D-D428-721E42599F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5C0A1BD9-C8F0-F8A0-5884-C2A793CE817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AACC6462-0E6D-5AFB-2805-B7029C62C4F1}"/>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pic>
        <p:nvPicPr>
          <p:cNvPr id="3" name="図 2">
            <a:extLst>
              <a:ext uri="{FF2B5EF4-FFF2-40B4-BE49-F238E27FC236}">
                <a16:creationId xmlns:a16="http://schemas.microsoft.com/office/drawing/2014/main" id="{898F44B3-F197-127F-726A-0C5012339931}"/>
              </a:ext>
            </a:extLst>
          </p:cNvPr>
          <p:cNvPicPr>
            <a:picLocks noChangeAspect="1"/>
          </p:cNvPicPr>
          <p:nvPr/>
        </p:nvPicPr>
        <p:blipFill>
          <a:blip r:embed="rId3"/>
          <a:stretch>
            <a:fillRect/>
          </a:stretch>
        </p:blipFill>
        <p:spPr>
          <a:xfrm>
            <a:off x="2853303" y="1635761"/>
            <a:ext cx="3149931" cy="4210789"/>
          </a:xfrm>
          <a:prstGeom prst="rect">
            <a:avLst/>
          </a:prstGeom>
        </p:spPr>
      </p:pic>
      <p:sp>
        <p:nvSpPr>
          <p:cNvPr id="5" name="Rounded Rectangle 22">
            <a:extLst>
              <a:ext uri="{FF2B5EF4-FFF2-40B4-BE49-F238E27FC236}">
                <a16:creationId xmlns:a16="http://schemas.microsoft.com/office/drawing/2014/main" id="{8B88CFAA-7D53-AA63-03B5-6B1A8A021B53}"/>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6" name="テキスト ボックス 5">
            <a:extLst>
              <a:ext uri="{FF2B5EF4-FFF2-40B4-BE49-F238E27FC236}">
                <a16:creationId xmlns:a16="http://schemas.microsoft.com/office/drawing/2014/main" id="{899FC92F-C02C-C2A4-9231-72B4312A2C0C}"/>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33/71</a:t>
            </a:r>
          </a:p>
        </p:txBody>
      </p:sp>
    </p:spTree>
    <p:extLst>
      <p:ext uri="{BB962C8B-B14F-4D97-AF65-F5344CB8AC3E}">
        <p14:creationId xmlns:p14="http://schemas.microsoft.com/office/powerpoint/2010/main" val="181102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F3DC-DBE2-F1CA-D509-1FDD4DD8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の主な知見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0" name="st0">
            <a:extLst>
              <a:ext uri="{FF2B5EF4-FFF2-40B4-BE49-F238E27FC236}">
                <a16:creationId xmlns:a16="http://schemas.microsoft.com/office/drawing/2014/main" id="{A69AD9DE-FE15-D9A0-97CF-F74D33568E1A}"/>
              </a:ext>
            </a:extLst>
          </p:cNvPr>
          <p:cNvSpPr/>
          <p:nvPr/>
        </p:nvSpPr>
        <p:spPr>
          <a:xfrm>
            <a:off x="548640" y="1567988"/>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Takazawa</a:t>
            </a:r>
            <a:r>
              <a:rPr sz="2200" b="1" dirty="0">
                <a:solidFill>
                  <a:srgbClr val="262626"/>
                </a:solidFill>
                <a:latin typeface="Meiryo"/>
                <a:ea typeface="Meiryo"/>
                <a:cs typeface="Meiryo"/>
              </a:rPr>
              <a:t> 1998</a:t>
            </a:r>
          </a:p>
        </p:txBody>
      </p:sp>
      <p:sp>
        <p:nvSpPr>
          <p:cNvPr id="21" name="sr0">
            <a:extLst>
              <a:ext uri="{FF2B5EF4-FFF2-40B4-BE49-F238E27FC236}">
                <a16:creationId xmlns:a16="http://schemas.microsoft.com/office/drawing/2014/main" id="{3F5DD0A6-7558-4C70-A09F-D1C08996BE50}"/>
              </a:ext>
            </a:extLst>
          </p:cNvPr>
          <p:cNvSpPr txBox="1"/>
          <p:nvPr/>
        </p:nvSpPr>
        <p:spPr>
          <a:xfrm>
            <a:off x="3467151" y="1686634"/>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血管作動薬で</a:t>
            </a:r>
            <a:r>
              <a:rPr sz="2200" b="1" dirty="0">
                <a:solidFill>
                  <a:srgbClr val="262626"/>
                </a:solidFill>
                <a:latin typeface="Meiryo"/>
                <a:ea typeface="Meiryo"/>
                <a:cs typeface="Meiryo"/>
              </a:rPr>
              <a:t> d/a </a:t>
            </a:r>
            <a:r>
              <a:rPr sz="2200" b="1" dirty="0" err="1">
                <a:solidFill>
                  <a:srgbClr val="262626"/>
                </a:solidFill>
                <a:latin typeface="Meiryo"/>
                <a:ea typeface="Meiryo"/>
                <a:cs typeface="Meiryo"/>
              </a:rPr>
              <a:t>が変化：AT</a:t>
            </a:r>
            <a:r>
              <a:rPr sz="2200" b="1" dirty="0">
                <a:solidFill>
                  <a:srgbClr val="262626"/>
                </a:solidFill>
                <a:latin typeface="Meiryo"/>
                <a:ea typeface="Meiryo"/>
                <a:cs typeface="Meiryo"/>
              </a:rPr>
              <a:t> II −0.62 ／ NTG −0.25</a:t>
            </a:r>
          </a:p>
          <a:p>
            <a:pPr algn="l"/>
            <a:r>
              <a:rPr lang="ja-JP" altLang="en-US" sz="2200" b="1">
                <a:solidFill>
                  <a:srgbClr val="262626"/>
                </a:solidFill>
                <a:latin typeface="Meiryo"/>
                <a:ea typeface="Meiryo"/>
                <a:cs typeface="Meiryo"/>
              </a:rPr>
              <a:t>血管加齢指数</a:t>
            </a:r>
            <a:r>
              <a:rPr lang="en-US" altLang="ja-JP" sz="2200" b="1" dirty="0">
                <a:solidFill>
                  <a:srgbClr val="262626"/>
                </a:solidFill>
                <a:latin typeface="Meiryo"/>
                <a:ea typeface="Meiryo"/>
                <a:cs typeface="Meiryo"/>
              </a:rPr>
              <a:t> </a:t>
            </a:r>
            <a:r>
              <a:rPr sz="2200" b="1" dirty="0">
                <a:solidFill>
                  <a:srgbClr val="262626"/>
                </a:solidFill>
                <a:latin typeface="Meiryo"/>
                <a:ea typeface="Meiryo"/>
                <a:cs typeface="Meiryo"/>
              </a:rPr>
              <a:t>AGI </a:t>
            </a:r>
            <a:r>
              <a:rPr sz="2200" b="1" dirty="0" err="1">
                <a:solidFill>
                  <a:srgbClr val="262626"/>
                </a:solidFill>
                <a:latin typeface="Meiryo"/>
                <a:ea typeface="Meiryo"/>
                <a:cs typeface="Meiryo"/>
              </a:rPr>
              <a:t>と</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年齢</a:t>
            </a:r>
            <a:r>
              <a:rPr sz="2200" b="1" dirty="0">
                <a:solidFill>
                  <a:srgbClr val="262626"/>
                </a:solidFill>
                <a:latin typeface="Meiryo"/>
                <a:ea typeface="Meiryo"/>
                <a:cs typeface="Meiryo"/>
              </a:rPr>
              <a:t> r=0.80</a:t>
            </a:r>
          </a:p>
        </p:txBody>
      </p:sp>
      <p:sp>
        <p:nvSpPr>
          <p:cNvPr id="22" name="st1">
            <a:extLst>
              <a:ext uri="{FF2B5EF4-FFF2-40B4-BE49-F238E27FC236}">
                <a16:creationId xmlns:a16="http://schemas.microsoft.com/office/drawing/2014/main" id="{A7CB9A96-465E-EEC4-39E3-AFE34E82455C}"/>
              </a:ext>
            </a:extLst>
          </p:cNvPr>
          <p:cNvSpPr/>
          <p:nvPr/>
        </p:nvSpPr>
        <p:spPr>
          <a:xfrm>
            <a:off x="548640" y="2543914"/>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Bortolotto</a:t>
            </a:r>
            <a:r>
              <a:rPr sz="2200" b="1" dirty="0">
                <a:solidFill>
                  <a:srgbClr val="262626"/>
                </a:solidFill>
                <a:latin typeface="Meiryo"/>
                <a:ea typeface="Meiryo"/>
                <a:cs typeface="Meiryo"/>
              </a:rPr>
              <a:t> 2000</a:t>
            </a:r>
          </a:p>
        </p:txBody>
      </p:sp>
      <p:sp>
        <p:nvSpPr>
          <p:cNvPr id="23" name="sr1">
            <a:extLst>
              <a:ext uri="{FF2B5EF4-FFF2-40B4-BE49-F238E27FC236}">
                <a16:creationId xmlns:a16="http://schemas.microsoft.com/office/drawing/2014/main" id="{956EC523-6A44-37E2-4B03-A7B1D576A436}"/>
              </a:ext>
            </a:extLst>
          </p:cNvPr>
          <p:cNvSpPr txBox="1"/>
          <p:nvPr/>
        </p:nvSpPr>
        <p:spPr>
          <a:xfrm>
            <a:off x="3467151" y="2662560"/>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動脈硬化あり</a:t>
            </a:r>
            <a:r>
              <a:rPr sz="2200" b="1" dirty="0">
                <a:solidFill>
                  <a:srgbClr val="262626"/>
                </a:solidFill>
                <a:latin typeface="Meiryo"/>
                <a:ea typeface="Meiryo"/>
                <a:cs typeface="Meiryo"/>
              </a:rPr>
              <a:t> AGI −0.093 ／ </a:t>
            </a:r>
            <a:r>
              <a:rPr sz="2200" b="1" dirty="0" err="1">
                <a:solidFill>
                  <a:srgbClr val="262626"/>
                </a:solidFill>
                <a:latin typeface="Meiryo"/>
                <a:ea typeface="Meiryo"/>
                <a:cs typeface="Meiryo"/>
              </a:rPr>
              <a:t>なし</a:t>
            </a:r>
            <a:r>
              <a:rPr sz="2200" b="1" dirty="0">
                <a:solidFill>
                  <a:srgbClr val="262626"/>
                </a:solidFill>
                <a:latin typeface="Meiryo"/>
                <a:ea typeface="Meiryo"/>
                <a:cs typeface="Meiryo"/>
              </a:rPr>
              <a:t> −0.271（P&lt;0.001）</a:t>
            </a:r>
          </a:p>
          <a:p>
            <a:pPr algn="l"/>
            <a:r>
              <a:rPr lang="ja-JP" altLang="en-US" sz="2200" b="1">
                <a:solidFill>
                  <a:srgbClr val="262626"/>
                </a:solidFill>
                <a:latin typeface="Meiryo"/>
                <a:ea typeface="Meiryo"/>
                <a:cs typeface="Meiryo"/>
              </a:rPr>
              <a:t>動脈硬化の</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独立規定因子としては</a:t>
            </a:r>
            <a:r>
              <a:rPr sz="2200" b="1" dirty="0">
                <a:solidFill>
                  <a:srgbClr val="262626"/>
                </a:solidFill>
                <a:latin typeface="Meiryo"/>
                <a:ea typeface="Meiryo"/>
                <a:cs typeface="Meiryo"/>
              </a:rPr>
              <a:t> PWV </a:t>
            </a:r>
            <a:r>
              <a:rPr sz="2200" b="1" dirty="0" err="1">
                <a:solidFill>
                  <a:srgbClr val="262626"/>
                </a:solidFill>
                <a:latin typeface="Meiryo"/>
                <a:ea typeface="Meiryo"/>
                <a:cs typeface="Meiryo"/>
              </a:rPr>
              <a:t>が優位</a:t>
            </a:r>
            <a:r>
              <a:rPr lang="ja-JP" altLang="en-US" sz="2200" b="1">
                <a:solidFill>
                  <a:srgbClr val="262626"/>
                </a:solidFill>
                <a:latin typeface="Meiryo"/>
                <a:ea typeface="Meiryo"/>
                <a:cs typeface="Meiryo"/>
              </a:rPr>
              <a:t>。</a:t>
            </a:r>
            <a:endParaRPr sz="2200" b="1" dirty="0">
              <a:solidFill>
                <a:srgbClr val="262626"/>
              </a:solidFill>
              <a:latin typeface="Meiryo"/>
              <a:ea typeface="Meiryo"/>
              <a:cs typeface="Meiryo"/>
            </a:endParaRPr>
          </a:p>
        </p:txBody>
      </p:sp>
      <p:sp>
        <p:nvSpPr>
          <p:cNvPr id="24" name="st2">
            <a:extLst>
              <a:ext uri="{FF2B5EF4-FFF2-40B4-BE49-F238E27FC236}">
                <a16:creationId xmlns:a16="http://schemas.microsoft.com/office/drawing/2014/main" id="{DF5C56B1-7A32-A9A5-4FC0-BF2B52C46C27}"/>
              </a:ext>
            </a:extLst>
          </p:cNvPr>
          <p:cNvSpPr/>
          <p:nvPr/>
        </p:nvSpPr>
        <p:spPr>
          <a:xfrm>
            <a:off x="548640" y="3519840"/>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Hashimoto 2002</a:t>
            </a:r>
            <a:endParaRPr sz="2200" b="1" dirty="0">
              <a:solidFill>
                <a:srgbClr val="262626"/>
              </a:solidFill>
              <a:latin typeface="Meiryo"/>
              <a:ea typeface="Meiryo"/>
              <a:cs typeface="Meiryo"/>
            </a:endParaRPr>
          </a:p>
        </p:txBody>
      </p:sp>
      <p:sp>
        <p:nvSpPr>
          <p:cNvPr id="25" name="sr2">
            <a:extLst>
              <a:ext uri="{FF2B5EF4-FFF2-40B4-BE49-F238E27FC236}">
                <a16:creationId xmlns:a16="http://schemas.microsoft.com/office/drawing/2014/main" id="{4C889F4B-1141-A2B9-799E-CAA07C013806}"/>
              </a:ext>
            </a:extLst>
          </p:cNvPr>
          <p:cNvSpPr txBox="1"/>
          <p:nvPr/>
        </p:nvSpPr>
        <p:spPr>
          <a:xfrm>
            <a:off x="3467151" y="4614412"/>
            <a:ext cx="8174736" cy="677108"/>
          </a:xfrm>
          <a:prstGeom prst="rect">
            <a:avLst/>
          </a:prstGeom>
          <a:noFill/>
        </p:spPr>
        <p:txBody>
          <a:bodyPr wrap="square" lIns="0" tIns="0" rIns="0" bIns="0" anchor="ctr">
            <a:spAutoFit/>
          </a:bodyPr>
          <a:lstStyle/>
          <a:p>
            <a:r>
              <a:rPr lang="en" altLang="ja-JP" sz="2200" b="1" dirty="0">
                <a:latin typeface="+mj-ea"/>
                <a:ea typeface="+mj-ea"/>
              </a:rPr>
              <a:t>Framingham risk score </a:t>
            </a:r>
            <a:r>
              <a:rPr lang="ja-JP" altLang="en-US" sz="2200" b="1">
                <a:latin typeface="+mj-ea"/>
                <a:ea typeface="+mj-ea"/>
              </a:rPr>
              <a:t>との相関あり</a:t>
            </a:r>
            <a:endParaRPr lang="en-US" altLang="ja-JP" sz="2200" b="1" dirty="0">
              <a:latin typeface="+mj-ea"/>
              <a:ea typeface="+mj-ea"/>
            </a:endParaRPr>
          </a:p>
          <a:p>
            <a:r>
              <a:rPr lang="en" altLang="ja-JP" sz="2200" b="1" dirty="0">
                <a:latin typeface="+mj-ea"/>
                <a:ea typeface="+mj-ea"/>
              </a:rPr>
              <a:t>b/a</a:t>
            </a:r>
            <a:r>
              <a:rPr lang="ja-JP" altLang="en" sz="2200" b="1">
                <a:latin typeface="+mj-ea"/>
                <a:ea typeface="+mj-ea"/>
              </a:rPr>
              <a:t>：</a:t>
            </a:r>
            <a:r>
              <a:rPr lang="ja-JP" altLang="en-US" sz="2200" b="1">
                <a:latin typeface="+mj-ea"/>
                <a:ea typeface="+mj-ea"/>
              </a:rPr>
              <a:t> </a:t>
            </a:r>
            <a:r>
              <a:rPr lang="en" altLang="ja-JP" sz="2200" b="1" dirty="0">
                <a:latin typeface="+mj-ea"/>
                <a:ea typeface="+mj-ea"/>
              </a:rPr>
              <a:t>r=0.43</a:t>
            </a:r>
            <a:r>
              <a:rPr lang="ja-JP" altLang="en" sz="2200" b="1">
                <a:latin typeface="+mj-ea"/>
                <a:ea typeface="+mj-ea"/>
              </a:rPr>
              <a:t>／</a:t>
            </a:r>
            <a:r>
              <a:rPr lang="en" altLang="ja-JP" sz="2200" b="1" dirty="0">
                <a:latin typeface="+mj-ea"/>
                <a:ea typeface="+mj-ea"/>
              </a:rPr>
              <a:t>0.54 </a:t>
            </a:r>
            <a:r>
              <a:rPr lang="ja-JP" altLang="en" sz="2200" b="1">
                <a:latin typeface="+mj-ea"/>
                <a:ea typeface="+mj-ea"/>
              </a:rPr>
              <a:t>、</a:t>
            </a:r>
            <a:r>
              <a:rPr lang="en" altLang="ja-JP" sz="2200" b="1" dirty="0">
                <a:latin typeface="+mj-ea"/>
                <a:ea typeface="+mj-ea"/>
              </a:rPr>
              <a:t>d/a</a:t>
            </a:r>
            <a:r>
              <a:rPr lang="ja-JP" altLang="en" sz="2200" b="1">
                <a:latin typeface="+mj-ea"/>
                <a:ea typeface="+mj-ea"/>
              </a:rPr>
              <a:t>：</a:t>
            </a:r>
            <a:r>
              <a:rPr lang="en-US" altLang="ja-JP" sz="2200" b="1" dirty="0">
                <a:latin typeface="+mj-ea"/>
                <a:ea typeface="+mj-ea"/>
              </a:rPr>
              <a:t>r=</a:t>
            </a:r>
            <a:r>
              <a:rPr lang="ja-JP" altLang="en-US" sz="2200" b="1">
                <a:latin typeface="+mj-ea"/>
                <a:ea typeface="+mj-ea"/>
              </a:rPr>
              <a:t>−</a:t>
            </a:r>
            <a:r>
              <a:rPr lang="en-US" altLang="ja-JP" sz="2200" b="1" dirty="0">
                <a:latin typeface="+mj-ea"/>
                <a:ea typeface="+mj-ea"/>
              </a:rPr>
              <a:t>0.38</a:t>
            </a:r>
            <a:r>
              <a:rPr lang="ja-JP" altLang="en-US" sz="2200" b="1">
                <a:latin typeface="+mj-ea"/>
                <a:ea typeface="+mj-ea"/>
              </a:rPr>
              <a:t>／ −</a:t>
            </a:r>
            <a:r>
              <a:rPr lang="en-US" altLang="ja-JP" sz="2200" b="1" dirty="0">
                <a:latin typeface="+mj-ea"/>
                <a:ea typeface="+mj-ea"/>
              </a:rPr>
              <a:t>0.58  (</a:t>
            </a:r>
            <a:r>
              <a:rPr lang="ja-JP" altLang="en-US" sz="2200" b="1">
                <a:latin typeface="+mj-ea"/>
                <a:ea typeface="+mj-ea"/>
              </a:rPr>
              <a:t>男</a:t>
            </a:r>
            <a:r>
              <a:rPr lang="en-US" altLang="ja-JP" sz="2200" b="1" dirty="0">
                <a:latin typeface="+mj-ea"/>
                <a:ea typeface="+mj-ea"/>
              </a:rPr>
              <a:t>/</a:t>
            </a:r>
            <a:r>
              <a:rPr lang="ja-JP" altLang="en-US" sz="2200" b="1">
                <a:latin typeface="+mj-ea"/>
                <a:ea typeface="+mj-ea"/>
              </a:rPr>
              <a:t>女</a:t>
            </a:r>
            <a:r>
              <a:rPr lang="en-US" altLang="ja-JP" sz="2200" b="1" dirty="0">
                <a:latin typeface="+mj-ea"/>
                <a:ea typeface="+mj-ea"/>
              </a:rPr>
              <a:t>)</a:t>
            </a:r>
            <a:endParaRPr sz="2200" b="1" dirty="0">
              <a:solidFill>
                <a:srgbClr val="262626"/>
              </a:solidFill>
              <a:latin typeface="+mj-ea"/>
              <a:ea typeface="+mj-ea"/>
              <a:cs typeface="Meiryo"/>
            </a:endParaRPr>
          </a:p>
        </p:txBody>
      </p:sp>
      <p:sp>
        <p:nvSpPr>
          <p:cNvPr id="3" name="st2">
            <a:extLst>
              <a:ext uri="{FF2B5EF4-FFF2-40B4-BE49-F238E27FC236}">
                <a16:creationId xmlns:a16="http://schemas.microsoft.com/office/drawing/2014/main" id="{D01B300E-138B-711A-9BBC-DC39FEA03A42}"/>
              </a:ext>
            </a:extLst>
          </p:cNvPr>
          <p:cNvSpPr/>
          <p:nvPr/>
        </p:nvSpPr>
        <p:spPr>
          <a:xfrm>
            <a:off x="548640" y="4495766"/>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Otsuka</a:t>
            </a:r>
            <a:r>
              <a:rPr sz="2200" b="1" dirty="0">
                <a:solidFill>
                  <a:srgbClr val="262626"/>
                </a:solidFill>
                <a:latin typeface="Meiryo"/>
                <a:ea typeface="Meiryo"/>
                <a:cs typeface="Meiryo"/>
              </a:rPr>
              <a:t> 200</a:t>
            </a:r>
            <a:r>
              <a:rPr lang="en-US" sz="2200" b="1" dirty="0">
                <a:solidFill>
                  <a:srgbClr val="262626"/>
                </a:solidFill>
                <a:latin typeface="Meiryo"/>
                <a:ea typeface="Meiryo"/>
                <a:cs typeface="Meiryo"/>
              </a:rPr>
              <a:t>6</a:t>
            </a:r>
            <a:endParaRPr sz="2200" b="1" dirty="0">
              <a:solidFill>
                <a:srgbClr val="262626"/>
              </a:solidFill>
              <a:latin typeface="Meiryo"/>
              <a:ea typeface="Meiryo"/>
              <a:cs typeface="Meiryo"/>
            </a:endParaRPr>
          </a:p>
        </p:txBody>
      </p:sp>
      <p:sp>
        <p:nvSpPr>
          <p:cNvPr id="4" name="sr2">
            <a:extLst>
              <a:ext uri="{FF2B5EF4-FFF2-40B4-BE49-F238E27FC236}">
                <a16:creationId xmlns:a16="http://schemas.microsoft.com/office/drawing/2014/main" id="{9ACEB9CE-B3AB-61FD-6B96-748745BBBEE5}"/>
              </a:ext>
            </a:extLst>
          </p:cNvPr>
          <p:cNvSpPr txBox="1"/>
          <p:nvPr/>
        </p:nvSpPr>
        <p:spPr>
          <a:xfrm>
            <a:off x="3467151" y="5590338"/>
            <a:ext cx="8174736" cy="677108"/>
          </a:xfrm>
          <a:prstGeom prst="rect">
            <a:avLst/>
          </a:prstGeom>
          <a:noFill/>
        </p:spPr>
        <p:txBody>
          <a:bodyPr wrap="square" lIns="0" tIns="0" rIns="0" bIns="0" anchor="ctr">
            <a:spAutoFit/>
          </a:bodyPr>
          <a:lstStyle/>
          <a:p>
            <a:r>
              <a:rPr lang="ja-JP" altLang="en-US" sz="2200" b="1">
                <a:solidFill>
                  <a:srgbClr val="262626"/>
                </a:solidFill>
                <a:latin typeface="+mj-ea"/>
                <a:ea typeface="+mj-ea"/>
                <a:cs typeface="Meiryo"/>
              </a:rPr>
              <a:t>頸動脈 IMT など臓器障害との関連は弱いか有意でない。</a:t>
            </a:r>
            <a:endParaRPr lang="en-US" altLang="ja-JP" sz="2200" b="1" dirty="0">
              <a:solidFill>
                <a:srgbClr val="262626"/>
              </a:solidFill>
              <a:latin typeface="+mj-ea"/>
              <a:ea typeface="+mj-ea"/>
              <a:cs typeface="Meiryo"/>
            </a:endParaRPr>
          </a:p>
          <a:p>
            <a:r>
              <a:rPr lang="en-US" altLang="ja-JP" sz="2200" b="1" dirty="0">
                <a:solidFill>
                  <a:srgbClr val="262626"/>
                </a:solidFill>
                <a:latin typeface="+mj-ea"/>
                <a:ea typeface="+mj-ea"/>
                <a:cs typeface="Meiryo"/>
              </a:rPr>
              <a:t>b/a・d/</a:t>
            </a:r>
            <a:r>
              <a:rPr lang="en-US" altLang="ja-JP" sz="2200" b="1" dirty="0" err="1">
                <a:solidFill>
                  <a:srgbClr val="262626"/>
                </a:solidFill>
                <a:latin typeface="+mj-ea"/>
                <a:ea typeface="+mj-ea"/>
                <a:cs typeface="Meiryo"/>
              </a:rPr>
              <a:t>a・AGI</a:t>
            </a:r>
            <a:r>
              <a:rPr lang="en-US" altLang="ja-JP" sz="2200" b="1" dirty="0">
                <a:solidFill>
                  <a:srgbClr val="262626"/>
                </a:solidFill>
                <a:latin typeface="+mj-ea"/>
                <a:ea typeface="+mj-ea"/>
                <a:cs typeface="Meiryo"/>
              </a:rPr>
              <a:t> </a:t>
            </a:r>
            <a:r>
              <a:rPr lang="en-US" altLang="ja-JP" sz="2200" b="1" dirty="0" err="1">
                <a:solidFill>
                  <a:srgbClr val="262626"/>
                </a:solidFill>
                <a:latin typeface="+mj-ea"/>
                <a:ea typeface="+mj-ea"/>
                <a:cs typeface="Meiryo"/>
              </a:rPr>
              <a:t>の規定因子は</a:t>
            </a:r>
            <a:r>
              <a:rPr lang="en-US" altLang="ja-JP" sz="2200" b="1" dirty="0">
                <a:solidFill>
                  <a:srgbClr val="262626"/>
                </a:solidFill>
                <a:latin typeface="+mj-ea"/>
                <a:ea typeface="+mj-ea"/>
                <a:cs typeface="Meiryo"/>
              </a:rPr>
              <a:t> 年齢・性・収縮期血圧・心拍数</a:t>
            </a:r>
            <a:endParaRPr sz="2200" b="1" dirty="0">
              <a:solidFill>
                <a:srgbClr val="262626"/>
              </a:solidFill>
              <a:latin typeface="+mj-ea"/>
              <a:ea typeface="+mj-ea"/>
              <a:cs typeface="Meiryo"/>
            </a:endParaRPr>
          </a:p>
        </p:txBody>
      </p:sp>
      <p:sp>
        <p:nvSpPr>
          <p:cNvPr id="5" name="st2">
            <a:extLst>
              <a:ext uri="{FF2B5EF4-FFF2-40B4-BE49-F238E27FC236}">
                <a16:creationId xmlns:a16="http://schemas.microsoft.com/office/drawing/2014/main" id="{40F1D81F-94D4-8663-C39F-8B95EC37524F}"/>
              </a:ext>
            </a:extLst>
          </p:cNvPr>
          <p:cNvSpPr/>
          <p:nvPr/>
        </p:nvSpPr>
        <p:spPr>
          <a:xfrm>
            <a:off x="548640" y="547169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Tabara 2016 </a:t>
            </a:r>
            <a:endParaRPr sz="2200" b="1" dirty="0">
              <a:solidFill>
                <a:srgbClr val="262626"/>
              </a:solidFill>
              <a:latin typeface="Meiryo"/>
              <a:ea typeface="Meiryo"/>
              <a:cs typeface="Meiryo"/>
            </a:endParaRPr>
          </a:p>
        </p:txBody>
      </p:sp>
      <p:sp>
        <p:nvSpPr>
          <p:cNvPr id="6" name="sr2">
            <a:extLst>
              <a:ext uri="{FF2B5EF4-FFF2-40B4-BE49-F238E27FC236}">
                <a16:creationId xmlns:a16="http://schemas.microsoft.com/office/drawing/2014/main" id="{92697709-B3D9-1610-E7F2-68BAB82C7C1C}"/>
              </a:ext>
            </a:extLst>
          </p:cNvPr>
          <p:cNvSpPr txBox="1"/>
          <p:nvPr/>
        </p:nvSpPr>
        <p:spPr>
          <a:xfrm>
            <a:off x="3467151" y="3638486"/>
            <a:ext cx="8174736" cy="677108"/>
          </a:xfrm>
          <a:prstGeom prst="rect">
            <a:avLst/>
          </a:prstGeom>
          <a:noFill/>
        </p:spPr>
        <p:txBody>
          <a:bodyPr wrap="square" lIns="0" tIns="0" rIns="0" bIns="0" anchor="ctr">
            <a:spAutoFit/>
          </a:bodyPr>
          <a:lstStyle/>
          <a:p>
            <a:r>
              <a:rPr lang="en-US" altLang="ja-JP" sz="2200" b="1" dirty="0">
                <a:latin typeface="+mj-ea"/>
                <a:ea typeface="+mj-ea"/>
              </a:rPr>
              <a:t>PWV と SDPPG </a:t>
            </a:r>
            <a:r>
              <a:rPr lang="en-US" altLang="ja-JP" sz="2200" b="1" dirty="0" err="1">
                <a:latin typeface="+mj-ea"/>
                <a:ea typeface="+mj-ea"/>
              </a:rPr>
              <a:t>の相関は弱</a:t>
            </a:r>
            <a:r>
              <a:rPr lang="ja-JP" altLang="en-US" sz="2200" b="1">
                <a:latin typeface="+mj-ea"/>
                <a:ea typeface="+mj-ea"/>
              </a:rPr>
              <a:t>い。</a:t>
            </a:r>
            <a:endParaRPr lang="en-US" altLang="ja-JP" sz="2200" b="1" dirty="0">
              <a:latin typeface="+mj-ea"/>
              <a:ea typeface="+mj-ea"/>
            </a:endParaRPr>
          </a:p>
          <a:p>
            <a:r>
              <a:rPr lang="en-US" altLang="ja-JP" sz="2200" dirty="0">
                <a:solidFill>
                  <a:srgbClr val="262626"/>
                </a:solidFill>
                <a:latin typeface="Meiryo"/>
                <a:ea typeface="Meiryo"/>
                <a:cs typeface="Meiryo"/>
              </a:rPr>
              <a:t>HR</a:t>
            </a:r>
            <a:r>
              <a:rPr sz="2200" dirty="0">
                <a:solidFill>
                  <a:srgbClr val="262626"/>
                </a:solidFill>
                <a:latin typeface="Meiryo"/>
                <a:ea typeface="Meiryo"/>
                <a:cs typeface="Meiryo"/>
              </a:rPr>
              <a:t>は d/</a:t>
            </a:r>
            <a:r>
              <a:rPr sz="2200" dirty="0" err="1">
                <a:solidFill>
                  <a:srgbClr val="262626"/>
                </a:solidFill>
                <a:latin typeface="Meiryo"/>
                <a:ea typeface="Meiryo"/>
                <a:cs typeface="Meiryo"/>
              </a:rPr>
              <a:t>a・AGI</a:t>
            </a:r>
            <a:r>
              <a:rPr sz="2200" dirty="0">
                <a:solidFill>
                  <a:srgbClr val="262626"/>
                </a:solidFill>
                <a:latin typeface="Meiryo"/>
                <a:ea typeface="Meiryo"/>
                <a:cs typeface="Meiryo"/>
              </a:rPr>
              <a:t> </a:t>
            </a:r>
            <a:r>
              <a:rPr sz="2200" dirty="0" err="1">
                <a:solidFill>
                  <a:srgbClr val="262626"/>
                </a:solidFill>
                <a:latin typeface="Meiryo"/>
                <a:ea typeface="Meiryo"/>
                <a:cs typeface="Meiryo"/>
              </a:rPr>
              <a:t>と負、b</a:t>
            </a:r>
            <a:r>
              <a:rPr sz="2200" dirty="0">
                <a:solidFill>
                  <a:srgbClr val="262626"/>
                </a:solidFill>
                <a:latin typeface="Meiryo"/>
                <a:ea typeface="Meiryo"/>
                <a:cs typeface="Meiryo"/>
              </a:rPr>
              <a:t>/a </a:t>
            </a:r>
            <a:r>
              <a:rPr sz="2200" dirty="0" err="1">
                <a:solidFill>
                  <a:srgbClr val="262626"/>
                </a:solidFill>
                <a:latin typeface="Meiryo"/>
                <a:ea typeface="Meiryo"/>
                <a:cs typeface="Meiryo"/>
              </a:rPr>
              <a:t>と正に相関（治療中高血圧</a:t>
            </a:r>
            <a:r>
              <a:rPr sz="2200" dirty="0">
                <a:solidFill>
                  <a:srgbClr val="262626"/>
                </a:solidFill>
                <a:latin typeface="Meiryo"/>
                <a:ea typeface="Meiryo"/>
                <a:cs typeface="Meiryo"/>
              </a:rPr>
              <a:t> 294 </a:t>
            </a:r>
            <a:r>
              <a:rPr sz="2200" dirty="0" err="1">
                <a:solidFill>
                  <a:srgbClr val="262626"/>
                </a:solidFill>
                <a:latin typeface="Meiryo"/>
                <a:ea typeface="Meiryo"/>
                <a:cs typeface="Meiryo"/>
              </a:rPr>
              <a:t>名</a:t>
            </a:r>
            <a:r>
              <a:rPr sz="2200" dirty="0">
                <a:solidFill>
                  <a:srgbClr val="262626"/>
                </a:solidFill>
                <a:latin typeface="Meiryo"/>
                <a:ea typeface="Meiryo"/>
                <a:cs typeface="Meiryo"/>
              </a:rPr>
              <a:t>）</a:t>
            </a:r>
          </a:p>
        </p:txBody>
      </p:sp>
      <p:sp>
        <p:nvSpPr>
          <p:cNvPr id="7" name="Source">
            <a:extLst>
              <a:ext uri="{FF2B5EF4-FFF2-40B4-BE49-F238E27FC236}">
                <a16:creationId xmlns:a16="http://schemas.microsoft.com/office/drawing/2014/main" id="{6FF5DF5E-413E-E2F8-7727-6220DC8C4DEB}"/>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34/71</a:t>
            </a:r>
          </a:p>
        </p:txBody>
      </p:sp>
    </p:spTree>
    <p:extLst>
      <p:ext uri="{BB962C8B-B14F-4D97-AF65-F5344CB8AC3E}">
        <p14:creationId xmlns:p14="http://schemas.microsoft.com/office/powerpoint/2010/main" val="4243517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は何を測れたか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30" name="Rounded Rectangle 29"/>
          <p:cNvSpPr/>
          <p:nvPr/>
        </p:nvSpPr>
        <p:spPr>
          <a:xfrm>
            <a:off x="472440" y="2155801"/>
            <a:ext cx="3566160" cy="3703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82168" y="2320393"/>
            <a:ext cx="3346704"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急性のトーヌス</a:t>
            </a:r>
          </a:p>
        </p:txBody>
      </p:sp>
      <p:sp>
        <p:nvSpPr>
          <p:cNvPr id="32" name="TextBox 31"/>
          <p:cNvSpPr txBox="1"/>
          <p:nvPr/>
        </p:nvSpPr>
        <p:spPr>
          <a:xfrm>
            <a:off x="582168" y="2869033"/>
            <a:ext cx="3346704" cy="457200"/>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a:t>
            </a:r>
          </a:p>
        </p:txBody>
      </p:sp>
      <p:sp>
        <p:nvSpPr>
          <p:cNvPr id="33" name="TextBox 32"/>
          <p:cNvSpPr txBox="1"/>
          <p:nvPr/>
        </p:nvSpPr>
        <p:spPr>
          <a:xfrm>
            <a:off x="60960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34" name="TextBox 33"/>
          <p:cNvSpPr txBox="1"/>
          <p:nvPr/>
        </p:nvSpPr>
        <p:spPr>
          <a:xfrm>
            <a:off x="60960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薬で d/a が動く</a:t>
            </a:r>
          </a:p>
        </p:txBody>
      </p:sp>
      <p:sp>
        <p:nvSpPr>
          <p:cNvPr id="35" name="TextBox 34"/>
          <p:cNvSpPr txBox="1"/>
          <p:nvPr/>
        </p:nvSpPr>
        <p:spPr>
          <a:xfrm>
            <a:off x="609600" y="4405225"/>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AT II −0.62</a:t>
            </a:r>
          </a:p>
          <a:p>
            <a:pPr algn="l">
              <a:spcAft>
                <a:spcPts val="100"/>
              </a:spcAft>
            </a:pPr>
            <a:r>
              <a:rPr sz="2200" b="0">
                <a:solidFill>
                  <a:srgbClr val="808080"/>
                </a:solidFill>
                <a:latin typeface="Meiryo"/>
                <a:ea typeface="Meiryo"/>
                <a:cs typeface="Meiryo"/>
              </a:rPr>
              <a:t>NTG −0.25</a:t>
            </a:r>
          </a:p>
        </p:txBody>
      </p:sp>
      <p:sp>
        <p:nvSpPr>
          <p:cNvPr id="36" name="Rounded Rectangle 35"/>
          <p:cNvSpPr/>
          <p:nvPr/>
        </p:nvSpPr>
        <p:spPr>
          <a:xfrm>
            <a:off x="4312920" y="2155801"/>
            <a:ext cx="3566160" cy="3703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22648" y="2320393"/>
            <a:ext cx="3346704"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慢性の加齢</a:t>
            </a:r>
          </a:p>
        </p:txBody>
      </p:sp>
      <p:sp>
        <p:nvSpPr>
          <p:cNvPr id="38" name="TextBox 37"/>
          <p:cNvSpPr txBox="1"/>
          <p:nvPr/>
        </p:nvSpPr>
        <p:spPr>
          <a:xfrm>
            <a:off x="4422648" y="2869033"/>
            <a:ext cx="3346704" cy="457200"/>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a:t>
            </a:r>
          </a:p>
        </p:txBody>
      </p:sp>
      <p:sp>
        <p:nvSpPr>
          <p:cNvPr id="39" name="TextBox 38"/>
          <p:cNvSpPr txBox="1"/>
          <p:nvPr/>
        </p:nvSpPr>
        <p:spPr>
          <a:xfrm>
            <a:off x="445008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40" name="TextBox 39"/>
          <p:cNvSpPr txBox="1"/>
          <p:nvPr/>
        </p:nvSpPr>
        <p:spPr>
          <a:xfrm>
            <a:off x="445008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AGI と年齢 r=0.80</a:t>
            </a:r>
          </a:p>
        </p:txBody>
      </p:sp>
      <p:sp>
        <p:nvSpPr>
          <p:cNvPr id="41" name="TextBox 40"/>
          <p:cNvSpPr txBox="1"/>
          <p:nvPr/>
        </p:nvSpPr>
        <p:spPr>
          <a:xfrm>
            <a:off x="4450080" y="44052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26. Otsuka 2006</a:t>
            </a:r>
          </a:p>
        </p:txBody>
      </p:sp>
      <p:sp>
        <p:nvSpPr>
          <p:cNvPr id="42" name="TextBox 41"/>
          <p:cNvSpPr txBox="1"/>
          <p:nvPr/>
        </p:nvSpPr>
        <p:spPr>
          <a:xfrm>
            <a:off x="4450080" y="4807561"/>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Framingham risk</a:t>
            </a:r>
          </a:p>
          <a:p>
            <a:pPr algn="l">
              <a:spcAft>
                <a:spcPts val="100"/>
              </a:spcAft>
            </a:pPr>
            <a:r>
              <a:rPr sz="2200" b="0">
                <a:solidFill>
                  <a:srgbClr val="808080"/>
                </a:solidFill>
                <a:latin typeface="Meiryo"/>
                <a:ea typeface="Meiryo"/>
                <a:cs typeface="Meiryo"/>
              </a:rPr>
              <a:t>score と相関</a:t>
            </a:r>
          </a:p>
        </p:txBody>
      </p:sp>
      <p:sp>
        <p:nvSpPr>
          <p:cNvPr id="43" name="Rounded Rectangle 42"/>
          <p:cNvSpPr/>
          <p:nvPr/>
        </p:nvSpPr>
        <p:spPr>
          <a:xfrm>
            <a:off x="8153400" y="2155801"/>
            <a:ext cx="3566160" cy="3703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263128" y="2320393"/>
            <a:ext cx="3346704" cy="45720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臓器障害・動脈硬化</a:t>
            </a:r>
          </a:p>
        </p:txBody>
      </p:sp>
      <p:sp>
        <p:nvSpPr>
          <p:cNvPr id="45" name="TextBox 44"/>
          <p:cNvSpPr txBox="1"/>
          <p:nvPr/>
        </p:nvSpPr>
        <p:spPr>
          <a:xfrm>
            <a:off x="8263128" y="2869033"/>
            <a:ext cx="3346704" cy="457200"/>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a:t>
            </a:r>
          </a:p>
        </p:txBody>
      </p:sp>
      <p:sp>
        <p:nvSpPr>
          <p:cNvPr id="46" name="TextBox 45"/>
          <p:cNvSpPr txBox="1"/>
          <p:nvPr/>
        </p:nvSpPr>
        <p:spPr>
          <a:xfrm>
            <a:off x="829056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25. Bortolotto 2000</a:t>
            </a:r>
          </a:p>
        </p:txBody>
      </p:sp>
      <p:sp>
        <p:nvSpPr>
          <p:cNvPr id="47" name="TextBox 46"/>
          <p:cNvSpPr txBox="1"/>
          <p:nvPr/>
        </p:nvSpPr>
        <p:spPr>
          <a:xfrm>
            <a:off x="8290560" y="3893161"/>
            <a:ext cx="3291840" cy="338554"/>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規定因子はPWV</a:t>
            </a:r>
            <a:r>
              <a:rPr sz="2200" b="0" dirty="0">
                <a:solidFill>
                  <a:srgbClr val="808080"/>
                </a:solidFill>
                <a:latin typeface="Meiryo"/>
                <a:ea typeface="Meiryo"/>
                <a:cs typeface="Meiryo"/>
              </a:rPr>
              <a:t> </a:t>
            </a:r>
            <a:r>
              <a:rPr sz="2200" b="0" dirty="0" err="1">
                <a:solidFill>
                  <a:srgbClr val="808080"/>
                </a:solidFill>
                <a:latin typeface="Meiryo"/>
                <a:ea typeface="Meiryo"/>
                <a:cs typeface="Meiryo"/>
              </a:rPr>
              <a:t>が優位</a:t>
            </a:r>
            <a:endParaRPr sz="2200" b="0" dirty="0">
              <a:solidFill>
                <a:srgbClr val="808080"/>
              </a:solidFill>
              <a:latin typeface="Meiryo"/>
              <a:ea typeface="Meiryo"/>
              <a:cs typeface="Meiryo"/>
            </a:endParaRPr>
          </a:p>
        </p:txBody>
      </p:sp>
      <p:sp>
        <p:nvSpPr>
          <p:cNvPr id="48" name="TextBox 47"/>
          <p:cNvSpPr txBox="1"/>
          <p:nvPr/>
        </p:nvSpPr>
        <p:spPr>
          <a:xfrm>
            <a:off x="8290560" y="4404133"/>
            <a:ext cx="329184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27. Tabara 2016</a:t>
            </a:r>
          </a:p>
        </p:txBody>
      </p:sp>
      <p:sp>
        <p:nvSpPr>
          <p:cNvPr id="49" name="TextBox 48"/>
          <p:cNvSpPr txBox="1"/>
          <p:nvPr/>
        </p:nvSpPr>
        <p:spPr>
          <a:xfrm>
            <a:off x="8290560" y="4806469"/>
            <a:ext cx="3291840" cy="384048"/>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関連は弱い</a:t>
            </a:r>
            <a:endParaRPr sz="2200" b="0" dirty="0">
              <a:solidFill>
                <a:srgbClr val="808080"/>
              </a:solidFill>
              <a:latin typeface="Meiryo"/>
              <a:ea typeface="Meiryo"/>
              <a:cs typeface="Meiryo"/>
            </a:endParaRPr>
          </a:p>
        </p:txBody>
      </p:sp>
      <p:sp>
        <p:nvSpPr>
          <p:cNvPr id="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35/71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2A5A-F54E-2A96-5C0C-CDC7E47BE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59EFC-B386-F317-2F15-3C6CEDA9BD27}"/>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1A6D44E0-9C70-A806-FDC9-9EB5FDF1428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7EC24F4-CACD-616A-3BD2-0926E1860CC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7507A708-B891-3804-47A9-01F652BC4933}"/>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0A840E67-0AC1-5787-BEC9-02E9BC87543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6D797FB8-1913-10AF-6541-098470D4D9D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5EA9EBCB-6381-8641-46BD-D4F4E87DFAFD}"/>
              </a:ext>
            </a:extLst>
          </p:cNvPr>
          <p:cNvGraphicFramePr>
            <a:graphicFrameLocks noGrp="1"/>
          </p:cNvGraphicFramePr>
          <p:nvPr>
            <p:extLst>
              <p:ext uri="{D42A27DB-BD31-4B8C-83A1-F6EECF244321}">
                <p14:modId xmlns:p14="http://schemas.microsoft.com/office/powerpoint/2010/main" val="1457008109"/>
              </p:ext>
            </p:extLst>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36/71</a:t>
            </a:r>
          </a:p>
        </p:txBody>
      </p:sp>
    </p:spTree>
    <p:extLst>
      <p:ext uri="{BB962C8B-B14F-4D97-AF65-F5344CB8AC3E}">
        <p14:creationId xmlns:p14="http://schemas.microsoft.com/office/powerpoint/2010/main" val="102603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450-F5BA-B811-63EC-6E48220AB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D4FB-72BD-74DC-D03C-696E61566395}"/>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9063AB0A-C61E-9098-D072-192F4A1E3A1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70CB13B5-F3EA-5563-3466-60B5F6816F5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DA8C7D5-CD9E-A5CA-6434-81A7AB94FE8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5901C1CA-3510-321C-5C05-F284234577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1A231BE-60F1-2D79-FFE7-07D3C3C46FB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4F010993-BC2F-F701-3624-F2DB11E24D85}"/>
              </a:ext>
            </a:extLst>
          </p:cNvPr>
          <p:cNvGraphicFramePr>
            <a:graphicFrameLocks noGrp="1"/>
          </p:cNvGraphicFramePr>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7EB3939B-817A-0AE9-C71C-BA2B09A3DB3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a:extLst>
              <a:ext uri="{FF2B5EF4-FFF2-40B4-BE49-F238E27FC236}">
                <a16:creationId xmlns:a16="http://schemas.microsoft.com/office/drawing/2014/main" id="{4D3C528E-186E-B544-54DD-2CF5DB467D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36/71</a:t>
            </a:r>
          </a:p>
        </p:txBody>
      </p:sp>
      <p:sp>
        <p:nvSpPr>
          <p:cNvPr id="3" name="Rounded Rectangle 49">
            <a:extLst>
              <a:ext uri="{FF2B5EF4-FFF2-40B4-BE49-F238E27FC236}">
                <a16:creationId xmlns:a16="http://schemas.microsoft.com/office/drawing/2014/main" id="{1CBEFFFE-D48D-011E-52C6-EC4FC8FA18D9}"/>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n-ea"/>
              </a:rPr>
              <a:t>動脈硬化の指標としては</a:t>
            </a:r>
            <a:r>
              <a:rPr lang="en-US" altLang="ja-JP" sz="3200" b="1" dirty="0">
                <a:solidFill>
                  <a:schemeClr val="tx1"/>
                </a:solidFill>
                <a:latin typeface="+mn-ea"/>
              </a:rPr>
              <a:t>SI</a:t>
            </a:r>
            <a:r>
              <a:rPr lang="ja-JP" altLang="en-US" sz="3200" b="1">
                <a:solidFill>
                  <a:schemeClr val="tx1"/>
                </a:solidFill>
                <a:latin typeface="+mn-ea"/>
              </a:rPr>
              <a:t>が有利</a:t>
            </a:r>
            <a:endParaRPr sz="3200" b="1" dirty="0">
              <a:solidFill>
                <a:schemeClr val="tx1"/>
              </a:solidFill>
              <a:latin typeface="+mn-ea"/>
            </a:endParaRPr>
          </a:p>
        </p:txBody>
      </p:sp>
    </p:spTree>
    <p:extLst>
      <p:ext uri="{BB962C8B-B14F-4D97-AF65-F5344CB8AC3E}">
        <p14:creationId xmlns:p14="http://schemas.microsoft.com/office/powerpoint/2010/main" val="22810381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3C04-3644-8CAA-2A00-DA61634C8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8F11-8283-08BE-58A9-332E53339E22}"/>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259A016A-8E0E-8D4C-35C4-64C9BE13B5E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5736BF2-6A2D-8A12-2687-DE4AAAE5E63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69E7E4A2-C128-5272-2FC9-0195AD02F959}"/>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4914FA-1CD2-95DD-4B74-DE7BFA47777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AF8EF7DC-7AF5-471B-21FD-63C1A91163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2364539F-58C8-53A8-3467-FB73BD3962B2}"/>
              </a:ext>
            </a:extLst>
          </p:cNvPr>
          <p:cNvGraphicFramePr>
            <a:graphicFrameLocks noGrp="1"/>
          </p:cNvGraphicFramePr>
          <p:nvPr>
            <p:extLst>
              <p:ext uri="{D42A27DB-BD31-4B8C-83A1-F6EECF244321}">
                <p14:modId xmlns:p14="http://schemas.microsoft.com/office/powerpoint/2010/main" val="837418225"/>
              </p:ext>
            </p:extLst>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37/71</a:t>
            </a:r>
          </a:p>
        </p:txBody>
      </p:sp>
    </p:spTree>
    <p:extLst>
      <p:ext uri="{BB962C8B-B14F-4D97-AF65-F5344CB8AC3E}">
        <p14:creationId xmlns:p14="http://schemas.microsoft.com/office/powerpoint/2010/main" val="35206919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BD4D-727E-4E00-27F1-04E703BE3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968E8-3D82-6A35-6165-1D53AB28225B}"/>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BF2A21EE-9438-5337-6E35-B466C338B58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FBC431C-12CE-1EB2-618E-DC4D3ED05B61}"/>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C5B16FE-0C40-6E08-3173-F72C1E6570B6}"/>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716399-2CBF-5A0F-903E-8954F90DF4F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1F139F85-A147-D4EE-A18D-164498B273D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01536987-B580-321E-5A4E-75502F767AD3}"/>
              </a:ext>
            </a:extLst>
          </p:cNvPr>
          <p:cNvGraphicFramePr>
            <a:graphicFrameLocks noGrp="1"/>
          </p:cNvGraphicFramePr>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1CBC7279-5768-DF14-495E-AF7948B34689}"/>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a:extLst>
              <a:ext uri="{FF2B5EF4-FFF2-40B4-BE49-F238E27FC236}">
                <a16:creationId xmlns:a16="http://schemas.microsoft.com/office/drawing/2014/main" id="{27F77403-9685-5E7C-27C4-B4DBF94705C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37/71</a:t>
            </a:r>
          </a:p>
        </p:txBody>
      </p:sp>
      <p:sp>
        <p:nvSpPr>
          <p:cNvPr id="3" name="Rounded Rectangle 49">
            <a:extLst>
              <a:ext uri="{FF2B5EF4-FFF2-40B4-BE49-F238E27FC236}">
                <a16:creationId xmlns:a16="http://schemas.microsoft.com/office/drawing/2014/main" id="{61FE4FAC-B7F3-AD30-5B94-C997111BE8AB}"/>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j-ea"/>
                <a:ea typeface="+mj-ea"/>
              </a:rPr>
              <a:t>末梢血管トーヌスの指標としては</a:t>
            </a:r>
            <a:r>
              <a:rPr lang="en-US" altLang="ja-JP" sz="3200" b="1" dirty="0">
                <a:solidFill>
                  <a:schemeClr val="tx1"/>
                </a:solidFill>
                <a:latin typeface="+mj-ea"/>
                <a:ea typeface="+mj-ea"/>
              </a:rPr>
              <a:t>RI</a:t>
            </a:r>
            <a:r>
              <a:rPr lang="ja-JP" altLang="en-US" sz="3200" b="1">
                <a:solidFill>
                  <a:schemeClr val="tx1"/>
                </a:solidFill>
                <a:latin typeface="+mj-ea"/>
                <a:ea typeface="+mj-ea"/>
              </a:rPr>
              <a:t>が有利</a:t>
            </a:r>
            <a:endParaRPr sz="3200" b="1" dirty="0">
              <a:solidFill>
                <a:schemeClr val="tx1"/>
              </a:solidFill>
              <a:latin typeface="+mj-ea"/>
              <a:ea typeface="+mj-ea"/>
            </a:endParaRPr>
          </a:p>
        </p:txBody>
      </p:sp>
    </p:spTree>
    <p:extLst>
      <p:ext uri="{BB962C8B-B14F-4D97-AF65-F5344CB8AC3E}">
        <p14:creationId xmlns:p14="http://schemas.microsoft.com/office/powerpoint/2010/main" val="3942857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3AA6-895A-DE94-FE9D-DE65225C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9DB9C-CAED-236C-06FC-5283A9213EA6}"/>
              </a:ext>
            </a:extLst>
          </p:cNvPr>
          <p:cNvSpPr>
            <a:spLocks noGrp="1"/>
          </p:cNvSpPr>
          <p:nvPr>
            <p:ph type="title"/>
          </p:nvPr>
        </p:nvSpPr>
        <p:spPr/>
        <p:txBody>
          <a:bodyPr>
            <a:normAutofit/>
          </a:bodyPr>
          <a:lstStyle/>
          <a:p>
            <a:pPr algn="l"/>
            <a:r>
              <a:rPr sz="4600" dirty="0">
                <a:latin typeface="Meiryo"/>
                <a:ea typeface="Meiryo"/>
                <a:cs typeface="Meiryo"/>
              </a:rPr>
              <a:t>3.4  定量化指標まとめ</a:t>
            </a:r>
          </a:p>
        </p:txBody>
      </p:sp>
      <p:sp>
        <p:nvSpPr>
          <p:cNvPr id="13" name="Off-page Connector 4">
            <a:extLst>
              <a:ext uri="{FF2B5EF4-FFF2-40B4-BE49-F238E27FC236}">
                <a16:creationId xmlns:a16="http://schemas.microsoft.com/office/drawing/2014/main" id="{149917C2-2B39-F4AB-4E06-D7C300EFAA1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EE701F9-5341-1992-5F64-95AB392C2A3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173B31B-3338-1D75-4D66-BC9CCE911001}"/>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lnSpc>
                <a:spcPct val="100000"/>
              </a:lnSpc>
              <a:spcBef>
                <a:spcPts val="100"/>
              </a:spcBef>
            </a:pP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C845168-E5E9-3AAF-39FA-385B0163339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lnSpc>
                <a:spcPct val="100000"/>
              </a:lnSpc>
              <a:spcBef>
                <a:spcPts val="100"/>
              </a:spcBef>
            </a:pP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3681E52B-4BF1-A99F-9FFB-BA7AB32ADAF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lnSpc>
                <a:spcPct val="100000"/>
              </a:lnSpc>
              <a:spcBef>
                <a:spcPts val="100"/>
              </a:spcBef>
            </a:pPr>
            <a:r>
              <a:rPr sz="1050" b="1">
                <a:solidFill>
                  <a:srgbClr val="808080"/>
                </a:solidFill>
                <a:latin typeface="Meiryo"/>
                <a:ea typeface="Meiryo"/>
                <a:cs typeface="Meiryo"/>
              </a:rPr>
              <a:t>PDA</a:t>
            </a:r>
          </a:p>
        </p:txBody>
      </p:sp>
      <p:sp>
        <p:nvSpPr>
          <p:cNvPr id="540" name="lbg">
            <a:extLst>
              <a:ext uri="{FF2B5EF4-FFF2-40B4-BE49-F238E27FC236}">
                <a16:creationId xmlns:a16="http://schemas.microsoft.com/office/drawing/2014/main" id="{76739A53-E56E-45CC-3F22-5C7909DBDAB3}"/>
              </a:ext>
            </a:extLst>
          </p:cNvPr>
          <p:cNvSpPr/>
          <p:nvPr/>
        </p:nvSpPr>
        <p:spPr>
          <a:xfrm>
            <a:off x="1544025" y="1976839"/>
            <a:ext cx="4284000" cy="2784951"/>
          </a:xfrm>
          <a:prstGeom prst="roundRect">
            <a:avLst>
              <a:gd name="adj" fmla="val 6000"/>
            </a:avLst>
          </a:prstGeom>
          <a:solidFill>
            <a:srgbClr val="EAF0F8"/>
          </a:solidFill>
          <a:ln w="19050">
            <a:solidFill>
              <a:srgbClr val="2E5395"/>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1" name="ltitle">
            <a:extLst>
              <a:ext uri="{FF2B5EF4-FFF2-40B4-BE49-F238E27FC236}">
                <a16:creationId xmlns:a16="http://schemas.microsoft.com/office/drawing/2014/main" id="{42763D8D-96D8-C2E6-41FC-AA22D953D18C}"/>
              </a:ext>
            </a:extLst>
          </p:cNvPr>
          <p:cNvSpPr txBox="1"/>
          <p:nvPr/>
        </p:nvSpPr>
        <p:spPr>
          <a:xfrm>
            <a:off x="1715018" y="2311605"/>
            <a:ext cx="3942015" cy="357746"/>
          </a:xfrm>
          <a:prstGeom prst="rect">
            <a:avLst/>
          </a:prstGeom>
          <a:noFill/>
        </p:spPr>
        <p:txBody>
          <a:bodyPr wrap="square" lIns="0" tIns="0" rIns="0" bIns="0" anchor="t">
            <a:noAutofit/>
          </a:bodyPr>
          <a:lstStyle/>
          <a:p>
            <a:pPr algn="ctr"/>
            <a:r>
              <a:rPr lang="ja-JP" altLang="en-US" sz="2400" b="1" dirty="0">
                <a:solidFill>
                  <a:srgbClr val="2E5395"/>
                </a:solidFill>
                <a:latin typeface="Meiryo"/>
                <a:ea typeface="Meiryo"/>
                <a:cs typeface="Meiryo"/>
              </a:rPr>
              <a:t>慢性</a:t>
            </a:r>
            <a:r>
              <a:rPr lang="ja-JP" altLang="en-US" sz="2400" b="1">
                <a:solidFill>
                  <a:srgbClr val="2E5395"/>
                </a:solidFill>
                <a:latin typeface="Meiryo"/>
                <a:ea typeface="Meiryo"/>
                <a:cs typeface="Meiryo"/>
              </a:rPr>
              <a:t>変化＝スティフネス軸</a:t>
            </a:r>
            <a:endParaRPr lang="ja-JP" altLang="en-US" sz="2400" b="1" dirty="0">
              <a:solidFill>
                <a:srgbClr val="2E5395"/>
              </a:solidFill>
              <a:latin typeface="Meiryo"/>
              <a:ea typeface="Meiryo"/>
              <a:cs typeface="Meiryo"/>
            </a:endParaRPr>
          </a:p>
        </p:txBody>
      </p:sp>
      <p:sp>
        <p:nvSpPr>
          <p:cNvPr id="543" name="lbul">
            <a:extLst>
              <a:ext uri="{FF2B5EF4-FFF2-40B4-BE49-F238E27FC236}">
                <a16:creationId xmlns:a16="http://schemas.microsoft.com/office/drawing/2014/main" id="{58737256-E75F-EF1C-057C-9C815B422AEE}"/>
              </a:ext>
            </a:extLst>
          </p:cNvPr>
          <p:cNvSpPr txBox="1"/>
          <p:nvPr/>
        </p:nvSpPr>
        <p:spPr>
          <a:xfrm>
            <a:off x="1972106" y="3102386"/>
            <a:ext cx="3427839" cy="1422000"/>
          </a:xfrm>
          <a:prstGeom prst="rect">
            <a:avLst/>
          </a:prstGeom>
          <a:noFill/>
        </p:spPr>
        <p:txBody>
          <a:bodyPr wrap="square" lIns="0" tIns="0" rIns="0" bIns="0" anchor="t">
            <a:noAutofit/>
          </a:bodyPr>
          <a:lstStyle/>
          <a:p>
            <a:pPr algn="l"/>
            <a:r>
              <a:rPr lang="ja-JP" altLang="en-US" sz="2000" b="1">
                <a:solidFill>
                  <a:srgbClr val="262626"/>
                </a:solidFill>
                <a:latin typeface="Meiryo"/>
                <a:ea typeface="Meiryo"/>
                <a:cs typeface="Meiryo"/>
              </a:rPr>
              <a:t>・切痕の平滑さ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pPr algn="l"/>
            <a:r>
              <a:rPr lang="ja-JP" altLang="en-US" sz="2000" b="1">
                <a:solidFill>
                  <a:srgbClr val="262626"/>
                </a:solidFill>
                <a:latin typeface="Meiryo"/>
                <a:ea typeface="Meiryo"/>
                <a:cs typeface="Meiryo"/>
              </a:rPr>
              <a:t>・SI</a:t>
            </a:r>
            <a:br>
              <a:rPr lang="ja-JP" altLang="en-US" sz="2000" b="1">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加齢指数 AGI</a:t>
            </a:r>
          </a:p>
        </p:txBody>
      </p:sp>
      <p:sp>
        <p:nvSpPr>
          <p:cNvPr id="544" name="rbg">
            <a:extLst>
              <a:ext uri="{FF2B5EF4-FFF2-40B4-BE49-F238E27FC236}">
                <a16:creationId xmlns:a16="http://schemas.microsoft.com/office/drawing/2014/main" id="{14F6B24A-8BEA-9492-6857-9FC82B9DAD79}"/>
              </a:ext>
            </a:extLst>
          </p:cNvPr>
          <p:cNvSpPr/>
          <p:nvPr/>
        </p:nvSpPr>
        <p:spPr>
          <a:xfrm>
            <a:off x="6339971" y="1976839"/>
            <a:ext cx="4284000" cy="2784951"/>
          </a:xfrm>
          <a:prstGeom prst="roundRect">
            <a:avLst>
              <a:gd name="adj" fmla="val 6000"/>
            </a:avLst>
          </a:prstGeom>
          <a:solidFill>
            <a:srgbClr val="FDF0E6"/>
          </a:solidFill>
          <a:ln w="19050">
            <a:solidFill>
              <a:srgbClr val="C55A11"/>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5" name="rtitle">
            <a:extLst>
              <a:ext uri="{FF2B5EF4-FFF2-40B4-BE49-F238E27FC236}">
                <a16:creationId xmlns:a16="http://schemas.microsoft.com/office/drawing/2014/main" id="{777326C6-04E1-8C1C-9B02-14BFBD5F1F72}"/>
              </a:ext>
            </a:extLst>
          </p:cNvPr>
          <p:cNvSpPr txBox="1"/>
          <p:nvPr/>
        </p:nvSpPr>
        <p:spPr>
          <a:xfrm>
            <a:off x="6510964" y="2311605"/>
            <a:ext cx="3942015" cy="357746"/>
          </a:xfrm>
          <a:prstGeom prst="rect">
            <a:avLst/>
          </a:prstGeom>
          <a:noFill/>
        </p:spPr>
        <p:txBody>
          <a:bodyPr wrap="square" lIns="0" tIns="0" rIns="0" bIns="0" anchor="t">
            <a:normAutofit lnSpcReduction="10000"/>
          </a:bodyPr>
          <a:lstStyle/>
          <a:p>
            <a:pPr algn="ctr"/>
            <a:r>
              <a:rPr lang="ja-JP" altLang="en-US" sz="2400" b="1" dirty="0">
                <a:solidFill>
                  <a:srgbClr val="C55A11"/>
                </a:solidFill>
                <a:latin typeface="Meiryo"/>
                <a:ea typeface="Meiryo"/>
                <a:cs typeface="Meiryo"/>
              </a:rPr>
              <a:t>急性変化＝血管トーヌス軸</a:t>
            </a:r>
          </a:p>
        </p:txBody>
      </p:sp>
      <p:sp>
        <p:nvSpPr>
          <p:cNvPr id="547" name="rbul">
            <a:extLst>
              <a:ext uri="{FF2B5EF4-FFF2-40B4-BE49-F238E27FC236}">
                <a16:creationId xmlns:a16="http://schemas.microsoft.com/office/drawing/2014/main" id="{E870DC5E-CBA4-5443-94C2-1875EAFFE0E8}"/>
              </a:ext>
            </a:extLst>
          </p:cNvPr>
          <p:cNvSpPr txBox="1"/>
          <p:nvPr/>
        </p:nvSpPr>
        <p:spPr>
          <a:xfrm>
            <a:off x="6768052" y="3102386"/>
            <a:ext cx="3427839" cy="1878165"/>
          </a:xfrm>
          <a:prstGeom prst="rect">
            <a:avLst/>
          </a:prstGeom>
          <a:noFill/>
        </p:spPr>
        <p:txBody>
          <a:bodyPr wrap="square" lIns="0" tIns="0" rIns="0" bIns="0" anchor="t">
            <a:normAutofit/>
          </a:bodyPr>
          <a:lstStyle/>
          <a:p>
            <a:pPr algn="l"/>
            <a:r>
              <a:rPr lang="ja-JP" altLang="en-US" sz="2000" b="1" dirty="0">
                <a:solidFill>
                  <a:srgbClr val="262626"/>
                </a:solidFill>
                <a:latin typeface="Meiryo"/>
                <a:ea typeface="Meiryo"/>
                <a:cs typeface="Meiryo"/>
              </a:rPr>
              <a:t>・切痕</a:t>
            </a:r>
            <a:r>
              <a:rPr lang="ja-JP" altLang="en-US" sz="2000" b="1">
                <a:solidFill>
                  <a:srgbClr val="262626"/>
                </a:solidFill>
                <a:latin typeface="Meiryo"/>
                <a:ea typeface="Meiryo"/>
                <a:cs typeface="Meiryo"/>
              </a:rPr>
              <a:t>の位置、反射波高さ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r>
              <a:rPr lang="ja-JP" altLang="en-US" sz="2000" b="1">
                <a:solidFill>
                  <a:srgbClr val="262626"/>
                </a:solidFill>
                <a:latin typeface="Meiryo"/>
                <a:ea typeface="Meiryo"/>
                <a:cs typeface="Meiryo"/>
              </a:rPr>
              <a:t>・RI</a:t>
            </a: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の d</a:t>
            </a:r>
            <a:r>
              <a:rPr lang="ja-JP" altLang="en-US" sz="2000" b="1">
                <a:solidFill>
                  <a:srgbClr val="262626"/>
                </a:solidFill>
                <a:latin typeface="Meiryo"/>
                <a:ea typeface="Meiryo"/>
                <a:cs typeface="Meiryo"/>
              </a:rPr>
              <a:t>/a</a:t>
            </a:r>
            <a:endParaRPr lang="en-US" altLang="ja-JP" sz="2000" b="1" dirty="0">
              <a:solidFill>
                <a:srgbClr val="262626"/>
              </a:solidFill>
              <a:latin typeface="Meiryo"/>
              <a:ea typeface="Meiryo"/>
              <a:cs typeface="Meiryo"/>
            </a:endParaRPr>
          </a:p>
          <a:p>
            <a:pPr algn="l"/>
            <a:endParaRPr lang="ja-JP" altLang="en-US" sz="2000" b="1" dirty="0">
              <a:solidFill>
                <a:srgbClr val="262626"/>
              </a:solidFill>
              <a:latin typeface="Meiryo"/>
              <a:ea typeface="Meiryo"/>
              <a:cs typeface="Meiryo"/>
            </a:endParaRPr>
          </a:p>
        </p:txBody>
      </p:sp>
      <p:sp>
        <p:nvSpPr>
          <p:cNvPr id="54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24. Takazawa 1998　／　31. Joachim 2021　／　32. Padilla 2009</a:t>
            </a:r>
          </a:p>
        </p:txBody>
      </p:sp>
      <p:sp>
        <p:nvSpPr>
          <p:cNvPr id="55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38/71</a:t>
            </a:r>
          </a:p>
        </p:txBody>
      </p:sp>
      <p:sp>
        <p:nvSpPr>
          <p:cNvPr id="3" name="Rounded Rectangle 49">
            <a:extLst>
              <a:ext uri="{FF2B5EF4-FFF2-40B4-BE49-F238E27FC236}">
                <a16:creationId xmlns:a16="http://schemas.microsoft.com/office/drawing/2014/main" id="{6E083A77-EEA4-2709-889E-EE5C149EAB1E}"/>
              </a:ext>
            </a:extLst>
          </p:cNvPr>
          <p:cNvSpPr/>
          <p:nvPr/>
        </p:nvSpPr>
        <p:spPr>
          <a:xfrm>
            <a:off x="1544025" y="5266702"/>
            <a:ext cx="9079947" cy="6638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n-US" sz="2400" b="1" dirty="0" err="1">
                <a:solidFill>
                  <a:schemeClr val="tx1"/>
                </a:solidFill>
                <a:latin typeface="Meiryo" panose="020B0604030504040204" pitchFamily="34" charset="-128"/>
                <a:ea typeface="Meiryo" panose="020B0604030504040204" pitchFamily="34" charset="-128"/>
              </a:rPr>
              <a:t>波形が明瞭でSDPPGが不要なら、SDPPG関連指標</a:t>
            </a:r>
            <a:r>
              <a:rPr lang="en-US" sz="2400" b="1" dirty="0">
                <a:solidFill>
                  <a:schemeClr val="tx1"/>
                </a:solidFill>
                <a:latin typeface="Meiryo" panose="020B0604030504040204" pitchFamily="34" charset="-128"/>
                <a:ea typeface="Meiryo" panose="020B0604030504040204" pitchFamily="34" charset="-128"/>
              </a:rPr>
              <a:t> &lt; SI、RI</a:t>
            </a:r>
            <a:endParaRPr sz="2400"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10749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 </a:t>
            </a:r>
            <a:r>
              <a:rPr lang="ja-JP" altLang="en-US" sz="4600">
                <a:latin typeface="Meiryo"/>
                <a:ea typeface="Meiryo"/>
                <a:cs typeface="Meiryo"/>
              </a:rPr>
              <a:t>限界</a:t>
            </a:r>
            <a:endParaRPr sz="4600" dirty="0">
              <a:latin typeface="Meiryo"/>
              <a:ea typeface="Meiryo"/>
              <a:cs typeface="Meiryo"/>
            </a:endParaRP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BF9000"/>
                </a:solidFill>
                <a:latin typeface="Meiryo"/>
                <a:ea typeface="Meiryo"/>
                <a:cs typeface="Meiryo"/>
              </a:rPr>
              <a:t>4. </a:t>
            </a:r>
            <a:r>
              <a:rPr sz="3200" b="1">
                <a:solidFill>
                  <a:srgbClr val="262626"/>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4.1 </a:t>
            </a:r>
            <a:r>
              <a:rPr sz="2900" b="0">
                <a:solidFill>
                  <a:srgbClr val="262626"/>
                </a:solidFill>
                <a:latin typeface="Meiryo"/>
                <a:ea typeface="Meiryo"/>
                <a:cs typeface="Meiryo"/>
              </a:rPr>
              <a:t>自動解析の壁</a:t>
            </a:r>
          </a:p>
          <a:p>
            <a:pPr>
              <a:lnSpc>
                <a:spcPct val="145000"/>
              </a:lnSpc>
            </a:pPr>
            <a:r>
              <a:rPr sz="2900" b="1">
                <a:solidFill>
                  <a:srgbClr val="BF9000"/>
                </a:solidFill>
                <a:latin typeface="Meiryo"/>
                <a:ea typeface="Meiryo"/>
                <a:cs typeface="Meiryo"/>
              </a:rPr>
              <a:t>4.2 </a:t>
            </a:r>
            <a:r>
              <a:rPr sz="2900" b="0">
                <a:solidFill>
                  <a:srgbClr val="262626"/>
                </a:solidFill>
                <a:latin typeface="Meiryo"/>
                <a:ea typeface="Meiryo"/>
                <a:cs typeface="Meiryo"/>
              </a:rPr>
              <a:t>極端な動脈硬化</a:t>
            </a:r>
          </a:p>
          <a:p>
            <a:pPr>
              <a:lnSpc>
                <a:spcPct val="145000"/>
              </a:lnSpc>
            </a:pPr>
            <a:r>
              <a:rPr sz="2900" b="1">
                <a:solidFill>
                  <a:srgbClr val="BF9000"/>
                </a:solidFill>
                <a:latin typeface="Meiryo"/>
                <a:ea typeface="Meiryo"/>
                <a:cs typeface="Meiryo"/>
              </a:rPr>
              <a:t>4.3 </a:t>
            </a:r>
            <a:r>
              <a:rPr sz="2900" b="0">
                <a:solidFill>
                  <a:srgbClr val="262626"/>
                </a:solidFill>
                <a:latin typeface="Meiryo"/>
                <a:ea typeface="Meiryo"/>
                <a:cs typeface="Meiryo"/>
              </a:rPr>
              <a:t>DN-less 信号対策</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39/71</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4.1  自動解析の壁</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limits" descr="f71_limits.png"/>
          <p:cNvPicPr>
            <a:picLocks noChangeAspect="1"/>
          </p:cNvPicPr>
          <p:nvPr/>
        </p:nvPicPr>
        <p:blipFill>
          <a:blip r:embed="rId3"/>
          <a:stretch>
            <a:fillRect/>
          </a:stretch>
        </p:blipFill>
        <p:spPr>
          <a:xfrm>
            <a:off x="864000" y="2628000"/>
            <a:ext cx="10440000" cy="2141279"/>
          </a:xfrm>
          <a:prstGeom prst="rect">
            <a:avLst/>
          </a:prstGeom>
        </p:spPr>
      </p:pic>
      <p:sp>
        <p:nvSpPr>
          <p:cNvPr id="20" name="TextBox 19"/>
          <p:cNvSpPr txBox="1"/>
          <p:nvPr/>
        </p:nvSpPr>
        <p:spPr>
          <a:xfrm>
            <a:off x="86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反射波が2つ</a:t>
            </a:r>
          </a:p>
        </p:txBody>
      </p:sp>
      <p:sp>
        <p:nvSpPr>
          <p:cNvPr id="21" name="TextBox 20"/>
          <p:cNvSpPr txBox="1"/>
          <p:nvPr/>
        </p:nvSpPr>
        <p:spPr>
          <a:xfrm>
            <a:off x="86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どちらが P2 ?</a:t>
            </a:r>
          </a:p>
        </p:txBody>
      </p:sp>
      <p:sp>
        <p:nvSpPr>
          <p:cNvPr id="22" name="TextBox 21"/>
          <p:cNvSpPr txBox="1"/>
          <p:nvPr/>
        </p:nvSpPr>
        <p:spPr>
          <a:xfrm>
            <a:off x="347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反射波が1つ</a:t>
            </a:r>
          </a:p>
        </p:txBody>
      </p:sp>
      <p:sp>
        <p:nvSpPr>
          <p:cNvPr id="23" name="TextBox 22"/>
          <p:cNvSpPr txBox="1"/>
          <p:nvPr/>
        </p:nvSpPr>
        <p:spPr>
          <a:xfrm>
            <a:off x="347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P2 は明瞭</a:t>
            </a:r>
          </a:p>
        </p:txBody>
      </p:sp>
      <p:sp>
        <p:nvSpPr>
          <p:cNvPr id="24" name="TextBox 23"/>
          <p:cNvSpPr txBox="1"/>
          <p:nvPr/>
        </p:nvSpPr>
        <p:spPr>
          <a:xfrm>
            <a:off x="6083999"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収縮期に融合</a:t>
            </a:r>
          </a:p>
        </p:txBody>
      </p:sp>
      <p:sp>
        <p:nvSpPr>
          <p:cNvPr id="25" name="TextBox 24"/>
          <p:cNvSpPr txBox="1"/>
          <p:nvPr/>
        </p:nvSpPr>
        <p:spPr>
          <a:xfrm>
            <a:off x="6083999"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P2 が無い</a:t>
            </a:r>
          </a:p>
        </p:txBody>
      </p:sp>
      <p:sp>
        <p:nvSpPr>
          <p:cNvPr id="26" name="TextBox 25"/>
          <p:cNvSpPr txBox="1"/>
          <p:nvPr/>
        </p:nvSpPr>
        <p:spPr>
          <a:xfrm>
            <a:off x="869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切痕が消失</a:t>
            </a:r>
          </a:p>
        </p:txBody>
      </p:sp>
      <p:sp>
        <p:nvSpPr>
          <p:cNvPr id="27" name="TextBox 26"/>
          <p:cNvSpPr txBox="1"/>
          <p:nvPr/>
        </p:nvSpPr>
        <p:spPr>
          <a:xfrm>
            <a:off x="869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C00000"/>
                </a:solidFill>
                <a:latin typeface="Meiryo"/>
                <a:ea typeface="Meiryo"/>
                <a:cs typeface="Meiryo"/>
              </a:rPr>
              <a:t>候補なし</a:t>
            </a:r>
          </a:p>
        </p:txBody>
      </p:sp>
      <p:sp>
        <p:nvSpPr>
          <p:cNvPr id="28" name="Rounded Rectangle 27"/>
          <p:cNvSpPr/>
          <p:nvPr/>
        </p:nvSpPr>
        <p:spPr>
          <a:xfrm>
            <a:off x="864000" y="5508000"/>
            <a:ext cx="10440000" cy="1007999"/>
          </a:xfrm>
          <a:prstGeom prst="roundRect">
            <a:avLst>
              <a:gd name="adj" fmla="val 12000"/>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dirty="0">
                <a:solidFill>
                  <a:srgbClr val="C00000"/>
                </a:solidFill>
                <a:latin typeface="Meiryo"/>
                <a:ea typeface="Meiryo"/>
                <a:cs typeface="Meiryo"/>
              </a:rPr>
              <a:t>同じ定義（P2・切痕）が全部には当てはまらない</a:t>
            </a:r>
          </a:p>
          <a:p>
            <a:pPr algn="ctr">
              <a:spcBef>
                <a:spcPts val="0"/>
              </a:spcBef>
              <a:spcAft>
                <a:spcPts val="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自動で一律に解析することが</a:t>
            </a:r>
            <a:r>
              <a:rPr lang="ja-JP" altLang="en-US" sz="2400" b="1">
                <a:solidFill>
                  <a:srgbClr val="262626"/>
                </a:solidFill>
                <a:latin typeface="Meiryo"/>
                <a:ea typeface="Meiryo"/>
                <a:cs typeface="Meiryo"/>
              </a:rPr>
              <a:t>難しい</a:t>
            </a:r>
            <a:endParaRPr sz="2400" b="1" dirty="0">
              <a:solidFill>
                <a:srgbClr val="262626"/>
              </a:solidFill>
              <a:latin typeface="Meiryo"/>
              <a:ea typeface="Meiryo"/>
              <a:cs typeface="Meiryo"/>
            </a:endParaRP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40/71</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7392572-0B25-0AF1-6C00-4AE6580A1D5A}"/>
              </a:ext>
            </a:extLst>
          </p:cNvPr>
          <p:cNvSpPr>
            <a:spLocks noGrp="1"/>
          </p:cNvSpPr>
          <p:nvPr>
            <p:ph idx="1"/>
          </p:nvPr>
        </p:nvSpPr>
        <p:spPr/>
        <p:txBody>
          <a:bodyPr>
            <a:normAutofit/>
          </a:bodyPr>
          <a:lstStyle/>
          <a:p>
            <a:pPr>
              <a:lnSpc>
                <a:spcPct val="150000"/>
              </a:lnSpc>
            </a:pPr>
            <a:r>
              <a:rPr kumimoji="1" lang="ja-JP" altLang="en-US"/>
              <a:t>動脈硬化が強いと</a:t>
            </a:r>
            <a:r>
              <a:rPr kumimoji="1" lang="en-US" altLang="ja-JP" dirty="0"/>
              <a:t>SI</a:t>
            </a:r>
            <a:r>
              <a:rPr kumimoji="1" lang="ja-JP" altLang="en-US"/>
              <a:t>や</a:t>
            </a:r>
            <a:r>
              <a:rPr kumimoji="1" lang="en-US" altLang="ja-JP" dirty="0"/>
              <a:t>RI</a:t>
            </a:r>
            <a:r>
              <a:rPr kumimoji="1" lang="ja-JP" altLang="en-US"/>
              <a:t>の正確な決定が妨げられる</a:t>
            </a:r>
            <a:r>
              <a:rPr lang="ja-JP" altLang="en-US"/>
              <a:t>。</a:t>
            </a:r>
            <a:endParaRPr kumimoji="1" lang="en-US" altLang="ja-JP" dirty="0"/>
          </a:p>
          <a:p>
            <a:pPr>
              <a:lnSpc>
                <a:spcPct val="150000"/>
              </a:lnSpc>
            </a:pPr>
            <a:r>
              <a:rPr kumimoji="1" lang="ja-JP" altLang="en-US"/>
              <a:t>前進波の下降脚が平滑なほどの動脈硬化では</a:t>
            </a:r>
            <a:r>
              <a:rPr kumimoji="1" lang="en-US" altLang="ja-JP" dirty="0"/>
              <a:t>SDPPG</a:t>
            </a:r>
            <a:r>
              <a:rPr kumimoji="1" lang="ja-JP" altLang="en-US"/>
              <a:t>も不安定。</a:t>
            </a:r>
            <a:endParaRPr kumimoji="1" lang="en-US" altLang="ja-JP" dirty="0"/>
          </a:p>
          <a:p>
            <a:pPr>
              <a:lnSpc>
                <a:spcPct val="150000"/>
              </a:lnSpc>
            </a:pPr>
            <a:r>
              <a:rPr lang="en" altLang="ja-JP" dirty="0"/>
              <a:t>PPG </a:t>
            </a:r>
            <a:r>
              <a:rPr lang="ja-JP" altLang="en-US"/>
              <a:t>情報がある</a:t>
            </a:r>
            <a:r>
              <a:rPr lang="en-US" altLang="ja-JP" dirty="0"/>
              <a:t>169,787</a:t>
            </a:r>
            <a:r>
              <a:rPr lang="ja-JP" altLang="en-US"/>
              <a:t>人のうち、切痕不明瞭なのは</a:t>
            </a:r>
            <a:r>
              <a:rPr lang="en-US" altLang="ja-JP" dirty="0"/>
              <a:t>25,286</a:t>
            </a:r>
            <a:r>
              <a:rPr lang="ja-JP" altLang="en-US"/>
              <a:t>人。（</a:t>
            </a:r>
            <a:r>
              <a:rPr lang="en-US" altLang="ja-JP" dirty="0"/>
              <a:t>14%  UK Biobank</a:t>
            </a:r>
            <a:r>
              <a:rPr lang="ja-JP" altLang="en-US"/>
              <a:t>）</a:t>
            </a:r>
            <a:endParaRPr lang="en-US" altLang="ja-JP" dirty="0"/>
          </a:p>
          <a:p>
            <a:pPr>
              <a:lnSpc>
                <a:spcPct val="150000"/>
              </a:lnSpc>
            </a:pPr>
            <a:r>
              <a:rPr lang="ja-JP" altLang="en-US"/>
              <a:t>切痕が不明瞭な</a:t>
            </a:r>
            <a:r>
              <a:rPr lang="en-US" altLang="ja-JP" dirty="0"/>
              <a:t>PPG</a:t>
            </a:r>
            <a:r>
              <a:rPr lang="ja-JP" altLang="en-US"/>
              <a:t>信号を</a:t>
            </a:r>
            <a:r>
              <a:rPr lang="en-US" altLang="ja-JP" dirty="0"/>
              <a:t>DN-less signal</a:t>
            </a:r>
            <a:r>
              <a:rPr lang="ja-JP" altLang="en-US"/>
              <a:t>という。</a:t>
            </a:r>
          </a:p>
          <a:p>
            <a:pPr>
              <a:lnSpc>
                <a:spcPct val="150000"/>
              </a:lnSpc>
            </a:pPr>
            <a:endParaRPr kumimoji="1" lang="en-US" altLang="ja-JP" dirty="0"/>
          </a:p>
          <a:p>
            <a:pPr>
              <a:lnSpc>
                <a:spcPct val="150000"/>
              </a:lnSpc>
            </a:pPr>
            <a:endParaRPr kumimoji="1" lang="ja-JP" altLang="en-US"/>
          </a:p>
        </p:txBody>
      </p:sp>
      <p:sp>
        <p:nvSpPr>
          <p:cNvPr id="12" name="Title 1">
            <a:extLst>
              <a:ext uri="{FF2B5EF4-FFF2-40B4-BE49-F238E27FC236}">
                <a16:creationId xmlns:a16="http://schemas.microsoft.com/office/drawing/2014/main" id="{A8336E59-A444-1AA3-5626-6E3BF53BCDB2}"/>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4.2  極端な動脈硬化</a:t>
            </a:r>
          </a:p>
        </p:txBody>
      </p:sp>
      <p:sp>
        <p:nvSpPr>
          <p:cNvPr id="15" name="Off-page Connector 4">
            <a:extLst>
              <a:ext uri="{FF2B5EF4-FFF2-40B4-BE49-F238E27FC236}">
                <a16:creationId xmlns:a16="http://schemas.microsoft.com/office/drawing/2014/main" id="{4E43B2F5-7A94-9CF4-625F-2CD4B5BD95C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F0248E4B-9189-267A-5F94-7F85BBD18A0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7E41AC3A-EA76-E86A-DA03-FA061B4C67B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E7C403D1-F5DE-3364-B35D-76F3B949A3EE}"/>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5D7B35B3-070B-CB8B-114C-31C420641FF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0" name="Source"/>
          <p:cNvSpPr txBox="1"/>
          <p:nvPr/>
        </p:nvSpPr>
        <p:spPr>
          <a:xfrm>
            <a:off x="720000" y="6606000"/>
            <a:ext cx="10881360" cy="161583"/>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8. Cunningham 2023　／　23. Elgendi 2012　／　33. Wu 2010　／　34. Pal 2024</a:t>
            </a:r>
          </a:p>
        </p:txBody>
      </p:sp>
      <p:sp>
        <p:nvSpPr>
          <p:cNvPr id="4" name="Rounded Rectangle 29">
            <a:extLst>
              <a:ext uri="{FF2B5EF4-FFF2-40B4-BE49-F238E27FC236}">
                <a16:creationId xmlns:a16="http://schemas.microsoft.com/office/drawing/2014/main" id="{30979800-63B4-BEA8-4536-DEE5986A2B3B}"/>
              </a:ext>
            </a:extLst>
          </p:cNvPr>
          <p:cNvSpPr/>
          <p:nvPr/>
        </p:nvSpPr>
        <p:spPr>
          <a:xfrm>
            <a:off x="838200" y="5708328"/>
            <a:ext cx="104400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D-N less signal</a:t>
            </a:r>
            <a:r>
              <a:rPr lang="ja-JP" altLang="en-US" sz="2400" b="1">
                <a:solidFill>
                  <a:schemeClr val="tx1"/>
                </a:solidFill>
              </a:rPr>
              <a:t>でも</a:t>
            </a:r>
            <a:r>
              <a:rPr lang="en-US" altLang="ja-JP" sz="2400" b="1" dirty="0">
                <a:solidFill>
                  <a:schemeClr val="tx1"/>
                </a:solidFill>
              </a:rPr>
              <a:t>PPG</a:t>
            </a:r>
            <a:r>
              <a:rPr lang="ja-JP" altLang="en-US" sz="2400" b="1">
                <a:solidFill>
                  <a:schemeClr val="tx1"/>
                </a:solidFill>
              </a:rPr>
              <a:t>から特徴量を抽出し解析できないか？？</a:t>
            </a:r>
            <a:endParaRPr lang="en-US" altLang="ja-JP" sz="2400" b="1" dirty="0">
              <a:solidFill>
                <a:schemeClr val="tx1"/>
              </a:solidFill>
            </a:endParaRP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41/71</a:t>
            </a:r>
          </a:p>
        </p:txBody>
      </p:sp>
    </p:spTree>
    <p:extLst>
      <p:ext uri="{BB962C8B-B14F-4D97-AF65-F5344CB8AC3E}">
        <p14:creationId xmlns:p14="http://schemas.microsoft.com/office/powerpoint/2010/main" val="24266886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BB73-783B-E8E4-8365-C8155A6201B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4087CD51-FC20-156F-F681-25D93AF3EAF6}"/>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sp>
        <p:nvSpPr>
          <p:cNvPr id="15" name="Off-page Connector 4">
            <a:extLst>
              <a:ext uri="{FF2B5EF4-FFF2-40B4-BE49-F238E27FC236}">
                <a16:creationId xmlns:a16="http://schemas.microsoft.com/office/drawing/2014/main" id="{202B3C79-3BBF-BBB9-B0E6-622A738141B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B61C9A81-B053-2EF9-0315-D753E1A083A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2C21C98E-DEF0-E00D-DFBC-545446CABBF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7C7B672A-AB61-A39C-1120-2019054EADD9}"/>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F48CA1FF-C620-650C-A196-62515736E79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3" name="表 2">
            <a:extLst>
              <a:ext uri="{FF2B5EF4-FFF2-40B4-BE49-F238E27FC236}">
                <a16:creationId xmlns:a16="http://schemas.microsoft.com/office/drawing/2014/main" id="{CE7D4D29-D054-3381-57CF-9CD85BA5559C}"/>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PPG</a:t>
                      </a:r>
                      <a:r>
                        <a:rPr kumimoji="1" lang="ja-JP" altLang="en-US" sz="2000">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CA62D685-2543-C2A5-28B6-BB9D3072FDE0}"/>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34. Pal 2024　／　35. Fleischhauer 2020　／　36. Attivissimo 2023　／　37. Domínguez-Hernández 2026　／　38. Shin 2022　／　39.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43/71</a:t>
            </a:r>
          </a:p>
        </p:txBody>
      </p:sp>
    </p:spTree>
    <p:extLst>
      <p:ext uri="{BB962C8B-B14F-4D97-AF65-F5344CB8AC3E}">
        <p14:creationId xmlns:p14="http://schemas.microsoft.com/office/powerpoint/2010/main" val="37496487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2C86-11C8-43AF-38D4-266F9FEB9C3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76D710D-46ED-BA22-7899-01AD435D9D4D}"/>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sp>
        <p:nvSpPr>
          <p:cNvPr id="15" name="Off-page Connector 4">
            <a:extLst>
              <a:ext uri="{FF2B5EF4-FFF2-40B4-BE49-F238E27FC236}">
                <a16:creationId xmlns:a16="http://schemas.microsoft.com/office/drawing/2014/main" id="{1D666880-7CB3-12E3-E9FB-F0B14D24F09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427C8111-9B64-E411-C3C2-5351CBBC312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5D1BC14E-2ED1-D0F6-8AB1-BDF4B7C3315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D0D795BB-EA41-E136-B66D-89672E3E5DD3}"/>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8DFBE63E-2238-E72F-CC37-89CBA791FE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3" name="表 2">
            <a:extLst>
              <a:ext uri="{FF2B5EF4-FFF2-40B4-BE49-F238E27FC236}">
                <a16:creationId xmlns:a16="http://schemas.microsoft.com/office/drawing/2014/main" id="{3CBFC6E6-0790-4298-1FD2-3BEAC224C453}"/>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b="1">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ja-JP" altLang="en-US" sz="2000" b="1">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en-US" altLang="ja-JP" sz="2000" b="1" dirty="0">
                          <a:latin typeface="+mj-ea"/>
                          <a:ea typeface="+mj-ea"/>
                        </a:rPr>
                        <a:t>PPG</a:t>
                      </a:r>
                      <a:r>
                        <a:rPr kumimoji="1" lang="ja-JP" altLang="en-US" sz="2000" b="1">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4D36DBBC-C376-D9E0-BC45-7F268A42F7DE}"/>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34. Pal 2024　／　35. Fleischhauer 2020　／　36. Attivissimo 2023　／　37. Domínguez-Hernández 2026　／　38. Shin 2022　／　39.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43/71</a:t>
            </a:r>
          </a:p>
        </p:txBody>
      </p:sp>
    </p:spTree>
    <p:extLst>
      <p:ext uri="{BB962C8B-B14F-4D97-AF65-F5344CB8AC3E}">
        <p14:creationId xmlns:p14="http://schemas.microsoft.com/office/powerpoint/2010/main" val="20750564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 PDA（波形分解）</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BF9000"/>
                </a:solidFill>
                <a:latin typeface="Meiryo"/>
                <a:ea typeface="Meiryo"/>
                <a:cs typeface="Meiryo"/>
              </a:rPr>
              <a:t>5. </a:t>
            </a:r>
            <a:r>
              <a:rPr sz="3200" b="1">
                <a:solidFill>
                  <a:srgbClr val="262626"/>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5.1 </a:t>
            </a:r>
            <a:r>
              <a:rPr sz="2900" b="0">
                <a:solidFill>
                  <a:srgbClr val="262626"/>
                </a:solidFill>
                <a:latin typeface="Meiryo"/>
                <a:ea typeface="Meiryo"/>
                <a:cs typeface="Meiryo"/>
              </a:rPr>
              <a:t>PDA とは</a:t>
            </a:r>
          </a:p>
          <a:p>
            <a:pPr>
              <a:lnSpc>
                <a:spcPct val="145000"/>
              </a:lnSpc>
            </a:pPr>
            <a:r>
              <a:rPr sz="2900" b="1">
                <a:solidFill>
                  <a:srgbClr val="BF9000"/>
                </a:solidFill>
                <a:latin typeface="Meiryo"/>
                <a:ea typeface="Meiryo"/>
                <a:cs typeface="Meiryo"/>
              </a:rPr>
              <a:t>5.2 </a:t>
            </a:r>
            <a:r>
              <a:rPr sz="2900" b="0">
                <a:solidFill>
                  <a:srgbClr val="262626"/>
                </a:solidFill>
                <a:latin typeface="Meiryo"/>
                <a:ea typeface="Meiryo"/>
                <a:cs typeface="Meiryo"/>
              </a:rPr>
              <a:t>分解のしくみ</a:t>
            </a:r>
          </a:p>
          <a:p>
            <a:pPr>
              <a:lnSpc>
                <a:spcPct val="145000"/>
              </a:lnSpc>
            </a:pPr>
            <a:r>
              <a:rPr sz="2900" b="1">
                <a:solidFill>
                  <a:srgbClr val="BF9000"/>
                </a:solidFill>
                <a:latin typeface="Meiryo"/>
                <a:ea typeface="Meiryo"/>
                <a:cs typeface="Meiryo"/>
              </a:rPr>
              <a:t>5.3 </a:t>
            </a:r>
            <a:r>
              <a:rPr sz="2900" b="0">
                <a:solidFill>
                  <a:srgbClr val="262626"/>
                </a:solidFill>
                <a:latin typeface="Meiryo"/>
                <a:ea typeface="Meiryo"/>
                <a:cs typeface="Meiryo"/>
              </a:rPr>
              <a:t>当てはめ方</a:t>
            </a:r>
          </a:p>
          <a:p>
            <a:pPr>
              <a:lnSpc>
                <a:spcPct val="145000"/>
              </a:lnSpc>
            </a:pPr>
            <a:r>
              <a:rPr sz="2900" b="1">
                <a:solidFill>
                  <a:srgbClr val="BF9000"/>
                </a:solidFill>
                <a:latin typeface="Meiryo"/>
                <a:ea typeface="Meiryo"/>
                <a:cs typeface="Meiryo"/>
              </a:rPr>
              <a:t>5.4 </a:t>
            </a:r>
            <a:r>
              <a:rPr sz="2900" b="0">
                <a:solidFill>
                  <a:srgbClr val="262626"/>
                </a:solidFill>
                <a:latin typeface="Meiryo"/>
                <a:ea typeface="Meiryo"/>
                <a:cs typeface="Meiryo"/>
              </a:rPr>
              <a:t>得られる指標</a:t>
            </a:r>
          </a:p>
          <a:p>
            <a:pPr>
              <a:lnSpc>
                <a:spcPct val="145000"/>
              </a:lnSpc>
            </a:pPr>
            <a:r>
              <a:rPr sz="2900" b="1">
                <a:solidFill>
                  <a:srgbClr val="BF9000"/>
                </a:solidFill>
                <a:latin typeface="Meiryo"/>
                <a:ea typeface="Meiryo"/>
                <a:cs typeface="Meiryo"/>
              </a:rPr>
              <a:t>5.5 </a:t>
            </a:r>
            <a:r>
              <a:rPr sz="2900" b="0">
                <a:solidFill>
                  <a:srgbClr val="262626"/>
                </a:solidFill>
                <a:latin typeface="Meiryo"/>
                <a:ea typeface="Meiryo"/>
                <a:cs typeface="Meiryo"/>
              </a:rPr>
              <a:t>重要文献</a:t>
            </a:r>
          </a:p>
          <a:p>
            <a:pPr>
              <a:lnSpc>
                <a:spcPct val="145000"/>
              </a:lnSpc>
            </a:pPr>
            <a:r>
              <a:rPr sz="2900" b="1">
                <a:solidFill>
                  <a:srgbClr val="BF9000"/>
                </a:solidFill>
                <a:latin typeface="Meiryo"/>
                <a:ea typeface="Meiryo"/>
                <a:cs typeface="Meiryo"/>
              </a:rPr>
              <a:t>5.6 </a:t>
            </a:r>
            <a:r>
              <a:rPr sz="2900" b="0">
                <a:solidFill>
                  <a:srgbClr val="262626"/>
                </a:solidFill>
                <a:latin typeface="Meiryo"/>
                <a:ea typeface="Meiryo"/>
                <a:cs typeface="Meiryo"/>
              </a:rPr>
              <a:t>限界</a:t>
            </a:r>
          </a:p>
          <a:p>
            <a:pPr>
              <a:lnSpc>
                <a:spcPct val="145000"/>
              </a:lnSpc>
            </a:pPr>
            <a:r>
              <a:rPr sz="2900" b="1">
                <a:solidFill>
                  <a:srgbClr val="BF9000"/>
                </a:solidFill>
                <a:latin typeface="Meiryo"/>
                <a:ea typeface="Meiryo"/>
                <a:cs typeface="Meiryo"/>
              </a:rPr>
              <a:t>5.7 </a:t>
            </a:r>
            <a:r>
              <a:rPr sz="2900" b="0">
                <a:solidFill>
                  <a:srgbClr val="262626"/>
                </a:solidFill>
                <a:latin typeface="Meiryo"/>
                <a:ea typeface="Meiryo"/>
                <a:cs typeface="Meiryo"/>
              </a:rPr>
              <a:t>残された問い</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44/71</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5.1  PDA とは</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41. Goswami 2010　／　42. Couceiro 2015</a:t>
            </a:r>
          </a:p>
        </p:txBody>
      </p:sp>
      <p:sp>
        <p:nvSpPr>
          <p:cNvPr id="18" name="TextBox 17"/>
          <p:cNvSpPr txBox="1"/>
          <p:nvPr/>
        </p:nvSpPr>
        <p:spPr>
          <a:xfrm>
            <a:off x="720630" y="1923864"/>
            <a:ext cx="5486400" cy="52303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見えている波（実測）</a:t>
            </a:r>
          </a:p>
        </p:txBody>
      </p:sp>
      <p:sp>
        <p:nvSpPr>
          <p:cNvPr id="3" name="Freeform 2"/>
          <p:cNvSpPr/>
          <p:nvPr/>
        </p:nvSpPr>
        <p:spPr>
          <a:xfrm>
            <a:off x="766350" y="2335344"/>
            <a:ext cx="4846320" cy="1462022"/>
          </a:xfrm>
          <a:custGeom>
            <a:avLst/>
            <a:gdLst/>
            <a:ahLst/>
            <a:cxnLst/>
            <a:rect l="l" t="t" r="r" b="b"/>
            <a:pathLst>
              <a:path w="4846320" h="1462022">
                <a:moveTo>
                  <a:pt x="0" y="1412367"/>
                </a:moveTo>
                <a:lnTo>
                  <a:pt x="28508" y="1402571"/>
                </a:lnTo>
                <a:lnTo>
                  <a:pt x="57016" y="1391225"/>
                </a:lnTo>
                <a:lnTo>
                  <a:pt x="85523" y="1378158"/>
                </a:lnTo>
                <a:lnTo>
                  <a:pt x="114031" y="1363192"/>
                </a:lnTo>
                <a:lnTo>
                  <a:pt x="142539" y="1346147"/>
                </a:lnTo>
                <a:lnTo>
                  <a:pt x="171047" y="1326847"/>
                </a:lnTo>
                <a:lnTo>
                  <a:pt x="199554" y="1305117"/>
                </a:lnTo>
                <a:lnTo>
                  <a:pt x="228062" y="1280794"/>
                </a:lnTo>
                <a:lnTo>
                  <a:pt x="256570" y="1253729"/>
                </a:lnTo>
                <a:lnTo>
                  <a:pt x="285078" y="1223792"/>
                </a:lnTo>
                <a:lnTo>
                  <a:pt x="313585" y="1190877"/>
                </a:lnTo>
                <a:lnTo>
                  <a:pt x="342093" y="1154911"/>
                </a:lnTo>
                <a:lnTo>
                  <a:pt x="370601" y="1115856"/>
                </a:lnTo>
                <a:lnTo>
                  <a:pt x="399109" y="1073716"/>
                </a:lnTo>
                <a:lnTo>
                  <a:pt x="427616" y="1028542"/>
                </a:lnTo>
                <a:lnTo>
                  <a:pt x="456124" y="980438"/>
                </a:lnTo>
                <a:lnTo>
                  <a:pt x="484632" y="929563"/>
                </a:lnTo>
                <a:lnTo>
                  <a:pt x="513140" y="876133"/>
                </a:lnTo>
                <a:lnTo>
                  <a:pt x="541648" y="820427"/>
                </a:lnTo>
                <a:lnTo>
                  <a:pt x="570155" y="762781"/>
                </a:lnTo>
                <a:lnTo>
                  <a:pt x="598663" y="703595"/>
                </a:lnTo>
                <a:lnTo>
                  <a:pt x="627171" y="643321"/>
                </a:lnTo>
                <a:lnTo>
                  <a:pt x="655679" y="582466"/>
                </a:lnTo>
                <a:lnTo>
                  <a:pt x="684186" y="521584"/>
                </a:lnTo>
                <a:lnTo>
                  <a:pt x="712694" y="461266"/>
                </a:lnTo>
                <a:lnTo>
                  <a:pt x="741202" y="402133"/>
                </a:lnTo>
                <a:lnTo>
                  <a:pt x="769710" y="344825"/>
                </a:lnTo>
                <a:lnTo>
                  <a:pt x="798217" y="289991"/>
                </a:lnTo>
                <a:lnTo>
                  <a:pt x="826725" y="238271"/>
                </a:lnTo>
                <a:lnTo>
                  <a:pt x="855233" y="190291"/>
                </a:lnTo>
                <a:lnTo>
                  <a:pt x="883741" y="146643"/>
                </a:lnTo>
                <a:lnTo>
                  <a:pt x="912248" y="107876"/>
                </a:lnTo>
                <a:lnTo>
                  <a:pt x="940756" y="74480"/>
                </a:lnTo>
                <a:lnTo>
                  <a:pt x="969264" y="46881"/>
                </a:lnTo>
                <a:lnTo>
                  <a:pt x="997772" y="25421"/>
                </a:lnTo>
                <a:lnTo>
                  <a:pt x="1026280" y="10361"/>
                </a:lnTo>
                <a:lnTo>
                  <a:pt x="1054787" y="1865"/>
                </a:lnTo>
                <a:lnTo>
                  <a:pt x="1083295" y="0"/>
                </a:lnTo>
                <a:lnTo>
                  <a:pt x="1111803" y="4734"/>
                </a:lnTo>
                <a:lnTo>
                  <a:pt x="1140311" y="15937"/>
                </a:lnTo>
                <a:lnTo>
                  <a:pt x="1168818" y="33378"/>
                </a:lnTo>
                <a:lnTo>
                  <a:pt x="1197326" y="56739"/>
                </a:lnTo>
                <a:lnTo>
                  <a:pt x="1225834" y="85615"/>
                </a:lnTo>
                <a:lnTo>
                  <a:pt x="1254342" y="119526"/>
                </a:lnTo>
                <a:lnTo>
                  <a:pt x="1282849" y="157927"/>
                </a:lnTo>
                <a:lnTo>
                  <a:pt x="1311357" y="200218"/>
                </a:lnTo>
                <a:lnTo>
                  <a:pt x="1339865" y="245761"/>
                </a:lnTo>
                <a:lnTo>
                  <a:pt x="1368373" y="293889"/>
                </a:lnTo>
                <a:lnTo>
                  <a:pt x="1396880" y="343924"/>
                </a:lnTo>
                <a:lnTo>
                  <a:pt x="1425388" y="395183"/>
                </a:lnTo>
                <a:lnTo>
                  <a:pt x="1453896" y="447000"/>
                </a:lnTo>
                <a:lnTo>
                  <a:pt x="1482404" y="498730"/>
                </a:lnTo>
                <a:lnTo>
                  <a:pt x="1510912" y="549763"/>
                </a:lnTo>
                <a:lnTo>
                  <a:pt x="1539419" y="599533"/>
                </a:lnTo>
                <a:lnTo>
                  <a:pt x="1567927" y="647525"/>
                </a:lnTo>
                <a:lnTo>
                  <a:pt x="1596435" y="693281"/>
                </a:lnTo>
                <a:lnTo>
                  <a:pt x="1624943" y="736407"/>
                </a:lnTo>
                <a:lnTo>
                  <a:pt x="1653450" y="776570"/>
                </a:lnTo>
                <a:lnTo>
                  <a:pt x="1681958" y="813505"/>
                </a:lnTo>
                <a:lnTo>
                  <a:pt x="1710466" y="847013"/>
                </a:lnTo>
                <a:lnTo>
                  <a:pt x="1738974" y="876955"/>
                </a:lnTo>
                <a:lnTo>
                  <a:pt x="1767481" y="903256"/>
                </a:lnTo>
                <a:lnTo>
                  <a:pt x="1795989" y="925897"/>
                </a:lnTo>
                <a:lnTo>
                  <a:pt x="1824497" y="944909"/>
                </a:lnTo>
                <a:lnTo>
                  <a:pt x="1853005" y="960374"/>
                </a:lnTo>
                <a:lnTo>
                  <a:pt x="1881512" y="972413"/>
                </a:lnTo>
                <a:lnTo>
                  <a:pt x="1910020" y="981182"/>
                </a:lnTo>
                <a:lnTo>
                  <a:pt x="1938528" y="986870"/>
                </a:lnTo>
                <a:lnTo>
                  <a:pt x="1967036" y="989688"/>
                </a:lnTo>
                <a:lnTo>
                  <a:pt x="1995544" y="989867"/>
                </a:lnTo>
                <a:lnTo>
                  <a:pt x="2024051" y="987652"/>
                </a:lnTo>
                <a:lnTo>
                  <a:pt x="2052559" y="983297"/>
                </a:lnTo>
                <a:lnTo>
                  <a:pt x="2081067" y="977061"/>
                </a:lnTo>
                <a:lnTo>
                  <a:pt x="2109575" y="969205"/>
                </a:lnTo>
                <a:lnTo>
                  <a:pt x="2138082" y="959987"/>
                </a:lnTo>
                <a:lnTo>
                  <a:pt x="2166590" y="949663"/>
                </a:lnTo>
                <a:lnTo>
                  <a:pt x="2195098" y="938479"/>
                </a:lnTo>
                <a:lnTo>
                  <a:pt x="2223606" y="926673"/>
                </a:lnTo>
                <a:lnTo>
                  <a:pt x="2252113" y="914474"/>
                </a:lnTo>
                <a:lnTo>
                  <a:pt x="2280621" y="902097"/>
                </a:lnTo>
                <a:lnTo>
                  <a:pt x="2309129" y="889747"/>
                </a:lnTo>
                <a:lnTo>
                  <a:pt x="2337637" y="877613"/>
                </a:lnTo>
                <a:lnTo>
                  <a:pt x="2366144" y="865873"/>
                </a:lnTo>
                <a:lnTo>
                  <a:pt x="2394652" y="854689"/>
                </a:lnTo>
                <a:lnTo>
                  <a:pt x="2423160" y="844209"/>
                </a:lnTo>
                <a:lnTo>
                  <a:pt x="2451668" y="834568"/>
                </a:lnTo>
                <a:lnTo>
                  <a:pt x="2480176" y="825886"/>
                </a:lnTo>
                <a:lnTo>
                  <a:pt x="2508683" y="818267"/>
                </a:lnTo>
                <a:lnTo>
                  <a:pt x="2537191" y="811804"/>
                </a:lnTo>
                <a:lnTo>
                  <a:pt x="2565699" y="806573"/>
                </a:lnTo>
                <a:lnTo>
                  <a:pt x="2594207" y="802640"/>
                </a:lnTo>
                <a:lnTo>
                  <a:pt x="2622714" y="800054"/>
                </a:lnTo>
                <a:lnTo>
                  <a:pt x="2651222" y="798852"/>
                </a:lnTo>
                <a:lnTo>
                  <a:pt x="2679730" y="799059"/>
                </a:lnTo>
                <a:lnTo>
                  <a:pt x="2708238" y="800687"/>
                </a:lnTo>
                <a:lnTo>
                  <a:pt x="2736745" y="803736"/>
                </a:lnTo>
                <a:lnTo>
                  <a:pt x="2765253" y="808195"/>
                </a:lnTo>
                <a:lnTo>
                  <a:pt x="2793761" y="814040"/>
                </a:lnTo>
                <a:lnTo>
                  <a:pt x="2822269" y="821240"/>
                </a:lnTo>
                <a:lnTo>
                  <a:pt x="2850776" y="829751"/>
                </a:lnTo>
                <a:lnTo>
                  <a:pt x="2879284" y="839522"/>
                </a:lnTo>
                <a:lnTo>
                  <a:pt x="2907792" y="850493"/>
                </a:lnTo>
                <a:lnTo>
                  <a:pt x="2936300" y="862597"/>
                </a:lnTo>
                <a:lnTo>
                  <a:pt x="2964808" y="875760"/>
                </a:lnTo>
                <a:lnTo>
                  <a:pt x="2993315" y="889902"/>
                </a:lnTo>
                <a:lnTo>
                  <a:pt x="3021823" y="904939"/>
                </a:lnTo>
                <a:lnTo>
                  <a:pt x="3050331" y="920782"/>
                </a:lnTo>
                <a:lnTo>
                  <a:pt x="3078839" y="937339"/>
                </a:lnTo>
                <a:lnTo>
                  <a:pt x="3107346" y="954517"/>
                </a:lnTo>
                <a:lnTo>
                  <a:pt x="3135854" y="972222"/>
                </a:lnTo>
                <a:lnTo>
                  <a:pt x="3164362" y="990357"/>
                </a:lnTo>
                <a:lnTo>
                  <a:pt x="3192870" y="1008830"/>
                </a:lnTo>
                <a:lnTo>
                  <a:pt x="3221377" y="1027545"/>
                </a:lnTo>
                <a:lnTo>
                  <a:pt x="3249885" y="1046413"/>
                </a:lnTo>
                <a:lnTo>
                  <a:pt x="3278393" y="1065345"/>
                </a:lnTo>
                <a:lnTo>
                  <a:pt x="3306901" y="1084256"/>
                </a:lnTo>
                <a:lnTo>
                  <a:pt x="3335408" y="1103066"/>
                </a:lnTo>
                <a:lnTo>
                  <a:pt x="3363916" y="1121699"/>
                </a:lnTo>
                <a:lnTo>
                  <a:pt x="3392424" y="1140083"/>
                </a:lnTo>
                <a:lnTo>
                  <a:pt x="3420932" y="1158153"/>
                </a:lnTo>
                <a:lnTo>
                  <a:pt x="3449440" y="1175849"/>
                </a:lnTo>
                <a:lnTo>
                  <a:pt x="3477947" y="1193116"/>
                </a:lnTo>
                <a:lnTo>
                  <a:pt x="3506455" y="1209906"/>
                </a:lnTo>
                <a:lnTo>
                  <a:pt x="3534963" y="1226177"/>
                </a:lnTo>
                <a:lnTo>
                  <a:pt x="3563471" y="1241892"/>
                </a:lnTo>
                <a:lnTo>
                  <a:pt x="3591978" y="1257021"/>
                </a:lnTo>
                <a:lnTo>
                  <a:pt x="3620486" y="1271540"/>
                </a:lnTo>
                <a:lnTo>
                  <a:pt x="3648994" y="1285429"/>
                </a:lnTo>
                <a:lnTo>
                  <a:pt x="3677502" y="1298676"/>
                </a:lnTo>
                <a:lnTo>
                  <a:pt x="3706009" y="1311271"/>
                </a:lnTo>
                <a:lnTo>
                  <a:pt x="3734517" y="1323210"/>
                </a:lnTo>
                <a:lnTo>
                  <a:pt x="3763025" y="1334496"/>
                </a:lnTo>
                <a:lnTo>
                  <a:pt x="3791533" y="1345132"/>
                </a:lnTo>
                <a:lnTo>
                  <a:pt x="3820040" y="1355127"/>
                </a:lnTo>
                <a:lnTo>
                  <a:pt x="3848548" y="1364494"/>
                </a:lnTo>
                <a:lnTo>
                  <a:pt x="3877056" y="1373246"/>
                </a:lnTo>
                <a:lnTo>
                  <a:pt x="3905564" y="1381402"/>
                </a:lnTo>
                <a:lnTo>
                  <a:pt x="3934072" y="1388982"/>
                </a:lnTo>
                <a:lnTo>
                  <a:pt x="3962579" y="1396006"/>
                </a:lnTo>
                <a:lnTo>
                  <a:pt x="3991087" y="1402498"/>
                </a:lnTo>
                <a:lnTo>
                  <a:pt x="4019595" y="1408483"/>
                </a:lnTo>
                <a:lnTo>
                  <a:pt x="4048103" y="1413985"/>
                </a:lnTo>
                <a:lnTo>
                  <a:pt x="4076610" y="1419029"/>
                </a:lnTo>
                <a:lnTo>
                  <a:pt x="4105118" y="1423642"/>
                </a:lnTo>
                <a:lnTo>
                  <a:pt x="4133626" y="1427850"/>
                </a:lnTo>
                <a:lnTo>
                  <a:pt x="4162134" y="1431677"/>
                </a:lnTo>
                <a:lnTo>
                  <a:pt x="4190641" y="1435151"/>
                </a:lnTo>
                <a:lnTo>
                  <a:pt x="4219149" y="1438294"/>
                </a:lnTo>
                <a:lnTo>
                  <a:pt x="4247657" y="1441132"/>
                </a:lnTo>
                <a:lnTo>
                  <a:pt x="4276165" y="1443687"/>
                </a:lnTo>
                <a:lnTo>
                  <a:pt x="4304672" y="1445982"/>
                </a:lnTo>
                <a:lnTo>
                  <a:pt x="4333180" y="1448038"/>
                </a:lnTo>
                <a:lnTo>
                  <a:pt x="4361688" y="1449876"/>
                </a:lnTo>
                <a:lnTo>
                  <a:pt x="4390196" y="1451514"/>
                </a:lnTo>
                <a:lnTo>
                  <a:pt x="4418704" y="1452970"/>
                </a:lnTo>
                <a:lnTo>
                  <a:pt x="4447211" y="1454262"/>
                </a:lnTo>
                <a:lnTo>
                  <a:pt x="4475719" y="1455405"/>
                </a:lnTo>
                <a:lnTo>
                  <a:pt x="4504227" y="1456414"/>
                </a:lnTo>
                <a:lnTo>
                  <a:pt x="4532735" y="1457302"/>
                </a:lnTo>
                <a:lnTo>
                  <a:pt x="4561242" y="1458082"/>
                </a:lnTo>
                <a:lnTo>
                  <a:pt x="4589750" y="1458766"/>
                </a:lnTo>
                <a:lnTo>
                  <a:pt x="4618258" y="1459364"/>
                </a:lnTo>
                <a:lnTo>
                  <a:pt x="4646766" y="1459885"/>
                </a:lnTo>
                <a:lnTo>
                  <a:pt x="4675273" y="1460338"/>
                </a:lnTo>
                <a:lnTo>
                  <a:pt x="4703781" y="1460731"/>
                </a:lnTo>
                <a:lnTo>
                  <a:pt x="4732289" y="1461071"/>
                </a:lnTo>
                <a:lnTo>
                  <a:pt x="4760797" y="1461365"/>
                </a:lnTo>
                <a:lnTo>
                  <a:pt x="4789304" y="1461618"/>
                </a:lnTo>
                <a:lnTo>
                  <a:pt x="4817812" y="1461836"/>
                </a:lnTo>
                <a:lnTo>
                  <a:pt x="4846320" y="1462022"/>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813271" y="383384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52750" y="1940080"/>
            <a:ext cx="5486400" cy="369332"/>
          </a:xfrm>
          <a:prstGeom prst="rect">
            <a:avLst/>
          </a:prstGeom>
          <a:noFill/>
        </p:spPr>
        <p:txBody>
          <a:bodyPr wrap="square" lIns="0" tIns="0" rIns="0" bIns="0" anchor="t">
            <a:spAutoFit/>
          </a:bodyPr>
          <a:lstStyle/>
          <a:p>
            <a:pPr algn="l"/>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成分波</a:t>
            </a:r>
            <a:r>
              <a:rPr lang="ja-JP" altLang="en-US" sz="2400" b="1">
                <a:solidFill>
                  <a:srgbClr val="262626"/>
                </a:solidFill>
                <a:latin typeface="Meiryo"/>
                <a:ea typeface="Meiryo"/>
                <a:cs typeface="Meiryo"/>
              </a:rPr>
              <a:t>に分解する（推測）</a:t>
            </a:r>
            <a:endParaRPr sz="2400" b="1" dirty="0">
              <a:solidFill>
                <a:srgbClr val="262626"/>
              </a:solidFill>
              <a:latin typeface="Meiryo"/>
              <a:ea typeface="Meiryo"/>
              <a:cs typeface="Meiryo"/>
            </a:endParaRPr>
          </a:p>
        </p:txBody>
      </p:sp>
      <p:sp>
        <p:nvSpPr>
          <p:cNvPr id="4" name="Freeform 3"/>
          <p:cNvSpPr/>
          <p:nvPr/>
        </p:nvSpPr>
        <p:spPr>
          <a:xfrm>
            <a:off x="6298470" y="239954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6298470" y="315373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6285771" y="3796391"/>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98470" y="3896896"/>
            <a:ext cx="2377440" cy="485985"/>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前進波</a:t>
            </a:r>
          </a:p>
        </p:txBody>
      </p:sp>
      <p:sp>
        <p:nvSpPr>
          <p:cNvPr id="23" name="TextBox 22"/>
          <p:cNvSpPr txBox="1"/>
          <p:nvPr/>
        </p:nvSpPr>
        <p:spPr>
          <a:xfrm>
            <a:off x="8767350" y="3896896"/>
            <a:ext cx="2377440" cy="485985"/>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反射波</a:t>
            </a:r>
          </a:p>
        </p:txBody>
      </p:sp>
      <p:sp>
        <p:nvSpPr>
          <p:cNvPr id="26" name="Rounded Rectangle 25"/>
          <p:cNvSpPr/>
          <p:nvPr/>
        </p:nvSpPr>
        <p:spPr>
          <a:xfrm>
            <a:off x="720000" y="4459410"/>
            <a:ext cx="10412092" cy="1829935"/>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420111" y="4522805"/>
            <a:ext cx="9617397" cy="1671611"/>
          </a:xfrm>
          <a:prstGeom prst="rect">
            <a:avLst/>
          </a:prstGeom>
          <a:noFill/>
        </p:spPr>
        <p:txBody>
          <a:bodyPr wrap="square" lIns="0" tIns="0" rIns="0" bIns="0" anchor="t">
            <a:spAutoFit/>
          </a:bodyPr>
          <a:lstStyle/>
          <a:p>
            <a:pPr algn="l">
              <a:lnSpc>
                <a:spcPct val="150000"/>
              </a:lnSpc>
              <a:spcAft>
                <a:spcPts val="300"/>
              </a:spcAft>
            </a:pPr>
            <a:r>
              <a:rPr lang="en" sz="2500" b="1" dirty="0">
                <a:solidFill>
                  <a:srgbClr val="BF9000"/>
                </a:solidFill>
                <a:latin typeface="Meiryo"/>
                <a:ea typeface="Meiryo"/>
                <a:cs typeface="Meiryo"/>
              </a:rPr>
              <a:t>PDA</a:t>
            </a:r>
            <a:r>
              <a:rPr lang="ja-JP" altLang="en-US" sz="2500" b="1">
                <a:solidFill>
                  <a:srgbClr val="BF9000"/>
                </a:solidFill>
                <a:latin typeface="Meiryo"/>
                <a:ea typeface="Meiryo"/>
                <a:cs typeface="Meiryo"/>
              </a:rPr>
              <a:t>　</a:t>
            </a:r>
            <a:r>
              <a:rPr sz="2100" b="0" dirty="0">
                <a:solidFill>
                  <a:srgbClr val="BF9000"/>
                </a:solidFill>
                <a:latin typeface="Meiryo"/>
                <a:ea typeface="Meiryo"/>
                <a:cs typeface="Meiryo"/>
              </a:rPr>
              <a:t>Pulse Decomposition Analysis</a:t>
            </a:r>
          </a:p>
          <a:p>
            <a:pPr algn="l">
              <a:lnSpc>
                <a:spcPct val="150000"/>
              </a:lnSpc>
              <a:spcAft>
                <a:spcPts val="300"/>
              </a:spcAft>
            </a:pPr>
            <a:r>
              <a:rPr sz="2300" b="0" dirty="0" err="1">
                <a:solidFill>
                  <a:srgbClr val="262626"/>
                </a:solidFill>
                <a:latin typeface="Meiryo"/>
                <a:ea typeface="Meiryo"/>
                <a:cs typeface="Meiryo"/>
              </a:rPr>
              <a:t>波形を成分波の重ね合わせに当てはめ</a:t>
            </a:r>
            <a:r>
              <a:rPr sz="2300" b="1" dirty="0" err="1">
                <a:solidFill>
                  <a:srgbClr val="262626"/>
                </a:solidFill>
                <a:latin typeface="Meiryo"/>
                <a:ea typeface="Meiryo"/>
                <a:cs typeface="Meiryo"/>
              </a:rPr>
              <a:t>反射波の</a:t>
            </a:r>
            <a:r>
              <a:rPr sz="2300" b="1" dirty="0">
                <a:solidFill>
                  <a:srgbClr val="262626"/>
                </a:solidFill>
                <a:latin typeface="Meiryo"/>
                <a:ea typeface="Meiryo"/>
                <a:cs typeface="Meiryo"/>
              </a:rPr>
              <a:t> </a:t>
            </a:r>
            <a:r>
              <a:rPr sz="2300" b="1" dirty="0" err="1">
                <a:solidFill>
                  <a:srgbClr val="262626"/>
                </a:solidFill>
                <a:latin typeface="Meiryo"/>
                <a:ea typeface="Meiryo"/>
                <a:cs typeface="Meiryo"/>
              </a:rPr>
              <a:t>時刻と高さ</a:t>
            </a:r>
            <a:r>
              <a:rPr sz="2300" b="1" dirty="0">
                <a:solidFill>
                  <a:srgbClr val="262626"/>
                </a:solidFill>
                <a:latin typeface="Meiryo"/>
                <a:ea typeface="Meiryo"/>
                <a:cs typeface="Meiryo"/>
              </a:rPr>
              <a:t> </a:t>
            </a:r>
            <a:r>
              <a:rPr sz="2300" b="1" dirty="0" err="1">
                <a:solidFill>
                  <a:srgbClr val="262626"/>
                </a:solidFill>
                <a:latin typeface="Meiryo"/>
                <a:ea typeface="Meiryo"/>
                <a:cs typeface="Meiryo"/>
              </a:rPr>
              <a:t>を推定する</a:t>
            </a:r>
            <a:endParaRPr sz="2300" b="1" dirty="0">
              <a:solidFill>
                <a:srgbClr val="262626"/>
              </a:solidFill>
              <a:latin typeface="Meiryo"/>
              <a:ea typeface="Meiryo"/>
              <a:cs typeface="Meiryo"/>
            </a:endParaRPr>
          </a:p>
          <a:p>
            <a:pPr algn="l">
              <a:lnSpc>
                <a:spcPct val="150000"/>
              </a:lnSpc>
              <a:spcAft>
                <a:spcPts val="300"/>
              </a:spcAft>
            </a:pPr>
            <a:r>
              <a:rPr sz="2300" b="1" dirty="0">
                <a:solidFill>
                  <a:srgbClr val="BF9000"/>
                </a:solidFill>
                <a:latin typeface="Meiryo"/>
                <a:ea typeface="Meiryo"/>
                <a:cs typeface="Meiryo"/>
              </a:rPr>
              <a:t>→ </a:t>
            </a:r>
            <a:r>
              <a:rPr sz="2300" b="1" dirty="0" err="1">
                <a:solidFill>
                  <a:srgbClr val="BF9000"/>
                </a:solidFill>
                <a:latin typeface="Meiryo"/>
                <a:ea typeface="Meiryo"/>
                <a:cs typeface="Meiryo"/>
              </a:rPr>
              <a:t>切痕が消えていても値が出せる</a:t>
            </a:r>
            <a:endParaRPr sz="2300" b="1" dirty="0">
              <a:solidFill>
                <a:srgbClr val="BF9000"/>
              </a:solidFill>
              <a:latin typeface="Meiryo"/>
              <a:ea typeface="Meiryo"/>
              <a:cs typeface="Meiryo"/>
            </a:endParaRP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45/71</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42. Couceiro 2015</a:t>
            </a:r>
          </a:p>
        </p:txBody>
      </p:sp>
      <p:sp>
        <p:nvSpPr>
          <p:cNvPr id="30" name="TextBox 29"/>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309360" y="3035808"/>
            <a:ext cx="5257800" cy="384048"/>
          </a:xfrm>
          <a:prstGeom prst="rect">
            <a:avLst/>
          </a:prstGeom>
          <a:noFill/>
        </p:spPr>
        <p:txBody>
          <a:bodyPr wrap="square" lIns="0" tIns="0" rIns="0" bIns="0" anchor="t">
            <a:spAutoFit/>
          </a:bodyPr>
          <a:lstStyle/>
          <a:p>
            <a:pPr algn="l"/>
            <a:r>
              <a:rPr sz="2400" b="1">
                <a:solidFill>
                  <a:srgbClr val="0072B2"/>
                </a:solidFill>
                <a:latin typeface="Meiryo"/>
                <a:ea typeface="Meiryo"/>
                <a:cs typeface="Meiryo"/>
              </a:rPr>
              <a:t>成分波</a:t>
            </a:r>
          </a:p>
        </p:txBody>
      </p:sp>
      <p:sp>
        <p:nvSpPr>
          <p:cNvPr id="41" name="TextBox 40"/>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2" name="Rounded Rectangle 41"/>
          <p:cNvSpPr/>
          <p:nvPr/>
        </p:nvSpPr>
        <p:spPr>
          <a:xfrm>
            <a:off x="6126480" y="4114800"/>
            <a:ext cx="5623560" cy="1078992"/>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309360" y="4224528"/>
            <a:ext cx="5257800" cy="384048"/>
          </a:xfrm>
          <a:prstGeom prst="rect">
            <a:avLst/>
          </a:prstGeom>
          <a:noFill/>
        </p:spPr>
        <p:txBody>
          <a:bodyPr wrap="square" lIns="0" tIns="0" rIns="0" bIns="0" anchor="t">
            <a:spAutoFit/>
          </a:bodyPr>
          <a:lstStyle/>
          <a:p>
            <a:pPr algn="l"/>
            <a:r>
              <a:rPr sz="2400" b="1">
                <a:solidFill>
                  <a:srgbClr val="00A8AA"/>
                </a:solidFill>
                <a:latin typeface="Meiryo"/>
                <a:ea typeface="Meiryo"/>
                <a:cs typeface="Meiryo"/>
              </a:rPr>
              <a:t>基底関数</a:t>
            </a:r>
          </a:p>
        </p:txBody>
      </p:sp>
      <p:sp>
        <p:nvSpPr>
          <p:cNvPr id="44" name="TextBox 43"/>
          <p:cNvSpPr txBox="1"/>
          <p:nvPr/>
        </p:nvSpPr>
        <p:spPr>
          <a:xfrm>
            <a:off x="6309360" y="468172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成分波の形を表す数式のひな型</a:t>
            </a:r>
          </a:p>
        </p:txBody>
      </p:sp>
      <p:sp>
        <p:nvSpPr>
          <p:cNvPr id="45" name="Rounded Rectangle 44"/>
          <p:cNvSpPr/>
          <p:nvPr/>
        </p:nvSpPr>
        <p:spPr>
          <a:xfrm>
            <a:off x="6126480" y="5303520"/>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291072" y="5477256"/>
            <a:ext cx="5294376" cy="640080"/>
          </a:xfrm>
          <a:prstGeom prst="rect">
            <a:avLst/>
          </a:prstGeom>
          <a:noFill/>
        </p:spPr>
        <p:txBody>
          <a:bodyPr wrap="square" lIns="0" tIns="0" rIns="0" bIns="0" anchor="t">
            <a:spAutoFit/>
          </a:bodyPr>
          <a:lstStyle/>
          <a:p>
            <a:pPr algn="ctr">
              <a:spcAft>
                <a:spcPts val="300"/>
              </a:spcAft>
            </a:pPr>
            <a:r>
              <a:rPr sz="2300" b="1">
                <a:solidFill>
                  <a:srgbClr val="262626"/>
                </a:solidFill>
                <a:latin typeface="Meiryo"/>
                <a:ea typeface="Meiryo"/>
                <a:cs typeface="Meiryo"/>
              </a:rPr>
              <a:t>第1成分波 ＝ 前進波</a:t>
            </a:r>
          </a:p>
          <a:p>
            <a:pPr algn="ctr">
              <a:spcAft>
                <a:spcPts val="300"/>
              </a:spcAft>
            </a:pPr>
            <a:r>
              <a:rPr sz="2300" b="1">
                <a:solidFill>
                  <a:srgbClr val="262626"/>
                </a:solidFill>
                <a:latin typeface="Meiryo"/>
                <a:ea typeface="Meiryo"/>
                <a:cs typeface="Meiryo"/>
              </a:rPr>
              <a:t>第2成分波 ＝ 反射波 とみなす</a:t>
            </a:r>
          </a:p>
        </p:txBody>
      </p:sp>
      <p:sp>
        <p:nvSpPr>
          <p:cNvPr id="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46/71</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E00B-48AB-42C3-B6BD-F31EBF7BF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84395-3AF3-17EB-2363-9F7ED1165DC4}"/>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12" name="Off-page Connector 4">
            <a:extLst>
              <a:ext uri="{FF2B5EF4-FFF2-40B4-BE49-F238E27FC236}">
                <a16:creationId xmlns:a16="http://schemas.microsoft.com/office/drawing/2014/main" id="{9C16B1DC-05F4-7984-9EB3-FA664407528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C56E686-AE95-C74B-6233-0B2E8353D6E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B992AE01-FA19-AFB9-28C1-0EDCE24092E9}"/>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A86083F-D646-EA1D-F7FB-331952DEA05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02FF6180-3998-7292-AB71-FF770414F42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E41460A9-967A-2D03-57C5-16A52AD40D25}"/>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42. Couceiro 2015</a:t>
            </a:r>
          </a:p>
        </p:txBody>
      </p:sp>
      <p:sp>
        <p:nvSpPr>
          <p:cNvPr id="30" name="TextBox 29">
            <a:extLst>
              <a:ext uri="{FF2B5EF4-FFF2-40B4-BE49-F238E27FC236}">
                <a16:creationId xmlns:a16="http://schemas.microsoft.com/office/drawing/2014/main" id="{9516527D-7ECD-3C16-7E71-2BAFFEF1D2E0}"/>
              </a:ext>
            </a:extLst>
          </p:cNvPr>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a:extLst>
              <a:ext uri="{FF2B5EF4-FFF2-40B4-BE49-F238E27FC236}">
                <a16:creationId xmlns:a16="http://schemas.microsoft.com/office/drawing/2014/main" id="{E3694FE6-2DEE-29C8-E904-049315E8928A}"/>
              </a:ext>
            </a:extLst>
          </p:cNvPr>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a:extLst>
              <a:ext uri="{FF2B5EF4-FFF2-40B4-BE49-F238E27FC236}">
                <a16:creationId xmlns:a16="http://schemas.microsoft.com/office/drawing/2014/main" id="{F06D1CD5-592F-F186-D1EC-A75ED7217C64}"/>
              </a:ext>
            </a:extLst>
          </p:cNvPr>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10FFA6A-EDC7-4BEF-9D99-1204749F3D4D}"/>
              </a:ext>
            </a:extLst>
          </p:cNvPr>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a:extLst>
              <a:ext uri="{FF2B5EF4-FFF2-40B4-BE49-F238E27FC236}">
                <a16:creationId xmlns:a16="http://schemas.microsoft.com/office/drawing/2014/main" id="{9AEBB0DF-26F9-5618-CDC9-150726698DBB}"/>
              </a:ext>
            </a:extLst>
          </p:cNvPr>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a:extLst>
              <a:ext uri="{FF2B5EF4-FFF2-40B4-BE49-F238E27FC236}">
                <a16:creationId xmlns:a16="http://schemas.microsoft.com/office/drawing/2014/main" id="{745482D8-ABF6-2440-146D-402976F04DD7}"/>
              </a:ext>
            </a:extLst>
          </p:cNvPr>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a:extLst>
              <a:ext uri="{FF2B5EF4-FFF2-40B4-BE49-F238E27FC236}">
                <a16:creationId xmlns:a16="http://schemas.microsoft.com/office/drawing/2014/main" id="{41529799-9603-A82B-3ACB-CB15E6D2C700}"/>
              </a:ext>
            </a:extLst>
          </p:cNvPr>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B4BDD27-782E-737E-D7D2-E73A68006D8E}"/>
              </a:ext>
            </a:extLst>
          </p:cNvPr>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a:extLst>
              <a:ext uri="{FF2B5EF4-FFF2-40B4-BE49-F238E27FC236}">
                <a16:creationId xmlns:a16="http://schemas.microsoft.com/office/drawing/2014/main" id="{BD3AAAAF-5E61-65E7-7451-5148D2653C78}"/>
              </a:ext>
            </a:extLst>
          </p:cNvPr>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a:extLst>
              <a:ext uri="{FF2B5EF4-FFF2-40B4-BE49-F238E27FC236}">
                <a16:creationId xmlns:a16="http://schemas.microsoft.com/office/drawing/2014/main" id="{16C680A4-13E9-D21E-885D-BC081720A757}"/>
              </a:ext>
            </a:extLst>
          </p:cNvPr>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40AD6C26-ECBE-0627-116C-9875BA8542DC}"/>
              </a:ext>
            </a:extLst>
          </p:cNvPr>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a:extLst>
              <a:ext uri="{FF2B5EF4-FFF2-40B4-BE49-F238E27FC236}">
                <a16:creationId xmlns:a16="http://schemas.microsoft.com/office/drawing/2014/main" id="{4B6B0F96-330A-22FF-B37E-B58435341C04}"/>
              </a:ext>
            </a:extLst>
          </p:cNvPr>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a:extLst>
              <a:ext uri="{FF2B5EF4-FFF2-40B4-BE49-F238E27FC236}">
                <a16:creationId xmlns:a16="http://schemas.microsoft.com/office/drawing/2014/main" id="{98D58F3E-73C8-BC33-F4C7-41025EE21AE2}"/>
              </a:ext>
            </a:extLst>
          </p:cNvPr>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F57A6FCB-FA4E-1CBD-0D56-D7BFDBFCC954}"/>
              </a:ext>
            </a:extLst>
          </p:cNvPr>
          <p:cNvSpPr txBox="1"/>
          <p:nvPr/>
        </p:nvSpPr>
        <p:spPr>
          <a:xfrm>
            <a:off x="6309360" y="3035808"/>
            <a:ext cx="5257800" cy="384048"/>
          </a:xfrm>
          <a:prstGeom prst="rect">
            <a:avLst/>
          </a:prstGeom>
          <a:noFill/>
        </p:spPr>
        <p:txBody>
          <a:bodyPr wrap="square" lIns="0" tIns="0" rIns="0" bIns="0" anchor="t">
            <a:spAutoFit/>
          </a:bodyPr>
          <a:lstStyle/>
          <a:p>
            <a:pPr algn="l"/>
            <a:r>
              <a:rPr sz="2400" b="1" dirty="0" err="1">
                <a:solidFill>
                  <a:srgbClr val="0072B2"/>
                </a:solidFill>
                <a:latin typeface="Meiryo"/>
                <a:ea typeface="Meiryo"/>
                <a:cs typeface="Meiryo"/>
              </a:rPr>
              <a:t>成分波</a:t>
            </a:r>
            <a:r>
              <a:rPr lang="ja-JP" altLang="en-US" sz="2400" b="1">
                <a:solidFill>
                  <a:srgbClr val="0072B2"/>
                </a:solidFill>
                <a:latin typeface="Meiryo"/>
                <a:ea typeface="Meiryo"/>
                <a:cs typeface="Meiryo"/>
              </a:rPr>
              <a:t>（カーネル）</a:t>
            </a:r>
            <a:endParaRPr sz="2400" b="1" dirty="0">
              <a:solidFill>
                <a:srgbClr val="0072B2"/>
              </a:solidFill>
              <a:latin typeface="Meiryo"/>
              <a:ea typeface="Meiryo"/>
              <a:cs typeface="Meiryo"/>
            </a:endParaRPr>
          </a:p>
        </p:txBody>
      </p:sp>
      <p:sp>
        <p:nvSpPr>
          <p:cNvPr id="41" name="TextBox 40">
            <a:extLst>
              <a:ext uri="{FF2B5EF4-FFF2-40B4-BE49-F238E27FC236}">
                <a16:creationId xmlns:a16="http://schemas.microsoft.com/office/drawing/2014/main" id="{9105FBDE-7F10-D0EC-916B-A9C7BEDDA292}"/>
              </a:ext>
            </a:extLst>
          </p:cNvPr>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5" name="Rounded Rectangle 44">
            <a:extLst>
              <a:ext uri="{FF2B5EF4-FFF2-40B4-BE49-F238E27FC236}">
                <a16:creationId xmlns:a16="http://schemas.microsoft.com/office/drawing/2014/main" id="{B5FC49D9-B584-6852-4B66-08C06016B80B}"/>
              </a:ext>
            </a:extLst>
          </p:cNvPr>
          <p:cNvSpPr/>
          <p:nvPr/>
        </p:nvSpPr>
        <p:spPr>
          <a:xfrm>
            <a:off x="6126480" y="4548781"/>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CBD7A859-E11D-F16B-4BA4-42944B527E47}"/>
              </a:ext>
            </a:extLst>
          </p:cNvPr>
          <p:cNvSpPr txBox="1"/>
          <p:nvPr/>
        </p:nvSpPr>
        <p:spPr>
          <a:xfrm>
            <a:off x="6291072" y="4662541"/>
            <a:ext cx="5294376" cy="746358"/>
          </a:xfrm>
          <a:prstGeom prst="rect">
            <a:avLst/>
          </a:prstGeom>
          <a:noFill/>
        </p:spPr>
        <p:txBody>
          <a:bodyPr wrap="square" lIns="0" tIns="0" rIns="0" bIns="0" anchor="t">
            <a:spAutoFit/>
          </a:bodyPr>
          <a:lstStyle/>
          <a:p>
            <a:pPr algn="ctr">
              <a:spcAft>
                <a:spcPts val="300"/>
              </a:spcAft>
            </a:pPr>
            <a:r>
              <a:rPr lang="en-US" altLang="ja-JP" sz="2300" b="1" dirty="0">
                <a:solidFill>
                  <a:srgbClr val="262626"/>
                </a:solidFill>
                <a:latin typeface="Meiryo"/>
                <a:ea typeface="Meiryo"/>
                <a:cs typeface="Meiryo"/>
              </a:rPr>
              <a:t>PDA</a:t>
            </a:r>
            <a:r>
              <a:rPr lang="ja-JP" altLang="en-US" sz="2300" b="1">
                <a:solidFill>
                  <a:srgbClr val="262626"/>
                </a:solidFill>
                <a:latin typeface="Meiryo"/>
                <a:ea typeface="Meiryo"/>
                <a:cs typeface="Meiryo"/>
              </a:rPr>
              <a:t>では成分波を</a:t>
            </a:r>
            <a:endParaRPr lang="en-US" altLang="ja-JP" sz="2300" b="1" dirty="0">
              <a:solidFill>
                <a:srgbClr val="262626"/>
              </a:solidFill>
              <a:latin typeface="Meiryo"/>
              <a:ea typeface="Meiryo"/>
              <a:cs typeface="Meiryo"/>
            </a:endParaRPr>
          </a:p>
          <a:p>
            <a:pPr algn="ctr">
              <a:spcAft>
                <a:spcPts val="300"/>
              </a:spcAft>
            </a:pPr>
            <a:r>
              <a:rPr lang="ja-JP" altLang="en-US" sz="2300" b="1">
                <a:solidFill>
                  <a:srgbClr val="262626"/>
                </a:solidFill>
                <a:latin typeface="Meiryo"/>
                <a:ea typeface="Meiryo"/>
                <a:cs typeface="Meiryo"/>
              </a:rPr>
              <a:t>波形（基底関数）と個数で推測する</a:t>
            </a:r>
            <a:endParaRPr sz="2300" b="1" dirty="0">
              <a:solidFill>
                <a:srgbClr val="262626"/>
              </a:solidFill>
              <a:latin typeface="Meiryo"/>
              <a:ea typeface="Meiryo"/>
              <a:cs typeface="Meiryo"/>
            </a:endParaRPr>
          </a:p>
        </p:txBody>
      </p:sp>
      <p:sp>
        <p:nvSpPr>
          <p:cNvPr id="47" name="PageNo">
            <a:extLst>
              <a:ext uri="{FF2B5EF4-FFF2-40B4-BE49-F238E27FC236}">
                <a16:creationId xmlns:a16="http://schemas.microsoft.com/office/drawing/2014/main" id="{F89D066F-442F-74B8-D60A-FDE9AAD182BE}"/>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46/71</a:t>
            </a:r>
          </a:p>
        </p:txBody>
      </p:sp>
    </p:spTree>
    <p:extLst>
      <p:ext uri="{BB962C8B-B14F-4D97-AF65-F5344CB8AC3E}">
        <p14:creationId xmlns:p14="http://schemas.microsoft.com/office/powerpoint/2010/main" val="54829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43. Tigges 2017</a:t>
            </a:r>
          </a:p>
        </p:txBody>
      </p:sp>
      <p:sp>
        <p:nvSpPr>
          <p:cNvPr id="30" name="Rounded Rectangle 29"/>
          <p:cNvSpPr/>
          <p:nvPr/>
        </p:nvSpPr>
        <p:spPr>
          <a:xfrm>
            <a:off x="502920" y="1719072"/>
            <a:ext cx="11201400" cy="11887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1920240"/>
            <a:ext cx="10835640" cy="822960"/>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基底関数 ＝ 成分波の形を表す </a:t>
            </a:r>
            <a:r>
              <a:rPr sz="2500" b="1">
                <a:solidFill>
                  <a:srgbClr val="BF9000"/>
                </a:solidFill>
                <a:latin typeface="Meiryo"/>
                <a:ea typeface="Meiryo"/>
                <a:cs typeface="Meiryo"/>
              </a:rPr>
              <a:t>数式のひな型</a:t>
            </a:r>
          </a:p>
          <a:p>
            <a:pPr algn="ctr">
              <a:spcAft>
                <a:spcPts val="400"/>
              </a:spcAft>
            </a:pPr>
            <a:r>
              <a:rPr sz="2300" b="1">
                <a:solidFill>
                  <a:srgbClr val="262626"/>
                </a:solidFill>
                <a:latin typeface="Meiryo"/>
                <a:ea typeface="Meiryo"/>
                <a:cs typeface="Meiryo"/>
              </a:rPr>
              <a:t>1本の成分波は 高さ・位置・幅 の3つの数字で決まる</a:t>
            </a:r>
          </a:p>
        </p:txBody>
      </p:sp>
      <p:sp>
        <p:nvSpPr>
          <p:cNvPr id="32" name="Rounded Rectangle 31"/>
          <p:cNvSpPr/>
          <p:nvPr/>
        </p:nvSpPr>
        <p:spPr>
          <a:xfrm>
            <a:off x="502920" y="3127248"/>
            <a:ext cx="3529584"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40080" y="3310128"/>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高さ  a</a:t>
            </a:r>
          </a:p>
        </p:txBody>
      </p:sp>
      <p:sp>
        <p:nvSpPr>
          <p:cNvPr id="34" name="TextBox 33"/>
          <p:cNvSpPr txBox="1"/>
          <p:nvPr/>
        </p:nvSpPr>
        <p:spPr>
          <a:xfrm>
            <a:off x="640080" y="3840480"/>
            <a:ext cx="3255264" cy="411480"/>
          </a:xfrm>
          <a:prstGeom prst="rect">
            <a:avLst/>
          </a:prstGeom>
          <a:noFill/>
        </p:spPr>
        <p:txBody>
          <a:bodyPr wrap="square" lIns="0" tIns="0" rIns="0" bIns="0" anchor="t">
            <a:spAutoFit/>
          </a:bodyPr>
          <a:lstStyle/>
          <a:p>
            <a:pPr algn="ctr"/>
            <a:r>
              <a:rPr sz="2300" b="1">
                <a:solidFill>
                  <a:srgbClr val="0072B2"/>
                </a:solidFill>
                <a:latin typeface="Meiryo"/>
                <a:ea typeface="Meiryo"/>
                <a:cs typeface="Meiryo"/>
              </a:rPr>
              <a:t>振幅</a:t>
            </a:r>
          </a:p>
        </p:txBody>
      </p:sp>
      <p:sp>
        <p:nvSpPr>
          <p:cNvPr id="35" name="TextBox 34"/>
          <p:cNvSpPr txBox="1"/>
          <p:nvPr/>
        </p:nvSpPr>
        <p:spPr>
          <a:xfrm>
            <a:off x="594360"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どれだけ大きいか</a:t>
            </a:r>
          </a:p>
        </p:txBody>
      </p:sp>
      <p:sp>
        <p:nvSpPr>
          <p:cNvPr id="36" name="Rounded Rectangle 35"/>
          <p:cNvSpPr/>
          <p:nvPr/>
        </p:nvSpPr>
        <p:spPr>
          <a:xfrm>
            <a:off x="4306824" y="3127248"/>
            <a:ext cx="3529584"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43984" y="3310128"/>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位置  μ</a:t>
            </a:r>
          </a:p>
        </p:txBody>
      </p:sp>
      <p:sp>
        <p:nvSpPr>
          <p:cNvPr id="38" name="TextBox 37"/>
          <p:cNvSpPr txBox="1"/>
          <p:nvPr/>
        </p:nvSpPr>
        <p:spPr>
          <a:xfrm>
            <a:off x="4443984" y="3840480"/>
            <a:ext cx="3255264" cy="411480"/>
          </a:xfrm>
          <a:prstGeom prst="rect">
            <a:avLst/>
          </a:prstGeom>
          <a:noFill/>
        </p:spPr>
        <p:txBody>
          <a:bodyPr wrap="square" lIns="0" tIns="0" rIns="0" bIns="0" anchor="t">
            <a:spAutoFit/>
          </a:bodyPr>
          <a:lstStyle/>
          <a:p>
            <a:pPr algn="ctr"/>
            <a:r>
              <a:rPr sz="2300" b="1">
                <a:solidFill>
                  <a:srgbClr val="D55E00"/>
                </a:solidFill>
                <a:latin typeface="Meiryo"/>
                <a:ea typeface="Meiryo"/>
                <a:cs typeface="Meiryo"/>
              </a:rPr>
              <a:t>時刻</a:t>
            </a:r>
          </a:p>
        </p:txBody>
      </p:sp>
      <p:sp>
        <p:nvSpPr>
          <p:cNvPr id="39" name="TextBox 38"/>
          <p:cNvSpPr txBox="1"/>
          <p:nvPr/>
        </p:nvSpPr>
        <p:spPr>
          <a:xfrm>
            <a:off x="4398264"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いつ頂点が来るか</a:t>
            </a:r>
          </a:p>
        </p:txBody>
      </p:sp>
      <p:sp>
        <p:nvSpPr>
          <p:cNvPr id="40" name="Rounded Rectangle 39"/>
          <p:cNvSpPr/>
          <p:nvPr/>
        </p:nvSpPr>
        <p:spPr>
          <a:xfrm>
            <a:off x="8110728" y="3127248"/>
            <a:ext cx="3529584"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8247888" y="3310128"/>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幅  σ</a:t>
            </a:r>
          </a:p>
        </p:txBody>
      </p:sp>
      <p:sp>
        <p:nvSpPr>
          <p:cNvPr id="42" name="TextBox 41"/>
          <p:cNvSpPr txBox="1"/>
          <p:nvPr/>
        </p:nvSpPr>
        <p:spPr>
          <a:xfrm>
            <a:off x="8247888" y="3840480"/>
            <a:ext cx="3255264" cy="411480"/>
          </a:xfrm>
          <a:prstGeom prst="rect">
            <a:avLst/>
          </a:prstGeom>
          <a:noFill/>
        </p:spPr>
        <p:txBody>
          <a:bodyPr wrap="square" lIns="0" tIns="0" rIns="0" bIns="0" anchor="t">
            <a:spAutoFit/>
          </a:bodyPr>
          <a:lstStyle/>
          <a:p>
            <a:pPr algn="ctr"/>
            <a:r>
              <a:rPr sz="2300" b="1">
                <a:solidFill>
                  <a:srgbClr val="00A8AA"/>
                </a:solidFill>
                <a:latin typeface="Meiryo"/>
                <a:ea typeface="Meiryo"/>
                <a:cs typeface="Meiryo"/>
              </a:rPr>
              <a:t>広がり</a:t>
            </a:r>
          </a:p>
        </p:txBody>
      </p:sp>
      <p:sp>
        <p:nvSpPr>
          <p:cNvPr id="43" name="TextBox 42"/>
          <p:cNvSpPr txBox="1"/>
          <p:nvPr/>
        </p:nvSpPr>
        <p:spPr>
          <a:xfrm>
            <a:off x="8202168"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どれだけ長く続くか</a:t>
            </a:r>
          </a:p>
        </p:txBody>
      </p:sp>
      <p:sp>
        <p:nvSpPr>
          <p:cNvPr id="44" name="Rounded Rectangle 43"/>
          <p:cNvSpPr/>
          <p:nvPr/>
        </p:nvSpPr>
        <p:spPr>
          <a:xfrm>
            <a:off x="502920" y="5138928"/>
            <a:ext cx="11201400" cy="10058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85800" y="5340096"/>
            <a:ext cx="10835640" cy="640080"/>
          </a:xfrm>
          <a:prstGeom prst="rect">
            <a:avLst/>
          </a:prstGeom>
          <a:noFill/>
        </p:spPr>
        <p:txBody>
          <a:bodyPr wrap="square" lIns="0" tIns="0" rIns="0" bIns="0" anchor="t">
            <a:spAutoFit/>
          </a:bodyPr>
          <a:lstStyle/>
          <a:p>
            <a:pPr algn="ctr">
              <a:spcAft>
                <a:spcPts val="300"/>
              </a:spcAft>
            </a:pPr>
            <a:r>
              <a:rPr sz="2400" b="1">
                <a:solidFill>
                  <a:srgbClr val="262626"/>
                </a:solidFill>
                <a:latin typeface="Meiryo"/>
                <a:ea typeface="Meiryo"/>
                <a:cs typeface="Meiryo"/>
              </a:rPr>
              <a:t>合成波 ≒ 成分波1 ＋ 成分波2 ＋ …</a:t>
            </a:r>
          </a:p>
          <a:p>
            <a:pPr algn="ctr">
              <a:spcAft>
                <a:spcPts val="300"/>
              </a:spcAft>
            </a:pPr>
            <a:r>
              <a:rPr sz="2400" b="1">
                <a:solidFill>
                  <a:srgbClr val="262626"/>
                </a:solidFill>
                <a:latin typeface="Meiryo"/>
                <a:ea typeface="Meiryo"/>
                <a:cs typeface="Meiryo"/>
              </a:rPr>
              <a:t>点を探すのではなく、この足し算が実測に一番合う数字を探す</a:t>
            </a:r>
          </a:p>
        </p:txBody>
      </p:sp>
      <p:sp>
        <p:nvSpPr>
          <p:cNvPr id="4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47/71</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DEDCE-0196-86AA-F1D2-952AD8766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599BB-854B-F0A0-CAF6-47CD66BF5D6C}"/>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12" name="Off-page Connector 4">
            <a:extLst>
              <a:ext uri="{FF2B5EF4-FFF2-40B4-BE49-F238E27FC236}">
                <a16:creationId xmlns:a16="http://schemas.microsoft.com/office/drawing/2014/main" id="{89E51903-093B-EC1A-B633-3F6DD605A3F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73459FAF-1D2E-333F-B069-87B8CE3FF71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E9E69373-9598-187A-4A51-9AE384AE949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87F886A5-BEFB-35C1-6AAE-EF2FCCAA029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D70FAAC5-2052-A1B4-EBC9-3C6F3021EC95}"/>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609DDD14-D14F-E3CE-5407-E3C342680277}"/>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43. Tigges 2017</a:t>
            </a:r>
          </a:p>
        </p:txBody>
      </p:sp>
      <p:sp>
        <p:nvSpPr>
          <p:cNvPr id="30" name="Rounded Rectangle 29">
            <a:extLst>
              <a:ext uri="{FF2B5EF4-FFF2-40B4-BE49-F238E27FC236}">
                <a16:creationId xmlns:a16="http://schemas.microsoft.com/office/drawing/2014/main" id="{5E41C895-8FAB-1387-DAFE-45354471B0E9}"/>
              </a:ext>
            </a:extLst>
          </p:cNvPr>
          <p:cNvSpPr/>
          <p:nvPr/>
        </p:nvSpPr>
        <p:spPr>
          <a:xfrm>
            <a:off x="502920" y="2328671"/>
            <a:ext cx="11201400" cy="11887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a:extLst>
              <a:ext uri="{FF2B5EF4-FFF2-40B4-BE49-F238E27FC236}">
                <a16:creationId xmlns:a16="http://schemas.microsoft.com/office/drawing/2014/main" id="{32EC5493-C26E-12B4-267F-9C86493BB334}"/>
              </a:ext>
            </a:extLst>
          </p:cNvPr>
          <p:cNvSpPr txBox="1"/>
          <p:nvPr/>
        </p:nvSpPr>
        <p:spPr>
          <a:xfrm>
            <a:off x="685800" y="2529839"/>
            <a:ext cx="10835640" cy="822960"/>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基底関数 ＝ 成分波の形を表す </a:t>
            </a:r>
            <a:r>
              <a:rPr sz="2500" b="1">
                <a:solidFill>
                  <a:srgbClr val="BF9000"/>
                </a:solidFill>
                <a:latin typeface="Meiryo"/>
                <a:ea typeface="Meiryo"/>
                <a:cs typeface="Meiryo"/>
              </a:rPr>
              <a:t>数式のひな型</a:t>
            </a:r>
          </a:p>
          <a:p>
            <a:pPr algn="ctr">
              <a:spcAft>
                <a:spcPts val="400"/>
              </a:spcAft>
            </a:pPr>
            <a:r>
              <a:rPr sz="2300" b="1">
                <a:solidFill>
                  <a:srgbClr val="262626"/>
                </a:solidFill>
                <a:latin typeface="Meiryo"/>
                <a:ea typeface="Meiryo"/>
                <a:cs typeface="Meiryo"/>
              </a:rPr>
              <a:t>1本の成分波は 高さ・位置・幅 の3つの数字で決まる</a:t>
            </a:r>
          </a:p>
        </p:txBody>
      </p:sp>
      <p:sp>
        <p:nvSpPr>
          <p:cNvPr id="32" name="Rounded Rectangle 31">
            <a:extLst>
              <a:ext uri="{FF2B5EF4-FFF2-40B4-BE49-F238E27FC236}">
                <a16:creationId xmlns:a16="http://schemas.microsoft.com/office/drawing/2014/main" id="{ACC012E0-FAE0-1747-ADD4-EBA1B84CDF37}"/>
              </a:ext>
            </a:extLst>
          </p:cNvPr>
          <p:cNvSpPr/>
          <p:nvPr/>
        </p:nvSpPr>
        <p:spPr>
          <a:xfrm>
            <a:off x="502920" y="3736847"/>
            <a:ext cx="3529584"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a:extLst>
              <a:ext uri="{FF2B5EF4-FFF2-40B4-BE49-F238E27FC236}">
                <a16:creationId xmlns:a16="http://schemas.microsoft.com/office/drawing/2014/main" id="{F9CAC76F-9A25-909C-5A4A-C7C23F76FA78}"/>
              </a:ext>
            </a:extLst>
          </p:cNvPr>
          <p:cNvSpPr txBox="1"/>
          <p:nvPr/>
        </p:nvSpPr>
        <p:spPr>
          <a:xfrm>
            <a:off x="640080" y="3919727"/>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高さ  a</a:t>
            </a:r>
          </a:p>
        </p:txBody>
      </p:sp>
      <p:sp>
        <p:nvSpPr>
          <p:cNvPr id="34" name="TextBox 33">
            <a:extLst>
              <a:ext uri="{FF2B5EF4-FFF2-40B4-BE49-F238E27FC236}">
                <a16:creationId xmlns:a16="http://schemas.microsoft.com/office/drawing/2014/main" id="{DC5C78DA-57F8-50B3-1AFB-C26D1FB11F7E}"/>
              </a:ext>
            </a:extLst>
          </p:cNvPr>
          <p:cNvSpPr txBox="1"/>
          <p:nvPr/>
        </p:nvSpPr>
        <p:spPr>
          <a:xfrm>
            <a:off x="640080" y="4450079"/>
            <a:ext cx="3255264" cy="411480"/>
          </a:xfrm>
          <a:prstGeom prst="rect">
            <a:avLst/>
          </a:prstGeom>
          <a:noFill/>
        </p:spPr>
        <p:txBody>
          <a:bodyPr wrap="square" lIns="0" tIns="0" rIns="0" bIns="0" anchor="t">
            <a:spAutoFit/>
          </a:bodyPr>
          <a:lstStyle/>
          <a:p>
            <a:pPr algn="ctr"/>
            <a:r>
              <a:rPr sz="2300" b="1">
                <a:solidFill>
                  <a:srgbClr val="0072B2"/>
                </a:solidFill>
                <a:latin typeface="Meiryo"/>
                <a:ea typeface="Meiryo"/>
                <a:cs typeface="Meiryo"/>
              </a:rPr>
              <a:t>振幅</a:t>
            </a:r>
          </a:p>
        </p:txBody>
      </p:sp>
      <p:sp>
        <p:nvSpPr>
          <p:cNvPr id="35" name="TextBox 34">
            <a:extLst>
              <a:ext uri="{FF2B5EF4-FFF2-40B4-BE49-F238E27FC236}">
                <a16:creationId xmlns:a16="http://schemas.microsoft.com/office/drawing/2014/main" id="{92EDB3FF-6C7B-62CF-784F-F39524D2F9E1}"/>
              </a:ext>
            </a:extLst>
          </p:cNvPr>
          <p:cNvSpPr txBox="1"/>
          <p:nvPr/>
        </p:nvSpPr>
        <p:spPr>
          <a:xfrm>
            <a:off x="594360" y="4925567"/>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どれだけ大きいか</a:t>
            </a:r>
          </a:p>
        </p:txBody>
      </p:sp>
      <p:sp>
        <p:nvSpPr>
          <p:cNvPr id="36" name="Rounded Rectangle 35">
            <a:extLst>
              <a:ext uri="{FF2B5EF4-FFF2-40B4-BE49-F238E27FC236}">
                <a16:creationId xmlns:a16="http://schemas.microsoft.com/office/drawing/2014/main" id="{086AD1E5-DCBB-A20F-3EB8-1BC38116C13D}"/>
              </a:ext>
            </a:extLst>
          </p:cNvPr>
          <p:cNvSpPr/>
          <p:nvPr/>
        </p:nvSpPr>
        <p:spPr>
          <a:xfrm>
            <a:off x="4306824" y="3736847"/>
            <a:ext cx="3529584"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2F88DED5-6DFA-936A-EFE0-9DB0163CB3D7}"/>
              </a:ext>
            </a:extLst>
          </p:cNvPr>
          <p:cNvSpPr txBox="1"/>
          <p:nvPr/>
        </p:nvSpPr>
        <p:spPr>
          <a:xfrm>
            <a:off x="4443984" y="3919727"/>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位置  μ</a:t>
            </a:r>
          </a:p>
        </p:txBody>
      </p:sp>
      <p:sp>
        <p:nvSpPr>
          <p:cNvPr id="38" name="TextBox 37">
            <a:extLst>
              <a:ext uri="{FF2B5EF4-FFF2-40B4-BE49-F238E27FC236}">
                <a16:creationId xmlns:a16="http://schemas.microsoft.com/office/drawing/2014/main" id="{30665257-8073-6A29-FD38-800A2605FCF1}"/>
              </a:ext>
            </a:extLst>
          </p:cNvPr>
          <p:cNvSpPr txBox="1"/>
          <p:nvPr/>
        </p:nvSpPr>
        <p:spPr>
          <a:xfrm>
            <a:off x="4443984" y="4450079"/>
            <a:ext cx="3255264" cy="411480"/>
          </a:xfrm>
          <a:prstGeom prst="rect">
            <a:avLst/>
          </a:prstGeom>
          <a:noFill/>
        </p:spPr>
        <p:txBody>
          <a:bodyPr wrap="square" lIns="0" tIns="0" rIns="0" bIns="0" anchor="t">
            <a:spAutoFit/>
          </a:bodyPr>
          <a:lstStyle/>
          <a:p>
            <a:pPr algn="ctr"/>
            <a:r>
              <a:rPr sz="2300" b="1">
                <a:solidFill>
                  <a:srgbClr val="D55E00"/>
                </a:solidFill>
                <a:latin typeface="Meiryo"/>
                <a:ea typeface="Meiryo"/>
                <a:cs typeface="Meiryo"/>
              </a:rPr>
              <a:t>時刻</a:t>
            </a:r>
          </a:p>
        </p:txBody>
      </p:sp>
      <p:sp>
        <p:nvSpPr>
          <p:cNvPr id="39" name="TextBox 38">
            <a:extLst>
              <a:ext uri="{FF2B5EF4-FFF2-40B4-BE49-F238E27FC236}">
                <a16:creationId xmlns:a16="http://schemas.microsoft.com/office/drawing/2014/main" id="{1C67598B-9E93-5402-FB5B-A9BA295A098F}"/>
              </a:ext>
            </a:extLst>
          </p:cNvPr>
          <p:cNvSpPr txBox="1"/>
          <p:nvPr/>
        </p:nvSpPr>
        <p:spPr>
          <a:xfrm>
            <a:off x="4398264" y="4925567"/>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いつ頂点が来るか</a:t>
            </a:r>
          </a:p>
        </p:txBody>
      </p:sp>
      <p:sp>
        <p:nvSpPr>
          <p:cNvPr id="40" name="Rounded Rectangle 39">
            <a:extLst>
              <a:ext uri="{FF2B5EF4-FFF2-40B4-BE49-F238E27FC236}">
                <a16:creationId xmlns:a16="http://schemas.microsoft.com/office/drawing/2014/main" id="{608A8727-9F7D-AB56-0DA8-6FF0E66F1888}"/>
              </a:ext>
            </a:extLst>
          </p:cNvPr>
          <p:cNvSpPr/>
          <p:nvPr/>
        </p:nvSpPr>
        <p:spPr>
          <a:xfrm>
            <a:off x="8110728" y="3736847"/>
            <a:ext cx="3529584"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a:extLst>
              <a:ext uri="{FF2B5EF4-FFF2-40B4-BE49-F238E27FC236}">
                <a16:creationId xmlns:a16="http://schemas.microsoft.com/office/drawing/2014/main" id="{8ABFD40C-C743-425A-7BFE-F05E28746CC2}"/>
              </a:ext>
            </a:extLst>
          </p:cNvPr>
          <p:cNvSpPr txBox="1"/>
          <p:nvPr/>
        </p:nvSpPr>
        <p:spPr>
          <a:xfrm>
            <a:off x="8247888" y="3919727"/>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幅  σ</a:t>
            </a:r>
          </a:p>
        </p:txBody>
      </p:sp>
      <p:sp>
        <p:nvSpPr>
          <p:cNvPr id="42" name="TextBox 41">
            <a:extLst>
              <a:ext uri="{FF2B5EF4-FFF2-40B4-BE49-F238E27FC236}">
                <a16:creationId xmlns:a16="http://schemas.microsoft.com/office/drawing/2014/main" id="{BAA7CA6F-4FFF-5972-63D6-20193172289C}"/>
              </a:ext>
            </a:extLst>
          </p:cNvPr>
          <p:cNvSpPr txBox="1"/>
          <p:nvPr/>
        </p:nvSpPr>
        <p:spPr>
          <a:xfrm>
            <a:off x="8247888" y="4450079"/>
            <a:ext cx="3255264" cy="411480"/>
          </a:xfrm>
          <a:prstGeom prst="rect">
            <a:avLst/>
          </a:prstGeom>
          <a:noFill/>
        </p:spPr>
        <p:txBody>
          <a:bodyPr wrap="square" lIns="0" tIns="0" rIns="0" bIns="0" anchor="t">
            <a:spAutoFit/>
          </a:bodyPr>
          <a:lstStyle/>
          <a:p>
            <a:pPr algn="ctr"/>
            <a:r>
              <a:rPr sz="2300" b="1">
                <a:solidFill>
                  <a:srgbClr val="00A8AA"/>
                </a:solidFill>
                <a:latin typeface="Meiryo"/>
                <a:ea typeface="Meiryo"/>
                <a:cs typeface="Meiryo"/>
              </a:rPr>
              <a:t>広がり</a:t>
            </a:r>
          </a:p>
        </p:txBody>
      </p:sp>
      <p:sp>
        <p:nvSpPr>
          <p:cNvPr id="43" name="TextBox 42">
            <a:extLst>
              <a:ext uri="{FF2B5EF4-FFF2-40B4-BE49-F238E27FC236}">
                <a16:creationId xmlns:a16="http://schemas.microsoft.com/office/drawing/2014/main" id="{05809275-A5F4-F7F6-DAEF-914A9F1024EB}"/>
              </a:ext>
            </a:extLst>
          </p:cNvPr>
          <p:cNvSpPr txBox="1"/>
          <p:nvPr/>
        </p:nvSpPr>
        <p:spPr>
          <a:xfrm>
            <a:off x="8202168" y="4925567"/>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どれだけ長く続くか</a:t>
            </a:r>
          </a:p>
        </p:txBody>
      </p:sp>
      <p:sp>
        <p:nvSpPr>
          <p:cNvPr id="46" name="PageNo">
            <a:extLst>
              <a:ext uri="{FF2B5EF4-FFF2-40B4-BE49-F238E27FC236}">
                <a16:creationId xmlns:a16="http://schemas.microsoft.com/office/drawing/2014/main" id="{91A22E96-F99F-46B6-98AB-E82A5F500B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47/71</a:t>
            </a:r>
          </a:p>
        </p:txBody>
      </p:sp>
    </p:spTree>
    <p:extLst>
      <p:ext uri="{BB962C8B-B14F-4D97-AF65-F5344CB8AC3E}">
        <p14:creationId xmlns:p14="http://schemas.microsoft.com/office/powerpoint/2010/main" val="23224547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5.2  基底関数の形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　／　44. Basso 2024</a:t>
            </a:r>
          </a:p>
        </p:txBody>
      </p:sp>
      <p:sp>
        <p:nvSpPr>
          <p:cNvPr id="18" name="TextBox 17"/>
          <p:cNvSpPr txBox="1"/>
          <p:nvPr/>
        </p:nvSpPr>
        <p:spPr>
          <a:xfrm>
            <a:off x="548640" y="1737360"/>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p:cNvSpPr/>
          <p:nvPr/>
        </p:nvSpPr>
        <p:spPr>
          <a:xfrm>
            <a:off x="777240" y="2212848"/>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77724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p:cNvSpPr txBox="1"/>
          <p:nvPr/>
        </p:nvSpPr>
        <p:spPr>
          <a:xfrm>
            <a:off x="4389120" y="1737360"/>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p:cNvSpPr/>
          <p:nvPr/>
        </p:nvSpPr>
        <p:spPr>
          <a:xfrm>
            <a:off x="4617720" y="2212848"/>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461772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48056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p:cNvSpPr txBox="1"/>
          <p:nvPr/>
        </p:nvSpPr>
        <p:spPr>
          <a:xfrm>
            <a:off x="8229600" y="1737360"/>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p:cNvSpPr/>
          <p:nvPr/>
        </p:nvSpPr>
        <p:spPr>
          <a:xfrm>
            <a:off x="8458200" y="2212848"/>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845820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2104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対称形に歪みを</a:t>
            </a:r>
          </a:p>
          <a:p>
            <a:pPr algn="ctr">
              <a:spcAft>
                <a:spcPts val="500"/>
              </a:spcAft>
            </a:pPr>
            <a:r>
              <a:rPr sz="2200" b="0">
                <a:solidFill>
                  <a:srgbClr val="262626"/>
                </a:solidFill>
                <a:latin typeface="Meiryo"/>
                <a:ea typeface="Meiryo"/>
                <a:cs typeface="Meiryo"/>
              </a:rPr>
              <a:t>1つ足しただけ</a:t>
            </a:r>
          </a:p>
          <a:p>
            <a:pPr algn="ctr">
              <a:spcAft>
                <a:spcPts val="500"/>
              </a:spcAft>
            </a:pPr>
            <a:r>
              <a:rPr sz="2200" b="0">
                <a:solidFill>
                  <a:srgbClr val="262626"/>
                </a:solidFill>
                <a:latin typeface="Meiryo"/>
                <a:ea typeface="Meiryo"/>
                <a:cs typeface="Meiryo"/>
              </a:rPr>
              <a:t>意味が保たれる</a:t>
            </a:r>
          </a:p>
        </p:txBody>
      </p:sp>
      <p:sp>
        <p:nvSpPr>
          <p:cNvPr id="27" name="Rounded Rectangle 26"/>
          <p:cNvSpPr/>
          <p:nvPr/>
        </p:nvSpPr>
        <p:spPr>
          <a:xfrm>
            <a:off x="411480" y="5074920"/>
            <a:ext cx="11356848" cy="118872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94360" y="5257800"/>
            <a:ext cx="10991088" cy="1030782"/>
          </a:xfrm>
          <a:prstGeom prst="rect">
            <a:avLst/>
          </a:prstGeom>
          <a:noFill/>
        </p:spPr>
        <p:txBody>
          <a:bodyPr wrap="square" lIns="0" tIns="0" rIns="0" bIns="0" anchor="t">
            <a:spAutoFit/>
          </a:bodyPr>
          <a:lstStyle/>
          <a:p>
            <a:pPr algn="ctr">
              <a:spcAft>
                <a:spcPts val="400"/>
              </a:spcAft>
            </a:pPr>
            <a:r>
              <a:rPr sz="2500" b="1" dirty="0">
                <a:solidFill>
                  <a:srgbClr val="262626"/>
                </a:solidFill>
                <a:latin typeface="Meiryo"/>
                <a:ea typeface="Meiryo"/>
                <a:cs typeface="Meiryo"/>
              </a:rPr>
              <a:t>7,805 </a:t>
            </a:r>
            <a:r>
              <a:rPr sz="2500" b="1" dirty="0" err="1">
                <a:solidFill>
                  <a:srgbClr val="262626"/>
                </a:solidFill>
                <a:latin typeface="Meiryo"/>
                <a:ea typeface="Meiryo"/>
                <a:cs typeface="Meiryo"/>
              </a:rPr>
              <a:t>拍で総当たりしても正解の形は決まらない</a:t>
            </a:r>
            <a:endParaRPr sz="2500" b="1" dirty="0">
              <a:solidFill>
                <a:srgbClr val="262626"/>
              </a:solidFill>
              <a:latin typeface="Meiryo"/>
              <a:ea typeface="Meiryo"/>
              <a:cs typeface="Meiryo"/>
            </a:endParaRPr>
          </a:p>
          <a:p>
            <a:pPr algn="ctr">
              <a:spcAft>
                <a:spcPts val="400"/>
              </a:spcAft>
            </a:pPr>
            <a:r>
              <a:rPr sz="2500" b="1" dirty="0" err="1">
                <a:solidFill>
                  <a:srgbClr val="262626"/>
                </a:solidFill>
                <a:latin typeface="Meiryo"/>
                <a:ea typeface="Meiryo"/>
                <a:cs typeface="Meiryo"/>
              </a:rPr>
              <a:t>最頻の</a:t>
            </a:r>
            <a:r>
              <a:rPr sz="2500" b="1" dirty="0">
                <a:solidFill>
                  <a:srgbClr val="262626"/>
                </a:solidFill>
                <a:latin typeface="Meiryo"/>
                <a:ea typeface="Meiryo"/>
                <a:cs typeface="Meiryo"/>
              </a:rPr>
              <a:t> Gamma 3 </a:t>
            </a:r>
            <a:r>
              <a:rPr sz="2500" b="1" dirty="0" err="1">
                <a:solidFill>
                  <a:srgbClr val="262626"/>
                </a:solidFill>
                <a:latin typeface="Meiryo"/>
                <a:ea typeface="Meiryo"/>
                <a:cs typeface="Meiryo"/>
              </a:rPr>
              <a:t>個でも</a:t>
            </a:r>
            <a:r>
              <a:rPr sz="2500" b="1" dirty="0">
                <a:solidFill>
                  <a:srgbClr val="262626"/>
                </a:solidFill>
                <a:latin typeface="Meiryo"/>
                <a:ea typeface="Meiryo"/>
                <a:cs typeface="Meiryo"/>
              </a:rPr>
              <a:t> 28.1% </a:t>
            </a:r>
            <a:r>
              <a:rPr sz="2500" b="1" dirty="0" err="1">
                <a:solidFill>
                  <a:srgbClr val="262626"/>
                </a:solidFill>
                <a:latin typeface="Meiryo"/>
                <a:ea typeface="Meiryo"/>
                <a:cs typeface="Meiryo"/>
              </a:rPr>
              <a:t>どまり（Tigges</a:t>
            </a:r>
            <a:r>
              <a:rPr sz="2500" b="1" dirty="0">
                <a:solidFill>
                  <a:srgbClr val="262626"/>
                </a:solidFill>
                <a:latin typeface="Meiryo"/>
                <a:ea typeface="Meiryo"/>
                <a:cs typeface="Meiryo"/>
              </a:rPr>
              <a:t> 2017）</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48/71</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D30EA-04E5-625D-0B07-FC40AEA5F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8A658-D80F-4D48-F033-E27EBFE0F4EF}"/>
              </a:ext>
            </a:extLst>
          </p:cNvPr>
          <p:cNvSpPr>
            <a:spLocks noGrp="1"/>
          </p:cNvSpPr>
          <p:nvPr>
            <p:ph type="title"/>
          </p:nvPr>
        </p:nvSpPr>
        <p:spPr/>
        <p:txBody>
          <a:bodyPr/>
          <a:lstStyle/>
          <a:p>
            <a:pPr algn="l"/>
            <a:r>
              <a:rPr sz="4600" dirty="0">
                <a:latin typeface="Meiryo"/>
                <a:ea typeface="Meiryo"/>
                <a:cs typeface="Meiryo"/>
              </a:rPr>
              <a:t>5.2  基底関数の形</a:t>
            </a:r>
          </a:p>
        </p:txBody>
      </p:sp>
      <p:sp>
        <p:nvSpPr>
          <p:cNvPr id="12" name="Off-page Connector 4">
            <a:extLst>
              <a:ext uri="{FF2B5EF4-FFF2-40B4-BE49-F238E27FC236}">
                <a16:creationId xmlns:a16="http://schemas.microsoft.com/office/drawing/2014/main" id="{3833998A-457E-9517-AC51-7392B3AB9F9E}"/>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6FD1F6AC-8896-00EB-53CF-2549B9635C1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E90FE4E3-5BF5-4B02-139A-F3CEEC8A990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4D544DA-5DD1-5BFB-870D-BCC95FE8A73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3496B422-F550-0E29-8A22-385092E09242}"/>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a:extLst>
              <a:ext uri="{FF2B5EF4-FFF2-40B4-BE49-F238E27FC236}">
                <a16:creationId xmlns:a16="http://schemas.microsoft.com/office/drawing/2014/main" id="{791A7FE7-9F34-BABB-F951-C8EED51C1EBC}"/>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　／　44. Basso 2024</a:t>
            </a:r>
          </a:p>
        </p:txBody>
      </p:sp>
      <p:sp>
        <p:nvSpPr>
          <p:cNvPr id="18" name="TextBox 17">
            <a:extLst>
              <a:ext uri="{FF2B5EF4-FFF2-40B4-BE49-F238E27FC236}">
                <a16:creationId xmlns:a16="http://schemas.microsoft.com/office/drawing/2014/main" id="{F7170AA8-D267-0134-E8A6-0E5CF85D4AF0}"/>
              </a:ext>
            </a:extLst>
          </p:cNvPr>
          <p:cNvSpPr txBox="1"/>
          <p:nvPr/>
        </p:nvSpPr>
        <p:spPr>
          <a:xfrm>
            <a:off x="548640" y="2259871"/>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a:extLst>
              <a:ext uri="{FF2B5EF4-FFF2-40B4-BE49-F238E27FC236}">
                <a16:creationId xmlns:a16="http://schemas.microsoft.com/office/drawing/2014/main" id="{7CE107D5-1BA4-3200-A36B-7648D710D64D}"/>
              </a:ext>
            </a:extLst>
          </p:cNvPr>
          <p:cNvSpPr/>
          <p:nvPr/>
        </p:nvSpPr>
        <p:spPr>
          <a:xfrm>
            <a:off x="777240" y="2735359"/>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a:extLst>
              <a:ext uri="{FF2B5EF4-FFF2-40B4-BE49-F238E27FC236}">
                <a16:creationId xmlns:a16="http://schemas.microsoft.com/office/drawing/2014/main" id="{A541E21D-3657-A2CE-3494-58917D18142A}"/>
              </a:ext>
            </a:extLst>
          </p:cNvPr>
          <p:cNvCxnSpPr/>
          <p:nvPr/>
        </p:nvCxnSpPr>
        <p:spPr>
          <a:xfrm>
            <a:off x="77724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90670FD-9CB6-E3A0-FE2C-E93F1F4CC189}"/>
              </a:ext>
            </a:extLst>
          </p:cNvPr>
          <p:cNvSpPr txBox="1"/>
          <p:nvPr/>
        </p:nvSpPr>
        <p:spPr>
          <a:xfrm>
            <a:off x="64008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a:extLst>
              <a:ext uri="{FF2B5EF4-FFF2-40B4-BE49-F238E27FC236}">
                <a16:creationId xmlns:a16="http://schemas.microsoft.com/office/drawing/2014/main" id="{A52898C0-09C2-0C77-4126-D7433F350FBB}"/>
              </a:ext>
            </a:extLst>
          </p:cNvPr>
          <p:cNvSpPr txBox="1"/>
          <p:nvPr/>
        </p:nvSpPr>
        <p:spPr>
          <a:xfrm>
            <a:off x="4389120" y="2259871"/>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a:extLst>
              <a:ext uri="{FF2B5EF4-FFF2-40B4-BE49-F238E27FC236}">
                <a16:creationId xmlns:a16="http://schemas.microsoft.com/office/drawing/2014/main" id="{0A688535-C768-759F-D813-57F73C13B208}"/>
              </a:ext>
            </a:extLst>
          </p:cNvPr>
          <p:cNvSpPr/>
          <p:nvPr/>
        </p:nvSpPr>
        <p:spPr>
          <a:xfrm>
            <a:off x="4617720" y="2735359"/>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a:extLst>
              <a:ext uri="{FF2B5EF4-FFF2-40B4-BE49-F238E27FC236}">
                <a16:creationId xmlns:a16="http://schemas.microsoft.com/office/drawing/2014/main" id="{E1D9305B-4CA5-3329-25D8-D6FD1F59071E}"/>
              </a:ext>
            </a:extLst>
          </p:cNvPr>
          <p:cNvCxnSpPr/>
          <p:nvPr/>
        </p:nvCxnSpPr>
        <p:spPr>
          <a:xfrm>
            <a:off x="461772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F175083-A54C-952A-ACCE-CD43F6A45651}"/>
              </a:ext>
            </a:extLst>
          </p:cNvPr>
          <p:cNvSpPr txBox="1"/>
          <p:nvPr/>
        </p:nvSpPr>
        <p:spPr>
          <a:xfrm>
            <a:off x="448056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a:extLst>
              <a:ext uri="{FF2B5EF4-FFF2-40B4-BE49-F238E27FC236}">
                <a16:creationId xmlns:a16="http://schemas.microsoft.com/office/drawing/2014/main" id="{E32F5BC0-B2E6-B7F2-540D-15B9EE5C1E43}"/>
              </a:ext>
            </a:extLst>
          </p:cNvPr>
          <p:cNvSpPr txBox="1"/>
          <p:nvPr/>
        </p:nvSpPr>
        <p:spPr>
          <a:xfrm>
            <a:off x="8229600" y="2259871"/>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a:extLst>
              <a:ext uri="{FF2B5EF4-FFF2-40B4-BE49-F238E27FC236}">
                <a16:creationId xmlns:a16="http://schemas.microsoft.com/office/drawing/2014/main" id="{ED0DE803-E607-5A8F-2A34-6FE1596CAA47}"/>
              </a:ext>
            </a:extLst>
          </p:cNvPr>
          <p:cNvSpPr/>
          <p:nvPr/>
        </p:nvSpPr>
        <p:spPr>
          <a:xfrm>
            <a:off x="8458200" y="2735359"/>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a:extLst>
              <a:ext uri="{FF2B5EF4-FFF2-40B4-BE49-F238E27FC236}">
                <a16:creationId xmlns:a16="http://schemas.microsoft.com/office/drawing/2014/main" id="{BDA5D69C-5DA3-185C-C483-D28948C96F68}"/>
              </a:ext>
            </a:extLst>
          </p:cNvPr>
          <p:cNvCxnSpPr/>
          <p:nvPr/>
        </p:nvCxnSpPr>
        <p:spPr>
          <a:xfrm>
            <a:off x="845820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4922340-E2D9-7A33-D201-691CCBDECFBE}"/>
              </a:ext>
            </a:extLst>
          </p:cNvPr>
          <p:cNvSpPr txBox="1"/>
          <p:nvPr/>
        </p:nvSpPr>
        <p:spPr>
          <a:xfrm>
            <a:off x="8321040" y="4225831"/>
            <a:ext cx="3200400" cy="1143903"/>
          </a:xfrm>
          <a:prstGeom prst="rect">
            <a:avLst/>
          </a:prstGeom>
          <a:noFill/>
        </p:spPr>
        <p:txBody>
          <a:bodyPr wrap="square" lIns="0" tIns="0" rIns="0" bIns="0" anchor="t">
            <a:spAutoFit/>
          </a:bodyPr>
          <a:lstStyle/>
          <a:p>
            <a:pPr algn="ctr">
              <a:spcAft>
                <a:spcPts val="500"/>
              </a:spcAft>
            </a:pPr>
            <a:r>
              <a:rPr sz="2200" b="0" dirty="0" err="1">
                <a:solidFill>
                  <a:srgbClr val="262626"/>
                </a:solidFill>
                <a:latin typeface="Meiryo"/>
                <a:ea typeface="Meiryo"/>
                <a:cs typeface="Meiryo"/>
              </a:rPr>
              <a:t>対称形に歪みを</a:t>
            </a:r>
            <a:r>
              <a:rPr lang="ja-JP" altLang="en-US" sz="2200">
                <a:solidFill>
                  <a:srgbClr val="262626"/>
                </a:solidFill>
                <a:latin typeface="Meiryo"/>
                <a:ea typeface="Meiryo"/>
                <a:cs typeface="Meiryo"/>
              </a:rPr>
              <a:t>足す</a:t>
            </a:r>
            <a:endParaRPr sz="2200" b="0" dirty="0">
              <a:solidFill>
                <a:srgbClr val="262626"/>
              </a:solidFill>
              <a:latin typeface="Meiryo"/>
              <a:ea typeface="Meiryo"/>
              <a:cs typeface="Meiryo"/>
            </a:endParaRPr>
          </a:p>
          <a:p>
            <a:pPr algn="ctr">
              <a:spcAft>
                <a:spcPts val="500"/>
              </a:spcAft>
            </a:pPr>
            <a:r>
              <a:rPr lang="ja-JP" altLang="en-US" sz="2200">
                <a:solidFill>
                  <a:srgbClr val="262626"/>
                </a:solidFill>
                <a:latin typeface="Meiryo"/>
                <a:ea typeface="Meiryo"/>
                <a:cs typeface="Meiryo"/>
              </a:rPr>
              <a:t>頂点の位置や幅といった</a:t>
            </a:r>
            <a:endParaRPr lang="en-US" altLang="ja-JP" sz="2200" dirty="0">
              <a:solidFill>
                <a:srgbClr val="262626"/>
              </a:solidFill>
              <a:latin typeface="Meiryo"/>
              <a:ea typeface="Meiryo"/>
              <a:cs typeface="Meiryo"/>
            </a:endParaRPr>
          </a:p>
          <a:p>
            <a:pPr algn="ctr">
              <a:spcAft>
                <a:spcPts val="500"/>
              </a:spcAft>
            </a:pPr>
            <a:r>
              <a:rPr lang="ja-JP" altLang="en-US" sz="2200" b="0">
                <a:solidFill>
                  <a:srgbClr val="262626"/>
                </a:solidFill>
                <a:latin typeface="Meiryo"/>
                <a:ea typeface="Meiryo"/>
                <a:cs typeface="Meiryo"/>
              </a:rPr>
              <a:t>意味が保たれやすい</a:t>
            </a:r>
            <a:endParaRPr sz="2200" b="0" dirty="0">
              <a:solidFill>
                <a:srgbClr val="262626"/>
              </a:solidFill>
              <a:latin typeface="Meiryo"/>
              <a:ea typeface="Meiryo"/>
              <a:cs typeface="Meiryo"/>
            </a:endParaRPr>
          </a:p>
        </p:txBody>
      </p:sp>
      <p:sp>
        <p:nvSpPr>
          <p:cNvPr id="29" name="PageNo">
            <a:extLst>
              <a:ext uri="{FF2B5EF4-FFF2-40B4-BE49-F238E27FC236}">
                <a16:creationId xmlns:a16="http://schemas.microsoft.com/office/drawing/2014/main" id="{95549798-D60B-80BD-C801-3F5B2F2F1363}"/>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48/71</a:t>
            </a:r>
          </a:p>
        </p:txBody>
      </p:sp>
    </p:spTree>
    <p:extLst>
      <p:ext uri="{BB962C8B-B14F-4D97-AF65-F5344CB8AC3E}">
        <p14:creationId xmlns:p14="http://schemas.microsoft.com/office/powerpoint/2010/main" val="15649611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a:t>
            </a:r>
            <a:r>
              <a:rPr lang="ja-JP" altLang="en-US" sz="4600">
                <a:latin typeface="Meiryo"/>
                <a:ea typeface="Meiryo"/>
                <a:cs typeface="Meiryo"/>
              </a:rPr>
              <a:t>カーネル数</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a:t>
            </a:r>
          </a:p>
        </p:txBody>
      </p:sp>
      <p:sp>
        <p:nvSpPr>
          <p:cNvPr id="30" name="TextBox 29"/>
          <p:cNvSpPr txBox="1"/>
          <p:nvPr/>
        </p:nvSpPr>
        <p:spPr>
          <a:xfrm>
            <a:off x="502920" y="1691640"/>
            <a:ext cx="11201400" cy="411480"/>
          </a:xfrm>
          <a:prstGeom prst="rect">
            <a:avLst/>
          </a:prstGeom>
          <a:noFill/>
        </p:spPr>
        <p:txBody>
          <a:bodyPr wrap="square" lIns="0" tIns="0" rIns="0" bIns="0" anchor="t">
            <a:spAutoFit/>
          </a:bodyPr>
          <a:lstStyle/>
          <a:p>
            <a:pPr algn="l"/>
            <a:r>
              <a:rPr sz="2400" b="1">
                <a:solidFill>
                  <a:srgbClr val="808080"/>
                </a:solidFill>
                <a:latin typeface="Meiryo"/>
                <a:ea typeface="Meiryo"/>
                <a:cs typeface="Meiryo"/>
              </a:rPr>
              <a:t>カーネル ＝ 当てはめに使う成分波 1 本 1 本</a:t>
            </a:r>
          </a:p>
        </p:txBody>
      </p:sp>
      <p:sp>
        <p:nvSpPr>
          <p:cNvPr id="31" name="Rounded Rectangle 30"/>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p:cNvSpPr txBox="1"/>
          <p:nvPr/>
        </p:nvSpPr>
        <p:spPr>
          <a:xfrm>
            <a:off x="612648"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前進波 ＋ 反射波</a:t>
            </a:r>
          </a:p>
          <a:p>
            <a:pPr algn="ctr">
              <a:spcAft>
                <a:spcPts val="400"/>
              </a:spcAft>
            </a:pPr>
            <a:r>
              <a:rPr sz="2200" b="0">
                <a:solidFill>
                  <a:srgbClr val="262626"/>
                </a:solidFill>
                <a:latin typeface="Meiryo"/>
                <a:ea typeface="Meiryo"/>
                <a:cs typeface="Meiryo"/>
              </a:rPr>
              <a:t>解釈がはっきりする</a:t>
            </a:r>
          </a:p>
          <a:p>
            <a:pPr algn="ctr">
              <a:spcAft>
                <a:spcPts val="400"/>
              </a:spcAft>
            </a:pPr>
            <a:r>
              <a:rPr sz="2200" b="0">
                <a:solidFill>
                  <a:srgbClr val="262626"/>
                </a:solidFill>
                <a:latin typeface="Meiryo"/>
                <a:ea typeface="Meiryo"/>
                <a:cs typeface="Meiryo"/>
              </a:rPr>
              <a:t>ノイズに強い</a:t>
            </a:r>
          </a:p>
        </p:txBody>
      </p:sp>
      <p:sp>
        <p:nvSpPr>
          <p:cNvPr id="34" name="TextBox 33"/>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p:cNvSpPr txBox="1"/>
          <p:nvPr/>
        </p:nvSpPr>
        <p:spPr>
          <a:xfrm>
            <a:off x="4416552"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反射が複数回戻ると</a:t>
            </a:r>
          </a:p>
          <a:p>
            <a:pPr algn="ctr">
              <a:spcAft>
                <a:spcPts val="400"/>
              </a:spcAft>
            </a:pPr>
            <a:r>
              <a:rPr sz="2200" b="0">
                <a:solidFill>
                  <a:srgbClr val="262626"/>
                </a:solidFill>
                <a:latin typeface="Meiryo"/>
                <a:ea typeface="Meiryo"/>
                <a:cs typeface="Meiryo"/>
              </a:rPr>
              <a:t>みなす</a:t>
            </a:r>
          </a:p>
          <a:p>
            <a:pPr algn="ctr">
              <a:spcAft>
                <a:spcPts val="400"/>
              </a:spcAft>
            </a:pPr>
            <a:r>
              <a:rPr sz="2200" b="0">
                <a:solidFill>
                  <a:srgbClr val="262626"/>
                </a:solidFill>
                <a:latin typeface="Meiryo"/>
                <a:ea typeface="Meiryo"/>
                <a:cs typeface="Meiryo"/>
              </a:rPr>
              <a:t>当てはまりは良い</a:t>
            </a:r>
          </a:p>
        </p:txBody>
      </p:sp>
      <p:sp>
        <p:nvSpPr>
          <p:cNvPr id="38" name="TextBox 37"/>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247888" y="2423160"/>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もっと多い</a:t>
            </a:r>
          </a:p>
        </p:txBody>
      </p:sp>
      <p:sp>
        <p:nvSpPr>
          <p:cNvPr id="41" name="TextBox 40"/>
          <p:cNvSpPr txBox="1"/>
          <p:nvPr/>
        </p:nvSpPr>
        <p:spPr>
          <a:xfrm>
            <a:off x="8220456"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残差はいくらでも</a:t>
            </a:r>
          </a:p>
          <a:p>
            <a:pPr algn="ctr">
              <a:spcAft>
                <a:spcPts val="400"/>
              </a:spcAft>
            </a:pPr>
            <a:r>
              <a:rPr sz="2200" b="0">
                <a:solidFill>
                  <a:srgbClr val="262626"/>
                </a:solidFill>
                <a:latin typeface="Meiryo"/>
                <a:ea typeface="Meiryo"/>
                <a:cs typeface="Meiryo"/>
              </a:rPr>
              <a:t>小さくできるが</a:t>
            </a:r>
          </a:p>
          <a:p>
            <a:pPr algn="ctr">
              <a:spcAft>
                <a:spcPts val="400"/>
              </a:spcAft>
            </a:pPr>
            <a:r>
              <a:rPr sz="2200" b="0">
                <a:solidFill>
                  <a:srgbClr val="262626"/>
                </a:solidFill>
                <a:latin typeface="Meiryo"/>
                <a:ea typeface="Meiryo"/>
                <a:cs typeface="Meiryo"/>
              </a:rPr>
              <a:t>解が定まらない</a:t>
            </a:r>
          </a:p>
        </p:txBody>
      </p:sp>
      <p:sp>
        <p:nvSpPr>
          <p:cNvPr id="42" name="TextBox 41"/>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85800" y="5248656"/>
            <a:ext cx="10835640" cy="731520"/>
          </a:xfrm>
          <a:prstGeom prst="rect">
            <a:avLst/>
          </a:prstGeom>
          <a:noFill/>
        </p:spPr>
        <p:txBody>
          <a:bodyPr wrap="square" lIns="0" tIns="0" rIns="0" bIns="0" anchor="t">
            <a:spAutoFit/>
          </a:bodyPr>
          <a:lstStyle/>
          <a:p>
            <a:pPr algn="ctr">
              <a:spcAft>
                <a:spcPts val="300"/>
              </a:spcAft>
            </a:pPr>
            <a:r>
              <a:rPr sz="2400" b="1">
                <a:solidFill>
                  <a:srgbClr val="262626"/>
                </a:solidFill>
                <a:latin typeface="Meiryo"/>
                <a:ea typeface="Meiryo"/>
                <a:cs typeface="Meiryo"/>
              </a:rPr>
              <a:t>本数を増やせば残差は小さくなるが、解が一意でなくなる</a:t>
            </a:r>
          </a:p>
          <a:p>
            <a:pPr algn="ctr">
              <a:spcAft>
                <a:spcPts val="300"/>
              </a:spcAft>
            </a:pPr>
            <a:r>
              <a:rPr sz="2400" b="1">
                <a:solidFill>
                  <a:srgbClr val="262626"/>
                </a:solidFill>
                <a:latin typeface="Meiryo"/>
                <a:ea typeface="Meiryo"/>
                <a:cs typeface="Meiryo"/>
              </a:rPr>
              <a:t>カーネル 2 本がもっとも頑健という報告が複数ある</a:t>
            </a:r>
          </a:p>
        </p:txBody>
      </p:sp>
      <p:sp>
        <p:nvSpPr>
          <p:cNvPr id="4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49/71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2E97-FD86-89BC-9E40-3D844B695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8BAA0-C300-1338-66CD-A25E11D77395}"/>
              </a:ext>
            </a:extLst>
          </p:cNvPr>
          <p:cNvSpPr>
            <a:spLocks noGrp="1"/>
          </p:cNvSpPr>
          <p:nvPr>
            <p:ph type="title"/>
          </p:nvPr>
        </p:nvSpPr>
        <p:spPr/>
        <p:txBody>
          <a:bodyPr/>
          <a:lstStyle/>
          <a:p>
            <a:pPr algn="l"/>
            <a:r>
              <a:rPr sz="4600" dirty="0">
                <a:latin typeface="Meiryo"/>
                <a:ea typeface="Meiryo"/>
                <a:cs typeface="Meiryo"/>
              </a:rPr>
              <a:t>5.2  </a:t>
            </a:r>
            <a:r>
              <a:rPr lang="ja-JP" altLang="en-US" sz="4600">
                <a:latin typeface="Meiryo"/>
                <a:ea typeface="Meiryo"/>
                <a:cs typeface="Meiryo"/>
              </a:rPr>
              <a:t>カーネル数</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C9E0CD2C-19B9-290D-A5DD-CDE25A0C83F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0D8DDD64-B24A-6EB3-6744-6744F8A91EB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8E90A1E-C929-9B79-CB1B-5077C642DC0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FB52B431-A852-C6D2-4A6A-A982C5CDC54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9CBA59A6-0DF5-438F-7823-2883C905A9A4}"/>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4A79E67F-B058-1420-ABEB-F5967EADE170}"/>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a:t>
            </a:r>
          </a:p>
        </p:txBody>
      </p:sp>
      <p:sp>
        <p:nvSpPr>
          <p:cNvPr id="31" name="Rounded Rectangle 30">
            <a:extLst>
              <a:ext uri="{FF2B5EF4-FFF2-40B4-BE49-F238E27FC236}">
                <a16:creationId xmlns:a16="http://schemas.microsoft.com/office/drawing/2014/main" id="{A95E1915-411C-BBFF-7024-2E42B82CDA0C}"/>
              </a:ext>
            </a:extLst>
          </p:cNvPr>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EFFEE4A-30A1-22B8-0D9C-A917263018AD}"/>
              </a:ext>
            </a:extLst>
          </p:cNvPr>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a:extLst>
              <a:ext uri="{FF2B5EF4-FFF2-40B4-BE49-F238E27FC236}">
                <a16:creationId xmlns:a16="http://schemas.microsoft.com/office/drawing/2014/main" id="{D6572F29-EF6B-6F34-6C3E-D08DB7C870CD}"/>
              </a:ext>
            </a:extLst>
          </p:cNvPr>
          <p:cNvSpPr txBox="1"/>
          <p:nvPr/>
        </p:nvSpPr>
        <p:spPr>
          <a:xfrm>
            <a:off x="612648"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前進波</a:t>
            </a:r>
            <a:r>
              <a:rPr sz="2200" b="0" dirty="0">
                <a:solidFill>
                  <a:srgbClr val="262626"/>
                </a:solidFill>
                <a:latin typeface="Meiryo"/>
                <a:ea typeface="Meiryo"/>
                <a:cs typeface="Meiryo"/>
              </a:rPr>
              <a:t> ＋ </a:t>
            </a:r>
            <a:r>
              <a:rPr sz="2200" b="0" dirty="0" err="1">
                <a:solidFill>
                  <a:srgbClr val="262626"/>
                </a:solidFill>
                <a:latin typeface="Meiryo"/>
                <a:ea typeface="Meiryo"/>
                <a:cs typeface="Meiryo"/>
              </a:rPr>
              <a:t>反射波</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解釈がはっきりする</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ノイズに強い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4" name="TextBox 33">
            <a:extLst>
              <a:ext uri="{FF2B5EF4-FFF2-40B4-BE49-F238E27FC236}">
                <a16:creationId xmlns:a16="http://schemas.microsoft.com/office/drawing/2014/main" id="{3411C040-6134-7A41-60FA-F972649B0155}"/>
              </a:ext>
            </a:extLst>
          </p:cNvPr>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a:extLst>
              <a:ext uri="{FF2B5EF4-FFF2-40B4-BE49-F238E27FC236}">
                <a16:creationId xmlns:a16="http://schemas.microsoft.com/office/drawing/2014/main" id="{42608DC1-FA05-609C-A861-E753F8668473}"/>
              </a:ext>
            </a:extLst>
          </p:cNvPr>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a:extLst>
              <a:ext uri="{FF2B5EF4-FFF2-40B4-BE49-F238E27FC236}">
                <a16:creationId xmlns:a16="http://schemas.microsoft.com/office/drawing/2014/main" id="{4FEB43BB-95B2-A27B-F5CE-83052F26CA33}"/>
              </a:ext>
            </a:extLst>
          </p:cNvPr>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a:extLst>
              <a:ext uri="{FF2B5EF4-FFF2-40B4-BE49-F238E27FC236}">
                <a16:creationId xmlns:a16="http://schemas.microsoft.com/office/drawing/2014/main" id="{9269C179-15EA-DE8D-8DE6-3BCB5A663BD7}"/>
              </a:ext>
            </a:extLst>
          </p:cNvPr>
          <p:cNvSpPr txBox="1"/>
          <p:nvPr/>
        </p:nvSpPr>
        <p:spPr>
          <a:xfrm>
            <a:off x="4416552"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反射が複数回戻ると</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みなす</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当てはまりは良い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8" name="TextBox 37">
            <a:extLst>
              <a:ext uri="{FF2B5EF4-FFF2-40B4-BE49-F238E27FC236}">
                <a16:creationId xmlns:a16="http://schemas.microsoft.com/office/drawing/2014/main" id="{B4D79022-9F78-EEE6-6DD3-41AF1A5CA922}"/>
              </a:ext>
            </a:extLst>
          </p:cNvPr>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a:extLst>
              <a:ext uri="{FF2B5EF4-FFF2-40B4-BE49-F238E27FC236}">
                <a16:creationId xmlns:a16="http://schemas.microsoft.com/office/drawing/2014/main" id="{9744C5AD-C28B-24E3-F38C-FB3E8BB1BAF2}"/>
              </a:ext>
            </a:extLst>
          </p:cNvPr>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57463DA3-D3A8-358B-4B01-A0D8F9A0BAD2}"/>
              </a:ext>
            </a:extLst>
          </p:cNvPr>
          <p:cNvSpPr txBox="1"/>
          <p:nvPr/>
        </p:nvSpPr>
        <p:spPr>
          <a:xfrm>
            <a:off x="8247888" y="2423160"/>
            <a:ext cx="3255264" cy="415498"/>
          </a:xfrm>
          <a:prstGeom prst="rect">
            <a:avLst/>
          </a:prstGeom>
          <a:noFill/>
        </p:spPr>
        <p:txBody>
          <a:bodyPr wrap="square" lIns="0" tIns="0" rIns="0" bIns="0" anchor="t">
            <a:spAutoFit/>
          </a:bodyPr>
          <a:lstStyle/>
          <a:p>
            <a:pPr algn="ctr"/>
            <a:r>
              <a:rPr lang="en-US" altLang="ja-JP" sz="2700" b="1" dirty="0">
                <a:solidFill>
                  <a:srgbClr val="D55E00"/>
                </a:solidFill>
                <a:latin typeface="Meiryo"/>
                <a:ea typeface="Meiryo"/>
                <a:cs typeface="Meiryo"/>
              </a:rPr>
              <a:t>6</a:t>
            </a:r>
            <a:r>
              <a:rPr lang="ja-JP" altLang="en-US" sz="2700" b="1">
                <a:solidFill>
                  <a:srgbClr val="D55E00"/>
                </a:solidFill>
                <a:latin typeface="Meiryo"/>
                <a:ea typeface="Meiryo"/>
                <a:cs typeface="Meiryo"/>
              </a:rPr>
              <a:t>本以上</a:t>
            </a:r>
            <a:endParaRPr sz="2700" b="1" dirty="0">
              <a:solidFill>
                <a:srgbClr val="D55E00"/>
              </a:solidFill>
              <a:latin typeface="Meiryo"/>
              <a:ea typeface="Meiryo"/>
              <a:cs typeface="Meiryo"/>
            </a:endParaRPr>
          </a:p>
        </p:txBody>
      </p:sp>
      <p:sp>
        <p:nvSpPr>
          <p:cNvPr id="41" name="TextBox 40">
            <a:extLst>
              <a:ext uri="{FF2B5EF4-FFF2-40B4-BE49-F238E27FC236}">
                <a16:creationId xmlns:a16="http://schemas.microsoft.com/office/drawing/2014/main" id="{2A9B0B9E-0ABE-2D28-A0BE-9D4B60AC99B7}"/>
              </a:ext>
            </a:extLst>
          </p:cNvPr>
          <p:cNvSpPr txBox="1"/>
          <p:nvPr/>
        </p:nvSpPr>
        <p:spPr>
          <a:xfrm>
            <a:off x="8220456"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残差はいくらでも</a:t>
            </a:r>
          </a:p>
          <a:p>
            <a:pPr algn="ctr">
              <a:spcAft>
                <a:spcPts val="400"/>
              </a:spcAft>
            </a:pPr>
            <a:r>
              <a:rPr sz="2200" b="0">
                <a:solidFill>
                  <a:srgbClr val="262626"/>
                </a:solidFill>
                <a:latin typeface="Meiryo"/>
                <a:ea typeface="Meiryo"/>
                <a:cs typeface="Meiryo"/>
              </a:rPr>
              <a:t>小さくできるが</a:t>
            </a:r>
          </a:p>
          <a:p>
            <a:pPr algn="ctr">
              <a:spcAft>
                <a:spcPts val="400"/>
              </a:spcAft>
            </a:pPr>
            <a:r>
              <a:rPr sz="2200" b="0">
                <a:solidFill>
                  <a:srgbClr val="262626"/>
                </a:solidFill>
                <a:latin typeface="Meiryo"/>
                <a:ea typeface="Meiryo"/>
                <a:cs typeface="Meiryo"/>
              </a:rPr>
              <a:t>解が定まらない</a:t>
            </a:r>
          </a:p>
        </p:txBody>
      </p:sp>
      <p:sp>
        <p:nvSpPr>
          <p:cNvPr id="42" name="TextBox 41">
            <a:extLst>
              <a:ext uri="{FF2B5EF4-FFF2-40B4-BE49-F238E27FC236}">
                <a16:creationId xmlns:a16="http://schemas.microsoft.com/office/drawing/2014/main" id="{F95EBEB7-8EEC-6C5D-AA68-DDA11F54812B}"/>
              </a:ext>
            </a:extLst>
          </p:cNvPr>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a:extLst>
              <a:ext uri="{FF2B5EF4-FFF2-40B4-BE49-F238E27FC236}">
                <a16:creationId xmlns:a16="http://schemas.microsoft.com/office/drawing/2014/main" id="{4744AEBD-8016-06E9-6521-FE10F73D4EA6}"/>
              </a:ext>
            </a:extLst>
          </p:cNvPr>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BE942A84-6E8B-1210-0C06-4286F0CCD0E8}"/>
              </a:ext>
            </a:extLst>
          </p:cNvPr>
          <p:cNvSpPr txBox="1"/>
          <p:nvPr/>
        </p:nvSpPr>
        <p:spPr>
          <a:xfrm>
            <a:off x="685800" y="5248656"/>
            <a:ext cx="10835640" cy="777136"/>
          </a:xfrm>
          <a:prstGeom prst="rect">
            <a:avLst/>
          </a:prstGeom>
          <a:noFill/>
        </p:spPr>
        <p:txBody>
          <a:bodyPr wrap="square" lIns="0" tIns="0" rIns="0" bIns="0" anchor="t">
            <a:spAutoFit/>
          </a:bodyPr>
          <a:lstStyle/>
          <a:p>
            <a:pPr algn="ctr">
              <a:spcAft>
                <a:spcPts val="300"/>
              </a:spcAft>
            </a:pPr>
            <a:r>
              <a:rPr sz="2400" b="1" dirty="0" err="1">
                <a:solidFill>
                  <a:srgbClr val="262626"/>
                </a:solidFill>
                <a:latin typeface="Meiryo"/>
                <a:ea typeface="Meiryo"/>
                <a:cs typeface="Meiryo"/>
              </a:rPr>
              <a:t>本数を増やせば</a:t>
            </a:r>
            <a:r>
              <a:rPr lang="ja-JP" altLang="en-US" sz="2400" b="1">
                <a:solidFill>
                  <a:srgbClr val="262626"/>
                </a:solidFill>
                <a:latin typeface="Meiryo"/>
                <a:ea typeface="Meiryo"/>
                <a:cs typeface="Meiryo"/>
              </a:rPr>
              <a:t>よく近似できる</a:t>
            </a:r>
            <a:r>
              <a:rPr sz="2400" b="1" dirty="0" err="1">
                <a:solidFill>
                  <a:srgbClr val="262626"/>
                </a:solidFill>
                <a:latin typeface="Meiryo"/>
                <a:ea typeface="Meiryo"/>
                <a:cs typeface="Meiryo"/>
              </a:rPr>
              <a:t>が、解が一意でなくなる</a:t>
            </a:r>
            <a:r>
              <a:rPr lang="ja-JP" altLang="en-US" sz="2400" b="1">
                <a:solidFill>
                  <a:srgbClr val="262626"/>
                </a:solidFill>
                <a:latin typeface="Meiryo"/>
                <a:ea typeface="Meiryo"/>
                <a:cs typeface="Meiryo"/>
              </a:rPr>
              <a:t>。</a:t>
            </a:r>
            <a:endParaRPr sz="2400" b="1" dirty="0">
              <a:solidFill>
                <a:srgbClr val="262626"/>
              </a:solidFill>
              <a:latin typeface="Meiryo"/>
              <a:ea typeface="Meiryo"/>
              <a:cs typeface="Meiryo"/>
            </a:endParaRPr>
          </a:p>
          <a:p>
            <a:pPr algn="ctr">
              <a:spcAft>
                <a:spcPts val="300"/>
              </a:spcAft>
            </a:pPr>
            <a:r>
              <a:rPr lang="ja-JP" altLang="en-US" sz="2400" b="1">
                <a:solidFill>
                  <a:srgbClr val="262626"/>
                </a:solidFill>
                <a:latin typeface="Meiryo"/>
                <a:ea typeface="Meiryo"/>
                <a:cs typeface="Meiryo"/>
              </a:rPr>
              <a:t>バランスが良いモデルを評価する基準がある。</a:t>
            </a:r>
            <a:endParaRPr sz="2400" b="1" dirty="0">
              <a:solidFill>
                <a:srgbClr val="262626"/>
              </a:solidFill>
              <a:latin typeface="Meiryo"/>
              <a:ea typeface="Meiryo"/>
              <a:cs typeface="Meiryo"/>
            </a:endParaRPr>
          </a:p>
        </p:txBody>
      </p:sp>
      <p:sp>
        <p:nvSpPr>
          <p:cNvPr id="45" name="PageNo">
            <a:extLst>
              <a:ext uri="{FF2B5EF4-FFF2-40B4-BE49-F238E27FC236}">
                <a16:creationId xmlns:a16="http://schemas.microsoft.com/office/drawing/2014/main" id="{2D1C4157-71B4-AFE4-950B-4DF0587584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49/71</a:t>
            </a:r>
          </a:p>
        </p:txBody>
      </p:sp>
    </p:spTree>
    <p:extLst>
      <p:ext uri="{BB962C8B-B14F-4D97-AF65-F5344CB8AC3E}">
        <p14:creationId xmlns:p14="http://schemas.microsoft.com/office/powerpoint/2010/main" val="30374790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5.3  当てはめの手順</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42. Couceiro 2015　／　43. Tigges 2017</a:t>
            </a:r>
          </a:p>
        </p:txBody>
      </p:sp>
      <p:sp>
        <p:nvSpPr>
          <p:cNvPr id="18" name="Rounded Rectangle 17"/>
          <p:cNvSpPr/>
          <p:nvPr/>
        </p:nvSpPr>
        <p:spPr>
          <a:xfrm>
            <a:off x="411480" y="1783080"/>
            <a:ext cx="2761488" cy="32461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48640" y="1938528"/>
            <a:ext cx="2487168" cy="597121"/>
          </a:xfrm>
          <a:prstGeom prst="rect">
            <a:avLst/>
          </a:prstGeom>
          <a:noFill/>
        </p:spPr>
        <p:txBody>
          <a:bodyPr wrap="square" lIns="0" tIns="0" rIns="0" bIns="0" anchor="t">
            <a:spAutoFit/>
          </a:bodyPr>
          <a:lstStyle/>
          <a:p>
            <a:pPr algn="ctr"/>
            <a:r>
              <a:rPr sz="2800" b="1">
                <a:solidFill>
                  <a:srgbClr val="0072B2"/>
                </a:solidFill>
                <a:latin typeface="Meiryo"/>
                <a:ea typeface="Meiryo"/>
                <a:cs typeface="Meiryo"/>
              </a:rPr>
              <a:t>①</a:t>
            </a:r>
          </a:p>
        </p:txBody>
      </p:sp>
      <p:sp>
        <p:nvSpPr>
          <p:cNvPr id="20" name="TextBox 19"/>
          <p:cNvSpPr txBox="1"/>
          <p:nvPr/>
        </p:nvSpPr>
        <p:spPr>
          <a:xfrm>
            <a:off x="548640" y="2468880"/>
            <a:ext cx="2487168" cy="52303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波を切り出す</a:t>
            </a:r>
          </a:p>
        </p:txBody>
      </p:sp>
      <p:sp>
        <p:nvSpPr>
          <p:cNvPr id="21" name="TextBox 20"/>
          <p:cNvSpPr txBox="1"/>
          <p:nvPr/>
        </p:nvSpPr>
        <p:spPr>
          <a:xfrm>
            <a:off x="502920"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一拍ごとに</a:t>
            </a:r>
          </a:p>
          <a:p>
            <a:pPr algn="ctr">
              <a:spcAft>
                <a:spcPts val="600"/>
              </a:spcAft>
            </a:pPr>
            <a:r>
              <a:rPr sz="2200" b="0">
                <a:solidFill>
                  <a:srgbClr val="262626"/>
                </a:solidFill>
                <a:latin typeface="Meiryo"/>
                <a:ea typeface="Meiryo"/>
                <a:cs typeface="Meiryo"/>
              </a:rPr>
              <a:t>取り出して</a:t>
            </a:r>
          </a:p>
          <a:p>
            <a:pPr algn="ctr">
              <a:spcAft>
                <a:spcPts val="600"/>
              </a:spcAft>
            </a:pPr>
            <a:r>
              <a:rPr sz="2200" b="0">
                <a:solidFill>
                  <a:srgbClr val="262626"/>
                </a:solidFill>
                <a:latin typeface="Meiryo"/>
                <a:ea typeface="Meiryo"/>
                <a:cs typeface="Meiryo"/>
              </a:rPr>
              <a:t>正規化する</a:t>
            </a:r>
          </a:p>
        </p:txBody>
      </p:sp>
      <p:sp>
        <p:nvSpPr>
          <p:cNvPr id="22" name="Right Arrow 21"/>
          <p:cNvSpPr/>
          <p:nvPr/>
        </p:nvSpPr>
        <p:spPr>
          <a:xfrm>
            <a:off x="3209544"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3300984" y="1783080"/>
            <a:ext cx="2761488" cy="32461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438144" y="1938528"/>
            <a:ext cx="2487168" cy="597121"/>
          </a:xfrm>
          <a:prstGeom prst="rect">
            <a:avLst/>
          </a:prstGeom>
          <a:noFill/>
        </p:spPr>
        <p:txBody>
          <a:bodyPr wrap="square" lIns="0" tIns="0" rIns="0" bIns="0" anchor="t">
            <a:spAutoFit/>
          </a:bodyPr>
          <a:lstStyle/>
          <a:p>
            <a:pPr algn="ctr"/>
            <a:r>
              <a:rPr sz="2800" b="1">
                <a:solidFill>
                  <a:srgbClr val="00A8AA"/>
                </a:solidFill>
                <a:latin typeface="Meiryo"/>
                <a:ea typeface="Meiryo"/>
                <a:cs typeface="Meiryo"/>
              </a:rPr>
              <a:t>②</a:t>
            </a:r>
          </a:p>
        </p:txBody>
      </p:sp>
      <p:sp>
        <p:nvSpPr>
          <p:cNvPr id="25" name="TextBox 24"/>
          <p:cNvSpPr txBox="1"/>
          <p:nvPr/>
        </p:nvSpPr>
        <p:spPr>
          <a:xfrm>
            <a:off x="3438144" y="2468880"/>
            <a:ext cx="2487168" cy="52303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成分波の形を決める</a:t>
            </a:r>
          </a:p>
        </p:txBody>
      </p:sp>
      <p:sp>
        <p:nvSpPr>
          <p:cNvPr id="26" name="TextBox 25"/>
          <p:cNvSpPr txBox="1"/>
          <p:nvPr/>
        </p:nvSpPr>
        <p:spPr>
          <a:xfrm>
            <a:off x="3392424"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ガウス関数など</a:t>
            </a:r>
          </a:p>
          <a:p>
            <a:pPr algn="ctr">
              <a:spcAft>
                <a:spcPts val="600"/>
              </a:spcAft>
            </a:pPr>
            <a:r>
              <a:rPr sz="2200" b="0">
                <a:solidFill>
                  <a:srgbClr val="262626"/>
                </a:solidFill>
                <a:latin typeface="Meiryo"/>
                <a:ea typeface="Meiryo"/>
                <a:cs typeface="Meiryo"/>
              </a:rPr>
              <a:t>基底関数の</a:t>
            </a:r>
          </a:p>
          <a:p>
            <a:pPr algn="ctr">
              <a:spcAft>
                <a:spcPts val="600"/>
              </a:spcAft>
            </a:pPr>
            <a:r>
              <a:rPr sz="2200" b="0">
                <a:solidFill>
                  <a:srgbClr val="262626"/>
                </a:solidFill>
                <a:latin typeface="Meiryo"/>
                <a:ea typeface="Meiryo"/>
                <a:cs typeface="Meiryo"/>
              </a:rPr>
              <a:t>種類と個数</a:t>
            </a:r>
          </a:p>
        </p:txBody>
      </p:sp>
      <p:sp>
        <p:nvSpPr>
          <p:cNvPr id="27" name="Right Arrow 26"/>
          <p:cNvSpPr/>
          <p:nvPr/>
        </p:nvSpPr>
        <p:spPr>
          <a:xfrm>
            <a:off x="6099048"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6190488" y="1783080"/>
            <a:ext cx="2761488" cy="324612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327648" y="1938528"/>
            <a:ext cx="2487168" cy="597121"/>
          </a:xfrm>
          <a:prstGeom prst="rect">
            <a:avLst/>
          </a:prstGeom>
          <a:noFill/>
        </p:spPr>
        <p:txBody>
          <a:bodyPr wrap="square" lIns="0" tIns="0" rIns="0" bIns="0" anchor="t">
            <a:spAutoFit/>
          </a:bodyPr>
          <a:lstStyle/>
          <a:p>
            <a:pPr algn="ctr"/>
            <a:r>
              <a:rPr sz="2800" b="1">
                <a:solidFill>
                  <a:srgbClr val="BF9000"/>
                </a:solidFill>
                <a:latin typeface="Meiryo"/>
                <a:ea typeface="Meiryo"/>
                <a:cs typeface="Meiryo"/>
              </a:rPr>
              <a:t>③</a:t>
            </a:r>
          </a:p>
        </p:txBody>
      </p:sp>
      <p:sp>
        <p:nvSpPr>
          <p:cNvPr id="30" name="TextBox 29"/>
          <p:cNvSpPr txBox="1"/>
          <p:nvPr/>
        </p:nvSpPr>
        <p:spPr>
          <a:xfrm>
            <a:off x="6327648" y="2468880"/>
            <a:ext cx="2487168" cy="523030"/>
          </a:xfrm>
          <a:prstGeom prst="rect">
            <a:avLst/>
          </a:prstGeom>
          <a:noFill/>
        </p:spPr>
        <p:txBody>
          <a:bodyPr wrap="square" lIns="0" tIns="0" rIns="0" bIns="0" anchor="t">
            <a:spAutoFit/>
          </a:bodyPr>
          <a:lstStyle/>
          <a:p>
            <a:pPr algn="ctr"/>
            <a:r>
              <a:rPr sz="2400" b="1">
                <a:solidFill>
                  <a:srgbClr val="BF9000"/>
                </a:solidFill>
                <a:latin typeface="Meiryo"/>
                <a:ea typeface="Meiryo"/>
                <a:cs typeface="Meiryo"/>
              </a:rPr>
              <a:t>当てはめる</a:t>
            </a:r>
          </a:p>
        </p:txBody>
      </p:sp>
      <p:sp>
        <p:nvSpPr>
          <p:cNvPr id="31" name="TextBox 30"/>
          <p:cNvSpPr txBox="1"/>
          <p:nvPr/>
        </p:nvSpPr>
        <p:spPr>
          <a:xfrm>
            <a:off x="6281928"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最小二乗などで</a:t>
            </a:r>
          </a:p>
          <a:p>
            <a:pPr algn="ctr">
              <a:spcAft>
                <a:spcPts val="600"/>
              </a:spcAft>
            </a:pPr>
            <a:r>
              <a:rPr sz="2200" b="0">
                <a:solidFill>
                  <a:srgbClr val="262626"/>
                </a:solidFill>
                <a:latin typeface="Meiryo"/>
                <a:ea typeface="Meiryo"/>
                <a:cs typeface="Meiryo"/>
              </a:rPr>
              <a:t>成分波の位置・高さ</a:t>
            </a:r>
          </a:p>
          <a:p>
            <a:pPr algn="ctr">
              <a:spcAft>
                <a:spcPts val="600"/>
              </a:spcAft>
            </a:pPr>
            <a:r>
              <a:rPr sz="2200" b="0">
                <a:solidFill>
                  <a:srgbClr val="262626"/>
                </a:solidFill>
                <a:latin typeface="Meiryo"/>
                <a:ea typeface="Meiryo"/>
                <a:cs typeface="Meiryo"/>
              </a:rPr>
              <a:t>幅を推定する</a:t>
            </a:r>
          </a:p>
        </p:txBody>
      </p:sp>
      <p:sp>
        <p:nvSpPr>
          <p:cNvPr id="32" name="Right Arrow 31"/>
          <p:cNvSpPr/>
          <p:nvPr/>
        </p:nvSpPr>
        <p:spPr>
          <a:xfrm>
            <a:off x="8988552"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9079992" y="1783080"/>
            <a:ext cx="2761488" cy="32461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217152" y="1938528"/>
            <a:ext cx="2487168" cy="597121"/>
          </a:xfrm>
          <a:prstGeom prst="rect">
            <a:avLst/>
          </a:prstGeom>
          <a:noFill/>
        </p:spPr>
        <p:txBody>
          <a:bodyPr wrap="square" lIns="0" tIns="0" rIns="0" bIns="0" anchor="t">
            <a:spAutoFit/>
          </a:bodyPr>
          <a:lstStyle/>
          <a:p>
            <a:pPr algn="ctr"/>
            <a:r>
              <a:rPr sz="2800" b="1">
                <a:solidFill>
                  <a:srgbClr val="D55E00"/>
                </a:solidFill>
                <a:latin typeface="Meiryo"/>
                <a:ea typeface="Meiryo"/>
                <a:cs typeface="Meiryo"/>
              </a:rPr>
              <a:t>④</a:t>
            </a:r>
          </a:p>
        </p:txBody>
      </p:sp>
      <p:sp>
        <p:nvSpPr>
          <p:cNvPr id="35" name="TextBox 34"/>
          <p:cNvSpPr txBox="1"/>
          <p:nvPr/>
        </p:nvSpPr>
        <p:spPr>
          <a:xfrm>
            <a:off x="9217152" y="2468880"/>
            <a:ext cx="2487168" cy="52303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指標を作る</a:t>
            </a:r>
          </a:p>
        </p:txBody>
      </p:sp>
      <p:sp>
        <p:nvSpPr>
          <p:cNvPr id="36" name="TextBox 35"/>
          <p:cNvSpPr txBox="1"/>
          <p:nvPr/>
        </p:nvSpPr>
        <p:spPr>
          <a:xfrm>
            <a:off x="9171432"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成分波どうしの</a:t>
            </a:r>
          </a:p>
          <a:p>
            <a:pPr algn="ctr">
              <a:spcAft>
                <a:spcPts val="600"/>
              </a:spcAft>
            </a:pPr>
            <a:r>
              <a:rPr sz="2200" b="0">
                <a:solidFill>
                  <a:srgbClr val="262626"/>
                </a:solidFill>
                <a:latin typeface="Meiryo"/>
                <a:ea typeface="Meiryo"/>
                <a:cs typeface="Meiryo"/>
              </a:rPr>
              <a:t>時間差と振幅比が</a:t>
            </a:r>
          </a:p>
          <a:p>
            <a:pPr algn="ctr">
              <a:spcAft>
                <a:spcPts val="600"/>
              </a:spcAft>
            </a:pPr>
            <a:r>
              <a:rPr sz="2200" b="0">
                <a:solidFill>
                  <a:srgbClr val="262626"/>
                </a:solidFill>
                <a:latin typeface="Meiryo"/>
                <a:ea typeface="Meiryo"/>
                <a:cs typeface="Meiryo"/>
              </a:rPr>
              <a:t>SI・RI になる</a:t>
            </a:r>
          </a:p>
        </p:txBody>
      </p:sp>
      <p:sp>
        <p:nvSpPr>
          <p:cNvPr id="37" name="Rounded Rectangle 36"/>
          <p:cNvSpPr/>
          <p:nvPr/>
        </p:nvSpPr>
        <p:spPr>
          <a:xfrm>
            <a:off x="411480" y="5257800"/>
            <a:ext cx="11356848" cy="10058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94360" y="5440680"/>
            <a:ext cx="10991088" cy="1030782"/>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むずかしいのは ② ： 「どの形の成分波を何個使うか」が決まっていない</a:t>
            </a:r>
          </a:p>
          <a:p>
            <a:pPr algn="ctr">
              <a:spcAft>
                <a:spcPts val="400"/>
              </a:spcAft>
            </a:pPr>
            <a:r>
              <a:rPr sz="2500" b="1">
                <a:solidFill>
                  <a:srgbClr val="262626"/>
                </a:solidFill>
                <a:latin typeface="Meiryo"/>
                <a:ea typeface="Meiryo"/>
                <a:cs typeface="Meiryo"/>
              </a:rPr>
              <a:t>同じ波形でも、選び方しだいで答えが変わる</a:t>
            </a:r>
          </a:p>
        </p:txBody>
      </p:sp>
      <p:sp>
        <p:nvSpPr>
          <p:cNvPr id="3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50/71</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a:t>
            </a:r>
            <a:r>
              <a:rPr lang="ja-JP" altLang="en-US" sz="4600">
                <a:latin typeface="Meiryo"/>
                <a:ea typeface="Meiryo"/>
                <a:cs typeface="Meiryo"/>
              </a:rPr>
              <a:t>どうやって推測するのか</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44. Basso 2024</a:t>
            </a:r>
          </a:p>
        </p:txBody>
      </p:sp>
      <p:sp>
        <p:nvSpPr>
          <p:cNvPr id="30" name="Rounded Rectangle 29"/>
          <p:cNvSpPr/>
          <p:nvPr/>
        </p:nvSpPr>
        <p:spPr>
          <a:xfrm>
            <a:off x="502920" y="1737360"/>
            <a:ext cx="3529584" cy="24231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12648" y="1920240"/>
            <a:ext cx="3310128"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残差を測る</a:t>
            </a:r>
          </a:p>
        </p:txBody>
      </p:sp>
      <p:sp>
        <p:nvSpPr>
          <p:cNvPr id="32" name="TextBox 31"/>
          <p:cNvSpPr txBox="1"/>
          <p:nvPr/>
        </p:nvSpPr>
        <p:spPr>
          <a:xfrm>
            <a:off x="612648"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実測 と モデルの差を</a:t>
            </a:r>
          </a:p>
          <a:p>
            <a:pPr algn="ctr">
              <a:spcAft>
                <a:spcPts val="400"/>
              </a:spcAft>
            </a:pPr>
            <a:r>
              <a:rPr sz="2200" b="0">
                <a:solidFill>
                  <a:srgbClr val="262626"/>
                </a:solidFill>
                <a:latin typeface="Meiryo"/>
                <a:ea typeface="Meiryo"/>
                <a:cs typeface="Meiryo"/>
              </a:rPr>
              <a:t>二乗して足し合わせる</a:t>
            </a:r>
          </a:p>
          <a:p>
            <a:pPr algn="ctr">
              <a:spcAft>
                <a:spcPts val="400"/>
              </a:spcAft>
            </a:pPr>
            <a:r>
              <a:rPr sz="2200" b="0">
                <a:solidFill>
                  <a:srgbClr val="262626"/>
                </a:solidFill>
                <a:latin typeface="Meiryo"/>
                <a:ea typeface="Meiryo"/>
                <a:cs typeface="Meiryo"/>
              </a:rPr>
              <a:t>（残差平方和）</a:t>
            </a:r>
          </a:p>
        </p:txBody>
      </p:sp>
      <p:sp>
        <p:nvSpPr>
          <p:cNvPr id="33" name="Right Arrow 32"/>
          <p:cNvSpPr/>
          <p:nvPr/>
        </p:nvSpPr>
        <p:spPr>
          <a:xfrm>
            <a:off x="4078224" y="2743200"/>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4306824" y="1737360"/>
            <a:ext cx="3529584" cy="242316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4416552" y="1920240"/>
            <a:ext cx="3310128"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少しずつ動かす</a:t>
            </a:r>
          </a:p>
        </p:txBody>
      </p:sp>
      <p:sp>
        <p:nvSpPr>
          <p:cNvPr id="36" name="TextBox 35"/>
          <p:cNvSpPr txBox="1"/>
          <p:nvPr/>
        </p:nvSpPr>
        <p:spPr>
          <a:xfrm>
            <a:off x="4416552"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初期値から反復計算で</a:t>
            </a:r>
          </a:p>
          <a:p>
            <a:pPr algn="ctr">
              <a:spcAft>
                <a:spcPts val="400"/>
              </a:spcAft>
            </a:pPr>
            <a:r>
              <a:rPr sz="2200" b="0">
                <a:solidFill>
                  <a:srgbClr val="262626"/>
                </a:solidFill>
                <a:latin typeface="Meiryo"/>
                <a:ea typeface="Meiryo"/>
                <a:cs typeface="Meiryo"/>
              </a:rPr>
              <a:t>残差が最小になる</a:t>
            </a:r>
          </a:p>
          <a:p>
            <a:pPr algn="ctr">
              <a:spcAft>
                <a:spcPts val="400"/>
              </a:spcAft>
            </a:pPr>
            <a:r>
              <a:rPr sz="2200" b="0">
                <a:solidFill>
                  <a:srgbClr val="262626"/>
                </a:solidFill>
                <a:latin typeface="Meiryo"/>
                <a:ea typeface="Meiryo"/>
                <a:cs typeface="Meiryo"/>
              </a:rPr>
              <a:t>パラメータを探す</a:t>
            </a:r>
          </a:p>
        </p:txBody>
      </p:sp>
      <p:sp>
        <p:nvSpPr>
          <p:cNvPr id="37" name="Right Arrow 36"/>
          <p:cNvSpPr/>
          <p:nvPr/>
        </p:nvSpPr>
        <p:spPr>
          <a:xfrm>
            <a:off x="7882128" y="2743200"/>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8110728" y="1737360"/>
            <a:ext cx="3529584" cy="242316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220456" y="1920240"/>
            <a:ext cx="3310128" cy="457200"/>
          </a:xfrm>
          <a:prstGeom prst="rect">
            <a:avLst/>
          </a:prstGeom>
          <a:noFill/>
        </p:spPr>
        <p:txBody>
          <a:bodyPr wrap="square" lIns="0" tIns="0" rIns="0" bIns="0" anchor="t">
            <a:spAutoFit/>
          </a:bodyPr>
          <a:lstStyle/>
          <a:p>
            <a:pPr algn="ctr"/>
            <a:r>
              <a:rPr sz="2400" b="1">
                <a:solidFill>
                  <a:srgbClr val="BF9000"/>
                </a:solidFill>
                <a:latin typeface="Meiryo"/>
                <a:ea typeface="Meiryo"/>
                <a:cs typeface="Meiryo"/>
              </a:rPr>
              <a:t>当てはまりを見る</a:t>
            </a:r>
          </a:p>
        </p:txBody>
      </p:sp>
      <p:sp>
        <p:nvSpPr>
          <p:cNvPr id="40" name="TextBox 39"/>
          <p:cNvSpPr txBox="1"/>
          <p:nvPr/>
        </p:nvSpPr>
        <p:spPr>
          <a:xfrm>
            <a:off x="8220456"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R² や AICc で</a:t>
            </a:r>
          </a:p>
          <a:p>
            <a:pPr algn="ctr">
              <a:spcAft>
                <a:spcPts val="400"/>
              </a:spcAft>
            </a:pPr>
            <a:r>
              <a:rPr sz="2200" b="0">
                <a:solidFill>
                  <a:srgbClr val="262626"/>
                </a:solidFill>
                <a:latin typeface="Meiryo"/>
                <a:ea typeface="Meiryo"/>
                <a:cs typeface="Meiryo"/>
              </a:rPr>
              <a:t>当てはまりと</a:t>
            </a:r>
          </a:p>
          <a:p>
            <a:pPr algn="ctr">
              <a:spcAft>
                <a:spcPts val="400"/>
              </a:spcAft>
            </a:pPr>
            <a:r>
              <a:rPr sz="2200" b="0">
                <a:solidFill>
                  <a:srgbClr val="262626"/>
                </a:solidFill>
                <a:latin typeface="Meiryo"/>
                <a:ea typeface="Meiryo"/>
                <a:cs typeface="Meiryo"/>
              </a:rPr>
              <a:t>パラメータ数を比べる</a:t>
            </a:r>
          </a:p>
        </p:txBody>
      </p:sp>
      <p:sp>
        <p:nvSpPr>
          <p:cNvPr id="41" name="Rounded Rectangle 40"/>
          <p:cNvSpPr/>
          <p:nvPr/>
        </p:nvSpPr>
        <p:spPr>
          <a:xfrm>
            <a:off x="502920" y="4407408"/>
            <a:ext cx="11201400" cy="173736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85800" y="4590288"/>
            <a:ext cx="10835640" cy="1371600"/>
          </a:xfrm>
          <a:prstGeom prst="rect">
            <a:avLst/>
          </a:prstGeom>
          <a:noFill/>
        </p:spPr>
        <p:txBody>
          <a:bodyPr wrap="square" lIns="0" tIns="0" rIns="0" bIns="0" anchor="t">
            <a:spAutoFit/>
          </a:bodyPr>
          <a:lstStyle/>
          <a:p>
            <a:pPr algn="l">
              <a:spcAft>
                <a:spcPts val="600"/>
              </a:spcAft>
            </a:pPr>
            <a:r>
              <a:rPr sz="2500" b="1">
                <a:solidFill>
                  <a:srgbClr val="C00000"/>
                </a:solidFill>
                <a:latin typeface="Meiryo"/>
                <a:ea typeface="Meiryo"/>
                <a:cs typeface="Meiryo"/>
              </a:rPr>
              <a:t>落とし穴：初期値で答えが変わる</a:t>
            </a:r>
          </a:p>
          <a:p>
            <a:pPr algn="l">
              <a:spcAft>
                <a:spcPts val="600"/>
              </a:spcAft>
            </a:pPr>
            <a:r>
              <a:rPr sz="2300" b="0">
                <a:solidFill>
                  <a:srgbClr val="262626"/>
                </a:solidFill>
                <a:latin typeface="Meiryo"/>
                <a:ea typeface="Meiryo"/>
                <a:cs typeface="Meiryo"/>
              </a:rPr>
              <a:t>反復計算は初期値の近くの谷にはまる（局所解）</a:t>
            </a:r>
          </a:p>
          <a:p>
            <a:pPr algn="l">
              <a:spcAft>
                <a:spcPts val="600"/>
              </a:spcAft>
            </a:pPr>
            <a:r>
              <a:rPr sz="2300" b="0">
                <a:solidFill>
                  <a:srgbClr val="262626"/>
                </a:solidFill>
                <a:latin typeface="Meiryo"/>
                <a:ea typeface="Meiryo"/>
                <a:cs typeface="Meiryo"/>
              </a:rPr>
              <a:t>同じ波形・同じモデルでも、初期値しだいで別の値が出ることがある</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51/71</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初期値の決め方</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45. Couceiro 2012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52/71</a:t>
            </a:r>
          </a:p>
        </p:txBody>
      </p:sp>
      <p:sp>
        <p:nvSpPr>
          <p:cNvPr id="44" name="Rounded Rectangle 43"/>
          <p:cNvSpPr/>
          <p:nvPr/>
        </p:nvSpPr>
        <p:spPr>
          <a:xfrm>
            <a:off x="502920" y="1737360"/>
            <a:ext cx="3529584" cy="26517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4306824" y="1737360"/>
            <a:ext cx="3529584" cy="265176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8110727" y="1737360"/>
            <a:ext cx="3529584" cy="265176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12648" y="1901952"/>
            <a:ext cx="3310128"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ランドマーク方式</a:t>
            </a:r>
          </a:p>
        </p:txBody>
      </p:sp>
      <p:sp>
        <p:nvSpPr>
          <p:cNvPr id="48" name="TextBox 47"/>
          <p:cNvSpPr txBox="1"/>
          <p:nvPr/>
        </p:nvSpPr>
        <p:spPr>
          <a:xfrm>
            <a:off x="612648" y="2450591"/>
            <a:ext cx="3310128" cy="1186891"/>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微分でピークや</a:t>
            </a:r>
          </a:p>
          <a:p>
            <a:pPr algn="l">
              <a:spcAft>
                <a:spcPts val="0"/>
              </a:spcAft>
            </a:pPr>
            <a:r>
              <a:rPr sz="2200" b="0" dirty="0">
                <a:solidFill>
                  <a:srgbClr val="262626"/>
                </a:solidFill>
                <a:latin typeface="Meiryo"/>
                <a:ea typeface="Meiryo"/>
                <a:cs typeface="Meiryo"/>
              </a:rPr>
              <a:t>変曲点を探し</a:t>
            </a:r>
          </a:p>
          <a:p>
            <a:pPr algn="l">
              <a:spcAft>
                <a:spcPts val="0"/>
              </a:spcAft>
            </a:pPr>
            <a:r>
              <a:rPr sz="2200" b="0" dirty="0">
                <a:solidFill>
                  <a:srgbClr val="262626"/>
                </a:solidFill>
                <a:latin typeface="Meiryo"/>
                <a:ea typeface="Meiryo"/>
                <a:cs typeface="Meiryo"/>
              </a:rPr>
              <a:t>その時刻を使う</a:t>
            </a:r>
          </a:p>
        </p:txBody>
      </p:sp>
      <p:sp>
        <p:nvSpPr>
          <p:cNvPr id="49" name="TextBox 48"/>
          <p:cNvSpPr txBox="1"/>
          <p:nvPr/>
        </p:nvSpPr>
        <p:spPr>
          <a:xfrm>
            <a:off x="612648" y="3749039"/>
            <a:ext cx="3310128"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目印が弱いと不安定</a:t>
            </a:r>
          </a:p>
        </p:txBody>
      </p:sp>
      <p:sp>
        <p:nvSpPr>
          <p:cNvPr id="50" name="TextBox 49"/>
          <p:cNvSpPr txBox="1"/>
          <p:nvPr/>
        </p:nvSpPr>
        <p:spPr>
          <a:xfrm>
            <a:off x="4416552" y="1901952"/>
            <a:ext cx="3310128" cy="431596"/>
          </a:xfrm>
          <a:prstGeom prst="rect">
            <a:avLst/>
          </a:prstGeom>
          <a:noFill/>
        </p:spPr>
        <p:txBody>
          <a:bodyPr wrap="square" lIns="0" tIns="0" rIns="0" bIns="0" anchor="t">
            <a:spAutoFit/>
          </a:bodyPr>
          <a:lstStyle/>
          <a:p>
            <a:pPr algn="l">
              <a:spcAft>
                <a:spcPts val="0"/>
              </a:spcAft>
            </a:pPr>
            <a:r>
              <a:rPr sz="2400" b="1" dirty="0">
                <a:solidFill>
                  <a:srgbClr val="00A8AA"/>
                </a:solidFill>
                <a:latin typeface="Meiryo"/>
                <a:ea typeface="Meiryo"/>
                <a:cs typeface="Meiryo"/>
              </a:rPr>
              <a:t>前の拍を引き継ぐ</a:t>
            </a:r>
          </a:p>
        </p:txBody>
      </p:sp>
      <p:sp>
        <p:nvSpPr>
          <p:cNvPr id="51" name="TextBox 50"/>
          <p:cNvSpPr txBox="1"/>
          <p:nvPr/>
        </p:nvSpPr>
        <p:spPr>
          <a:xfrm>
            <a:off x="4416552" y="2450591"/>
            <a:ext cx="3310128" cy="1186891"/>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直前の拍で得た解を</a:t>
            </a:r>
          </a:p>
          <a:p>
            <a:pPr algn="l">
              <a:spcAft>
                <a:spcPts val="0"/>
              </a:spcAft>
            </a:pPr>
            <a:r>
              <a:rPr sz="2200" b="0" dirty="0">
                <a:solidFill>
                  <a:srgbClr val="262626"/>
                </a:solidFill>
                <a:latin typeface="Meiryo"/>
                <a:ea typeface="Meiryo"/>
                <a:cs typeface="Meiryo"/>
              </a:rPr>
              <a:t>次の拍の</a:t>
            </a:r>
          </a:p>
          <a:p>
            <a:pPr algn="l">
              <a:spcAft>
                <a:spcPts val="0"/>
              </a:spcAft>
            </a:pPr>
            <a:r>
              <a:rPr sz="2200" b="0" dirty="0">
                <a:solidFill>
                  <a:srgbClr val="262626"/>
                </a:solidFill>
                <a:latin typeface="Meiryo"/>
                <a:ea typeface="Meiryo"/>
                <a:cs typeface="Meiryo"/>
              </a:rPr>
              <a:t>初期値にする</a:t>
            </a:r>
          </a:p>
        </p:txBody>
      </p:sp>
      <p:sp>
        <p:nvSpPr>
          <p:cNvPr id="52" name="TextBox 51"/>
          <p:cNvSpPr txBox="1"/>
          <p:nvPr/>
        </p:nvSpPr>
        <p:spPr>
          <a:xfrm>
            <a:off x="4416552" y="3749039"/>
            <a:ext cx="3310128" cy="395630"/>
          </a:xfrm>
          <a:prstGeom prst="rect">
            <a:avLst/>
          </a:prstGeom>
          <a:noFill/>
        </p:spPr>
        <p:txBody>
          <a:bodyPr wrap="square" lIns="0" tIns="0" rIns="0" bIns="0" anchor="t">
            <a:spAutoFit/>
          </a:bodyPr>
          <a:lstStyle/>
          <a:p>
            <a:pPr algn="l">
              <a:spcAft>
                <a:spcPts val="0"/>
              </a:spcAft>
            </a:pPr>
            <a:r>
              <a:rPr sz="2200" b="1" dirty="0">
                <a:solidFill>
                  <a:srgbClr val="00A8AA"/>
                </a:solidFill>
                <a:latin typeface="Meiryo"/>
                <a:ea typeface="Meiryo"/>
                <a:cs typeface="Meiryo"/>
              </a:rPr>
              <a:t>目印に依存しない</a:t>
            </a:r>
          </a:p>
        </p:txBody>
      </p:sp>
      <p:sp>
        <p:nvSpPr>
          <p:cNvPr id="53" name="TextBox 52"/>
          <p:cNvSpPr txBox="1"/>
          <p:nvPr/>
        </p:nvSpPr>
        <p:spPr>
          <a:xfrm>
            <a:off x="8220455" y="1901952"/>
            <a:ext cx="3310128" cy="431596"/>
          </a:xfrm>
          <a:prstGeom prst="rect">
            <a:avLst/>
          </a:prstGeom>
          <a:noFill/>
        </p:spPr>
        <p:txBody>
          <a:bodyPr wrap="square" lIns="0" tIns="0" rIns="0" bIns="0" anchor="t">
            <a:spAutoFit/>
          </a:bodyPr>
          <a:lstStyle/>
          <a:p>
            <a:pPr algn="l">
              <a:spcAft>
                <a:spcPts val="0"/>
              </a:spcAft>
            </a:pPr>
            <a:r>
              <a:rPr sz="2400" b="1" dirty="0">
                <a:solidFill>
                  <a:srgbClr val="BF9000"/>
                </a:solidFill>
                <a:latin typeface="Meiryo"/>
                <a:ea typeface="Meiryo"/>
                <a:cs typeface="Meiryo"/>
              </a:rPr>
              <a:t>多点スタート</a:t>
            </a:r>
          </a:p>
        </p:txBody>
      </p:sp>
      <p:sp>
        <p:nvSpPr>
          <p:cNvPr id="54" name="TextBox 53"/>
          <p:cNvSpPr txBox="1"/>
          <p:nvPr/>
        </p:nvSpPr>
        <p:spPr>
          <a:xfrm>
            <a:off x="8220455" y="2450591"/>
            <a:ext cx="3310128" cy="1186891"/>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多数の初期値から</a:t>
            </a:r>
          </a:p>
          <a:p>
            <a:pPr algn="l">
              <a:spcAft>
                <a:spcPts val="0"/>
              </a:spcAft>
            </a:pPr>
            <a:r>
              <a:rPr sz="2200" b="0" dirty="0">
                <a:solidFill>
                  <a:srgbClr val="262626"/>
                </a:solidFill>
                <a:latin typeface="Meiryo"/>
                <a:ea typeface="Meiryo"/>
                <a:cs typeface="Meiryo"/>
              </a:rPr>
              <a:t>当てはめて</a:t>
            </a:r>
          </a:p>
          <a:p>
            <a:pPr algn="l">
              <a:spcAft>
                <a:spcPts val="0"/>
              </a:spcAft>
            </a:pPr>
            <a:r>
              <a:rPr sz="2200" b="0" dirty="0">
                <a:solidFill>
                  <a:srgbClr val="262626"/>
                </a:solidFill>
                <a:latin typeface="Meiryo"/>
                <a:ea typeface="Meiryo"/>
                <a:cs typeface="Meiryo"/>
              </a:rPr>
              <a:t>最良を選ぶ</a:t>
            </a:r>
          </a:p>
        </p:txBody>
      </p:sp>
      <p:sp>
        <p:nvSpPr>
          <p:cNvPr id="55" name="TextBox 54"/>
          <p:cNvSpPr txBox="1"/>
          <p:nvPr/>
        </p:nvSpPr>
        <p:spPr>
          <a:xfrm>
            <a:off x="8220455" y="3749039"/>
            <a:ext cx="3310128" cy="395630"/>
          </a:xfrm>
          <a:prstGeom prst="rect">
            <a:avLst/>
          </a:prstGeom>
          <a:noFill/>
        </p:spPr>
        <p:txBody>
          <a:bodyPr wrap="square" lIns="0" tIns="0" rIns="0" bIns="0" anchor="t">
            <a:spAutoFit/>
          </a:bodyPr>
          <a:lstStyle/>
          <a:p>
            <a:pPr algn="l">
              <a:spcAft>
                <a:spcPts val="0"/>
              </a:spcAft>
            </a:pPr>
            <a:r>
              <a:rPr sz="2200" b="1" dirty="0">
                <a:solidFill>
                  <a:srgbClr val="BF9000"/>
                </a:solidFill>
                <a:latin typeface="Meiryo"/>
                <a:ea typeface="Meiryo"/>
                <a:cs typeface="Meiryo"/>
              </a:rPr>
              <a:t>初期値依存を回避</a:t>
            </a:r>
          </a:p>
        </p:txBody>
      </p:sp>
      <p:sp>
        <p:nvSpPr>
          <p:cNvPr id="56" name="Rounded Rectangle 55"/>
          <p:cNvSpPr/>
          <p:nvPr/>
        </p:nvSpPr>
        <p:spPr>
          <a:xfrm>
            <a:off x="502920" y="4663440"/>
            <a:ext cx="11201400" cy="150876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4864608"/>
            <a:ext cx="10835640" cy="1276807"/>
          </a:xfrm>
          <a:prstGeom prst="rect">
            <a:avLst/>
          </a:prstGeom>
          <a:noFill/>
        </p:spPr>
        <p:txBody>
          <a:bodyPr wrap="square" lIns="0" tIns="0" rIns="0" bIns="0" anchor="t">
            <a:spAutoFit/>
          </a:bodyPr>
          <a:lstStyle/>
          <a:p>
            <a:pPr algn="ctr">
              <a:spcAft>
                <a:spcPts val="0"/>
              </a:spcAft>
            </a:pPr>
            <a:r>
              <a:rPr sz="2500" b="1" dirty="0">
                <a:solidFill>
                  <a:srgbClr val="262626"/>
                </a:solidFill>
                <a:latin typeface="Meiryo"/>
                <a:ea typeface="Meiryo"/>
                <a:cs typeface="Meiryo"/>
              </a:rPr>
              <a:t>初期値と同じくらい効くのが 境界条件</a:t>
            </a:r>
          </a:p>
          <a:p>
            <a:pPr algn="ctr">
              <a:spcAft>
                <a:spcPts val="0"/>
              </a:spcAft>
            </a:pPr>
            <a:r>
              <a:rPr sz="2300" b="0" dirty="0">
                <a:solidFill>
                  <a:srgbClr val="262626"/>
                </a:solidFill>
                <a:latin typeface="Meiryo"/>
                <a:ea typeface="Meiryo"/>
                <a:cs typeface="Meiryo"/>
              </a:rPr>
              <a:t>a &gt; 0　／　μ₁ &lt; μ₂ &lt; …（順序を固定）　／　σ の上下限</a:t>
            </a:r>
          </a:p>
          <a:p>
            <a:pPr algn="ctr">
              <a:spcAft>
                <a:spcPts val="0"/>
              </a:spcAft>
            </a:pPr>
            <a:r>
              <a:rPr sz="2300" b="0" dirty="0">
                <a:solidFill>
                  <a:srgbClr val="C00000"/>
                </a:solidFill>
                <a:latin typeface="Meiryo"/>
                <a:ea typeface="Meiryo"/>
                <a:cs typeface="Meiryo"/>
              </a:rPr>
              <a:t>順序を固定しないと 拍ごとに「第2成分波」が別物を指す</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当てはめの選び方</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53/71</a:t>
            </a:r>
          </a:p>
        </p:txBody>
      </p:sp>
      <p:sp>
        <p:nvSpPr>
          <p:cNvPr id="44" name="Rounded Rectangle 43"/>
          <p:cNvSpPr/>
          <p:nvPr/>
        </p:nvSpPr>
        <p:spPr>
          <a:xfrm>
            <a:off x="502920" y="1737360"/>
            <a:ext cx="5532120" cy="260604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6153912" y="1737360"/>
            <a:ext cx="5532120" cy="260604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85800" y="1901952"/>
            <a:ext cx="5166359"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何を最小にするか</a:t>
            </a:r>
          </a:p>
        </p:txBody>
      </p:sp>
      <p:sp>
        <p:nvSpPr>
          <p:cNvPr id="47" name="TextBox 46"/>
          <p:cNvSpPr txBox="1"/>
          <p:nvPr/>
        </p:nvSpPr>
        <p:spPr>
          <a:xfrm>
            <a:off x="685800" y="2468880"/>
            <a:ext cx="5166359" cy="1582521"/>
          </a:xfrm>
          <a:prstGeom prst="rect">
            <a:avLst/>
          </a:prstGeom>
          <a:noFill/>
        </p:spPr>
        <p:txBody>
          <a:bodyPr wrap="square" lIns="0" tIns="0" rIns="0" bIns="0" anchor="t">
            <a:spAutoFit/>
          </a:bodyPr>
          <a:lstStyle/>
          <a:p>
            <a:pPr algn="l">
              <a:spcAft>
                <a:spcPts val="0"/>
              </a:spcAft>
            </a:pPr>
            <a:r>
              <a:rPr sz="2200" b="1" dirty="0">
                <a:solidFill>
                  <a:srgbClr val="262626"/>
                </a:solidFill>
                <a:latin typeface="Meiryo"/>
                <a:ea typeface="Meiryo"/>
                <a:cs typeface="Meiryo"/>
              </a:rPr>
              <a:t>残差平方和 RSS ← 標準</a:t>
            </a:r>
          </a:p>
          <a:p>
            <a:pPr algn="l">
              <a:spcAft>
                <a:spcPts val="0"/>
              </a:spcAft>
            </a:pPr>
            <a:r>
              <a:rPr sz="2200" b="0" dirty="0">
                <a:solidFill>
                  <a:srgbClr val="262626"/>
                </a:solidFill>
                <a:latin typeface="Meiryo"/>
                <a:ea typeface="Meiryo"/>
                <a:cs typeface="Meiryo"/>
              </a:rPr>
              <a:t>重み付き最小二乗 WLS</a:t>
            </a:r>
          </a:p>
          <a:p>
            <a:pPr algn="l">
              <a:spcAft>
                <a:spcPts val="0"/>
              </a:spcAft>
            </a:pPr>
            <a:r>
              <a:rPr sz="2200" b="0" dirty="0">
                <a:solidFill>
                  <a:srgbClr val="262626"/>
                </a:solidFill>
                <a:latin typeface="Meiryo"/>
                <a:ea typeface="Meiryo"/>
                <a:cs typeface="Meiryo"/>
              </a:rPr>
              <a:t>ロバスト損失</a:t>
            </a:r>
          </a:p>
          <a:p>
            <a:pPr algn="l">
              <a:spcAft>
                <a:spcPts val="0"/>
              </a:spcAft>
            </a:pPr>
            <a:r>
              <a:rPr sz="2200" b="0" dirty="0">
                <a:solidFill>
                  <a:srgbClr val="262626"/>
                </a:solidFill>
                <a:latin typeface="Meiryo"/>
                <a:ea typeface="Meiryo"/>
                <a:cs typeface="Meiryo"/>
              </a:rPr>
              <a:t>ベイズ・正則化</a:t>
            </a:r>
          </a:p>
        </p:txBody>
      </p:sp>
      <p:sp>
        <p:nvSpPr>
          <p:cNvPr id="48" name="TextBox 47"/>
          <p:cNvSpPr txBox="1"/>
          <p:nvPr/>
        </p:nvSpPr>
        <p:spPr>
          <a:xfrm>
            <a:off x="6336792" y="1901952"/>
            <a:ext cx="5166359" cy="431596"/>
          </a:xfrm>
          <a:prstGeom prst="rect">
            <a:avLst/>
          </a:prstGeom>
          <a:noFill/>
        </p:spPr>
        <p:txBody>
          <a:bodyPr wrap="square" lIns="0" tIns="0" rIns="0" bIns="0" anchor="t">
            <a:spAutoFit/>
          </a:bodyPr>
          <a:lstStyle/>
          <a:p>
            <a:pPr algn="l">
              <a:spcAft>
                <a:spcPts val="0"/>
              </a:spcAft>
            </a:pPr>
            <a:r>
              <a:rPr sz="2400" b="1" dirty="0">
                <a:solidFill>
                  <a:srgbClr val="00A8AA"/>
                </a:solidFill>
                <a:latin typeface="Meiryo"/>
                <a:ea typeface="Meiryo"/>
                <a:cs typeface="Meiryo"/>
              </a:rPr>
              <a:t>どう最小値を探すか</a:t>
            </a:r>
          </a:p>
        </p:txBody>
      </p:sp>
      <p:sp>
        <p:nvSpPr>
          <p:cNvPr id="49" name="TextBox 48"/>
          <p:cNvSpPr txBox="1"/>
          <p:nvPr/>
        </p:nvSpPr>
        <p:spPr>
          <a:xfrm>
            <a:off x="6336792" y="2468880"/>
            <a:ext cx="5166359" cy="1582521"/>
          </a:xfrm>
          <a:prstGeom prst="rect">
            <a:avLst/>
          </a:prstGeom>
          <a:noFill/>
        </p:spPr>
        <p:txBody>
          <a:bodyPr wrap="square" lIns="0" tIns="0" rIns="0" bIns="0" anchor="t">
            <a:spAutoFit/>
          </a:bodyPr>
          <a:lstStyle/>
          <a:p>
            <a:pPr algn="l">
              <a:spcAft>
                <a:spcPts val="0"/>
              </a:spcAft>
            </a:pPr>
            <a:r>
              <a:rPr sz="2200" b="1" dirty="0">
                <a:solidFill>
                  <a:srgbClr val="262626"/>
                </a:solidFill>
                <a:latin typeface="Meiryo"/>
                <a:ea typeface="Meiryo"/>
                <a:cs typeface="Meiryo"/>
              </a:rPr>
              <a:t>Levenberg–Marquardt 法 ← 標準</a:t>
            </a:r>
          </a:p>
          <a:p>
            <a:pPr algn="l">
              <a:spcAft>
                <a:spcPts val="0"/>
              </a:spcAft>
            </a:pPr>
            <a:r>
              <a:rPr sz="2200" b="0" dirty="0">
                <a:solidFill>
                  <a:srgbClr val="262626"/>
                </a:solidFill>
                <a:latin typeface="Meiryo"/>
                <a:ea typeface="Meiryo"/>
                <a:cs typeface="Meiryo"/>
              </a:rPr>
              <a:t>大域最適化（粒子群 ほか）</a:t>
            </a:r>
          </a:p>
          <a:p>
            <a:pPr algn="l">
              <a:spcAft>
                <a:spcPts val="0"/>
              </a:spcAft>
            </a:pPr>
            <a:r>
              <a:rPr sz="2200" b="0" dirty="0">
                <a:solidFill>
                  <a:srgbClr val="262626"/>
                </a:solidFill>
                <a:latin typeface="Meiryo"/>
                <a:ea typeface="Meiryo"/>
                <a:cs typeface="Meiryo"/>
              </a:rPr>
              <a:t>変数分離 VARPRO</a:t>
            </a:r>
          </a:p>
          <a:p>
            <a:pPr algn="l">
              <a:spcAft>
                <a:spcPts val="0"/>
              </a:spcAft>
            </a:pPr>
            <a:r>
              <a:rPr sz="2200" b="0" dirty="0">
                <a:solidFill>
                  <a:srgbClr val="262626"/>
                </a:solidFill>
                <a:latin typeface="Meiryo"/>
                <a:ea typeface="Meiryo"/>
                <a:cs typeface="Meiryo"/>
              </a:rPr>
              <a:t>逐次剥ぎ取り</a:t>
            </a:r>
          </a:p>
        </p:txBody>
      </p:sp>
      <p:sp>
        <p:nvSpPr>
          <p:cNvPr id="50" name="Rounded Rectangle 49"/>
          <p:cNvSpPr/>
          <p:nvPr/>
        </p:nvSpPr>
        <p:spPr>
          <a:xfrm>
            <a:off x="502920" y="4617720"/>
            <a:ext cx="11201400" cy="155448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85800" y="4828032"/>
            <a:ext cx="10835640" cy="1276807"/>
          </a:xfrm>
          <a:prstGeom prst="rect">
            <a:avLst/>
          </a:prstGeom>
          <a:noFill/>
        </p:spPr>
        <p:txBody>
          <a:bodyPr wrap="square" lIns="0" tIns="0" rIns="0" bIns="0" anchor="t">
            <a:spAutoFit/>
          </a:bodyPr>
          <a:lstStyle/>
          <a:p>
            <a:pPr algn="ctr">
              <a:spcAft>
                <a:spcPts val="0"/>
              </a:spcAft>
            </a:pPr>
            <a:r>
              <a:rPr sz="2500" b="1" dirty="0">
                <a:solidFill>
                  <a:srgbClr val="262626"/>
                </a:solidFill>
                <a:latin typeface="Meiryo"/>
                <a:ea typeface="Meiryo"/>
                <a:cs typeface="Meiryo"/>
              </a:rPr>
              <a:t>目的関数は ほぼ全文献が 残差平方和</a:t>
            </a:r>
          </a:p>
          <a:p>
            <a:pPr algn="ctr">
              <a:spcAft>
                <a:spcPts val="0"/>
              </a:spcAft>
            </a:pPr>
            <a:r>
              <a:rPr sz="2300" b="0" dirty="0">
                <a:solidFill>
                  <a:srgbClr val="262626"/>
                </a:solidFill>
                <a:latin typeface="Meiryo"/>
                <a:ea typeface="Meiryo"/>
                <a:cs typeface="Meiryo"/>
              </a:rPr>
              <a:t>論文ごとに違うのは 重み付けと 探索アルゴリズム</a:t>
            </a:r>
          </a:p>
          <a:p>
            <a:pPr algn="ctr">
              <a:spcAft>
                <a:spcPts val="0"/>
              </a:spcAft>
            </a:pPr>
            <a:r>
              <a:rPr sz="2300" b="0" dirty="0">
                <a:solidFill>
                  <a:srgbClr val="595959"/>
                </a:solidFill>
                <a:latin typeface="Meiryo"/>
                <a:ea typeface="Meiryo"/>
                <a:cs typeface="Meiryo"/>
              </a:rPr>
              <a:t>残差平方和 ＝ ノイズが独立・正規なら 最尤推定と一致する</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収束の検算</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54/71</a:t>
            </a:r>
          </a:p>
        </p:txBody>
      </p:sp>
      <p:sp>
        <p:nvSpPr>
          <p:cNvPr id="44" name="Rounded Rectangle 43"/>
          <p:cNvSpPr/>
          <p:nvPr/>
        </p:nvSpPr>
        <p:spPr>
          <a:xfrm>
            <a:off x="502920" y="1719072"/>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502920" y="2679191"/>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502920" y="363931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502920" y="459943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85800" y="186537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①</a:t>
            </a:r>
          </a:p>
        </p:txBody>
      </p:sp>
      <p:sp>
        <p:nvSpPr>
          <p:cNvPr id="49" name="TextBox 48"/>
          <p:cNvSpPr txBox="1"/>
          <p:nvPr/>
        </p:nvSpPr>
        <p:spPr>
          <a:xfrm>
            <a:off x="1371600" y="178308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境界に張り付いていないか</a:t>
            </a:r>
          </a:p>
        </p:txBody>
      </p:sp>
      <p:sp>
        <p:nvSpPr>
          <p:cNvPr id="50" name="TextBox 49"/>
          <p:cNvSpPr txBox="1"/>
          <p:nvPr/>
        </p:nvSpPr>
        <p:spPr>
          <a:xfrm>
            <a:off x="1371600" y="217627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張り付き ＝ モデルが窮屈な証拠</a:t>
            </a:r>
          </a:p>
        </p:txBody>
      </p:sp>
      <p:sp>
        <p:nvSpPr>
          <p:cNvPr id="51" name="TextBox 50"/>
          <p:cNvSpPr txBox="1"/>
          <p:nvPr/>
        </p:nvSpPr>
        <p:spPr>
          <a:xfrm>
            <a:off x="685800" y="282549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②</a:t>
            </a:r>
          </a:p>
        </p:txBody>
      </p:sp>
      <p:sp>
        <p:nvSpPr>
          <p:cNvPr id="52" name="TextBox 51"/>
          <p:cNvSpPr txBox="1"/>
          <p:nvPr/>
        </p:nvSpPr>
        <p:spPr>
          <a:xfrm>
            <a:off x="1371600" y="2743199"/>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振幅ゼロのカーネルが無いか</a:t>
            </a:r>
          </a:p>
        </p:txBody>
      </p:sp>
      <p:sp>
        <p:nvSpPr>
          <p:cNvPr id="53" name="TextBox 52"/>
          <p:cNvSpPr txBox="1"/>
          <p:nvPr/>
        </p:nvSpPr>
        <p:spPr>
          <a:xfrm>
            <a:off x="1371600" y="3136391"/>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実質使われていない ＝ 本数が多すぎる</a:t>
            </a:r>
          </a:p>
        </p:txBody>
      </p:sp>
      <p:sp>
        <p:nvSpPr>
          <p:cNvPr id="54" name="TextBox 53"/>
          <p:cNvSpPr txBox="1"/>
          <p:nvPr/>
        </p:nvSpPr>
        <p:spPr>
          <a:xfrm>
            <a:off x="685800" y="3785615"/>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③</a:t>
            </a:r>
          </a:p>
        </p:txBody>
      </p:sp>
      <p:sp>
        <p:nvSpPr>
          <p:cNvPr id="55" name="TextBox 54"/>
          <p:cNvSpPr txBox="1"/>
          <p:nvPr/>
        </p:nvSpPr>
        <p:spPr>
          <a:xfrm>
            <a:off x="1371600" y="370332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初期値を変えても同じ解か</a:t>
            </a:r>
          </a:p>
        </p:txBody>
      </p:sp>
      <p:sp>
        <p:nvSpPr>
          <p:cNvPr id="56" name="TextBox 55"/>
          <p:cNvSpPr txBox="1"/>
          <p:nvPr/>
        </p:nvSpPr>
        <p:spPr>
          <a:xfrm>
            <a:off x="1371600" y="409651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違う解に落ちるなら その拍では定まっていない</a:t>
            </a:r>
          </a:p>
        </p:txBody>
      </p:sp>
      <p:sp>
        <p:nvSpPr>
          <p:cNvPr id="57" name="TextBox 56"/>
          <p:cNvSpPr txBox="1"/>
          <p:nvPr/>
        </p:nvSpPr>
        <p:spPr>
          <a:xfrm>
            <a:off x="685800" y="4745736"/>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④</a:t>
            </a:r>
          </a:p>
        </p:txBody>
      </p:sp>
      <p:sp>
        <p:nvSpPr>
          <p:cNvPr id="58" name="TextBox 57"/>
          <p:cNvSpPr txBox="1"/>
          <p:nvPr/>
        </p:nvSpPr>
        <p:spPr>
          <a:xfrm>
            <a:off x="1371600" y="466344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残差プロファイルの幅</a:t>
            </a:r>
          </a:p>
        </p:txBody>
      </p:sp>
      <p:sp>
        <p:nvSpPr>
          <p:cNvPr id="59" name="TextBox 58"/>
          <p:cNvSpPr txBox="1"/>
          <p:nvPr/>
        </p:nvSpPr>
        <p:spPr>
          <a:xfrm>
            <a:off x="1371600" y="505663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時間差 T を固定して当てはめ直し 谷の幅を見る</a:t>
            </a:r>
          </a:p>
        </p:txBody>
      </p:sp>
      <p:sp>
        <p:nvSpPr>
          <p:cNvPr id="60" name="Rounded Rectangle 59"/>
          <p:cNvSpPr/>
          <p:nvPr/>
        </p:nvSpPr>
        <p:spPr>
          <a:xfrm>
            <a:off x="502920" y="5687568"/>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685800" y="5852160"/>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残差が小さいことは 検算の代わりにならない</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5.4  得られる指標</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Goswami 2010　／　42. Couceiro 2015　／　45. Couceiro 2012</a:t>
            </a:r>
          </a:p>
        </p:txBody>
      </p:sp>
      <p:sp>
        <p:nvSpPr>
          <p:cNvPr id="3" name="Freeform 2"/>
          <p:cNvSpPr/>
          <p:nvPr/>
        </p:nvSpPr>
        <p:spPr>
          <a:xfrm>
            <a:off x="1077282" y="251230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1077282" y="326649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1077282" y="392736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147130" y="2555760"/>
            <a:ext cx="0" cy="1371600"/>
          </a:xfrm>
          <a:prstGeom prst="line">
            <a:avLst/>
          </a:prstGeom>
          <a:ln w="15875">
            <a:solidFill>
              <a:srgbClr val="0072B2"/>
            </a:solidFill>
            <a:prstDash val="sys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747330" y="3067824"/>
            <a:ext cx="0" cy="859536"/>
          </a:xfrm>
          <a:prstGeom prst="line">
            <a:avLst/>
          </a:prstGeom>
          <a:ln w="15875">
            <a:solidFill>
              <a:srgbClr val="D55E00"/>
            </a:solidFill>
            <a:prstDash val="sysDash"/>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945962" y="4000512"/>
            <a:ext cx="1828800" cy="384048"/>
          </a:xfrm>
          <a:prstGeom prst="rect">
            <a:avLst/>
          </a:prstGeom>
          <a:noFill/>
        </p:spPr>
        <p:txBody>
          <a:bodyPr wrap="square" lIns="0" tIns="0" rIns="0" bIns="0" anchor="t">
            <a:spAutoFit/>
          </a:bodyPr>
          <a:lstStyle/>
          <a:p>
            <a:pPr algn="l"/>
            <a:r>
              <a:rPr sz="2300" b="1">
                <a:solidFill>
                  <a:srgbClr val="0072B2"/>
                </a:solidFill>
                <a:latin typeface="Meiryo"/>
                <a:ea typeface="Meiryo"/>
                <a:cs typeface="Meiryo"/>
              </a:rPr>
              <a:t>μ₁</a:t>
            </a:r>
          </a:p>
        </p:txBody>
      </p:sp>
      <p:sp>
        <p:nvSpPr>
          <p:cNvPr id="35" name="TextBox 34"/>
          <p:cNvSpPr txBox="1"/>
          <p:nvPr/>
        </p:nvSpPr>
        <p:spPr>
          <a:xfrm>
            <a:off x="3546162" y="4000512"/>
            <a:ext cx="1828800" cy="384048"/>
          </a:xfrm>
          <a:prstGeom prst="rect">
            <a:avLst/>
          </a:prstGeom>
          <a:noFill/>
        </p:spPr>
        <p:txBody>
          <a:bodyPr wrap="square" lIns="0" tIns="0" rIns="0" bIns="0" anchor="t">
            <a:spAutoFit/>
          </a:bodyPr>
          <a:lstStyle/>
          <a:p>
            <a:pPr algn="l"/>
            <a:r>
              <a:rPr sz="2300" b="1">
                <a:solidFill>
                  <a:srgbClr val="D55E00"/>
                </a:solidFill>
                <a:latin typeface="Meiryo"/>
                <a:ea typeface="Meiryo"/>
                <a:cs typeface="Meiryo"/>
              </a:rPr>
              <a:t>μ₂</a:t>
            </a:r>
          </a:p>
        </p:txBody>
      </p:sp>
      <p:sp>
        <p:nvSpPr>
          <p:cNvPr id="36" name="TextBox 35"/>
          <p:cNvSpPr txBox="1"/>
          <p:nvPr/>
        </p:nvSpPr>
        <p:spPr>
          <a:xfrm>
            <a:off x="1077282" y="4503432"/>
            <a:ext cx="4937760" cy="384048"/>
          </a:xfrm>
          <a:prstGeom prst="rect">
            <a:avLst/>
          </a:prstGeom>
          <a:noFill/>
        </p:spPr>
        <p:txBody>
          <a:bodyPr wrap="square" lIns="0" tIns="0" rIns="0" bIns="0" anchor="t">
            <a:spAutoFit/>
          </a:bodyPr>
          <a:lstStyle/>
          <a:p>
            <a:pPr algn="l"/>
            <a:r>
              <a:rPr sz="2200" b="0">
                <a:solidFill>
                  <a:srgbClr val="0072B2"/>
                </a:solidFill>
                <a:latin typeface="Meiryo"/>
                <a:ea typeface="Meiryo"/>
                <a:cs typeface="Meiryo"/>
              </a:rPr>
              <a:t>a₁ ＝ 第1成分波の高さ</a:t>
            </a:r>
          </a:p>
        </p:txBody>
      </p:sp>
      <p:sp>
        <p:nvSpPr>
          <p:cNvPr id="37" name="TextBox 36"/>
          <p:cNvSpPr txBox="1"/>
          <p:nvPr/>
        </p:nvSpPr>
        <p:spPr>
          <a:xfrm>
            <a:off x="1077282" y="4960632"/>
            <a:ext cx="4937760" cy="384048"/>
          </a:xfrm>
          <a:prstGeom prst="rect">
            <a:avLst/>
          </a:prstGeom>
          <a:noFill/>
        </p:spPr>
        <p:txBody>
          <a:bodyPr wrap="square" lIns="0" tIns="0" rIns="0" bIns="0" anchor="t">
            <a:spAutoFit/>
          </a:bodyPr>
          <a:lstStyle/>
          <a:p>
            <a:pPr algn="l"/>
            <a:r>
              <a:rPr sz="2200" b="0">
                <a:solidFill>
                  <a:srgbClr val="D55E00"/>
                </a:solidFill>
                <a:latin typeface="Meiryo"/>
                <a:ea typeface="Meiryo"/>
                <a:cs typeface="Meiryo"/>
              </a:rPr>
              <a:t>a₂ ＝ 第2成分波の高さ</a:t>
            </a:r>
          </a:p>
        </p:txBody>
      </p:sp>
      <p:sp>
        <p:nvSpPr>
          <p:cNvPr id="38" name="Rounded Rectangle 37"/>
          <p:cNvSpPr/>
          <p:nvPr/>
        </p:nvSpPr>
        <p:spPr>
          <a:xfrm>
            <a:off x="6655122" y="2751793"/>
            <a:ext cx="4728039"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838002" y="2861521"/>
            <a:ext cx="4420524" cy="384048"/>
          </a:xfrm>
          <a:prstGeom prst="rect">
            <a:avLst/>
          </a:prstGeom>
          <a:noFill/>
        </p:spPr>
        <p:txBody>
          <a:bodyPr wrap="square" lIns="0" tIns="0" rIns="0" bIns="0" anchor="t">
            <a:spAutoFit/>
          </a:bodyPr>
          <a:lstStyle/>
          <a:p>
            <a:pPr algn="l"/>
            <a:r>
              <a:rPr sz="2400" b="1">
                <a:solidFill>
                  <a:srgbClr val="0072B2"/>
                </a:solidFill>
                <a:latin typeface="Meiryo"/>
                <a:ea typeface="Meiryo"/>
                <a:cs typeface="Meiryo"/>
              </a:rPr>
              <a:t>T1_2 ＝ μ₂ − μ₁</a:t>
            </a:r>
          </a:p>
        </p:txBody>
      </p:sp>
      <p:sp>
        <p:nvSpPr>
          <p:cNvPr id="40" name="TextBox 39"/>
          <p:cNvSpPr txBox="1"/>
          <p:nvPr/>
        </p:nvSpPr>
        <p:spPr>
          <a:xfrm>
            <a:off x="6838002" y="3318721"/>
            <a:ext cx="4420524"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時間差 → SI ＝ 身長 ÷ T1_2</a:t>
            </a:r>
          </a:p>
        </p:txBody>
      </p:sp>
      <p:sp>
        <p:nvSpPr>
          <p:cNvPr id="41" name="Rounded Rectangle 40"/>
          <p:cNvSpPr/>
          <p:nvPr/>
        </p:nvSpPr>
        <p:spPr>
          <a:xfrm>
            <a:off x="6655122" y="3940513"/>
            <a:ext cx="4728039" cy="1078992"/>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838002" y="4050241"/>
            <a:ext cx="4420524" cy="384048"/>
          </a:xfrm>
          <a:prstGeom prst="rect">
            <a:avLst/>
          </a:prstGeom>
          <a:noFill/>
        </p:spPr>
        <p:txBody>
          <a:bodyPr wrap="square" lIns="0" tIns="0" rIns="0" bIns="0" anchor="t">
            <a:spAutoFit/>
          </a:bodyPr>
          <a:lstStyle/>
          <a:p>
            <a:pPr algn="l"/>
            <a:r>
              <a:rPr sz="2400" b="1">
                <a:solidFill>
                  <a:srgbClr val="D55E00"/>
                </a:solidFill>
                <a:latin typeface="Meiryo"/>
                <a:ea typeface="Meiryo"/>
                <a:cs typeface="Meiryo"/>
              </a:rPr>
              <a:t>R1_2 ＝ a₂ ／ a₁</a:t>
            </a:r>
          </a:p>
        </p:txBody>
      </p:sp>
      <p:sp>
        <p:nvSpPr>
          <p:cNvPr id="43" name="TextBox 42"/>
          <p:cNvSpPr txBox="1"/>
          <p:nvPr/>
        </p:nvSpPr>
        <p:spPr>
          <a:xfrm>
            <a:off x="6838002" y="4507441"/>
            <a:ext cx="4420524"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振幅比 → RI に相当</a:t>
            </a:r>
          </a:p>
        </p:txBody>
      </p:sp>
      <p:sp>
        <p:nvSpPr>
          <p:cNvPr id="4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55/71</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5.5  重要文献の全体像</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TextBox 16"/>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p:cNvSpPr txBox="1"/>
          <p:nvPr/>
        </p:nvSpPr>
        <p:spPr>
          <a:xfrm>
            <a:off x="5989320" y="1645920"/>
            <a:ext cx="57607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40. Rubins 2008</a:t>
            </a:r>
          </a:p>
        </p:txBody>
      </p:sp>
      <p:sp>
        <p:nvSpPr>
          <p:cNvPr id="23" name="TextBox 22"/>
          <p:cNvSpPr txBox="1"/>
          <p:nvPr/>
        </p:nvSpPr>
        <p:spPr>
          <a:xfrm>
            <a:off x="5989320" y="20482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ガウス当てはめで RI を算出</a:t>
            </a:r>
          </a:p>
        </p:txBody>
      </p:sp>
      <p:sp>
        <p:nvSpPr>
          <p:cNvPr id="24" name="TextBox 23"/>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Goswami 2010</a:t>
            </a:r>
          </a:p>
        </p:txBody>
      </p:sp>
      <p:sp>
        <p:nvSpPr>
          <p:cNvPr id="25" name="TextBox 24"/>
          <p:cNvSpPr txBox="1"/>
          <p:nvPr/>
        </p:nvSpPr>
        <p:spPr>
          <a:xfrm>
            <a:off x="5989320" y="25054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Rayleigh 2 波合成で SI と RI</a:t>
            </a:r>
          </a:p>
        </p:txBody>
      </p:sp>
      <p:sp>
        <p:nvSpPr>
          <p:cNvPr id="26" name="Rounded Rectangle 25"/>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p:cNvSpPr txBox="1"/>
          <p:nvPr/>
        </p:nvSpPr>
        <p:spPr>
          <a:xfrm>
            <a:off x="5989320" y="29626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Couceiro 2015</a:t>
            </a:r>
          </a:p>
        </p:txBody>
      </p:sp>
      <p:sp>
        <p:nvSpPr>
          <p:cNvPr id="30" name="TextBox 29"/>
          <p:cNvSpPr txBox="1"/>
          <p:nvPr/>
        </p:nvSpPr>
        <p:spPr>
          <a:xfrm>
            <a:off x="5989320" y="34198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p:cNvSpPr txBox="1"/>
          <p:nvPr/>
        </p:nvSpPr>
        <p:spPr>
          <a:xfrm>
            <a:off x="5989320" y="38770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最良モデルは決まらない（28.1%）</a:t>
            </a:r>
          </a:p>
        </p:txBody>
      </p:sp>
      <p:sp>
        <p:nvSpPr>
          <p:cNvPr id="35" name="TextBox 34"/>
          <p:cNvSpPr txBox="1"/>
          <p:nvPr/>
        </p:nvSpPr>
        <p:spPr>
          <a:xfrm>
            <a:off x="2697480" y="4334256"/>
            <a:ext cx="320040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35. Fleischhauer 2020</a:t>
            </a:r>
          </a:p>
        </p:txBody>
      </p:sp>
      <p:sp>
        <p:nvSpPr>
          <p:cNvPr id="36" name="TextBox 35"/>
          <p:cNvSpPr txBox="1"/>
          <p:nvPr/>
        </p:nvSpPr>
        <p:spPr>
          <a:xfrm>
            <a:off x="5989320" y="4334256"/>
            <a:ext cx="5806440" cy="384048"/>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p:cNvSpPr txBox="1"/>
          <p:nvPr/>
        </p:nvSpPr>
        <p:spPr>
          <a:xfrm>
            <a:off x="5989320" y="47914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p:cNvSpPr txBox="1"/>
          <p:nvPr/>
        </p:nvSpPr>
        <p:spPr>
          <a:xfrm>
            <a:off x="5989320" y="52486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34. Pal 2024</a:t>
            </a:r>
          </a:p>
        </p:txBody>
      </p:sp>
      <p:sp>
        <p:nvSpPr>
          <p:cNvPr id="46" name="TextBox 45"/>
          <p:cNvSpPr txBox="1"/>
          <p:nvPr/>
        </p:nvSpPr>
        <p:spPr>
          <a:xfrm>
            <a:off x="5989320" y="57058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56/71</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6923-ADF6-5286-7959-170A04144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1482-7699-516D-F4F3-160284764BFD}"/>
              </a:ext>
            </a:extLst>
          </p:cNvPr>
          <p:cNvSpPr>
            <a:spLocks noGrp="1"/>
          </p:cNvSpPr>
          <p:nvPr>
            <p:ph type="title"/>
          </p:nvPr>
        </p:nvSpPr>
        <p:spPr/>
        <p:txBody>
          <a:bodyPr/>
          <a:lstStyle/>
          <a:p>
            <a:pPr algn="l"/>
            <a:r>
              <a:rPr sz="4600" dirty="0">
                <a:latin typeface="Meiryo"/>
                <a:ea typeface="Meiryo"/>
                <a:cs typeface="Meiryo"/>
              </a:rPr>
              <a:t>5.5  重要文献の全体像</a:t>
            </a:r>
          </a:p>
        </p:txBody>
      </p:sp>
      <p:sp>
        <p:nvSpPr>
          <p:cNvPr id="12" name="Off-page Connector 4">
            <a:extLst>
              <a:ext uri="{FF2B5EF4-FFF2-40B4-BE49-F238E27FC236}">
                <a16:creationId xmlns:a16="http://schemas.microsoft.com/office/drawing/2014/main" id="{8D024030-F825-9156-0C2F-4D3461DC54D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F9EA37DB-21A5-489D-2382-FCBD11B69FE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5B42248D-5F44-F1EF-80A9-21688DF178A9}"/>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95F3F024-D112-8729-AC6A-B6E29592D6E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81FE121-EBD9-87C0-4578-06374324F521}"/>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TextBox 16">
            <a:extLst>
              <a:ext uri="{FF2B5EF4-FFF2-40B4-BE49-F238E27FC236}">
                <a16:creationId xmlns:a16="http://schemas.microsoft.com/office/drawing/2014/main" id="{186CB620-B1E0-BB1A-C3C5-7FAA7C66DE59}"/>
              </a:ext>
            </a:extLst>
          </p:cNvPr>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a:extLst>
              <a:ext uri="{FF2B5EF4-FFF2-40B4-BE49-F238E27FC236}">
                <a16:creationId xmlns:a16="http://schemas.microsoft.com/office/drawing/2014/main" id="{57FFA168-86DC-BDC3-D25F-B5106EA60BE5}"/>
              </a:ext>
            </a:extLst>
          </p:cNvPr>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a:extLst>
              <a:ext uri="{FF2B5EF4-FFF2-40B4-BE49-F238E27FC236}">
                <a16:creationId xmlns:a16="http://schemas.microsoft.com/office/drawing/2014/main" id="{BBDA85C2-3E6F-AF75-33BE-A1D8AFF3D3AE}"/>
              </a:ext>
            </a:extLst>
          </p:cNvPr>
          <p:cNvSpPr txBox="1"/>
          <p:nvPr/>
        </p:nvSpPr>
        <p:spPr>
          <a:xfrm>
            <a:off x="6918040" y="1645920"/>
            <a:ext cx="4787205" cy="338554"/>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a:extLst>
              <a:ext uri="{FF2B5EF4-FFF2-40B4-BE49-F238E27FC236}">
                <a16:creationId xmlns:a16="http://schemas.microsoft.com/office/drawing/2014/main" id="{E9AD2845-8FCE-04F8-4265-BAB3464FC50E}"/>
              </a:ext>
            </a:extLst>
          </p:cNvPr>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2871629-3C8D-6B79-576C-A0F7A618EF9D}"/>
              </a:ext>
            </a:extLst>
          </p:cNvPr>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a:extLst>
              <a:ext uri="{FF2B5EF4-FFF2-40B4-BE49-F238E27FC236}">
                <a16:creationId xmlns:a16="http://schemas.microsoft.com/office/drawing/2014/main" id="{4E81EC52-6880-F79E-6884-2FDB8B93CD42}"/>
              </a:ext>
            </a:extLst>
          </p:cNvPr>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40. Rubins 2008</a:t>
            </a:r>
          </a:p>
        </p:txBody>
      </p:sp>
      <p:sp>
        <p:nvSpPr>
          <p:cNvPr id="23" name="TextBox 22">
            <a:extLst>
              <a:ext uri="{FF2B5EF4-FFF2-40B4-BE49-F238E27FC236}">
                <a16:creationId xmlns:a16="http://schemas.microsoft.com/office/drawing/2014/main" id="{7315B619-3EF2-697F-3522-3B64E2F2A8A1}"/>
              </a:ext>
            </a:extLst>
          </p:cNvPr>
          <p:cNvSpPr txBox="1"/>
          <p:nvPr/>
        </p:nvSpPr>
        <p:spPr>
          <a:xfrm>
            <a:off x="6918040" y="2048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ガウス当てはめで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 </a:t>
            </a:r>
            <a:r>
              <a:rPr sz="2200" b="0" dirty="0" err="1">
                <a:solidFill>
                  <a:srgbClr val="262626"/>
                </a:solidFill>
                <a:latin typeface="Meiryo"/>
                <a:ea typeface="Meiryo"/>
                <a:cs typeface="Meiryo"/>
              </a:rPr>
              <a:t>を算出</a:t>
            </a:r>
            <a:endParaRPr sz="2200" b="0"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6E078EE1-86E4-6559-8E93-6E5B82A2D4CE}"/>
              </a:ext>
            </a:extLst>
          </p:cNvPr>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Goswami 2010</a:t>
            </a:r>
          </a:p>
        </p:txBody>
      </p:sp>
      <p:sp>
        <p:nvSpPr>
          <p:cNvPr id="25" name="TextBox 24">
            <a:extLst>
              <a:ext uri="{FF2B5EF4-FFF2-40B4-BE49-F238E27FC236}">
                <a16:creationId xmlns:a16="http://schemas.microsoft.com/office/drawing/2014/main" id="{651322E1-5F5B-CE01-C833-97880126295F}"/>
              </a:ext>
            </a:extLst>
          </p:cNvPr>
          <p:cNvSpPr txBox="1"/>
          <p:nvPr/>
        </p:nvSpPr>
        <p:spPr>
          <a:xfrm>
            <a:off x="6918040" y="2505456"/>
            <a:ext cx="4825199" cy="338554"/>
          </a:xfrm>
          <a:prstGeom prst="rect">
            <a:avLst/>
          </a:prstGeom>
          <a:noFill/>
        </p:spPr>
        <p:txBody>
          <a:bodyPr wrap="square" lIns="0" tIns="0" rIns="0" bIns="0" anchor="t">
            <a:spAutoFit/>
          </a:bodyPr>
          <a:lstStyle/>
          <a:p>
            <a:pPr algn="l"/>
            <a:r>
              <a:rPr sz="2200" b="0" dirty="0">
                <a:solidFill>
                  <a:srgbClr val="262626"/>
                </a:solidFill>
                <a:latin typeface="Meiryo"/>
                <a:ea typeface="Meiryo"/>
                <a:cs typeface="Meiryo"/>
              </a:rPr>
              <a:t>Rayleigh 2 </a:t>
            </a:r>
            <a:r>
              <a:rPr sz="2200" b="0" dirty="0" err="1">
                <a:solidFill>
                  <a:srgbClr val="262626"/>
                </a:solidFill>
                <a:latin typeface="Meiryo"/>
                <a:ea typeface="Meiryo"/>
                <a:cs typeface="Meiryo"/>
              </a:rPr>
              <a:t>波合成で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SI</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と</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a:t>
            </a:r>
          </a:p>
        </p:txBody>
      </p:sp>
      <p:sp>
        <p:nvSpPr>
          <p:cNvPr id="26" name="Rounded Rectangle 25">
            <a:extLst>
              <a:ext uri="{FF2B5EF4-FFF2-40B4-BE49-F238E27FC236}">
                <a16:creationId xmlns:a16="http://schemas.microsoft.com/office/drawing/2014/main" id="{7445C69C-4ADB-3E90-5D79-E83D2A3E47E7}"/>
              </a:ext>
            </a:extLst>
          </p:cNvPr>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6E1E291D-98FB-8692-CE5D-53B55313513A}"/>
              </a:ext>
            </a:extLst>
          </p:cNvPr>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a:extLst>
              <a:ext uri="{FF2B5EF4-FFF2-40B4-BE49-F238E27FC236}">
                <a16:creationId xmlns:a16="http://schemas.microsoft.com/office/drawing/2014/main" id="{B43AAF18-01A9-8697-1E81-FC27033C5827}"/>
              </a:ext>
            </a:extLst>
          </p:cNvPr>
          <p:cNvSpPr txBox="1"/>
          <p:nvPr/>
        </p:nvSpPr>
        <p:spPr>
          <a:xfrm>
            <a:off x="6918040" y="2962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a:extLst>
              <a:ext uri="{FF2B5EF4-FFF2-40B4-BE49-F238E27FC236}">
                <a16:creationId xmlns:a16="http://schemas.microsoft.com/office/drawing/2014/main" id="{151D8EB3-BE30-83A2-AACD-09BA4E7908C3}"/>
              </a:ext>
            </a:extLst>
          </p:cNvPr>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Couceiro 2015</a:t>
            </a:r>
          </a:p>
        </p:txBody>
      </p:sp>
      <p:sp>
        <p:nvSpPr>
          <p:cNvPr id="30" name="TextBox 29">
            <a:extLst>
              <a:ext uri="{FF2B5EF4-FFF2-40B4-BE49-F238E27FC236}">
                <a16:creationId xmlns:a16="http://schemas.microsoft.com/office/drawing/2014/main" id="{B07BBE08-7D1B-6F4A-FEC3-2F5399204B5C}"/>
              </a:ext>
            </a:extLst>
          </p:cNvPr>
          <p:cNvSpPr txBox="1"/>
          <p:nvPr/>
        </p:nvSpPr>
        <p:spPr>
          <a:xfrm>
            <a:off x="6918040" y="3419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a:extLst>
              <a:ext uri="{FF2B5EF4-FFF2-40B4-BE49-F238E27FC236}">
                <a16:creationId xmlns:a16="http://schemas.microsoft.com/office/drawing/2014/main" id="{6A95C85F-E698-6B7E-69EF-A4794C2AC3A8}"/>
              </a:ext>
            </a:extLst>
          </p:cNvPr>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8686F07-5D8B-429B-FF98-27DA7417EA7F}"/>
              </a:ext>
            </a:extLst>
          </p:cNvPr>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a:extLst>
              <a:ext uri="{FF2B5EF4-FFF2-40B4-BE49-F238E27FC236}">
                <a16:creationId xmlns:a16="http://schemas.microsoft.com/office/drawing/2014/main" id="{3008C4FA-2DA4-7FE6-074F-E0348BAD6433}"/>
              </a:ext>
            </a:extLst>
          </p:cNvPr>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a:extLst>
              <a:ext uri="{FF2B5EF4-FFF2-40B4-BE49-F238E27FC236}">
                <a16:creationId xmlns:a16="http://schemas.microsoft.com/office/drawing/2014/main" id="{C3853DF1-3472-188D-3692-9805E69B6A7C}"/>
              </a:ext>
            </a:extLst>
          </p:cNvPr>
          <p:cNvSpPr txBox="1"/>
          <p:nvPr/>
        </p:nvSpPr>
        <p:spPr>
          <a:xfrm>
            <a:off x="6918040" y="3877056"/>
            <a:ext cx="4825199"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最良モデルは決まらない（28.1%）</a:t>
            </a:r>
          </a:p>
        </p:txBody>
      </p:sp>
      <p:sp>
        <p:nvSpPr>
          <p:cNvPr id="35" name="TextBox 34">
            <a:extLst>
              <a:ext uri="{FF2B5EF4-FFF2-40B4-BE49-F238E27FC236}">
                <a16:creationId xmlns:a16="http://schemas.microsoft.com/office/drawing/2014/main" id="{8834D4EA-6B31-D9E2-0DEA-50B372810229}"/>
              </a:ext>
            </a:extLst>
          </p:cNvPr>
          <p:cNvSpPr txBox="1"/>
          <p:nvPr/>
        </p:nvSpPr>
        <p:spPr>
          <a:xfrm>
            <a:off x="2697480" y="4334256"/>
            <a:ext cx="3531870"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35. Fleischhauer 2020</a:t>
            </a:r>
          </a:p>
        </p:txBody>
      </p:sp>
      <p:sp>
        <p:nvSpPr>
          <p:cNvPr id="36" name="TextBox 35">
            <a:extLst>
              <a:ext uri="{FF2B5EF4-FFF2-40B4-BE49-F238E27FC236}">
                <a16:creationId xmlns:a16="http://schemas.microsoft.com/office/drawing/2014/main" id="{DF9D1F6D-75C3-2EC5-8DA3-FC0D47DEFE4C}"/>
              </a:ext>
            </a:extLst>
          </p:cNvPr>
          <p:cNvSpPr txBox="1"/>
          <p:nvPr/>
        </p:nvSpPr>
        <p:spPr>
          <a:xfrm>
            <a:off x="6918040" y="4334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a:extLst>
              <a:ext uri="{FF2B5EF4-FFF2-40B4-BE49-F238E27FC236}">
                <a16:creationId xmlns:a16="http://schemas.microsoft.com/office/drawing/2014/main" id="{5FA6C2C3-9751-B17F-AA17-4B1CC03F6CFA}"/>
              </a:ext>
            </a:extLst>
          </p:cNvPr>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a:extLst>
              <a:ext uri="{FF2B5EF4-FFF2-40B4-BE49-F238E27FC236}">
                <a16:creationId xmlns:a16="http://schemas.microsoft.com/office/drawing/2014/main" id="{65634A11-D451-E1CE-5F7C-BC7FA90D14FB}"/>
              </a:ext>
            </a:extLst>
          </p:cNvPr>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a:extLst>
              <a:ext uri="{FF2B5EF4-FFF2-40B4-BE49-F238E27FC236}">
                <a16:creationId xmlns:a16="http://schemas.microsoft.com/office/drawing/2014/main" id="{8527810F-EDBB-5FF1-7404-CC73E274E2C6}"/>
              </a:ext>
            </a:extLst>
          </p:cNvPr>
          <p:cNvSpPr txBox="1"/>
          <p:nvPr/>
        </p:nvSpPr>
        <p:spPr>
          <a:xfrm>
            <a:off x="6918040" y="47914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a:extLst>
              <a:ext uri="{FF2B5EF4-FFF2-40B4-BE49-F238E27FC236}">
                <a16:creationId xmlns:a16="http://schemas.microsoft.com/office/drawing/2014/main" id="{18B2EFF6-9693-1CED-BE13-C9A61751EE7B}"/>
              </a:ext>
            </a:extLst>
          </p:cNvPr>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a:extLst>
              <a:ext uri="{FF2B5EF4-FFF2-40B4-BE49-F238E27FC236}">
                <a16:creationId xmlns:a16="http://schemas.microsoft.com/office/drawing/2014/main" id="{3A2715EA-B066-D709-8530-6B36DA25C5A7}"/>
              </a:ext>
            </a:extLst>
          </p:cNvPr>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a:extLst>
              <a:ext uri="{FF2B5EF4-FFF2-40B4-BE49-F238E27FC236}">
                <a16:creationId xmlns:a16="http://schemas.microsoft.com/office/drawing/2014/main" id="{87D86F67-B73C-3D4E-9FDF-990BA0A5F56F}"/>
              </a:ext>
            </a:extLst>
          </p:cNvPr>
          <p:cNvSpPr txBox="1"/>
          <p:nvPr/>
        </p:nvSpPr>
        <p:spPr>
          <a:xfrm>
            <a:off x="6918040" y="5248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a:extLst>
              <a:ext uri="{FF2B5EF4-FFF2-40B4-BE49-F238E27FC236}">
                <a16:creationId xmlns:a16="http://schemas.microsoft.com/office/drawing/2014/main" id="{E00C7189-DFC2-FF73-0E43-575CB01E4327}"/>
              </a:ext>
            </a:extLst>
          </p:cNvPr>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F6A0CD54-D1B6-EA14-1EAE-AB822684EF04}"/>
              </a:ext>
            </a:extLst>
          </p:cNvPr>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a:extLst>
              <a:ext uri="{FF2B5EF4-FFF2-40B4-BE49-F238E27FC236}">
                <a16:creationId xmlns:a16="http://schemas.microsoft.com/office/drawing/2014/main" id="{BAD60E5D-D426-3AB3-78E4-92C73B99DAD8}"/>
              </a:ext>
            </a:extLst>
          </p:cNvPr>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34. Pal 2024</a:t>
            </a:r>
          </a:p>
        </p:txBody>
      </p:sp>
      <p:sp>
        <p:nvSpPr>
          <p:cNvPr id="46" name="TextBox 45">
            <a:extLst>
              <a:ext uri="{FF2B5EF4-FFF2-40B4-BE49-F238E27FC236}">
                <a16:creationId xmlns:a16="http://schemas.microsoft.com/office/drawing/2014/main" id="{60499368-D144-44A5-28C1-A576F6AAEF72}"/>
              </a:ext>
            </a:extLst>
          </p:cNvPr>
          <p:cNvSpPr txBox="1"/>
          <p:nvPr/>
        </p:nvSpPr>
        <p:spPr>
          <a:xfrm>
            <a:off x="6918040" y="5705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a:extLst>
              <a:ext uri="{FF2B5EF4-FFF2-40B4-BE49-F238E27FC236}">
                <a16:creationId xmlns:a16="http://schemas.microsoft.com/office/drawing/2014/main" id="{8497CB2C-E27E-64B3-FCCA-CD40958E8DED}"/>
              </a:ext>
            </a:extLst>
          </p:cNvPr>
          <p:cNvSpPr txBox="1"/>
          <p:nvPr/>
        </p:nvSpPr>
        <p:spPr>
          <a:xfrm>
            <a:off x="11049000" y="6606000"/>
            <a:ext cx="835861" cy="276999"/>
          </a:xfrm>
          <a:prstGeom prst="rect">
            <a:avLst/>
          </a:prstGeom>
          <a:noFill/>
        </p:spPr>
        <p:txBody>
          <a:bodyPr wrap="square">
            <a:spAutoFit/>
          </a:bodyPr>
          <a:lstStyle/>
          <a:p>
            <a:pPr algn="r"/>
            <a:r>
              <a:rPr sz="1200">
                <a:solidFill>
                  <a:srgbClr val="808080"/>
                </a:solidFill>
                <a:latin typeface="Meiryo"/>
                <a:ea typeface="Meiryo"/>
                <a:cs typeface="Meiryo"/>
              </a:rPr>
              <a:t>56/71</a:t>
            </a:r>
          </a:p>
        </p:txBody>
      </p:sp>
    </p:spTree>
    <p:extLst>
      <p:ext uri="{BB962C8B-B14F-4D97-AF65-F5344CB8AC3E}">
        <p14:creationId xmlns:p14="http://schemas.microsoft.com/office/powerpoint/2010/main" val="13267009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Rubins 2008</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72B2"/>
                </a:solidFill>
                <a:latin typeface="Meiryo"/>
                <a:ea typeface="Meiryo"/>
                <a:cs typeface="Meiryo"/>
              </a:rPr>
              <a:t>① 「点を探す」から「山を当てはめる」へ</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 40 名。指と耳の PPG を同時記録</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収縮期波と拡張期波を、それぞれ 2 つの</a:t>
            </a:r>
          </a:p>
          <a:p>
            <a:pPr algn="l">
              <a:spcAft>
                <a:spcPts val="200"/>
              </a:spcAft>
            </a:pPr>
            <a:r>
              <a:rPr sz="2200" b="0">
                <a:solidFill>
                  <a:srgbClr val="262626"/>
                </a:solidFill>
                <a:latin typeface="Meiryo"/>
                <a:ea typeface="Meiryo"/>
                <a:cs typeface="Meiryo"/>
              </a:rPr>
              <a:t>ガウス関数の和で当てはめ、RI と AI を算出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従来の微分法と同等に波形解析ができた</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ガウス分解から RI を出す発想は 2008 年に既出</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57/71</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Goswami 2010</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Goswami 2010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72B2"/>
                </a:solidFill>
                <a:latin typeface="Meiryo"/>
                <a:ea typeface="Meiryo"/>
                <a:cs typeface="Meiryo"/>
              </a:rPr>
              <a:t>② Rayleigh 2 波合成モデルで SI と RI を同時に導出</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健常者と治療中の高血圧者の指尖容積脈波 113 信号</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Rayleigh 関数による 2 波合成（TPS）モデル</a:t>
            </a:r>
          </a:p>
          <a:p>
            <a:pPr algn="l">
              <a:spcAft>
                <a:spcPts val="200"/>
              </a:spcAft>
            </a:pPr>
            <a:r>
              <a:rPr sz="2200" b="0">
                <a:solidFill>
                  <a:srgbClr val="262626"/>
                </a:solidFill>
                <a:latin typeface="Meiryo"/>
                <a:ea typeface="Meiryo"/>
                <a:cs typeface="Meiryo"/>
              </a:rPr>
              <a:t>RI・SI・脈波伝播速度・立ち上がり遅延を導出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従来のランドマーク法・微分法とよく一致した</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分解した反射波の時刻から SI を出すのも既出</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58/71</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Couceiro 2012</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45. Couceiro 2012</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③ 多ガウス分解から左室駆出時間 LVET を取り出す</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心エコーによる参照値が得られた被験者（人数は抄録に記載なし）</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収縮期相・拡張期相をガウス関数でモデル化し、</a:t>
            </a:r>
          </a:p>
          <a:p>
            <a:pPr algn="l">
              <a:spcAft>
                <a:spcPts val="200"/>
              </a:spcAft>
            </a:pPr>
            <a:r>
              <a:rPr sz="2200" b="0">
                <a:solidFill>
                  <a:srgbClr val="262626"/>
                </a:solidFill>
                <a:latin typeface="Meiryo"/>
                <a:ea typeface="Meiryo"/>
                <a:cs typeface="Meiryo"/>
              </a:rPr>
              <a:t>3 次微分から駆出の開始・終了を決めて LVET を推定</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推定誤差 15.84 ± 13.56 ms（既存法 23.01 ± 14.60）</a:t>
            </a:r>
          </a:p>
          <a:p>
            <a:pPr algn="l">
              <a:spcAft>
                <a:spcPts val="200"/>
              </a:spcAft>
            </a:pPr>
            <a:r>
              <a:rPr sz="2200" b="0">
                <a:solidFill>
                  <a:srgbClr val="262626"/>
                </a:solidFill>
                <a:latin typeface="Meiryo"/>
                <a:ea typeface="Meiryo"/>
                <a:cs typeface="Meiryo"/>
              </a:rPr>
              <a:t>心エコーとの相関は同等（0.73 vs 0.75）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目視では取り出せない生理的イベントが出てくる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59/71</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Couceiro 2015</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④ 5ガウス分解から血圧・血管抵抗まで対比した到達点</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LVET の検証は健常＋心血管疾患 68 名</a:t>
            </a:r>
          </a:p>
          <a:p>
            <a:pPr algn="l">
              <a:spcAft>
                <a:spcPts val="200"/>
              </a:spcAft>
            </a:pPr>
            <a:r>
              <a:rPr sz="2200" b="0">
                <a:solidFill>
                  <a:srgbClr val="262626"/>
                </a:solidFill>
                <a:latin typeface="Meiryo"/>
                <a:ea typeface="Meiryo"/>
                <a:cs typeface="Meiryo"/>
              </a:rPr>
              <a:t>血圧・血管抵抗の対比は血行動態不安定な 43 名</a:t>
            </a:r>
          </a:p>
        </p:txBody>
      </p:sp>
      <p:sp>
        <p:nvSpPr>
          <p:cNvPr id="22" name="TextBox 21"/>
          <p:cNvSpPr txBox="1"/>
          <p:nvPr/>
        </p:nvSpPr>
        <p:spPr>
          <a:xfrm>
            <a:off x="457200" y="3675888"/>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675888"/>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5 つのガウス関数で分解し、SI・RI に加えて</a:t>
            </a:r>
          </a:p>
          <a:p>
            <a:pPr algn="l">
              <a:spcAft>
                <a:spcPts val="200"/>
              </a:spcAft>
            </a:pPr>
            <a:r>
              <a:rPr sz="2200" b="0">
                <a:solidFill>
                  <a:srgbClr val="262626"/>
                </a:solidFill>
                <a:latin typeface="Meiryo"/>
                <a:ea typeface="Meiryo"/>
                <a:cs typeface="Meiryo"/>
              </a:rPr>
              <a:t>T1_2（時間差）・R1_2（振幅比）など 6 個を算出</a:t>
            </a:r>
          </a:p>
        </p:txBody>
      </p:sp>
      <p:sp>
        <p:nvSpPr>
          <p:cNvPr id="24" name="TextBox 23"/>
          <p:cNvSpPr txBox="1"/>
          <p:nvPr/>
        </p:nvSpPr>
        <p:spPr>
          <a:xfrm>
            <a:off x="457200" y="4535424"/>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535424"/>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LVET 絶対誤差 15.41 ± 13.66 ms（ρ=0.78）</a:t>
            </a:r>
          </a:p>
          <a:p>
            <a:pPr algn="l">
              <a:spcAft>
                <a:spcPts val="200"/>
              </a:spcAft>
            </a:pPr>
            <a:r>
              <a:rPr sz="2200" b="0">
                <a:solidFill>
                  <a:srgbClr val="262626"/>
                </a:solidFill>
                <a:latin typeface="Meiryo"/>
                <a:ea typeface="Meiryo"/>
                <a:cs typeface="Meiryo"/>
              </a:rPr>
              <a:t>R1_2 は全参照値と低相関。最高でも ρ=0.45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振幅比は当てにならない。時間側でも ρ=0.45</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60/71</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Tigges 2017</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⑤ モデル選択は決着していない ― 逆問題が一意に解けない</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ほとんどの波形形態を含む指尖容積脈波 7,805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4 種類の基底関数とモデル次数を総当たりし、</a:t>
            </a:r>
          </a:p>
          <a:p>
            <a:pPr algn="l">
              <a:spcAft>
                <a:spcPts val="200"/>
              </a:spcAft>
            </a:pPr>
            <a:r>
              <a:rPr sz="2200" b="0">
                <a:solidFill>
                  <a:srgbClr val="262626"/>
                </a:solidFill>
                <a:latin typeface="Meiryo"/>
                <a:ea typeface="Meiryo"/>
                <a:cs typeface="Meiryo"/>
              </a:rPr>
              <a:t>補正赤池情報量規準（AICc）で最良モデルを選択</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最頻の最良モデル（Gamma 3 個）でも 28.1%</a:t>
            </a:r>
          </a:p>
          <a:p>
            <a:pPr algn="l">
              <a:spcAft>
                <a:spcPts val="200"/>
              </a:spcAft>
            </a:pPr>
            <a:r>
              <a:rPr sz="2200" b="0">
                <a:solidFill>
                  <a:srgbClr val="262626"/>
                </a:solidFill>
                <a:latin typeface="Meiryo"/>
                <a:ea typeface="Meiryo"/>
                <a:cs typeface="Meiryo"/>
              </a:rPr>
              <a:t>次点の Rayleigh 2 個が 14.4%。足しても半数未満</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「どの山を何個使うか」はデータからは決まらない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61/71</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Fleischhauer</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⑥ Gamma ＋ Gaussian、カーネル 2 個が最も頑健</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合成脈波と、PPG イメージングの実測データ</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各種の脈波分解アルゴリズムを実装し、</a:t>
            </a:r>
          </a:p>
          <a:p>
            <a:pPr algn="l">
              <a:spcAft>
                <a:spcPts val="200"/>
              </a:spcAft>
            </a:pPr>
            <a:r>
              <a:rPr sz="2200" b="0">
                <a:solidFill>
                  <a:srgbClr val="262626"/>
                </a:solidFill>
                <a:latin typeface="Meiryo"/>
                <a:ea typeface="Meiryo"/>
                <a:cs typeface="Meiryo"/>
              </a:rPr>
              <a:t>カーネルの種類と個数を変えて耐性を比較</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Gamma と Gaussian の組合せが他を上回った</a:t>
            </a:r>
          </a:p>
          <a:p>
            <a:pPr algn="l">
              <a:spcAft>
                <a:spcPts val="200"/>
              </a:spcAft>
            </a:pPr>
            <a:r>
              <a:rPr sz="2200" b="0">
                <a:solidFill>
                  <a:srgbClr val="262626"/>
                </a:solidFill>
                <a:latin typeface="Meiryo"/>
                <a:ea typeface="Meiryo"/>
                <a:cs typeface="Meiryo"/>
              </a:rPr>
              <a:t>カーネル 2 個が最も頑健で、指標が 14.09% 改善</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複雑にするほど良いわけではない ― 2 個で十分</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62/71</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Basso 2024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44. Basso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⑦ 非対称な山で初期値依存を減らす</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MIMIC-III から抽出した PPG 脈波 8,000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非対称分解モデル（skewed-Gaussian）を提案</a:t>
            </a:r>
          </a:p>
          <a:p>
            <a:pPr algn="l">
              <a:spcAft>
                <a:spcPts val="200"/>
              </a:spcAft>
            </a:pPr>
            <a:r>
              <a:rPr sz="2200" b="0">
                <a:solidFill>
                  <a:srgbClr val="262626"/>
                </a:solidFill>
                <a:latin typeface="Meiryo"/>
                <a:ea typeface="Meiryo"/>
                <a:cs typeface="Meiryo"/>
              </a:rPr>
              <a:t>参照モデルは Gamma-Gaussian モデル</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残差平方和による評価で参照モデルより高精度</a:t>
            </a:r>
          </a:p>
          <a:p>
            <a:pPr algn="l">
              <a:spcAft>
                <a:spcPts val="200"/>
              </a:spcAft>
            </a:pPr>
            <a:r>
              <a:rPr sz="2200" b="0">
                <a:solidFill>
                  <a:srgbClr val="262626"/>
                </a:solidFill>
                <a:latin typeface="Meiryo"/>
                <a:ea typeface="Meiryo"/>
                <a:cs typeface="Meiryo"/>
              </a:rPr>
              <a:t>ランダム初期値への感度が低く、一貫して頑健</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裏を返せば、従来モデルは初期値で答えが動いていた</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63/71</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Baruch 2014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46. Baruch 2014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808080"/>
                </a:solidFill>
                <a:latin typeface="Meiryo"/>
                <a:ea typeface="Meiryo"/>
                <a:cs typeface="Meiryo"/>
              </a:rPr>
              <a:t>⑧ 分解由来の指標は中心動脈圧の推定に使われている</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心臓カテーテル検査を受ける患者 63 名（平均 62.7 歳）</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CareTaker の非侵襲的動脈脈波を PDA で分解し、</a:t>
            </a:r>
          </a:p>
          <a:p>
            <a:pPr algn="l">
              <a:spcAft>
                <a:spcPts val="200"/>
              </a:spcAft>
            </a:pPr>
            <a:r>
              <a:rPr sz="2200" b="0">
                <a:solidFill>
                  <a:srgbClr val="262626"/>
                </a:solidFill>
                <a:latin typeface="Meiryo"/>
                <a:ea typeface="Meiryo"/>
                <a:cs typeface="Meiryo"/>
              </a:rPr>
              <a:t>振幅比 P2P1 と時間差 T13 を抽出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P2P1 と収縮期圧、T13 と脈圧に有意な相関</a:t>
            </a:r>
          </a:p>
          <a:p>
            <a:pPr algn="l">
              <a:spcAft>
                <a:spcPts val="200"/>
              </a:spcAft>
            </a:pPr>
            <a:r>
              <a:rPr sz="2200" b="0">
                <a:solidFill>
                  <a:srgbClr val="262626"/>
                </a:solidFill>
                <a:latin typeface="Meiryo"/>
                <a:ea typeface="Meiryo"/>
                <a:cs typeface="Meiryo"/>
              </a:rPr>
              <a:t>（収縮期 R²=0.92、拡張期 R²=0.78、p&lt;0.0001）</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応用範囲の拡張という切り口では新規性は乏しい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64/71</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Pal 2024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34. Pal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BF9000"/>
                </a:solidFill>
                <a:latin typeface="Meiryo"/>
                <a:ea typeface="Meiryo"/>
                <a:cs typeface="Meiryo"/>
              </a:rPr>
              <a:t>⑨ DN-less 信号でも切痕を拾う ― IEM 法（用語の出典）</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周術期データセット MLORD の 17,327 例</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反復包絡平均（IEM）法による重複切痕の自動検出</a:t>
            </a:r>
          </a:p>
          <a:p>
            <a:pPr algn="l">
              <a:spcAft>
                <a:spcPts val="200"/>
              </a:spcAft>
            </a:pPr>
            <a:r>
              <a:rPr sz="2200" b="0">
                <a:solidFill>
                  <a:srgbClr val="262626"/>
                </a:solidFill>
                <a:latin typeface="Meiryo"/>
                <a:ea typeface="Meiryo"/>
                <a:cs typeface="Meiryo"/>
              </a:rPr>
              <a:t>参照基準は熟練研究者による手動マーキング</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DN 検出平均誤差 IEM 0.0046 秒（SD 0.0029）</a:t>
            </a:r>
          </a:p>
          <a:p>
            <a:pPr algn="l">
              <a:spcAft>
                <a:spcPts val="200"/>
              </a:spcAft>
            </a:pPr>
            <a:r>
              <a:rPr sz="2200" b="0">
                <a:solidFill>
                  <a:srgbClr val="262626"/>
                </a:solidFill>
                <a:latin typeface="Meiryo"/>
                <a:ea typeface="Meiryo"/>
                <a:cs typeface="Meiryo"/>
              </a:rPr>
              <a:t>従来の二次微分法は 0.0968 秒（SD 0.0909）</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「DN-less signals」という語はこの論文に由来する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65/71</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5.6  PDA の限界</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　／　47. Epstein 2014</a:t>
            </a:r>
          </a:p>
        </p:txBody>
      </p:sp>
      <p:sp>
        <p:nvSpPr>
          <p:cNvPr id="18" name="Rounded Rectangle 17"/>
          <p:cNvSpPr/>
          <p:nvPr/>
        </p:nvSpPr>
        <p:spPr>
          <a:xfrm>
            <a:off x="411480" y="1755648"/>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21792" y="1901952"/>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①</a:t>
            </a:r>
          </a:p>
        </p:txBody>
      </p:sp>
      <p:sp>
        <p:nvSpPr>
          <p:cNvPr id="20" name="TextBox 19"/>
          <p:cNvSpPr txBox="1"/>
          <p:nvPr/>
        </p:nvSpPr>
        <p:spPr>
          <a:xfrm>
            <a:off x="1298448" y="1920240"/>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解が一意に決まらない</a:t>
            </a:r>
          </a:p>
        </p:txBody>
      </p:sp>
      <p:sp>
        <p:nvSpPr>
          <p:cNvPr id="21" name="TextBox 20"/>
          <p:cNvSpPr txBox="1"/>
          <p:nvPr/>
        </p:nvSpPr>
        <p:spPr>
          <a:xfrm>
            <a:off x="1298448" y="2414016"/>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基底関数の種類と個数が決着しておらず、初期値でも解が動く</a:t>
            </a:r>
          </a:p>
        </p:txBody>
      </p:sp>
      <p:sp>
        <p:nvSpPr>
          <p:cNvPr id="22" name="Rounded Rectangle 21"/>
          <p:cNvSpPr/>
          <p:nvPr/>
        </p:nvSpPr>
        <p:spPr>
          <a:xfrm>
            <a:off x="411480" y="3017520"/>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1792" y="3163824"/>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②</a:t>
            </a:r>
          </a:p>
        </p:txBody>
      </p:sp>
      <p:sp>
        <p:nvSpPr>
          <p:cNvPr id="24" name="TextBox 23"/>
          <p:cNvSpPr txBox="1"/>
          <p:nvPr/>
        </p:nvSpPr>
        <p:spPr>
          <a:xfrm>
            <a:off x="1298448" y="3182112"/>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「第2の山＝反射波」とは限らない</a:t>
            </a:r>
          </a:p>
        </p:txBody>
      </p:sp>
      <p:sp>
        <p:nvSpPr>
          <p:cNvPr id="25" name="TextBox 24"/>
          <p:cNvSpPr txBox="1"/>
          <p:nvPr/>
        </p:nvSpPr>
        <p:spPr>
          <a:xfrm>
            <a:off x="1298448" y="3675888"/>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数値モデルでは第2ピークの主因はインピーダンス不整合</a:t>
            </a:r>
          </a:p>
        </p:txBody>
      </p:sp>
      <p:sp>
        <p:nvSpPr>
          <p:cNvPr id="26" name="Rounded Rectangle 25"/>
          <p:cNvSpPr/>
          <p:nvPr/>
        </p:nvSpPr>
        <p:spPr>
          <a:xfrm>
            <a:off x="411480" y="4279392"/>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21792" y="4425696"/>
            <a:ext cx="566928" cy="578598"/>
          </a:xfrm>
          <a:prstGeom prst="rect">
            <a:avLst/>
          </a:prstGeom>
          <a:noFill/>
        </p:spPr>
        <p:txBody>
          <a:bodyPr wrap="square" lIns="0" tIns="0" rIns="0" bIns="0" anchor="t">
            <a:spAutoFit/>
          </a:bodyPr>
          <a:lstStyle/>
          <a:p>
            <a:pPr algn="l"/>
            <a:r>
              <a:rPr sz="2700" b="1">
                <a:solidFill>
                  <a:srgbClr val="D55E00"/>
                </a:solidFill>
                <a:latin typeface="Meiryo"/>
                <a:ea typeface="Meiryo"/>
                <a:cs typeface="Meiryo"/>
              </a:rPr>
              <a:t>③</a:t>
            </a:r>
          </a:p>
        </p:txBody>
      </p:sp>
      <p:sp>
        <p:nvSpPr>
          <p:cNvPr id="28" name="TextBox 27"/>
          <p:cNvSpPr txBox="1"/>
          <p:nvPr/>
        </p:nvSpPr>
        <p:spPr>
          <a:xfrm>
            <a:off x="1298448" y="4443984"/>
            <a:ext cx="10241280" cy="541553"/>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振幅側の成績が弱い</a:t>
            </a:r>
          </a:p>
        </p:txBody>
      </p:sp>
      <p:sp>
        <p:nvSpPr>
          <p:cNvPr id="29" name="TextBox 28"/>
          <p:cNvSpPr txBox="1"/>
          <p:nvPr/>
        </p:nvSpPr>
        <p:spPr>
          <a:xfrm>
            <a:off x="1298448" y="4937760"/>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振幅比はすべての参照値と低相関。時間側でも ρ=0.45</a:t>
            </a:r>
          </a:p>
        </p:txBody>
      </p:sp>
      <p:sp>
        <p:nvSpPr>
          <p:cNvPr id="30" name="Rounded Rectangle 29"/>
          <p:cNvSpPr/>
          <p:nvPr/>
        </p:nvSpPr>
        <p:spPr>
          <a:xfrm>
            <a:off x="411480" y="5614416"/>
            <a:ext cx="11365992" cy="713232"/>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94360" y="5779008"/>
            <a:ext cx="11000232" cy="1004620"/>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当てはまりが良くなっても、その成分波が何かという帰属は保証されない</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66/71</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 Allen J. Photoplethysmography and its application in clinical physiological measurement. Physiol Meas 2007;28:R1–39.</a:t>
            </a:r>
          </a:p>
          <a:p>
            <a:pPr algn="l">
              <a:lnSpc>
                <a:spcPct val="115000"/>
              </a:lnSpc>
              <a:spcAft>
                <a:spcPts val="700"/>
              </a:spcAft>
            </a:pPr>
            <a:r>
              <a:rPr sz="1050" b="0">
                <a:solidFill>
                  <a:srgbClr val="262626"/>
                </a:solidFill>
                <a:latin typeface="Meiryo"/>
                <a:ea typeface="Meiryo"/>
                <a:cs typeface="Meiryo"/>
              </a:rPr>
              <a:t>2. Aoyagi T. Pulse oximetry: its invention, theory, and future. J Anesth 2003;17:259–66.</a:t>
            </a:r>
          </a:p>
          <a:p>
            <a:pPr algn="l">
              <a:lnSpc>
                <a:spcPct val="115000"/>
              </a:lnSpc>
              <a:spcAft>
                <a:spcPts val="700"/>
              </a:spcAft>
            </a:pPr>
            <a:r>
              <a:rPr sz="1050" b="0">
                <a:solidFill>
                  <a:srgbClr val="262626"/>
                </a:solidFill>
                <a:latin typeface="Meiryo"/>
                <a:ea typeface="Meiryo"/>
                <a:cs typeface="Meiryo"/>
              </a:rPr>
              <a:t>3. Chan ED, Chan MM, Chan MM. Pulse oximetry: understanding its basic principles facilitates appreciation of its limitations. Respir Med 2013;107:789–99.</a:t>
            </a:r>
          </a:p>
          <a:p>
            <a:pPr algn="l">
              <a:lnSpc>
                <a:spcPct val="115000"/>
              </a:lnSpc>
              <a:spcAft>
                <a:spcPts val="700"/>
              </a:spcAft>
            </a:pPr>
            <a:r>
              <a:rPr sz="1050" b="0">
                <a:solidFill>
                  <a:srgbClr val="262626"/>
                </a:solidFill>
                <a:latin typeface="Meiryo"/>
                <a:ea typeface="Meiryo"/>
                <a:cs typeface="Meiryo"/>
              </a:rPr>
              <a:t>4. Ahmed A, et al. Hemoglobin oxygen saturation discrepancy using various methods in patients with sickle cell vaso-occlusive painful crisis. Eur J Haematol 2005;74:309–14.</a:t>
            </a:r>
          </a:p>
          <a:p>
            <a:pPr algn="l">
              <a:lnSpc>
                <a:spcPct val="115000"/>
              </a:lnSpc>
              <a:spcAft>
                <a:spcPts val="700"/>
              </a:spcAft>
            </a:pPr>
            <a:r>
              <a:rPr sz="1050" b="0">
                <a:solidFill>
                  <a:srgbClr val="262626"/>
                </a:solidFill>
                <a:latin typeface="Meiryo"/>
                <a:ea typeface="Meiryo"/>
                <a:cs typeface="Meiryo"/>
              </a:rPr>
              <a:t>5. Politi MT, et al. The dicrotic notch analyzed by a numerical model. Comput Biol Med 2016;72:54–64.</a:t>
            </a:r>
          </a:p>
          <a:p>
            <a:pPr algn="l">
              <a:lnSpc>
                <a:spcPct val="115000"/>
              </a:lnSpc>
              <a:spcAft>
                <a:spcPts val="700"/>
              </a:spcAft>
            </a:pPr>
            <a:r>
              <a:rPr sz="1050" b="0">
                <a:solidFill>
                  <a:srgbClr val="262626"/>
                </a:solidFill>
                <a:latin typeface="Meiryo"/>
                <a:ea typeface="Meiryo"/>
                <a:cs typeface="Meiryo"/>
              </a:rPr>
              <a:t>6. Millasseau SC, et al. Determination of age-related increases in large artery stiffness by digital pulse contour analysis. Clin Sci (Lond) 2002;103:371–7.</a:t>
            </a:r>
          </a:p>
          <a:p>
            <a:pPr algn="l">
              <a:lnSpc>
                <a:spcPct val="115000"/>
              </a:lnSpc>
              <a:spcAft>
                <a:spcPts val="700"/>
              </a:spcAft>
            </a:pPr>
            <a:r>
              <a:rPr sz="1050" b="0">
                <a:solidFill>
                  <a:srgbClr val="262626"/>
                </a:solidFill>
                <a:latin typeface="Meiryo"/>
                <a:ea typeface="Meiryo"/>
                <a:cs typeface="Meiryo"/>
              </a:rPr>
              <a:t>7. Dawber TR, Thomas HE, McNamara PM. Characteristics of the dicrotic notch of the arterial pulse wave in coronary heart disease. Angiology 1973;24:244–55.</a:t>
            </a:r>
          </a:p>
        </p:txBody>
      </p:sp>
      <p:sp>
        <p:nvSpPr>
          <p:cNvPr id="17" name="TextBox 16"/>
          <p:cNvSpPr txBox="1"/>
          <p:nvPr/>
        </p:nvSpPr>
        <p:spPr>
          <a:xfrm>
            <a:off x="6217920" y="1737360"/>
            <a:ext cx="5440680" cy="474143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8. Cunningham JW, et al. Machine learning to understand genetic and clinical factors associated with the pulse waveform dicrotic notch. Circ Genom Precis Med 2023;16:e003676.</a:t>
            </a:r>
          </a:p>
          <a:p>
            <a:pPr algn="l">
              <a:lnSpc>
                <a:spcPct val="115000"/>
              </a:lnSpc>
              <a:spcAft>
                <a:spcPts val="700"/>
              </a:spcAft>
            </a:pPr>
            <a:r>
              <a:rPr sz="1050" b="0">
                <a:solidFill>
                  <a:srgbClr val="262626"/>
                </a:solidFill>
                <a:latin typeface="Meiryo"/>
                <a:ea typeface="Meiryo"/>
                <a:cs typeface="Meiryo"/>
              </a:rPr>
              <a:t>9. Fry A, et al. Comparison of sociodemographic and health-related characteristics of UK Biobank participants with those of the general population. Am J Epidemiol 2017;186:1026–34.</a:t>
            </a:r>
          </a:p>
          <a:p>
            <a:pPr algn="l">
              <a:lnSpc>
                <a:spcPct val="115000"/>
              </a:lnSpc>
              <a:spcAft>
                <a:spcPts val="700"/>
              </a:spcAft>
            </a:pPr>
            <a:r>
              <a:rPr sz="1050" b="0">
                <a:solidFill>
                  <a:srgbClr val="262626"/>
                </a:solidFill>
                <a:latin typeface="Meiryo"/>
                <a:ea typeface="Meiryo"/>
                <a:cs typeface="Meiryo"/>
              </a:rPr>
              <a:t>10. Alian AA, et al. Impact of central hypovolemia on photoplethysmographic waveform parameters in healthy volunteers. Part 1: time domain analysis. J Clin Monit Comput 2011;25:377–85.</a:t>
            </a:r>
          </a:p>
          <a:p>
            <a:pPr algn="l">
              <a:lnSpc>
                <a:spcPct val="115000"/>
              </a:lnSpc>
              <a:spcAft>
                <a:spcPts val="700"/>
              </a:spcAft>
            </a:pPr>
            <a:r>
              <a:rPr sz="1050" b="0">
                <a:solidFill>
                  <a:srgbClr val="262626"/>
                </a:solidFill>
                <a:latin typeface="Meiryo"/>
                <a:ea typeface="Meiryo"/>
                <a:cs typeface="Meiryo"/>
              </a:rPr>
              <a:t>11. Chowienczyk PJ, et al. Photoplethysmographic assessment of pulse wave reflection: blunted response to endothelium-dependent β2-adrenergic vasodilation in type II diabetes mellitus. J Am Coll Cardiol 1999;34:2007–14.</a:t>
            </a:r>
          </a:p>
          <a:p>
            <a:pPr algn="l">
              <a:lnSpc>
                <a:spcPct val="115000"/>
              </a:lnSpc>
              <a:spcAft>
                <a:spcPts val="700"/>
              </a:spcAft>
            </a:pPr>
            <a:r>
              <a:rPr sz="1050" b="0">
                <a:solidFill>
                  <a:srgbClr val="262626"/>
                </a:solidFill>
                <a:latin typeface="Meiryo"/>
                <a:ea typeface="Meiryo"/>
                <a:cs typeface="Meiryo"/>
              </a:rPr>
              <a:t>12. Millasseau SC, Kelly RP, Ritter JM, Chowienczyk PJ. The vascular impact of aging and vasoactive drugs: comparison of two digital volume pulse measurements. Am J Hypertens 2003;16:467–72.</a:t>
            </a:r>
          </a:p>
          <a:p>
            <a:pPr algn="l">
              <a:lnSpc>
                <a:spcPct val="115000"/>
              </a:lnSpc>
              <a:spcAft>
                <a:spcPts val="700"/>
              </a:spcAft>
            </a:pPr>
            <a:r>
              <a:rPr sz="1050" b="0">
                <a:solidFill>
                  <a:srgbClr val="262626"/>
                </a:solidFill>
                <a:latin typeface="Meiryo"/>
                <a:ea typeface="Meiryo"/>
                <a:cs typeface="Meiryo"/>
              </a:rPr>
              <a:t>13. Pagoulatou S, et al. The effect of left ventricular contractility on arterial hemodynamics: a model-based investigation. PLoS One 2021;16(8):e0255561.</a:t>
            </a:r>
          </a:p>
          <a:p>
            <a:pPr algn="l">
              <a:lnSpc>
                <a:spcPct val="115000"/>
              </a:lnSpc>
              <a:spcAft>
                <a:spcPts val="700"/>
              </a:spcAft>
            </a:pPr>
            <a:r>
              <a:rPr sz="1050" b="0">
                <a:solidFill>
                  <a:srgbClr val="262626"/>
                </a:solidFill>
                <a:latin typeface="Meiryo"/>
                <a:ea typeface="Meiryo"/>
                <a:cs typeface="Meiryo"/>
              </a:rPr>
              <a:t>14. Piccioli F, et al. The effect of cardiac properties on arterial pulse waves: an in-silico study. Int J Numer Method Biomed Eng 2022;38(12):e3658.</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68/71</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参考文献（2）</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15. Wilkinson IB, et al. The influence of heart rate on augmentation index and central arterial pressure in humans. J Physiol 2000;525:263–70.</a:t>
            </a:r>
          </a:p>
          <a:p>
            <a:pPr algn="l">
              <a:lnSpc>
                <a:spcPct val="115000"/>
              </a:lnSpc>
              <a:spcAft>
                <a:spcPts val="700"/>
              </a:spcAft>
            </a:pPr>
            <a:r>
              <a:rPr sz="1050" b="0">
                <a:solidFill>
                  <a:srgbClr val="262626"/>
                </a:solidFill>
                <a:latin typeface="Meiryo"/>
                <a:ea typeface="Meiryo"/>
                <a:cs typeface="Meiryo"/>
              </a:rPr>
              <a:t>16. Hashimoto J, et al. Pulse wave velocity and the second derivative of the finger photoplethysmogram in treated hypertensive patients. J Hypertens 2002;20:2415–22.</a:t>
            </a:r>
          </a:p>
          <a:p>
            <a:pPr algn="l">
              <a:lnSpc>
                <a:spcPct val="115000"/>
              </a:lnSpc>
              <a:spcAft>
                <a:spcPts val="700"/>
              </a:spcAft>
            </a:pPr>
            <a:r>
              <a:rPr sz="1050" b="0">
                <a:solidFill>
                  <a:srgbClr val="262626"/>
                </a:solidFill>
                <a:latin typeface="Meiryo"/>
                <a:ea typeface="Meiryo"/>
                <a:cs typeface="Meiryo"/>
              </a:rPr>
              <a:t>17. Charlton PH, et al. Modeling arterial pulse waves in healthy aging: a database for in silico evaluation of hemodynamics and pulse wave indexes. Am J Physiol Heart Circ Physiol 2019;317:H1062–85.</a:t>
            </a:r>
          </a:p>
          <a:p>
            <a:pPr algn="l">
              <a:lnSpc>
                <a:spcPct val="115000"/>
              </a:lnSpc>
              <a:spcAft>
                <a:spcPts val="700"/>
              </a:spcAft>
            </a:pPr>
            <a:r>
              <a:rPr sz="1050" b="0">
                <a:solidFill>
                  <a:srgbClr val="262626"/>
                </a:solidFill>
                <a:latin typeface="Meiryo"/>
                <a:ea typeface="Meiryo"/>
                <a:cs typeface="Meiryo"/>
              </a:rPr>
              <a:t>18. Md Lazim MR, et al. Is heart rate a confounding factor for photoplethysmography markers? A systematic review. Int J Environ Res Public Health 2020;17:2591.</a:t>
            </a:r>
          </a:p>
          <a:p>
            <a:pPr algn="l">
              <a:lnSpc>
                <a:spcPct val="115000"/>
              </a:lnSpc>
              <a:spcAft>
                <a:spcPts val="700"/>
              </a:spcAft>
            </a:pPr>
            <a:r>
              <a:rPr sz="1050" b="0">
                <a:solidFill>
                  <a:srgbClr val="262626"/>
                </a:solidFill>
                <a:latin typeface="Meiryo"/>
                <a:ea typeface="Meiryo"/>
                <a:cs typeface="Meiryo"/>
              </a:rPr>
              <a:t>19. Murray WB, Foster PA. The peripheral pulse wave: information overlooked. J Clin Monit 1996;12:365–77.</a:t>
            </a:r>
          </a:p>
          <a:p>
            <a:pPr algn="l">
              <a:lnSpc>
                <a:spcPct val="115000"/>
              </a:lnSpc>
              <a:spcAft>
                <a:spcPts val="700"/>
              </a:spcAft>
            </a:pPr>
            <a:r>
              <a:rPr sz="1050" b="0">
                <a:solidFill>
                  <a:srgbClr val="262626"/>
                </a:solidFill>
                <a:latin typeface="Meiryo"/>
                <a:ea typeface="Meiryo"/>
                <a:cs typeface="Meiryo"/>
              </a:rPr>
              <a:t>20. Tusman G, et al. Photoplethysmographic characterization of vascular tone mediated changes in arterial pressure: an observational study. J Clin Monit Comput 2019;33:815–24.</a:t>
            </a:r>
          </a:p>
          <a:p>
            <a:pPr algn="l">
              <a:lnSpc>
                <a:spcPct val="115000"/>
              </a:lnSpc>
              <a:spcAft>
                <a:spcPts val="700"/>
              </a:spcAft>
            </a:pPr>
            <a:r>
              <a:rPr sz="1050" b="0">
                <a:solidFill>
                  <a:srgbClr val="262626"/>
                </a:solidFill>
                <a:latin typeface="Meiryo"/>
                <a:ea typeface="Meiryo"/>
                <a:cs typeface="Meiryo"/>
              </a:rPr>
              <a:t>21. Coutrot M, et al. Noninvasive continuous detection of arterial hypotension during induction of anaesthesia using a photoplethysmographic signal: proof of concept. Br J Anaesth 2019;122:605–12.</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22. Lee QY, et al. Multivariate classification of systemic vascular resistance using photoplethysmography. Physiol Meas 2011;32:1117–32.</a:t>
            </a:r>
          </a:p>
          <a:p>
            <a:pPr algn="l">
              <a:lnSpc>
                <a:spcPct val="115000"/>
              </a:lnSpc>
              <a:spcAft>
                <a:spcPts val="700"/>
              </a:spcAft>
            </a:pPr>
            <a:r>
              <a:rPr sz="1050" b="0">
                <a:solidFill>
                  <a:srgbClr val="262626"/>
                </a:solidFill>
                <a:latin typeface="Meiryo"/>
                <a:ea typeface="Meiryo"/>
                <a:cs typeface="Meiryo"/>
              </a:rPr>
              <a:t>23. Elgendi M. On the analysis of fingertip photoplethysmogram signals. Curr Cardiol Rev 2012;8:14–25.</a:t>
            </a:r>
          </a:p>
          <a:p>
            <a:pPr algn="l">
              <a:lnSpc>
                <a:spcPct val="115000"/>
              </a:lnSpc>
              <a:spcAft>
                <a:spcPts val="700"/>
              </a:spcAft>
            </a:pPr>
            <a:r>
              <a:rPr sz="1050" b="0">
                <a:solidFill>
                  <a:srgbClr val="262626"/>
                </a:solidFill>
                <a:latin typeface="Meiryo"/>
                <a:ea typeface="Meiryo"/>
                <a:cs typeface="Meiryo"/>
              </a:rPr>
              <a:t>24. Takazawa K, et al. Assessment of vasoactive agents and vascular aging by the second derivative of the photoplethysmogram waveform. Hypertension 1998;32:365–70.</a:t>
            </a:r>
          </a:p>
          <a:p>
            <a:pPr algn="l">
              <a:lnSpc>
                <a:spcPct val="115000"/>
              </a:lnSpc>
              <a:spcAft>
                <a:spcPts val="700"/>
              </a:spcAft>
            </a:pPr>
            <a:r>
              <a:rPr sz="1050" b="0">
                <a:solidFill>
                  <a:srgbClr val="262626"/>
                </a:solidFill>
                <a:latin typeface="Meiryo"/>
                <a:ea typeface="Meiryo"/>
                <a:cs typeface="Meiryo"/>
              </a:rPr>
              <a:t>25. Bortolotto LA, et al. Assessment of vascular aging and atherosclerosis in hypertensive subjects: second derivative of photoplethysmogram versus pulse wave velocity. Am J Hypertens 2000;13:165–71.</a:t>
            </a:r>
          </a:p>
          <a:p>
            <a:pPr algn="l">
              <a:lnSpc>
                <a:spcPct val="115000"/>
              </a:lnSpc>
              <a:spcAft>
                <a:spcPts val="700"/>
              </a:spcAft>
            </a:pPr>
            <a:r>
              <a:rPr sz="1050" b="0">
                <a:solidFill>
                  <a:srgbClr val="262626"/>
                </a:solidFill>
                <a:latin typeface="Meiryo"/>
                <a:ea typeface="Meiryo"/>
                <a:cs typeface="Meiryo"/>
              </a:rPr>
              <a:t>26. Otsuka T, et al. Utility of second derivative of the finger photoplethysmogram for the estimation of the risk of coronary heart disease in the general population. Circ J 2006;70:304–10.</a:t>
            </a:r>
          </a:p>
          <a:p>
            <a:pPr algn="l">
              <a:lnSpc>
                <a:spcPct val="115000"/>
              </a:lnSpc>
              <a:spcAft>
                <a:spcPts val="700"/>
              </a:spcAft>
            </a:pPr>
            <a:r>
              <a:rPr sz="1050" b="0">
                <a:solidFill>
                  <a:srgbClr val="262626"/>
                </a:solidFill>
                <a:latin typeface="Meiryo"/>
                <a:ea typeface="Meiryo"/>
                <a:cs typeface="Meiryo"/>
              </a:rPr>
              <a:t>27. Tabara Y, et al. Usefulness of the second derivative of the finger photoplethysmogram for assessment of end-organ damage: the J-SHIPP study. Hypertens Res 2016;39:552–6.</a:t>
            </a:r>
          </a:p>
          <a:p>
            <a:pPr algn="l">
              <a:lnSpc>
                <a:spcPct val="115000"/>
              </a:lnSpc>
              <a:spcAft>
                <a:spcPts val="700"/>
              </a:spcAft>
            </a:pPr>
            <a:r>
              <a:rPr sz="1050" b="0">
                <a:solidFill>
                  <a:srgbClr val="262626"/>
                </a:solidFill>
                <a:latin typeface="Meiryo"/>
                <a:ea typeface="Meiryo"/>
                <a:cs typeface="Meiryo"/>
              </a:rPr>
              <a:t>28. von Wowern E, Östling G, Nilsson PM, Olofsson P. Digital photoplethysmography for assessment of arterial stiffness: repeatability and comparison with applanation tonometry. PLoS One 2015;10(8):e0135659.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69/71</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参考文献（3）</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29. Elgendi M, et al. Detection of a and b waves in the acceleration photoplethysmogram. Biomed Eng Online 2014;13:139.</a:t>
            </a:r>
          </a:p>
          <a:p>
            <a:pPr algn="l">
              <a:lnSpc>
                <a:spcPct val="115000"/>
              </a:lnSpc>
              <a:spcAft>
                <a:spcPts val="700"/>
              </a:spcAft>
            </a:pPr>
            <a:r>
              <a:rPr sz="1050" b="0">
                <a:solidFill>
                  <a:srgbClr val="262626"/>
                </a:solidFill>
                <a:latin typeface="Meiryo"/>
                <a:ea typeface="Meiryo"/>
                <a:cs typeface="Meiryo"/>
              </a:rPr>
              <a:t>30. Kohjitani A, et al. Responses of the second derivative of the finger photoplethysmogram indices and hemodynamic parameters to anesthesia induction. Hypertens Res 2012;35:53–60.</a:t>
            </a:r>
          </a:p>
          <a:p>
            <a:pPr algn="l">
              <a:lnSpc>
                <a:spcPct val="115000"/>
              </a:lnSpc>
              <a:spcAft>
                <a:spcPts val="700"/>
              </a:spcAft>
            </a:pPr>
            <a:r>
              <a:rPr sz="1050" b="0">
                <a:solidFill>
                  <a:srgbClr val="262626"/>
                </a:solidFill>
                <a:latin typeface="Meiryo"/>
                <a:ea typeface="Meiryo"/>
                <a:cs typeface="Meiryo"/>
              </a:rPr>
              <a:t>31. Joachim J, et al. Real-time estimation of mean arterial blood pressure based on photoplethysmography dicrotic notch and perfusion index: a pilot study. J Clin Monit Comput 2021;35:395–404.</a:t>
            </a:r>
          </a:p>
          <a:p>
            <a:pPr algn="l">
              <a:lnSpc>
                <a:spcPct val="115000"/>
              </a:lnSpc>
              <a:spcAft>
                <a:spcPts val="700"/>
              </a:spcAft>
            </a:pPr>
            <a:r>
              <a:rPr sz="1050" b="0">
                <a:solidFill>
                  <a:srgbClr val="262626"/>
                </a:solidFill>
                <a:latin typeface="Meiryo"/>
                <a:ea typeface="Meiryo"/>
                <a:cs typeface="Meiryo"/>
              </a:rPr>
              <a:t>32. Padilla JM, et al. Pulse wave velocity and digital volume pulse as indirect estimators of blood pressure: pilot study on healthy volunteers. Cardiovasc Eng 2009;9:104–12.</a:t>
            </a:r>
          </a:p>
          <a:p>
            <a:pPr algn="l">
              <a:lnSpc>
                <a:spcPct val="115000"/>
              </a:lnSpc>
              <a:spcAft>
                <a:spcPts val="700"/>
              </a:spcAft>
            </a:pPr>
            <a:r>
              <a:rPr sz="1050" b="0">
                <a:solidFill>
                  <a:srgbClr val="262626"/>
                </a:solidFill>
                <a:latin typeface="Meiryo"/>
                <a:ea typeface="Meiryo"/>
                <a:cs typeface="Meiryo"/>
              </a:rPr>
              <a:t>33. Wu HT, et al. Novel application of parameters in waveform contour analysis for assessing arterial stiffness in aged and atherosclerotic subjects. Atherosclerosis 2010;213:173–7.</a:t>
            </a:r>
          </a:p>
          <a:p>
            <a:pPr algn="l">
              <a:lnSpc>
                <a:spcPct val="115000"/>
              </a:lnSpc>
              <a:spcAft>
                <a:spcPts val="700"/>
              </a:spcAft>
            </a:pPr>
            <a:r>
              <a:rPr sz="1050" b="0">
                <a:solidFill>
                  <a:srgbClr val="262626"/>
                </a:solidFill>
                <a:latin typeface="Meiryo"/>
                <a:ea typeface="Meiryo"/>
                <a:cs typeface="Meiryo"/>
              </a:rPr>
              <a:t>34. Pal R, et al. An algorithm to detect dicrotic notch in arterial blood pressure and photoplethysmography waveforms using the iterative envelope mean method. Comput Methods Programs Biomed 2024;254:108283.</a:t>
            </a:r>
          </a:p>
          <a:p>
            <a:pPr algn="l">
              <a:lnSpc>
                <a:spcPct val="115000"/>
              </a:lnSpc>
              <a:spcAft>
                <a:spcPts val="700"/>
              </a:spcAft>
            </a:pPr>
            <a:r>
              <a:rPr sz="1050" b="0">
                <a:solidFill>
                  <a:srgbClr val="262626"/>
                </a:solidFill>
                <a:latin typeface="Meiryo"/>
                <a:ea typeface="Meiryo"/>
                <a:cs typeface="Meiryo"/>
              </a:rPr>
              <a:t>35. Fleischhauer V, et al. Pulse decomposition analysis in photoplethysmography imaging. Physiol Meas 2020;41:095009.</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36. Attivissimo F, et al. Photoplethysmography signal wavelet enhancement and novel features selection for non-invasive cuff-less blood pressure monitoring. Sensors 2023;23:2321.</a:t>
            </a:r>
          </a:p>
          <a:p>
            <a:pPr algn="l">
              <a:lnSpc>
                <a:spcPct val="115000"/>
              </a:lnSpc>
              <a:spcAft>
                <a:spcPts val="700"/>
              </a:spcAft>
            </a:pPr>
            <a:r>
              <a:rPr sz="1050" b="0">
                <a:solidFill>
                  <a:srgbClr val="262626"/>
                </a:solidFill>
                <a:latin typeface="Meiryo"/>
                <a:ea typeface="Meiryo"/>
                <a:cs typeface="Meiryo"/>
              </a:rPr>
              <a:t>37. Domínguez-Hernández S, Páez G, Padilla M. Harmonic-selective Gaussian filtering for morphology and timing preservation in PPG signals. Sensors 2026;26:3710.</a:t>
            </a:r>
          </a:p>
          <a:p>
            <a:pPr algn="l">
              <a:lnSpc>
                <a:spcPct val="115000"/>
              </a:lnSpc>
              <a:spcAft>
                <a:spcPts val="700"/>
              </a:spcAft>
            </a:pPr>
            <a:r>
              <a:rPr sz="1050" b="0">
                <a:solidFill>
                  <a:srgbClr val="262626"/>
                </a:solidFill>
                <a:latin typeface="Meiryo"/>
                <a:ea typeface="Meiryo"/>
                <a:cs typeface="Meiryo"/>
              </a:rPr>
              <a:t>38. Shin H, Noh G, Choi BM. Photoplethysmogram based vascular aging assessment using the deep convolutional neural network. Sci Rep 2022;12:11377.</a:t>
            </a:r>
          </a:p>
          <a:p>
            <a:pPr algn="l">
              <a:lnSpc>
                <a:spcPct val="115000"/>
              </a:lnSpc>
              <a:spcAft>
                <a:spcPts val="700"/>
              </a:spcAft>
            </a:pPr>
            <a:r>
              <a:rPr sz="1050" b="0">
                <a:solidFill>
                  <a:srgbClr val="262626"/>
                </a:solidFill>
                <a:latin typeface="Meiryo"/>
                <a:ea typeface="Meiryo"/>
                <a:cs typeface="Meiryo"/>
              </a:rPr>
              <a:t>39. Vargas JM, et al. Assessment of pulse wave velocity through weighted visibility graph metrics from photoplethysmographic signals. Sci Rep 2025;15:31128.</a:t>
            </a:r>
          </a:p>
          <a:p>
            <a:pPr algn="l">
              <a:lnSpc>
                <a:spcPct val="115000"/>
              </a:lnSpc>
              <a:spcAft>
                <a:spcPts val="700"/>
              </a:spcAft>
            </a:pPr>
            <a:r>
              <a:rPr sz="1050" b="0">
                <a:solidFill>
                  <a:srgbClr val="262626"/>
                </a:solidFill>
                <a:latin typeface="Meiryo"/>
                <a:ea typeface="Meiryo"/>
                <a:cs typeface="Meiryo"/>
              </a:rPr>
              <a:t>40. Rubins U. Finger and ear photoplethysmogram waveform analysis by fitting with Gaussians. Med Biol Eng Comput 2008;46:1271–6.</a:t>
            </a:r>
          </a:p>
          <a:p>
            <a:pPr algn="l">
              <a:lnSpc>
                <a:spcPct val="115000"/>
              </a:lnSpc>
              <a:spcAft>
                <a:spcPts val="700"/>
              </a:spcAft>
            </a:pPr>
            <a:r>
              <a:rPr sz="1050" b="0">
                <a:solidFill>
                  <a:srgbClr val="262626"/>
                </a:solidFill>
                <a:latin typeface="Meiryo"/>
                <a:ea typeface="Meiryo"/>
                <a:cs typeface="Meiryo"/>
              </a:rPr>
              <a:t>41. Goswami D, et al. A new two-pulse synthesis model for digital volume pulse signal analysis. Cardiovasc Eng 2010;10:109–17.</a:t>
            </a:r>
          </a:p>
          <a:p>
            <a:pPr algn="l">
              <a:lnSpc>
                <a:spcPct val="115000"/>
              </a:lnSpc>
              <a:spcAft>
                <a:spcPts val="700"/>
              </a:spcAft>
            </a:pPr>
            <a:r>
              <a:rPr sz="1050" b="0">
                <a:solidFill>
                  <a:srgbClr val="262626"/>
                </a:solidFill>
                <a:latin typeface="Meiryo"/>
                <a:ea typeface="Meiryo"/>
                <a:cs typeface="Meiryo"/>
              </a:rPr>
              <a:t>42. Couceiro R, et al. Assessment of cardiovascular function from multi-Gaussian fitting of a finger photoplethysmogram. Physiol Meas 2015;36:1801–25.</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70/71</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参考文献（4）</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43. Tigges T, et al. Model selection for the pulse decomposition analysis of fingertip photoplethysmograms. Annu Int Conf IEEE EMBC 2017;2017:4014–7.</a:t>
            </a:r>
          </a:p>
          <a:p>
            <a:pPr algn="l">
              <a:lnSpc>
                <a:spcPct val="115000"/>
              </a:lnSpc>
              <a:spcAft>
                <a:spcPts val="700"/>
              </a:spcAft>
            </a:pPr>
            <a:r>
              <a:rPr sz="1050" b="0">
                <a:solidFill>
                  <a:srgbClr val="262626"/>
                </a:solidFill>
                <a:latin typeface="Meiryo"/>
                <a:ea typeface="Meiryo"/>
                <a:cs typeface="Meiryo"/>
              </a:rPr>
              <a:t>44. Basso G, et al. A skewed-Gaussian model for pulse decomposition analysis of photoplethysmography signals. Physiol Meas 2024;45(11):125005.</a:t>
            </a:r>
          </a:p>
          <a:p>
            <a:pPr algn="l">
              <a:lnSpc>
                <a:spcPct val="115000"/>
              </a:lnSpc>
              <a:spcAft>
                <a:spcPts val="700"/>
              </a:spcAft>
            </a:pPr>
            <a:r>
              <a:rPr sz="1050" b="0">
                <a:solidFill>
                  <a:srgbClr val="262626"/>
                </a:solidFill>
                <a:latin typeface="Meiryo"/>
                <a:ea typeface="Meiryo"/>
                <a:cs typeface="Meiryo"/>
              </a:rPr>
              <a:t>45. Couceiro R, et al. Multi-Gaussian fitting for the assessment of left ventricular ejection time from the photoplethysmogram. Annu Int Conf IEEE EMBC 2012;2012:3951–4.</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46. Baruch MC, et al. Validation of the pulse decomposition analysis algorithm using central arterial blood pressure. Biomed Eng Online 2014;13:96.</a:t>
            </a:r>
          </a:p>
          <a:p>
            <a:pPr algn="l">
              <a:lnSpc>
                <a:spcPct val="115000"/>
              </a:lnSpc>
              <a:spcAft>
                <a:spcPts val="700"/>
              </a:spcAft>
            </a:pPr>
            <a:r>
              <a:rPr sz="1050" b="0">
                <a:solidFill>
                  <a:srgbClr val="262626"/>
                </a:solidFill>
                <a:latin typeface="Meiryo"/>
                <a:ea typeface="Meiryo"/>
                <a:cs typeface="Meiryo"/>
              </a:rPr>
              <a:t>47. Epstein S, et al. Numerical assessment of the stiffness index. Annu Int Conf IEEE EMBC 2014;2014:1969–72.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71/71</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24573</TotalTime>
  <Words>27886</Words>
  <Application>Microsoft Macintosh PowerPoint</Application>
  <PresentationFormat>ワイド画面</PresentationFormat>
  <Paragraphs>4109</Paragraphs>
  <Slides>101</Slides>
  <Notes>92</Notes>
  <HiddenSlides>4</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101</vt:i4>
      </vt:variant>
    </vt:vector>
  </HeadingPairs>
  <TitlesOfParts>
    <vt:vector size="106" baseType="lpstr">
      <vt:lpstr>Meiryo</vt:lpstr>
      <vt:lpstr>游ゴシック</vt:lpstr>
      <vt:lpstr>Arial</vt:lpstr>
      <vt:lpstr>Calibri</vt:lpstr>
      <vt:lpstr>Office テーマ</vt:lpstr>
      <vt:lpstr>光電式容積脈波記録法：PhotoPlethysmoGraphy（ PPG ） 波形解析について</vt:lpstr>
      <vt:lpstr>用語の整理</vt:lpstr>
      <vt:lpstr>メニュー</vt:lpstr>
      <vt:lpstr>1. PPGの基礎</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 残存動脈血について</vt:lpstr>
      <vt:lpstr>1.2  PPGが測るもの</vt:lpstr>
      <vt:lpstr>1.3  前進波の成因</vt:lpstr>
      <vt:lpstr>1.3  前進波の成因</vt:lpstr>
      <vt:lpstr>1.3  前進波の成因</vt:lpstr>
      <vt:lpstr>1.4  反射波の成因</vt:lpstr>
      <vt:lpstr>1.5  PPG基礎まとめ</vt:lpstr>
      <vt:lpstr>2. 波形への影響</vt:lpstr>
      <vt:lpstr>2. 波形への影響</vt:lpstr>
      <vt:lpstr>2.1.1  フラミンガム研究</vt:lpstr>
      <vt:lpstr>2.1.1  フラミンガム研究</vt:lpstr>
      <vt:lpstr>2.1.1  フラミンガム研究</vt:lpstr>
      <vt:lpstr>2.1.1  フラミンガム研究</vt:lpstr>
      <vt:lpstr>PowerPoint プレゼンテーション</vt:lpstr>
      <vt:lpstr>PowerPoint プレゼンテーション</vt:lpstr>
      <vt:lpstr>2.1.2  UK Biobank</vt:lpstr>
      <vt:lpstr>2.1.2  UK Biobank</vt:lpstr>
      <vt:lpstr>2.1.2  UK Biobank</vt:lpstr>
      <vt:lpstr>2.1.2  UK Biobank</vt:lpstr>
      <vt:lpstr>2.1.3  切痕平滑化の理由</vt:lpstr>
      <vt:lpstr>2.1.3  切痕平滑化の理由</vt:lpstr>
      <vt:lpstr>2. 波形への影響</vt:lpstr>
      <vt:lpstr>2.2.1  前負荷</vt:lpstr>
      <vt:lpstr>2.2.1  前負荷</vt:lpstr>
      <vt:lpstr>2.2.2  後負荷：末梢</vt:lpstr>
      <vt:lpstr>2.2.2  後負荷：末梢</vt:lpstr>
      <vt:lpstr>2.2.3  後負荷の違い</vt:lpstr>
      <vt:lpstr>2.2.4  心収縮力</vt:lpstr>
      <vt:lpstr>2.2.4  心収縮力</vt:lpstr>
      <vt:lpstr>2.2.5  心拍数</vt:lpstr>
      <vt:lpstr>2.2.6  波形変化まとめ</vt:lpstr>
      <vt:lpstr>2. 波形への影響</vt:lpstr>
      <vt:lpstr>2.3.1  切痕位置とトーヌス</vt:lpstr>
      <vt:lpstr>2.3.2  波形の6分類</vt:lpstr>
      <vt:lpstr>2.3.2  波形の6分類</vt:lpstr>
      <vt:lpstr>2.3.2  6分類と血行動態</vt:lpstr>
      <vt:lpstr>2.3.2  6分類と血行動態</vt:lpstr>
      <vt:lpstr>2.3.3  導入時の低血圧</vt:lpstr>
      <vt:lpstr>3. 波形の定量化</vt:lpstr>
      <vt:lpstr>3.1. Stiffness Index</vt:lpstr>
      <vt:lpstr>3.1. Stiffness Index</vt:lpstr>
      <vt:lpstr>3.2  Reflection Index</vt:lpstr>
      <vt:lpstr>3.2  Reflection Index</vt:lpstr>
      <vt:lpstr>3.2  Reflection Index</vt:lpstr>
      <vt:lpstr>3.2  RI と心拍数</vt:lpstr>
      <vt:lpstr>3.3  加速度脈波 SDPPG</vt:lpstr>
      <vt:lpstr>3.3  加速度脈波 SDPPG</vt:lpstr>
      <vt:lpstr>3.3  SDPPG の主な知見</vt:lpstr>
      <vt:lpstr>3.3  SDPPG は何を測れたか</vt:lpstr>
      <vt:lpstr>3.3  b/a と SI</vt:lpstr>
      <vt:lpstr>3.3  b/a と SI</vt:lpstr>
      <vt:lpstr>3.3  d/a と RI</vt:lpstr>
      <vt:lpstr>3.3  d/a と RI</vt:lpstr>
      <vt:lpstr>3.4  定量化指標まとめ</vt:lpstr>
      <vt:lpstr>4. 限界</vt:lpstr>
      <vt:lpstr>4.1  自動解析の壁</vt:lpstr>
      <vt:lpstr>4.2  極端な動脈硬化</vt:lpstr>
      <vt:lpstr>4.3  DN-less 信号対策</vt:lpstr>
      <vt:lpstr>4.3  DN-less 信号対策</vt:lpstr>
      <vt:lpstr>5. PDA（波形分解）</vt:lpstr>
      <vt:lpstr>5.1  PDA とは</vt:lpstr>
      <vt:lpstr>5.2  合成波と成分波</vt:lpstr>
      <vt:lpstr>5.2  合成波と成分波</vt:lpstr>
      <vt:lpstr>5.2  基底関数とは</vt:lpstr>
      <vt:lpstr>5.2  基底関数とは</vt:lpstr>
      <vt:lpstr>5.2  基底関数の形</vt:lpstr>
      <vt:lpstr>5.2  基底関数の形</vt:lpstr>
      <vt:lpstr>5.2  カーネル数</vt:lpstr>
      <vt:lpstr>5.2  カーネル数</vt:lpstr>
      <vt:lpstr>5.3  当てはめの手順</vt:lpstr>
      <vt:lpstr>5.3  どうやって推測するのか</vt:lpstr>
      <vt:lpstr>5.4  得られる指標</vt:lpstr>
      <vt:lpstr>5.5  重要文献の全体像</vt:lpstr>
      <vt:lpstr>5.5  重要文献の全体像</vt:lpstr>
      <vt:lpstr>5.5  Rubins 2008</vt:lpstr>
      <vt:lpstr>5.5  Goswami 2010</vt:lpstr>
      <vt:lpstr>5.5  Couceiro 2012</vt:lpstr>
      <vt:lpstr>5.5  Couceiro 2015</vt:lpstr>
      <vt:lpstr>5.5  Tigges 2017</vt:lpstr>
      <vt:lpstr>5.5  Fleischhauer</vt:lpstr>
      <vt:lpstr>5.5  Basso 2024</vt:lpstr>
      <vt:lpstr>5.5  Baruch 2014</vt:lpstr>
      <vt:lpstr>5.5  Pal 2024</vt:lpstr>
      <vt:lpstr>5.6  PDA の限界</vt:lpstr>
      <vt:lpstr>参考文献</vt:lpstr>
      <vt:lpstr>参考文献（2）</vt:lpstr>
      <vt:lpstr>参考文献（3）</vt:lpstr>
      <vt:lpstr>参考文献（4）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71</cp:revision>
  <dcterms:created xsi:type="dcterms:W3CDTF">2025-01-05T04:32:32Z</dcterms:created>
  <dcterms:modified xsi:type="dcterms:W3CDTF">2026-08-15T08:15:29Z</dcterms:modified>
</cp:coreProperties>
</file>