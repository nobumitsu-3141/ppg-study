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3"/>
  </p:notesMasterIdLst>
  <p:sldIdLst>
    <p:sldId id="372" r:id="rId2"/>
    <p:sldId id="458" r:id="rId3"/>
    <p:sldId id="259" r:id="rId4"/>
    <p:sldId id="260" r:id="rId5"/>
    <p:sldId id="368" r:id="rId6"/>
    <p:sldId id="369" r:id="rId7"/>
    <p:sldId id="349" r:id="rId8"/>
    <p:sldId id="380" r:id="rId9"/>
    <p:sldId id="399" r:id="rId10"/>
    <p:sldId id="401" r:id="rId11"/>
    <p:sldId id="402" r:id="rId12"/>
    <p:sldId id="377" r:id="rId13"/>
    <p:sldId id="378" r:id="rId14"/>
    <p:sldId id="397" r:id="rId15"/>
    <p:sldId id="347" r:id="rId16"/>
    <p:sldId id="352" r:id="rId17"/>
    <p:sldId id="379" r:id="rId18"/>
    <p:sldId id="351" r:id="rId19"/>
    <p:sldId id="328" r:id="rId20"/>
    <p:sldId id="432" r:id="rId21"/>
    <p:sldId id="306" r:id="rId22"/>
    <p:sldId id="472" r:id="rId23"/>
    <p:sldId id="354" r:id="rId24"/>
    <p:sldId id="422" r:id="rId25"/>
    <p:sldId id="307" r:id="rId26"/>
    <p:sldId id="382" r:id="rId27"/>
    <p:sldId id="384" r:id="rId28"/>
    <p:sldId id="339" r:id="rId29"/>
    <p:sldId id="425" r:id="rId30"/>
    <p:sldId id="424" r:id="rId31"/>
    <p:sldId id="355" r:id="rId32"/>
    <p:sldId id="311" r:id="rId33"/>
    <p:sldId id="272" r:id="rId34"/>
    <p:sldId id="383" r:id="rId35"/>
    <p:sldId id="473" r:id="rId36"/>
    <p:sldId id="403" r:id="rId37"/>
    <p:sldId id="356" r:id="rId38"/>
    <p:sldId id="427" r:id="rId39"/>
    <p:sldId id="428" r:id="rId40"/>
    <p:sldId id="320" r:id="rId41"/>
    <p:sldId id="410" r:id="rId42"/>
    <p:sldId id="409" r:id="rId43"/>
    <p:sldId id="299" r:id="rId44"/>
    <p:sldId id="362" r:id="rId45"/>
    <p:sldId id="474" r:id="rId46"/>
    <p:sldId id="275" r:id="rId47"/>
    <p:sldId id="321" r:id="rId48"/>
    <p:sldId id="310" r:id="rId49"/>
    <p:sldId id="385" r:id="rId50"/>
    <p:sldId id="433" r:id="rId51"/>
    <p:sldId id="364" r:id="rId52"/>
    <p:sldId id="274" r:id="rId53"/>
    <p:sldId id="330" r:id="rId54"/>
    <p:sldId id="386" r:id="rId55"/>
    <p:sldId id="331" r:id="rId56"/>
    <p:sldId id="388" r:id="rId57"/>
    <p:sldId id="398" r:id="rId58"/>
    <p:sldId id="360" r:id="rId59"/>
    <p:sldId id="390" r:id="rId60"/>
    <p:sldId id="391" r:id="rId61"/>
    <p:sldId id="459" r:id="rId62"/>
    <p:sldId id="470" r:id="rId63"/>
    <p:sldId id="414" r:id="rId64"/>
    <p:sldId id="475" r:id="rId65"/>
    <p:sldId id="429" r:id="rId66"/>
    <p:sldId id="476" r:id="rId67"/>
    <p:sldId id="343" r:id="rId68"/>
    <p:sldId id="289" r:id="rId69"/>
    <p:sldId id="333" r:id="rId70"/>
    <p:sldId id="411" r:id="rId71"/>
    <p:sldId id="460" r:id="rId72"/>
    <p:sldId id="461" r:id="rId73"/>
    <p:sldId id="462" r:id="rId74"/>
    <p:sldId id="442" r:id="rId75"/>
    <p:sldId id="463" r:id="rId76"/>
    <p:sldId id="478" r:id="rId77"/>
    <p:sldId id="464" r:id="rId78"/>
    <p:sldId id="479" r:id="rId79"/>
    <p:sldId id="444" r:id="rId80"/>
    <p:sldId id="480" r:id="rId81"/>
    <p:sldId id="465" r:id="rId82"/>
    <p:sldId id="481" r:id="rId83"/>
    <p:sldId id="443" r:id="rId84"/>
    <p:sldId id="466" r:id="rId85"/>
    <p:sldId id="483" r:id="rId109"/>
    <p:sldId id="484" r:id="rId110"/>
    <p:sldId id="485" r:id="rId111"/>
    <p:sldId id="486" r:id="rId112"/>
    <p:sldId id="487" r:id="rId113"/>
    <p:sldId id="467" r:id="rId86"/>
    <p:sldId id="468" r:id="rId87"/>
    <p:sldId id="482" r:id="rId88"/>
    <p:sldId id="445" r:id="rId89"/>
    <p:sldId id="446" r:id="rId90"/>
    <p:sldId id="447" r:id="rId91"/>
    <p:sldId id="448" r:id="rId92"/>
    <p:sldId id="449" r:id="rId93"/>
    <p:sldId id="450" r:id="rId94"/>
    <p:sldId id="451" r:id="rId95"/>
    <p:sldId id="452" r:id="rId96"/>
    <p:sldId id="453" r:id="rId97"/>
    <p:sldId id="454" r:id="rId98"/>
    <p:sldId id="296" r:id="rId99"/>
    <p:sldId id="366" r:id="rId100"/>
    <p:sldId id="456" r:id="rId101"/>
    <p:sldId id="457" r:id="rId10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5"/>
    <p:restoredTop sz="75068"/>
  </p:normalViewPr>
  <p:slideViewPr>
    <p:cSldViewPr snapToGrid="0">
      <p:cViewPr varScale="1">
        <p:scale>
          <a:sx n="94" d="100"/>
          <a:sy n="94" d="100"/>
        </p:scale>
        <p:origin x="1648" y="184"/>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90.xml"/><Relationship Id="rId87" Type="http://schemas.openxmlformats.org/officeDocument/2006/relationships/slide" Target="slides/slide91.xml"/><Relationship Id="rId88" Type="http://schemas.openxmlformats.org/officeDocument/2006/relationships/slide" Target="slides/slide92.xml"/><Relationship Id="rId89" Type="http://schemas.openxmlformats.org/officeDocument/2006/relationships/slide" Target="slides/slide93.xml"/><Relationship Id="rId90" Type="http://schemas.openxmlformats.org/officeDocument/2006/relationships/slide" Target="slides/slide94.xml"/><Relationship Id="rId91" Type="http://schemas.openxmlformats.org/officeDocument/2006/relationships/slide" Target="slides/slide95.xml"/><Relationship Id="rId92" Type="http://schemas.openxmlformats.org/officeDocument/2006/relationships/slide" Target="slides/slide96.xml"/><Relationship Id="rId93" Type="http://schemas.openxmlformats.org/officeDocument/2006/relationships/slide" Target="slides/slide97.xml"/><Relationship Id="rId94" Type="http://schemas.openxmlformats.org/officeDocument/2006/relationships/slide" Target="slides/slide98.xml"/><Relationship Id="rId95" Type="http://schemas.openxmlformats.org/officeDocument/2006/relationships/slide" Target="slides/slide99.xml"/><Relationship Id="rId96" Type="http://schemas.openxmlformats.org/officeDocument/2006/relationships/slide" Target="slides/slide100.xml"/><Relationship Id="rId97" Type="http://schemas.openxmlformats.org/officeDocument/2006/relationships/slide" Target="slides/slide101.xml"/><Relationship Id="rId98" Type="http://schemas.openxmlformats.org/officeDocument/2006/relationships/slide" Target="slides/slide102.xml"/><Relationship Id="rId99" Type="http://schemas.openxmlformats.org/officeDocument/2006/relationships/slide" Target="slides/slide103.xml"/><Relationship Id="rId100" Type="http://schemas.openxmlformats.org/officeDocument/2006/relationships/slide" Target="slides/slide104.xml"/><Relationship Id="rId101" Type="http://schemas.openxmlformats.org/officeDocument/2006/relationships/slide" Target="slides/slide105.xml"/><Relationship Id="rId102" Type="http://schemas.openxmlformats.org/officeDocument/2006/relationships/slide" Target="slides/slide106.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 Id="rId108" Type="http://schemas.microsoft.com/office/2018/10/relationships/authors" Target="authors.xml"/><Relationship Id="rId109" Type="http://schemas.openxmlformats.org/officeDocument/2006/relationships/slide" Target="slides/slide85.xml"/><Relationship Id="rId110" Type="http://schemas.openxmlformats.org/officeDocument/2006/relationships/slide" Target="slides/slide86.xml"/><Relationship Id="rId111" Type="http://schemas.openxmlformats.org/officeDocument/2006/relationships/slide" Target="slides/slide87.xml"/><Relationship Id="rId112" Type="http://schemas.openxmlformats.org/officeDocument/2006/relationships/slide" Target="slides/slide88.xml"/><Relationship Id="rId113"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t>PPG：皮膚にLEDなどの光を当て、血液量の変化による　　　　光の透過・反射量の変化を検出して、脈波を測定する　　　　非侵襲的な光学的測定法。</a:t>
            </a:r>
          </a:p>
          <a:p>
            <a:endParaRPr/>
          </a:p>
          <a:p>
            <a:r>
              <a:t>得られた脈波をPPG波形や容積脈波などと称する。</a:t>
            </a:r>
          </a:p>
          <a:p>
            <a:endParaRPr/>
          </a:p>
          <a:p>
            <a:r>
              <a:t>パルスオキシメトリーは、光電容積脈波(PPG)信号を利用してSpO₂(経皮的動脈血酸素飽和度)を非侵襲的に推定する測定原理。</a:t>
            </a:r>
          </a:p>
          <a:p>
            <a:endParaRPr/>
          </a:p>
          <a:p>
            <a:endParaRPr/>
          </a:p>
          <a:p>
            <a:r>
              <a:t>用語の整理（図解版）</a:t>
            </a:r>
          </a:p>
          <a:p>
            <a:endParaRPr/>
          </a:p>
          <a:p>
            <a:r>
              <a:t>・PPG（photoplethysmography, 光電式容積脈波記録法）＝ 皮膚に LED などの光を当て、</a:t>
            </a:r>
          </a:p>
          <a:p>
            <a:r>
              <a:t>　血液量の変化による光の透過・反射量の変化を検出して脈波を測定する非侵襲的な光学的測定法。</a:t>
            </a:r>
          </a:p>
          <a:p>
            <a:r>
              <a:t>・得られた脈波を PPG 波形、容積脈波（digital volume pulse, DVP）などと称する。</a:t>
            </a:r>
          </a:p>
          <a:p>
            <a:r>
              <a:t>・パルスオキシメトリーは、この PPG 信号を利用して SpO₂（経皮的動脈血酸素飽和度）を</a:t>
            </a:r>
          </a:p>
          <a:p>
            <a:r>
              <a:t>　非侵襲的に推定する測定原理。</a:t>
            </a:r>
          </a:p>
          <a:p>
            <a:r>
              <a:t>・つまりモニタは SpO₂ という数値を出すためにすでに PPG を取り込んでいる。</a:t>
            </a:r>
          </a:p>
          <a:p>
            <a:r>
              <a:t>　本セッションはその副産物である「波形」をもう一度読み直す作業にあたる。</a:t>
            </a:r>
          </a:p>
          <a:p>
            <a:r>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t>AC / DC で動脈血成分にした</a:t>
            </a:r>
          </a:p>
          <a:p>
            <a:r>
              <a:t>赤外光はO₂Hbの指標、赤色光HHbの指標。</a:t>
            </a:r>
          </a:p>
          <a:p>
            <a:r>
              <a:t>分母は動脈血のO 2Hbの指標で、分子は動脈血のHHbの指標</a:t>
            </a:r>
          </a:p>
          <a:p>
            <a:r>
              <a:t>これによって動脈血中のO 2Hbの割合を出そうとしている。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t>健常人に低酸素負荷をしてRと対応するSaO2を得る。健常人なのでSaO２70％が限度。以下は推定。</a:t>
            </a:r>
          </a:p>
          <a:p>
            <a:r>
              <a:t>これを対照とする。</a:t>
            </a:r>
          </a:p>
          <a:p>
            <a:endParaRPr/>
          </a:p>
          <a:p>
            <a:r>
              <a:t>先ほど得られた赤色光赤外光変調比から、</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a:t>発光部から２種類の波長の光を出し、これを受講部で測定する。</a:t>
            </a:r>
          </a:p>
          <a:p>
            <a:r>
              <a:rPr lang="en-US" dirty="0"/>
              <a:t>拍動時、動脈は、左室からの圧脈波が到着した部分だけ、局所的に受動的に拡張し一時的に容積が増大する。拡張分だけHbが増えた結果、吸光量が増大してPPG信号の変化を起こす。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この前進波について、左室からの圧脈波の到着による局所拡張としたが、実際に左室が送り出す血液はこの壁を伝導する厚脈波に比べ10倍以上も遅い。</a:t>
            </a:r>
          </a:p>
          <a:p>
            <a:r>
              <a:rPr lang="en-US" dirty="0" err="1"/>
              <a:t>左室の血液は一心拍の間に指尖部まで届かない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上肢や体幹、下肢等のインピーダンス不整合部位で圧脈波が反射し、再度測定部位で信号を検出する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PPG 基礎まとめ（図解版）</a:t>
            </a:r>
          </a:p>
          <a:p>
            <a:endParaRPr/>
          </a:p>
          <a:p>
            <a:r>
              <a:t>① SpO₂ は赤色光と赤外光の（AC/DC）比 R を、健常人の低酸素負荷試験で作った較正表に</a:t>
            </a:r>
          </a:p>
          <a:p>
            <a:r>
              <a:t>　 当てはめて SaO₂ を推定した値である。較正データは SaO₂ 70〜100% の範囲でしか取得できず、</a:t>
            </a:r>
          </a:p>
          <a:p>
            <a:r>
              <a:t>　 70% 未満は外挿である。</a:t>
            </a:r>
          </a:p>
          <a:p>
            <a:r>
              <a:t>② PPG 波形は圧ではなく、測定部位の動脈血液量（容積）の拍動性変化を見ている。</a:t>
            </a:r>
          </a:p>
          <a:p>
            <a:r>
              <a:t>　 したがって振幅は中心大動脈圧の絶対値ではなく、局所の血管コンプライアンス・灌流・</a:t>
            </a:r>
          </a:p>
          <a:p>
            <a:r>
              <a:t>　 局所脈圧に依存する。</a:t>
            </a:r>
          </a:p>
          <a:p>
            <a:r>
              <a:t>③ PPG 波形は前進波と反射波の合成によって形成されるが、反射点の解剖学的な場所を</a:t>
            </a:r>
          </a:p>
          <a:p>
            <a:r>
              <a:t>　 同定することは原理的にできない（成立するのは「経路」としての解釈だけ）。</a:t>
            </a:r>
          </a:p>
          <a:p>
            <a:endParaRPr/>
          </a:p>
          <a:p>
            <a:r>
              <a:t>→ 次章以降で、この波形がどのような因子に影響を受けるかを見ていく。</a:t>
            </a:r>
          </a:p>
          <a:p>
            <a:r>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endParaRPr lang="en-US" dirty="0"/>
          </a:p>
          <a:p>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52</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67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70</a:t>
            </a:fld>
            <a:endParaRPr kumimoji="1" lang="ja-JP" altLang="en-US"/>
          </a:p>
        </p:txBody>
      </p:sp>
    </p:spTree>
    <p:extLst>
      <p:ext uri="{BB962C8B-B14F-4D97-AF65-F5344CB8AC3E}">
        <p14:creationId xmlns:p14="http://schemas.microsoft.com/office/powerpoint/2010/main" val="40536581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90B-C38C-9F84-4650-E12B1B4CE0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D08E72-E7BC-F6A5-A003-58BD35C7A6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55A61F-1B07-D593-6818-12F4E4242214}"/>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CD70CE38-97F3-4FCF-5C9D-BE87403C8145}"/>
              </a:ext>
            </a:extLst>
          </p:cNvPr>
          <p:cNvSpPr>
            <a:spLocks noGrp="1"/>
          </p:cNvSpPr>
          <p:nvPr>
            <p:ph type="sldNum" sz="quarter" idx="5"/>
          </p:nvPr>
        </p:nvSpPr>
        <p:spPr/>
        <p:txBody>
          <a:bodyPr/>
          <a:lstStyle/>
          <a:p>
            <a:fld id="{4368CECF-0771-D84F-8D42-085DB944B0B8}" type="slidenum">
              <a:rPr kumimoji="1" lang="ja-JP" altLang="en-US" smtClean="0"/>
              <a:t>71</a:t>
            </a:fld>
            <a:endParaRPr kumimoji="1" lang="ja-JP" altLang="en-US"/>
          </a:p>
        </p:txBody>
      </p:sp>
    </p:spTree>
    <p:extLst>
      <p:ext uri="{BB962C8B-B14F-4D97-AF65-F5344CB8AC3E}">
        <p14:creationId xmlns:p14="http://schemas.microsoft.com/office/powerpoint/2010/main" val="34364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0C2A-B3B4-F8A2-CBFF-85DF6AD12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E3F6C-66EF-F585-AB42-DBEC1E06B0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E72D68-B954-CB33-C31D-B83D126AFB7B}"/>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9C5BE1CF-9252-F03E-91D6-5E5A0F228D7F}"/>
              </a:ext>
            </a:extLst>
          </p:cNvPr>
          <p:cNvSpPr>
            <a:spLocks noGrp="1"/>
          </p:cNvSpPr>
          <p:nvPr>
            <p:ph type="sldNum" sz="quarter" idx="5"/>
          </p:nvPr>
        </p:nvSpPr>
        <p:spPr/>
        <p:txBody>
          <a:bodyPr/>
          <a:lstStyle/>
          <a:p>
            <a:fld id="{4368CECF-0771-D84F-8D42-085DB944B0B8}" type="slidenum">
              <a:rPr kumimoji="1" lang="ja-JP" altLang="en-US" smtClean="0"/>
              <a:t>72</a:t>
            </a:fld>
            <a:endParaRPr kumimoji="1" lang="ja-JP" altLang="en-US"/>
          </a:p>
        </p:txBody>
      </p:sp>
    </p:spTree>
    <p:extLst>
      <p:ext uri="{BB962C8B-B14F-4D97-AF65-F5344CB8AC3E}">
        <p14:creationId xmlns:p14="http://schemas.microsoft.com/office/powerpoint/2010/main" val="18394528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という考え方</a:t>
            </a:r>
          </a:p>
          <a:p>
            <a:endParaRPr/>
          </a:p>
          <a:p>
            <a:r>
              <a:t>PDA（pulse decomposition analysis, 脈波分解解析）は、PPG の一拍を</a:t>
            </a:r>
          </a:p>
          <a:p>
            <a:r>
              <a:t>「複数の成分波（基底関数）の線形和」としてモデル化し、そのパラメータを最小二乗などで</a:t>
            </a:r>
          </a:p>
          <a:p>
            <a:r>
              <a:t>当てはめる手法である。ちょうど複数の音源からの音波が重なって 1 つの波形になるのと同じで、</a:t>
            </a:r>
          </a:p>
          <a:p>
            <a:r>
              <a:t>心臓から来た前進波と、末梢から戻ってきた反射波の重ね合わせとして PPG を説明する。</a:t>
            </a:r>
          </a:p>
          <a:p>
            <a:endParaRPr/>
          </a:p>
          <a:p>
            <a:r>
              <a:t>■ なぜ必要か</a:t>
            </a:r>
          </a:p>
          <a:p>
            <a:r>
              <a:t>従来の SI（＝身長 ÷ ΔT）も RI（＝P2/P1）も、「P2 という点」の時刻と高さを必要とする。</a:t>
            </a:r>
          </a:p>
          <a:p>
            <a:r>
              <a:t>下降脚が平滑化して P2 が局所最大として存在しない波形（DN-less）では原理的に計算できず、</a:t>
            </a:r>
          </a:p>
          <a:p>
            <a:r>
              <a:t>検出できた症例だけを解析する選択バイアスが生じる。</a:t>
            </a:r>
          </a:p>
          <a:p>
            <a:r>
              <a:t>PDA は点を探さずモデルを当てはめるので、切痕が消えていても</a:t>
            </a:r>
          </a:p>
          <a:p>
            <a:r>
              <a:t>反射成分の時刻 τ と振幅 a を数値として返せる。</a:t>
            </a:r>
          </a:p>
          <a:p>
            <a:endParaRPr/>
          </a:p>
          <a:p>
            <a:r>
              <a:t>■ 得られる量</a:t>
            </a:r>
          </a:p>
          <a:p>
            <a:r>
              <a:t>・T1_2（前進波と反射波の時間差）→ SI に相当</a:t>
            </a:r>
          </a:p>
          <a:p>
            <a:r>
              <a:t>・R1_2（両者の振幅比）→ RI に相当</a:t>
            </a:r>
          </a:p>
          <a:p>
            <a:r>
              <a:t>・LVET（左室駆出時間）も導出できる</a:t>
            </a:r>
          </a:p>
          <a:p>
            <a:endParaRPr/>
          </a:p>
          <a:p>
            <a:r>
              <a:t>出典：40. Rubins 2008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4431A-32D6-3366-FBF7-F1CCFFB8F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6C5B0-F978-9974-43FD-7807E31113C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A27DEB-EB8D-5CC1-EE28-05E079685F14}"/>
              </a:ext>
            </a:extLst>
          </p:cNvPr>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a:extLst>
              <a:ext uri="{FF2B5EF4-FFF2-40B4-BE49-F238E27FC236}">
                <a16:creationId xmlns:a16="http://schemas.microsoft.com/office/drawing/2014/main" id="{E61843F1-272E-73CC-91F7-BFA505EFF70B}"/>
              </a:ext>
            </a:extLst>
          </p:cNvPr>
          <p:cNvSpPr>
            <a:spLocks noGrp="1"/>
          </p:cNvSpPr>
          <p:nvPr>
            <p:ph type="sldNum" sz="quarter" idx="5"/>
          </p:nvPr>
        </p:nvSpPr>
        <p:spPr/>
      </p:sp>
    </p:spTree>
    <p:extLst>
      <p:ext uri="{BB962C8B-B14F-4D97-AF65-F5344CB8AC3E}">
        <p14:creationId xmlns:p14="http://schemas.microsoft.com/office/powerpoint/2010/main" val="23970299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1810E-77FD-0498-ACEC-704177185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2F172-0ABC-BCB8-DD17-44ED07C6EFE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BDA1A8D-F34F-CF13-5C3C-7B092248C41F}"/>
              </a:ext>
            </a:extLst>
          </p:cNvPr>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a:extLst>
              <a:ext uri="{FF2B5EF4-FFF2-40B4-BE49-F238E27FC236}">
                <a16:creationId xmlns:a16="http://schemas.microsoft.com/office/drawing/2014/main" id="{A8D747FD-3C19-DDB6-6251-8BBDD55E2DD1}"/>
              </a:ext>
            </a:extLst>
          </p:cNvPr>
          <p:cNvSpPr>
            <a:spLocks noGrp="1"/>
          </p:cNvSpPr>
          <p:nvPr>
            <p:ph type="sldNum" sz="quarter" idx="5"/>
          </p:nvPr>
        </p:nvSpPr>
        <p:spPr/>
      </p:sp>
    </p:spTree>
    <p:extLst>
      <p:ext uri="{BB962C8B-B14F-4D97-AF65-F5344CB8AC3E}">
        <p14:creationId xmlns:p14="http://schemas.microsoft.com/office/powerpoint/2010/main" val="31955571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515F-EF3C-EC57-8583-CF41D661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D8B41-A2B6-3459-2C37-BBD9FC2860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B3932D-9514-4813-2A26-E21E4551FBF5}"/>
              </a:ext>
            </a:extLst>
          </p:cNvPr>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a:extLst>
              <a:ext uri="{FF2B5EF4-FFF2-40B4-BE49-F238E27FC236}">
                <a16:creationId xmlns:a16="http://schemas.microsoft.com/office/drawing/2014/main" id="{F767655D-E850-DB35-F8EF-26F44D1383AD}"/>
              </a:ext>
            </a:extLst>
          </p:cNvPr>
          <p:cNvSpPr>
            <a:spLocks noGrp="1"/>
          </p:cNvSpPr>
          <p:nvPr>
            <p:ph type="sldNum" sz="quarter" idx="5"/>
          </p:nvPr>
        </p:nvSpPr>
        <p:spPr/>
      </p:sp>
    </p:spTree>
    <p:extLst>
      <p:ext uri="{BB962C8B-B14F-4D97-AF65-F5344CB8AC3E}">
        <p14:creationId xmlns:p14="http://schemas.microsoft.com/office/powerpoint/2010/main" val="41608795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成分波を何本使うか（カーネル数）</a:t>
            </a:r>
          </a:p>
          <a:p>
            <a:endParaRPr/>
          </a:p>
          <a:p>
            <a:r>
              <a:t>「カーネル」は、当てはめに使う基底関数 1 本 1 本のこと。</a:t>
            </a:r>
          </a:p>
          <a:p>
            <a:r>
              <a:t>何本使うか（カーネル数）は研究者が決める設計値であり、正解は決まっていない。</a:t>
            </a:r>
          </a:p>
          <a:p>
            <a:endParaRPr/>
          </a:p>
          <a:p>
            <a:r>
              <a:t>・2 本 … 前進波＋反射波。いちばん素直だが、拡張期の細かい形は表せない。</a:t>
            </a:r>
          </a:p>
          <a:p>
            <a:r>
              <a:t>・3〜5 本 … 反射が複数回戻ってくるとみなす。当てはまりは良くなるが、</a:t>
            </a:r>
          </a:p>
          <a:p>
            <a:r>
              <a:t>　　　　　　どの成分波が何に対応するかの解釈が曖昧になる。</a:t>
            </a:r>
          </a:p>
          <a:p>
            <a:endParaRPr/>
          </a:p>
          <a:p>
            <a:r>
              <a:t>■ 本数が増えるとどうなるか</a:t>
            </a:r>
          </a:p>
          <a:p>
            <a:r>
              <a:t>本数を増やせば残差はいくらでも小さくできる（過剰適合）。</a:t>
            </a:r>
          </a:p>
          <a:p>
            <a:r>
              <a:t>一方でパラメータが増えるほど解が一意でなくなり、初期値しだいで答えが動く。</a:t>
            </a:r>
          </a:p>
          <a:p>
            <a:r>
              <a:t>そこで情報量規準（AICc など）で「当てはまりの良さ」と「パラメータの少なさ」を</a:t>
            </a:r>
          </a:p>
          <a:p>
            <a:r>
              <a:t>つり合わせてモデルを選ぶ。</a:t>
            </a:r>
          </a:p>
          <a:p>
            <a:endParaRPr/>
          </a:p>
          <a:p>
            <a:r>
              <a:t>■ 実際の報告</a:t>
            </a:r>
          </a:p>
          <a:p>
            <a:r>
              <a:t>・Tigges 2017：指尖容積脈波 7,805 拍で 4 種の基底関数とモデル次数を総当たりし AICc で選択。</a:t>
            </a:r>
          </a:p>
          <a:p>
            <a:r>
              <a:t>　最頻の最良モデルは Gamma 3 本で 28.1%、次点は Rayleigh 2 本で 14.4%。</a:t>
            </a:r>
          </a:p>
          <a:p>
            <a:r>
              <a:t>　単一の最良モデルは存在しなかった。</a:t>
            </a:r>
          </a:p>
          <a:p>
            <a:r>
              <a:t>・Fleischhauer 2020：カーネル 2 本がノイズ・体動にもっとも頑健で、</a:t>
            </a:r>
          </a:p>
          <a:p>
            <a:r>
              <a:t>　評価指標が 14.09% 改善しつつ、より多いカーネルと同等に形態情報を保った。</a:t>
            </a:r>
          </a:p>
          <a:p>
            <a:endParaRPr/>
          </a:p>
          <a:p>
            <a:r>
              <a:t>→ 「多いほど良い」ではない。2 本が実用上のバランス点という報告が複数ある。</a:t>
            </a:r>
          </a:p>
          <a:p>
            <a:endParaRPr/>
          </a:p>
          <a:p>
            <a:r>
              <a:t>出典：43.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4F24-30A4-7D30-4005-351F5E45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2882C-8702-BDC7-738A-ED84995FD8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35622D-17B4-12EE-5A48-962C1B7BD9EA}"/>
              </a:ext>
            </a:extLst>
          </p:cNvPr>
          <p:cNvSpPr>
            <a:spLocks noGrp="1"/>
          </p:cNvSpPr>
          <p:nvPr>
            <p:ph type="body" sz="quarter" idx="3"/>
          </p:nvPr>
        </p:nvSpPr>
        <p:spPr/>
        <p:txBody>
          <a:bodyPr/>
          <a:lstStyle/>
          <a:p>
            <a:r>
              <a:rPr dirty="0"/>
              <a:t>7.2 </a:t>
            </a:r>
            <a:r>
              <a:rPr dirty="0" err="1"/>
              <a:t>成分波を何本使うか（カーネル数</a:t>
            </a:r>
            <a:r>
              <a:rPr dirty="0"/>
              <a:t>）</a:t>
            </a:r>
          </a:p>
          <a:p>
            <a:endParaRPr dirty="0"/>
          </a:p>
          <a:p>
            <a:r>
              <a:rPr dirty="0"/>
              <a:t>「</a:t>
            </a:r>
            <a:r>
              <a:rPr dirty="0" err="1"/>
              <a:t>カーネル」は、当てはめに使う基底関数</a:t>
            </a:r>
            <a:r>
              <a:rPr dirty="0"/>
              <a:t> 1 </a:t>
            </a:r>
            <a:r>
              <a:rPr dirty="0" err="1"/>
              <a:t>本</a:t>
            </a:r>
            <a:r>
              <a:rPr dirty="0"/>
              <a:t> 1 </a:t>
            </a:r>
            <a:r>
              <a:rPr dirty="0" err="1"/>
              <a:t>本のこと</a:t>
            </a:r>
            <a:r>
              <a:rPr dirty="0"/>
              <a:t>。</a:t>
            </a:r>
          </a:p>
          <a:p>
            <a:r>
              <a:rPr dirty="0" err="1"/>
              <a:t>何本使うか（カーネル数）は研究者が決める設計値であり、正解は決まっていない</a:t>
            </a:r>
            <a:r>
              <a:rPr dirty="0"/>
              <a:t>。</a:t>
            </a:r>
          </a:p>
          <a:p>
            <a:endParaRPr dirty="0"/>
          </a:p>
          <a:p>
            <a:r>
              <a:rPr dirty="0"/>
              <a:t>・2 </a:t>
            </a:r>
            <a:r>
              <a:rPr dirty="0" err="1"/>
              <a:t>本</a:t>
            </a:r>
            <a:r>
              <a:rPr dirty="0"/>
              <a:t> … </a:t>
            </a:r>
            <a:r>
              <a:rPr dirty="0" err="1"/>
              <a:t>前進波＋反射波。いちばん素直だが、拡張期の細かい形は表せない</a:t>
            </a:r>
            <a:r>
              <a:rPr dirty="0"/>
              <a:t>。</a:t>
            </a:r>
          </a:p>
          <a:p>
            <a:r>
              <a:rPr dirty="0"/>
              <a:t>・3〜5 </a:t>
            </a:r>
            <a:r>
              <a:rPr dirty="0" err="1"/>
              <a:t>本</a:t>
            </a:r>
            <a:r>
              <a:rPr dirty="0"/>
              <a:t> … </a:t>
            </a:r>
            <a:r>
              <a:rPr dirty="0" err="1"/>
              <a:t>反射が複数回戻ってくるとみなす。当てはまりは良くなるが</a:t>
            </a:r>
            <a:r>
              <a:rPr dirty="0"/>
              <a:t>、</a:t>
            </a:r>
          </a:p>
          <a:p>
            <a:r>
              <a:rPr dirty="0"/>
              <a:t>　　　　　　</a:t>
            </a:r>
            <a:r>
              <a:rPr dirty="0" err="1"/>
              <a:t>どの成分波が何に対応するかの解釈が曖昧になる</a:t>
            </a:r>
            <a:r>
              <a:rPr dirty="0"/>
              <a:t>。</a:t>
            </a:r>
          </a:p>
          <a:p>
            <a:endParaRPr lang="en-US" dirty="0"/>
          </a:p>
          <a:p>
            <a:r>
              <a:rPr kumimoji="1" lang="ja-JP" altLang="ja-JP" sz="1200" b="0" i="0" kern="1200">
                <a:solidFill>
                  <a:schemeClr val="tx1"/>
                </a:solidFill>
                <a:effectLst/>
                <a:latin typeface="+mn-lt"/>
                <a:ea typeface="+mn-ea"/>
                <a:cs typeface="+mn-cs"/>
              </a:rPr>
              <a:t>圧縮・波形合成が目的なら6本以上も使われる（PPG を6個のガウス関数で圧縮する報告や、3〜21個を比較した報告がある）。残差だけを基準にすれば本数に上限はないため。ここでの「×」は、成分波に生理学的な意味を持たせる場合の話</a:t>
            </a:r>
            <a:endParaRPr lang="en-US" dirty="0"/>
          </a:p>
          <a:p>
            <a:endParaRPr dirty="0"/>
          </a:p>
          <a:p>
            <a:r>
              <a:rPr dirty="0"/>
              <a:t>■ </a:t>
            </a:r>
            <a:r>
              <a:rPr dirty="0" err="1"/>
              <a:t>本数が増えるとどうなるか</a:t>
            </a:r>
            <a:endParaRPr dirty="0"/>
          </a:p>
          <a:p>
            <a:r>
              <a:rPr dirty="0" err="1"/>
              <a:t>本数を増やせば残差はいくらでも小さくできる（過剰適合</a:t>
            </a:r>
            <a:r>
              <a:rPr dirty="0"/>
              <a:t>）。</a:t>
            </a:r>
          </a:p>
          <a:p>
            <a:r>
              <a:rPr dirty="0" err="1"/>
              <a:t>一方でパラメータが増えるほど解が一意でなくなり、初期値しだいで答えが動く</a:t>
            </a:r>
            <a:r>
              <a:rPr dirty="0"/>
              <a:t>。</a:t>
            </a:r>
          </a:p>
          <a:p>
            <a:r>
              <a:rPr dirty="0" err="1"/>
              <a:t>そこで情報量規準（AICc</a:t>
            </a:r>
            <a:r>
              <a:rPr dirty="0"/>
              <a:t> </a:t>
            </a:r>
            <a:r>
              <a:rPr dirty="0" err="1"/>
              <a:t>など）で「当てはまりの良さ」と「パラメータの少なさ」を</a:t>
            </a:r>
            <a:endParaRPr dirty="0"/>
          </a:p>
          <a:p>
            <a:r>
              <a:rPr dirty="0" err="1"/>
              <a:t>つり合わせてモデルを選ぶ</a:t>
            </a:r>
            <a:r>
              <a:rPr dirty="0"/>
              <a:t>。</a:t>
            </a:r>
          </a:p>
          <a:p>
            <a:endParaRPr dirty="0"/>
          </a:p>
          <a:p>
            <a:r>
              <a:rPr dirty="0"/>
              <a:t>■ </a:t>
            </a:r>
            <a:r>
              <a:rPr dirty="0" err="1"/>
              <a:t>実際の報告</a:t>
            </a:r>
            <a:endParaRPr dirty="0"/>
          </a:p>
          <a:p>
            <a:r>
              <a:rPr dirty="0"/>
              <a:t>・Tigges 2017：指尖容積脈波 7,805 </a:t>
            </a:r>
            <a:r>
              <a:rPr dirty="0" err="1"/>
              <a:t>拍で</a:t>
            </a:r>
            <a:r>
              <a:rPr dirty="0"/>
              <a:t> 4 </a:t>
            </a:r>
            <a:r>
              <a:rPr dirty="0" err="1"/>
              <a:t>種の基底関数とモデル次数を総当たりし</a:t>
            </a:r>
            <a:r>
              <a:rPr dirty="0"/>
              <a:t> </a:t>
            </a:r>
            <a:r>
              <a:rPr dirty="0" err="1"/>
              <a:t>AICc</a:t>
            </a:r>
            <a:r>
              <a:rPr dirty="0"/>
              <a:t> </a:t>
            </a:r>
            <a:r>
              <a:rPr dirty="0" err="1"/>
              <a:t>で選択</a:t>
            </a:r>
            <a:r>
              <a:rPr dirty="0"/>
              <a:t>。</a:t>
            </a:r>
          </a:p>
          <a:p>
            <a:r>
              <a:rPr dirty="0"/>
              <a:t>　</a:t>
            </a:r>
            <a:r>
              <a:rPr dirty="0" err="1"/>
              <a:t>最頻の最良モデルは</a:t>
            </a:r>
            <a:r>
              <a:rPr dirty="0"/>
              <a:t> Gamma 3 </a:t>
            </a:r>
            <a:r>
              <a:rPr dirty="0" err="1"/>
              <a:t>本で</a:t>
            </a:r>
            <a:r>
              <a:rPr dirty="0"/>
              <a:t> 28.1%、</a:t>
            </a:r>
            <a:r>
              <a:rPr dirty="0" err="1"/>
              <a:t>次点は</a:t>
            </a:r>
            <a:r>
              <a:rPr dirty="0"/>
              <a:t> Rayleigh 2 </a:t>
            </a:r>
            <a:r>
              <a:rPr dirty="0" err="1"/>
              <a:t>本で</a:t>
            </a:r>
            <a:r>
              <a:rPr dirty="0"/>
              <a:t> 14.4%。</a:t>
            </a:r>
          </a:p>
          <a:p>
            <a:r>
              <a:rPr dirty="0"/>
              <a:t>　</a:t>
            </a:r>
            <a:r>
              <a:rPr dirty="0" err="1"/>
              <a:t>単一の最良モデルは存在しなかった</a:t>
            </a:r>
            <a:r>
              <a:rPr dirty="0"/>
              <a:t>。</a:t>
            </a:r>
          </a:p>
          <a:p>
            <a:r>
              <a:rPr dirty="0"/>
              <a:t>・Fleischhauer 2020：カーネル 2 </a:t>
            </a:r>
            <a:r>
              <a:rPr dirty="0" err="1"/>
              <a:t>本がノイズ・体動にもっとも頑健で</a:t>
            </a:r>
            <a:r>
              <a:rPr dirty="0"/>
              <a:t>、</a:t>
            </a:r>
          </a:p>
          <a:p>
            <a:r>
              <a:rPr dirty="0"/>
              <a:t>　</a:t>
            </a:r>
            <a:r>
              <a:rPr dirty="0" err="1"/>
              <a:t>評価指標が</a:t>
            </a:r>
            <a:r>
              <a:rPr dirty="0"/>
              <a:t> 14.09% </a:t>
            </a:r>
            <a:r>
              <a:rPr dirty="0" err="1"/>
              <a:t>改善しつつ、より多いカーネルと同等に形態情報を保った</a:t>
            </a:r>
            <a:r>
              <a:rPr dirty="0"/>
              <a:t>。</a:t>
            </a:r>
          </a:p>
          <a:p>
            <a:endParaRPr dirty="0"/>
          </a:p>
          <a:p>
            <a:r>
              <a:rPr dirty="0"/>
              <a:t>→ 「多いほど良い」ではない。2 </a:t>
            </a:r>
            <a:r>
              <a:rPr dirty="0" err="1"/>
              <a:t>本が実用上のバランス点という報告が複数ある</a:t>
            </a:r>
            <a:r>
              <a:rPr dirty="0"/>
              <a:t>。</a:t>
            </a:r>
          </a:p>
          <a:p>
            <a:endParaRPr dirty="0"/>
          </a:p>
          <a:p>
            <a:r>
              <a:rPr dirty="0"/>
              <a:t>出典：43. Tigges 2017 ／ 35. Fleischhauer 2020</a:t>
            </a:r>
          </a:p>
        </p:txBody>
      </p:sp>
      <p:sp>
        <p:nvSpPr>
          <p:cNvPr id="4" name="Slide Number Placeholder 3">
            <a:extLst>
              <a:ext uri="{FF2B5EF4-FFF2-40B4-BE49-F238E27FC236}">
                <a16:creationId xmlns:a16="http://schemas.microsoft.com/office/drawing/2014/main" id="{BC3B0E26-66F4-2555-9A82-8879BC418533}"/>
              </a:ext>
            </a:extLst>
          </p:cNvPr>
          <p:cNvSpPr>
            <a:spLocks noGrp="1"/>
          </p:cNvSpPr>
          <p:nvPr>
            <p:ph type="sldNum" sz="quarter" idx="5"/>
          </p:nvPr>
        </p:nvSpPr>
        <p:spPr/>
      </p:sp>
    </p:spTree>
    <p:extLst>
      <p:ext uri="{BB962C8B-B14F-4D97-AF65-F5344CB8AC3E}">
        <p14:creationId xmlns:p14="http://schemas.microsoft.com/office/powerpoint/2010/main" val="5058677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の手順</a:t>
            </a:r>
          </a:p>
          <a:p>
            <a:endParaRPr/>
          </a:p>
          <a:p>
            <a:r>
              <a:t>① 一拍ごとに切り出し、幅と振幅を正規化する。</a:t>
            </a:r>
          </a:p>
          <a:p>
            <a:r>
              <a:t>② 基底関数（山の形）の種類と個数を決める。ここが本手法の急所。</a:t>
            </a:r>
          </a:p>
          <a:p>
            <a:r>
              <a:t>   Gaussian／Gamma／skewed-Gaussian／Rayleigh／log-normal、カーネル数は 2〜5 と</a:t>
            </a:r>
          </a:p>
          <a:p>
            <a:r>
              <a:t>   研究ごとに割れている。</a:t>
            </a:r>
          </a:p>
          <a:p>
            <a:r>
              <a:t>③ 重み付き最小二乗などでパラメータ（位置・高さ・幅）を推定する。</a:t>
            </a:r>
          </a:p>
          <a:p>
            <a:r>
              <a:t>   初期値の選び方で解が動くことが知られている。</a:t>
            </a:r>
          </a:p>
          <a:p>
            <a:r>
              <a:t>④ 得られた成分波どうしの時間差 T1_2 と振幅比 R1_2 を、それぞれ SI・RI に対応させる。</a:t>
            </a:r>
          </a:p>
          <a:p>
            <a:endParaRPr/>
          </a:p>
          <a:p>
            <a:r>
              <a:t>■ ② が決着していないことの意味</a:t>
            </a:r>
          </a:p>
          <a:p>
            <a:r>
              <a:t>Tigges 2017 は 7,805 拍を対象に 4 種の基底関数とモデル次数を総当たりし、AICc で選択した。</a:t>
            </a:r>
          </a:p>
          <a:p>
            <a:r>
              <a:t>最頻の最良モデル（Gamma 3 個）でも全体の 28.1%、次点（Rayleigh 2 個）が 14.4% で、</a:t>
            </a:r>
          </a:p>
          <a:p>
            <a:r>
              <a:t>両者を足しても半数に満たない。単一の最良モデルは存在しない。</a:t>
            </a:r>
          </a:p>
          <a:p>
            <a:r>
              <a:t>これは「分解」という逆問題が一意に解けていないことの直接の表れである。</a:t>
            </a:r>
          </a:p>
          <a:p>
            <a:endParaRPr/>
          </a:p>
          <a:p>
            <a:r>
              <a:t>出典：42. Couceiro 2015 ／ 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当てはめの計算</a:t>
            </a:r>
            <a:r>
              <a:rPr dirty="0"/>
              <a:t> ― </a:t>
            </a:r>
            <a:r>
              <a:rPr dirty="0" err="1"/>
              <a:t>何をどう決めているのか</a:t>
            </a:r>
            <a:endParaRPr dirty="0"/>
          </a:p>
          <a:p>
            <a:endParaRPr dirty="0"/>
          </a:p>
          <a:p>
            <a:r>
              <a:rPr dirty="0"/>
              <a:t>■ </a:t>
            </a:r>
            <a:r>
              <a:rPr dirty="0" err="1"/>
              <a:t>目的関数</a:t>
            </a:r>
            <a:endParaRPr dirty="0"/>
          </a:p>
          <a:p>
            <a:r>
              <a:rPr dirty="0" err="1"/>
              <a:t>実測した合成波</a:t>
            </a:r>
            <a:r>
              <a:rPr dirty="0"/>
              <a:t> y(t) </a:t>
            </a:r>
            <a:r>
              <a:rPr dirty="0" err="1"/>
              <a:t>と、モデルが作る合成波</a:t>
            </a:r>
            <a:r>
              <a:rPr dirty="0"/>
              <a:t> </a:t>
            </a:r>
            <a:r>
              <a:rPr dirty="0" err="1"/>
              <a:t>ŷ</a:t>
            </a:r>
            <a:r>
              <a:rPr dirty="0"/>
              <a:t>(t)=Σf_k(t) </a:t>
            </a:r>
            <a:r>
              <a:rPr dirty="0" err="1"/>
              <a:t>の差（残差）を</a:t>
            </a:r>
            <a:r>
              <a:rPr dirty="0"/>
              <a:t>、</a:t>
            </a:r>
          </a:p>
          <a:p>
            <a:r>
              <a:rPr dirty="0" err="1"/>
              <a:t>全時点で二乗して足し合わせた値（残差平方和</a:t>
            </a:r>
            <a:r>
              <a:rPr dirty="0"/>
              <a:t> RSS）を最小にするパラメータを探す。</a:t>
            </a:r>
          </a:p>
          <a:p>
            <a:r>
              <a:rPr dirty="0"/>
              <a:t>　　RSS = </a:t>
            </a:r>
            <a:r>
              <a:rPr dirty="0" err="1"/>
              <a:t>Σ_t</a:t>
            </a:r>
            <a:r>
              <a:rPr dirty="0"/>
              <a:t> { y(t) − </a:t>
            </a:r>
            <a:r>
              <a:rPr dirty="0" err="1"/>
              <a:t>ŷ</a:t>
            </a:r>
            <a:r>
              <a:rPr dirty="0"/>
              <a:t>(t) }²</a:t>
            </a:r>
          </a:p>
          <a:p>
            <a:r>
              <a:rPr dirty="0" err="1"/>
              <a:t>サンプル点ごとに重みを変える重み付き最小二乗（WLS）を使う実装もある</a:t>
            </a:r>
            <a:endParaRPr dirty="0"/>
          </a:p>
          <a:p>
            <a:r>
              <a:rPr dirty="0"/>
              <a:t>（Wang L 2013 </a:t>
            </a:r>
            <a:r>
              <a:rPr dirty="0" err="1"/>
              <a:t>は重みを多基準意思決定法で最適化している</a:t>
            </a:r>
            <a:r>
              <a:rPr dirty="0"/>
              <a:t>）。</a:t>
            </a:r>
          </a:p>
          <a:p>
            <a:endParaRPr dirty="0"/>
          </a:p>
          <a:p>
            <a:r>
              <a:rPr dirty="0"/>
              <a:t>■ </a:t>
            </a:r>
            <a:r>
              <a:rPr dirty="0" err="1"/>
              <a:t>解き方</a:t>
            </a:r>
            <a:endParaRPr dirty="0"/>
          </a:p>
          <a:p>
            <a:r>
              <a:rPr dirty="0" err="1"/>
              <a:t>パラメータについて非線形なので、解析的には解けない</a:t>
            </a:r>
            <a:r>
              <a:rPr dirty="0"/>
              <a:t>。</a:t>
            </a:r>
          </a:p>
          <a:p>
            <a:r>
              <a:rPr dirty="0"/>
              <a:t>Levenberg–Marquardt </a:t>
            </a:r>
            <a:r>
              <a:rPr dirty="0" err="1"/>
              <a:t>法などの反復計算で、初期値から少しずつ動かして最小値を探す</a:t>
            </a:r>
            <a:r>
              <a:rPr dirty="0"/>
              <a:t>。</a:t>
            </a:r>
          </a:p>
          <a:p>
            <a:endParaRPr dirty="0"/>
          </a:p>
          <a:p>
            <a:r>
              <a:rPr dirty="0"/>
              <a:t>■ </a:t>
            </a:r>
            <a:r>
              <a:rPr dirty="0" err="1"/>
              <a:t>初期値の問題</a:t>
            </a:r>
            <a:endParaRPr dirty="0"/>
          </a:p>
          <a:p>
            <a:r>
              <a:rPr dirty="0" err="1"/>
              <a:t>反復計算は初期値の近くの谷（局所解）に落ちる。したがって</a:t>
            </a:r>
            <a:endParaRPr dirty="0"/>
          </a:p>
          <a:p>
            <a:r>
              <a:rPr dirty="0"/>
              <a:t>「</a:t>
            </a:r>
            <a:r>
              <a:rPr dirty="0" err="1"/>
              <a:t>同じ波形・同じモデルでも、初期値を変えると別の答えが出る」ことが起こる</a:t>
            </a:r>
            <a:r>
              <a:rPr dirty="0"/>
              <a:t>。</a:t>
            </a:r>
          </a:p>
          <a:p>
            <a:r>
              <a:rPr dirty="0"/>
              <a:t>Basso 2024 </a:t>
            </a:r>
            <a:r>
              <a:rPr dirty="0" err="1"/>
              <a:t>は</a:t>
            </a:r>
            <a:r>
              <a:rPr dirty="0"/>
              <a:t> skewed-Gaussian </a:t>
            </a:r>
            <a:r>
              <a:rPr dirty="0" err="1"/>
              <a:t>モデルがランダム初期値に対して感度が低く</a:t>
            </a:r>
            <a:endParaRPr dirty="0"/>
          </a:p>
          <a:p>
            <a:r>
              <a:rPr dirty="0" err="1"/>
              <a:t>一貫して頑健だったと報告しており、これは裏を返せば</a:t>
            </a:r>
            <a:endParaRPr dirty="0"/>
          </a:p>
          <a:p>
            <a:r>
              <a:rPr dirty="0" err="1"/>
              <a:t>従来モデルでは初期値で答えが動いていたということである</a:t>
            </a:r>
            <a:r>
              <a:rPr dirty="0"/>
              <a:t>。</a:t>
            </a:r>
          </a:p>
          <a:p>
            <a:endParaRPr dirty="0"/>
          </a:p>
          <a:p>
            <a:r>
              <a:rPr dirty="0"/>
              <a:t>■ </a:t>
            </a:r>
            <a:r>
              <a:rPr dirty="0" err="1"/>
              <a:t>当てはまりの評価</a:t>
            </a:r>
            <a:endParaRPr dirty="0"/>
          </a:p>
          <a:p>
            <a:r>
              <a:rPr dirty="0"/>
              <a:t>・</a:t>
            </a:r>
            <a:r>
              <a:rPr dirty="0" err="1"/>
              <a:t>残差平方和</a:t>
            </a:r>
            <a:r>
              <a:rPr dirty="0"/>
              <a:t> </a:t>
            </a:r>
            <a:r>
              <a:rPr dirty="0" err="1"/>
              <a:t>RSS、正規化</a:t>
            </a:r>
            <a:r>
              <a:rPr dirty="0"/>
              <a:t> RMSE、R²</a:t>
            </a:r>
          </a:p>
          <a:p>
            <a:r>
              <a:rPr dirty="0"/>
              <a:t>・</a:t>
            </a:r>
            <a:r>
              <a:rPr dirty="0" err="1"/>
              <a:t>モデル選択には補正赤池情報量規準</a:t>
            </a:r>
            <a:r>
              <a:rPr dirty="0"/>
              <a:t> </a:t>
            </a:r>
            <a:r>
              <a:rPr dirty="0" err="1"/>
              <a:t>AICc（当てはまりとパラメータ数のつり合い</a:t>
            </a:r>
            <a:r>
              <a:rPr dirty="0"/>
              <a:t>）</a:t>
            </a:r>
          </a:p>
          <a:p>
            <a:r>
              <a:rPr dirty="0"/>
              <a:t>Couceiro 2015 </a:t>
            </a:r>
            <a:r>
              <a:rPr dirty="0" err="1"/>
              <a:t>の</a:t>
            </a:r>
            <a:r>
              <a:rPr dirty="0"/>
              <a:t> 5 </a:t>
            </a:r>
            <a:r>
              <a:rPr dirty="0" err="1"/>
              <a:t>ガウスモデルでは、LVET</a:t>
            </a:r>
            <a:r>
              <a:rPr dirty="0"/>
              <a:t> </a:t>
            </a:r>
            <a:r>
              <a:rPr dirty="0" err="1"/>
              <a:t>絶対誤差</a:t>
            </a:r>
            <a:r>
              <a:rPr dirty="0"/>
              <a:t> 15.41±13.66 </a:t>
            </a:r>
            <a:r>
              <a:rPr dirty="0" err="1"/>
              <a:t>ms、ρ</a:t>
            </a:r>
            <a:r>
              <a:rPr dirty="0"/>
              <a:t>=0.78 </a:t>
            </a:r>
            <a:r>
              <a:rPr dirty="0" err="1"/>
              <a:t>が得られている</a:t>
            </a:r>
            <a:r>
              <a:rPr dirty="0"/>
              <a:t>。</a:t>
            </a:r>
          </a:p>
          <a:p>
            <a:endParaRPr dirty="0"/>
          </a:p>
          <a:p>
            <a:r>
              <a:rPr dirty="0"/>
              <a:t>出典：42. Couceiro 2015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7.4 分解から何が得られるか</a:t>
            </a:r>
          </a:p>
          <a:p>
            <a:endParaRPr/>
          </a:p>
          <a:p>
            <a:r>
              <a:t>分解が終わると、各成分波の（高さ a・位置 μ・幅 σ）が数値として手に入る。</a:t>
            </a:r>
          </a:p>
          <a:p>
            <a:r>
              <a:t>そこから従来の指標を作り直せる。</a:t>
            </a:r>
          </a:p>
          <a:p>
            <a:endParaRPr/>
          </a:p>
          <a:p>
            <a:r>
              <a:t>・時間差 T1_2 ＝ μ₂ − μ₁（第1成分波と第2成分波の頂点の時刻差）</a:t>
            </a:r>
          </a:p>
          <a:p>
            <a:r>
              <a:t>　　→ 従来の ΔT に相当。SI ＝ 身長 ÷ T1_2 として再定義できる。</a:t>
            </a:r>
          </a:p>
          <a:p>
            <a:r>
              <a:t>・振幅比 R1_2 ＝ a₂ / a₁</a:t>
            </a:r>
          </a:p>
          <a:p>
            <a:r>
              <a:t>　　→ 従来の RI（P2/P1）に相当。</a:t>
            </a:r>
          </a:p>
          <a:p>
            <a:r>
              <a:t>・LVET（左室駆出時間）も、収縮期成分の微分解析から推定できる（Couceiro 2012）。</a:t>
            </a:r>
          </a:p>
          <a:p>
            <a:endParaRPr/>
          </a:p>
          <a:p>
            <a:r>
              <a:t>■ 従来法との決定的な違い</a:t>
            </a:r>
          </a:p>
          <a:p>
            <a:r>
              <a:t>従来法は「切痕・P2 という点」が波形上に存在しないと計算できない。</a:t>
            </a:r>
          </a:p>
          <a:p>
            <a:r>
              <a:t>分解法は点を探さないので、切痕が消えている波形（DN-less）でも</a:t>
            </a:r>
          </a:p>
          <a:p>
            <a:r>
              <a:t>μ₂ と a₂ という数値が返ってくる。これが本章の要点である。</a:t>
            </a:r>
          </a:p>
          <a:p>
            <a:endParaRPr/>
          </a:p>
          <a:p>
            <a:r>
              <a:t>■ ただし</a:t>
            </a:r>
          </a:p>
          <a:p>
            <a:r>
              <a:t>Couceiro 2015 では、振幅比 R1_2 はすべての参照値と低相関だった。</a:t>
            </a:r>
          </a:p>
          <a:p>
            <a:r>
              <a:t>時間側の T1_2 でも総末梢血管抵抗係数との相関は ρ=0.45 にとどまる。</a:t>
            </a:r>
          </a:p>
          <a:p>
            <a:r>
              <a:t>値が返ってくることと、その値が臨床的に意味を持つことは別である。</a:t>
            </a:r>
          </a:p>
          <a:p>
            <a:endParaRPr/>
          </a:p>
          <a:p>
            <a:r>
              <a:t>出典：45. Couceiro 2012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C41C-4152-8826-0969-7789F2473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AAD3-5CA5-B9D4-A430-838CF606B5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4C75333-C979-01B5-C5F3-BDF3267A274A}"/>
              </a:ext>
            </a:extLst>
          </p:cNvPr>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a:extLst>
              <a:ext uri="{FF2B5EF4-FFF2-40B4-BE49-F238E27FC236}">
                <a16:creationId xmlns:a16="http://schemas.microsoft.com/office/drawing/2014/main" id="{CAECD2B4-C080-42A6-C3D9-0E7F8D2F9890}"/>
              </a:ext>
            </a:extLst>
          </p:cNvPr>
          <p:cNvSpPr>
            <a:spLocks noGrp="1"/>
          </p:cNvSpPr>
          <p:nvPr>
            <p:ph type="sldNum" sz="quarter" idx="5"/>
          </p:nvPr>
        </p:nvSpPr>
        <p:spPr/>
      </p:sp>
    </p:spTree>
    <p:extLst>
      <p:ext uri="{BB962C8B-B14F-4D97-AF65-F5344CB8AC3E}">
        <p14:creationId xmlns:p14="http://schemas.microsoft.com/office/powerpoint/2010/main" val="41015815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Rubins 2008</a:t>
            </a:r>
          </a:p>
          <a:p>
            <a:endParaRPr/>
          </a:p>
          <a:p>
            <a:r>
              <a:t>Rubins U. Finger and ear photoplethysmogram waveform analysis by fitting with Gaussians. Med Biol Eng Comput 2008;46:1271–6.</a:t>
            </a:r>
          </a:p>
          <a:p>
            <a:endParaRPr/>
          </a:p>
          <a:p>
            <a:r>
              <a:t>比較対照は同一波形から微分法で求めた同じ指標。</a:t>
            </a:r>
          </a:p>
          <a:p>
            <a:r>
              <a:t>「分解由来の RI」の最初期の報告として位置づけられる。</a:t>
            </a:r>
          </a:p>
          <a:p>
            <a:r>
              <a:t>PMID 18855034</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Goswami 2010</a:t>
            </a:r>
          </a:p>
          <a:p>
            <a:endParaRPr/>
          </a:p>
          <a:p>
            <a:r>
              <a:t>Goswami D, et al. A new two-pulse synthesis model for digital volume pulse signal analysis. Cardiovasc Eng 2010;10:109–17.</a:t>
            </a:r>
          </a:p>
          <a:p>
            <a:endParaRPr/>
          </a:p>
          <a:p>
            <a:r>
              <a:t>新指標 differential pulse spread（DPS）も提案している。</a:t>
            </a:r>
          </a:p>
          <a:p>
            <a:r>
              <a:t>基底関数がガウス関数とは限らないことを早くから示した例でもある。</a:t>
            </a:r>
          </a:p>
          <a:p>
            <a:r>
              <a:t>PMID 20734136</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2012</a:t>
            </a:r>
          </a:p>
          <a:p>
            <a:endParaRPr/>
          </a:p>
          <a:p>
            <a:r>
              <a:t>Couceiro R, et al. Multi-Gaussian fitting for the assessment of left ventricular ejection time from the photoplethysmogram. Annu Int Conf IEEE EMBC 2012;2012:3951–4.</a:t>
            </a:r>
          </a:p>
          <a:p>
            <a:endParaRPr/>
          </a:p>
          <a:p>
            <a:r>
              <a:t>比較対照は Chan らの既存 LVET 推定アルゴリズムと心エコー参照値。</a:t>
            </a:r>
          </a:p>
          <a:p>
            <a:r>
              <a:t>PMID 23366792</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2015</a:t>
            </a:r>
          </a:p>
          <a:p>
            <a:endParaRPr/>
          </a:p>
          <a:p>
            <a:r>
              <a:t>Couceiro R, et al. Assessment of cardiovascular function from multi-Gaussian fitting of a finger photoplethysmogram. Physiol Meas 2015;36:1801–25.</a:t>
            </a:r>
          </a:p>
          <a:p>
            <a:endParaRPr/>
          </a:p>
          <a:p>
            <a:r>
              <a:t>本デックにとって最も重要な 1 本。</a:t>
            </a:r>
          </a:p>
          <a:p>
            <a:r>
              <a:t>「分解由来の SI・RI を血圧・総末梢血管抵抗係数と対比する」という設問は</a:t>
            </a:r>
          </a:p>
          <a:p>
            <a:r>
              <a:t>2015 年に既に実施済みであり、しかも成績が芳しくない。</a:t>
            </a:r>
          </a:p>
          <a:p>
            <a:r>
              <a:t>失神を経験した患者では SI と収縮期血圧・平均血圧の一致が最高で 0.57。</a:t>
            </a:r>
          </a:p>
          <a:p>
            <a:r>
              <a:t>→ 主要評価項目は振幅側ではなく時間側に置くべき、という設計上の含意。</a:t>
            </a:r>
          </a:p>
          <a:p>
            <a:r>
              <a:t>PMID 26235798</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Tigges 2017</a:t>
            </a:r>
          </a:p>
          <a:p>
            <a:endParaRPr/>
          </a:p>
          <a:p>
            <a:r>
              <a:t>Tigges T, et al. Model selection for the pulse decomposition analysis of fingertip photoplethysmograms. Annu Int Conf IEEE EMBC 2017;2017:4014–7.</a:t>
            </a:r>
          </a:p>
          <a:p>
            <a:endParaRPr/>
          </a:p>
          <a:p>
            <a:r>
              <a:t>単一の最良モデルは存在しない。</a:t>
            </a:r>
          </a:p>
          <a:p>
            <a:r>
              <a:t>これは分解という逆問題が一意に解けていないことの直接の根拠であり、</a:t>
            </a:r>
          </a:p>
          <a:p>
            <a:r>
              <a:t>分解成分に「前進波」「反射波」という部位名を割り当てること自体の弱さにもつながる。</a:t>
            </a:r>
          </a:p>
          <a:p>
            <a:r>
              <a:t>PMID 29060777</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Fleischhauer</a:t>
            </a:r>
          </a:p>
          <a:p>
            <a:endParaRPr/>
          </a:p>
          <a:p>
            <a:r>
              <a:t>Fleischhauer V, et al. Pulse decomposition analysis in photoplethysmography imaging. Physiol Meas 2020;41:095009.</a:t>
            </a:r>
          </a:p>
          <a:p>
            <a:endParaRPr/>
          </a:p>
          <a:p>
            <a:r>
              <a:t>初期値設定の影響も検討している。</a:t>
            </a:r>
          </a:p>
          <a:p>
            <a:r>
              <a:t>アルゴリズム間の差と初期値依存性を実証した文献。</a:t>
            </a:r>
          </a:p>
          <a:p>
            <a:r>
              <a:t>PMID 33021236</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Basso 2024</a:t>
            </a:r>
          </a:p>
          <a:p>
            <a:endParaRPr/>
          </a:p>
          <a:p>
            <a:r>
              <a:t>Basso G, et al. A skewed-Gaussian model for pulse decomposition analysis of photoplethysmography signals. Physiol Meas 2024;45(11):12507. Bland-Altman でバイアスも評価している（数値は抄録に記載なし）。</a:t>
            </a:r>
          </a:p>
          <a:p>
            <a:r>
              <a:t>基底関数の選択が決着していないことの実例であると同時に、</a:t>
            </a:r>
          </a:p>
          <a:p>
            <a:r>
              <a:t>非対称基底の採用という対策の根拠でもある。</a:t>
            </a:r>
          </a:p>
          <a:p>
            <a:r>
              <a:t>PMID 39577084</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Baruch 2014</a:t>
            </a:r>
          </a:p>
          <a:p>
            <a:endParaRPr/>
          </a:p>
          <a:p>
            <a:r>
              <a:t>Baruch MC, et al. Validation of the pulse decomposition analysis algorithm using central arterial blood pressure. Biomed Eng Online 2014;13:96.</a:t>
            </a:r>
          </a:p>
          <a:p>
            <a:endParaRPr/>
          </a:p>
          <a:p>
            <a:r>
              <a:t>中心ラインカテーテルによる中心動脈圧の実測値と比較。</a:t>
            </a:r>
          </a:p>
          <a:p>
            <a:r>
              <a:t>Bland-Altman は AAMI SP-10 のトレンド基準内。</a:t>
            </a:r>
          </a:p>
          <a:p>
            <a:r>
              <a:t>PDA を製品化している系譜（CareTaker／Vitalstream）があり、</a:t>
            </a:r>
          </a:p>
          <a:p>
            <a:r>
              <a:t>実装を検討する場合は特許調査が別途必要になる。</a:t>
            </a:r>
          </a:p>
          <a:p>
            <a:r>
              <a:t>PMID 25005686</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Pal 2024</a:t>
            </a:r>
          </a:p>
          <a:p>
            <a:endParaRPr/>
          </a:p>
          <a:p>
            <a:r>
              <a:t>Pal R, et al. An algorithm to detect dicrotic notch in arterial blood pressure and photoplethysmography waveforms using the iterative envelope mean method. Comput Methods Programs Biomed 2024;254:108283.</a:t>
            </a:r>
          </a:p>
          <a:p>
            <a:endParaRPr/>
          </a:p>
          <a:p>
            <a:r>
              <a:t>収縮期相持続時間 SPD の相関は PPG で R²=0.98（n=86,764, p&lt;.001）。</a:t>
            </a:r>
          </a:p>
          <a:p>
            <a:r>
              <a:t>SNR −12 dB まで高い検出率を維持。</a:t>
            </a:r>
          </a:p>
          <a:p>
            <a:r>
              <a:t>分解法（PDA）ではなく「切痕を直接検出する」系統の到達点であり、</a:t>
            </a:r>
          </a:p>
          <a:p>
            <a:r>
              <a:t>PDA の比較対象になる。</a:t>
            </a:r>
          </a:p>
          <a:p>
            <a:r>
              <a:t>PMID 38901273</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a:t>
            </a:r>
            <a:r>
              <a:rPr dirty="0" err="1"/>
              <a:t>の限界</a:t>
            </a:r>
            <a:endParaRPr dirty="0"/>
          </a:p>
          <a:p>
            <a:endParaRPr dirty="0"/>
          </a:p>
          <a:p>
            <a:r>
              <a:rPr dirty="0"/>
              <a:t>① </a:t>
            </a:r>
            <a:r>
              <a:rPr dirty="0" err="1"/>
              <a:t>逆問題が一意に解けていない</a:t>
            </a:r>
            <a:endParaRPr dirty="0"/>
          </a:p>
          <a:p>
            <a:r>
              <a:rPr dirty="0"/>
              <a:t>　　</a:t>
            </a:r>
            <a:r>
              <a:rPr dirty="0" err="1"/>
              <a:t>Gaussian／Gamma／skewed-Gaussian／Rayleigh、カーネル数</a:t>
            </a:r>
            <a:r>
              <a:rPr dirty="0"/>
              <a:t> 2〜5 </a:t>
            </a:r>
            <a:r>
              <a:rPr dirty="0" err="1"/>
              <a:t>と研究ごとに最良が異なる</a:t>
            </a:r>
            <a:endParaRPr dirty="0"/>
          </a:p>
          <a:p>
            <a:r>
              <a:rPr dirty="0"/>
              <a:t>　　（Tigges 2017 </a:t>
            </a:r>
            <a:r>
              <a:rPr dirty="0" err="1"/>
              <a:t>の総当たりで最頻モデルでも</a:t>
            </a:r>
            <a:r>
              <a:rPr dirty="0"/>
              <a:t> 28.1%）。Basso 2024 </a:t>
            </a:r>
            <a:r>
              <a:rPr dirty="0" err="1"/>
              <a:t>が示した初期値依存性も</a:t>
            </a:r>
            <a:endParaRPr dirty="0"/>
          </a:p>
          <a:p>
            <a:r>
              <a:rPr dirty="0"/>
              <a:t>　　</a:t>
            </a:r>
            <a:r>
              <a:rPr dirty="0" err="1"/>
              <a:t>同じ根を持つ</a:t>
            </a:r>
            <a:r>
              <a:rPr dirty="0"/>
              <a:t>。</a:t>
            </a:r>
          </a:p>
          <a:p>
            <a:endParaRPr dirty="0"/>
          </a:p>
          <a:p>
            <a:r>
              <a:rPr dirty="0"/>
              <a:t>② </a:t>
            </a:r>
            <a:r>
              <a:rPr dirty="0" err="1"/>
              <a:t>物理的な帰属が数値モデルから支持されていない</a:t>
            </a:r>
            <a:endParaRPr dirty="0"/>
          </a:p>
          <a:p>
            <a:r>
              <a:rPr dirty="0"/>
              <a:t>　　Epstein 2014 </a:t>
            </a:r>
            <a:r>
              <a:rPr dirty="0" err="1"/>
              <a:t>は手の主要動脈を含む</a:t>
            </a:r>
            <a:r>
              <a:rPr dirty="0"/>
              <a:t> 75 </a:t>
            </a:r>
            <a:r>
              <a:rPr dirty="0" err="1"/>
              <a:t>本の動脈網を表現した非線形</a:t>
            </a:r>
            <a:r>
              <a:rPr dirty="0"/>
              <a:t> 1 </a:t>
            </a:r>
            <a:r>
              <a:rPr dirty="0" err="1"/>
              <a:t>次元モデルで</a:t>
            </a:r>
            <a:r>
              <a:rPr dirty="0"/>
              <a:t>、</a:t>
            </a:r>
          </a:p>
          <a:p>
            <a:r>
              <a:rPr dirty="0"/>
              <a:t>　　SI </a:t>
            </a:r>
            <a:r>
              <a:rPr dirty="0" err="1"/>
              <a:t>が大動脈</a:t>
            </a:r>
            <a:r>
              <a:rPr dirty="0"/>
              <a:t> PWV </a:t>
            </a:r>
            <a:r>
              <a:rPr dirty="0" err="1"/>
              <a:t>の直接の代用ではないこと、さらに</a:t>
            </a:r>
            <a:endParaRPr dirty="0"/>
          </a:p>
          <a:p>
            <a:r>
              <a:rPr dirty="0"/>
              <a:t>　　**</a:t>
            </a:r>
            <a:r>
              <a:rPr dirty="0" err="1"/>
              <a:t>第</a:t>
            </a:r>
            <a:r>
              <a:rPr dirty="0"/>
              <a:t> 2 </a:t>
            </a:r>
            <a:r>
              <a:rPr dirty="0" err="1"/>
              <a:t>ピークは末梢反射ではなく動脈網内部のインピーダンス不整合が主因</a:t>
            </a:r>
            <a:r>
              <a:rPr dirty="0"/>
              <a:t>**</a:t>
            </a:r>
            <a:r>
              <a:rPr dirty="0" err="1"/>
              <a:t>であり</a:t>
            </a:r>
            <a:r>
              <a:rPr dirty="0"/>
              <a:t>、</a:t>
            </a:r>
          </a:p>
          <a:p>
            <a:r>
              <a:rPr dirty="0"/>
              <a:t>　　</a:t>
            </a:r>
            <a:r>
              <a:rPr dirty="0" err="1"/>
              <a:t>上肢の末梢反射はむしろ第</a:t>
            </a:r>
            <a:r>
              <a:rPr dirty="0"/>
              <a:t> 1 </a:t>
            </a:r>
            <a:r>
              <a:rPr dirty="0" err="1"/>
              <a:t>ピークの到達時刻を遅らせることを示した</a:t>
            </a:r>
            <a:r>
              <a:rPr dirty="0"/>
              <a:t>。</a:t>
            </a:r>
          </a:p>
          <a:p>
            <a:r>
              <a:rPr dirty="0"/>
              <a:t>　　「2 </a:t>
            </a:r>
            <a:r>
              <a:rPr dirty="0" err="1"/>
              <a:t>番目の山＝末梢からの反射波」というラベルは自明ではない</a:t>
            </a:r>
            <a:r>
              <a:rPr dirty="0"/>
              <a:t>。</a:t>
            </a:r>
          </a:p>
          <a:p>
            <a:r>
              <a:rPr dirty="0"/>
              <a:t>　　</a:t>
            </a:r>
            <a:r>
              <a:rPr dirty="0" err="1"/>
              <a:t>当てはまりがいくら改善しても、この帰属が誤っていれば</a:t>
            </a:r>
            <a:endParaRPr dirty="0"/>
          </a:p>
          <a:p>
            <a:r>
              <a:rPr dirty="0"/>
              <a:t>　　</a:t>
            </a:r>
            <a:r>
              <a:rPr dirty="0" err="1"/>
              <a:t>そこから作った</a:t>
            </a:r>
            <a:r>
              <a:rPr dirty="0"/>
              <a:t> RI・SI </a:t>
            </a:r>
            <a:r>
              <a:rPr dirty="0" err="1"/>
              <a:t>の生理学的意味は変わってしまう</a:t>
            </a:r>
            <a:r>
              <a:rPr dirty="0"/>
              <a:t>。</a:t>
            </a:r>
          </a:p>
          <a:p>
            <a:endParaRPr dirty="0"/>
          </a:p>
          <a:p>
            <a:r>
              <a:rPr dirty="0"/>
              <a:t>③ </a:t>
            </a:r>
            <a:r>
              <a:rPr dirty="0" err="1"/>
              <a:t>振幅側の成績が一貫して弱い</a:t>
            </a:r>
            <a:endParaRPr dirty="0"/>
          </a:p>
          <a:p>
            <a:r>
              <a:rPr dirty="0"/>
              <a:t>　　Couceiro 2015 </a:t>
            </a:r>
            <a:r>
              <a:rPr dirty="0" err="1"/>
              <a:t>の</a:t>
            </a:r>
            <a:r>
              <a:rPr dirty="0"/>
              <a:t> R1_2（モデル由来の </a:t>
            </a:r>
            <a:r>
              <a:rPr dirty="0" err="1"/>
              <a:t>RI）はすべての参照値と低相関</a:t>
            </a:r>
            <a:r>
              <a:rPr dirty="0"/>
              <a:t>。</a:t>
            </a:r>
          </a:p>
          <a:p>
            <a:r>
              <a:rPr dirty="0"/>
              <a:t>　　</a:t>
            </a:r>
            <a:r>
              <a:rPr dirty="0" err="1"/>
              <a:t>時間側の</a:t>
            </a:r>
            <a:r>
              <a:rPr dirty="0"/>
              <a:t> T1_2 </a:t>
            </a:r>
            <a:r>
              <a:rPr dirty="0" err="1"/>
              <a:t>ですら</a:t>
            </a:r>
            <a:r>
              <a:rPr dirty="0"/>
              <a:t> TPRI </a:t>
            </a:r>
            <a:r>
              <a:rPr dirty="0" err="1"/>
              <a:t>との</a:t>
            </a:r>
            <a:r>
              <a:rPr dirty="0"/>
              <a:t> </a:t>
            </a:r>
            <a:r>
              <a:rPr dirty="0" err="1"/>
              <a:t>ρ</a:t>
            </a:r>
            <a:r>
              <a:rPr dirty="0"/>
              <a:t>=0.45 </a:t>
            </a:r>
            <a:r>
              <a:rPr dirty="0" err="1"/>
              <a:t>にとどまる</a:t>
            </a:r>
            <a:r>
              <a:rPr dirty="0"/>
              <a:t>。</a:t>
            </a:r>
          </a:p>
          <a:p>
            <a:endParaRPr dirty="0"/>
          </a:p>
          <a:p>
            <a:r>
              <a:rPr dirty="0"/>
              <a:t>→ </a:t>
            </a:r>
            <a:r>
              <a:rPr dirty="0" err="1"/>
              <a:t>検証設計としては、真値が既知の仮想被験者データベース（Charlton</a:t>
            </a:r>
            <a:r>
              <a:rPr dirty="0"/>
              <a:t> 2019）で</a:t>
            </a:r>
          </a:p>
          <a:p>
            <a:r>
              <a:rPr dirty="0"/>
              <a:t>　 </a:t>
            </a:r>
            <a:r>
              <a:rPr dirty="0" err="1"/>
              <a:t>先に帰属を確かめるのが筋である</a:t>
            </a:r>
            <a:r>
              <a:rPr dirty="0"/>
              <a:t>。</a:t>
            </a:r>
          </a:p>
          <a:p>
            <a:endParaRPr dirty="0"/>
          </a:p>
          <a:p>
            <a:r>
              <a:rPr dirty="0"/>
              <a:t>出典：42. Couceiro 2015 ／ 43. Tigges 2017 ／ 44. Basso 2024 ／ 47. Epstein 2014</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当てはめの中身 ― 全体像</a:t>
            </a:r>
          </a:p>
          <a:p/>
          <a:p>
            <a:r>
              <a:t>前スライドの手順①〜④のうち、③「当てはめる」を開くと次の4段になる。</a:t>
            </a:r>
          </a:p>
          <a:p/>
          <a:p>
            <a:r>
              <a:t>① モデルを決める … 基底関数の種類（Gaussian／Gamma／Rayleigh／skewed-Gaussian ほか）と</a:t>
            </a:r>
          </a:p>
          <a:p>
            <a:r>
              <a:t>　カーネル数 N を決める。データからは決まらない設計値。Tigges 2017 の総当たりでも</a:t>
            </a:r>
          </a:p>
          <a:p>
            <a:r>
              <a:t>　単一の最良モデルは存在しなかった。</a:t>
            </a:r>
          </a:p>
          <a:p>
            <a:r>
              <a:t>② 初期値と境界を置く … 反復計算をどこから始め、パラメータをどこまで動かしてよいかを決める。</a:t>
            </a:r>
          </a:p>
          <a:p>
            <a:r>
              <a:t>　これも設計値であり、論文では細部として扱われがちだが結果を左右する。</a:t>
            </a:r>
          </a:p>
          <a:p>
            <a:r>
              <a:t>③ 残差を最小にする … 初期値から反復計算で残差の谷を下る。</a:t>
            </a:r>
          </a:p>
          <a:p>
            <a:r>
              <a:t>④ 出た値を検算する … 境界への張り付き、初期値を変えたときの再現性、残差の谷の幅を確かめる。</a:t>
            </a:r>
          </a:p>
          <a:p/>
          <a:p>
            <a:r>
              <a:t>■ 麻酔中に使う場合の粒度</a:t>
            </a:r>
          </a:p>
          <a:p>
            <a:r>
              <a:t>当てはめ自体は 1 拍ごとに計算できる。ただし 1 拍だけの推定値はばらつくので、</a:t>
            </a:r>
          </a:p>
          <a:p>
            <a:r>
              <a:t>実務では「拍ごとに当てはめ、指標は数拍〜十数拍の移動中央値で出す」設計が扱いやすい。</a:t>
            </a:r>
          </a:p>
          <a:p>
            <a:r>
              <a:t>先に波形を平均してから 1 回だけ当てはめる方式は S/N は良くなるが、</a:t>
            </a:r>
          </a:p>
          <a:p>
            <a:r>
              <a:t>当てはめ不能な拍が混ざっても気づけず、心拍数が動くと波形が鈍る欠点がある。</a:t>
            </a:r>
          </a:p>
          <a:p/>
          <a:p>
            <a:r>
              <a:t>■ 初期値の方式は併用できる</a:t>
            </a:r>
          </a:p>
          <a:p>
            <a:r>
              <a:t>ランドマーク方式・前拍からの継承・ランダム初期値は排他ではない。</a:t>
            </a:r>
          </a:p>
          <a:p>
            <a:r>
              <a:t>3 種を並行に走らせて最も残差の小さい解を採れば、</a:t>
            </a:r>
          </a:p>
          <a:p>
            <a:r>
              <a:t>「複数の出発点が同じ解に収束したか」がそのまま④の検算になる。</a:t>
            </a:r>
          </a:p>
          <a:p/>
          <a:p>
            <a:r>
              <a:t>出典：42. Couceiro 2015 ／ 43. Tigges 2017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初期値の決め方</a:t>
            </a:r>
          </a:p>
          <a:p/>
          <a:p>
            <a:r>
              <a:t>反復計算は初期値の近くの谷に落ちるので、初期値をどう置くかが結果を左右する。</a:t>
            </a:r>
          </a:p>
          <a:p>
            <a:r>
              <a:t>方式は大きく3つあり、どれを使うかは研究ごとに違う。</a:t>
            </a:r>
          </a:p>
          <a:p/>
          <a:p>
            <a:r>
              <a:t>■ ランドマーク方式（主流）</a:t>
            </a:r>
          </a:p>
          <a:p>
            <a:r>
              <a:t>1次微分でピーク、2次微分で変曲点・肩を検出し、その時刻を成分波の位置 μ の初期値にする。</a:t>
            </a:r>
          </a:p>
          <a:p>
            <a:r>
              <a:t>高さ a はその時刻の振幅、幅 σ は半値全幅 ÷ 2.355 から見積もる。</a:t>
            </a:r>
          </a:p>
          <a:p>
            <a:r>
              <a:t>生理学的に妥当な初期値が得られるので収束が速い。</a:t>
            </a:r>
          </a:p>
          <a:p>
            <a:r>
              <a:t>弱点は DN-less 波形で、目印が消えるのではなく「弱くなってノイズと区別できなくなる」こと。</a:t>
            </a:r>
          </a:p>
          <a:p>
            <a:r>
              <a:t>Pal 2024 では、従来の2次微分法による重複切痕の検出誤差は 0.0968 秒（SD 0.0909）で、</a:t>
            </a:r>
          </a:p>
          <a:p>
            <a:r>
              <a:t>IEM 法の 0.0046 秒（SD 0.0029）と桁で違う。使えないのではなく不安定である。</a:t>
            </a:r>
          </a:p>
          <a:p/>
          <a:p>
            <a:r>
              <a:t>■ 前の拍を引き継ぐ</a:t>
            </a:r>
          </a:p>
          <a:p>
            <a:r>
              <a:t>直前の拍で得た解を次の拍の初期値にする。目印に依存せず、指標が拍ごとに跳ばないので、</a:t>
            </a:r>
          </a:p>
          <a:p>
            <a:r>
              <a:t>麻酔導入時のようにトーヌスが動く場面のトレンド表示に向く。</a:t>
            </a:r>
          </a:p>
          <a:p>
            <a:r>
              <a:t>ただし前の拍が誤っていると引きずるので、外れ値の棄却と併用する。</a:t>
            </a:r>
          </a:p>
          <a:p/>
          <a:p>
            <a:r>
              <a:t>■ 多点スタート・大域最適化</a:t>
            </a:r>
          </a:p>
          <a:p>
            <a:r>
              <a:t>多数のランダム初期値から当てはめて最良を選ぶ、あるいは粒子群最適化などの大域探索を使う。</a:t>
            </a:r>
          </a:p>
          <a:p>
            <a:r>
              <a:t>初期値依存を避けられるが計算量は増える。</a:t>
            </a:r>
          </a:p>
          <a:p>
            <a:r>
              <a:t>なおランダム初期値は本来アルゴリズムの頑健性を評価する手段であり</a:t>
            </a:r>
          </a:p>
          <a:p>
            <a:r>
              <a:t>（Basso 2024 はこの方法で skewed-Gaussian の初期値感度の低さを示した）、</a:t>
            </a:r>
          </a:p>
          <a:p>
            <a:r>
              <a:t>実運用の推奨ではない。</a:t>
            </a:r>
          </a:p>
          <a:p/>
          <a:p>
            <a:r>
              <a:t>■ 3 方式は排他ではない</a:t>
            </a:r>
          </a:p>
          <a:p>
            <a:r>
              <a:t>ランドマーク・前拍継承・ランダムの 3 種を並行に走らせ、最も残差の小さい解を採ればよい。</a:t>
            </a:r>
          </a:p>
          <a:p>
            <a:r>
              <a:t>このとき複数の出発点が同じ解に収束したかどうかが、そのまま非一意性の検査になる。</a:t>
            </a:r>
          </a:p>
          <a:p>
            <a:r>
              <a:t>単独方式では失敗を検出する手段がないので、併用は保険ではなく検算そのものである。</a:t>
            </a:r>
          </a:p>
          <a:p/>
          <a:p>
            <a:r>
              <a:t>■ 基底関数が決めるのは「翻訳の式」だけ</a:t>
            </a:r>
          </a:p>
          <a:p>
            <a:r>
              <a:t>方式は研究者が選ぶが、ランドマークをパラメータに直す式は基底関数で決まる。</a:t>
            </a:r>
          </a:p>
          <a:p>
            <a:r>
              <a:t>Gaussian は μ が頂点の時刻なのでそのまま入れられるが、</a:t>
            </a:r>
          </a:p>
          <a:p>
            <a:r>
              <a:t>Rayleigh は μ が立ち上がりの時刻で頂点は μ+σ なので、μ = 頂点時刻 − σ として入れる。</a:t>
            </a:r>
          </a:p>
          <a:p>
            <a:r>
              <a:t>Gamma は形状・尺度パラメータから逆算する。</a:t>
            </a:r>
          </a:p>
          <a:p/>
          <a:p>
            <a:r>
              <a:t>■ 境界条件</a:t>
            </a:r>
          </a:p>
          <a:p>
            <a:r>
              <a:t>・a &gt; 0 … 負の成分波（引き算で辻褄を合わせる解）を禁じる</a:t>
            </a:r>
          </a:p>
          <a:p>
            <a:r>
              <a:t>・μ₁ &lt; μ₂ &lt; … の順序制約 … N 本のモデルには N! 通りの等価な解がある。</a:t>
            </a:r>
          </a:p>
          <a:p>
            <a:r>
              <a:t>　順序を固定しないと、拍ごとに「第2成分波」が指す対象が入れ替わり、時系列で追えなくなる。</a:t>
            </a:r>
          </a:p>
          <a:p>
            <a:r>
              <a:t>・σ の上下限 … 細すぎるカーネル（ノイズを吸う）と太すぎるカーネル（ベースラインを吸う）を防ぐ</a:t>
            </a:r>
          </a:p>
          <a:p/>
          <a:p>
            <a:r>
              <a:t>出典：42. Couceiro 2015 ／ 45. Couceiro 2012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当てはめの選び方 ― 目的関数と探索法は別物</a:t>
            </a:r>
          </a:p>
          <a:p/>
          <a:p>
            <a:r>
              <a:t>混同されやすいが、「何を最小にするか（目的関数）」と「どうやって最小値を探すか（探索法）」</a:t>
            </a:r>
          </a:p>
          <a:p>
            <a:r>
              <a:t>は独立した選択である。次のスライドの地形の図でいえば、</a:t>
            </a:r>
          </a:p>
          <a:p>
            <a:r>
              <a:t>目的関数は地形そのものの形を決め、探索法はその地形をどこからどう下るかを決める。</a:t>
            </a:r>
          </a:p>
          <a:p/>
          <a:p>
            <a:r>
              <a:t>■ 目的関数</a:t>
            </a:r>
          </a:p>
          <a:p>
            <a:r>
              <a:t>・残差平方和 RSS ＝ 実測とモデルの差を二乗して全時点で合計したもの。事実上の標準。</a:t>
            </a:r>
          </a:p>
          <a:p>
            <a:r>
              <a:t>　二乗するのは、符号を消すため、大きなズレを重く見るため、微分できて計算しやすいため。</a:t>
            </a:r>
          </a:p>
          <a:p>
            <a:r>
              <a:t>　統計的な裏づけもあり、ノイズが平均ゼロ・分散一定の正規分布に従い各時点で独立であれば、</a:t>
            </a:r>
          </a:p>
          <a:p>
            <a:r>
              <a:t>　RSS を最小にするパラメータは最尤推定値と厳密に一致する。恣意的な選択ではない。</a:t>
            </a:r>
          </a:p>
          <a:p>
            <a:r>
              <a:t>・重み付き最小二乗 WLS ＝ 時点ごとに重みを変える。</a:t>
            </a:r>
          </a:p>
          <a:p>
            <a:r>
              <a:t>　RSS は全時点を平等に扱うため、サンプル点の多い拡張期の平坦部が、点数の少ない</a:t>
            </a:r>
          </a:p>
          <a:p>
            <a:r>
              <a:t>　収縮期ピーク付近より結果を支配してしまう。臨床的に見たいのは後者なので、その補正。</a:t>
            </a:r>
          </a:p>
          <a:p>
            <a:r>
              <a:t>　Wang L 2013 は重みを多基準意思決定法で最適化している。</a:t>
            </a:r>
          </a:p>
          <a:p>
            <a:r>
              <a:t>・ロバスト損失（Huber、soft-L1）＝ 大きな残差の重みを下げる。体動アーチファクトに強い。</a:t>
            </a:r>
          </a:p>
          <a:p>
            <a:r>
              <a:t>・ベイズ・MAP・正則化 ＝ パラメータに事前分布や罰則を課す。非一意性そのものを抑える点で</a:t>
            </a:r>
          </a:p>
          <a:p>
            <a:r>
              <a:t>　原理的には最も筋が良いが、PDA ではまだ一般的でない。</a:t>
            </a:r>
          </a:p>
          <a:p/>
          <a:p>
            <a:r>
              <a:t>■ 探索法（目的関数は RSS のまま変えない）</a:t>
            </a:r>
          </a:p>
          <a:p>
            <a:r>
              <a:t>・Levenberg–Marquardt 法 ＝ 標準。最急降下法と Gauss–Newton 法を減衰係数で切り替える。</a:t>
            </a:r>
          </a:p>
          <a:p>
            <a:r>
              <a:t>　速いが局所解に落ちる。</a:t>
            </a:r>
          </a:p>
          <a:p>
            <a:r>
              <a:t>・大域最適化（粒子群最適化、人工蜂コロニー、遺伝的アルゴリズム）＝ 局所解を回避。計算量増。</a:t>
            </a:r>
          </a:p>
          <a:p>
            <a:r>
              <a:t>・変数分離 VARPRO ＝ 高さ a はモデルに線形に入るので、μ と σ が決まれば a は</a:t>
            </a:r>
          </a:p>
          <a:p>
            <a:r>
              <a:t>　線形最小二乗で厳密に解ける。反復すべき非線形パラメータが 3N から 2N に減り、</a:t>
            </a:r>
          </a:p>
          <a:p>
            <a:r>
              <a:t>　初期値依存が下がる。</a:t>
            </a:r>
          </a:p>
          <a:p>
            <a:r>
              <a:t>・逐次剥ぎ取り ＝ 大きい山から順に当てはめて引いていく。初期値づくりの前処理としても使う。</a:t>
            </a:r>
          </a:p>
          <a:p/>
          <a:p>
            <a:r>
              <a:t>出典：42. Couceiro 2015 ／ 43. Tigges 2017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当てはめの選び方 ― 残差の地形として見る</a:t>
            </a:r>
          </a:p>
          <a:p/>
          <a:p>
            <a:r>
              <a:t>横軸はパラメータ（成分波の位置や幅）、縦軸はそのパラメータでの残差。</a:t>
            </a:r>
          </a:p>
          <a:p>
            <a:r>
              <a:t>当てはめとは、この地形の谷底を探す作業である。</a:t>
            </a:r>
          </a:p>
          <a:p/>
          <a:p>
            <a:r>
              <a:t>■ 目的関数は「地形の形」を決める</a:t>
            </a:r>
          </a:p>
          <a:p>
            <a:r>
              <a:t>残差平方和にするか、重み付きにするか、ロバスト損失にするかで、</a:t>
            </a:r>
          </a:p>
          <a:p>
            <a:r>
              <a:t>同じ実測データでも地形の形が変わる。どこを谷にするかを決めているのが目的関数である。</a:t>
            </a:r>
          </a:p>
          <a:p/>
          <a:p>
            <a:r>
              <a:t>■ 探索法は「どこからどう下るか」を決める</a:t>
            </a:r>
          </a:p>
          <a:p>
            <a:r>
              <a:t>Levenberg–Marquardt 法は初期値の位置から坂を下るので、近くの谷で止まる。</a:t>
            </a:r>
          </a:p>
          <a:p>
            <a:r>
              <a:t>図の初期値①は左の浅い谷（局所解）に落ち、初期値②は右の深い谷（大域解）に落ちる。</a:t>
            </a:r>
          </a:p>
          <a:p>
            <a:r>
              <a:t>どちらも「残差が極小」であり、計算は正常に終了する。</a:t>
            </a:r>
          </a:p>
          <a:p>
            <a:r>
              <a:t>つまり収束したことは、正しい答えに着いたことを意味しない。</a:t>
            </a:r>
          </a:p>
          <a:p/>
          <a:p>
            <a:r>
              <a:t>■ カーネル数が増えるとどうなるか</a:t>
            </a:r>
          </a:p>
          <a:p>
            <a:r>
              <a:t>谷の数が増える。合成波形での検証では、カーネル 2 本のときはランダム初期値の 96% が</a:t>
            </a:r>
          </a:p>
          <a:p>
            <a:r>
              <a:t>同じ解に収束したのに対し、6 本では 1.3% しか最良解に到達しなかった</a:t>
            </a:r>
          </a:p>
          <a:p>
            <a:r>
              <a:t>（局所解のクラスタ数は 4 個から 92 個に増加）。</a:t>
            </a:r>
          </a:p>
          <a:p>
            <a:r>
              <a:t>本数が多いほど、実務的には「実行するたびに違う答えが出る」状態に近づく。</a:t>
            </a:r>
          </a:p>
          <a:p/>
          <a:p>
            <a:r>
              <a:t>■ 対策</a:t>
            </a:r>
          </a:p>
          <a:p>
            <a:r>
              <a:t>・複数の初期値から走らせて、同じ谷に集まるか確かめる（＝次スライドの検算③）</a:t>
            </a:r>
          </a:p>
          <a:p>
            <a:r>
              <a:t>・大域最適化を使う</a:t>
            </a:r>
          </a:p>
          <a:p>
            <a:r>
              <a:t>・非対称な基底関数を使う（Basso 2024 は skewed-Gaussian で初期値感度が低いと報告）</a:t>
            </a:r>
          </a:p>
          <a:p/>
          <a:p>
            <a:r>
              <a:t>（数値は合成波形による検証例であり、文献値ではない。）</a:t>
            </a:r>
          </a:p>
          <a:p/>
          <a:p>
            <a:r>
              <a:t>出典：43. Tigges 2017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収束の検算 ― 値が返ってきたら確認すること</a:t>
            </a:r>
          </a:p>
          <a:p/>
          <a:p>
            <a:r>
              <a:t>当てはめは必ず何らかの値を返す。返ってきたこと自体は成功を意味しない。</a:t>
            </a:r>
          </a:p>
          <a:p/>
          <a:p>
            <a:r>
              <a:t>■ ① 境界に張り付いていないか</a:t>
            </a:r>
          </a:p>
          <a:p>
            <a:r>
              <a:t>パラメータが設定した上限・下限に達したまま止まっている場合、最適化は「そこから先に</a:t>
            </a:r>
          </a:p>
          <a:p>
            <a:r>
              <a:t>行きたかったのに行けなかった」状態である。モデルの形か本数か境界の置き方が</a:t>
            </a:r>
          </a:p>
          <a:p>
            <a:r>
              <a:t>その波形に合っていない。値は使えない。</a:t>
            </a:r>
          </a:p>
          <a:p/>
          <a:p>
            <a:r>
              <a:t>■ ② 振幅がほぼゼロのカーネルが無いか</a:t>
            </a:r>
          </a:p>
          <a:p>
            <a:r>
              <a:t>実質的に使われていないカーネルがあるということは、その拍にはその本数が多すぎる。</a:t>
            </a:r>
          </a:p>
          <a:p>
            <a:r>
              <a:t>本数を減らすか、AICc などのモデル選択に委ねる。</a:t>
            </a:r>
          </a:p>
          <a:p/>
          <a:p>
            <a:r>
              <a:t>■ ③ 初期値を変えても同じ解に収束するか</a:t>
            </a:r>
          </a:p>
          <a:p>
            <a:r>
              <a:t>複数の初期値から当てはめて、同じ解に落ちるかを見る。これが最も直接的な非一意性の検査で、</a:t>
            </a:r>
          </a:p>
          <a:p>
            <a:r>
              <a:t>前スライドの地形の図でいえば「どの出発点からも同じ谷に着くか」を確かめている。</a:t>
            </a:r>
          </a:p>
          <a:p>
            <a:r>
              <a:t>ランドマーク方式・前拍継承・ランダムを併用しておけば、この検査は追加コストなしで行える。</a:t>
            </a:r>
          </a:p>
          <a:p>
            <a:r>
              <a:t>合成波形での検証では、カーネル2本のときはランダム初期値の 96% が同じ解に収束したのに対し、</a:t>
            </a:r>
          </a:p>
          <a:p>
            <a:r>
              <a:t>6本では 1.3% しか到達しなかった。</a:t>
            </a:r>
          </a:p>
          <a:p/>
          <a:p>
            <a:r>
              <a:t>■ ④ 残差プロファイルの幅</a:t>
            </a:r>
          </a:p>
          <a:p>
            <a:r>
              <a:t>時間差 T を固定して残りのパラメータだけ最適化し、T を動かしながら残差を描く</a:t>
            </a:r>
          </a:p>
          <a:p>
            <a:r>
              <a:t>（プロファイル法。同定可能性の標準的な診断）。谷が鋭ければ T は決まっており、</a:t>
            </a:r>
          </a:p>
          <a:p>
            <a:r>
              <a:t>平らならデータは T を決めていない。</a:t>
            </a:r>
          </a:p>
          <a:p>
            <a:r>
              <a:t>合成波形での検証では、切痕がある波形では T の区別できない範囲が ±5 ms 未満だったのに対し、</a:t>
            </a:r>
          </a:p>
          <a:p>
            <a:r>
              <a:t>切痕が消えた波形では 75〜110 ms（幅 35 ms）に広がった。</a:t>
            </a:r>
          </a:p>
          <a:p>
            <a:r>
              <a:t>このとき最良解の残差はどちらも 0.9% 前後で同じであり、</a:t>
            </a:r>
          </a:p>
          <a:p>
            <a:r>
              <a:t>残差を見ても不確かさの差はまったく分からない。</a:t>
            </a:r>
          </a:p>
          <a:p/>
          <a:p>
            <a:r>
              <a:t>■ 麻酔中に運用する場合</a:t>
            </a:r>
          </a:p>
          <a:p>
            <a:r>
              <a:t>当てはめ自体は 1 拍あたりミリ秒〜数百ミリ秒で終わるので、拍ごとの計算は可能である。</a:t>
            </a:r>
          </a:p>
          <a:p>
            <a:r>
              <a:t>ただし 1 拍だけの推定値はばらつくため、拍ごとに当てはめて①〜③で異常拍を弾き、</a:t>
            </a:r>
          </a:p>
          <a:p>
            <a:r>
              <a:t>指標は数拍〜十数拍の移動中央値として表示する設計が扱いやすい。</a:t>
            </a:r>
          </a:p>
          <a:p/>
          <a:p>
            <a:r>
              <a:t>■ 要点</a:t>
            </a:r>
          </a:p>
          <a:p>
            <a:r>
              <a:t>残差の小ささは当てはまりの指標であって、解の確からしさの指標ではない。</a:t>
            </a:r>
          </a:p>
          <a:p/>
          <a:p>
            <a:r>
              <a:t>（③④の数値は合成波形による検証例であり、文献値ではない。）</a:t>
            </a:r>
          </a:p>
          <a:p/>
          <a:p>
            <a:r>
              <a:t>出典：43. Tigges 2017 ／ 44. Basso 2024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2" name="Off-page Connector 4">
            <a:extLst>
              <a:ext uri="{FF2B5EF4-FFF2-40B4-BE49-F238E27FC236}">
                <a16:creationId xmlns:a16="http://schemas.microsoft.com/office/drawing/2014/main" id="{32CBB9D4-72FC-CE51-CD8B-FDB4CF9593A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BBB0670E-8FB2-AC3B-96A2-C01F2B37CDC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428407F8-90F9-7A3F-9A34-CC570C2CA47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89C7F27-A16F-4EF6-7A91-EB05CEE76A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7D6E77E0-89EF-FA99-E9A8-75B42B3E7E9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0456716" y="6615533"/>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2/72</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504934" y="4493906"/>
            <a:ext cx="4175519"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573514" y="4717739"/>
            <a:ext cx="4038358" cy="1189847"/>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504934" y="5266379"/>
            <a:ext cx="4175518" cy="919646"/>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4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2/72</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59536" y="1536192"/>
            <a:ext cx="10579608" cy="4956048"/>
          </a:xfrm>
          <a:prstGeom prst="rect">
            <a:avLst/>
          </a:prstGeom>
          <a:noFill/>
        </p:spPr>
        <p:txBody>
          <a:bodyPr wrap="square" lIns="0" tIns="0" rIns="0" bIns="0" anchor="ctr">
            <a:spAutoFit/>
          </a:bodyPr>
          <a:lstStyle/>
          <a:p>
            <a:pPr>
              <a:lnSpc>
                <a:spcPct val="145000"/>
              </a:lnSpc>
            </a:pPr>
            <a:r>
              <a:rPr sz="3400" b="1">
                <a:solidFill>
                  <a:srgbClr val="BF9000"/>
                </a:solidFill>
                <a:latin typeface="Meiryo"/>
                <a:ea typeface="Meiryo"/>
                <a:cs typeface="Meiryo"/>
              </a:rPr>
              <a:t>1. </a:t>
            </a:r>
            <a:r>
              <a:rPr sz="3400" b="1">
                <a:solidFill>
                  <a:srgbClr val="262626"/>
                </a:solidFill>
                <a:latin typeface="Meiryo"/>
                <a:ea typeface="Meiryo"/>
                <a:cs typeface="Meiryo"/>
              </a:rPr>
              <a:t>PPGの基礎</a:t>
            </a:r>
          </a:p>
          <a:p>
            <a:pPr>
              <a:lnSpc>
                <a:spcPct val="145000"/>
              </a:lnSpc>
            </a:pPr>
            <a:r>
              <a:rPr sz="3400" b="1">
                <a:solidFill>
                  <a:srgbClr val="BF9000"/>
                </a:solidFill>
                <a:latin typeface="Meiryo"/>
                <a:ea typeface="Meiryo"/>
                <a:cs typeface="Meiryo"/>
              </a:rPr>
              <a:t>2. </a:t>
            </a:r>
            <a:r>
              <a:rPr sz="3400" b="1">
                <a:solidFill>
                  <a:srgbClr val="262626"/>
                </a:solidFill>
                <a:latin typeface="Meiryo"/>
                <a:ea typeface="Meiryo"/>
                <a:cs typeface="Meiryo"/>
              </a:rPr>
              <a:t>波形への影響</a:t>
            </a:r>
          </a:p>
          <a:p>
            <a:pPr>
              <a:lnSpc>
                <a:spcPct val="145000"/>
              </a:lnSpc>
            </a:pPr>
            <a:r>
              <a:rPr sz="3400" b="1">
                <a:solidFill>
                  <a:srgbClr val="BF9000"/>
                </a:solidFill>
                <a:latin typeface="Meiryo"/>
                <a:ea typeface="Meiryo"/>
                <a:cs typeface="Meiryo"/>
              </a:rPr>
              <a:t>3. </a:t>
            </a:r>
            <a:r>
              <a:rPr sz="3400" b="1">
                <a:solidFill>
                  <a:srgbClr val="262626"/>
                </a:solidFill>
                <a:latin typeface="Meiryo"/>
                <a:ea typeface="Meiryo"/>
                <a:cs typeface="Meiryo"/>
              </a:rPr>
              <a:t>波形の定量化</a:t>
            </a:r>
          </a:p>
          <a:p>
            <a:pPr>
              <a:lnSpc>
                <a:spcPct val="145000"/>
              </a:lnSpc>
            </a:pPr>
            <a:r>
              <a:rPr sz="3400" b="1">
                <a:solidFill>
                  <a:srgbClr val="BF9000"/>
                </a:solidFill>
                <a:latin typeface="Meiryo"/>
                <a:ea typeface="Meiryo"/>
                <a:cs typeface="Meiryo"/>
              </a:rPr>
              <a:t>4. </a:t>
            </a:r>
            <a:r>
              <a:rPr sz="3400" b="1">
                <a:solidFill>
                  <a:srgbClr val="262626"/>
                </a:solidFill>
                <a:latin typeface="Meiryo"/>
                <a:ea typeface="Meiryo"/>
                <a:cs typeface="Meiryo"/>
              </a:rPr>
              <a:t>限界</a:t>
            </a:r>
          </a:p>
          <a:p>
            <a:pPr>
              <a:lnSpc>
                <a:spcPct val="145000"/>
              </a:lnSpc>
            </a:pPr>
            <a:r>
              <a:rPr sz="3400" b="1">
                <a:solidFill>
                  <a:srgbClr val="BF9000"/>
                </a:solidFill>
                <a:latin typeface="Meiryo"/>
                <a:ea typeface="Meiryo"/>
                <a:cs typeface="Meiryo"/>
              </a:rPr>
              <a:t>5. </a:t>
            </a:r>
            <a:r>
              <a:rPr sz="3400" b="1">
                <a:solidFill>
                  <a:srgbClr val="262626"/>
                </a:solidFill>
                <a:latin typeface="Meiryo"/>
                <a:ea typeface="Meiryo"/>
                <a:cs typeface="Meiryo"/>
              </a:rPr>
              <a:t>PDA（波形分解）</a:t>
            </a: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A9D36CE-3772-F005-B54C-9329ADA7F08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01E0A5A-858A-8F2B-FBB6-6D1BA67FFAF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4E62E14-CF5D-EBCC-627E-B7B49B8D7B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4007B9C-4CFC-CD55-E599-C1CA9B596D0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22D81F5-A6DB-CCD5-0FBD-589BB65E18A2}"/>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パルスオキシメーターはどのように</a:t>
            </a:r>
            <a:r>
              <a:rPr lang="en-US" altLang="ja-JP" dirty="0">
                <a:latin typeface="+mj-ea"/>
                <a:ea typeface="+mj-ea"/>
              </a:rPr>
              <a:t>SaO2</a:t>
            </a:r>
            <a:r>
              <a:rPr lang="ja-JP" altLang="en-US">
                <a:latin typeface="+mj-ea"/>
                <a:ea typeface="+mj-ea"/>
              </a:rPr>
              <a:t>を推定しているのか？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5/72</a:t>
            </a:r>
          </a:p>
        </p:txBody>
      </p:sp>
    </p:spTree>
    <p:extLst>
      <p:ext uri="{BB962C8B-B14F-4D97-AF65-F5344CB8AC3E}">
        <p14:creationId xmlns:p14="http://schemas.microsoft.com/office/powerpoint/2010/main" val="14363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8E0C622D-099F-3BC2-502E-CA90E240FE4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C3E3CA0A-6432-5BF5-4E88-00101C7C8F2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D1FED4B9-71C9-D8E8-F0F6-0211DC785F0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48402B-7E67-103C-3AAE-637FE8C8366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19683B-9818-6005-6ED1-8ED17FE30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56551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996C8E-94C0-375A-90F8-A6FBE470E85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2F7F1A20-200D-89FF-D5E5-7F6A57BDFF4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481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78B1DB27-8E8F-CEF8-2CB9-5E534D1EEF2D}"/>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2CD04F2-1C84-27A7-E0B7-AD77CDE12A4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852448D-4A81-7AAC-B5E7-3557C8B0646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4FF3A9C-68FD-35EC-C080-80904DED80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EE56CE6-37DD-F462-84D4-0EA06909920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3714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18F264E-EDA4-8488-BE23-4CC9C5BCC0D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B9CA89B-D756-D82D-651F-22549BC6D39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4AF7B09-D6FC-9667-1F0B-E09BE716FF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4A8DF70-A28C-38E6-0D07-941534B183A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8C49741A-BCD1-C630-9ED6-2EEA7C756F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3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EB68108E-D56D-D2FE-6A95-6AFF4141C08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9B98BAC-ED75-3091-DFD4-2055811DC18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070F443-ED2C-E481-8075-6BF6CD4B953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E7ABE82-AE34-DBD8-51F8-C576F890DA6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A1766E-8FDE-2D67-EAA8-9CF5A0E8BD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719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51514755-D727-039C-97EF-F111B7D0E4E0}"/>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FAF4D02A-E95F-3ED3-56DA-7A760F80A9D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AC11D3C-C6C9-6C7B-69AA-54886D6B678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C01BD48-408B-FFEA-38CD-2EFBF2C721C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A479A1A-9188-6C69-8D9E-0207089C5BA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297305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62003C50-0946-BE08-1DCB-782C001E016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6E08B49-D90C-0AF3-512D-2BC21FD0CC5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05A4842-4D68-85CD-9430-3D539DA8DE4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D19E03E-C126-A196-7C93-6AD210386A6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0AC3373A-18C8-EBE5-BDC9-E07163E7BE4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420751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FF32DBAC-C626-61BC-431C-BFD4D3725BDA}"/>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EC775667-C64E-846A-F7FB-2049EF8F069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BE0793C-A633-62EF-B32A-975B4754EEB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0C9124B-56CC-A567-DCEE-BCB595F8ACB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EA8FFDD-4534-1A5C-5494-90ABB37335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sp>
        <p:nvSpPr>
          <p:cNvPr id="4" name="TextBox 18">
            <a:extLst>
              <a:ext uri="{FF2B5EF4-FFF2-40B4-BE49-F238E27FC236}">
                <a16:creationId xmlns:a16="http://schemas.microsoft.com/office/drawing/2014/main" id="{7BE2AC6C-5E04-2BB8-5CFB-211FCC713823}"/>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1755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24" name="Off-page Connector 4">
            <a:extLst>
              <a:ext uri="{FF2B5EF4-FFF2-40B4-BE49-F238E27FC236}">
                <a16:creationId xmlns:a16="http://schemas.microsoft.com/office/drawing/2014/main" id="{C104181C-0595-D25E-7899-9F2DCB22F14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3" name="Off-page Connector 5">
            <a:extLst>
              <a:ext uri="{FF2B5EF4-FFF2-40B4-BE49-F238E27FC236}">
                <a16:creationId xmlns:a16="http://schemas.microsoft.com/office/drawing/2014/main" id="{EA49AC02-5603-00BB-9B05-6D21BBB5361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4" name="Off-page Connector 6">
            <a:extLst>
              <a:ext uri="{FF2B5EF4-FFF2-40B4-BE49-F238E27FC236}">
                <a16:creationId xmlns:a16="http://schemas.microsoft.com/office/drawing/2014/main" id="{7A5D9E57-43B6-61F5-36A0-644FFF1B3D9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5" name="Off-page Connector 7">
            <a:extLst>
              <a:ext uri="{FF2B5EF4-FFF2-40B4-BE49-F238E27FC236}">
                <a16:creationId xmlns:a16="http://schemas.microsoft.com/office/drawing/2014/main" id="{07F9C134-3BEB-BE77-FA16-60912303DD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 name="Off-page Connector 8">
            <a:extLst>
              <a:ext uri="{FF2B5EF4-FFF2-40B4-BE49-F238E27FC236}">
                <a16:creationId xmlns:a16="http://schemas.microsoft.com/office/drawing/2014/main" id="{3371D76A-1D43-0092-31D3-891C741D4E7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0688F5D-D548-0A86-F3D6-30A76BA0AE93}"/>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0916281-6882-F039-A2CF-2DC1C57137C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8/72</a:t>
            </a:r>
          </a:p>
        </p:txBody>
      </p:sp>
    </p:spTree>
    <p:extLst>
      <p:ext uri="{BB962C8B-B14F-4D97-AF65-F5344CB8AC3E}">
        <p14:creationId xmlns:p14="http://schemas.microsoft.com/office/powerpoint/2010/main" val="34517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DFA500C-62FD-C61C-440B-D282AE95D768}"/>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89610E2-4A20-D8D1-36A7-2042EF05F69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369948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5A3A22C-DD21-2A35-E6D4-D71B8EE9CEC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97994337-F97D-F511-039A-36C0B616600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4C41C884-4F38-6BE1-7757-C4929BD12A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E9007E8-091B-2031-20CE-927B601E4A2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F288B1B-105A-B675-DBBE-6EE6B929B8C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1376433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CF05AF-A6AE-3792-77C3-0945EDDA239B}"/>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FB85EB6-3472-5741-36C2-EEFFB2FF48B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25087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a:solidFill>
                  <a:srgbClr val="262626"/>
                </a:solidFill>
                <a:latin typeface="Meiryo"/>
                <a:ea typeface="Meiryo"/>
                <a:cs typeface="Meiryo"/>
              </a:rPr>
              <a:t>赤色光と赤外光の</a:t>
            </a:r>
          </a:p>
          <a:p>
            <a:pPr algn="l">
              <a:lnSpc>
                <a:spcPct val="120000"/>
              </a:lnSpc>
              <a:spcAft>
                <a:spcPts val="600"/>
              </a:spcAft>
            </a:pPr>
            <a:r>
              <a:rPr sz="2300" b="0">
                <a:solidFill>
                  <a:srgbClr val="262626"/>
                </a:solidFill>
                <a:latin typeface="Meiryo"/>
                <a:ea typeface="Meiryo"/>
                <a:cs typeface="Meiryo"/>
              </a:rPr>
              <a:t>吸収の比 R を</a:t>
            </a:r>
          </a:p>
          <a:p>
            <a:pPr algn="l">
              <a:lnSpc>
                <a:spcPct val="120000"/>
              </a:lnSpc>
              <a:spcAft>
                <a:spcPts val="600"/>
              </a:spcAft>
            </a:pPr>
            <a:r>
              <a:rPr sz="2300" b="0">
                <a:solidFill>
                  <a:srgbClr val="262626"/>
                </a:solidFill>
                <a:latin typeface="Meiryo"/>
                <a:ea typeface="Meiryo"/>
                <a:cs typeface="Meiryo"/>
              </a:rPr>
              <a:t>健常者の較正表に</a:t>
            </a:r>
          </a:p>
          <a:p>
            <a:pPr algn="l">
              <a:lnSpc>
                <a:spcPct val="120000"/>
              </a:lnSpc>
              <a:spcAft>
                <a:spcPts val="600"/>
              </a:spcAft>
            </a:pPr>
            <a:r>
              <a:rPr sz="2300" b="0">
                <a:solidFill>
                  <a:srgbClr val="262626"/>
                </a:solidFill>
                <a:latin typeface="Meiryo"/>
                <a:ea typeface="Meiryo"/>
                <a:cs typeface="Meiryo"/>
              </a:rPr>
              <a:t>当てはめた推定値</a:t>
            </a: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1049305"/>
          </a:xfrm>
          <a:prstGeom prst="rect">
            <a:avLst/>
          </a:prstGeom>
          <a:noFill/>
        </p:spPr>
        <p:txBody>
          <a:bodyPr wrap="square" lIns="0" tIns="0" rIns="0" bIns="0" anchor="t">
            <a:spAutoFit/>
          </a:bodyPr>
          <a:lstStyle/>
          <a:p>
            <a:pPr algn="ctr">
              <a:spcAft>
                <a:spcPts val="400"/>
              </a:spcAft>
            </a:pPr>
            <a:r>
              <a:rPr lang="en-US" altLang="ja-JP" sz="2700" b="1" dirty="0" err="1">
                <a:solidFill>
                  <a:srgbClr val="262626"/>
                </a:solidFill>
                <a:latin typeface="Meiryo"/>
                <a:ea typeface="Meiryo"/>
                <a:cs typeface="Meiryo"/>
              </a:rPr>
              <a:t>PPG</a:t>
            </a:r>
            <a:r>
              <a:rPr sz="2700" b="1" dirty="0" err="1">
                <a:solidFill>
                  <a:srgbClr val="262626"/>
                </a:solidFill>
                <a:latin typeface="Meiryo"/>
                <a:ea typeface="Meiryo"/>
                <a:cs typeface="Meiryo"/>
              </a:rPr>
              <a:t>波形は</a:t>
            </a:r>
            <a:r>
              <a:rPr sz="2700" b="1" dirty="0">
                <a:solidFill>
                  <a:srgbClr val="262626"/>
                </a:solidFill>
                <a:latin typeface="Meiryo"/>
                <a:ea typeface="Meiryo"/>
                <a:cs typeface="Meiryo"/>
              </a:rPr>
              <a:t> </a:t>
            </a:r>
            <a:r>
              <a:rPr sz="2700" b="1" dirty="0" err="1">
                <a:solidFill>
                  <a:srgbClr val="BF9000"/>
                </a:solidFill>
                <a:latin typeface="Meiryo"/>
                <a:ea typeface="Meiryo"/>
                <a:cs typeface="Meiryo"/>
              </a:rPr>
              <a:t>どのような因子</a:t>
            </a:r>
            <a:r>
              <a:rPr sz="2700" b="1" dirty="0">
                <a:solidFill>
                  <a:srgbClr val="262626"/>
                </a:solidFill>
                <a:latin typeface="Meiryo"/>
                <a:ea typeface="Meiryo"/>
                <a:cs typeface="Meiryo"/>
              </a:rPr>
              <a:t> </a:t>
            </a:r>
            <a:r>
              <a:rPr sz="2700" b="1" dirty="0" err="1">
                <a:solidFill>
                  <a:srgbClr val="262626"/>
                </a:solidFill>
                <a:latin typeface="Meiryo"/>
                <a:ea typeface="Meiryo"/>
                <a:cs typeface="Meiryo"/>
              </a:rPr>
              <a:t>に影響を受けるのか</a:t>
            </a:r>
            <a:endParaRPr sz="2700" b="1" dirty="0">
              <a:solidFill>
                <a:srgbClr val="262626"/>
              </a:solidFill>
              <a:latin typeface="Meiryo"/>
              <a:ea typeface="Meiryo"/>
              <a:cs typeface="Meiryo"/>
            </a:endParaRPr>
          </a:p>
          <a:p>
            <a:pPr algn="ctr">
              <a:spcAft>
                <a:spcPts val="40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次章から</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加齢・循環・麻酔</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の順に見ていく</a:t>
            </a:r>
            <a:endParaRPr sz="2400" b="1" dirty="0">
              <a:solidFill>
                <a:srgbClr val="262626"/>
              </a:solidFill>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12/72</a:t>
            </a:r>
          </a:p>
        </p:txBody>
      </p:sp>
    </p:spTree>
    <p:extLst>
      <p:ext uri="{BB962C8B-B14F-4D97-AF65-F5344CB8AC3E}">
        <p14:creationId xmlns:p14="http://schemas.microsoft.com/office/powerpoint/2010/main" val="134930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13/72</a:t>
            </a:r>
          </a:p>
        </p:txBody>
      </p:sp>
    </p:spTree>
    <p:extLst>
      <p:ext uri="{BB962C8B-B14F-4D97-AF65-F5344CB8AC3E}">
        <p14:creationId xmlns:p14="http://schemas.microsoft.com/office/powerpoint/2010/main" val="3094319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071E0BA8-F957-7153-77B9-719EDC30588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4569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F904641B-85DE-8E6C-6C6E-CB18D8B400D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5F5129B-29D5-4A3F-C7CF-A62583168D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453A6919-A47D-1801-425D-36733C9C187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416F21FD-7073-1352-B10A-D94472A0B49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28C88997-B342-0DC0-B064-6EE32E8FEF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372121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B07CD557-6D40-D3B8-CF8F-157FA4F6A15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76543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5C0ACB27-B69D-B9B2-DB81-8531DE017F3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FC547875-78D1-A2D2-4C07-144DD4697D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6D9E636-69FF-F206-BC02-D24D3AB3B9B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2891074C-1B7C-667C-2B02-AD3856DB771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7F9B3F51-14B6-D571-3688-70FC3099113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64290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15/72</a:t>
            </a:r>
          </a:p>
        </p:txBody>
      </p:sp>
    </p:spTree>
    <p:extLst>
      <p:ext uri="{BB962C8B-B14F-4D97-AF65-F5344CB8AC3E}">
        <p14:creationId xmlns:p14="http://schemas.microsoft.com/office/powerpoint/2010/main" val="74593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16/72</a:t>
            </a:r>
          </a:p>
        </p:txBody>
      </p:sp>
    </p:spTree>
    <p:extLst>
      <p:ext uri="{BB962C8B-B14F-4D97-AF65-F5344CB8AC3E}">
        <p14:creationId xmlns:p14="http://schemas.microsoft.com/office/powerpoint/2010/main" val="2595402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58B9F97-3077-8EBB-5EEE-0A55DBA0AF9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0F6E5B49-B78E-51F0-52DB-22FDC48255B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D4DE397A-B087-3B19-7E27-47311D2D718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CBE4A483-A7B7-8535-E3B5-96609FFDCD0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FFC52689-4F8F-542B-D8DA-CF3BB5F37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3043704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639B582-06D1-DFEC-B7DD-7B27D05A009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9A81368-A28A-7342-364F-C1780B8D7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5292455A-92CA-67BF-D4ED-968B236466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EE37C782-574B-FAFD-5DE4-4F964522B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DC3326B9-8F76-788E-AF3E-C5A98E4F4A7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391532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C86A3FE9-B677-40CE-1AFB-5B56F269C89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161570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971DCEDA-7638-2156-8F9F-6FD6C8DBE5F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871937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a:extLst>
              <a:ext uri="{FF2B5EF4-FFF2-40B4-BE49-F238E27FC236}">
                <a16:creationId xmlns:a16="http://schemas.microsoft.com/office/drawing/2014/main" id="{827E9629-B337-1E99-36C5-1F4AA519395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2C1D0BED-F892-AF73-6B88-1E38B9DE7A82}"/>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71795643-C707-315F-6EF9-6B6628DD473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77CE50C-7179-C763-5B90-9459E154E63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E672F60-FAEC-3346-FF59-1B6F1C83939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extLst>
      <p:ext uri="{BB962C8B-B14F-4D97-AF65-F5344CB8AC3E}">
        <p14:creationId xmlns:p14="http://schemas.microsoft.com/office/powerpoint/2010/main" val="27052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19/72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26963288-D6CC-5161-0FD1-8819F2D9083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82384CD-2B24-41DF-9BE1-EF322BE7004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35840E4-246E-6456-1486-0D3C7096DEE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3AE1F30-16AE-6EEF-D45F-9B4E35B0C99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75DFDAB-E462-B320-678B-2D7F9FEFD04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161166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0FE34E6-4AB2-3F68-108C-4E3DBE5DB32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272499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D636C95D-DB7D-0974-7314-B94868B1341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D3908B6-884F-A3C2-250E-298711EB5D90}"/>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C5DA544-8DA7-FFDE-3A04-58A3DB87D66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8610E29-7B73-C4FB-A7D5-A25DCFF9A99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81379C4-00EB-AD7E-D19C-D28035851DA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697726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C083CA8D-3BBE-F5CA-B54B-8409E047B57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FBE6D318-39BC-0336-CD5D-ADDF24B6F10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502A3E9-1080-0116-E2BC-E596A6E5C2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84FD6F8-1B4F-A6F3-1451-20BF39490F7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7BF977B-436D-4F41-8C39-B2239A9F9D2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237688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7EC0EF8-6A25-DB92-5EF8-FE7093DCF6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22/72</a:t>
            </a:r>
          </a:p>
        </p:txBody>
      </p:sp>
    </p:spTree>
    <p:extLst>
      <p:ext uri="{BB962C8B-B14F-4D97-AF65-F5344CB8AC3E}">
        <p14:creationId xmlns:p14="http://schemas.microsoft.com/office/powerpoint/2010/main" val="201661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126E03C4-F53B-BA3C-D275-D8315E0336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8B3E220-3FD2-DDF1-01D2-B71CB4E0DF6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0CE0B28-7751-0C47-1746-00AF078210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DAD2652-C4D4-7C04-0797-291338CB77D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813FD56-8ACC-F3A2-8638-3AE16EA54B2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359940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4BBC1839-0F94-62AC-D516-F62061BB4DF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7FDB4DE-382B-9981-CBEC-1B04AD4688C3}"/>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F09464F3-7A64-0929-25AD-97C2BAC7A1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DA7D32-18CE-D37C-31D8-E9B5A128805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546107B-EA50-9F53-3DB5-88C566EAD65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166237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24/72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25/72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26/72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27/72</a:t>
            </a:r>
          </a:p>
        </p:txBody>
      </p:sp>
    </p:spTree>
    <p:extLst>
      <p:ext uri="{BB962C8B-B14F-4D97-AF65-F5344CB8AC3E}">
        <p14:creationId xmlns:p14="http://schemas.microsoft.com/office/powerpoint/2010/main" val="78617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669F7C6E-EF6A-F551-5CC0-25FD3ECC55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1833400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583A65C-CA72-2CB4-70BD-1B35910DF08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668389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a:extLst>
              <a:ext uri="{FF2B5EF4-FFF2-40B4-BE49-F238E27FC236}">
                <a16:creationId xmlns:a16="http://schemas.microsoft.com/office/drawing/2014/main" id="{C4009E35-BB85-D0CA-44E6-8905B9D59A1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93209FE-98B2-0622-AFB2-ED8DDD424E8C}"/>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a:extLst>
              <a:ext uri="{FF2B5EF4-FFF2-40B4-BE49-F238E27FC236}">
                <a16:creationId xmlns:a16="http://schemas.microsoft.com/office/drawing/2014/main" id="{53D5C8C7-03C9-3FD5-5085-51D16DA9741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FD89725-E1CF-4E4A-3D78-94A042C0121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7E5518A-5231-37E1-3F1D-2C1084D722E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extLst>
      <p:ext uri="{BB962C8B-B14F-4D97-AF65-F5344CB8AC3E}">
        <p14:creationId xmlns:p14="http://schemas.microsoft.com/office/powerpoint/2010/main" val="2033962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2019（心臓手術 15 名・190 エピソード）</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21. Coutrot 2019（全身麻酔導入 61 名）</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30/72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a:extLst>
              <a:ext uri="{FF2B5EF4-FFF2-40B4-BE49-F238E27FC236}">
                <a16:creationId xmlns:a16="http://schemas.microsoft.com/office/drawing/2014/main" id="{69355710-BBA3-115E-E2C7-A8DB4769F04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D9EFE41-777E-CF2B-430A-5D836004108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99947AF-BEB1-7A3D-0D60-0F8D393BEE3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A2AB76F2-CE51-776B-20C0-C0E39D591E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CE4331C7-8C2C-C0B0-00DB-2D9F5906F12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extLst>
      <p:ext uri="{BB962C8B-B14F-4D97-AF65-F5344CB8AC3E}">
        <p14:creationId xmlns:p14="http://schemas.microsoft.com/office/powerpoint/2010/main" val="1008639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2C144E0A-3C51-DA3E-A0F1-BDA2BF58066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73C3379-5C69-FB45-DFA3-9408AB29665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1B0C08A-4EA6-C6D5-FE63-E066B0ED9D0A}"/>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9A04435-9816-C39B-3616-AAE3265F2CA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7700E4AC-08F9-85FD-8F5B-A203E84C276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3196455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3B4A464C-D41B-8A70-9B6A-F8C7D77DA374}"/>
              </a:ext>
            </a:extLst>
          </p:cNvPr>
          <p:cNvSpPr/>
          <p:nvPr/>
        </p:nvSpPr>
        <p:spPr>
          <a:xfrm>
            <a:off x="90817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3D3B515-6204-82D0-BAC6-F007934E6F04}"/>
              </a:ext>
            </a:extLst>
          </p:cNvPr>
          <p:cNvSpPr/>
          <p:nvPr/>
        </p:nvSpPr>
        <p:spPr>
          <a:xfrm>
            <a:off x="97009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2D096EE-A4A9-02F4-9620-C4F2691BB487}"/>
              </a:ext>
            </a:extLst>
          </p:cNvPr>
          <p:cNvSpPr/>
          <p:nvPr/>
        </p:nvSpPr>
        <p:spPr>
          <a:xfrm>
            <a:off x="10320119" y="50400"/>
            <a:ext cx="576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4EC13131-6B2A-58CE-87C7-489AE5F06A33}"/>
              </a:ext>
            </a:extLst>
          </p:cNvPr>
          <p:cNvSpPr/>
          <p:nvPr/>
        </p:nvSpPr>
        <p:spPr>
          <a:xfrm>
            <a:off x="109393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BFAF256-89BC-3031-019F-D4E5A1B7EC48}"/>
              </a:ext>
            </a:extLst>
          </p:cNvPr>
          <p:cNvSpPr/>
          <p:nvPr/>
        </p:nvSpPr>
        <p:spPr>
          <a:xfrm>
            <a:off x="11558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Lee 2011（ICU 48 名）</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785975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E3DD97E-2E2A-A71D-8837-2ED6C40DFFA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Tree>
    <p:extLst>
      <p:ext uri="{BB962C8B-B14F-4D97-AF65-F5344CB8AC3E}">
        <p14:creationId xmlns:p14="http://schemas.microsoft.com/office/powerpoint/2010/main" val="1780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4AE854FB-7763-74A3-33B4-EB15866EF5C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5A21CFF-0263-8C66-F570-3EF27321C77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017F691-B5DE-A682-AC9A-C061DAAF234F}"/>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168E6F26-1772-B5A4-645D-085E8A17C02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16C3531-BDC7-581D-EA06-A8B8571AFD0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518349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F82859B7-7A8B-D6BA-99A5-6386B3561DA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15DFAAE-E79C-4B59-124F-EA9B54F59FF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5C38581-8D3D-3E39-4649-60E4AB8741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BBE12F32-226A-723D-D428-721E42599F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C0A1BD9-C8F0-F8A0-5884-C2A793CE81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1811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34/72</a:t>
            </a:r>
          </a:p>
        </p:txBody>
      </p:sp>
    </p:spTree>
    <p:extLst>
      <p:ext uri="{BB962C8B-B14F-4D97-AF65-F5344CB8AC3E}">
        <p14:creationId xmlns:p14="http://schemas.microsoft.com/office/powerpoint/2010/main" val="424351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a:t>
            </a: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35/72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1A6D44E0-9C70-A806-FDC9-9EB5FDF1428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7EC24F4-CACD-616A-3BD2-0926E1860CC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7507A708-B891-3804-47A9-01F652BC4933}"/>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0A840E67-0AC1-5787-BEC9-02E9BC87543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D797FB8-1913-10AF-6541-098470D4D9D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Tree>
    <p:extLst>
      <p:ext uri="{BB962C8B-B14F-4D97-AF65-F5344CB8AC3E}">
        <p14:creationId xmlns:p14="http://schemas.microsoft.com/office/powerpoint/2010/main" val="102603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9063AB0A-C61E-9098-D072-192F4A1E3A1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0CB13B5-F3EA-5563-3466-60B5F6816F5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DA8C7D5-CD9E-A5CA-6434-81A7AB94FE8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5901C1CA-3510-321C-5C05-F284234577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1A231BE-60F1-2D79-FFE7-07D3C3C46FB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Tree>
    <p:extLst>
      <p:ext uri="{BB962C8B-B14F-4D97-AF65-F5344CB8AC3E}">
        <p14:creationId xmlns:p14="http://schemas.microsoft.com/office/powerpoint/2010/main" val="2281038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259A016A-8E0E-8D4C-35C4-64C9BE13B5E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5736BF2-6A2D-8A12-2687-DE4AAAE5E63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69E7E4A2-C128-5272-2FC9-0195AD02F959}"/>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4914FA-1CD2-95DD-4B74-DE7BFA47777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AF8EF7DC-7AF5-471B-21FD-63C1A9116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Tree>
    <p:extLst>
      <p:ext uri="{BB962C8B-B14F-4D97-AF65-F5344CB8AC3E}">
        <p14:creationId xmlns:p14="http://schemas.microsoft.com/office/powerpoint/2010/main" val="3520691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BF2A21EE-9438-5337-6E35-B466C338B5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FBC431C-12CE-1EB2-618E-DC4D3ED05B6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C5B16FE-0C40-6E08-3173-F72C1E6570B6}"/>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716399-2CBF-5A0F-903E-8954F90DF4F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1F139F85-A147-D4EE-A18D-164498B273D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Tree>
    <p:extLst>
      <p:ext uri="{BB962C8B-B14F-4D97-AF65-F5344CB8AC3E}">
        <p14:creationId xmlns:p14="http://schemas.microsoft.com/office/powerpoint/2010/main" val="3942857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lnSpc>
                <a:spcPct val="100000"/>
              </a:lnSpc>
              <a:spcBef>
                <a:spcPts val="100"/>
              </a:spcBef>
            </a:pP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3681E52B-4BF1-A99F-9FFB-BA7AB32ADAF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lnSpc>
                <a:spcPct val="100000"/>
              </a:lnSpc>
              <a:spcBef>
                <a:spcPts val="100"/>
              </a:spcBef>
            </a:pPr>
            <a:r>
              <a:rPr sz="1050" b="1">
                <a:solidFill>
                  <a:srgbClr val="808080"/>
                </a:solidFill>
                <a:latin typeface="Meiryo"/>
                <a:ea typeface="Meiryo"/>
                <a:cs typeface="Meiryo"/>
              </a:rPr>
              <a:t>PDA</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38/72</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0749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39/72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自動解析の壁</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limits" descr="f71_limits.png"/>
          <p:cNvPicPr>
            <a:picLocks noChangeAspect="1"/>
          </p:cNvPicPr>
          <p:nvPr/>
        </p:nvPicPr>
        <p:blipFill>
          <a:blip r:embed="rId3"/>
          <a:stretch>
            <a:fillRect/>
          </a:stretch>
        </p:blipFill>
        <p:spPr>
          <a:xfrm>
            <a:off x="864000" y="2628000"/>
            <a:ext cx="10440000" cy="2141279"/>
          </a:xfrm>
          <a:prstGeom prst="rect">
            <a:avLst/>
          </a:prstGeom>
        </p:spPr>
      </p:pic>
      <p:sp>
        <p:nvSpPr>
          <p:cNvPr id="20" name="TextBox 19"/>
          <p:cNvSpPr txBox="1"/>
          <p:nvPr/>
        </p:nvSpPr>
        <p:spPr>
          <a:xfrm>
            <a:off x="86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反射波が2つ</a:t>
            </a:r>
          </a:p>
        </p:txBody>
      </p:sp>
      <p:sp>
        <p:nvSpPr>
          <p:cNvPr id="21" name="TextBox 20"/>
          <p:cNvSpPr txBox="1"/>
          <p:nvPr/>
        </p:nvSpPr>
        <p:spPr>
          <a:xfrm>
            <a:off x="86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どちらが P2 ?</a:t>
            </a:r>
          </a:p>
        </p:txBody>
      </p:sp>
      <p:sp>
        <p:nvSpPr>
          <p:cNvPr id="22" name="TextBox 21"/>
          <p:cNvSpPr txBox="1"/>
          <p:nvPr/>
        </p:nvSpPr>
        <p:spPr>
          <a:xfrm>
            <a:off x="347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p:cNvSpPr txBox="1"/>
          <p:nvPr/>
        </p:nvSpPr>
        <p:spPr>
          <a:xfrm>
            <a:off x="347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p:cNvSpPr txBox="1"/>
          <p:nvPr/>
        </p:nvSpPr>
        <p:spPr>
          <a:xfrm>
            <a:off x="6083999"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p:cNvSpPr txBox="1"/>
          <p:nvPr/>
        </p:nvSpPr>
        <p:spPr>
          <a:xfrm>
            <a:off x="6083999"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P2 が無い</a:t>
            </a:r>
          </a:p>
        </p:txBody>
      </p:sp>
      <p:sp>
        <p:nvSpPr>
          <p:cNvPr id="26" name="TextBox 25"/>
          <p:cNvSpPr txBox="1"/>
          <p:nvPr/>
        </p:nvSpPr>
        <p:spPr>
          <a:xfrm>
            <a:off x="869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p:cNvSpPr txBox="1"/>
          <p:nvPr/>
        </p:nvSpPr>
        <p:spPr>
          <a:xfrm>
            <a:off x="869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8" name="Rounded Rectangle 27"/>
          <p:cNvSpPr/>
          <p:nvPr/>
        </p:nvSpPr>
        <p:spPr>
          <a:xfrm>
            <a:off x="864000" y="5508000"/>
            <a:ext cx="10440000" cy="1007999"/>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dirty="0">
                <a:solidFill>
                  <a:srgbClr val="C00000"/>
                </a:solidFill>
                <a:latin typeface="Meiryo"/>
                <a:ea typeface="Meiryo"/>
                <a:cs typeface="Meiryo"/>
              </a:rPr>
              <a:t>同じ定義（P2・切痕）が全部には当てはまらない</a:t>
            </a:r>
          </a:p>
          <a:p>
            <a:pPr algn="ctr">
              <a:spcBef>
                <a:spcPts val="0"/>
              </a:spcBef>
              <a:spcAft>
                <a:spcPts val="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自動で一律に解析することが</a:t>
            </a:r>
            <a:r>
              <a:rPr lang="ja-JP" altLang="en-US" sz="2400" b="1">
                <a:solidFill>
                  <a:srgbClr val="262626"/>
                </a:solidFill>
                <a:latin typeface="Meiryo"/>
                <a:ea typeface="Meiryo"/>
                <a:cs typeface="Meiryo"/>
              </a:rPr>
              <a:t>難しい</a:t>
            </a:r>
            <a:endParaRPr sz="2400" b="1" dirty="0">
              <a:solidFill>
                <a:srgbClr val="262626"/>
              </a:solidFill>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人のうち、切痕不明瞭なのは</a:t>
            </a:r>
            <a:r>
              <a:rPr lang="en-US" altLang="ja-JP" dirty="0"/>
              <a:t>25,286</a:t>
            </a:r>
            <a:r>
              <a:rPr lang="ja-JP" altLang="en-US"/>
              <a:t>人。（</a:t>
            </a:r>
            <a:r>
              <a:rPr lang="en-US" altLang="ja-JP" dirty="0"/>
              <a:t>14%  UK Biobank</a:t>
            </a:r>
            <a:r>
              <a:rPr lang="ja-JP" altLang="en-US"/>
              <a:t>）</a:t>
            </a:r>
            <a:endParaRPr lang="en-US" altLang="ja-JP" dirty="0"/>
          </a:p>
          <a:p>
            <a:pPr>
              <a:lnSpc>
                <a:spcPct val="150000"/>
              </a:lnSpc>
            </a:pPr>
            <a:r>
              <a:rPr lang="ja-JP" altLang="en-US"/>
              <a:t>切痕が不明瞭な</a:t>
            </a:r>
            <a:r>
              <a:rPr lang="en-US" altLang="ja-JP" dirty="0"/>
              <a:t>PPG</a:t>
            </a:r>
            <a:r>
              <a:rPr lang="ja-JP" altLang="en-US"/>
              <a:t>信号を</a:t>
            </a:r>
            <a:r>
              <a:rPr lang="en-US" altLang="ja-JP" dirty="0"/>
              <a:t>DN-less signal</a:t>
            </a:r>
            <a:r>
              <a:rPr lang="ja-JP" altLang="en-US"/>
              <a:t>という。</a:t>
            </a:r>
          </a:p>
          <a:p>
            <a:pPr>
              <a:lnSpc>
                <a:spcPct val="150000"/>
              </a:lnSpc>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15" name="Off-page Connector 4">
            <a:extLst>
              <a:ext uri="{FF2B5EF4-FFF2-40B4-BE49-F238E27FC236}">
                <a16:creationId xmlns:a16="http://schemas.microsoft.com/office/drawing/2014/main" id="{4E43B2F5-7A94-9CF4-625F-2CD4B5BD95C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F0248E4B-9189-267A-5F94-7F85BBD18A0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7E41AC3A-EA76-E86A-DA03-FA061B4C67B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E7C403D1-F5DE-3364-B35D-76F3B949A3EE}"/>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5D7B35B3-070B-CB8B-114C-31C420641F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33. Wu 2010　／　34.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D-N less signal</a:t>
            </a:r>
            <a:r>
              <a:rPr lang="ja-JP" altLang="en-US" sz="2400" b="1">
                <a:solidFill>
                  <a:schemeClr val="tx1"/>
                </a:solidFill>
              </a:rPr>
              <a:t>でも</a:t>
            </a:r>
            <a:r>
              <a:rPr lang="en-US" altLang="ja-JP" sz="2400" b="1" dirty="0">
                <a:solidFill>
                  <a:schemeClr val="tx1"/>
                </a:solidFill>
              </a:rPr>
              <a:t>PPG</a:t>
            </a:r>
            <a:r>
              <a:rPr lang="ja-JP" altLang="en-US" sz="2400" b="1">
                <a:solidFill>
                  <a:schemeClr val="tx1"/>
                </a:solidFill>
              </a:rPr>
              <a:t>から特徴量を抽出し解析できないか？？</a:t>
            </a:r>
            <a:endParaRPr lang="en-US" altLang="ja-JP" sz="2400" b="1" dirty="0">
              <a:solidFill>
                <a:schemeClr val="tx1"/>
              </a:solidFill>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41/72</a:t>
            </a:r>
          </a:p>
        </p:txBody>
      </p:sp>
    </p:spTree>
    <p:extLst>
      <p:ext uri="{BB962C8B-B14F-4D97-AF65-F5344CB8AC3E}">
        <p14:creationId xmlns:p14="http://schemas.microsoft.com/office/powerpoint/2010/main" val="24266886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202B3C79-3BBF-BBB9-B0E6-622A738141B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B61C9A81-B053-2EF9-0315-D753E1A083A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2C21C98E-DEF0-E00D-DFBC-545446CABBF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7C7B672A-AB61-A39C-1120-2019054EADD9}"/>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F48CA1FF-C620-650C-A196-62515736E79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37496487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1D666880-7CB3-12E3-E9FB-F0B14D24F0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427C8111-9B64-E411-C3C2-5351CBBC312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5D1BC14E-2ED1-D0F6-8AB1-BDF4B7C3315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D0D795BB-EA41-E136-B66D-89672E3E5DD3}"/>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8DFBE63E-2238-E72F-CC37-89CBA791FE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2075056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得られる指標</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5.6 </a:t>
            </a:r>
            <a:r>
              <a:rPr sz="2900" b="0">
                <a:solidFill>
                  <a:srgbClr val="262626"/>
                </a:solidFill>
                <a:latin typeface="Meiryo"/>
                <a:ea typeface="Meiryo"/>
                <a:cs typeface="Meiryo"/>
              </a:rPr>
              <a:t>限界</a:t>
            </a:r>
          </a:p>
          <a:p>
            <a:pPr>
              <a:lnSpc>
                <a:spcPct val="145000"/>
              </a:lnSpc>
            </a:pPr>
            <a:r>
              <a:rPr sz="2900" b="1">
                <a:solidFill>
                  <a:srgbClr val="BF9000"/>
                </a:solidFill>
                <a:latin typeface="Meiryo"/>
                <a:ea typeface="Meiryo"/>
                <a:cs typeface="Meiryo"/>
              </a:rPr>
              <a:t>5.7 </a:t>
            </a:r>
            <a:r>
              <a:rPr sz="2900" b="0">
                <a:solidFill>
                  <a:srgbClr val="262626"/>
                </a:solidFill>
                <a:latin typeface="Meiryo"/>
                <a:ea typeface="Meiryo"/>
                <a:cs typeface="Meiryo"/>
              </a:rPr>
              <a:t>残された問い</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44/72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41. Goswami 2010　／　42.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sz="2300" b="0" dirty="0" err="1">
                <a:solidFill>
                  <a:srgbClr val="262626"/>
                </a:solidFill>
                <a:latin typeface="Meiryo"/>
                <a:ea typeface="Meiryo"/>
                <a:cs typeface="Meiryo"/>
              </a:rPr>
              <a:t>波形を成分波の重ね合わせに当てはめ</a:t>
            </a:r>
            <a:r>
              <a:rPr sz="2300" b="1" dirty="0" err="1">
                <a:solidFill>
                  <a:srgbClr val="262626"/>
                </a:solidFill>
                <a:latin typeface="Meiryo"/>
                <a:ea typeface="Meiryo"/>
                <a:cs typeface="Meiryo"/>
              </a:rPr>
              <a:t>反射波の</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時刻と高さ</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を推定する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45/72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309360" y="3035808"/>
            <a:ext cx="5257800"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成分波</a:t>
            </a:r>
          </a:p>
        </p:txBody>
      </p:sp>
      <p:sp>
        <p:nvSpPr>
          <p:cNvPr id="41" name="TextBox 40"/>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2" name="Rounded Rectangle 41"/>
          <p:cNvSpPr/>
          <p:nvPr/>
        </p:nvSpPr>
        <p:spPr>
          <a:xfrm>
            <a:off x="6126480" y="4114800"/>
            <a:ext cx="5623560" cy="1078992"/>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09360" y="4224528"/>
            <a:ext cx="5257800" cy="384048"/>
          </a:xfrm>
          <a:prstGeom prst="rect">
            <a:avLst/>
          </a:prstGeom>
          <a:noFill/>
        </p:spPr>
        <p:txBody>
          <a:bodyPr wrap="square" lIns="0" tIns="0" rIns="0" bIns="0" anchor="t">
            <a:spAutoFit/>
          </a:bodyPr>
          <a:lstStyle/>
          <a:p>
            <a:pPr algn="l"/>
            <a:r>
              <a:rPr sz="2400" b="1">
                <a:solidFill>
                  <a:srgbClr val="00A8AA"/>
                </a:solidFill>
                <a:latin typeface="Meiryo"/>
                <a:ea typeface="Meiryo"/>
                <a:cs typeface="Meiryo"/>
              </a:rPr>
              <a:t>基底関数</a:t>
            </a:r>
          </a:p>
        </p:txBody>
      </p:sp>
      <p:sp>
        <p:nvSpPr>
          <p:cNvPr id="44" name="TextBox 43"/>
          <p:cNvSpPr txBox="1"/>
          <p:nvPr/>
        </p:nvSpPr>
        <p:spPr>
          <a:xfrm>
            <a:off x="6309360" y="468172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成分波の形を表す数式のひな型</a:t>
            </a:r>
          </a:p>
        </p:txBody>
      </p:sp>
      <p:sp>
        <p:nvSpPr>
          <p:cNvPr id="45" name="Rounded Rectangle 44"/>
          <p:cNvSpPr/>
          <p:nvPr/>
        </p:nvSpPr>
        <p:spPr>
          <a:xfrm>
            <a:off x="6126480" y="5303520"/>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291072" y="5477256"/>
            <a:ext cx="5294376" cy="640080"/>
          </a:xfrm>
          <a:prstGeom prst="rect">
            <a:avLst/>
          </a:prstGeom>
          <a:noFill/>
        </p:spPr>
        <p:txBody>
          <a:bodyPr wrap="square" lIns="0" tIns="0" rIns="0" bIns="0" anchor="t">
            <a:spAutoFit/>
          </a:bodyPr>
          <a:lstStyle/>
          <a:p>
            <a:pPr algn="ctr">
              <a:spcAft>
                <a:spcPts val="300"/>
              </a:spcAft>
            </a:pPr>
            <a:r>
              <a:rPr sz="2300" b="1">
                <a:solidFill>
                  <a:srgbClr val="262626"/>
                </a:solidFill>
                <a:latin typeface="Meiryo"/>
                <a:ea typeface="Meiryo"/>
                <a:cs typeface="Meiryo"/>
              </a:rPr>
              <a:t>第1成分波 ＝ 前進波</a:t>
            </a:r>
          </a:p>
          <a:p>
            <a:pPr algn="ctr">
              <a:spcAft>
                <a:spcPts val="300"/>
              </a:spcAft>
            </a:pPr>
            <a:r>
              <a:rPr sz="2300" b="1">
                <a:solidFill>
                  <a:srgbClr val="262626"/>
                </a:solidFill>
                <a:latin typeface="Meiryo"/>
                <a:ea typeface="Meiryo"/>
                <a:cs typeface="Meiryo"/>
              </a:rPr>
              <a:t>第2成分波 ＝ 反射波 とみなす</a:t>
            </a:r>
          </a:p>
        </p:txBody>
      </p:sp>
      <p:sp>
        <p:nvSpPr>
          <p:cNvPr id="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9C16B1DC-05F4-7984-9EB3-FA664407528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C56E686-AE95-C74B-6233-0B2E8353D6E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B992AE01-FA19-AFB9-28C1-0EDCE24092E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A86083F-D646-EA1D-F7FB-331952DEA05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02FF6180-3998-7292-AB71-FF770414F42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46/72</a:t>
            </a:r>
          </a:p>
        </p:txBody>
      </p:sp>
    </p:spTree>
    <p:extLst>
      <p:ext uri="{BB962C8B-B14F-4D97-AF65-F5344CB8AC3E}">
        <p14:creationId xmlns:p14="http://schemas.microsoft.com/office/powerpoint/2010/main" val="54829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p:cNvSpPr/>
          <p:nvPr/>
        </p:nvSpPr>
        <p:spPr>
          <a:xfrm>
            <a:off x="502920" y="1719072"/>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1920240"/>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p:cNvSpPr/>
          <p:nvPr/>
        </p:nvSpPr>
        <p:spPr>
          <a:xfrm>
            <a:off x="502920" y="3127248"/>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 y="3310128"/>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p:cNvSpPr txBox="1"/>
          <p:nvPr/>
        </p:nvSpPr>
        <p:spPr>
          <a:xfrm>
            <a:off x="640080" y="3840480"/>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p:cNvSpPr txBox="1"/>
          <p:nvPr/>
        </p:nvSpPr>
        <p:spPr>
          <a:xfrm>
            <a:off x="594360"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p:cNvSpPr/>
          <p:nvPr/>
        </p:nvSpPr>
        <p:spPr>
          <a:xfrm>
            <a:off x="4306824" y="3127248"/>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43984" y="3310128"/>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p:cNvSpPr txBox="1"/>
          <p:nvPr/>
        </p:nvSpPr>
        <p:spPr>
          <a:xfrm>
            <a:off x="4443984" y="3840480"/>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p:cNvSpPr txBox="1"/>
          <p:nvPr/>
        </p:nvSpPr>
        <p:spPr>
          <a:xfrm>
            <a:off x="4398264"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p:cNvSpPr/>
          <p:nvPr/>
        </p:nvSpPr>
        <p:spPr>
          <a:xfrm>
            <a:off x="8110728" y="3127248"/>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247888" y="3310128"/>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p:cNvSpPr txBox="1"/>
          <p:nvPr/>
        </p:nvSpPr>
        <p:spPr>
          <a:xfrm>
            <a:off x="8247888" y="3840480"/>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p:cNvSpPr txBox="1"/>
          <p:nvPr/>
        </p:nvSpPr>
        <p:spPr>
          <a:xfrm>
            <a:off x="8202168"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4" name="Rounded Rectangle 43"/>
          <p:cNvSpPr/>
          <p:nvPr/>
        </p:nvSpPr>
        <p:spPr>
          <a:xfrm>
            <a:off x="502920" y="5138928"/>
            <a:ext cx="11201400" cy="10058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5340096"/>
            <a:ext cx="10835640" cy="64008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合成波 ≒ 成分波1 ＋ 成分波2 ＋ …</a:t>
            </a:r>
          </a:p>
          <a:p>
            <a:pPr algn="ctr">
              <a:spcAft>
                <a:spcPts val="300"/>
              </a:spcAft>
            </a:pPr>
            <a:r>
              <a:rPr sz="2400" b="1">
                <a:solidFill>
                  <a:srgbClr val="262626"/>
                </a:solidFill>
                <a:latin typeface="Meiryo"/>
                <a:ea typeface="Meiryo"/>
                <a:cs typeface="Meiryo"/>
              </a:rPr>
              <a:t>点を探すのではなく、この足し算が実測に一番合う数字を探す</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EDCE-0196-86AA-F1D2-952AD8766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599BB-854B-F0A0-CAF6-47CD66BF5D6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89E51903-093B-EC1A-B633-3F6DD605A3F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3459FAF-1D2E-333F-B069-87B8CE3FF71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E69373-9598-187A-4A51-9AE384AE949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87F886A5-BEFB-35C1-6AAE-EF2FCCAA029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D70FAAC5-2052-A1B4-EBC9-3C6F3021EC95}"/>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609DDD14-D14F-E3CE-5407-E3C34268027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a:extLst>
              <a:ext uri="{FF2B5EF4-FFF2-40B4-BE49-F238E27FC236}">
                <a16:creationId xmlns:a16="http://schemas.microsoft.com/office/drawing/2014/main" id="{5E41C895-8FAB-1387-DAFE-45354471B0E9}"/>
              </a:ext>
            </a:extLst>
          </p:cNvPr>
          <p:cNvSpPr/>
          <p:nvPr/>
        </p:nvSpPr>
        <p:spPr>
          <a:xfrm>
            <a:off x="502920" y="2328671"/>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a:extLst>
              <a:ext uri="{FF2B5EF4-FFF2-40B4-BE49-F238E27FC236}">
                <a16:creationId xmlns:a16="http://schemas.microsoft.com/office/drawing/2014/main" id="{32EC5493-C26E-12B4-267F-9C86493BB334}"/>
              </a:ext>
            </a:extLst>
          </p:cNvPr>
          <p:cNvSpPr txBox="1"/>
          <p:nvPr/>
        </p:nvSpPr>
        <p:spPr>
          <a:xfrm>
            <a:off x="685800" y="2529839"/>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a:extLst>
              <a:ext uri="{FF2B5EF4-FFF2-40B4-BE49-F238E27FC236}">
                <a16:creationId xmlns:a16="http://schemas.microsoft.com/office/drawing/2014/main" id="{ACC012E0-FAE0-1747-ADD4-EBA1B84CDF37}"/>
              </a:ext>
            </a:extLst>
          </p:cNvPr>
          <p:cNvSpPr/>
          <p:nvPr/>
        </p:nvSpPr>
        <p:spPr>
          <a:xfrm>
            <a:off x="502920" y="3736847"/>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a:extLst>
              <a:ext uri="{FF2B5EF4-FFF2-40B4-BE49-F238E27FC236}">
                <a16:creationId xmlns:a16="http://schemas.microsoft.com/office/drawing/2014/main" id="{F9CAC76F-9A25-909C-5A4A-C7C23F76FA78}"/>
              </a:ext>
            </a:extLst>
          </p:cNvPr>
          <p:cNvSpPr txBox="1"/>
          <p:nvPr/>
        </p:nvSpPr>
        <p:spPr>
          <a:xfrm>
            <a:off x="640080" y="3919727"/>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a:extLst>
              <a:ext uri="{FF2B5EF4-FFF2-40B4-BE49-F238E27FC236}">
                <a16:creationId xmlns:a16="http://schemas.microsoft.com/office/drawing/2014/main" id="{DC5C78DA-57F8-50B3-1AFB-C26D1FB11F7E}"/>
              </a:ext>
            </a:extLst>
          </p:cNvPr>
          <p:cNvSpPr txBox="1"/>
          <p:nvPr/>
        </p:nvSpPr>
        <p:spPr>
          <a:xfrm>
            <a:off x="640080" y="4450079"/>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a:extLst>
              <a:ext uri="{FF2B5EF4-FFF2-40B4-BE49-F238E27FC236}">
                <a16:creationId xmlns:a16="http://schemas.microsoft.com/office/drawing/2014/main" id="{92EDB3FF-6C7B-62CF-784F-F39524D2F9E1}"/>
              </a:ext>
            </a:extLst>
          </p:cNvPr>
          <p:cNvSpPr txBox="1"/>
          <p:nvPr/>
        </p:nvSpPr>
        <p:spPr>
          <a:xfrm>
            <a:off x="594360"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a:extLst>
              <a:ext uri="{FF2B5EF4-FFF2-40B4-BE49-F238E27FC236}">
                <a16:creationId xmlns:a16="http://schemas.microsoft.com/office/drawing/2014/main" id="{086AD1E5-DCBB-A20F-3EB8-1BC38116C13D}"/>
              </a:ext>
            </a:extLst>
          </p:cNvPr>
          <p:cNvSpPr/>
          <p:nvPr/>
        </p:nvSpPr>
        <p:spPr>
          <a:xfrm>
            <a:off x="4306824" y="3736847"/>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2F88DED5-6DFA-936A-EFE0-9DB0163CB3D7}"/>
              </a:ext>
            </a:extLst>
          </p:cNvPr>
          <p:cNvSpPr txBox="1"/>
          <p:nvPr/>
        </p:nvSpPr>
        <p:spPr>
          <a:xfrm>
            <a:off x="4443984" y="3919727"/>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a:extLst>
              <a:ext uri="{FF2B5EF4-FFF2-40B4-BE49-F238E27FC236}">
                <a16:creationId xmlns:a16="http://schemas.microsoft.com/office/drawing/2014/main" id="{30665257-8073-6A29-FD38-800A2605FCF1}"/>
              </a:ext>
            </a:extLst>
          </p:cNvPr>
          <p:cNvSpPr txBox="1"/>
          <p:nvPr/>
        </p:nvSpPr>
        <p:spPr>
          <a:xfrm>
            <a:off x="4443984" y="4450079"/>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a:extLst>
              <a:ext uri="{FF2B5EF4-FFF2-40B4-BE49-F238E27FC236}">
                <a16:creationId xmlns:a16="http://schemas.microsoft.com/office/drawing/2014/main" id="{1C67598B-9E93-5402-FB5B-A9BA295A098F}"/>
              </a:ext>
            </a:extLst>
          </p:cNvPr>
          <p:cNvSpPr txBox="1"/>
          <p:nvPr/>
        </p:nvSpPr>
        <p:spPr>
          <a:xfrm>
            <a:off x="4398264"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a:extLst>
              <a:ext uri="{FF2B5EF4-FFF2-40B4-BE49-F238E27FC236}">
                <a16:creationId xmlns:a16="http://schemas.microsoft.com/office/drawing/2014/main" id="{608A8727-9F7D-AB56-0DA8-6FF0E66F1888}"/>
              </a:ext>
            </a:extLst>
          </p:cNvPr>
          <p:cNvSpPr/>
          <p:nvPr/>
        </p:nvSpPr>
        <p:spPr>
          <a:xfrm>
            <a:off x="8110728" y="3736847"/>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a:extLst>
              <a:ext uri="{FF2B5EF4-FFF2-40B4-BE49-F238E27FC236}">
                <a16:creationId xmlns:a16="http://schemas.microsoft.com/office/drawing/2014/main" id="{8ABFD40C-C743-425A-7BFE-F05E28746CC2}"/>
              </a:ext>
            </a:extLst>
          </p:cNvPr>
          <p:cNvSpPr txBox="1"/>
          <p:nvPr/>
        </p:nvSpPr>
        <p:spPr>
          <a:xfrm>
            <a:off x="8247888" y="3919727"/>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a:extLst>
              <a:ext uri="{FF2B5EF4-FFF2-40B4-BE49-F238E27FC236}">
                <a16:creationId xmlns:a16="http://schemas.microsoft.com/office/drawing/2014/main" id="{BAA7CA6F-4FFF-5972-63D6-20193172289C}"/>
              </a:ext>
            </a:extLst>
          </p:cNvPr>
          <p:cNvSpPr txBox="1"/>
          <p:nvPr/>
        </p:nvSpPr>
        <p:spPr>
          <a:xfrm>
            <a:off x="8247888" y="4450079"/>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a:extLst>
              <a:ext uri="{FF2B5EF4-FFF2-40B4-BE49-F238E27FC236}">
                <a16:creationId xmlns:a16="http://schemas.microsoft.com/office/drawing/2014/main" id="{05809275-A5F4-F7F6-DAEF-914A9F1024EB}"/>
              </a:ext>
            </a:extLst>
          </p:cNvPr>
          <p:cNvSpPr txBox="1"/>
          <p:nvPr/>
        </p:nvSpPr>
        <p:spPr>
          <a:xfrm>
            <a:off x="8202168"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6" name="PageNo">
            <a:extLst>
              <a:ext uri="{FF2B5EF4-FFF2-40B4-BE49-F238E27FC236}">
                <a16:creationId xmlns:a16="http://schemas.microsoft.com/office/drawing/2014/main" id="{91A22E96-F99F-46B6-98AB-E82A5F500B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Tree>
    <p:extLst>
      <p:ext uri="{BB962C8B-B14F-4D97-AF65-F5344CB8AC3E}">
        <p14:creationId xmlns:p14="http://schemas.microsoft.com/office/powerpoint/2010/main" val="23224547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p:cNvSpPr txBox="1"/>
          <p:nvPr/>
        </p:nvSpPr>
        <p:spPr>
          <a:xfrm>
            <a:off x="548640" y="1737360"/>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p:cNvSpPr/>
          <p:nvPr/>
        </p:nvSpPr>
        <p:spPr>
          <a:xfrm>
            <a:off x="777240" y="2212848"/>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77724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p:cNvSpPr txBox="1"/>
          <p:nvPr/>
        </p:nvSpPr>
        <p:spPr>
          <a:xfrm>
            <a:off x="4389120" y="1737360"/>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p:cNvSpPr/>
          <p:nvPr/>
        </p:nvSpPr>
        <p:spPr>
          <a:xfrm>
            <a:off x="4617720" y="2212848"/>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461772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8056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p:cNvSpPr txBox="1"/>
          <p:nvPr/>
        </p:nvSpPr>
        <p:spPr>
          <a:xfrm>
            <a:off x="8229600" y="1737360"/>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p:cNvSpPr/>
          <p:nvPr/>
        </p:nvSpPr>
        <p:spPr>
          <a:xfrm>
            <a:off x="8458200" y="2212848"/>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845820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2104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対称形に歪みを</a:t>
            </a:r>
          </a:p>
          <a:p>
            <a:pPr algn="ctr">
              <a:spcAft>
                <a:spcPts val="500"/>
              </a:spcAft>
            </a:pPr>
            <a:r>
              <a:rPr sz="2200" b="0">
                <a:solidFill>
                  <a:srgbClr val="262626"/>
                </a:solidFill>
                <a:latin typeface="Meiryo"/>
                <a:ea typeface="Meiryo"/>
                <a:cs typeface="Meiryo"/>
              </a:rPr>
              <a:t>1つ足しただけ</a:t>
            </a:r>
          </a:p>
          <a:p>
            <a:pPr algn="ctr">
              <a:spcAft>
                <a:spcPts val="500"/>
              </a:spcAft>
            </a:pPr>
            <a:r>
              <a:rPr sz="2200" b="0">
                <a:solidFill>
                  <a:srgbClr val="262626"/>
                </a:solidFill>
                <a:latin typeface="Meiryo"/>
                <a:ea typeface="Meiryo"/>
                <a:cs typeface="Meiryo"/>
              </a:rPr>
              <a:t>意味が保たれる</a:t>
            </a:r>
          </a:p>
        </p:txBody>
      </p:sp>
      <p:sp>
        <p:nvSpPr>
          <p:cNvPr id="27" name="Rounded Rectangle 26"/>
          <p:cNvSpPr/>
          <p:nvPr/>
        </p:nvSpPr>
        <p:spPr>
          <a:xfrm>
            <a:off x="411480" y="5074920"/>
            <a:ext cx="11356848" cy="118872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4360" y="5257800"/>
            <a:ext cx="10991088" cy="1030782"/>
          </a:xfrm>
          <a:prstGeom prst="rect">
            <a:avLst/>
          </a:prstGeom>
          <a:noFill/>
        </p:spPr>
        <p:txBody>
          <a:bodyPr wrap="square" lIns="0" tIns="0" rIns="0" bIns="0" anchor="t">
            <a:spAutoFit/>
          </a:bodyPr>
          <a:lstStyle/>
          <a:p>
            <a:pPr algn="ctr">
              <a:spcAft>
                <a:spcPts val="400"/>
              </a:spcAft>
            </a:pPr>
            <a:r>
              <a:rPr sz="2500" b="1" dirty="0">
                <a:solidFill>
                  <a:srgbClr val="262626"/>
                </a:solidFill>
                <a:latin typeface="Meiryo"/>
                <a:ea typeface="Meiryo"/>
                <a:cs typeface="Meiryo"/>
              </a:rPr>
              <a:t>7,805 </a:t>
            </a:r>
            <a:r>
              <a:rPr sz="2500" b="1" dirty="0" err="1">
                <a:solidFill>
                  <a:srgbClr val="262626"/>
                </a:solidFill>
                <a:latin typeface="Meiryo"/>
                <a:ea typeface="Meiryo"/>
                <a:cs typeface="Meiryo"/>
              </a:rPr>
              <a:t>拍で総当たりしても正解の形は決まらない</a:t>
            </a:r>
            <a:endParaRPr sz="2500" b="1" dirty="0">
              <a:solidFill>
                <a:srgbClr val="262626"/>
              </a:solidFill>
              <a:latin typeface="Meiryo"/>
              <a:ea typeface="Meiryo"/>
              <a:cs typeface="Meiryo"/>
            </a:endParaRPr>
          </a:p>
          <a:p>
            <a:pPr algn="ctr">
              <a:spcAft>
                <a:spcPts val="400"/>
              </a:spcAft>
            </a:pPr>
            <a:r>
              <a:rPr sz="2500" b="1" dirty="0" err="1">
                <a:solidFill>
                  <a:srgbClr val="262626"/>
                </a:solidFill>
                <a:latin typeface="Meiryo"/>
                <a:ea typeface="Meiryo"/>
                <a:cs typeface="Meiryo"/>
              </a:rPr>
              <a:t>最頻の</a:t>
            </a:r>
            <a:r>
              <a:rPr sz="2500" b="1" dirty="0">
                <a:solidFill>
                  <a:srgbClr val="262626"/>
                </a:solidFill>
                <a:latin typeface="Meiryo"/>
                <a:ea typeface="Meiryo"/>
                <a:cs typeface="Meiryo"/>
              </a:rPr>
              <a:t> Gamma 3 </a:t>
            </a:r>
            <a:r>
              <a:rPr sz="2500" b="1" dirty="0" err="1">
                <a:solidFill>
                  <a:srgbClr val="262626"/>
                </a:solidFill>
                <a:latin typeface="Meiryo"/>
                <a:ea typeface="Meiryo"/>
                <a:cs typeface="Meiryo"/>
              </a:rPr>
              <a:t>個でも</a:t>
            </a:r>
            <a:r>
              <a:rPr sz="2500" b="1" dirty="0">
                <a:solidFill>
                  <a:srgbClr val="262626"/>
                </a:solidFill>
                <a:latin typeface="Meiryo"/>
                <a:ea typeface="Meiryo"/>
                <a:cs typeface="Meiryo"/>
              </a:rPr>
              <a:t> 28.1% </a:t>
            </a:r>
            <a:r>
              <a:rPr sz="2500" b="1" dirty="0" err="1">
                <a:solidFill>
                  <a:srgbClr val="262626"/>
                </a:solidFill>
                <a:latin typeface="Meiryo"/>
                <a:ea typeface="Meiryo"/>
                <a:cs typeface="Meiryo"/>
              </a:rPr>
              <a:t>どまり（Tigges</a:t>
            </a:r>
            <a:r>
              <a:rPr sz="2500" b="1" dirty="0">
                <a:solidFill>
                  <a:srgbClr val="262626"/>
                </a:solidFill>
                <a:latin typeface="Meiryo"/>
                <a:ea typeface="Meiryo"/>
                <a:cs typeface="Meiryo"/>
              </a:rPr>
              <a:t> 2017）</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a:extLst>
              <a:ext uri="{FF2B5EF4-FFF2-40B4-BE49-F238E27FC236}">
                <a16:creationId xmlns:a16="http://schemas.microsoft.com/office/drawing/2014/main" id="{3833998A-457E-9517-AC51-7392B3AB9F9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6FD1F6AC-8896-00EB-53CF-2549B9635C1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0FE4E3-5BF5-4B02-139A-F3CEEC8A990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4D544DA-5DD1-5BFB-870D-BCC95FE8A73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3496B422-F550-0E29-8A22-385092E09242}"/>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48/72</a:t>
            </a:r>
          </a:p>
        </p:txBody>
      </p:sp>
    </p:spTree>
    <p:extLst>
      <p:ext uri="{BB962C8B-B14F-4D97-AF65-F5344CB8AC3E}">
        <p14:creationId xmlns:p14="http://schemas.microsoft.com/office/powerpoint/2010/main" val="15649611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0" name="TextBox 29"/>
          <p:cNvSpPr txBox="1"/>
          <p:nvPr/>
        </p:nvSpPr>
        <p:spPr>
          <a:xfrm>
            <a:off x="502920" y="1691640"/>
            <a:ext cx="11201400" cy="411480"/>
          </a:xfrm>
          <a:prstGeom prst="rect">
            <a:avLst/>
          </a:prstGeom>
          <a:noFill/>
        </p:spPr>
        <p:txBody>
          <a:bodyPr wrap="square" lIns="0" tIns="0" rIns="0" bIns="0" anchor="t">
            <a:spAutoFit/>
          </a:bodyPr>
          <a:lstStyle/>
          <a:p>
            <a:pPr algn="l"/>
            <a:r>
              <a:rPr sz="2400" b="1">
                <a:solidFill>
                  <a:srgbClr val="808080"/>
                </a:solidFill>
                <a:latin typeface="Meiryo"/>
                <a:ea typeface="Meiryo"/>
                <a:cs typeface="Meiryo"/>
              </a:rPr>
              <a:t>カーネル ＝ 当てはめに使う成分波 1 本 1 本</a:t>
            </a:r>
          </a:p>
        </p:txBody>
      </p:sp>
      <p:sp>
        <p:nvSpPr>
          <p:cNvPr id="31" name="Rounded Rectangle 30"/>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p:cNvSpPr txBox="1"/>
          <p:nvPr/>
        </p:nvSpPr>
        <p:spPr>
          <a:xfrm>
            <a:off x="612648"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前進波 ＋ 反射波</a:t>
            </a:r>
          </a:p>
          <a:p>
            <a:pPr algn="ctr">
              <a:spcAft>
                <a:spcPts val="400"/>
              </a:spcAft>
            </a:pPr>
            <a:r>
              <a:rPr sz="2200" b="0">
                <a:solidFill>
                  <a:srgbClr val="262626"/>
                </a:solidFill>
                <a:latin typeface="Meiryo"/>
                <a:ea typeface="Meiryo"/>
                <a:cs typeface="Meiryo"/>
              </a:rPr>
              <a:t>解釈がはっきりする</a:t>
            </a:r>
          </a:p>
          <a:p>
            <a:pPr algn="ctr">
              <a:spcAft>
                <a:spcPts val="400"/>
              </a:spcAft>
            </a:pPr>
            <a:r>
              <a:rPr sz="2200" b="0">
                <a:solidFill>
                  <a:srgbClr val="262626"/>
                </a:solidFill>
                <a:latin typeface="Meiryo"/>
                <a:ea typeface="Meiryo"/>
                <a:cs typeface="Meiryo"/>
              </a:rPr>
              <a:t>ノイズに強い</a:t>
            </a:r>
          </a:p>
        </p:txBody>
      </p:sp>
      <p:sp>
        <p:nvSpPr>
          <p:cNvPr id="34" name="TextBox 33"/>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p:cNvSpPr txBox="1"/>
          <p:nvPr/>
        </p:nvSpPr>
        <p:spPr>
          <a:xfrm>
            <a:off x="4416552"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反射が複数回戻ると</a:t>
            </a:r>
          </a:p>
          <a:p>
            <a:pPr algn="ctr">
              <a:spcAft>
                <a:spcPts val="400"/>
              </a:spcAft>
            </a:pPr>
            <a:r>
              <a:rPr sz="2200" b="0">
                <a:solidFill>
                  <a:srgbClr val="262626"/>
                </a:solidFill>
                <a:latin typeface="Meiryo"/>
                <a:ea typeface="Meiryo"/>
                <a:cs typeface="Meiryo"/>
              </a:rPr>
              <a:t>みなす</a:t>
            </a:r>
          </a:p>
          <a:p>
            <a:pPr algn="ctr">
              <a:spcAft>
                <a:spcPts val="400"/>
              </a:spcAft>
            </a:pPr>
            <a:r>
              <a:rPr sz="2200" b="0">
                <a:solidFill>
                  <a:srgbClr val="262626"/>
                </a:solidFill>
                <a:latin typeface="Meiryo"/>
                <a:ea typeface="Meiryo"/>
                <a:cs typeface="Meiryo"/>
              </a:rPr>
              <a:t>当てはまりは良い</a:t>
            </a:r>
          </a:p>
        </p:txBody>
      </p:sp>
      <p:sp>
        <p:nvSpPr>
          <p:cNvPr id="38" name="TextBox 37"/>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47888" y="2423160"/>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もっと多い</a:t>
            </a:r>
          </a:p>
        </p:txBody>
      </p:sp>
      <p:sp>
        <p:nvSpPr>
          <p:cNvPr id="41" name="TextBox 40"/>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85800" y="5248656"/>
            <a:ext cx="10835640" cy="73152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本数を増やせば残差は小さくなるが、解が一意でなくなる</a:t>
            </a:r>
          </a:p>
          <a:p>
            <a:pPr algn="ctr">
              <a:spcAft>
                <a:spcPts val="300"/>
              </a:spcAft>
            </a:pPr>
            <a:r>
              <a:rPr sz="2400" b="1">
                <a:solidFill>
                  <a:srgbClr val="262626"/>
                </a:solidFill>
                <a:latin typeface="Meiryo"/>
                <a:ea typeface="Meiryo"/>
                <a:cs typeface="Meiryo"/>
              </a:rPr>
              <a:t>カーネル 2 本がもっとも頑健という報告が複数ある</a:t>
            </a:r>
          </a:p>
        </p:txBody>
      </p:sp>
      <p:sp>
        <p:nvSpPr>
          <p:cNvPr id="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49/72</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C9E0CD2C-19B9-290D-A5DD-CDE25A0C83F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0D8DDD64-B24A-6EB3-6744-6744F8A91EB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8E90A1E-C929-9B79-CB1B-5077C642DC0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FB52B431-A852-C6D2-4A6A-A982C5CDC54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9CBA59A6-0DF5-438F-7823-2883C905A9A4}"/>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49/72</a:t>
            </a:r>
          </a:p>
        </p:txBody>
      </p:sp>
    </p:spTree>
    <p:extLst>
      <p:ext uri="{BB962C8B-B14F-4D97-AF65-F5344CB8AC3E}">
        <p14:creationId xmlns:p14="http://schemas.microsoft.com/office/powerpoint/2010/main" val="30374790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5.3  当てはめの手順</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42. Couceiro 2015　／　43. Tigges 2017</a:t>
            </a:r>
          </a:p>
        </p:txBody>
      </p:sp>
      <p:sp>
        <p:nvSpPr>
          <p:cNvPr id="18" name="Rounded Rectangle 17"/>
          <p:cNvSpPr/>
          <p:nvPr/>
        </p:nvSpPr>
        <p:spPr>
          <a:xfrm>
            <a:off x="411480" y="1783080"/>
            <a:ext cx="2761488" cy="32461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1938528"/>
            <a:ext cx="2487168" cy="597121"/>
          </a:xfrm>
          <a:prstGeom prst="rect">
            <a:avLst/>
          </a:prstGeom>
          <a:noFill/>
        </p:spPr>
        <p:txBody>
          <a:bodyPr wrap="square" lIns="0" tIns="0" rIns="0" bIns="0" anchor="t">
            <a:spAutoFit/>
          </a:bodyPr>
          <a:lstStyle/>
          <a:p>
            <a:pPr algn="ctr"/>
            <a:r>
              <a:rPr sz="2800" b="1">
                <a:solidFill>
                  <a:srgbClr val="0072B2"/>
                </a:solidFill>
                <a:latin typeface="Meiryo"/>
                <a:ea typeface="Meiryo"/>
                <a:cs typeface="Meiryo"/>
              </a:rPr>
              <a:t>①</a:t>
            </a:r>
          </a:p>
        </p:txBody>
      </p:sp>
      <p:sp>
        <p:nvSpPr>
          <p:cNvPr id="20" name="TextBox 19"/>
          <p:cNvSpPr txBox="1"/>
          <p:nvPr/>
        </p:nvSpPr>
        <p:spPr>
          <a:xfrm>
            <a:off x="548640" y="2468880"/>
            <a:ext cx="2487168" cy="52303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波を切り出す</a:t>
            </a:r>
          </a:p>
        </p:txBody>
      </p:sp>
      <p:sp>
        <p:nvSpPr>
          <p:cNvPr id="21" name="TextBox 20"/>
          <p:cNvSpPr txBox="1"/>
          <p:nvPr/>
        </p:nvSpPr>
        <p:spPr>
          <a:xfrm>
            <a:off x="502920"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一拍ごとに</a:t>
            </a:r>
          </a:p>
          <a:p>
            <a:pPr algn="ctr">
              <a:spcAft>
                <a:spcPts val="600"/>
              </a:spcAft>
            </a:pPr>
            <a:r>
              <a:rPr sz="2200" b="0">
                <a:solidFill>
                  <a:srgbClr val="262626"/>
                </a:solidFill>
                <a:latin typeface="Meiryo"/>
                <a:ea typeface="Meiryo"/>
                <a:cs typeface="Meiryo"/>
              </a:rPr>
              <a:t>取り出して</a:t>
            </a:r>
          </a:p>
          <a:p>
            <a:pPr algn="ctr">
              <a:spcAft>
                <a:spcPts val="600"/>
              </a:spcAft>
            </a:pPr>
            <a:r>
              <a:rPr sz="2200" b="0">
                <a:solidFill>
                  <a:srgbClr val="262626"/>
                </a:solidFill>
                <a:latin typeface="Meiryo"/>
                <a:ea typeface="Meiryo"/>
                <a:cs typeface="Meiryo"/>
              </a:rPr>
              <a:t>正規化する</a:t>
            </a:r>
          </a:p>
        </p:txBody>
      </p:sp>
      <p:sp>
        <p:nvSpPr>
          <p:cNvPr id="22" name="Right Arrow 21"/>
          <p:cNvSpPr/>
          <p:nvPr/>
        </p:nvSpPr>
        <p:spPr>
          <a:xfrm>
            <a:off x="3209544"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3300984" y="1783080"/>
            <a:ext cx="2761488" cy="32461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438144" y="1938528"/>
            <a:ext cx="2487168" cy="597121"/>
          </a:xfrm>
          <a:prstGeom prst="rect">
            <a:avLst/>
          </a:prstGeom>
          <a:noFill/>
        </p:spPr>
        <p:txBody>
          <a:bodyPr wrap="square" lIns="0" tIns="0" rIns="0" bIns="0" anchor="t">
            <a:spAutoFit/>
          </a:bodyPr>
          <a:lstStyle/>
          <a:p>
            <a:pPr algn="ctr"/>
            <a:r>
              <a:rPr sz="2800" b="1">
                <a:solidFill>
                  <a:srgbClr val="00A8AA"/>
                </a:solidFill>
                <a:latin typeface="Meiryo"/>
                <a:ea typeface="Meiryo"/>
                <a:cs typeface="Meiryo"/>
              </a:rPr>
              <a:t>②</a:t>
            </a:r>
          </a:p>
        </p:txBody>
      </p:sp>
      <p:sp>
        <p:nvSpPr>
          <p:cNvPr id="25" name="TextBox 24"/>
          <p:cNvSpPr txBox="1"/>
          <p:nvPr/>
        </p:nvSpPr>
        <p:spPr>
          <a:xfrm>
            <a:off x="3438144" y="2468880"/>
            <a:ext cx="2487168" cy="52303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成分波の形を決める</a:t>
            </a:r>
          </a:p>
        </p:txBody>
      </p:sp>
      <p:sp>
        <p:nvSpPr>
          <p:cNvPr id="26" name="TextBox 25"/>
          <p:cNvSpPr txBox="1"/>
          <p:nvPr/>
        </p:nvSpPr>
        <p:spPr>
          <a:xfrm>
            <a:off x="3392424"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ガウス関数など</a:t>
            </a:r>
          </a:p>
          <a:p>
            <a:pPr algn="ctr">
              <a:spcAft>
                <a:spcPts val="600"/>
              </a:spcAft>
            </a:pPr>
            <a:r>
              <a:rPr sz="2200" b="0">
                <a:solidFill>
                  <a:srgbClr val="262626"/>
                </a:solidFill>
                <a:latin typeface="Meiryo"/>
                <a:ea typeface="Meiryo"/>
                <a:cs typeface="Meiryo"/>
              </a:rPr>
              <a:t>基底関数の</a:t>
            </a:r>
          </a:p>
          <a:p>
            <a:pPr algn="ctr">
              <a:spcAft>
                <a:spcPts val="600"/>
              </a:spcAft>
            </a:pPr>
            <a:r>
              <a:rPr sz="2200" b="0">
                <a:solidFill>
                  <a:srgbClr val="262626"/>
                </a:solidFill>
                <a:latin typeface="Meiryo"/>
                <a:ea typeface="Meiryo"/>
                <a:cs typeface="Meiryo"/>
              </a:rPr>
              <a:t>種類と個数</a:t>
            </a:r>
          </a:p>
        </p:txBody>
      </p:sp>
      <p:sp>
        <p:nvSpPr>
          <p:cNvPr id="27" name="Right Arrow 26"/>
          <p:cNvSpPr/>
          <p:nvPr/>
        </p:nvSpPr>
        <p:spPr>
          <a:xfrm>
            <a:off x="6099048"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190488" y="1783080"/>
            <a:ext cx="2761488" cy="32461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27648" y="1938528"/>
            <a:ext cx="2487168" cy="597121"/>
          </a:xfrm>
          <a:prstGeom prst="rect">
            <a:avLst/>
          </a:prstGeom>
          <a:noFill/>
        </p:spPr>
        <p:txBody>
          <a:bodyPr wrap="square" lIns="0" tIns="0" rIns="0" bIns="0" anchor="t">
            <a:spAutoFit/>
          </a:bodyPr>
          <a:lstStyle/>
          <a:p>
            <a:pPr algn="ctr"/>
            <a:r>
              <a:rPr sz="2800" b="1">
                <a:solidFill>
                  <a:srgbClr val="BF9000"/>
                </a:solidFill>
                <a:latin typeface="Meiryo"/>
                <a:ea typeface="Meiryo"/>
                <a:cs typeface="Meiryo"/>
              </a:rPr>
              <a:t>③</a:t>
            </a:r>
          </a:p>
        </p:txBody>
      </p:sp>
      <p:sp>
        <p:nvSpPr>
          <p:cNvPr id="30" name="TextBox 29"/>
          <p:cNvSpPr txBox="1"/>
          <p:nvPr/>
        </p:nvSpPr>
        <p:spPr>
          <a:xfrm>
            <a:off x="6327648" y="2468880"/>
            <a:ext cx="2487168" cy="52303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当てはめる</a:t>
            </a:r>
          </a:p>
        </p:txBody>
      </p:sp>
      <p:sp>
        <p:nvSpPr>
          <p:cNvPr id="31" name="TextBox 30"/>
          <p:cNvSpPr txBox="1"/>
          <p:nvPr/>
        </p:nvSpPr>
        <p:spPr>
          <a:xfrm>
            <a:off x="6281928"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最小二乗などで</a:t>
            </a:r>
          </a:p>
          <a:p>
            <a:pPr algn="ctr">
              <a:spcAft>
                <a:spcPts val="600"/>
              </a:spcAft>
            </a:pPr>
            <a:r>
              <a:rPr sz="2200" b="0">
                <a:solidFill>
                  <a:srgbClr val="262626"/>
                </a:solidFill>
                <a:latin typeface="Meiryo"/>
                <a:ea typeface="Meiryo"/>
                <a:cs typeface="Meiryo"/>
              </a:rPr>
              <a:t>成分波の位置・高さ</a:t>
            </a:r>
          </a:p>
          <a:p>
            <a:pPr algn="ctr">
              <a:spcAft>
                <a:spcPts val="600"/>
              </a:spcAft>
            </a:pPr>
            <a:r>
              <a:rPr sz="2200" b="0">
                <a:solidFill>
                  <a:srgbClr val="262626"/>
                </a:solidFill>
                <a:latin typeface="Meiryo"/>
                <a:ea typeface="Meiryo"/>
                <a:cs typeface="Meiryo"/>
              </a:rPr>
              <a:t>幅を推定する</a:t>
            </a:r>
          </a:p>
        </p:txBody>
      </p:sp>
      <p:sp>
        <p:nvSpPr>
          <p:cNvPr id="32" name="Right Arrow 31"/>
          <p:cNvSpPr/>
          <p:nvPr/>
        </p:nvSpPr>
        <p:spPr>
          <a:xfrm>
            <a:off x="8988552"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9079992" y="1783080"/>
            <a:ext cx="2761488" cy="32461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217152" y="1938528"/>
            <a:ext cx="2487168" cy="597121"/>
          </a:xfrm>
          <a:prstGeom prst="rect">
            <a:avLst/>
          </a:prstGeom>
          <a:noFill/>
        </p:spPr>
        <p:txBody>
          <a:bodyPr wrap="square" lIns="0" tIns="0" rIns="0" bIns="0" anchor="t">
            <a:spAutoFit/>
          </a:bodyPr>
          <a:lstStyle/>
          <a:p>
            <a:pPr algn="ctr"/>
            <a:r>
              <a:rPr sz="2800" b="1">
                <a:solidFill>
                  <a:srgbClr val="D55E00"/>
                </a:solidFill>
                <a:latin typeface="Meiryo"/>
                <a:ea typeface="Meiryo"/>
                <a:cs typeface="Meiryo"/>
              </a:rPr>
              <a:t>④</a:t>
            </a:r>
          </a:p>
        </p:txBody>
      </p:sp>
      <p:sp>
        <p:nvSpPr>
          <p:cNvPr id="35" name="TextBox 34"/>
          <p:cNvSpPr txBox="1"/>
          <p:nvPr/>
        </p:nvSpPr>
        <p:spPr>
          <a:xfrm>
            <a:off x="9217152" y="2468880"/>
            <a:ext cx="2487168" cy="52303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指標を作る</a:t>
            </a:r>
          </a:p>
        </p:txBody>
      </p:sp>
      <p:sp>
        <p:nvSpPr>
          <p:cNvPr id="36" name="TextBox 35"/>
          <p:cNvSpPr txBox="1"/>
          <p:nvPr/>
        </p:nvSpPr>
        <p:spPr>
          <a:xfrm>
            <a:off x="9171432"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成分波どうしの</a:t>
            </a:r>
          </a:p>
          <a:p>
            <a:pPr algn="ctr">
              <a:spcAft>
                <a:spcPts val="600"/>
              </a:spcAft>
            </a:pPr>
            <a:r>
              <a:rPr sz="2200" b="0">
                <a:solidFill>
                  <a:srgbClr val="262626"/>
                </a:solidFill>
                <a:latin typeface="Meiryo"/>
                <a:ea typeface="Meiryo"/>
                <a:cs typeface="Meiryo"/>
              </a:rPr>
              <a:t>時間差と振幅比が</a:t>
            </a:r>
          </a:p>
          <a:p>
            <a:pPr algn="ctr">
              <a:spcAft>
                <a:spcPts val="600"/>
              </a:spcAft>
            </a:pPr>
            <a:r>
              <a:rPr sz="2200" b="0">
                <a:solidFill>
                  <a:srgbClr val="262626"/>
                </a:solidFill>
                <a:latin typeface="Meiryo"/>
                <a:ea typeface="Meiryo"/>
                <a:cs typeface="Meiryo"/>
              </a:rPr>
              <a:t>SI・RI になる</a:t>
            </a:r>
          </a:p>
        </p:txBody>
      </p:sp>
      <p:sp>
        <p:nvSpPr>
          <p:cNvPr id="37" name="Rounded Rectangle 36"/>
          <p:cNvSpPr/>
          <p:nvPr/>
        </p:nvSpPr>
        <p:spPr>
          <a:xfrm>
            <a:off x="411480" y="5257800"/>
            <a:ext cx="11356848" cy="10058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4360" y="5440680"/>
            <a:ext cx="10991088" cy="1030782"/>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むずかしいのは ② ： 「どの形の成分波を何個使うか」が決まっていない</a:t>
            </a:r>
          </a:p>
          <a:p>
            <a:pPr algn="ctr">
              <a:spcAft>
                <a:spcPts val="400"/>
              </a:spcAft>
            </a:pPr>
            <a:r>
              <a:rPr sz="2500" b="1">
                <a:solidFill>
                  <a:srgbClr val="262626"/>
                </a:solidFill>
                <a:latin typeface="Meiryo"/>
                <a:ea typeface="Meiryo"/>
                <a:cs typeface="Meiryo"/>
              </a:rPr>
              <a:t>同じ波形でも、選び方しだいで答えが変わる</a:t>
            </a:r>
          </a:p>
        </p:txBody>
      </p:sp>
      <p:sp>
        <p:nvSpPr>
          <p:cNvPr id="3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50/72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30" name="Rounded Rectangle 29"/>
          <p:cNvSpPr/>
          <p:nvPr/>
        </p:nvSpPr>
        <p:spPr>
          <a:xfrm>
            <a:off x="502920" y="1737360"/>
            <a:ext cx="3529584" cy="24231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12648" y="1920240"/>
            <a:ext cx="3310128"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残差を測る</a:t>
            </a:r>
          </a:p>
        </p:txBody>
      </p:sp>
      <p:sp>
        <p:nvSpPr>
          <p:cNvPr id="32" name="TextBox 31"/>
          <p:cNvSpPr txBox="1"/>
          <p:nvPr/>
        </p:nvSpPr>
        <p:spPr>
          <a:xfrm>
            <a:off x="612648"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実測 と モデルの差を</a:t>
            </a:r>
          </a:p>
          <a:p>
            <a:pPr algn="ctr">
              <a:spcAft>
                <a:spcPts val="400"/>
              </a:spcAft>
            </a:pPr>
            <a:r>
              <a:rPr sz="2200" b="0">
                <a:solidFill>
                  <a:srgbClr val="262626"/>
                </a:solidFill>
                <a:latin typeface="Meiryo"/>
                <a:ea typeface="Meiryo"/>
                <a:cs typeface="Meiryo"/>
              </a:rPr>
              <a:t>二乗して足し合わせる</a:t>
            </a:r>
          </a:p>
          <a:p>
            <a:pPr algn="ctr">
              <a:spcAft>
                <a:spcPts val="400"/>
              </a:spcAft>
            </a:pPr>
            <a:r>
              <a:rPr sz="2200" b="0">
                <a:solidFill>
                  <a:srgbClr val="262626"/>
                </a:solidFill>
                <a:latin typeface="Meiryo"/>
                <a:ea typeface="Meiryo"/>
                <a:cs typeface="Meiryo"/>
              </a:rPr>
              <a:t>（残差平方和）</a:t>
            </a:r>
          </a:p>
        </p:txBody>
      </p:sp>
      <p:sp>
        <p:nvSpPr>
          <p:cNvPr id="33" name="Right Arrow 32"/>
          <p:cNvSpPr/>
          <p:nvPr/>
        </p:nvSpPr>
        <p:spPr>
          <a:xfrm>
            <a:off x="4078224"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4306824" y="1737360"/>
            <a:ext cx="3529584" cy="24231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416552" y="1920240"/>
            <a:ext cx="3310128"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少しずつ動かす</a:t>
            </a:r>
          </a:p>
        </p:txBody>
      </p:sp>
      <p:sp>
        <p:nvSpPr>
          <p:cNvPr id="36" name="TextBox 35"/>
          <p:cNvSpPr txBox="1"/>
          <p:nvPr/>
        </p:nvSpPr>
        <p:spPr>
          <a:xfrm>
            <a:off x="4416552"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初期値から反復計算で</a:t>
            </a:r>
          </a:p>
          <a:p>
            <a:pPr algn="ctr">
              <a:spcAft>
                <a:spcPts val="400"/>
              </a:spcAft>
            </a:pPr>
            <a:r>
              <a:rPr sz="2200" b="0">
                <a:solidFill>
                  <a:srgbClr val="262626"/>
                </a:solidFill>
                <a:latin typeface="Meiryo"/>
                <a:ea typeface="Meiryo"/>
                <a:cs typeface="Meiryo"/>
              </a:rPr>
              <a:t>残差が最小になる</a:t>
            </a:r>
          </a:p>
          <a:p>
            <a:pPr algn="ctr">
              <a:spcAft>
                <a:spcPts val="400"/>
              </a:spcAft>
            </a:pPr>
            <a:r>
              <a:rPr sz="2200" b="0">
                <a:solidFill>
                  <a:srgbClr val="262626"/>
                </a:solidFill>
                <a:latin typeface="Meiryo"/>
                <a:ea typeface="Meiryo"/>
                <a:cs typeface="Meiryo"/>
              </a:rPr>
              <a:t>パラメータを探す</a:t>
            </a:r>
          </a:p>
        </p:txBody>
      </p:sp>
      <p:sp>
        <p:nvSpPr>
          <p:cNvPr id="37" name="Right Arrow 36"/>
          <p:cNvSpPr/>
          <p:nvPr/>
        </p:nvSpPr>
        <p:spPr>
          <a:xfrm>
            <a:off x="7882128"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8110728" y="1737360"/>
            <a:ext cx="3529584" cy="24231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0456" y="1920240"/>
            <a:ext cx="3310128" cy="45720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当てはまりを見る</a:t>
            </a:r>
          </a:p>
        </p:txBody>
      </p:sp>
      <p:sp>
        <p:nvSpPr>
          <p:cNvPr id="40" name="TextBox 39"/>
          <p:cNvSpPr txBox="1"/>
          <p:nvPr/>
        </p:nvSpPr>
        <p:spPr>
          <a:xfrm>
            <a:off x="8220456"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R² や AICc で</a:t>
            </a:r>
          </a:p>
          <a:p>
            <a:pPr algn="ctr">
              <a:spcAft>
                <a:spcPts val="400"/>
              </a:spcAft>
            </a:pPr>
            <a:r>
              <a:rPr sz="2200" b="0">
                <a:solidFill>
                  <a:srgbClr val="262626"/>
                </a:solidFill>
                <a:latin typeface="Meiryo"/>
                <a:ea typeface="Meiryo"/>
                <a:cs typeface="Meiryo"/>
              </a:rPr>
              <a:t>当てはまりと</a:t>
            </a:r>
          </a:p>
          <a:p>
            <a:pPr algn="ctr">
              <a:spcAft>
                <a:spcPts val="400"/>
              </a:spcAft>
            </a:pPr>
            <a:r>
              <a:rPr sz="2200" b="0">
                <a:solidFill>
                  <a:srgbClr val="262626"/>
                </a:solidFill>
                <a:latin typeface="Meiryo"/>
                <a:ea typeface="Meiryo"/>
                <a:cs typeface="Meiryo"/>
              </a:rPr>
              <a:t>パラメータ数を比べる</a:t>
            </a:r>
          </a:p>
        </p:txBody>
      </p:sp>
      <p:sp>
        <p:nvSpPr>
          <p:cNvPr id="41" name="Rounded Rectangle 40"/>
          <p:cNvSpPr/>
          <p:nvPr/>
        </p:nvSpPr>
        <p:spPr>
          <a:xfrm>
            <a:off x="502920" y="4407408"/>
            <a:ext cx="11201400" cy="17373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5800" y="4590288"/>
            <a:ext cx="10835640" cy="1371600"/>
          </a:xfrm>
          <a:prstGeom prst="rect">
            <a:avLst/>
          </a:prstGeom>
          <a:noFill/>
        </p:spPr>
        <p:txBody>
          <a:bodyPr wrap="square" lIns="0" tIns="0" rIns="0" bIns="0" anchor="t">
            <a:spAutoFit/>
          </a:bodyPr>
          <a:lstStyle/>
          <a:p>
            <a:pPr algn="l">
              <a:spcAft>
                <a:spcPts val="600"/>
              </a:spcAft>
            </a:pPr>
            <a:r>
              <a:rPr sz="2500" b="1">
                <a:solidFill>
                  <a:srgbClr val="C00000"/>
                </a:solidFill>
                <a:latin typeface="Meiryo"/>
                <a:ea typeface="Meiryo"/>
                <a:cs typeface="Meiryo"/>
              </a:rPr>
              <a:t>落とし穴：初期値で答えが変わる</a:t>
            </a:r>
          </a:p>
          <a:p>
            <a:pPr algn="l">
              <a:spcAft>
                <a:spcPts val="600"/>
              </a:spcAft>
            </a:pPr>
            <a:r>
              <a:rPr sz="2300" b="0">
                <a:solidFill>
                  <a:srgbClr val="262626"/>
                </a:solidFill>
                <a:latin typeface="Meiryo"/>
                <a:ea typeface="Meiryo"/>
                <a:cs typeface="Meiryo"/>
              </a:rPr>
              <a:t>反復計算は初期値の近くの谷にはまる（局所解）</a:t>
            </a:r>
          </a:p>
          <a:p>
            <a:pPr algn="l">
              <a:spcAft>
                <a:spcPts val="600"/>
              </a:spcAft>
            </a:pPr>
            <a:r>
              <a:rPr sz="2300" b="0">
                <a:solidFill>
                  <a:srgbClr val="262626"/>
                </a:solidFill>
                <a:latin typeface="Meiryo"/>
                <a:ea typeface="Meiryo"/>
                <a:cs typeface="Meiryo"/>
              </a:rPr>
              <a:t>同じ波形・同じモデルでも、初期値しだいで別の値が出ることがある</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51/72</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当てはめの中身</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52/72</a:t>
            </a:r>
          </a:p>
        </p:txBody>
      </p:sp>
      <p:sp>
        <p:nvSpPr>
          <p:cNvPr id="44" name="Rounded Rectangle 43"/>
          <p:cNvSpPr/>
          <p:nvPr/>
        </p:nvSpPr>
        <p:spPr>
          <a:xfrm>
            <a:off x="502920" y="1737360"/>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3364992" y="1737360"/>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6227064" y="1737360"/>
            <a:ext cx="26151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9089136" y="1737360"/>
            <a:ext cx="2615184" cy="30175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ight Arrow 47"/>
          <p:cNvSpPr/>
          <p:nvPr/>
        </p:nvSpPr>
        <p:spPr>
          <a:xfrm>
            <a:off x="3159252" y="3099815"/>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ight Arrow 48"/>
          <p:cNvSpPr/>
          <p:nvPr/>
        </p:nvSpPr>
        <p:spPr>
          <a:xfrm>
            <a:off x="6021324" y="3099815"/>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ight Arrow 49"/>
          <p:cNvSpPr/>
          <p:nvPr/>
        </p:nvSpPr>
        <p:spPr>
          <a:xfrm>
            <a:off x="8883396" y="3099815"/>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12648" y="1883664"/>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①</a:t>
            </a:r>
          </a:p>
        </p:txBody>
      </p:sp>
      <p:sp>
        <p:nvSpPr>
          <p:cNvPr id="52" name="TextBox 51"/>
          <p:cNvSpPr txBox="1"/>
          <p:nvPr/>
        </p:nvSpPr>
        <p:spPr>
          <a:xfrm>
            <a:off x="612648" y="2450591"/>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モデルを</a:t>
            </a:r>
          </a:p>
          <a:p>
            <a:pPr algn="ctr">
              <a:spcAft>
                <a:spcPts val="0"/>
              </a:spcAft>
            </a:pPr>
            <a:r>
              <a:rPr sz="2400" b="1" dirty="0">
                <a:solidFill>
                  <a:srgbClr val="262626"/>
                </a:solidFill>
                <a:latin typeface="Meiryo"/>
                <a:ea typeface="Meiryo"/>
                <a:cs typeface="Meiryo"/>
              </a:rPr>
              <a:t>決める</a:t>
            </a:r>
          </a:p>
        </p:txBody>
      </p:sp>
      <p:sp>
        <p:nvSpPr>
          <p:cNvPr id="53" name="TextBox 52"/>
          <p:cNvSpPr txBox="1"/>
          <p:nvPr/>
        </p:nvSpPr>
        <p:spPr>
          <a:xfrm>
            <a:off x="612648" y="3429000"/>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基底関数の</a:t>
            </a:r>
          </a:p>
          <a:p>
            <a:pPr algn="ctr">
              <a:spcAft>
                <a:spcPts val="0"/>
              </a:spcAft>
            </a:pPr>
            <a:r>
              <a:rPr sz="2200" b="0" dirty="0">
                <a:solidFill>
                  <a:srgbClr val="595959"/>
                </a:solidFill>
                <a:latin typeface="Meiryo"/>
                <a:ea typeface="Meiryo"/>
                <a:cs typeface="Meiryo"/>
              </a:rPr>
              <a:t>種類と本数</a:t>
            </a:r>
          </a:p>
          <a:p>
            <a:pPr algn="ctr">
              <a:spcAft>
                <a:spcPts val="0"/>
              </a:spcAft>
            </a:pPr>
            <a:r>
              <a:rPr sz="2200" b="0" dirty="0">
                <a:solidFill>
                  <a:srgbClr val="595959"/>
                </a:solidFill>
                <a:latin typeface="Meiryo"/>
                <a:ea typeface="Meiryo"/>
                <a:cs typeface="Meiryo"/>
              </a:rPr>
              <a:t>（設計値）</a:t>
            </a:r>
          </a:p>
        </p:txBody>
      </p:sp>
      <p:sp>
        <p:nvSpPr>
          <p:cNvPr id="54" name="TextBox 53"/>
          <p:cNvSpPr txBox="1"/>
          <p:nvPr/>
        </p:nvSpPr>
        <p:spPr>
          <a:xfrm>
            <a:off x="3474720" y="1883664"/>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②</a:t>
            </a:r>
          </a:p>
        </p:txBody>
      </p:sp>
      <p:sp>
        <p:nvSpPr>
          <p:cNvPr id="55" name="TextBox 54"/>
          <p:cNvSpPr txBox="1"/>
          <p:nvPr/>
        </p:nvSpPr>
        <p:spPr>
          <a:xfrm>
            <a:off x="3474720" y="2450591"/>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初期値と</a:t>
            </a:r>
          </a:p>
          <a:p>
            <a:pPr algn="ctr">
              <a:spcAft>
                <a:spcPts val="0"/>
              </a:spcAft>
            </a:pPr>
            <a:r>
              <a:rPr sz="2400" b="1" dirty="0">
                <a:solidFill>
                  <a:srgbClr val="262626"/>
                </a:solidFill>
                <a:latin typeface="Meiryo"/>
                <a:ea typeface="Meiryo"/>
                <a:cs typeface="Meiryo"/>
              </a:rPr>
              <a:t>境界を置く</a:t>
            </a:r>
          </a:p>
        </p:txBody>
      </p:sp>
      <p:sp>
        <p:nvSpPr>
          <p:cNvPr id="56" name="TextBox 55"/>
          <p:cNvSpPr txBox="1"/>
          <p:nvPr/>
        </p:nvSpPr>
        <p:spPr>
          <a:xfrm>
            <a:off x="3474720" y="3429000"/>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どこから探すか</a:t>
            </a:r>
          </a:p>
          <a:p>
            <a:pPr algn="ctr">
              <a:spcAft>
                <a:spcPts val="0"/>
              </a:spcAft>
            </a:pPr>
            <a:r>
              <a:rPr sz="2200" b="0" dirty="0">
                <a:solidFill>
                  <a:srgbClr val="595959"/>
                </a:solidFill>
                <a:latin typeface="Meiryo"/>
                <a:ea typeface="Meiryo"/>
                <a:cs typeface="Meiryo"/>
              </a:rPr>
              <a:t>どこまで許すか</a:t>
            </a:r>
          </a:p>
          <a:p>
            <a:pPr algn="ctr">
              <a:spcAft>
                <a:spcPts val="0"/>
              </a:spcAft>
            </a:pPr>
            <a:r>
              <a:rPr sz="2200" b="0" dirty="0">
                <a:solidFill>
                  <a:srgbClr val="595959"/>
                </a:solidFill>
                <a:latin typeface="Meiryo"/>
                <a:ea typeface="Meiryo"/>
                <a:cs typeface="Meiryo"/>
              </a:rPr>
              <a:t>（設計値）</a:t>
            </a:r>
          </a:p>
        </p:txBody>
      </p:sp>
      <p:sp>
        <p:nvSpPr>
          <p:cNvPr id="57" name="TextBox 56"/>
          <p:cNvSpPr txBox="1"/>
          <p:nvPr/>
        </p:nvSpPr>
        <p:spPr>
          <a:xfrm>
            <a:off x="6336792" y="1883664"/>
            <a:ext cx="2395728"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③</a:t>
            </a:r>
          </a:p>
        </p:txBody>
      </p:sp>
      <p:sp>
        <p:nvSpPr>
          <p:cNvPr id="58" name="TextBox 57"/>
          <p:cNvSpPr txBox="1"/>
          <p:nvPr/>
        </p:nvSpPr>
        <p:spPr>
          <a:xfrm>
            <a:off x="6336792" y="2450591"/>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残差を</a:t>
            </a:r>
          </a:p>
          <a:p>
            <a:pPr algn="ctr">
              <a:spcAft>
                <a:spcPts val="0"/>
              </a:spcAft>
            </a:pPr>
            <a:r>
              <a:rPr sz="2400" b="1" dirty="0">
                <a:solidFill>
                  <a:srgbClr val="262626"/>
                </a:solidFill>
                <a:latin typeface="Meiryo"/>
                <a:ea typeface="Meiryo"/>
                <a:cs typeface="Meiryo"/>
              </a:rPr>
              <a:t>最小にする</a:t>
            </a:r>
          </a:p>
        </p:txBody>
      </p:sp>
      <p:sp>
        <p:nvSpPr>
          <p:cNvPr id="59" name="TextBox 58"/>
          <p:cNvSpPr txBox="1"/>
          <p:nvPr/>
        </p:nvSpPr>
        <p:spPr>
          <a:xfrm>
            <a:off x="6336792" y="3429000"/>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初期値から</a:t>
            </a:r>
          </a:p>
          <a:p>
            <a:pPr algn="ctr">
              <a:spcAft>
                <a:spcPts val="0"/>
              </a:spcAft>
            </a:pPr>
            <a:r>
              <a:rPr sz="2200" b="0" dirty="0">
                <a:solidFill>
                  <a:srgbClr val="595959"/>
                </a:solidFill>
                <a:latin typeface="Meiryo"/>
                <a:ea typeface="Meiryo"/>
                <a:cs typeface="Meiryo"/>
              </a:rPr>
              <a:t>反復計算で</a:t>
            </a:r>
          </a:p>
          <a:p>
            <a:pPr algn="ctr">
              <a:spcAft>
                <a:spcPts val="0"/>
              </a:spcAft>
            </a:pPr>
            <a:r>
              <a:rPr sz="2200" b="0" dirty="0">
                <a:solidFill>
                  <a:srgbClr val="595959"/>
                </a:solidFill>
                <a:latin typeface="Meiryo"/>
                <a:ea typeface="Meiryo"/>
                <a:cs typeface="Meiryo"/>
              </a:rPr>
              <a:t>谷を下る</a:t>
            </a:r>
          </a:p>
        </p:txBody>
      </p:sp>
      <p:sp>
        <p:nvSpPr>
          <p:cNvPr id="60" name="TextBox 59"/>
          <p:cNvSpPr txBox="1"/>
          <p:nvPr/>
        </p:nvSpPr>
        <p:spPr>
          <a:xfrm>
            <a:off x="9198863" y="1883664"/>
            <a:ext cx="23957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④</a:t>
            </a:r>
          </a:p>
        </p:txBody>
      </p:sp>
      <p:sp>
        <p:nvSpPr>
          <p:cNvPr id="61" name="TextBox 60"/>
          <p:cNvSpPr txBox="1"/>
          <p:nvPr/>
        </p:nvSpPr>
        <p:spPr>
          <a:xfrm>
            <a:off x="9198863" y="2450591"/>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出た値を</a:t>
            </a:r>
          </a:p>
          <a:p>
            <a:pPr algn="ctr">
              <a:spcAft>
                <a:spcPts val="0"/>
              </a:spcAft>
            </a:pPr>
            <a:r>
              <a:rPr sz="2400" b="1" dirty="0">
                <a:solidFill>
                  <a:srgbClr val="262626"/>
                </a:solidFill>
                <a:latin typeface="Meiryo"/>
                <a:ea typeface="Meiryo"/>
                <a:cs typeface="Meiryo"/>
              </a:rPr>
              <a:t>検算する</a:t>
            </a:r>
          </a:p>
        </p:txBody>
      </p:sp>
      <p:sp>
        <p:nvSpPr>
          <p:cNvPr id="62" name="TextBox 61"/>
          <p:cNvSpPr txBox="1"/>
          <p:nvPr/>
        </p:nvSpPr>
        <p:spPr>
          <a:xfrm>
            <a:off x="9198863" y="3429000"/>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境界・再現性</a:t>
            </a:r>
          </a:p>
          <a:p>
            <a:pPr algn="ctr">
              <a:spcAft>
                <a:spcPts val="0"/>
              </a:spcAft>
            </a:pPr>
            <a:r>
              <a:rPr sz="2200" b="0" dirty="0">
                <a:solidFill>
                  <a:srgbClr val="595959"/>
                </a:solidFill>
                <a:latin typeface="Meiryo"/>
                <a:ea typeface="Meiryo"/>
                <a:cs typeface="Meiryo"/>
              </a:rPr>
              <a:t>残差の谷の幅</a:t>
            </a:r>
          </a:p>
          <a:p>
            <a:pPr algn="ctr">
              <a:spcAft>
                <a:spcPts val="0"/>
              </a:spcAft>
            </a:pPr>
            <a:r>
              <a:rPr sz="2200" b="0" dirty="0">
                <a:solidFill>
                  <a:srgbClr val="595959"/>
                </a:solidFill>
                <a:latin typeface="Meiryo"/>
                <a:ea typeface="Meiryo"/>
                <a:cs typeface="Meiryo"/>
              </a:rPr>
              <a:t>を確かめる</a:t>
            </a:r>
          </a:p>
        </p:txBody>
      </p:sp>
      <p:sp>
        <p:nvSpPr>
          <p:cNvPr id="63" name="Rounded Rectangle 62"/>
          <p:cNvSpPr/>
          <p:nvPr/>
        </p:nvSpPr>
        <p:spPr>
          <a:xfrm>
            <a:off x="502920" y="4956048"/>
            <a:ext cx="11201400" cy="141732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85800" y="5084064"/>
            <a:ext cx="10835640" cy="1276807"/>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①② は データではなく 人が決める設計値</a:t>
            </a:r>
          </a:p>
          <a:p>
            <a:pPr algn="ctr">
              <a:spcAft>
                <a:spcPts val="0"/>
              </a:spcAft>
            </a:pPr>
            <a:r>
              <a:rPr sz="2300" b="0" dirty="0">
                <a:solidFill>
                  <a:srgbClr val="262626"/>
                </a:solidFill>
                <a:latin typeface="Meiryo"/>
                <a:ea typeface="Meiryo"/>
                <a:cs typeface="Meiryo"/>
              </a:rPr>
              <a:t>同じ波形でも 決め方しだいで 答えが変わる</a:t>
            </a:r>
          </a:p>
          <a:p>
            <a:pPr algn="ctr">
              <a:spcAft>
                <a:spcPts val="0"/>
              </a:spcAft>
            </a:pPr>
            <a:r>
              <a:rPr sz="2300" b="1" dirty="0">
                <a:solidFill>
                  <a:srgbClr val="C00000"/>
                </a:solidFill>
                <a:latin typeface="Meiryo"/>
                <a:ea typeface="Meiryo"/>
                <a:cs typeface="Meiryo"/>
              </a:rPr>
              <a:t>だから ④ の検算が要る</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初期値の決め方</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45. Couceiro 2012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53/72</a:t>
            </a:r>
          </a:p>
        </p:txBody>
      </p:sp>
      <p:sp>
        <p:nvSpPr>
          <p:cNvPr id="44" name="Rounded Rectangle 43"/>
          <p:cNvSpPr/>
          <p:nvPr/>
        </p:nvSpPr>
        <p:spPr>
          <a:xfrm>
            <a:off x="502920" y="1737360"/>
            <a:ext cx="3529584" cy="2651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4306824" y="1737360"/>
            <a:ext cx="3529584" cy="26517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8110727" y="1737360"/>
            <a:ext cx="3529584" cy="26517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12648" y="1901952"/>
            <a:ext cx="3310128"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ランドマーク方式</a:t>
            </a:r>
          </a:p>
        </p:txBody>
      </p:sp>
      <p:sp>
        <p:nvSpPr>
          <p:cNvPr id="48" name="TextBox 47"/>
          <p:cNvSpPr txBox="1"/>
          <p:nvPr/>
        </p:nvSpPr>
        <p:spPr>
          <a:xfrm>
            <a:off x="612648" y="2450592"/>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微分でピークや</a:t>
            </a:r>
          </a:p>
          <a:p>
            <a:pPr algn="l">
              <a:spcAft>
                <a:spcPts val="0"/>
              </a:spcAft>
            </a:pPr>
            <a:r>
              <a:rPr sz="2200" b="0" dirty="0">
                <a:solidFill>
                  <a:srgbClr val="262626"/>
                </a:solidFill>
                <a:latin typeface="Meiryo"/>
                <a:ea typeface="Meiryo"/>
                <a:cs typeface="Meiryo"/>
              </a:rPr>
              <a:t>変曲点を探し</a:t>
            </a:r>
          </a:p>
          <a:p>
            <a:pPr algn="l">
              <a:spcAft>
                <a:spcPts val="0"/>
              </a:spcAft>
            </a:pPr>
            <a:r>
              <a:rPr sz="2200" b="0" dirty="0">
                <a:solidFill>
                  <a:srgbClr val="262626"/>
                </a:solidFill>
                <a:latin typeface="Meiryo"/>
                <a:ea typeface="Meiryo"/>
                <a:cs typeface="Meiryo"/>
              </a:rPr>
              <a:t>その時刻を使う</a:t>
            </a:r>
          </a:p>
        </p:txBody>
      </p:sp>
      <p:sp>
        <p:nvSpPr>
          <p:cNvPr id="49" name="TextBox 48"/>
          <p:cNvSpPr txBox="1"/>
          <p:nvPr/>
        </p:nvSpPr>
        <p:spPr>
          <a:xfrm>
            <a:off x="612648" y="3749039"/>
            <a:ext cx="3310128"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目印が弱いと不安定</a:t>
            </a:r>
          </a:p>
        </p:txBody>
      </p:sp>
      <p:sp>
        <p:nvSpPr>
          <p:cNvPr id="50" name="TextBox 49"/>
          <p:cNvSpPr txBox="1"/>
          <p:nvPr/>
        </p:nvSpPr>
        <p:spPr>
          <a:xfrm>
            <a:off x="4416552" y="1901952"/>
            <a:ext cx="3310128" cy="431596"/>
          </a:xfrm>
          <a:prstGeom prst="rect">
            <a:avLst/>
          </a:prstGeom>
          <a:noFill/>
        </p:spPr>
        <p:txBody>
          <a:bodyPr wrap="square" lIns="0" tIns="0" rIns="0" bIns="0" anchor="t">
            <a:spAutoFit/>
          </a:bodyPr>
          <a:lstStyle/>
          <a:p>
            <a:pPr algn="l">
              <a:spcAft>
                <a:spcPts val="0"/>
              </a:spcAft>
            </a:pPr>
            <a:r>
              <a:rPr sz="2400" b="1" dirty="0">
                <a:solidFill>
                  <a:srgbClr val="00A8AA"/>
                </a:solidFill>
                <a:latin typeface="Meiryo"/>
                <a:ea typeface="Meiryo"/>
                <a:cs typeface="Meiryo"/>
              </a:rPr>
              <a:t>前の拍を引き継ぐ</a:t>
            </a:r>
          </a:p>
        </p:txBody>
      </p:sp>
      <p:sp>
        <p:nvSpPr>
          <p:cNvPr id="51" name="TextBox 50"/>
          <p:cNvSpPr txBox="1"/>
          <p:nvPr/>
        </p:nvSpPr>
        <p:spPr>
          <a:xfrm>
            <a:off x="4416552" y="2450592"/>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直前の拍で得た解を</a:t>
            </a:r>
          </a:p>
          <a:p>
            <a:pPr algn="l">
              <a:spcAft>
                <a:spcPts val="0"/>
              </a:spcAft>
            </a:pPr>
            <a:r>
              <a:rPr sz="2200" b="0" dirty="0">
                <a:solidFill>
                  <a:srgbClr val="262626"/>
                </a:solidFill>
                <a:latin typeface="Meiryo"/>
                <a:ea typeface="Meiryo"/>
                <a:cs typeface="Meiryo"/>
              </a:rPr>
              <a:t>次の拍の</a:t>
            </a:r>
          </a:p>
          <a:p>
            <a:pPr algn="l">
              <a:spcAft>
                <a:spcPts val="0"/>
              </a:spcAft>
            </a:pPr>
            <a:r>
              <a:rPr sz="2200" b="0" dirty="0">
                <a:solidFill>
                  <a:srgbClr val="262626"/>
                </a:solidFill>
                <a:latin typeface="Meiryo"/>
                <a:ea typeface="Meiryo"/>
                <a:cs typeface="Meiryo"/>
              </a:rPr>
              <a:t>初期値にする</a:t>
            </a:r>
          </a:p>
        </p:txBody>
      </p:sp>
      <p:sp>
        <p:nvSpPr>
          <p:cNvPr id="52" name="TextBox 51"/>
          <p:cNvSpPr txBox="1"/>
          <p:nvPr/>
        </p:nvSpPr>
        <p:spPr>
          <a:xfrm>
            <a:off x="4416552" y="3749039"/>
            <a:ext cx="3310128" cy="395630"/>
          </a:xfrm>
          <a:prstGeom prst="rect">
            <a:avLst/>
          </a:prstGeom>
          <a:noFill/>
        </p:spPr>
        <p:txBody>
          <a:bodyPr wrap="square" lIns="0" tIns="0" rIns="0" bIns="0" anchor="t">
            <a:spAutoFit/>
          </a:bodyPr>
          <a:lstStyle/>
          <a:p>
            <a:pPr algn="l">
              <a:spcAft>
                <a:spcPts val="0"/>
              </a:spcAft>
            </a:pPr>
            <a:r>
              <a:rPr sz="2200" b="1" dirty="0">
                <a:solidFill>
                  <a:srgbClr val="00A8AA"/>
                </a:solidFill>
                <a:latin typeface="Meiryo"/>
                <a:ea typeface="Meiryo"/>
                <a:cs typeface="Meiryo"/>
              </a:rPr>
              <a:t>目印に依存しない</a:t>
            </a:r>
          </a:p>
        </p:txBody>
      </p:sp>
      <p:sp>
        <p:nvSpPr>
          <p:cNvPr id="53" name="TextBox 52"/>
          <p:cNvSpPr txBox="1"/>
          <p:nvPr/>
        </p:nvSpPr>
        <p:spPr>
          <a:xfrm>
            <a:off x="8220455" y="1901952"/>
            <a:ext cx="3310128" cy="431596"/>
          </a:xfrm>
          <a:prstGeom prst="rect">
            <a:avLst/>
          </a:prstGeom>
          <a:noFill/>
        </p:spPr>
        <p:txBody>
          <a:bodyPr wrap="square" lIns="0" tIns="0" rIns="0" bIns="0" anchor="t">
            <a:spAutoFit/>
          </a:bodyPr>
          <a:lstStyle/>
          <a:p>
            <a:pPr algn="l">
              <a:spcAft>
                <a:spcPts val="0"/>
              </a:spcAft>
            </a:pPr>
            <a:r>
              <a:rPr sz="2400" b="1" dirty="0">
                <a:solidFill>
                  <a:srgbClr val="BF9000"/>
                </a:solidFill>
                <a:latin typeface="Meiryo"/>
                <a:ea typeface="Meiryo"/>
                <a:cs typeface="Meiryo"/>
              </a:rPr>
              <a:t>多点スタート</a:t>
            </a:r>
          </a:p>
        </p:txBody>
      </p:sp>
      <p:sp>
        <p:nvSpPr>
          <p:cNvPr id="54" name="TextBox 53"/>
          <p:cNvSpPr txBox="1"/>
          <p:nvPr/>
        </p:nvSpPr>
        <p:spPr>
          <a:xfrm>
            <a:off x="8220455" y="2450592"/>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多数の初期値から</a:t>
            </a:r>
          </a:p>
          <a:p>
            <a:pPr algn="l">
              <a:spcAft>
                <a:spcPts val="0"/>
              </a:spcAft>
            </a:pPr>
            <a:r>
              <a:rPr sz="2200" b="0" dirty="0">
                <a:solidFill>
                  <a:srgbClr val="262626"/>
                </a:solidFill>
                <a:latin typeface="Meiryo"/>
                <a:ea typeface="Meiryo"/>
                <a:cs typeface="Meiryo"/>
              </a:rPr>
              <a:t>当てはめて</a:t>
            </a:r>
          </a:p>
          <a:p>
            <a:pPr algn="l">
              <a:spcAft>
                <a:spcPts val="0"/>
              </a:spcAft>
            </a:pPr>
            <a:r>
              <a:rPr sz="2200" b="0" dirty="0">
                <a:solidFill>
                  <a:srgbClr val="262626"/>
                </a:solidFill>
                <a:latin typeface="Meiryo"/>
                <a:ea typeface="Meiryo"/>
                <a:cs typeface="Meiryo"/>
              </a:rPr>
              <a:t>最良を選ぶ</a:t>
            </a:r>
          </a:p>
        </p:txBody>
      </p:sp>
      <p:sp>
        <p:nvSpPr>
          <p:cNvPr id="55" name="TextBox 54"/>
          <p:cNvSpPr txBox="1"/>
          <p:nvPr/>
        </p:nvSpPr>
        <p:spPr>
          <a:xfrm>
            <a:off x="8220455" y="3749039"/>
            <a:ext cx="3310128"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初期値依存を回避</a:t>
            </a:r>
          </a:p>
        </p:txBody>
      </p:sp>
      <p:sp>
        <p:nvSpPr>
          <p:cNvPr id="56" name="Rounded Rectangle 55"/>
          <p:cNvSpPr/>
          <p:nvPr/>
        </p:nvSpPr>
        <p:spPr>
          <a:xfrm>
            <a:off x="502920" y="4663440"/>
            <a:ext cx="11201400" cy="15087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4864608"/>
            <a:ext cx="10835640" cy="1276807"/>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初期値と同じくらい効くのが 境界条件</a:t>
            </a:r>
          </a:p>
          <a:p>
            <a:pPr algn="ctr">
              <a:spcAft>
                <a:spcPts val="0"/>
              </a:spcAft>
            </a:pPr>
            <a:r>
              <a:rPr sz="2300" b="0" dirty="0">
                <a:solidFill>
                  <a:srgbClr val="262626"/>
                </a:solidFill>
                <a:latin typeface="Meiryo"/>
                <a:ea typeface="Meiryo"/>
                <a:cs typeface="Meiryo"/>
              </a:rPr>
              <a:t>a &gt; 0　／　μ₁ &lt; μ₂ &lt; …（順序を固定）　／　σ の上下限</a:t>
            </a:r>
          </a:p>
          <a:p>
            <a:pPr algn="ctr">
              <a:spcAft>
                <a:spcPts val="0"/>
              </a:spcAft>
            </a:pPr>
            <a:r>
              <a:rPr sz="2300" b="1" dirty="0">
                <a:solidFill>
                  <a:srgbClr val="C00000"/>
                </a:solidFill>
                <a:latin typeface="Meiryo"/>
                <a:ea typeface="Meiryo"/>
                <a:cs typeface="Meiryo"/>
              </a:rPr>
              <a:t>3 方式は併用できる ― 同じ解に集まるかが 検算になる</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当てはめの選び方</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
        <p:nvSpPr>
          <p:cNvPr id="44" name="Rounded Rectangle 43"/>
          <p:cNvSpPr/>
          <p:nvPr/>
        </p:nvSpPr>
        <p:spPr>
          <a:xfrm>
            <a:off x="502920" y="1737360"/>
            <a:ext cx="5532120" cy="260604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6153912" y="1737360"/>
            <a:ext cx="5532120" cy="260604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85800" y="1901952"/>
            <a:ext cx="5166359"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何を最小にするか</a:t>
            </a:r>
          </a:p>
        </p:txBody>
      </p:sp>
      <p:sp>
        <p:nvSpPr>
          <p:cNvPr id="47" name="TextBox 46"/>
          <p:cNvSpPr txBox="1"/>
          <p:nvPr/>
        </p:nvSpPr>
        <p:spPr>
          <a:xfrm>
            <a:off x="685800" y="2468880"/>
            <a:ext cx="5166359" cy="1582521"/>
          </a:xfrm>
          <a:prstGeom prst="rect">
            <a:avLst/>
          </a:prstGeom>
          <a:noFill/>
        </p:spPr>
        <p:txBody>
          <a:bodyPr wrap="square" lIns="0" tIns="0" rIns="0" bIns="0" anchor="t">
            <a:spAutoFit/>
          </a:bodyPr>
          <a:lstStyle/>
          <a:p>
            <a:pPr algn="l">
              <a:spcAft>
                <a:spcPts val="0"/>
              </a:spcAft>
            </a:pPr>
            <a:r>
              <a:rPr sz="2200" b="1" dirty="0">
                <a:solidFill>
                  <a:srgbClr val="262626"/>
                </a:solidFill>
                <a:latin typeface="Meiryo"/>
                <a:ea typeface="Meiryo"/>
                <a:cs typeface="Meiryo"/>
              </a:rPr>
              <a:t>残差平方和 RSS ← 標準</a:t>
            </a:r>
          </a:p>
          <a:p>
            <a:pPr algn="l">
              <a:spcAft>
                <a:spcPts val="0"/>
              </a:spcAft>
            </a:pPr>
            <a:r>
              <a:rPr sz="2200" b="0" dirty="0">
                <a:solidFill>
                  <a:srgbClr val="262626"/>
                </a:solidFill>
                <a:latin typeface="Meiryo"/>
                <a:ea typeface="Meiryo"/>
                <a:cs typeface="Meiryo"/>
              </a:rPr>
              <a:t>重み付き最小二乗 WLS</a:t>
            </a:r>
          </a:p>
          <a:p>
            <a:pPr algn="l">
              <a:spcAft>
                <a:spcPts val="0"/>
              </a:spcAft>
            </a:pPr>
            <a:r>
              <a:rPr sz="2200" b="0" dirty="0">
                <a:solidFill>
                  <a:srgbClr val="262626"/>
                </a:solidFill>
                <a:latin typeface="Meiryo"/>
                <a:ea typeface="Meiryo"/>
                <a:cs typeface="Meiryo"/>
              </a:rPr>
              <a:t>ロバスト損失</a:t>
            </a:r>
          </a:p>
          <a:p>
            <a:pPr algn="l">
              <a:spcAft>
                <a:spcPts val="0"/>
              </a:spcAft>
            </a:pPr>
            <a:r>
              <a:rPr sz="2200" b="0" dirty="0">
                <a:solidFill>
                  <a:srgbClr val="262626"/>
                </a:solidFill>
                <a:latin typeface="Meiryo"/>
                <a:ea typeface="Meiryo"/>
                <a:cs typeface="Meiryo"/>
              </a:rPr>
              <a:t>ベイズ・正則化</a:t>
            </a:r>
          </a:p>
        </p:txBody>
      </p:sp>
      <p:sp>
        <p:nvSpPr>
          <p:cNvPr id="48" name="TextBox 47"/>
          <p:cNvSpPr txBox="1"/>
          <p:nvPr/>
        </p:nvSpPr>
        <p:spPr>
          <a:xfrm>
            <a:off x="6336792" y="1901952"/>
            <a:ext cx="5166359" cy="431596"/>
          </a:xfrm>
          <a:prstGeom prst="rect">
            <a:avLst/>
          </a:prstGeom>
          <a:noFill/>
        </p:spPr>
        <p:txBody>
          <a:bodyPr wrap="square" lIns="0" tIns="0" rIns="0" bIns="0" anchor="t">
            <a:spAutoFit/>
          </a:bodyPr>
          <a:lstStyle/>
          <a:p>
            <a:pPr algn="l">
              <a:spcAft>
                <a:spcPts val="0"/>
              </a:spcAft>
            </a:pPr>
            <a:r>
              <a:rPr sz="2400" b="1" dirty="0">
                <a:solidFill>
                  <a:srgbClr val="00A8AA"/>
                </a:solidFill>
                <a:latin typeface="Meiryo"/>
                <a:ea typeface="Meiryo"/>
                <a:cs typeface="Meiryo"/>
              </a:rPr>
              <a:t>どう最小値を探すか</a:t>
            </a:r>
          </a:p>
        </p:txBody>
      </p:sp>
      <p:sp>
        <p:nvSpPr>
          <p:cNvPr id="49" name="TextBox 48"/>
          <p:cNvSpPr txBox="1"/>
          <p:nvPr/>
        </p:nvSpPr>
        <p:spPr>
          <a:xfrm>
            <a:off x="6336792" y="2468880"/>
            <a:ext cx="5166359" cy="1582521"/>
          </a:xfrm>
          <a:prstGeom prst="rect">
            <a:avLst/>
          </a:prstGeom>
          <a:noFill/>
        </p:spPr>
        <p:txBody>
          <a:bodyPr wrap="square" lIns="0" tIns="0" rIns="0" bIns="0" anchor="t">
            <a:spAutoFit/>
          </a:bodyPr>
          <a:lstStyle/>
          <a:p>
            <a:pPr algn="l">
              <a:spcAft>
                <a:spcPts val="0"/>
              </a:spcAft>
            </a:pPr>
            <a:r>
              <a:rPr sz="2200" b="1" dirty="0">
                <a:solidFill>
                  <a:srgbClr val="262626"/>
                </a:solidFill>
                <a:latin typeface="Meiryo"/>
                <a:ea typeface="Meiryo"/>
                <a:cs typeface="Meiryo"/>
              </a:rPr>
              <a:t>Levenberg–Marquardt 法 ← 標準</a:t>
            </a:r>
          </a:p>
          <a:p>
            <a:pPr algn="l">
              <a:spcAft>
                <a:spcPts val="0"/>
              </a:spcAft>
            </a:pPr>
            <a:r>
              <a:rPr sz="2200" b="0" dirty="0">
                <a:solidFill>
                  <a:srgbClr val="262626"/>
                </a:solidFill>
                <a:latin typeface="Meiryo"/>
                <a:ea typeface="Meiryo"/>
                <a:cs typeface="Meiryo"/>
              </a:rPr>
              <a:t>大域最適化（粒子群 ほか）</a:t>
            </a:r>
          </a:p>
          <a:p>
            <a:pPr algn="l">
              <a:spcAft>
                <a:spcPts val="0"/>
              </a:spcAft>
            </a:pPr>
            <a:r>
              <a:rPr sz="2200" b="0" dirty="0">
                <a:solidFill>
                  <a:srgbClr val="262626"/>
                </a:solidFill>
                <a:latin typeface="Meiryo"/>
                <a:ea typeface="Meiryo"/>
                <a:cs typeface="Meiryo"/>
              </a:rPr>
              <a:t>変数分離 VARPRO</a:t>
            </a:r>
          </a:p>
          <a:p>
            <a:pPr algn="l">
              <a:spcAft>
                <a:spcPts val="0"/>
              </a:spcAft>
            </a:pPr>
            <a:r>
              <a:rPr sz="2200" b="0" dirty="0">
                <a:solidFill>
                  <a:srgbClr val="262626"/>
                </a:solidFill>
                <a:latin typeface="Meiryo"/>
                <a:ea typeface="Meiryo"/>
                <a:cs typeface="Meiryo"/>
              </a:rPr>
              <a:t>逐次剥ぎ取り</a:t>
            </a:r>
          </a:p>
        </p:txBody>
      </p:sp>
      <p:sp>
        <p:nvSpPr>
          <p:cNvPr id="50" name="Rounded Rectangle 49"/>
          <p:cNvSpPr/>
          <p:nvPr/>
        </p:nvSpPr>
        <p:spPr>
          <a:xfrm>
            <a:off x="502920" y="4617720"/>
            <a:ext cx="11201400" cy="155448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5800" y="4828032"/>
            <a:ext cx="10835640" cy="1276807"/>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目的関数は ほぼ全文献が 残差平方和</a:t>
            </a:r>
          </a:p>
          <a:p>
            <a:pPr algn="ctr">
              <a:spcAft>
                <a:spcPts val="0"/>
              </a:spcAft>
            </a:pPr>
            <a:r>
              <a:rPr sz="2300" b="0" dirty="0">
                <a:solidFill>
                  <a:srgbClr val="262626"/>
                </a:solidFill>
                <a:latin typeface="Meiryo"/>
                <a:ea typeface="Meiryo"/>
                <a:cs typeface="Meiryo"/>
              </a:rPr>
              <a:t>論文ごとに違うのは 重み付けと 探索アルゴリズム</a:t>
            </a:r>
          </a:p>
          <a:p>
            <a:pPr algn="ctr">
              <a:spcAft>
                <a:spcPts val="0"/>
              </a:spcAft>
            </a:pPr>
            <a:r>
              <a:rPr sz="2300" b="0" dirty="0">
                <a:solidFill>
                  <a:srgbClr val="595959"/>
                </a:solidFill>
                <a:latin typeface="Meiryo"/>
                <a:ea typeface="Meiryo"/>
                <a:cs typeface="Meiryo"/>
              </a:rPr>
              <a:t>残差平方和 ＝ ノイズが独立・正規なら 最尤推定と一致する</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当てはめの選び方</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
        <p:nvSpPr>
          <p:cNvPr id="44" name="Rounded Rectangle 43"/>
          <p:cNvSpPr/>
          <p:nvPr/>
        </p:nvSpPr>
        <p:spPr>
          <a:xfrm>
            <a:off x="502920" y="1691640"/>
            <a:ext cx="5532120" cy="731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5800" y="1837943"/>
            <a:ext cx="5166360" cy="431596"/>
          </a:xfrm>
          <a:prstGeom prst="rect">
            <a:avLst/>
          </a:prstGeom>
          <a:noFill/>
        </p:spPr>
        <p:txBody>
          <a:bodyPr wrap="square" lIns="0" tIns="0" rIns="0" bIns="0" anchor="t">
            <a:spAutoFit/>
          </a:bodyPr>
          <a:lstStyle/>
          <a:p>
            <a:pPr algn="ctr">
              <a:spcAft>
                <a:spcPts val="0"/>
              </a:spcAft>
            </a:pPr>
            <a:r>
              <a:rPr sz="2400" b="1" dirty="0">
                <a:solidFill>
                  <a:srgbClr val="0072B2"/>
                </a:solidFill>
                <a:latin typeface="Meiryo"/>
                <a:ea typeface="Meiryo"/>
                <a:cs typeface="Meiryo"/>
              </a:rPr>
              <a:t>目的関数 ＝ 地形の形を決める</a:t>
            </a:r>
          </a:p>
        </p:txBody>
      </p:sp>
      <p:sp>
        <p:nvSpPr>
          <p:cNvPr id="46" name="Rounded Rectangle 45"/>
          <p:cNvSpPr/>
          <p:nvPr/>
        </p:nvSpPr>
        <p:spPr>
          <a:xfrm>
            <a:off x="6153912" y="1691640"/>
            <a:ext cx="5532120" cy="731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336792" y="1837943"/>
            <a:ext cx="5166360" cy="431596"/>
          </a:xfrm>
          <a:prstGeom prst="rect">
            <a:avLst/>
          </a:prstGeom>
          <a:noFill/>
        </p:spPr>
        <p:txBody>
          <a:bodyPr wrap="square" lIns="0" tIns="0" rIns="0" bIns="0" anchor="t">
            <a:spAutoFit/>
          </a:bodyPr>
          <a:lstStyle/>
          <a:p>
            <a:pPr algn="ctr">
              <a:spcAft>
                <a:spcPts val="0"/>
              </a:spcAft>
            </a:pPr>
            <a:r>
              <a:rPr sz="2400" b="1" dirty="0">
                <a:solidFill>
                  <a:srgbClr val="00A8AA"/>
                </a:solidFill>
                <a:latin typeface="Meiryo"/>
                <a:ea typeface="Meiryo"/>
                <a:cs typeface="Meiryo"/>
              </a:rPr>
              <a:t>探索法 ＝ 地形の下り方を決める</a:t>
            </a:r>
          </a:p>
        </p:txBody>
      </p:sp>
      <p:sp>
        <p:nvSpPr>
          <p:cNvPr id="3" name="Freeform 2"/>
          <p:cNvSpPr/>
          <p:nvPr/>
        </p:nvSpPr>
        <p:spPr>
          <a:xfrm>
            <a:off x="1188720" y="3109089"/>
            <a:ext cx="10149840" cy="1997835"/>
          </a:xfrm>
          <a:custGeom>
            <a:avLst/>
            <a:gdLst/>
            <a:ahLst/>
            <a:cxnLst/>
            <a:rect l="l" t="t" r="r" b="b"/>
            <a:pathLst>
              <a:path w="10149840" h="1997835">
                <a:moveTo>
                  <a:pt x="0" y="0"/>
                </a:moveTo>
                <a:lnTo>
                  <a:pt x="50749" y="45"/>
                </a:lnTo>
                <a:lnTo>
                  <a:pt x="101498" y="105"/>
                </a:lnTo>
                <a:lnTo>
                  <a:pt x="152247" y="183"/>
                </a:lnTo>
                <a:lnTo>
                  <a:pt x="202996" y="284"/>
                </a:lnTo>
                <a:lnTo>
                  <a:pt x="253746" y="417"/>
                </a:lnTo>
                <a:lnTo>
                  <a:pt x="304495" y="588"/>
                </a:lnTo>
                <a:lnTo>
                  <a:pt x="355244" y="808"/>
                </a:lnTo>
                <a:lnTo>
                  <a:pt x="405993" y="1089"/>
                </a:lnTo>
                <a:lnTo>
                  <a:pt x="456742" y="1448"/>
                </a:lnTo>
                <a:lnTo>
                  <a:pt x="507492" y="1900"/>
                </a:lnTo>
                <a:lnTo>
                  <a:pt x="558241" y="2471"/>
                </a:lnTo>
                <a:lnTo>
                  <a:pt x="608990" y="3184"/>
                </a:lnTo>
                <a:lnTo>
                  <a:pt x="659739" y="4072"/>
                </a:lnTo>
                <a:lnTo>
                  <a:pt x="710488" y="5172"/>
                </a:lnTo>
                <a:lnTo>
                  <a:pt x="761237" y="6527"/>
                </a:lnTo>
                <a:lnTo>
                  <a:pt x="811987" y="8185"/>
                </a:lnTo>
                <a:lnTo>
                  <a:pt x="862736" y="10205"/>
                </a:lnTo>
                <a:lnTo>
                  <a:pt x="913485" y="12652"/>
                </a:lnTo>
                <a:lnTo>
                  <a:pt x="964234" y="15600"/>
                </a:lnTo>
                <a:lnTo>
                  <a:pt x="1014984" y="19130"/>
                </a:lnTo>
                <a:lnTo>
                  <a:pt x="1065733" y="23336"/>
                </a:lnTo>
                <a:lnTo>
                  <a:pt x="1116482" y="28317"/>
                </a:lnTo>
                <a:lnTo>
                  <a:pt x="1167231" y="34184"/>
                </a:lnTo>
                <a:lnTo>
                  <a:pt x="1217980" y="41054"/>
                </a:lnTo>
                <a:lnTo>
                  <a:pt x="1268730" y="49053"/>
                </a:lnTo>
                <a:lnTo>
                  <a:pt x="1319479" y="58312"/>
                </a:lnTo>
                <a:lnTo>
                  <a:pt x="1370228" y="68969"/>
                </a:lnTo>
                <a:lnTo>
                  <a:pt x="1420977" y="81161"/>
                </a:lnTo>
                <a:lnTo>
                  <a:pt x="1471726" y="95028"/>
                </a:lnTo>
                <a:lnTo>
                  <a:pt x="1522476" y="110704"/>
                </a:lnTo>
                <a:lnTo>
                  <a:pt x="1573225" y="128319"/>
                </a:lnTo>
                <a:lnTo>
                  <a:pt x="1623974" y="147992"/>
                </a:lnTo>
                <a:lnTo>
                  <a:pt x="1674723" y="169825"/>
                </a:lnTo>
                <a:lnTo>
                  <a:pt x="1725472" y="193904"/>
                </a:lnTo>
                <a:lnTo>
                  <a:pt x="1776221" y="220289"/>
                </a:lnTo>
                <a:lnTo>
                  <a:pt x="1826971" y="249014"/>
                </a:lnTo>
                <a:lnTo>
                  <a:pt x="1877720" y="280078"/>
                </a:lnTo>
                <a:lnTo>
                  <a:pt x="1928469" y="313443"/>
                </a:lnTo>
                <a:lnTo>
                  <a:pt x="1979218" y="349030"/>
                </a:lnTo>
                <a:lnTo>
                  <a:pt x="2029968" y="386718"/>
                </a:lnTo>
                <a:lnTo>
                  <a:pt x="2080717" y="426335"/>
                </a:lnTo>
                <a:lnTo>
                  <a:pt x="2131466" y="467665"/>
                </a:lnTo>
                <a:lnTo>
                  <a:pt x="2182215" y="510442"/>
                </a:lnTo>
                <a:lnTo>
                  <a:pt x="2232964" y="554350"/>
                </a:lnTo>
                <a:lnTo>
                  <a:pt x="2283714" y="599031"/>
                </a:lnTo>
                <a:lnTo>
                  <a:pt x="2334463" y="644084"/>
                </a:lnTo>
                <a:lnTo>
                  <a:pt x="2385212" y="689070"/>
                </a:lnTo>
                <a:lnTo>
                  <a:pt x="2435961" y="733519"/>
                </a:lnTo>
                <a:lnTo>
                  <a:pt x="2486710" y="776940"/>
                </a:lnTo>
                <a:lnTo>
                  <a:pt x="2537460" y="818826"/>
                </a:lnTo>
                <a:lnTo>
                  <a:pt x="2588209" y="858665"/>
                </a:lnTo>
                <a:lnTo>
                  <a:pt x="2638958" y="895951"/>
                </a:lnTo>
                <a:lnTo>
                  <a:pt x="2689707" y="930192"/>
                </a:lnTo>
                <a:lnTo>
                  <a:pt x="2740456" y="960924"/>
                </a:lnTo>
                <a:lnTo>
                  <a:pt x="2791206" y="987720"/>
                </a:lnTo>
                <a:lnTo>
                  <a:pt x="2841955" y="1010198"/>
                </a:lnTo>
                <a:lnTo>
                  <a:pt x="2892704" y="1028035"/>
                </a:lnTo>
                <a:lnTo>
                  <a:pt x="2943453" y="1040967"/>
                </a:lnTo>
                <a:lnTo>
                  <a:pt x="2994202" y="1048805"/>
                </a:lnTo>
                <a:lnTo>
                  <a:pt x="3044952" y="1051431"/>
                </a:lnTo>
                <a:lnTo>
                  <a:pt x="3095701" y="1048805"/>
                </a:lnTo>
                <a:lnTo>
                  <a:pt x="3146450" y="1040967"/>
                </a:lnTo>
                <a:lnTo>
                  <a:pt x="3197199" y="1028035"/>
                </a:lnTo>
                <a:lnTo>
                  <a:pt x="3247948" y="1010198"/>
                </a:lnTo>
                <a:lnTo>
                  <a:pt x="3298698" y="987720"/>
                </a:lnTo>
                <a:lnTo>
                  <a:pt x="3349447" y="960924"/>
                </a:lnTo>
                <a:lnTo>
                  <a:pt x="3400196" y="930192"/>
                </a:lnTo>
                <a:lnTo>
                  <a:pt x="3450945" y="895951"/>
                </a:lnTo>
                <a:lnTo>
                  <a:pt x="3501694" y="858665"/>
                </a:lnTo>
                <a:lnTo>
                  <a:pt x="3552444" y="818826"/>
                </a:lnTo>
                <a:lnTo>
                  <a:pt x="3603193" y="776940"/>
                </a:lnTo>
                <a:lnTo>
                  <a:pt x="3653942" y="733519"/>
                </a:lnTo>
                <a:lnTo>
                  <a:pt x="3704691" y="689070"/>
                </a:lnTo>
                <a:lnTo>
                  <a:pt x="3755440" y="644084"/>
                </a:lnTo>
                <a:lnTo>
                  <a:pt x="3806189" y="599031"/>
                </a:lnTo>
                <a:lnTo>
                  <a:pt x="3856939" y="554350"/>
                </a:lnTo>
                <a:lnTo>
                  <a:pt x="3907688" y="510442"/>
                </a:lnTo>
                <a:lnTo>
                  <a:pt x="3958437" y="467666"/>
                </a:lnTo>
                <a:lnTo>
                  <a:pt x="4009186" y="426336"/>
                </a:lnTo>
                <a:lnTo>
                  <a:pt x="4059936" y="386718"/>
                </a:lnTo>
                <a:lnTo>
                  <a:pt x="4110685" y="349031"/>
                </a:lnTo>
                <a:lnTo>
                  <a:pt x="4161434" y="313444"/>
                </a:lnTo>
                <a:lnTo>
                  <a:pt x="4212183" y="280080"/>
                </a:lnTo>
                <a:lnTo>
                  <a:pt x="4262932" y="249017"/>
                </a:lnTo>
                <a:lnTo>
                  <a:pt x="4313681" y="220294"/>
                </a:lnTo>
                <a:lnTo>
                  <a:pt x="4364431" y="193910"/>
                </a:lnTo>
                <a:lnTo>
                  <a:pt x="4415180" y="169834"/>
                </a:lnTo>
                <a:lnTo>
                  <a:pt x="4465929" y="148006"/>
                </a:lnTo>
                <a:lnTo>
                  <a:pt x="4516678" y="128340"/>
                </a:lnTo>
                <a:lnTo>
                  <a:pt x="4567428" y="110734"/>
                </a:lnTo>
                <a:lnTo>
                  <a:pt x="4618177" y="95071"/>
                </a:lnTo>
                <a:lnTo>
                  <a:pt x="4668926" y="81223"/>
                </a:lnTo>
                <a:lnTo>
                  <a:pt x="4719675" y="69057"/>
                </a:lnTo>
                <a:lnTo>
                  <a:pt x="4770424" y="58437"/>
                </a:lnTo>
                <a:lnTo>
                  <a:pt x="4821174" y="49229"/>
                </a:lnTo>
                <a:lnTo>
                  <a:pt x="4871923" y="41300"/>
                </a:lnTo>
                <a:lnTo>
                  <a:pt x="4922672" y="34527"/>
                </a:lnTo>
                <a:lnTo>
                  <a:pt x="4973421" y="28791"/>
                </a:lnTo>
                <a:lnTo>
                  <a:pt x="5024170" y="23988"/>
                </a:lnTo>
                <a:lnTo>
                  <a:pt x="5074920" y="20021"/>
                </a:lnTo>
                <a:lnTo>
                  <a:pt x="5125669" y="16808"/>
                </a:lnTo>
                <a:lnTo>
                  <a:pt x="5176418" y="14283"/>
                </a:lnTo>
                <a:lnTo>
                  <a:pt x="5227167" y="12391"/>
                </a:lnTo>
                <a:lnTo>
                  <a:pt x="5277916" y="11098"/>
                </a:lnTo>
                <a:lnTo>
                  <a:pt x="5328666" y="10384"/>
                </a:lnTo>
                <a:lnTo>
                  <a:pt x="5379415" y="10248"/>
                </a:lnTo>
                <a:lnTo>
                  <a:pt x="5430164" y="10712"/>
                </a:lnTo>
                <a:lnTo>
                  <a:pt x="5480913" y="11816"/>
                </a:lnTo>
                <a:lnTo>
                  <a:pt x="5531662" y="13622"/>
                </a:lnTo>
                <a:lnTo>
                  <a:pt x="5582412" y="16220"/>
                </a:lnTo>
                <a:lnTo>
                  <a:pt x="5633161" y="19721"/>
                </a:lnTo>
                <a:lnTo>
                  <a:pt x="5683910" y="24265"/>
                </a:lnTo>
                <a:lnTo>
                  <a:pt x="5734659" y="30020"/>
                </a:lnTo>
                <a:lnTo>
                  <a:pt x="5785408" y="37182"/>
                </a:lnTo>
                <a:lnTo>
                  <a:pt x="5836157" y="45976"/>
                </a:lnTo>
                <a:lnTo>
                  <a:pt x="5886907" y="56657"/>
                </a:lnTo>
                <a:lnTo>
                  <a:pt x="5937656" y="69505"/>
                </a:lnTo>
                <a:lnTo>
                  <a:pt x="5988405" y="84828"/>
                </a:lnTo>
                <a:lnTo>
                  <a:pt x="6039154" y="102953"/>
                </a:lnTo>
                <a:lnTo>
                  <a:pt x="6089903" y="124227"/>
                </a:lnTo>
                <a:lnTo>
                  <a:pt x="6140653" y="149005"/>
                </a:lnTo>
                <a:lnTo>
                  <a:pt x="6191402" y="177647"/>
                </a:lnTo>
                <a:lnTo>
                  <a:pt x="6242151" y="210506"/>
                </a:lnTo>
                <a:lnTo>
                  <a:pt x="6292900" y="247917"/>
                </a:lnTo>
                <a:lnTo>
                  <a:pt x="6343650" y="290185"/>
                </a:lnTo>
                <a:lnTo>
                  <a:pt x="6394399" y="337573"/>
                </a:lnTo>
                <a:lnTo>
                  <a:pt x="6445148" y="390283"/>
                </a:lnTo>
                <a:lnTo>
                  <a:pt x="6495897" y="448447"/>
                </a:lnTo>
                <a:lnTo>
                  <a:pt x="6546646" y="512107"/>
                </a:lnTo>
                <a:lnTo>
                  <a:pt x="6597396" y="581204"/>
                </a:lnTo>
                <a:lnTo>
                  <a:pt x="6648145" y="655563"/>
                </a:lnTo>
                <a:lnTo>
                  <a:pt x="6698894" y="734883"/>
                </a:lnTo>
                <a:lnTo>
                  <a:pt x="6749643" y="818729"/>
                </a:lnTo>
                <a:lnTo>
                  <a:pt x="6800392" y="906525"/>
                </a:lnTo>
                <a:lnTo>
                  <a:pt x="6851142" y="997558"/>
                </a:lnTo>
                <a:lnTo>
                  <a:pt x="6901891" y="1090975"/>
                </a:lnTo>
                <a:lnTo>
                  <a:pt x="6952640" y="1185797"/>
                </a:lnTo>
                <a:lnTo>
                  <a:pt x="7003389" y="1280926"/>
                </a:lnTo>
                <a:lnTo>
                  <a:pt x="7054138" y="1375171"/>
                </a:lnTo>
                <a:lnTo>
                  <a:pt x="7104888" y="1467263"/>
                </a:lnTo>
                <a:lnTo>
                  <a:pt x="7155637" y="1555887"/>
                </a:lnTo>
                <a:lnTo>
                  <a:pt x="7206386" y="1639709"/>
                </a:lnTo>
                <a:lnTo>
                  <a:pt x="7257135" y="1717412"/>
                </a:lnTo>
                <a:lnTo>
                  <a:pt x="7307884" y="1787727"/>
                </a:lnTo>
                <a:lnTo>
                  <a:pt x="7358634" y="1849468"/>
                </a:lnTo>
                <a:lnTo>
                  <a:pt x="7409383" y="1901566"/>
                </a:lnTo>
                <a:lnTo>
                  <a:pt x="7460132" y="1943099"/>
                </a:lnTo>
                <a:lnTo>
                  <a:pt x="7510881" y="1973320"/>
                </a:lnTo>
                <a:lnTo>
                  <a:pt x="7561630" y="1991677"/>
                </a:lnTo>
                <a:lnTo>
                  <a:pt x="7612380" y="1997835"/>
                </a:lnTo>
                <a:lnTo>
                  <a:pt x="7663129" y="1991677"/>
                </a:lnTo>
                <a:lnTo>
                  <a:pt x="7713878" y="1973320"/>
                </a:lnTo>
                <a:lnTo>
                  <a:pt x="7764627" y="1943099"/>
                </a:lnTo>
                <a:lnTo>
                  <a:pt x="7815376" y="1901566"/>
                </a:lnTo>
                <a:lnTo>
                  <a:pt x="7866126" y="1849468"/>
                </a:lnTo>
                <a:lnTo>
                  <a:pt x="7916875" y="1787727"/>
                </a:lnTo>
                <a:lnTo>
                  <a:pt x="7967624" y="1717412"/>
                </a:lnTo>
                <a:lnTo>
                  <a:pt x="8018373" y="1639709"/>
                </a:lnTo>
                <a:lnTo>
                  <a:pt x="8069122" y="1555886"/>
                </a:lnTo>
                <a:lnTo>
                  <a:pt x="8119872" y="1467263"/>
                </a:lnTo>
                <a:lnTo>
                  <a:pt x="8170621" y="1375170"/>
                </a:lnTo>
                <a:lnTo>
                  <a:pt x="8221370" y="1280926"/>
                </a:lnTo>
                <a:lnTo>
                  <a:pt x="8272119" y="1185796"/>
                </a:lnTo>
                <a:lnTo>
                  <a:pt x="8322868" y="1090975"/>
                </a:lnTo>
                <a:lnTo>
                  <a:pt x="8373618" y="997557"/>
                </a:lnTo>
                <a:lnTo>
                  <a:pt x="8424367" y="906524"/>
                </a:lnTo>
                <a:lnTo>
                  <a:pt x="8475116" y="818727"/>
                </a:lnTo>
                <a:lnTo>
                  <a:pt x="8525865" y="734880"/>
                </a:lnTo>
                <a:lnTo>
                  <a:pt x="8576614" y="655559"/>
                </a:lnTo>
                <a:lnTo>
                  <a:pt x="8627364" y="581199"/>
                </a:lnTo>
                <a:lnTo>
                  <a:pt x="8678113" y="512100"/>
                </a:lnTo>
                <a:lnTo>
                  <a:pt x="8728862" y="448437"/>
                </a:lnTo>
                <a:lnTo>
                  <a:pt x="8779611" y="390269"/>
                </a:lnTo>
                <a:lnTo>
                  <a:pt x="8830360" y="337553"/>
                </a:lnTo>
                <a:lnTo>
                  <a:pt x="8881110" y="290158"/>
                </a:lnTo>
                <a:lnTo>
                  <a:pt x="8931859" y="247879"/>
                </a:lnTo>
                <a:lnTo>
                  <a:pt x="8982608" y="210454"/>
                </a:lnTo>
                <a:lnTo>
                  <a:pt x="9033357" y="177577"/>
                </a:lnTo>
                <a:lnTo>
                  <a:pt x="9084106" y="148909"/>
                </a:lnTo>
                <a:lnTo>
                  <a:pt x="9134856" y="124097"/>
                </a:lnTo>
                <a:lnTo>
                  <a:pt x="9185605" y="102778"/>
                </a:lnTo>
                <a:lnTo>
                  <a:pt x="9236354" y="84594"/>
                </a:lnTo>
                <a:lnTo>
                  <a:pt x="9287103" y="69193"/>
                </a:lnTo>
                <a:lnTo>
                  <a:pt x="9337852" y="56243"/>
                </a:lnTo>
                <a:lnTo>
                  <a:pt x="9388602" y="45430"/>
                </a:lnTo>
                <a:lnTo>
                  <a:pt x="9439351" y="36464"/>
                </a:lnTo>
                <a:lnTo>
                  <a:pt x="9490100" y="29082"/>
                </a:lnTo>
                <a:lnTo>
                  <a:pt x="9540849" y="23046"/>
                </a:lnTo>
                <a:lnTo>
                  <a:pt x="9591598" y="18144"/>
                </a:lnTo>
                <a:lnTo>
                  <a:pt x="9642348" y="14190"/>
                </a:lnTo>
                <a:lnTo>
                  <a:pt x="9693097" y="11022"/>
                </a:lnTo>
                <a:lnTo>
                  <a:pt x="9743846" y="8502"/>
                </a:lnTo>
                <a:lnTo>
                  <a:pt x="9794595" y="6510"/>
                </a:lnTo>
                <a:lnTo>
                  <a:pt x="9845344" y="4947"/>
                </a:lnTo>
                <a:lnTo>
                  <a:pt x="9896094" y="3727"/>
                </a:lnTo>
                <a:lnTo>
                  <a:pt x="9946843" y="2783"/>
                </a:lnTo>
                <a:lnTo>
                  <a:pt x="9997592" y="2056"/>
                </a:lnTo>
                <a:lnTo>
                  <a:pt x="10048341" y="1501"/>
                </a:lnTo>
                <a:lnTo>
                  <a:pt x="10099090" y="1079"/>
                </a:lnTo>
                <a:lnTo>
                  <a:pt x="10149840" y="761"/>
                </a:lnTo>
              </a:path>
            </a:pathLst>
          </a:custGeom>
          <a:noFill/>
          <a:ln w="381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3035808"/>
            <a:ext cx="640080" cy="395630"/>
          </a:xfrm>
          <a:prstGeom prst="rect">
            <a:avLst/>
          </a:prstGeom>
          <a:noFill/>
        </p:spPr>
        <p:txBody>
          <a:bodyPr wrap="square" lIns="0" tIns="0" rIns="0" bIns="0" anchor="t">
            <a:spAutoFit/>
          </a:bodyPr>
          <a:lstStyle/>
          <a:p>
            <a:pPr algn="l">
              <a:spcAft>
                <a:spcPts val="0"/>
              </a:spcAft>
            </a:pPr>
            <a:r>
              <a:rPr sz="2200" b="1" dirty="0">
                <a:solidFill>
                  <a:srgbClr val="595959"/>
                </a:solidFill>
                <a:latin typeface="Meiryo"/>
                <a:ea typeface="Meiryo"/>
                <a:cs typeface="Meiryo"/>
              </a:rPr>
              <a:t>残差</a:t>
            </a:r>
          </a:p>
        </p:txBody>
      </p:sp>
      <p:cxnSp>
        <p:nvCxnSpPr>
          <p:cNvPr id="49" name="Connector 48"/>
          <p:cNvCxnSpPr/>
          <p:nvPr/>
        </p:nvCxnSpPr>
        <p:spPr>
          <a:xfrm>
            <a:off x="2103120" y="2999232"/>
            <a:ext cx="1938528" cy="987552"/>
          </a:xfrm>
          <a:prstGeom prst="line">
            <a:avLst/>
          </a:prstGeom>
          <a:ln w="317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015984" y="2999232"/>
            <a:ext cx="1865376" cy="1938528"/>
          </a:xfrm>
          <a:prstGeom prst="line">
            <a:avLst/>
          </a:prstGeom>
          <a:ln w="317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188720" y="2560320"/>
            <a:ext cx="1828800" cy="395630"/>
          </a:xfrm>
          <a:prstGeom prst="rect">
            <a:avLst/>
          </a:prstGeom>
          <a:noFill/>
        </p:spPr>
        <p:txBody>
          <a:bodyPr wrap="square" lIns="0" tIns="0" rIns="0" bIns="0" anchor="t">
            <a:spAutoFit/>
          </a:bodyPr>
          <a:lstStyle/>
          <a:p>
            <a:pPr algn="ctr">
              <a:spcAft>
                <a:spcPts val="0"/>
              </a:spcAft>
            </a:pPr>
            <a:r>
              <a:rPr sz="2200" b="1" dirty="0">
                <a:solidFill>
                  <a:srgbClr val="C00000"/>
                </a:solidFill>
                <a:latin typeface="Meiryo"/>
                <a:ea typeface="Meiryo"/>
                <a:cs typeface="Meiryo"/>
              </a:rPr>
              <a:t>初期値 ①</a:t>
            </a:r>
          </a:p>
        </p:txBody>
      </p:sp>
      <p:sp>
        <p:nvSpPr>
          <p:cNvPr id="52" name="TextBox 51"/>
          <p:cNvSpPr txBox="1"/>
          <p:nvPr/>
        </p:nvSpPr>
        <p:spPr>
          <a:xfrm>
            <a:off x="9857232" y="2560320"/>
            <a:ext cx="1828800" cy="395630"/>
          </a:xfrm>
          <a:prstGeom prst="rect">
            <a:avLst/>
          </a:prstGeom>
          <a:noFill/>
        </p:spPr>
        <p:txBody>
          <a:bodyPr wrap="square" lIns="0" tIns="0" rIns="0" bIns="0" anchor="t">
            <a:spAutoFit/>
          </a:bodyPr>
          <a:lstStyle/>
          <a:p>
            <a:pPr algn="ctr">
              <a:spcAft>
                <a:spcPts val="0"/>
              </a:spcAft>
            </a:pPr>
            <a:r>
              <a:rPr sz="2200" b="1" dirty="0">
                <a:solidFill>
                  <a:srgbClr val="0072B2"/>
                </a:solidFill>
                <a:latin typeface="Meiryo"/>
                <a:ea typeface="Meiryo"/>
                <a:cs typeface="Meiryo"/>
              </a:rPr>
              <a:t>初期値 ②</a:t>
            </a:r>
          </a:p>
        </p:txBody>
      </p:sp>
      <p:sp>
        <p:nvSpPr>
          <p:cNvPr id="53" name="TextBox 52"/>
          <p:cNvSpPr txBox="1"/>
          <p:nvPr/>
        </p:nvSpPr>
        <p:spPr>
          <a:xfrm>
            <a:off x="2404872" y="5349240"/>
            <a:ext cx="3657600" cy="395630"/>
          </a:xfrm>
          <a:prstGeom prst="rect">
            <a:avLst/>
          </a:prstGeom>
          <a:noFill/>
        </p:spPr>
        <p:txBody>
          <a:bodyPr wrap="square" lIns="0" tIns="0" rIns="0" bIns="0" anchor="t">
            <a:spAutoFit/>
          </a:bodyPr>
          <a:lstStyle/>
          <a:p>
            <a:pPr algn="ctr">
              <a:spcAft>
                <a:spcPts val="0"/>
              </a:spcAft>
            </a:pPr>
            <a:r>
              <a:rPr sz="2200" b="1" dirty="0">
                <a:solidFill>
                  <a:srgbClr val="C00000"/>
                </a:solidFill>
                <a:latin typeface="Meiryo"/>
                <a:ea typeface="Meiryo"/>
                <a:cs typeface="Meiryo"/>
              </a:rPr>
              <a:t>局所解 ― ここで止まる</a:t>
            </a:r>
          </a:p>
        </p:txBody>
      </p:sp>
      <p:sp>
        <p:nvSpPr>
          <p:cNvPr id="54" name="TextBox 53"/>
          <p:cNvSpPr txBox="1"/>
          <p:nvPr/>
        </p:nvSpPr>
        <p:spPr>
          <a:xfrm>
            <a:off x="6976872" y="5349240"/>
            <a:ext cx="3657600" cy="395630"/>
          </a:xfrm>
          <a:prstGeom prst="rect">
            <a:avLst/>
          </a:prstGeom>
          <a:noFill/>
        </p:spPr>
        <p:txBody>
          <a:bodyPr wrap="square" lIns="0" tIns="0" rIns="0" bIns="0" anchor="t">
            <a:spAutoFit/>
          </a:bodyPr>
          <a:lstStyle/>
          <a:p>
            <a:pPr algn="ctr">
              <a:spcAft>
                <a:spcPts val="0"/>
              </a:spcAft>
            </a:pPr>
            <a:r>
              <a:rPr sz="2200" b="1" dirty="0">
                <a:solidFill>
                  <a:srgbClr val="0072B2"/>
                </a:solidFill>
                <a:latin typeface="Meiryo"/>
                <a:ea typeface="Meiryo"/>
                <a:cs typeface="Meiryo"/>
              </a:rPr>
              <a:t>大域解 ― 残差が最小</a:t>
            </a:r>
          </a:p>
        </p:txBody>
      </p:sp>
      <p:sp>
        <p:nvSpPr>
          <p:cNvPr id="55" name="TextBox 54"/>
          <p:cNvSpPr txBox="1"/>
          <p:nvPr/>
        </p:nvSpPr>
        <p:spPr>
          <a:xfrm>
            <a:off x="685800" y="594360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同じ地形でも 初期値が違えば 別の谷に落ちる</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55/72</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張り付き ＝ モデルが窮屈な証拠</a:t>
            </a: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5.4  得られる指標</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　／　42. Couceiro 2015　／　45. Couceiro 2012</a:t>
            </a:r>
          </a:p>
        </p:txBody>
      </p:sp>
      <p:sp>
        <p:nvSpPr>
          <p:cNvPr id="3" name="Freeform 2"/>
          <p:cNvSpPr/>
          <p:nvPr/>
        </p:nvSpPr>
        <p:spPr>
          <a:xfrm>
            <a:off x="1077282" y="251230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1077282" y="326649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1077282" y="392736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47130" y="2555760"/>
            <a:ext cx="0" cy="1371600"/>
          </a:xfrm>
          <a:prstGeom prst="line">
            <a:avLst/>
          </a:prstGeom>
          <a:ln w="15875">
            <a:solidFill>
              <a:srgbClr val="0072B2"/>
            </a:solidFill>
            <a:prstDash val="sys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747330" y="3067824"/>
            <a:ext cx="0" cy="859536"/>
          </a:xfrm>
          <a:prstGeom prst="line">
            <a:avLst/>
          </a:prstGeom>
          <a:ln w="15875">
            <a:solidFill>
              <a:srgbClr val="D55E00"/>
            </a:solidFill>
            <a:prstDash val="sys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945962" y="4000512"/>
            <a:ext cx="1828800" cy="384048"/>
          </a:xfrm>
          <a:prstGeom prst="rect">
            <a:avLst/>
          </a:prstGeom>
          <a:noFill/>
        </p:spPr>
        <p:txBody>
          <a:bodyPr wrap="square" lIns="0" tIns="0" rIns="0" bIns="0" anchor="t">
            <a:spAutoFit/>
          </a:bodyPr>
          <a:lstStyle/>
          <a:p>
            <a:pPr algn="l"/>
            <a:r>
              <a:rPr sz="2300" b="1">
                <a:solidFill>
                  <a:srgbClr val="0072B2"/>
                </a:solidFill>
                <a:latin typeface="Meiryo"/>
                <a:ea typeface="Meiryo"/>
                <a:cs typeface="Meiryo"/>
              </a:rPr>
              <a:t>μ₁</a:t>
            </a:r>
          </a:p>
        </p:txBody>
      </p:sp>
      <p:sp>
        <p:nvSpPr>
          <p:cNvPr id="35" name="TextBox 34"/>
          <p:cNvSpPr txBox="1"/>
          <p:nvPr/>
        </p:nvSpPr>
        <p:spPr>
          <a:xfrm>
            <a:off x="3546162" y="4000512"/>
            <a:ext cx="1828800" cy="384048"/>
          </a:xfrm>
          <a:prstGeom prst="rect">
            <a:avLst/>
          </a:prstGeom>
          <a:noFill/>
        </p:spPr>
        <p:txBody>
          <a:bodyPr wrap="square" lIns="0" tIns="0" rIns="0" bIns="0" anchor="t">
            <a:spAutoFit/>
          </a:bodyPr>
          <a:lstStyle/>
          <a:p>
            <a:pPr algn="l"/>
            <a:r>
              <a:rPr sz="2300" b="1">
                <a:solidFill>
                  <a:srgbClr val="D55E00"/>
                </a:solidFill>
                <a:latin typeface="Meiryo"/>
                <a:ea typeface="Meiryo"/>
                <a:cs typeface="Meiryo"/>
              </a:rPr>
              <a:t>μ₂</a:t>
            </a:r>
          </a:p>
        </p:txBody>
      </p:sp>
      <p:sp>
        <p:nvSpPr>
          <p:cNvPr id="36" name="TextBox 35"/>
          <p:cNvSpPr txBox="1"/>
          <p:nvPr/>
        </p:nvSpPr>
        <p:spPr>
          <a:xfrm>
            <a:off x="1077282" y="4503432"/>
            <a:ext cx="4937760" cy="384048"/>
          </a:xfrm>
          <a:prstGeom prst="rect">
            <a:avLst/>
          </a:prstGeom>
          <a:noFill/>
        </p:spPr>
        <p:txBody>
          <a:bodyPr wrap="square" lIns="0" tIns="0" rIns="0" bIns="0" anchor="t">
            <a:spAutoFit/>
          </a:bodyPr>
          <a:lstStyle/>
          <a:p>
            <a:pPr algn="l"/>
            <a:r>
              <a:rPr sz="2200" b="0">
                <a:solidFill>
                  <a:srgbClr val="0072B2"/>
                </a:solidFill>
                <a:latin typeface="Meiryo"/>
                <a:ea typeface="Meiryo"/>
                <a:cs typeface="Meiryo"/>
              </a:rPr>
              <a:t>a₁ ＝ 第1成分波の高さ</a:t>
            </a:r>
          </a:p>
        </p:txBody>
      </p:sp>
      <p:sp>
        <p:nvSpPr>
          <p:cNvPr id="37" name="TextBox 36"/>
          <p:cNvSpPr txBox="1"/>
          <p:nvPr/>
        </p:nvSpPr>
        <p:spPr>
          <a:xfrm>
            <a:off x="1077282" y="4960632"/>
            <a:ext cx="4937760" cy="384048"/>
          </a:xfrm>
          <a:prstGeom prst="rect">
            <a:avLst/>
          </a:prstGeom>
          <a:noFill/>
        </p:spPr>
        <p:txBody>
          <a:bodyPr wrap="square" lIns="0" tIns="0" rIns="0" bIns="0" anchor="t">
            <a:spAutoFit/>
          </a:bodyPr>
          <a:lstStyle/>
          <a:p>
            <a:pPr algn="l"/>
            <a:r>
              <a:rPr sz="2200" b="0">
                <a:solidFill>
                  <a:srgbClr val="D55E00"/>
                </a:solidFill>
                <a:latin typeface="Meiryo"/>
                <a:ea typeface="Meiryo"/>
                <a:cs typeface="Meiryo"/>
              </a:rPr>
              <a:t>a₂ ＝ 第2成分波の高さ</a:t>
            </a:r>
          </a:p>
        </p:txBody>
      </p:sp>
      <p:sp>
        <p:nvSpPr>
          <p:cNvPr id="38" name="Rounded Rectangle 37"/>
          <p:cNvSpPr/>
          <p:nvPr/>
        </p:nvSpPr>
        <p:spPr>
          <a:xfrm>
            <a:off x="6655122" y="2751793"/>
            <a:ext cx="4728039"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838002" y="2861521"/>
            <a:ext cx="4420524"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T1_2 ＝ μ₂ − μ₁</a:t>
            </a:r>
          </a:p>
        </p:txBody>
      </p:sp>
      <p:sp>
        <p:nvSpPr>
          <p:cNvPr id="40" name="TextBox 39"/>
          <p:cNvSpPr txBox="1"/>
          <p:nvPr/>
        </p:nvSpPr>
        <p:spPr>
          <a:xfrm>
            <a:off x="6838002" y="3318721"/>
            <a:ext cx="4420524"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時間差 → SI ＝ 身長 ÷ T1_2</a:t>
            </a:r>
          </a:p>
        </p:txBody>
      </p:sp>
      <p:sp>
        <p:nvSpPr>
          <p:cNvPr id="41" name="Rounded Rectangle 40"/>
          <p:cNvSpPr/>
          <p:nvPr/>
        </p:nvSpPr>
        <p:spPr>
          <a:xfrm>
            <a:off x="6655122" y="3940513"/>
            <a:ext cx="4728039" cy="1078992"/>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38002" y="4050241"/>
            <a:ext cx="4420524" cy="384048"/>
          </a:xfrm>
          <a:prstGeom prst="rect">
            <a:avLst/>
          </a:prstGeom>
          <a:noFill/>
        </p:spPr>
        <p:txBody>
          <a:bodyPr wrap="square" lIns="0" tIns="0" rIns="0" bIns="0" anchor="t">
            <a:spAutoFit/>
          </a:bodyPr>
          <a:lstStyle/>
          <a:p>
            <a:pPr algn="l"/>
            <a:r>
              <a:rPr sz="2400" b="1">
                <a:solidFill>
                  <a:srgbClr val="D55E00"/>
                </a:solidFill>
                <a:latin typeface="Meiryo"/>
                <a:ea typeface="Meiryo"/>
                <a:cs typeface="Meiryo"/>
              </a:rPr>
              <a:t>R1_2 ＝ a₂ ／ a₁</a:t>
            </a:r>
          </a:p>
        </p:txBody>
      </p:sp>
      <p:sp>
        <p:nvSpPr>
          <p:cNvPr id="43" name="TextBox 42"/>
          <p:cNvSpPr txBox="1"/>
          <p:nvPr/>
        </p:nvSpPr>
        <p:spPr>
          <a:xfrm>
            <a:off x="6838002" y="4507441"/>
            <a:ext cx="4420524"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振幅比 → RI に相当</a:t>
            </a:r>
          </a:p>
        </p:txBody>
      </p:sp>
      <p:sp>
        <p:nvSpPr>
          <p:cNvPr id="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56/72</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p:cNvSpPr txBox="1"/>
          <p:nvPr/>
        </p:nvSpPr>
        <p:spPr>
          <a:xfrm>
            <a:off x="5989320" y="1645920"/>
            <a:ext cx="57607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p:cNvSpPr txBox="1"/>
          <p:nvPr/>
        </p:nvSpPr>
        <p:spPr>
          <a:xfrm>
            <a:off x="5989320" y="20482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ガウス当てはめで RI を算出</a:t>
            </a:r>
          </a:p>
        </p:txBody>
      </p:sp>
      <p:sp>
        <p:nvSpPr>
          <p:cNvPr id="24" name="TextBox 23"/>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p:cNvSpPr txBox="1"/>
          <p:nvPr/>
        </p:nvSpPr>
        <p:spPr>
          <a:xfrm>
            <a:off x="5989320" y="2505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Rayleigh 2 波合成で SI と RI</a:t>
            </a:r>
          </a:p>
        </p:txBody>
      </p:sp>
      <p:sp>
        <p:nvSpPr>
          <p:cNvPr id="26" name="Rounded Rectangle 25"/>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p:cNvSpPr txBox="1"/>
          <p:nvPr/>
        </p:nvSpPr>
        <p:spPr>
          <a:xfrm>
            <a:off x="5989320" y="2962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p:cNvSpPr txBox="1"/>
          <p:nvPr/>
        </p:nvSpPr>
        <p:spPr>
          <a:xfrm>
            <a:off x="5989320" y="3419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p:cNvSpPr txBox="1"/>
          <p:nvPr/>
        </p:nvSpPr>
        <p:spPr>
          <a:xfrm>
            <a:off x="5989320" y="38770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最良モデルは決まらない（28.1%）</a:t>
            </a:r>
          </a:p>
        </p:txBody>
      </p:sp>
      <p:sp>
        <p:nvSpPr>
          <p:cNvPr id="35" name="TextBox 34"/>
          <p:cNvSpPr txBox="1"/>
          <p:nvPr/>
        </p:nvSpPr>
        <p:spPr>
          <a:xfrm>
            <a:off x="2697480" y="4334256"/>
            <a:ext cx="320040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p:cNvSpPr txBox="1"/>
          <p:nvPr/>
        </p:nvSpPr>
        <p:spPr>
          <a:xfrm>
            <a:off x="5989320" y="4334256"/>
            <a:ext cx="5806440" cy="384048"/>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p:cNvSpPr txBox="1"/>
          <p:nvPr/>
        </p:nvSpPr>
        <p:spPr>
          <a:xfrm>
            <a:off x="5989320" y="4791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p:cNvSpPr txBox="1"/>
          <p:nvPr/>
        </p:nvSpPr>
        <p:spPr>
          <a:xfrm>
            <a:off x="5989320" y="5248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p:cNvSpPr txBox="1"/>
          <p:nvPr/>
        </p:nvSpPr>
        <p:spPr>
          <a:xfrm>
            <a:off x="5989320" y="5705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57/72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8D024030-F825-9156-0C2F-4D3461DC54D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F9EA37DB-21A5-489D-2382-FCBD11B69FE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5B42248D-5F44-F1EF-80A9-21688DF178A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5F3F024-D112-8729-AC6A-B6E29592D6E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81FE121-EBD9-87C0-4578-06374324F521}"/>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835861" cy="276999"/>
          </a:xfrm>
          <a:prstGeom prst="rect">
            <a:avLst/>
          </a:prstGeom>
          <a:noFill/>
        </p:spPr>
        <p:txBody>
          <a:bodyPr wrap="square">
            <a:spAutoFit/>
          </a:bodyPr>
          <a:lstStyle/>
          <a:p>
            <a:pPr algn="r"/>
            <a:r>
              <a:rPr sz="1200">
                <a:solidFill>
                  <a:srgbClr val="808080"/>
                </a:solidFill>
                <a:latin typeface="Meiryo"/>
                <a:ea typeface="Meiryo"/>
                <a:cs typeface="Meiryo"/>
              </a:rPr>
              <a:t>57/72</a:t>
            </a:r>
          </a:p>
        </p:txBody>
      </p:sp>
    </p:spTree>
    <p:extLst>
      <p:ext uri="{BB962C8B-B14F-4D97-AF65-F5344CB8AC3E}">
        <p14:creationId xmlns:p14="http://schemas.microsoft.com/office/powerpoint/2010/main" val="13267009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Rubins 2008</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① 「点を探す」から「山を当てはめる」へ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 40 名。指と耳の PPG を同時記録</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収縮期波と拡張期波を、それぞれ 2 つの</a:t>
            </a:r>
          </a:p>
          <a:p>
            <a:pPr algn="l">
              <a:spcAft>
                <a:spcPts val="200"/>
              </a:spcAft>
            </a:pPr>
            <a:r>
              <a:rPr sz="2200" b="0">
                <a:solidFill>
                  <a:srgbClr val="262626"/>
                </a:solidFill>
                <a:latin typeface="Meiryo"/>
                <a:ea typeface="Meiryo"/>
                <a:cs typeface="Meiryo"/>
              </a:rPr>
              <a:t>ガウス関数の和で当てはめ、RI と AI を算出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従来の微分法と同等に波形解析ができた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ガウス分解から RI を出す発想は 2008 年に既出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58/72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Goswami 2010</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② Rayleigh 2 波合成モデルで SI と RI を同時に導出</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Rayleigh 関数による 2 波合成（TPS）モデル</a:t>
            </a:r>
          </a:p>
          <a:p>
            <a:pPr algn="l">
              <a:spcAft>
                <a:spcPts val="200"/>
              </a:spcAft>
            </a:pPr>
            <a:r>
              <a:rPr sz="2200" b="0">
                <a:solidFill>
                  <a:srgbClr val="262626"/>
                </a:solidFill>
                <a:latin typeface="Meiryo"/>
                <a:ea typeface="Meiryo"/>
                <a:cs typeface="Meiryo"/>
              </a:rPr>
              <a:t>RI・SI・脈波伝播速度・立ち上がり遅延を導出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従来のランドマーク法・微分法とよく一致した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分解した反射波の時刻から SI を出すのも既出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59/72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2012</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③ 多ガウス分解から左室駆出時間 LVET を取り出す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心エコーによる参照値が得られた被験者（人数は抄録に記載なし）</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収縮期相・拡張期相をガウス関数でモデル化し、</a:t>
            </a:r>
          </a:p>
          <a:p>
            <a:pPr algn="l">
              <a:spcAft>
                <a:spcPts val="200"/>
              </a:spcAft>
            </a:pPr>
            <a:r>
              <a:rPr sz="2200" b="0">
                <a:solidFill>
                  <a:srgbClr val="262626"/>
                </a:solidFill>
                <a:latin typeface="Meiryo"/>
                <a:ea typeface="Meiryo"/>
                <a:cs typeface="Meiryo"/>
              </a:rPr>
              <a:t>3 次微分から駆出の開始・終了を決めて LVET を推定</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目視では取り出せない生理的イベントが出てくる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60/72</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2015</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④ 5ガウス分解から血圧・血管抵抗まで対比した到達点</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の検証は健常＋心血管疾患 68 名</a:t>
            </a:r>
          </a:p>
          <a:p>
            <a:pPr algn="l">
              <a:spcAft>
                <a:spcPts val="200"/>
              </a:spcAft>
            </a:pPr>
            <a:r>
              <a:rPr sz="2200" b="0">
                <a:solidFill>
                  <a:srgbClr val="262626"/>
                </a:solidFill>
                <a:latin typeface="Meiryo"/>
                <a:ea typeface="Meiryo"/>
                <a:cs typeface="Meiryo"/>
              </a:rPr>
              <a:t>血圧・血管抵抗の対比は血行動態不安定な 43 名</a:t>
            </a: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5 つのガウス関数で分解し、SI・RI に加えて</a:t>
            </a:r>
          </a:p>
          <a:p>
            <a:pPr algn="l">
              <a:spcAft>
                <a:spcPts val="200"/>
              </a:spcAft>
            </a:pPr>
            <a:r>
              <a:rPr sz="2200" b="0">
                <a:solidFill>
                  <a:srgbClr val="262626"/>
                </a:solidFill>
                <a:latin typeface="Meiryo"/>
                <a:ea typeface="Meiryo"/>
                <a:cs typeface="Meiryo"/>
              </a:rPr>
              <a:t>T1_2（時間差）・R1_2（振幅比）など 6 個を算出</a:t>
            </a: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絶対誤差 15.41 ± 13.66 ms（ρ=0.78）</a:t>
            </a:r>
          </a:p>
          <a:p>
            <a:pPr algn="l">
              <a:spcAft>
                <a:spcPts val="200"/>
              </a:spcAft>
            </a:pPr>
            <a:r>
              <a:rPr sz="2200" b="0">
                <a:solidFill>
                  <a:srgbClr val="262626"/>
                </a:solidFill>
                <a:latin typeface="Meiryo"/>
                <a:ea typeface="Meiryo"/>
                <a:cs typeface="Meiryo"/>
              </a:rPr>
              <a:t>R1_2 は全参照値と低相関。最高でも ρ=0.45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振幅比は当てにならない。時間側でも ρ=0.45</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61/72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Tigges 2017</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⑤ モデル選択は決着していない ― 逆問題が一意に解けない</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4 種類の基底関数とモデル次数を総当たりし、</a:t>
            </a:r>
          </a:p>
          <a:p>
            <a:pPr algn="l">
              <a:spcAft>
                <a:spcPts val="200"/>
              </a:spcAft>
            </a:pPr>
            <a:r>
              <a:rPr sz="2200" b="0">
                <a:solidFill>
                  <a:srgbClr val="262626"/>
                </a:solidFill>
                <a:latin typeface="Meiryo"/>
                <a:ea typeface="Meiryo"/>
                <a:cs typeface="Meiryo"/>
              </a:rPr>
              <a:t>補正赤池情報量規準（AICc）で最良モデルを選択</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「どの山を何個使うか」はデータからは決まらない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62/72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Fleischhauer</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⑥ Gamma ＋ Gaussian、カーネル 2 個が最も頑健</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複雑にするほど良いわけではない ― 2 個で十分</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63/72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Basso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⑦ 非対称な山で初期値依存を減らす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非対称分解モデル（skewed-Gaussian）を提案</a:t>
            </a:r>
          </a:p>
          <a:p>
            <a:pPr algn="l">
              <a:spcAft>
                <a:spcPts val="200"/>
              </a:spcAft>
            </a:pPr>
            <a:r>
              <a:rPr sz="2200" b="0">
                <a:solidFill>
                  <a:srgbClr val="262626"/>
                </a:solidFill>
                <a:latin typeface="Meiryo"/>
                <a:ea typeface="Meiryo"/>
                <a:cs typeface="Meiryo"/>
              </a:rPr>
              <a:t>参照モデルは Gamma-Gaussian モデル</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裏を返せば、従来モデルは初期値で答えが動いていた</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64/72</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Baruch 2014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46. Baruch 2014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808080"/>
                </a:solidFill>
                <a:latin typeface="Meiryo"/>
                <a:ea typeface="Meiryo"/>
                <a:cs typeface="Meiryo"/>
              </a:rPr>
              <a:t>⑧ 分解由来の指標は中心動脈圧の推定に使われている</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心臓カテーテル検査を受ける患者 63 名（平均 62.7 歳）</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CareTaker の非侵襲的動脈脈波を PDA で分解し、</a:t>
            </a:r>
          </a:p>
          <a:p>
            <a:pPr algn="l">
              <a:spcAft>
                <a:spcPts val="200"/>
              </a:spcAft>
            </a:pPr>
            <a:r>
              <a:rPr sz="2200" b="0">
                <a:solidFill>
                  <a:srgbClr val="262626"/>
                </a:solidFill>
                <a:latin typeface="Meiryo"/>
                <a:ea typeface="Meiryo"/>
                <a:cs typeface="Meiryo"/>
              </a:rPr>
              <a:t>振幅比 P2P1 と時間差 T13 を抽出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P2P1 と収縮期圧、T13 と脈圧に有意な相関</a:t>
            </a:r>
          </a:p>
          <a:p>
            <a:pPr algn="l">
              <a:spcAft>
                <a:spcPts val="200"/>
              </a:spcAft>
            </a:pPr>
            <a:r>
              <a:rPr sz="2200" b="0">
                <a:solidFill>
                  <a:srgbClr val="262626"/>
                </a:solidFill>
                <a:latin typeface="Meiryo"/>
                <a:ea typeface="Meiryo"/>
                <a:cs typeface="Meiryo"/>
              </a:rPr>
              <a:t>（収縮期 R²=0.92、拡張期 R²=0.78、p&lt;0.0001）</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応用範囲の拡張という切り口では新規性は乏しい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65/72</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Pal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34. Pal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BF9000"/>
                </a:solidFill>
                <a:latin typeface="Meiryo"/>
                <a:ea typeface="Meiryo"/>
                <a:cs typeface="Meiryo"/>
              </a:rPr>
              <a:t>⑨ DN-less 信号でも切痕を拾う ― IEM 法（用語の出典）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周術期データセット MLORD の 17,327 例</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反復包絡平均（IEM）法による重複切痕の自動検出</a:t>
            </a:r>
          </a:p>
          <a:p>
            <a:pPr algn="l">
              <a:spcAft>
                <a:spcPts val="200"/>
              </a:spcAft>
            </a:pPr>
            <a:r>
              <a:rPr sz="2200" b="0">
                <a:solidFill>
                  <a:srgbClr val="262626"/>
                </a:solidFill>
                <a:latin typeface="Meiryo"/>
                <a:ea typeface="Meiryo"/>
                <a:cs typeface="Meiryo"/>
              </a:rPr>
              <a:t>参照基準は熟練研究者による手動マーキング</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DN 検出平均誤差 IEM 0.0046 秒（SD 0.0029）</a:t>
            </a:r>
          </a:p>
          <a:p>
            <a:pPr algn="l">
              <a:spcAft>
                <a:spcPts val="200"/>
              </a:spcAft>
            </a:pPr>
            <a:r>
              <a:rPr sz="2200" b="0">
                <a:solidFill>
                  <a:srgbClr val="262626"/>
                </a:solidFill>
                <a:latin typeface="Meiryo"/>
                <a:ea typeface="Meiryo"/>
                <a:cs typeface="Meiryo"/>
              </a:rPr>
              <a:t>従来の二次微分法は 0.0968 秒（SD 0.0909）</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「DN-less signals」という語はこの論文に由来する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66/72</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5.6  PDA の限界</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94360" y="5779008"/>
            <a:ext cx="11000232" cy="1004620"/>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67/72</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69/72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70/72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34. Pal R, et al. An algorithm to detect dicrotic notch in arterial blood pressure and photoplethysmography waveforms using the iterative envelope mean method. Comput Methods Programs Biomed 2024;254:108283.</a:t>
            </a:r>
          </a:p>
          <a:p>
            <a:pPr algn="l">
              <a:lnSpc>
                <a:spcPct val="115000"/>
              </a:lnSpc>
              <a:spcAft>
                <a:spcPts val="700"/>
              </a:spcAft>
            </a:pPr>
            <a:r>
              <a:rPr sz="1050" b="0">
                <a:solidFill>
                  <a:srgbClr val="262626"/>
                </a:solidFill>
                <a:latin typeface="Meiryo"/>
                <a:ea typeface="Meiryo"/>
                <a:cs typeface="Meiryo"/>
              </a:rPr>
              <a:t>35. Fleischhauer V, et al. Pulse decomposition analysis in photoplethysmography imaging. Physiol Meas 2020;41:095009.</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37.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38.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39.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40.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41. Goswami D, et al. A new two-pulse synthesis model for digital volume pulse signal analysis. Cardiovasc Eng 2010;10:109–17.</a:t>
            </a:r>
          </a:p>
          <a:p>
            <a:pPr algn="l">
              <a:lnSpc>
                <a:spcPct val="115000"/>
              </a:lnSpc>
              <a:spcAft>
                <a:spcPts val="700"/>
              </a:spcAft>
            </a:pPr>
            <a:r>
              <a:rPr sz="1050" b="0">
                <a:solidFill>
                  <a:srgbClr val="262626"/>
                </a:solidFill>
                <a:latin typeface="Meiryo"/>
                <a:ea typeface="Meiryo"/>
                <a:cs typeface="Meiryo"/>
              </a:rPr>
              <a:t>42. Couceiro R, et al. Assessment of cardiovascular function from multi-Gaussian fitting of a finger photoplethysmogram. Physiol Meas 2015;36:1801–25.</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71/72</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72/72</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24573</TotalTime>
  <Words>27886</Words>
  <Application>Microsoft Macintosh PowerPoint</Application>
  <PresentationFormat>ワイド画面</PresentationFormat>
  <Paragraphs>4109</Paragraphs>
  <Slides>101</Slides>
  <Notes>92</Notes>
  <HiddenSlides>4</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101</vt:i4>
      </vt:variant>
    </vt:vector>
  </HeadingPairs>
  <TitlesOfParts>
    <vt:vector size="106" baseType="lpstr">
      <vt:lpstr>Meiryo</vt:lpstr>
      <vt:lpstr>游ゴシック</vt:lpstr>
      <vt:lpstr>Arial</vt:lpstr>
      <vt:lpstr>Calibri</vt:lpstr>
      <vt:lpstr>Office テーマ</vt:lpstr>
      <vt:lpstr>光電式容積脈波記録法：PhotoPlethysmoGraphy（ PPG ） 波形解析について</vt:lpstr>
      <vt:lpstr>用語の整理</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自動解析の壁</vt:lpstr>
      <vt:lpstr>4.2  極端な動脈硬化</vt:lpstr>
      <vt:lpstr>4.3  DN-less 信号対策</vt:lpstr>
      <vt:lpstr>4.3  DN-less 信号対策</vt:lpstr>
      <vt:lpstr>5. PDA（波形分解）</vt:lpstr>
      <vt:lpstr>5.1  PDA とは</vt:lpstr>
      <vt:lpstr>5.2  合成波と成分波</vt:lpstr>
      <vt:lpstr>5.2  合成波と成分波</vt:lpstr>
      <vt:lpstr>5.2  基底関数とは</vt:lpstr>
      <vt:lpstr>5.2  基底関数とは</vt:lpstr>
      <vt:lpstr>5.2  基底関数の形</vt:lpstr>
      <vt:lpstr>5.2  基底関数の形</vt:lpstr>
      <vt:lpstr>5.2  カーネル数</vt:lpstr>
      <vt:lpstr>5.2  カーネル数</vt:lpstr>
      <vt:lpstr>5.3  当てはめの手順</vt:lpstr>
      <vt:lpstr>5.3  どうやって推測するのか</vt:lpstr>
      <vt:lpstr>5.4  得られる指標</vt:lpstr>
      <vt:lpstr>5.5  重要文献の全体像</vt:lpstr>
      <vt:lpstr>5.5  重要文献の全体像</vt:lpstr>
      <vt:lpstr>5.5  Rubins 2008</vt:lpstr>
      <vt:lpstr>5.5  Goswami 2010</vt:lpstr>
      <vt:lpstr>5.5  Couceiro 2012</vt:lpstr>
      <vt:lpstr>5.5  Couceiro 2015</vt:lpstr>
      <vt:lpstr>5.5  Tigges 2017</vt:lpstr>
      <vt:lpstr>5.5  Fleischhauer</vt:lpstr>
      <vt:lpstr>5.5  Basso 2024</vt:lpstr>
      <vt:lpstr>5.5  Baruch 2014</vt:lpstr>
      <vt:lpstr>5.5  Pal 2024</vt:lpstr>
      <vt:lpstr>5.6  PDA の限界</vt:lpstr>
      <vt:lpstr>参考文献</vt:lpstr>
      <vt:lpstr>参考文献（2）</vt:lpstr>
      <vt:lpstr>参考文献（3）</vt:lpstr>
      <vt:lpstr>参考文献（4）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71</cp:revision>
  <dcterms:created xsi:type="dcterms:W3CDTF">2025-01-05T04:32:32Z</dcterms:created>
  <dcterms:modified xsi:type="dcterms:W3CDTF">2026-08-15T08:15:29Z</dcterms:modified>
</cp:coreProperties>
</file>